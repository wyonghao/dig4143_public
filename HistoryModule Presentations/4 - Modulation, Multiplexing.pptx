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79"/>
  </p:notesMasterIdLst>
  <p:handoutMasterIdLst>
    <p:handoutMasterId r:id="rId80"/>
  </p:handoutMasterIdLst>
  <p:sldIdLst>
    <p:sldId id="256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4" r:id="rId14"/>
    <p:sldId id="295" r:id="rId15"/>
    <p:sldId id="296" r:id="rId16"/>
    <p:sldId id="297" r:id="rId17"/>
    <p:sldId id="298" r:id="rId18"/>
    <p:sldId id="387" r:id="rId19"/>
    <p:sldId id="338" r:id="rId20"/>
    <p:sldId id="339" r:id="rId21"/>
    <p:sldId id="340" r:id="rId22"/>
    <p:sldId id="341" r:id="rId23"/>
    <p:sldId id="342" r:id="rId24"/>
    <p:sldId id="343" r:id="rId25"/>
    <p:sldId id="344" r:id="rId26"/>
    <p:sldId id="345" r:id="rId27"/>
    <p:sldId id="346" r:id="rId28"/>
    <p:sldId id="385" r:id="rId29"/>
    <p:sldId id="347" r:id="rId30"/>
    <p:sldId id="348" r:id="rId31"/>
    <p:sldId id="381" r:id="rId32"/>
    <p:sldId id="356" r:id="rId33"/>
    <p:sldId id="357" r:id="rId34"/>
    <p:sldId id="384" r:id="rId35"/>
    <p:sldId id="349" r:id="rId36"/>
    <p:sldId id="350" r:id="rId37"/>
    <p:sldId id="351" r:id="rId38"/>
    <p:sldId id="373" r:id="rId39"/>
    <p:sldId id="374" r:id="rId40"/>
    <p:sldId id="375" r:id="rId41"/>
    <p:sldId id="376" r:id="rId42"/>
    <p:sldId id="377" r:id="rId43"/>
    <p:sldId id="378" r:id="rId44"/>
    <p:sldId id="379" r:id="rId45"/>
    <p:sldId id="380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83" r:id="rId55"/>
    <p:sldId id="308" r:id="rId56"/>
    <p:sldId id="353" r:id="rId57"/>
    <p:sldId id="354" r:id="rId58"/>
    <p:sldId id="355" r:id="rId59"/>
    <p:sldId id="278" r:id="rId60"/>
    <p:sldId id="382" r:id="rId61"/>
    <p:sldId id="358" r:id="rId62"/>
    <p:sldId id="359" r:id="rId63"/>
    <p:sldId id="360" r:id="rId64"/>
    <p:sldId id="361" r:id="rId65"/>
    <p:sldId id="362" r:id="rId66"/>
    <p:sldId id="363" r:id="rId67"/>
    <p:sldId id="364" r:id="rId68"/>
    <p:sldId id="365" r:id="rId69"/>
    <p:sldId id="366" r:id="rId70"/>
    <p:sldId id="367" r:id="rId71"/>
    <p:sldId id="368" r:id="rId72"/>
    <p:sldId id="369" r:id="rId73"/>
    <p:sldId id="370" r:id="rId74"/>
    <p:sldId id="371" r:id="rId75"/>
    <p:sldId id="372" r:id="rId76"/>
    <p:sldId id="281" r:id="rId77"/>
    <p:sldId id="279" r:id="rId78"/>
  </p:sldIdLst>
  <p:sldSz cx="9144000" cy="6858000" type="screen4x3"/>
  <p:notesSz cx="6781800" cy="991235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" userDrawn="1">
          <p15:clr>
            <a:srgbClr val="A4A3A4"/>
          </p15:clr>
        </p15:guide>
        <p15:guide id="2" pos="24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2" userDrawn="1">
          <p15:clr>
            <a:srgbClr val="A4A3A4"/>
          </p15:clr>
        </p15:guide>
        <p15:guide id="2" pos="213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  <a:srgbClr val="800000"/>
    <a:srgbClr val="FFFFCC"/>
    <a:srgbClr val="CCECFF"/>
    <a:srgbClr val="99CCFF"/>
    <a:srgbClr val="663300"/>
    <a:srgbClr val="990000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98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996" y="84"/>
      </p:cViewPr>
      <p:guideLst>
        <p:guide orient="horz" pos="232"/>
        <p:guide pos="24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-1092" y="-72"/>
      </p:cViewPr>
      <p:guideLst>
        <p:guide orient="horz" pos="3122"/>
        <p:guide pos="21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slide" Target="slides/slide74.xml"/><Relationship Id="rId84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viewProps" Target="viewProps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handoutMaster" Target="handoutMasters/handoutMaster1.xml"/><Relationship Id="rId85" Type="http://schemas.microsoft.com/office/2016/11/relationships/changesInfo" Target="changesInfos/changesInfo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y" userId="09ac0925-c8bb-438c-a205-6311faa2bcaf" providerId="ADAL" clId="{9E7E37BC-6D5E-4CB5-AD2A-52A0DB856FF8}"/>
    <pc:docChg chg="modSld">
      <pc:chgData name="Jeremy" userId="09ac0925-c8bb-438c-a205-6311faa2bcaf" providerId="ADAL" clId="{9E7E37BC-6D5E-4CB5-AD2A-52A0DB856FF8}" dt="2020-05-12T12:50:43.058" v="7" actId="6549"/>
      <pc:docMkLst>
        <pc:docMk/>
      </pc:docMkLst>
      <pc:sldChg chg="modSp mod">
        <pc:chgData name="Jeremy" userId="09ac0925-c8bb-438c-a205-6311faa2bcaf" providerId="ADAL" clId="{9E7E37BC-6D5E-4CB5-AD2A-52A0DB856FF8}" dt="2020-05-12T12:50:43.058" v="7" actId="6549"/>
        <pc:sldMkLst>
          <pc:docMk/>
          <pc:sldMk cId="963945834" sldId="343"/>
        </pc:sldMkLst>
        <pc:spChg chg="mod">
          <ac:chgData name="Jeremy" userId="09ac0925-c8bb-438c-a205-6311faa2bcaf" providerId="ADAL" clId="{9E7E37BC-6D5E-4CB5-AD2A-52A0DB856FF8}" dt="2020-05-12T12:50:43.058" v="7" actId="6549"/>
          <ac:spMkLst>
            <pc:docMk/>
            <pc:sldMk cId="963945834" sldId="343"/>
            <ac:spMk id="2" creationId="{00000000-0000-0000-0000-000000000000}"/>
          </ac:spMkLst>
        </pc:spChg>
        <pc:spChg chg="mod">
          <ac:chgData name="Jeremy" userId="09ac0925-c8bb-438c-a205-6311faa2bcaf" providerId="ADAL" clId="{9E7E37BC-6D5E-4CB5-AD2A-52A0DB856FF8}" dt="2020-05-12T12:50:35.573" v="3" actId="14100"/>
          <ac:spMkLst>
            <pc:docMk/>
            <pc:sldMk cId="963945834" sldId="343"/>
            <ac:spMk id="4" creationId="{00000000-0000-0000-0000-000000000000}"/>
          </ac:spMkLst>
        </pc:spChg>
        <pc:spChg chg="mod">
          <ac:chgData name="Jeremy" userId="09ac0925-c8bb-438c-a205-6311faa2bcaf" providerId="ADAL" clId="{9E7E37BC-6D5E-4CB5-AD2A-52A0DB856FF8}" dt="2020-05-12T12:50:39.157" v="4" actId="14100"/>
          <ac:spMkLst>
            <pc:docMk/>
            <pc:sldMk cId="963945834" sldId="343"/>
            <ac:spMk id="5" creationId="{00000000-0000-0000-0000-000000000000}"/>
          </ac:spMkLst>
        </pc:spChg>
        <pc:spChg chg="mod">
          <ac:chgData name="Jeremy" userId="09ac0925-c8bb-438c-a205-6311faa2bcaf" providerId="ADAL" clId="{9E7E37BC-6D5E-4CB5-AD2A-52A0DB856FF8}" dt="2020-05-12T12:47:37.501" v="2" actId="14100"/>
          <ac:spMkLst>
            <pc:docMk/>
            <pc:sldMk cId="963945834" sldId="343"/>
            <ac:spMk id="6" creationId="{00000000-0000-0000-0000-000000000000}"/>
          </ac:spMkLst>
        </pc:spChg>
      </pc:sldChg>
    </pc:docChg>
  </pc:docChgLst>
  <pc:docChgLst>
    <pc:chgData name="Jeremy Foss" userId="09ac0925-c8bb-438c-a205-6311faa2bcaf" providerId="ADAL" clId="{24D53DCA-FAEB-4E37-A1FA-2AFCB2BE6682}"/>
    <pc:docChg chg="modSld">
      <pc:chgData name="Jeremy Foss" userId="09ac0925-c8bb-438c-a205-6311faa2bcaf" providerId="ADAL" clId="{24D53DCA-FAEB-4E37-A1FA-2AFCB2BE6682}" dt="2021-04-01T12:13:52.998" v="17" actId="20577"/>
      <pc:docMkLst>
        <pc:docMk/>
      </pc:docMkLst>
      <pc:sldChg chg="modSp mod">
        <pc:chgData name="Jeremy Foss" userId="09ac0925-c8bb-438c-a205-6311faa2bcaf" providerId="ADAL" clId="{24D53DCA-FAEB-4E37-A1FA-2AFCB2BE6682}" dt="2021-04-01T12:13:52.998" v="17" actId="20577"/>
        <pc:sldMkLst>
          <pc:docMk/>
          <pc:sldMk cId="0" sldId="256"/>
        </pc:sldMkLst>
        <pc:spChg chg="mod">
          <ac:chgData name="Jeremy Foss" userId="09ac0925-c8bb-438c-a205-6311faa2bcaf" providerId="ADAL" clId="{24D53DCA-FAEB-4E37-A1FA-2AFCB2BE6682}" dt="2021-04-01T12:13:52.998" v="17" actId="20577"/>
          <ac:spMkLst>
            <pc:docMk/>
            <pc:sldMk cId="0" sldId="256"/>
            <ac:spMk id="6147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1451" y="0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FCF019E-1375-4D69-90D7-05D62CCBD7E5}" type="datetimeFigureOut">
              <a:rPr lang="en-US"/>
              <a:pPr>
                <a:defRPr/>
              </a:pPr>
              <a:t>4/1/2021</a:t>
            </a:fld>
            <a:endParaRPr lang="en-US"/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15012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1451" y="9415012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0E66841-25FA-4912-8AB9-E1C40B0866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0822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3020" y="0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2813" y="742950"/>
            <a:ext cx="4956175" cy="37179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4240" y="4708366"/>
            <a:ext cx="4973320" cy="4460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16732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3020" y="9416732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FA0F4D4-A3A6-48C1-B1F1-4280E9CA50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18174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32FAAA-12F3-4BC2-A6AB-5F2151B69C26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786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4E4394-A0F0-4647-9906-3F180AADE6BA}" type="slidenum">
              <a:rPr lang="en-GB" smtClean="0"/>
              <a:pPr/>
              <a:t>34</a:t>
            </a:fld>
            <a:endParaRPr lang="en-GB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895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8926B9-1268-408A-A566-8749D0744BE2}" type="slidenum">
              <a:rPr lang="en-GB" smtClean="0"/>
              <a:pPr/>
              <a:t>35</a:t>
            </a:fld>
            <a:endParaRPr lang="en-GB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6492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4E4394-A0F0-4647-9906-3F180AADE6BA}" type="slidenum">
              <a:rPr lang="en-GB" smtClean="0"/>
              <a:pPr/>
              <a:t>47</a:t>
            </a:fld>
            <a:endParaRPr lang="en-GB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848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8926B9-1268-408A-A566-8749D0744BE2}" type="slidenum">
              <a:rPr lang="en-GB" smtClean="0"/>
              <a:pPr/>
              <a:t>48</a:t>
            </a:fld>
            <a:endParaRPr lang="en-GB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6263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5C04A34-B30F-4776-8887-65681C438A77}" type="slidenum">
              <a:rPr lang="en-GB" smtClean="0"/>
              <a:pPr/>
              <a:t>52</a:t>
            </a:fld>
            <a:endParaRPr lang="en-GB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9797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AF47904-CA47-4C57-A658-CC7232FA8733}" type="slidenum">
              <a:rPr lang="en-GB" smtClean="0"/>
              <a:pPr/>
              <a:t>61</a:t>
            </a:fld>
            <a:endParaRPr lang="en-GB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2251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E2A4EB-0410-425F-A810-7F5E309D8327}" type="slidenum">
              <a:rPr lang="en-GB" smtClean="0"/>
              <a:pPr/>
              <a:t>63</a:t>
            </a:fld>
            <a:endParaRPr lang="en-GB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7108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5411792-72A8-4773-8E06-3DCE13EFB1AE}" type="slidenum">
              <a:rPr lang="en-GB" smtClean="0"/>
              <a:pPr/>
              <a:t>64</a:t>
            </a:fld>
            <a:endParaRPr lang="en-GB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6096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22E6CDB-F699-490D-8A13-9B090603564D}" type="slidenum">
              <a:rPr lang="en-GB" smtClean="0"/>
              <a:pPr/>
              <a:t>65</a:t>
            </a:fld>
            <a:endParaRPr lang="en-GB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7458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05E67DA-C3A7-47C7-B82D-6FD06CA80998}" type="slidenum">
              <a:rPr lang="en-GB" smtClean="0"/>
              <a:pPr/>
              <a:t>67</a:t>
            </a:fld>
            <a:endParaRPr lang="en-GB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2562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4094C46-227F-4A34-9259-54A51ACD3167}" type="slidenum">
              <a:rPr lang="en-GB" smtClean="0"/>
              <a:pPr/>
              <a:t>70</a:t>
            </a:fld>
            <a:endParaRPr lang="en-GB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660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22983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40238B-0726-474E-B974-88CBDE8C0C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F416D4-773B-48A2-8963-76985CBDF9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FCD34A-EAD6-4A2B-83C8-A41A7A6369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F2F47E-1FAC-4F39-B0C2-6BDEE08DC1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FF5F79-2FCA-49FD-9F46-111551135F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55E2EB-362B-43CF-A641-DDD1325436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6EFDB2-3113-4A37-B07C-D041BB6DF6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A4BBE9-EDC8-4FC6-8E4A-9557837D9B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77EF81-6B76-4DEC-98FB-1D4D8A5EAB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FB5DE6-76C7-4CED-BEDC-D3B153CD27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464A3C-67AD-4626-8890-8B49EF23BC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 rot="10800000" flipH="1">
            <a:off x="0" y="0"/>
            <a:ext cx="9144000" cy="457200"/>
          </a:xfrm>
          <a:prstGeom prst="rect">
            <a:avLst/>
          </a:prstGeom>
          <a:gradFill rotWithShape="0">
            <a:gsLst>
              <a:gs pos="0">
                <a:srgbClr val="CCCCFF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27" name="Rectangle 8"/>
          <p:cNvSpPr>
            <a:spLocks noChangeArrowheads="1"/>
          </p:cNvSpPr>
          <p:nvPr/>
        </p:nvSpPr>
        <p:spPr bwMode="auto">
          <a:xfrm>
            <a:off x="0" y="6400800"/>
            <a:ext cx="9144000" cy="4572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CCC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28" name="Rectangle 9"/>
          <p:cNvSpPr>
            <a:spLocks noChangeArrowheads="1"/>
          </p:cNvSpPr>
          <p:nvPr/>
        </p:nvSpPr>
        <p:spPr bwMode="auto">
          <a:xfrm>
            <a:off x="2387600" y="6591300"/>
            <a:ext cx="4392613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GB" sz="1200" dirty="0">
                <a:solidFill>
                  <a:srgbClr val="000066"/>
                </a:solidFill>
              </a:rPr>
              <a:t> Broadcast Technology UG1</a:t>
            </a:r>
          </a:p>
        </p:txBody>
      </p:sp>
      <p:sp>
        <p:nvSpPr>
          <p:cNvPr id="1029" name="Rectangle 10"/>
          <p:cNvSpPr>
            <a:spLocks noChangeArrowheads="1"/>
          </p:cNvSpPr>
          <p:nvPr/>
        </p:nvSpPr>
        <p:spPr bwMode="auto">
          <a:xfrm>
            <a:off x="0" y="6591300"/>
            <a:ext cx="2895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GB" sz="1200">
                <a:solidFill>
                  <a:srgbClr val="000066"/>
                </a:solidFill>
              </a:rPr>
              <a:t>jeremy.foss@bcu.ac.uk</a:t>
            </a:r>
          </a:p>
        </p:txBody>
      </p:sp>
      <p:sp>
        <p:nvSpPr>
          <p:cNvPr id="1030" name="Rectangle 11"/>
          <p:cNvSpPr>
            <a:spLocks noChangeArrowheads="1"/>
          </p:cNvSpPr>
          <p:nvPr/>
        </p:nvSpPr>
        <p:spPr bwMode="auto">
          <a:xfrm>
            <a:off x="5868988" y="6591300"/>
            <a:ext cx="2895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200">
              <a:solidFill>
                <a:srgbClr val="000066"/>
              </a:solidFill>
            </a:endParaRPr>
          </a:p>
        </p:txBody>
      </p:sp>
      <p:sp>
        <p:nvSpPr>
          <p:cNvPr id="1031" name="Rectangle 13"/>
          <p:cNvSpPr>
            <a:spLocks noChangeArrowheads="1"/>
          </p:cNvSpPr>
          <p:nvPr/>
        </p:nvSpPr>
        <p:spPr bwMode="auto">
          <a:xfrm>
            <a:off x="0" y="0"/>
            <a:ext cx="3492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200" b="1">
              <a:solidFill>
                <a:srgbClr val="000066"/>
              </a:solidFill>
            </a:endParaRPr>
          </a:p>
          <a:p>
            <a:pPr>
              <a:defRPr/>
            </a:pPr>
            <a:endParaRPr lang="en-GB" sz="1200">
              <a:solidFill>
                <a:srgbClr val="000066"/>
              </a:solidFill>
            </a:endParaRPr>
          </a:p>
        </p:txBody>
      </p:sp>
      <p:sp>
        <p:nvSpPr>
          <p:cNvPr id="1032" name="Rectangle 15"/>
          <p:cNvSpPr>
            <a:spLocks noChangeArrowheads="1"/>
          </p:cNvSpPr>
          <p:nvPr userDrawn="1"/>
        </p:nvSpPr>
        <p:spPr bwMode="auto">
          <a:xfrm>
            <a:off x="6248400" y="6591300"/>
            <a:ext cx="2895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r>
              <a:rPr lang="en-GB" sz="1200">
                <a:solidFill>
                  <a:srgbClr val="000066"/>
                </a:solidFill>
              </a:rPr>
              <a:t>Jerry Foss, CEng, MIET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7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28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28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28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16144C6-4CBB-464E-8B86-D02262D719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gi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gif"/><Relationship Id="rId4" Type="http://schemas.openxmlformats.org/officeDocument/2006/relationships/image" Target="../media/image6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gi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hyperlink" Target="http://www.ukfree.tv/txdetail.php?a=SK113003" TargetMode="Externa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gi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hyperlink" Target="http://www.ukfree.tv/txdetail.php?a=SK113003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gif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gif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1809750"/>
            <a:ext cx="9144000" cy="3262313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FFCC99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2400"/>
          </a:p>
        </p:txBody>
      </p:sp>
      <p:sp>
        <p:nvSpPr>
          <p:cNvPr id="6147" name="Text Box 9"/>
          <p:cNvSpPr txBox="1">
            <a:spLocks noChangeArrowheads="1"/>
          </p:cNvSpPr>
          <p:nvPr/>
        </p:nvSpPr>
        <p:spPr bwMode="auto">
          <a:xfrm>
            <a:off x="612775" y="2058988"/>
            <a:ext cx="8561388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2400" dirty="0"/>
              <a:t>Broadcast Technology UG1</a:t>
            </a:r>
          </a:p>
          <a:p>
            <a:endParaRPr lang="en-GB" sz="2800" b="1" dirty="0"/>
          </a:p>
          <a:p>
            <a:r>
              <a:rPr lang="en-GB" sz="3200" dirty="0"/>
              <a:t>4</a:t>
            </a:r>
            <a:r>
              <a:rPr lang="en-GB" sz="3200"/>
              <a:t>: Modulation, Multiplexing</a:t>
            </a:r>
            <a:endParaRPr lang="en-GB" sz="3200" dirty="0"/>
          </a:p>
          <a:p>
            <a:endParaRPr lang="en-GB" sz="3200" dirty="0"/>
          </a:p>
          <a:p>
            <a:r>
              <a:rPr lang="en-GB" sz="2800" dirty="0"/>
              <a:t>Jerry Foss</a:t>
            </a:r>
          </a:p>
          <a:p>
            <a:r>
              <a:rPr lang="en-GB" dirty="0"/>
              <a:t>jeremy.foss@bcu.ac.uk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288" y="2087857"/>
            <a:ext cx="616352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/>
              <a:t>Modulation, </a:t>
            </a:r>
          </a:p>
          <a:p>
            <a:r>
              <a:rPr lang="en-GB" sz="4400" b="1" dirty="0"/>
              <a:t>AM, FM, Phase, </a:t>
            </a:r>
          </a:p>
          <a:p>
            <a:r>
              <a:rPr lang="en-GB" sz="2800" b="1" dirty="0"/>
              <a:t>(QAM ... later on …) </a:t>
            </a:r>
          </a:p>
        </p:txBody>
      </p:sp>
    </p:spTree>
    <p:extLst>
      <p:ext uri="{BB962C8B-B14F-4D97-AF65-F5344CB8AC3E}">
        <p14:creationId xmlns:p14="http://schemas.microsoft.com/office/powerpoint/2010/main" val="774499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www.illustrationsof.com/royalty-free-microphone-clipart-illustration-210456.jpg"/>
          <p:cNvPicPr>
            <a:picLocks noChangeAspect="1" noChangeArrowheads="1"/>
          </p:cNvPicPr>
          <p:nvPr/>
        </p:nvPicPr>
        <p:blipFill>
          <a:blip r:embed="rId2" cstate="print"/>
          <a:srcRect r="5397" b="6487"/>
          <a:stretch>
            <a:fillRect/>
          </a:stretch>
        </p:blipFill>
        <p:spPr bwMode="auto">
          <a:xfrm>
            <a:off x="0" y="873956"/>
            <a:ext cx="2588323" cy="2573252"/>
          </a:xfrm>
          <a:prstGeom prst="rect">
            <a:avLst/>
          </a:prstGeom>
          <a:noFill/>
        </p:spPr>
      </p:pic>
      <p:sp>
        <p:nvSpPr>
          <p:cNvPr id="4" name="Freeform 6"/>
          <p:cNvSpPr>
            <a:spLocks/>
          </p:cNvSpPr>
          <p:nvPr/>
        </p:nvSpPr>
        <p:spPr bwMode="auto">
          <a:xfrm>
            <a:off x="3752966" y="798849"/>
            <a:ext cx="4834470" cy="2295302"/>
          </a:xfrm>
          <a:custGeom>
            <a:avLst/>
            <a:gdLst>
              <a:gd name="T0" fmla="*/ 0 w 3840"/>
              <a:gd name="T1" fmla="*/ 2147483647 h 934"/>
              <a:gd name="T2" fmla="*/ 2147483647 w 3840"/>
              <a:gd name="T3" fmla="*/ 2147483647 h 934"/>
              <a:gd name="T4" fmla="*/ 2147483647 w 3840"/>
              <a:gd name="T5" fmla="*/ 2147483647 h 934"/>
              <a:gd name="T6" fmla="*/ 2147483647 w 3840"/>
              <a:gd name="T7" fmla="*/ 2147483647 h 934"/>
              <a:gd name="T8" fmla="*/ 2147483647 w 3840"/>
              <a:gd name="T9" fmla="*/ 2147483647 h 934"/>
              <a:gd name="T10" fmla="*/ 2147483647 w 3840"/>
              <a:gd name="T11" fmla="*/ 2147483647 h 934"/>
              <a:gd name="T12" fmla="*/ 2147483647 w 3840"/>
              <a:gd name="T13" fmla="*/ 2147483647 h 934"/>
              <a:gd name="T14" fmla="*/ 2147483647 w 3840"/>
              <a:gd name="T15" fmla="*/ 2147483647 h 934"/>
              <a:gd name="T16" fmla="*/ 2147483647 w 3840"/>
              <a:gd name="T17" fmla="*/ 2147483647 h 934"/>
              <a:gd name="T18" fmla="*/ 2147483647 w 3840"/>
              <a:gd name="T19" fmla="*/ 2147483647 h 934"/>
              <a:gd name="T20" fmla="*/ 2147483647 w 3840"/>
              <a:gd name="T21" fmla="*/ 2147483647 h 934"/>
              <a:gd name="T22" fmla="*/ 2147483647 w 3840"/>
              <a:gd name="T23" fmla="*/ 2147483647 h 934"/>
              <a:gd name="T24" fmla="*/ 2147483647 w 3840"/>
              <a:gd name="T25" fmla="*/ 2147483647 h 934"/>
              <a:gd name="T26" fmla="*/ 2147483647 w 3840"/>
              <a:gd name="T27" fmla="*/ 2147483647 h 934"/>
              <a:gd name="T28" fmla="*/ 2147483647 w 3840"/>
              <a:gd name="T29" fmla="*/ 2147483647 h 934"/>
              <a:gd name="T30" fmla="*/ 2147483647 w 3840"/>
              <a:gd name="T31" fmla="*/ 2147483647 h 93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840"/>
              <a:gd name="T49" fmla="*/ 0 h 934"/>
              <a:gd name="T50" fmla="*/ 3840 w 3840"/>
              <a:gd name="T51" fmla="*/ 934 h 934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840" h="934">
                <a:moveTo>
                  <a:pt x="0" y="502"/>
                </a:moveTo>
                <a:cubicBezTo>
                  <a:pt x="32" y="278"/>
                  <a:pt x="64" y="54"/>
                  <a:pt x="144" y="118"/>
                </a:cubicBezTo>
                <a:cubicBezTo>
                  <a:pt x="224" y="182"/>
                  <a:pt x="352" y="838"/>
                  <a:pt x="480" y="886"/>
                </a:cubicBezTo>
                <a:cubicBezTo>
                  <a:pt x="608" y="934"/>
                  <a:pt x="792" y="542"/>
                  <a:pt x="912" y="406"/>
                </a:cubicBezTo>
                <a:cubicBezTo>
                  <a:pt x="1032" y="270"/>
                  <a:pt x="1080" y="6"/>
                  <a:pt x="1200" y="70"/>
                </a:cubicBezTo>
                <a:cubicBezTo>
                  <a:pt x="1320" y="134"/>
                  <a:pt x="1528" y="662"/>
                  <a:pt x="1632" y="790"/>
                </a:cubicBezTo>
                <a:cubicBezTo>
                  <a:pt x="1736" y="918"/>
                  <a:pt x="1768" y="910"/>
                  <a:pt x="1824" y="838"/>
                </a:cubicBezTo>
                <a:cubicBezTo>
                  <a:pt x="1880" y="766"/>
                  <a:pt x="1931" y="461"/>
                  <a:pt x="1968" y="358"/>
                </a:cubicBezTo>
                <a:cubicBezTo>
                  <a:pt x="2005" y="255"/>
                  <a:pt x="2024" y="270"/>
                  <a:pt x="2048" y="222"/>
                </a:cubicBezTo>
                <a:cubicBezTo>
                  <a:pt x="2072" y="174"/>
                  <a:pt x="2061" y="0"/>
                  <a:pt x="2112" y="70"/>
                </a:cubicBezTo>
                <a:cubicBezTo>
                  <a:pt x="2163" y="140"/>
                  <a:pt x="2280" y="614"/>
                  <a:pt x="2352" y="646"/>
                </a:cubicBezTo>
                <a:cubicBezTo>
                  <a:pt x="2424" y="678"/>
                  <a:pt x="2448" y="230"/>
                  <a:pt x="2544" y="262"/>
                </a:cubicBezTo>
                <a:cubicBezTo>
                  <a:pt x="2640" y="294"/>
                  <a:pt x="2808" y="822"/>
                  <a:pt x="2928" y="838"/>
                </a:cubicBezTo>
                <a:cubicBezTo>
                  <a:pt x="3048" y="854"/>
                  <a:pt x="3176" y="398"/>
                  <a:pt x="3264" y="358"/>
                </a:cubicBezTo>
                <a:cubicBezTo>
                  <a:pt x="3352" y="318"/>
                  <a:pt x="3360" y="574"/>
                  <a:pt x="3456" y="598"/>
                </a:cubicBezTo>
                <a:cubicBezTo>
                  <a:pt x="3552" y="622"/>
                  <a:pt x="3776" y="518"/>
                  <a:pt x="3840" y="502"/>
                </a:cubicBezTo>
              </a:path>
            </a:pathLst>
          </a:cu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415839" y="329883"/>
            <a:ext cx="305564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2400" b="1" dirty="0"/>
              <a:t>Signals - </a:t>
            </a:r>
            <a:r>
              <a:rPr lang="en-GB" sz="2400" b="1" i="1" dirty="0"/>
              <a:t>baseband</a:t>
            </a:r>
          </a:p>
        </p:txBody>
      </p:sp>
      <p:sp>
        <p:nvSpPr>
          <p:cNvPr id="6" name="Text Box 21"/>
          <p:cNvSpPr txBox="1">
            <a:spLocks noChangeArrowheads="1"/>
          </p:cNvSpPr>
          <p:nvPr/>
        </p:nvSpPr>
        <p:spPr bwMode="auto">
          <a:xfrm>
            <a:off x="6734737" y="3031995"/>
            <a:ext cx="570990" cy="30777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i="1" dirty="0"/>
              <a:t>time</a:t>
            </a:r>
            <a:endParaRPr lang="en-GB" sz="2400" i="1" dirty="0"/>
          </a:p>
        </p:txBody>
      </p:sp>
      <p:sp>
        <p:nvSpPr>
          <p:cNvPr id="7" name="Line 22"/>
          <p:cNvSpPr>
            <a:spLocks noChangeShapeType="1"/>
          </p:cNvSpPr>
          <p:nvPr/>
        </p:nvSpPr>
        <p:spPr bwMode="auto">
          <a:xfrm flipV="1">
            <a:off x="7305727" y="3181230"/>
            <a:ext cx="599035" cy="39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8" name="Line 22"/>
          <p:cNvSpPr>
            <a:spLocks noChangeShapeType="1"/>
          </p:cNvSpPr>
          <p:nvPr/>
        </p:nvSpPr>
        <p:spPr bwMode="auto">
          <a:xfrm flipV="1">
            <a:off x="3570124" y="1033489"/>
            <a:ext cx="3601" cy="206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9" name="Text Box 21"/>
          <p:cNvSpPr txBox="1">
            <a:spLocks noChangeArrowheads="1"/>
          </p:cNvSpPr>
          <p:nvPr/>
        </p:nvSpPr>
        <p:spPr bwMode="auto">
          <a:xfrm>
            <a:off x="2670297" y="1030658"/>
            <a:ext cx="817853" cy="30777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i="1" dirty="0"/>
              <a:t>voltage</a:t>
            </a:r>
            <a:endParaRPr lang="en-GB" sz="1800" i="1" dirty="0"/>
          </a:p>
        </p:txBody>
      </p:sp>
      <p:sp>
        <p:nvSpPr>
          <p:cNvPr id="12" name="Line 5"/>
          <p:cNvSpPr>
            <a:spLocks noChangeShapeType="1"/>
          </p:cNvSpPr>
          <p:nvPr/>
        </p:nvSpPr>
        <p:spPr bwMode="auto">
          <a:xfrm flipV="1">
            <a:off x="1249883" y="5723263"/>
            <a:ext cx="5770349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 flipV="1">
            <a:off x="1338783" y="3134050"/>
            <a:ext cx="0" cy="2589213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 flipH="1" flipV="1">
            <a:off x="3785613" y="5004209"/>
            <a:ext cx="12700" cy="1092200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6" name="Line 16"/>
          <p:cNvSpPr>
            <a:spLocks noChangeShapeType="1"/>
          </p:cNvSpPr>
          <p:nvPr/>
        </p:nvSpPr>
        <p:spPr bwMode="auto">
          <a:xfrm flipV="1">
            <a:off x="1326083" y="5988106"/>
            <a:ext cx="2444805" cy="34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2108734" y="5869004"/>
            <a:ext cx="832279" cy="33855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/>
              <a:t>20kHz</a:t>
            </a:r>
            <a:endParaRPr lang="en-GB" sz="2000" dirty="0"/>
          </a:p>
        </p:txBody>
      </p:sp>
      <p:sp>
        <p:nvSpPr>
          <p:cNvPr id="18" name="Text Box 21"/>
          <p:cNvSpPr txBox="1">
            <a:spLocks noChangeArrowheads="1"/>
          </p:cNvSpPr>
          <p:nvPr/>
        </p:nvSpPr>
        <p:spPr bwMode="auto">
          <a:xfrm>
            <a:off x="5283733" y="5834217"/>
            <a:ext cx="1045479" cy="30777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i="1" dirty="0"/>
              <a:t>frequency</a:t>
            </a:r>
            <a:endParaRPr lang="en-GB" sz="1800" i="1" dirty="0"/>
          </a:p>
        </p:txBody>
      </p:sp>
      <p:sp>
        <p:nvSpPr>
          <p:cNvPr id="19" name="Line 22"/>
          <p:cNvSpPr>
            <a:spLocks noChangeShapeType="1"/>
          </p:cNvSpPr>
          <p:nvPr/>
        </p:nvSpPr>
        <p:spPr bwMode="auto">
          <a:xfrm>
            <a:off x="6329212" y="6005388"/>
            <a:ext cx="620726" cy="26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0" name="Line 10"/>
          <p:cNvSpPr>
            <a:spLocks noChangeShapeType="1"/>
          </p:cNvSpPr>
          <p:nvPr/>
        </p:nvSpPr>
        <p:spPr bwMode="auto">
          <a:xfrm flipV="1">
            <a:off x="1314507" y="3134050"/>
            <a:ext cx="0" cy="25892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1" name="Line 15"/>
          <p:cNvSpPr>
            <a:spLocks noChangeShapeType="1"/>
          </p:cNvSpPr>
          <p:nvPr/>
        </p:nvSpPr>
        <p:spPr bwMode="auto">
          <a:xfrm flipH="1" flipV="1">
            <a:off x="3761337" y="5004209"/>
            <a:ext cx="12700" cy="1092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2" name="Text Box 21"/>
          <p:cNvSpPr txBox="1">
            <a:spLocks noChangeArrowheads="1"/>
          </p:cNvSpPr>
          <p:nvPr/>
        </p:nvSpPr>
        <p:spPr bwMode="auto">
          <a:xfrm>
            <a:off x="464342" y="3925618"/>
            <a:ext cx="817853" cy="30777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i="1" dirty="0"/>
              <a:t>voltage</a:t>
            </a:r>
            <a:endParaRPr lang="en-GB" sz="2400" i="1" dirty="0"/>
          </a:p>
        </p:txBody>
      </p:sp>
      <p:sp>
        <p:nvSpPr>
          <p:cNvPr id="23" name="TextBox 22"/>
          <p:cNvSpPr txBox="1"/>
          <p:nvPr/>
        </p:nvSpPr>
        <p:spPr>
          <a:xfrm>
            <a:off x="6843478" y="898493"/>
            <a:ext cx="17439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Arial Black" pitchFamily="34" charset="0"/>
              </a:rPr>
              <a:t>TIME DOMAIN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29898" y="4550545"/>
            <a:ext cx="27903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Arial Black" pitchFamily="34" charset="0"/>
              </a:rPr>
              <a:t>FREQUENCY DOMAIN</a:t>
            </a:r>
          </a:p>
        </p:txBody>
      </p:sp>
      <p:sp>
        <p:nvSpPr>
          <p:cNvPr id="27" name="AutoShape 6"/>
          <p:cNvSpPr>
            <a:spLocks noChangeArrowheads="1"/>
          </p:cNvSpPr>
          <p:nvPr/>
        </p:nvSpPr>
        <p:spPr bwMode="auto">
          <a:xfrm flipV="1">
            <a:off x="1326083" y="4086550"/>
            <a:ext cx="2444805" cy="16256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24225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/>
          <p:cNvGrpSpPr/>
          <p:nvPr/>
        </p:nvGrpSpPr>
        <p:grpSpPr>
          <a:xfrm>
            <a:off x="2905001" y="-1"/>
            <a:ext cx="3237836" cy="6693408"/>
            <a:chOff x="2905001" y="-1"/>
            <a:chExt cx="3237836" cy="6693408"/>
          </a:xfrm>
        </p:grpSpPr>
        <p:sp>
          <p:nvSpPr>
            <p:cNvPr id="2" name="Moon 1"/>
            <p:cNvSpPr/>
            <p:nvPr/>
          </p:nvSpPr>
          <p:spPr bwMode="auto">
            <a:xfrm rot="10800000">
              <a:off x="5871251" y="-1"/>
              <a:ext cx="271586" cy="6693408"/>
            </a:xfrm>
            <a:prstGeom prst="moon">
              <a:avLst>
                <a:gd name="adj" fmla="val 29799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3" name="Moon 2"/>
            <p:cNvSpPr/>
            <p:nvPr/>
          </p:nvSpPr>
          <p:spPr bwMode="auto">
            <a:xfrm rot="10800000">
              <a:off x="2905001" y="2120940"/>
              <a:ext cx="168728" cy="2289088"/>
            </a:xfrm>
            <a:prstGeom prst="moon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39" name="Moon 38"/>
            <p:cNvSpPr/>
            <p:nvPr/>
          </p:nvSpPr>
          <p:spPr bwMode="auto">
            <a:xfrm rot="10800000">
              <a:off x="3191071" y="1817008"/>
              <a:ext cx="182106" cy="2944368"/>
            </a:xfrm>
            <a:prstGeom prst="moon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40" name="Moon 39"/>
            <p:cNvSpPr/>
            <p:nvPr/>
          </p:nvSpPr>
          <p:spPr bwMode="auto">
            <a:xfrm rot="10800000">
              <a:off x="3482335" y="1559960"/>
              <a:ext cx="183966" cy="3458464"/>
            </a:xfrm>
            <a:prstGeom prst="moon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41" name="Moon 40"/>
            <p:cNvSpPr/>
            <p:nvPr/>
          </p:nvSpPr>
          <p:spPr bwMode="auto">
            <a:xfrm rot="10800000">
              <a:off x="3748704" y="1445902"/>
              <a:ext cx="271586" cy="3920685"/>
            </a:xfrm>
            <a:prstGeom prst="moon">
              <a:avLst>
                <a:gd name="adj" fmla="val 33166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42" name="Moon 41"/>
            <p:cNvSpPr/>
            <p:nvPr/>
          </p:nvSpPr>
          <p:spPr bwMode="auto">
            <a:xfrm rot="10800000">
              <a:off x="4089383" y="1100864"/>
              <a:ext cx="271586" cy="4550127"/>
            </a:xfrm>
            <a:prstGeom prst="moon">
              <a:avLst>
                <a:gd name="adj" fmla="val 29799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43" name="Moon 42"/>
            <p:cNvSpPr/>
            <p:nvPr/>
          </p:nvSpPr>
          <p:spPr bwMode="auto">
            <a:xfrm rot="10800000">
              <a:off x="4500395" y="823259"/>
              <a:ext cx="271586" cy="5082454"/>
            </a:xfrm>
            <a:prstGeom prst="moon">
              <a:avLst>
                <a:gd name="adj" fmla="val 29799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44" name="Moon 43"/>
            <p:cNvSpPr/>
            <p:nvPr/>
          </p:nvSpPr>
          <p:spPr bwMode="auto">
            <a:xfrm rot="10800000">
              <a:off x="4911824" y="519981"/>
              <a:ext cx="271586" cy="5621724"/>
            </a:xfrm>
            <a:prstGeom prst="moon">
              <a:avLst>
                <a:gd name="adj" fmla="val 29799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45" name="Moon 44"/>
            <p:cNvSpPr/>
            <p:nvPr/>
          </p:nvSpPr>
          <p:spPr bwMode="auto">
            <a:xfrm rot="10800000">
              <a:off x="5332109" y="331788"/>
              <a:ext cx="271586" cy="6087300"/>
            </a:xfrm>
            <a:prstGeom prst="moon">
              <a:avLst>
                <a:gd name="adj" fmla="val 29799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</p:grpSp>
      <p:grpSp>
        <p:nvGrpSpPr>
          <p:cNvPr id="4" name="Group 58"/>
          <p:cNvGrpSpPr>
            <a:grpSpLocks/>
          </p:cNvGrpSpPr>
          <p:nvPr/>
        </p:nvGrpSpPr>
        <p:grpSpPr bwMode="auto">
          <a:xfrm>
            <a:off x="382535" y="2221764"/>
            <a:ext cx="842963" cy="1612900"/>
            <a:chOff x="2968" y="1560"/>
            <a:chExt cx="531" cy="1016"/>
          </a:xfrm>
        </p:grpSpPr>
        <p:grpSp>
          <p:nvGrpSpPr>
            <p:cNvPr id="5" name="Group 59"/>
            <p:cNvGrpSpPr>
              <a:grpSpLocks/>
            </p:cNvGrpSpPr>
            <p:nvPr/>
          </p:nvGrpSpPr>
          <p:grpSpPr bwMode="auto">
            <a:xfrm>
              <a:off x="2968" y="1640"/>
              <a:ext cx="296" cy="936"/>
              <a:chOff x="3024" y="1816"/>
              <a:chExt cx="480" cy="1256"/>
            </a:xfrm>
          </p:grpSpPr>
          <p:sp>
            <p:nvSpPr>
              <p:cNvPr id="9" name="Line 60"/>
              <p:cNvSpPr>
                <a:spLocks noChangeShapeType="1"/>
              </p:cNvSpPr>
              <p:nvPr/>
            </p:nvSpPr>
            <p:spPr bwMode="auto">
              <a:xfrm flipV="1">
                <a:off x="3024" y="2304"/>
                <a:ext cx="192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0" name="Line 61"/>
              <p:cNvSpPr>
                <a:spLocks noChangeShapeType="1"/>
              </p:cNvSpPr>
              <p:nvPr/>
            </p:nvSpPr>
            <p:spPr bwMode="auto">
              <a:xfrm flipH="1" flipV="1">
                <a:off x="3312" y="2304"/>
                <a:ext cx="192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1" name="Line 62"/>
              <p:cNvSpPr>
                <a:spLocks noChangeShapeType="1"/>
              </p:cNvSpPr>
              <p:nvPr/>
            </p:nvSpPr>
            <p:spPr bwMode="auto">
              <a:xfrm flipH="1" flipV="1">
                <a:off x="3168" y="2544"/>
                <a:ext cx="280" cy="26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2" name="Line 63"/>
              <p:cNvSpPr>
                <a:spLocks noChangeShapeType="1"/>
              </p:cNvSpPr>
              <p:nvPr/>
            </p:nvSpPr>
            <p:spPr bwMode="auto">
              <a:xfrm flipV="1">
                <a:off x="3072" y="2544"/>
                <a:ext cx="288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3" name="Line 64"/>
              <p:cNvSpPr>
                <a:spLocks noChangeShapeType="1"/>
              </p:cNvSpPr>
              <p:nvPr/>
            </p:nvSpPr>
            <p:spPr bwMode="auto">
              <a:xfrm flipV="1">
                <a:off x="3040" y="2784"/>
                <a:ext cx="408" cy="2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4" name="Line 65"/>
              <p:cNvSpPr>
                <a:spLocks noChangeShapeType="1"/>
              </p:cNvSpPr>
              <p:nvPr/>
            </p:nvSpPr>
            <p:spPr bwMode="auto">
              <a:xfrm flipH="1" flipV="1">
                <a:off x="3104" y="2800"/>
                <a:ext cx="392" cy="26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5" name="Line 66"/>
              <p:cNvSpPr>
                <a:spLocks noChangeShapeType="1"/>
              </p:cNvSpPr>
              <p:nvPr/>
            </p:nvSpPr>
            <p:spPr bwMode="auto">
              <a:xfrm flipH="1" flipV="1">
                <a:off x="3216" y="2320"/>
                <a:ext cx="144" cy="23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6" name="Line 67"/>
              <p:cNvSpPr>
                <a:spLocks noChangeShapeType="1"/>
              </p:cNvSpPr>
              <p:nvPr/>
            </p:nvSpPr>
            <p:spPr bwMode="auto">
              <a:xfrm flipV="1">
                <a:off x="3144" y="2304"/>
                <a:ext cx="168" cy="26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7" name="Line 68"/>
              <p:cNvSpPr>
                <a:spLocks noChangeShapeType="1"/>
              </p:cNvSpPr>
              <p:nvPr/>
            </p:nvSpPr>
            <p:spPr bwMode="auto">
              <a:xfrm flipV="1">
                <a:off x="3208" y="2304"/>
                <a:ext cx="10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8" name="Line 69"/>
              <p:cNvSpPr>
                <a:spLocks noChangeShapeType="1"/>
              </p:cNvSpPr>
              <p:nvPr/>
            </p:nvSpPr>
            <p:spPr bwMode="auto">
              <a:xfrm flipH="1" flipV="1">
                <a:off x="3248" y="1816"/>
                <a:ext cx="8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  <p:sp>
          <p:nvSpPr>
            <p:cNvPr id="6" name="Freeform 70"/>
            <p:cNvSpPr>
              <a:spLocks/>
            </p:cNvSpPr>
            <p:nvPr/>
          </p:nvSpPr>
          <p:spPr bwMode="auto">
            <a:xfrm>
              <a:off x="3200" y="1656"/>
              <a:ext cx="67" cy="208"/>
            </a:xfrm>
            <a:custGeom>
              <a:avLst/>
              <a:gdLst>
                <a:gd name="T0" fmla="*/ 0 w 155"/>
                <a:gd name="T1" fmla="*/ 0 h 368"/>
                <a:gd name="T2" fmla="*/ 0 w 155"/>
                <a:gd name="T3" fmla="*/ 1 h 368"/>
                <a:gd name="T4" fmla="*/ 0 w 155"/>
                <a:gd name="T5" fmla="*/ 1 h 368"/>
                <a:gd name="T6" fmla="*/ 0 w 155"/>
                <a:gd name="T7" fmla="*/ 1 h 368"/>
                <a:gd name="T8" fmla="*/ 0 w 155"/>
                <a:gd name="T9" fmla="*/ 1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5"/>
                <a:gd name="T16" fmla="*/ 0 h 368"/>
                <a:gd name="T17" fmla="*/ 155 w 155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5" h="368">
                  <a:moveTo>
                    <a:pt x="0" y="0"/>
                  </a:moveTo>
                  <a:cubicBezTo>
                    <a:pt x="43" y="26"/>
                    <a:pt x="87" y="52"/>
                    <a:pt x="112" y="80"/>
                  </a:cubicBezTo>
                  <a:cubicBezTo>
                    <a:pt x="137" y="108"/>
                    <a:pt x="149" y="135"/>
                    <a:pt x="152" y="168"/>
                  </a:cubicBezTo>
                  <a:cubicBezTo>
                    <a:pt x="155" y="201"/>
                    <a:pt x="143" y="247"/>
                    <a:pt x="128" y="280"/>
                  </a:cubicBezTo>
                  <a:cubicBezTo>
                    <a:pt x="113" y="313"/>
                    <a:pt x="88" y="340"/>
                    <a:pt x="64" y="368"/>
                  </a:cubicBezTo>
                </a:path>
              </a:pathLst>
            </a:cu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" name="Freeform 71"/>
            <p:cNvSpPr>
              <a:spLocks/>
            </p:cNvSpPr>
            <p:nvPr/>
          </p:nvSpPr>
          <p:spPr bwMode="auto">
            <a:xfrm>
              <a:off x="3280" y="1608"/>
              <a:ext cx="91" cy="280"/>
            </a:xfrm>
            <a:custGeom>
              <a:avLst/>
              <a:gdLst>
                <a:gd name="T0" fmla="*/ 0 w 155"/>
                <a:gd name="T1" fmla="*/ 0 h 368"/>
                <a:gd name="T2" fmla="*/ 1 w 155"/>
                <a:gd name="T3" fmla="*/ 2 h 368"/>
                <a:gd name="T4" fmla="*/ 1 w 155"/>
                <a:gd name="T5" fmla="*/ 3 h 368"/>
                <a:gd name="T6" fmla="*/ 1 w 155"/>
                <a:gd name="T7" fmla="*/ 5 h 368"/>
                <a:gd name="T8" fmla="*/ 1 w 155"/>
                <a:gd name="T9" fmla="*/ 6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5"/>
                <a:gd name="T16" fmla="*/ 0 h 368"/>
                <a:gd name="T17" fmla="*/ 155 w 155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5" h="368">
                  <a:moveTo>
                    <a:pt x="0" y="0"/>
                  </a:moveTo>
                  <a:cubicBezTo>
                    <a:pt x="43" y="26"/>
                    <a:pt x="87" y="52"/>
                    <a:pt x="112" y="80"/>
                  </a:cubicBezTo>
                  <a:cubicBezTo>
                    <a:pt x="137" y="108"/>
                    <a:pt x="149" y="135"/>
                    <a:pt x="152" y="168"/>
                  </a:cubicBezTo>
                  <a:cubicBezTo>
                    <a:pt x="155" y="201"/>
                    <a:pt x="143" y="247"/>
                    <a:pt x="128" y="280"/>
                  </a:cubicBezTo>
                  <a:cubicBezTo>
                    <a:pt x="113" y="313"/>
                    <a:pt x="88" y="340"/>
                    <a:pt x="64" y="368"/>
                  </a:cubicBezTo>
                </a:path>
              </a:pathLst>
            </a:cu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8" name="Freeform 72"/>
            <p:cNvSpPr>
              <a:spLocks/>
            </p:cNvSpPr>
            <p:nvPr/>
          </p:nvSpPr>
          <p:spPr bwMode="auto">
            <a:xfrm>
              <a:off x="3376" y="1560"/>
              <a:ext cx="123" cy="376"/>
            </a:xfrm>
            <a:custGeom>
              <a:avLst/>
              <a:gdLst>
                <a:gd name="T0" fmla="*/ 0 w 155"/>
                <a:gd name="T1" fmla="*/ 0 h 368"/>
                <a:gd name="T2" fmla="*/ 3 w 155"/>
                <a:gd name="T3" fmla="*/ 110 h 368"/>
                <a:gd name="T4" fmla="*/ 5 w 155"/>
                <a:gd name="T5" fmla="*/ 233 h 368"/>
                <a:gd name="T6" fmla="*/ 4 w 155"/>
                <a:gd name="T7" fmla="*/ 386 h 368"/>
                <a:gd name="T8" fmla="*/ 2 w 155"/>
                <a:gd name="T9" fmla="*/ 509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5"/>
                <a:gd name="T16" fmla="*/ 0 h 368"/>
                <a:gd name="T17" fmla="*/ 155 w 155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5" h="368">
                  <a:moveTo>
                    <a:pt x="0" y="0"/>
                  </a:moveTo>
                  <a:cubicBezTo>
                    <a:pt x="43" y="26"/>
                    <a:pt x="87" y="52"/>
                    <a:pt x="112" y="80"/>
                  </a:cubicBezTo>
                  <a:cubicBezTo>
                    <a:pt x="137" y="108"/>
                    <a:pt x="149" y="135"/>
                    <a:pt x="152" y="168"/>
                  </a:cubicBezTo>
                  <a:cubicBezTo>
                    <a:pt x="155" y="201"/>
                    <a:pt x="143" y="247"/>
                    <a:pt x="128" y="280"/>
                  </a:cubicBezTo>
                  <a:cubicBezTo>
                    <a:pt x="113" y="313"/>
                    <a:pt x="88" y="340"/>
                    <a:pt x="64" y="368"/>
                  </a:cubicBezTo>
                </a:path>
              </a:pathLst>
            </a:cu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sp>
        <p:nvSpPr>
          <p:cNvPr id="19" name="Rectangle 6"/>
          <p:cNvSpPr>
            <a:spLocks noChangeArrowheads="1"/>
          </p:cNvSpPr>
          <p:nvPr/>
        </p:nvSpPr>
        <p:spPr bwMode="auto">
          <a:xfrm>
            <a:off x="395288" y="333375"/>
            <a:ext cx="22268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400" b="1" dirty="0"/>
              <a:t>Carrier Waves</a:t>
            </a:r>
          </a:p>
        </p:txBody>
      </p:sp>
      <p:grpSp>
        <p:nvGrpSpPr>
          <p:cNvPr id="20" name="Group 8"/>
          <p:cNvGrpSpPr>
            <a:grpSpLocks/>
          </p:cNvGrpSpPr>
          <p:nvPr/>
        </p:nvGrpSpPr>
        <p:grpSpPr bwMode="auto">
          <a:xfrm>
            <a:off x="1546087" y="2366166"/>
            <a:ext cx="1597725" cy="374396"/>
            <a:chOff x="1226" y="1384"/>
            <a:chExt cx="576" cy="432"/>
          </a:xfrm>
        </p:grpSpPr>
        <p:sp>
          <p:nvSpPr>
            <p:cNvPr id="21" name="Freeform 9"/>
            <p:cNvSpPr>
              <a:spLocks/>
            </p:cNvSpPr>
            <p:nvPr/>
          </p:nvSpPr>
          <p:spPr bwMode="auto">
            <a:xfrm>
              <a:off x="1226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22" name="Freeform 10"/>
            <p:cNvSpPr>
              <a:spLocks/>
            </p:cNvSpPr>
            <p:nvPr/>
          </p:nvSpPr>
          <p:spPr bwMode="auto">
            <a:xfrm>
              <a:off x="1418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23" name="Freeform 11"/>
            <p:cNvSpPr>
              <a:spLocks/>
            </p:cNvSpPr>
            <p:nvPr/>
          </p:nvSpPr>
          <p:spPr bwMode="auto">
            <a:xfrm>
              <a:off x="1610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5788534" y="823260"/>
            <a:ext cx="2201702" cy="1704398"/>
            <a:chOff x="4352925" y="1590675"/>
            <a:chExt cx="2605659" cy="1704398"/>
          </a:xfrm>
        </p:grpSpPr>
        <p:sp>
          <p:nvSpPr>
            <p:cNvPr id="47" name="Text Box 26"/>
            <p:cNvSpPr txBox="1">
              <a:spLocks noChangeArrowheads="1"/>
            </p:cNvSpPr>
            <p:nvPr/>
          </p:nvSpPr>
          <p:spPr bwMode="auto">
            <a:xfrm>
              <a:off x="4552950" y="2464076"/>
              <a:ext cx="2405634" cy="830997"/>
            </a:xfrm>
            <a:prstGeom prst="rect">
              <a:avLst/>
            </a:prstGeom>
            <a:solidFill>
              <a:srgbClr val="CC330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GB" sz="1600" b="1" dirty="0">
                <a:solidFill>
                  <a:schemeClr val="bg1"/>
                </a:solidFill>
              </a:endParaRPr>
            </a:p>
            <a:p>
              <a:pPr algn="ctr"/>
              <a:r>
                <a:rPr lang="en-GB" sz="1600" b="1" dirty="0">
                  <a:solidFill>
                    <a:schemeClr val="bg1"/>
                  </a:solidFill>
                </a:rPr>
                <a:t>Receiver</a:t>
              </a:r>
            </a:p>
            <a:p>
              <a:pPr algn="ctr"/>
              <a:endParaRPr lang="en-GB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48" name="Line 27"/>
            <p:cNvSpPr>
              <a:spLocks noChangeShapeType="1"/>
            </p:cNvSpPr>
            <p:nvPr/>
          </p:nvSpPr>
          <p:spPr bwMode="auto">
            <a:xfrm>
              <a:off x="4352925" y="1590675"/>
              <a:ext cx="0" cy="10953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9" name="Line 28"/>
            <p:cNvSpPr>
              <a:spLocks noChangeShapeType="1"/>
            </p:cNvSpPr>
            <p:nvPr/>
          </p:nvSpPr>
          <p:spPr bwMode="auto">
            <a:xfrm>
              <a:off x="4362450" y="2686050"/>
              <a:ext cx="1809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5815966" y="2731008"/>
            <a:ext cx="2149424" cy="1628349"/>
            <a:chOff x="4352925" y="1590675"/>
            <a:chExt cx="2605659" cy="1628349"/>
          </a:xfrm>
        </p:grpSpPr>
        <p:sp>
          <p:nvSpPr>
            <p:cNvPr id="51" name="Text Box 26"/>
            <p:cNvSpPr txBox="1">
              <a:spLocks noChangeArrowheads="1"/>
            </p:cNvSpPr>
            <p:nvPr/>
          </p:nvSpPr>
          <p:spPr bwMode="auto">
            <a:xfrm>
              <a:off x="4552950" y="2365376"/>
              <a:ext cx="2405634" cy="853648"/>
            </a:xfrm>
            <a:prstGeom prst="rect">
              <a:avLst/>
            </a:prstGeom>
            <a:solidFill>
              <a:srgbClr val="CC330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GB" sz="1600" b="1" dirty="0">
                <a:solidFill>
                  <a:schemeClr val="bg1"/>
                </a:solidFill>
              </a:endParaRPr>
            </a:p>
            <a:p>
              <a:pPr algn="ctr"/>
              <a:r>
                <a:rPr lang="en-GB" sz="1600" b="1" dirty="0">
                  <a:solidFill>
                    <a:schemeClr val="bg1"/>
                  </a:solidFill>
                </a:rPr>
                <a:t>Receiver</a:t>
              </a:r>
            </a:p>
            <a:p>
              <a:pPr algn="ctr"/>
              <a:endParaRPr lang="en-GB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52" name="Line 27"/>
            <p:cNvSpPr>
              <a:spLocks noChangeShapeType="1"/>
            </p:cNvSpPr>
            <p:nvPr/>
          </p:nvSpPr>
          <p:spPr bwMode="auto">
            <a:xfrm>
              <a:off x="4352925" y="1590675"/>
              <a:ext cx="0" cy="10953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3" name="Line 28"/>
            <p:cNvSpPr>
              <a:spLocks noChangeShapeType="1"/>
            </p:cNvSpPr>
            <p:nvPr/>
          </p:nvSpPr>
          <p:spPr bwMode="auto">
            <a:xfrm>
              <a:off x="4362450" y="2686050"/>
              <a:ext cx="1809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5798059" y="4486656"/>
            <a:ext cx="2055017" cy="1655049"/>
            <a:chOff x="4352925" y="1590675"/>
            <a:chExt cx="2605277" cy="1655049"/>
          </a:xfrm>
        </p:grpSpPr>
        <p:sp>
          <p:nvSpPr>
            <p:cNvPr id="55" name="Text Box 26"/>
            <p:cNvSpPr txBox="1">
              <a:spLocks noChangeArrowheads="1"/>
            </p:cNvSpPr>
            <p:nvPr/>
          </p:nvSpPr>
          <p:spPr bwMode="auto">
            <a:xfrm>
              <a:off x="4552949" y="2414727"/>
              <a:ext cx="2405253" cy="830997"/>
            </a:xfrm>
            <a:prstGeom prst="rect">
              <a:avLst/>
            </a:prstGeom>
            <a:solidFill>
              <a:srgbClr val="CC330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GB" sz="1600" b="1">
                <a:solidFill>
                  <a:schemeClr val="bg1"/>
                </a:solidFill>
              </a:endParaRPr>
            </a:p>
            <a:p>
              <a:pPr algn="ctr"/>
              <a:r>
                <a:rPr lang="en-GB" sz="1600" b="1">
                  <a:solidFill>
                    <a:schemeClr val="bg1"/>
                  </a:solidFill>
                </a:rPr>
                <a:t>Receiver</a:t>
              </a:r>
            </a:p>
            <a:p>
              <a:pPr algn="ctr"/>
              <a:endParaRPr lang="en-GB" sz="1600" b="1">
                <a:solidFill>
                  <a:schemeClr val="bg1"/>
                </a:solidFill>
              </a:endParaRPr>
            </a:p>
          </p:txBody>
        </p:sp>
        <p:sp>
          <p:nvSpPr>
            <p:cNvPr id="56" name="Line 27"/>
            <p:cNvSpPr>
              <a:spLocks noChangeShapeType="1"/>
            </p:cNvSpPr>
            <p:nvPr/>
          </p:nvSpPr>
          <p:spPr bwMode="auto">
            <a:xfrm>
              <a:off x="4352925" y="1590675"/>
              <a:ext cx="0" cy="10953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7" name="Line 28"/>
            <p:cNvSpPr>
              <a:spLocks noChangeShapeType="1"/>
            </p:cNvSpPr>
            <p:nvPr/>
          </p:nvSpPr>
          <p:spPr bwMode="auto">
            <a:xfrm>
              <a:off x="4362450" y="2686050"/>
              <a:ext cx="1809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58" name="Group 8"/>
          <p:cNvGrpSpPr>
            <a:grpSpLocks/>
          </p:cNvGrpSpPr>
          <p:nvPr/>
        </p:nvGrpSpPr>
        <p:grpSpPr bwMode="auto">
          <a:xfrm>
            <a:off x="6191344" y="1924961"/>
            <a:ext cx="1597725" cy="374396"/>
            <a:chOff x="1226" y="1384"/>
            <a:chExt cx="576" cy="432"/>
          </a:xfrm>
        </p:grpSpPr>
        <p:sp>
          <p:nvSpPr>
            <p:cNvPr id="59" name="Freeform 9"/>
            <p:cNvSpPr>
              <a:spLocks/>
            </p:cNvSpPr>
            <p:nvPr/>
          </p:nvSpPr>
          <p:spPr bwMode="auto">
            <a:xfrm>
              <a:off x="1226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7059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0" name="Freeform 10"/>
            <p:cNvSpPr>
              <a:spLocks/>
            </p:cNvSpPr>
            <p:nvPr/>
          </p:nvSpPr>
          <p:spPr bwMode="auto">
            <a:xfrm>
              <a:off x="1418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7059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1" name="Freeform 11"/>
            <p:cNvSpPr>
              <a:spLocks/>
            </p:cNvSpPr>
            <p:nvPr/>
          </p:nvSpPr>
          <p:spPr bwMode="auto">
            <a:xfrm>
              <a:off x="1610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7059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sp>
        <p:nvSpPr>
          <p:cNvPr id="77" name="TextBox 76"/>
          <p:cNvSpPr txBox="1"/>
          <p:nvPr/>
        </p:nvSpPr>
        <p:spPr>
          <a:xfrm>
            <a:off x="63279" y="3902499"/>
            <a:ext cx="1482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Transmitter</a:t>
            </a:r>
          </a:p>
        </p:txBody>
      </p:sp>
      <p:pic>
        <p:nvPicPr>
          <p:cNvPr id="78" name="Picture 7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1033" y="641101"/>
            <a:ext cx="2025749" cy="1468053"/>
          </a:xfrm>
          <a:prstGeom prst="rect">
            <a:avLst/>
          </a:prstGeom>
        </p:spPr>
      </p:pic>
      <p:pic>
        <p:nvPicPr>
          <p:cNvPr id="79" name="Picture 7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3286" y="2824896"/>
            <a:ext cx="1723020" cy="970528"/>
          </a:xfrm>
          <a:prstGeom prst="rect">
            <a:avLst/>
          </a:prstGeom>
        </p:spPr>
      </p:pic>
      <p:pic>
        <p:nvPicPr>
          <p:cNvPr id="80" name="Picture 7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616" y="4597201"/>
            <a:ext cx="1059798" cy="828762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2797440" y="2016044"/>
            <a:ext cx="1450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carrier</a:t>
            </a:r>
          </a:p>
          <a:p>
            <a:pPr algn="ctr"/>
            <a:r>
              <a:rPr lang="en-GB" sz="1400" dirty="0"/>
              <a:t>frequency </a:t>
            </a:r>
            <a:r>
              <a:rPr lang="en-GB" sz="1400" i="1" dirty="0"/>
              <a:t>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25552" y="2273211"/>
            <a:ext cx="20981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i="1" dirty="0">
                <a:solidFill>
                  <a:schemeClr val="bg1"/>
                </a:solidFill>
              </a:rPr>
              <a:t>“tuned” to frequency 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86562" y="4129423"/>
            <a:ext cx="1746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i="1" dirty="0">
                <a:solidFill>
                  <a:schemeClr val="bg1"/>
                </a:solidFill>
              </a:rPr>
              <a:t>tuned to frequency b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80639" y="5921093"/>
            <a:ext cx="1746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i="1" dirty="0">
                <a:solidFill>
                  <a:schemeClr val="bg1"/>
                </a:solidFill>
              </a:rPr>
              <a:t>tuned to frequency c</a:t>
            </a:r>
          </a:p>
        </p:txBody>
      </p:sp>
      <p:grpSp>
        <p:nvGrpSpPr>
          <p:cNvPr id="88" name="Group 8"/>
          <p:cNvGrpSpPr>
            <a:grpSpLocks/>
          </p:cNvGrpSpPr>
          <p:nvPr/>
        </p:nvGrpSpPr>
        <p:grpSpPr bwMode="auto">
          <a:xfrm>
            <a:off x="6127553" y="3735628"/>
            <a:ext cx="1597725" cy="374396"/>
            <a:chOff x="1226" y="1384"/>
            <a:chExt cx="576" cy="432"/>
          </a:xfrm>
        </p:grpSpPr>
        <p:sp>
          <p:nvSpPr>
            <p:cNvPr id="89" name="Freeform 9"/>
            <p:cNvSpPr>
              <a:spLocks/>
            </p:cNvSpPr>
            <p:nvPr/>
          </p:nvSpPr>
          <p:spPr bwMode="auto">
            <a:xfrm>
              <a:off x="1226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7059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90" name="Freeform 10"/>
            <p:cNvSpPr>
              <a:spLocks/>
            </p:cNvSpPr>
            <p:nvPr/>
          </p:nvSpPr>
          <p:spPr bwMode="auto">
            <a:xfrm>
              <a:off x="1418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7059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91" name="Freeform 11"/>
            <p:cNvSpPr>
              <a:spLocks/>
            </p:cNvSpPr>
            <p:nvPr/>
          </p:nvSpPr>
          <p:spPr bwMode="auto">
            <a:xfrm>
              <a:off x="1610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7059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100" name="Group 8"/>
          <p:cNvGrpSpPr>
            <a:grpSpLocks/>
          </p:cNvGrpSpPr>
          <p:nvPr/>
        </p:nvGrpSpPr>
        <p:grpSpPr bwMode="auto">
          <a:xfrm>
            <a:off x="6142837" y="5505402"/>
            <a:ext cx="1597725" cy="374396"/>
            <a:chOff x="1226" y="1384"/>
            <a:chExt cx="576" cy="432"/>
          </a:xfrm>
        </p:grpSpPr>
        <p:sp>
          <p:nvSpPr>
            <p:cNvPr id="101" name="Freeform 9"/>
            <p:cNvSpPr>
              <a:spLocks/>
            </p:cNvSpPr>
            <p:nvPr/>
          </p:nvSpPr>
          <p:spPr bwMode="auto">
            <a:xfrm>
              <a:off x="1226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7059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02" name="Freeform 10"/>
            <p:cNvSpPr>
              <a:spLocks/>
            </p:cNvSpPr>
            <p:nvPr/>
          </p:nvSpPr>
          <p:spPr bwMode="auto">
            <a:xfrm>
              <a:off x="1418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7059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03" name="Freeform 11"/>
            <p:cNvSpPr>
              <a:spLocks/>
            </p:cNvSpPr>
            <p:nvPr/>
          </p:nvSpPr>
          <p:spPr bwMode="auto">
            <a:xfrm>
              <a:off x="1610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7059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</p:spTree>
    <p:extLst>
      <p:ext uri="{BB962C8B-B14F-4D97-AF65-F5344CB8AC3E}">
        <p14:creationId xmlns:p14="http://schemas.microsoft.com/office/powerpoint/2010/main" val="1651125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2905001" y="-1"/>
            <a:ext cx="3237836" cy="6693408"/>
            <a:chOff x="2905001" y="-1"/>
            <a:chExt cx="3237836" cy="6693408"/>
          </a:xfrm>
        </p:grpSpPr>
        <p:sp>
          <p:nvSpPr>
            <p:cNvPr id="2" name="Moon 1"/>
            <p:cNvSpPr/>
            <p:nvPr/>
          </p:nvSpPr>
          <p:spPr bwMode="auto">
            <a:xfrm rot="10800000">
              <a:off x="5871251" y="-1"/>
              <a:ext cx="271586" cy="6693408"/>
            </a:xfrm>
            <a:prstGeom prst="moon">
              <a:avLst>
                <a:gd name="adj" fmla="val 29799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3" name="Moon 2"/>
            <p:cNvSpPr/>
            <p:nvPr/>
          </p:nvSpPr>
          <p:spPr bwMode="auto">
            <a:xfrm rot="10800000">
              <a:off x="2905001" y="2120940"/>
              <a:ext cx="168728" cy="2289088"/>
            </a:xfrm>
            <a:prstGeom prst="moon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42" name="Moon 41"/>
            <p:cNvSpPr/>
            <p:nvPr/>
          </p:nvSpPr>
          <p:spPr bwMode="auto">
            <a:xfrm rot="10800000">
              <a:off x="3191071" y="1817008"/>
              <a:ext cx="182106" cy="2944368"/>
            </a:xfrm>
            <a:prstGeom prst="moon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43" name="Moon 42"/>
            <p:cNvSpPr/>
            <p:nvPr/>
          </p:nvSpPr>
          <p:spPr bwMode="auto">
            <a:xfrm rot="10800000">
              <a:off x="3482335" y="1559960"/>
              <a:ext cx="183966" cy="3458464"/>
            </a:xfrm>
            <a:prstGeom prst="moon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44" name="Moon 43"/>
            <p:cNvSpPr/>
            <p:nvPr/>
          </p:nvSpPr>
          <p:spPr bwMode="auto">
            <a:xfrm rot="10800000">
              <a:off x="3748704" y="1445902"/>
              <a:ext cx="271586" cy="3920685"/>
            </a:xfrm>
            <a:prstGeom prst="moon">
              <a:avLst>
                <a:gd name="adj" fmla="val 33166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45" name="Moon 44"/>
            <p:cNvSpPr/>
            <p:nvPr/>
          </p:nvSpPr>
          <p:spPr bwMode="auto">
            <a:xfrm rot="10800000">
              <a:off x="4089383" y="1100864"/>
              <a:ext cx="271586" cy="4550127"/>
            </a:xfrm>
            <a:prstGeom prst="moon">
              <a:avLst>
                <a:gd name="adj" fmla="val 29799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46" name="Moon 45"/>
            <p:cNvSpPr/>
            <p:nvPr/>
          </p:nvSpPr>
          <p:spPr bwMode="auto">
            <a:xfrm rot="10800000">
              <a:off x="4500395" y="823259"/>
              <a:ext cx="271586" cy="5082454"/>
            </a:xfrm>
            <a:prstGeom prst="moon">
              <a:avLst>
                <a:gd name="adj" fmla="val 29799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47" name="Moon 46"/>
            <p:cNvSpPr/>
            <p:nvPr/>
          </p:nvSpPr>
          <p:spPr bwMode="auto">
            <a:xfrm rot="10800000">
              <a:off x="4911824" y="519981"/>
              <a:ext cx="271586" cy="5621724"/>
            </a:xfrm>
            <a:prstGeom prst="moon">
              <a:avLst>
                <a:gd name="adj" fmla="val 29799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48" name="Moon 47"/>
            <p:cNvSpPr/>
            <p:nvPr/>
          </p:nvSpPr>
          <p:spPr bwMode="auto">
            <a:xfrm rot="10800000">
              <a:off x="5332109" y="331788"/>
              <a:ext cx="271586" cy="6087300"/>
            </a:xfrm>
            <a:prstGeom prst="moon">
              <a:avLst>
                <a:gd name="adj" fmla="val 29799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</p:grpSp>
      <p:grpSp>
        <p:nvGrpSpPr>
          <p:cNvPr id="4" name="Group 58"/>
          <p:cNvGrpSpPr>
            <a:grpSpLocks/>
          </p:cNvGrpSpPr>
          <p:nvPr/>
        </p:nvGrpSpPr>
        <p:grpSpPr bwMode="auto">
          <a:xfrm>
            <a:off x="415103" y="2209841"/>
            <a:ext cx="842963" cy="1612900"/>
            <a:chOff x="2968" y="1560"/>
            <a:chExt cx="531" cy="1016"/>
          </a:xfrm>
        </p:grpSpPr>
        <p:grpSp>
          <p:nvGrpSpPr>
            <p:cNvPr id="5" name="Group 59"/>
            <p:cNvGrpSpPr>
              <a:grpSpLocks/>
            </p:cNvGrpSpPr>
            <p:nvPr/>
          </p:nvGrpSpPr>
          <p:grpSpPr bwMode="auto">
            <a:xfrm>
              <a:off x="2968" y="1640"/>
              <a:ext cx="296" cy="936"/>
              <a:chOff x="3024" y="1816"/>
              <a:chExt cx="480" cy="1256"/>
            </a:xfrm>
          </p:grpSpPr>
          <p:sp>
            <p:nvSpPr>
              <p:cNvPr id="9" name="Line 60"/>
              <p:cNvSpPr>
                <a:spLocks noChangeShapeType="1"/>
              </p:cNvSpPr>
              <p:nvPr/>
            </p:nvSpPr>
            <p:spPr bwMode="auto">
              <a:xfrm flipV="1">
                <a:off x="3024" y="2304"/>
                <a:ext cx="192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0" name="Line 61"/>
              <p:cNvSpPr>
                <a:spLocks noChangeShapeType="1"/>
              </p:cNvSpPr>
              <p:nvPr/>
            </p:nvSpPr>
            <p:spPr bwMode="auto">
              <a:xfrm flipH="1" flipV="1">
                <a:off x="3312" y="2304"/>
                <a:ext cx="192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1" name="Line 62"/>
              <p:cNvSpPr>
                <a:spLocks noChangeShapeType="1"/>
              </p:cNvSpPr>
              <p:nvPr/>
            </p:nvSpPr>
            <p:spPr bwMode="auto">
              <a:xfrm flipH="1" flipV="1">
                <a:off x="3168" y="2544"/>
                <a:ext cx="280" cy="26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2" name="Line 63"/>
              <p:cNvSpPr>
                <a:spLocks noChangeShapeType="1"/>
              </p:cNvSpPr>
              <p:nvPr/>
            </p:nvSpPr>
            <p:spPr bwMode="auto">
              <a:xfrm flipV="1">
                <a:off x="3072" y="2544"/>
                <a:ext cx="288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3" name="Line 64"/>
              <p:cNvSpPr>
                <a:spLocks noChangeShapeType="1"/>
              </p:cNvSpPr>
              <p:nvPr/>
            </p:nvSpPr>
            <p:spPr bwMode="auto">
              <a:xfrm flipV="1">
                <a:off x="3040" y="2784"/>
                <a:ext cx="408" cy="2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4" name="Line 65"/>
              <p:cNvSpPr>
                <a:spLocks noChangeShapeType="1"/>
              </p:cNvSpPr>
              <p:nvPr/>
            </p:nvSpPr>
            <p:spPr bwMode="auto">
              <a:xfrm flipH="1" flipV="1">
                <a:off x="3104" y="2800"/>
                <a:ext cx="392" cy="26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5" name="Line 66"/>
              <p:cNvSpPr>
                <a:spLocks noChangeShapeType="1"/>
              </p:cNvSpPr>
              <p:nvPr/>
            </p:nvSpPr>
            <p:spPr bwMode="auto">
              <a:xfrm flipH="1" flipV="1">
                <a:off x="3216" y="2320"/>
                <a:ext cx="144" cy="23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6" name="Line 67"/>
              <p:cNvSpPr>
                <a:spLocks noChangeShapeType="1"/>
              </p:cNvSpPr>
              <p:nvPr/>
            </p:nvSpPr>
            <p:spPr bwMode="auto">
              <a:xfrm flipV="1">
                <a:off x="3144" y="2304"/>
                <a:ext cx="168" cy="26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7" name="Line 68"/>
              <p:cNvSpPr>
                <a:spLocks noChangeShapeType="1"/>
              </p:cNvSpPr>
              <p:nvPr/>
            </p:nvSpPr>
            <p:spPr bwMode="auto">
              <a:xfrm flipV="1">
                <a:off x="3208" y="2304"/>
                <a:ext cx="10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8" name="Line 69"/>
              <p:cNvSpPr>
                <a:spLocks noChangeShapeType="1"/>
              </p:cNvSpPr>
              <p:nvPr/>
            </p:nvSpPr>
            <p:spPr bwMode="auto">
              <a:xfrm flipH="1" flipV="1">
                <a:off x="3248" y="1816"/>
                <a:ext cx="8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  <p:sp>
          <p:nvSpPr>
            <p:cNvPr id="6" name="Freeform 70"/>
            <p:cNvSpPr>
              <a:spLocks/>
            </p:cNvSpPr>
            <p:nvPr/>
          </p:nvSpPr>
          <p:spPr bwMode="auto">
            <a:xfrm>
              <a:off x="3200" y="1656"/>
              <a:ext cx="67" cy="208"/>
            </a:xfrm>
            <a:custGeom>
              <a:avLst/>
              <a:gdLst>
                <a:gd name="T0" fmla="*/ 0 w 155"/>
                <a:gd name="T1" fmla="*/ 0 h 368"/>
                <a:gd name="T2" fmla="*/ 0 w 155"/>
                <a:gd name="T3" fmla="*/ 1 h 368"/>
                <a:gd name="T4" fmla="*/ 0 w 155"/>
                <a:gd name="T5" fmla="*/ 1 h 368"/>
                <a:gd name="T6" fmla="*/ 0 w 155"/>
                <a:gd name="T7" fmla="*/ 1 h 368"/>
                <a:gd name="T8" fmla="*/ 0 w 155"/>
                <a:gd name="T9" fmla="*/ 1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5"/>
                <a:gd name="T16" fmla="*/ 0 h 368"/>
                <a:gd name="T17" fmla="*/ 155 w 155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5" h="368">
                  <a:moveTo>
                    <a:pt x="0" y="0"/>
                  </a:moveTo>
                  <a:cubicBezTo>
                    <a:pt x="43" y="26"/>
                    <a:pt x="87" y="52"/>
                    <a:pt x="112" y="80"/>
                  </a:cubicBezTo>
                  <a:cubicBezTo>
                    <a:pt x="137" y="108"/>
                    <a:pt x="149" y="135"/>
                    <a:pt x="152" y="168"/>
                  </a:cubicBezTo>
                  <a:cubicBezTo>
                    <a:pt x="155" y="201"/>
                    <a:pt x="143" y="247"/>
                    <a:pt x="128" y="280"/>
                  </a:cubicBezTo>
                  <a:cubicBezTo>
                    <a:pt x="113" y="313"/>
                    <a:pt x="88" y="340"/>
                    <a:pt x="64" y="368"/>
                  </a:cubicBezTo>
                </a:path>
              </a:pathLst>
            </a:cu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" name="Freeform 71"/>
            <p:cNvSpPr>
              <a:spLocks/>
            </p:cNvSpPr>
            <p:nvPr/>
          </p:nvSpPr>
          <p:spPr bwMode="auto">
            <a:xfrm>
              <a:off x="3280" y="1608"/>
              <a:ext cx="91" cy="280"/>
            </a:xfrm>
            <a:custGeom>
              <a:avLst/>
              <a:gdLst>
                <a:gd name="T0" fmla="*/ 0 w 155"/>
                <a:gd name="T1" fmla="*/ 0 h 368"/>
                <a:gd name="T2" fmla="*/ 1 w 155"/>
                <a:gd name="T3" fmla="*/ 2 h 368"/>
                <a:gd name="T4" fmla="*/ 1 w 155"/>
                <a:gd name="T5" fmla="*/ 3 h 368"/>
                <a:gd name="T6" fmla="*/ 1 w 155"/>
                <a:gd name="T7" fmla="*/ 5 h 368"/>
                <a:gd name="T8" fmla="*/ 1 w 155"/>
                <a:gd name="T9" fmla="*/ 6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5"/>
                <a:gd name="T16" fmla="*/ 0 h 368"/>
                <a:gd name="T17" fmla="*/ 155 w 155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5" h="368">
                  <a:moveTo>
                    <a:pt x="0" y="0"/>
                  </a:moveTo>
                  <a:cubicBezTo>
                    <a:pt x="43" y="26"/>
                    <a:pt x="87" y="52"/>
                    <a:pt x="112" y="80"/>
                  </a:cubicBezTo>
                  <a:cubicBezTo>
                    <a:pt x="137" y="108"/>
                    <a:pt x="149" y="135"/>
                    <a:pt x="152" y="168"/>
                  </a:cubicBezTo>
                  <a:cubicBezTo>
                    <a:pt x="155" y="201"/>
                    <a:pt x="143" y="247"/>
                    <a:pt x="128" y="280"/>
                  </a:cubicBezTo>
                  <a:cubicBezTo>
                    <a:pt x="113" y="313"/>
                    <a:pt x="88" y="340"/>
                    <a:pt x="64" y="368"/>
                  </a:cubicBezTo>
                </a:path>
              </a:pathLst>
            </a:cu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8" name="Freeform 72"/>
            <p:cNvSpPr>
              <a:spLocks/>
            </p:cNvSpPr>
            <p:nvPr/>
          </p:nvSpPr>
          <p:spPr bwMode="auto">
            <a:xfrm>
              <a:off x="3376" y="1560"/>
              <a:ext cx="123" cy="376"/>
            </a:xfrm>
            <a:custGeom>
              <a:avLst/>
              <a:gdLst>
                <a:gd name="T0" fmla="*/ 0 w 155"/>
                <a:gd name="T1" fmla="*/ 0 h 368"/>
                <a:gd name="T2" fmla="*/ 3 w 155"/>
                <a:gd name="T3" fmla="*/ 110 h 368"/>
                <a:gd name="T4" fmla="*/ 5 w 155"/>
                <a:gd name="T5" fmla="*/ 233 h 368"/>
                <a:gd name="T6" fmla="*/ 4 w 155"/>
                <a:gd name="T7" fmla="*/ 386 h 368"/>
                <a:gd name="T8" fmla="*/ 2 w 155"/>
                <a:gd name="T9" fmla="*/ 509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5"/>
                <a:gd name="T16" fmla="*/ 0 h 368"/>
                <a:gd name="T17" fmla="*/ 155 w 155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5" h="368">
                  <a:moveTo>
                    <a:pt x="0" y="0"/>
                  </a:moveTo>
                  <a:cubicBezTo>
                    <a:pt x="43" y="26"/>
                    <a:pt x="87" y="52"/>
                    <a:pt x="112" y="80"/>
                  </a:cubicBezTo>
                  <a:cubicBezTo>
                    <a:pt x="137" y="108"/>
                    <a:pt x="149" y="135"/>
                    <a:pt x="152" y="168"/>
                  </a:cubicBezTo>
                  <a:cubicBezTo>
                    <a:pt x="155" y="201"/>
                    <a:pt x="143" y="247"/>
                    <a:pt x="128" y="280"/>
                  </a:cubicBezTo>
                  <a:cubicBezTo>
                    <a:pt x="113" y="313"/>
                    <a:pt x="88" y="340"/>
                    <a:pt x="64" y="368"/>
                  </a:cubicBezTo>
                </a:path>
              </a:pathLst>
            </a:cu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20" name="Group 8"/>
          <p:cNvGrpSpPr>
            <a:grpSpLocks/>
          </p:cNvGrpSpPr>
          <p:nvPr/>
        </p:nvGrpSpPr>
        <p:grpSpPr bwMode="auto">
          <a:xfrm>
            <a:off x="1405878" y="1578121"/>
            <a:ext cx="1597725" cy="374396"/>
            <a:chOff x="1226" y="1384"/>
            <a:chExt cx="576" cy="432"/>
          </a:xfrm>
        </p:grpSpPr>
        <p:sp>
          <p:nvSpPr>
            <p:cNvPr id="21" name="Freeform 9"/>
            <p:cNvSpPr>
              <a:spLocks/>
            </p:cNvSpPr>
            <p:nvPr/>
          </p:nvSpPr>
          <p:spPr bwMode="auto">
            <a:xfrm>
              <a:off x="1226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22" name="Freeform 10"/>
            <p:cNvSpPr>
              <a:spLocks/>
            </p:cNvSpPr>
            <p:nvPr/>
          </p:nvSpPr>
          <p:spPr bwMode="auto">
            <a:xfrm>
              <a:off x="1418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23" name="Freeform 11"/>
            <p:cNvSpPr>
              <a:spLocks/>
            </p:cNvSpPr>
            <p:nvPr/>
          </p:nvSpPr>
          <p:spPr bwMode="auto">
            <a:xfrm>
              <a:off x="1610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402414" y="2427202"/>
            <a:ext cx="1587049" cy="387138"/>
            <a:chOff x="1521654" y="3021542"/>
            <a:chExt cx="1587049" cy="387138"/>
          </a:xfrm>
        </p:grpSpPr>
        <p:sp>
          <p:nvSpPr>
            <p:cNvPr id="25" name="Freeform 9"/>
            <p:cNvSpPr>
              <a:spLocks/>
            </p:cNvSpPr>
            <p:nvPr/>
          </p:nvSpPr>
          <p:spPr bwMode="auto">
            <a:xfrm>
              <a:off x="1521654" y="3021542"/>
              <a:ext cx="318407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26" name="Freeform 10"/>
            <p:cNvSpPr>
              <a:spLocks/>
            </p:cNvSpPr>
            <p:nvPr/>
          </p:nvSpPr>
          <p:spPr bwMode="auto">
            <a:xfrm>
              <a:off x="1840061" y="3021542"/>
              <a:ext cx="318407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27" name="Freeform 11"/>
            <p:cNvSpPr>
              <a:spLocks/>
            </p:cNvSpPr>
            <p:nvPr/>
          </p:nvSpPr>
          <p:spPr bwMode="auto">
            <a:xfrm>
              <a:off x="2158468" y="3021542"/>
              <a:ext cx="318407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28" name="Freeform 9"/>
            <p:cNvSpPr>
              <a:spLocks/>
            </p:cNvSpPr>
            <p:nvPr/>
          </p:nvSpPr>
          <p:spPr bwMode="auto">
            <a:xfrm>
              <a:off x="2471889" y="3034284"/>
              <a:ext cx="318407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29" name="Freeform 10"/>
            <p:cNvSpPr>
              <a:spLocks/>
            </p:cNvSpPr>
            <p:nvPr/>
          </p:nvSpPr>
          <p:spPr bwMode="auto">
            <a:xfrm>
              <a:off x="2790296" y="3034284"/>
              <a:ext cx="318407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1406575" y="3361603"/>
            <a:ext cx="1582888" cy="389775"/>
            <a:chOff x="1516669" y="3627259"/>
            <a:chExt cx="2190182" cy="389775"/>
          </a:xfrm>
        </p:grpSpPr>
        <p:sp>
          <p:nvSpPr>
            <p:cNvPr id="31" name="Freeform 9"/>
            <p:cNvSpPr>
              <a:spLocks/>
            </p:cNvSpPr>
            <p:nvPr/>
          </p:nvSpPr>
          <p:spPr bwMode="auto">
            <a:xfrm>
              <a:off x="1516669" y="3627259"/>
              <a:ext cx="273855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2" name="Freeform 10"/>
            <p:cNvSpPr>
              <a:spLocks/>
            </p:cNvSpPr>
            <p:nvPr/>
          </p:nvSpPr>
          <p:spPr bwMode="auto">
            <a:xfrm>
              <a:off x="1790524" y="3627259"/>
              <a:ext cx="273855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3" name="Freeform 11"/>
            <p:cNvSpPr>
              <a:spLocks/>
            </p:cNvSpPr>
            <p:nvPr/>
          </p:nvSpPr>
          <p:spPr bwMode="auto">
            <a:xfrm>
              <a:off x="2064380" y="3627259"/>
              <a:ext cx="273855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4" name="Freeform 9"/>
            <p:cNvSpPr>
              <a:spLocks/>
            </p:cNvSpPr>
            <p:nvPr/>
          </p:nvSpPr>
          <p:spPr bwMode="auto">
            <a:xfrm>
              <a:off x="2341598" y="3627259"/>
              <a:ext cx="273855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5" name="Freeform 10"/>
            <p:cNvSpPr>
              <a:spLocks/>
            </p:cNvSpPr>
            <p:nvPr/>
          </p:nvSpPr>
          <p:spPr bwMode="auto">
            <a:xfrm>
              <a:off x="2615453" y="3627259"/>
              <a:ext cx="273855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6" name="Freeform 11"/>
            <p:cNvSpPr>
              <a:spLocks/>
            </p:cNvSpPr>
            <p:nvPr/>
          </p:nvSpPr>
          <p:spPr bwMode="auto">
            <a:xfrm>
              <a:off x="2889309" y="3627259"/>
              <a:ext cx="273855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7" name="Freeform 10"/>
            <p:cNvSpPr>
              <a:spLocks/>
            </p:cNvSpPr>
            <p:nvPr/>
          </p:nvSpPr>
          <p:spPr bwMode="auto">
            <a:xfrm>
              <a:off x="3159142" y="3642638"/>
              <a:ext cx="273856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8" name="Freeform 11"/>
            <p:cNvSpPr>
              <a:spLocks/>
            </p:cNvSpPr>
            <p:nvPr/>
          </p:nvSpPr>
          <p:spPr bwMode="auto">
            <a:xfrm>
              <a:off x="3432997" y="3642638"/>
              <a:ext cx="273854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5788534" y="823260"/>
            <a:ext cx="2201702" cy="1704398"/>
            <a:chOff x="4352925" y="1590675"/>
            <a:chExt cx="2605659" cy="1704398"/>
          </a:xfrm>
        </p:grpSpPr>
        <p:sp>
          <p:nvSpPr>
            <p:cNvPr id="50" name="Text Box 26"/>
            <p:cNvSpPr txBox="1">
              <a:spLocks noChangeArrowheads="1"/>
            </p:cNvSpPr>
            <p:nvPr/>
          </p:nvSpPr>
          <p:spPr bwMode="auto">
            <a:xfrm>
              <a:off x="4552950" y="2464076"/>
              <a:ext cx="2405634" cy="830997"/>
            </a:xfrm>
            <a:prstGeom prst="rect">
              <a:avLst/>
            </a:prstGeom>
            <a:solidFill>
              <a:srgbClr val="CC330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GB" sz="1600" b="1" dirty="0">
                <a:solidFill>
                  <a:schemeClr val="bg1"/>
                </a:solidFill>
              </a:endParaRPr>
            </a:p>
            <a:p>
              <a:pPr algn="ctr"/>
              <a:r>
                <a:rPr lang="en-GB" sz="1600" b="1" dirty="0">
                  <a:solidFill>
                    <a:schemeClr val="bg1"/>
                  </a:solidFill>
                </a:rPr>
                <a:t>Receiver</a:t>
              </a:r>
            </a:p>
            <a:p>
              <a:pPr algn="ctr"/>
              <a:endParaRPr lang="en-GB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51" name="Line 27"/>
            <p:cNvSpPr>
              <a:spLocks noChangeShapeType="1"/>
            </p:cNvSpPr>
            <p:nvPr/>
          </p:nvSpPr>
          <p:spPr bwMode="auto">
            <a:xfrm>
              <a:off x="4352925" y="1590675"/>
              <a:ext cx="0" cy="10953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2" name="Line 28"/>
            <p:cNvSpPr>
              <a:spLocks noChangeShapeType="1"/>
            </p:cNvSpPr>
            <p:nvPr/>
          </p:nvSpPr>
          <p:spPr bwMode="auto">
            <a:xfrm>
              <a:off x="4362450" y="2686050"/>
              <a:ext cx="1809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5815966" y="2731008"/>
            <a:ext cx="2149424" cy="1628349"/>
            <a:chOff x="4352925" y="1590675"/>
            <a:chExt cx="2605659" cy="1628349"/>
          </a:xfrm>
        </p:grpSpPr>
        <p:sp>
          <p:nvSpPr>
            <p:cNvPr id="54" name="Text Box 26"/>
            <p:cNvSpPr txBox="1">
              <a:spLocks noChangeArrowheads="1"/>
            </p:cNvSpPr>
            <p:nvPr/>
          </p:nvSpPr>
          <p:spPr bwMode="auto">
            <a:xfrm>
              <a:off x="4552950" y="2365376"/>
              <a:ext cx="2405634" cy="853648"/>
            </a:xfrm>
            <a:prstGeom prst="rect">
              <a:avLst/>
            </a:prstGeom>
            <a:solidFill>
              <a:srgbClr val="CC330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GB" sz="1600" b="1" dirty="0">
                <a:solidFill>
                  <a:schemeClr val="bg1"/>
                </a:solidFill>
              </a:endParaRPr>
            </a:p>
            <a:p>
              <a:pPr algn="ctr"/>
              <a:r>
                <a:rPr lang="en-GB" sz="1600" b="1" dirty="0">
                  <a:solidFill>
                    <a:schemeClr val="bg1"/>
                  </a:solidFill>
                </a:rPr>
                <a:t>Receiver</a:t>
              </a:r>
            </a:p>
            <a:p>
              <a:pPr algn="ctr"/>
              <a:endParaRPr lang="en-GB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55" name="Line 27"/>
            <p:cNvSpPr>
              <a:spLocks noChangeShapeType="1"/>
            </p:cNvSpPr>
            <p:nvPr/>
          </p:nvSpPr>
          <p:spPr bwMode="auto">
            <a:xfrm>
              <a:off x="4352925" y="1590675"/>
              <a:ext cx="0" cy="10953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6" name="Line 28"/>
            <p:cNvSpPr>
              <a:spLocks noChangeShapeType="1"/>
            </p:cNvSpPr>
            <p:nvPr/>
          </p:nvSpPr>
          <p:spPr bwMode="auto">
            <a:xfrm>
              <a:off x="4362450" y="2686050"/>
              <a:ext cx="1809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5798059" y="4486656"/>
            <a:ext cx="2055017" cy="1655049"/>
            <a:chOff x="4352925" y="1590675"/>
            <a:chExt cx="2605277" cy="1655049"/>
          </a:xfrm>
        </p:grpSpPr>
        <p:sp>
          <p:nvSpPr>
            <p:cNvPr id="58" name="Text Box 26"/>
            <p:cNvSpPr txBox="1">
              <a:spLocks noChangeArrowheads="1"/>
            </p:cNvSpPr>
            <p:nvPr/>
          </p:nvSpPr>
          <p:spPr bwMode="auto">
            <a:xfrm>
              <a:off x="4552949" y="2414727"/>
              <a:ext cx="2405253" cy="830997"/>
            </a:xfrm>
            <a:prstGeom prst="rect">
              <a:avLst/>
            </a:prstGeom>
            <a:solidFill>
              <a:srgbClr val="CC330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GB" sz="1600" b="1">
                <a:solidFill>
                  <a:schemeClr val="bg1"/>
                </a:solidFill>
              </a:endParaRPr>
            </a:p>
            <a:p>
              <a:pPr algn="ctr"/>
              <a:r>
                <a:rPr lang="en-GB" sz="1600" b="1">
                  <a:solidFill>
                    <a:schemeClr val="bg1"/>
                  </a:solidFill>
                </a:rPr>
                <a:t>Receiver</a:t>
              </a:r>
            </a:p>
            <a:p>
              <a:pPr algn="ctr"/>
              <a:endParaRPr lang="en-GB" sz="1600" b="1">
                <a:solidFill>
                  <a:schemeClr val="bg1"/>
                </a:solidFill>
              </a:endParaRPr>
            </a:p>
          </p:txBody>
        </p:sp>
        <p:sp>
          <p:nvSpPr>
            <p:cNvPr id="59" name="Line 27"/>
            <p:cNvSpPr>
              <a:spLocks noChangeShapeType="1"/>
            </p:cNvSpPr>
            <p:nvPr/>
          </p:nvSpPr>
          <p:spPr bwMode="auto">
            <a:xfrm>
              <a:off x="4352925" y="1590675"/>
              <a:ext cx="0" cy="10953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0" name="Line 28"/>
            <p:cNvSpPr>
              <a:spLocks noChangeShapeType="1"/>
            </p:cNvSpPr>
            <p:nvPr/>
          </p:nvSpPr>
          <p:spPr bwMode="auto">
            <a:xfrm>
              <a:off x="4362450" y="2686050"/>
              <a:ext cx="1809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61" name="Group 8"/>
          <p:cNvGrpSpPr>
            <a:grpSpLocks/>
          </p:cNvGrpSpPr>
          <p:nvPr/>
        </p:nvGrpSpPr>
        <p:grpSpPr bwMode="auto">
          <a:xfrm>
            <a:off x="6191344" y="1924961"/>
            <a:ext cx="1597725" cy="374396"/>
            <a:chOff x="1226" y="1384"/>
            <a:chExt cx="576" cy="432"/>
          </a:xfrm>
        </p:grpSpPr>
        <p:sp>
          <p:nvSpPr>
            <p:cNvPr id="62" name="Freeform 9"/>
            <p:cNvSpPr>
              <a:spLocks/>
            </p:cNvSpPr>
            <p:nvPr/>
          </p:nvSpPr>
          <p:spPr bwMode="auto">
            <a:xfrm>
              <a:off x="1226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7059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3" name="Freeform 10"/>
            <p:cNvSpPr>
              <a:spLocks/>
            </p:cNvSpPr>
            <p:nvPr/>
          </p:nvSpPr>
          <p:spPr bwMode="auto">
            <a:xfrm>
              <a:off x="1418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7059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4" name="Freeform 11"/>
            <p:cNvSpPr>
              <a:spLocks/>
            </p:cNvSpPr>
            <p:nvPr/>
          </p:nvSpPr>
          <p:spPr bwMode="auto">
            <a:xfrm>
              <a:off x="1610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7059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6244666" y="3734889"/>
            <a:ext cx="1587049" cy="387138"/>
            <a:chOff x="1521654" y="3021542"/>
            <a:chExt cx="1587049" cy="387138"/>
          </a:xfrm>
        </p:grpSpPr>
        <p:sp>
          <p:nvSpPr>
            <p:cNvPr id="66" name="Freeform 9"/>
            <p:cNvSpPr>
              <a:spLocks/>
            </p:cNvSpPr>
            <p:nvPr/>
          </p:nvSpPr>
          <p:spPr bwMode="auto">
            <a:xfrm>
              <a:off x="1521654" y="3021542"/>
              <a:ext cx="318407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0000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7" name="Freeform 10"/>
            <p:cNvSpPr>
              <a:spLocks/>
            </p:cNvSpPr>
            <p:nvPr/>
          </p:nvSpPr>
          <p:spPr bwMode="auto">
            <a:xfrm>
              <a:off x="1840061" y="3021542"/>
              <a:ext cx="318407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0000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8" name="Freeform 11"/>
            <p:cNvSpPr>
              <a:spLocks/>
            </p:cNvSpPr>
            <p:nvPr/>
          </p:nvSpPr>
          <p:spPr bwMode="auto">
            <a:xfrm>
              <a:off x="2158468" y="3021542"/>
              <a:ext cx="318407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0000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9" name="Freeform 9"/>
            <p:cNvSpPr>
              <a:spLocks/>
            </p:cNvSpPr>
            <p:nvPr/>
          </p:nvSpPr>
          <p:spPr bwMode="auto">
            <a:xfrm>
              <a:off x="2471889" y="3034284"/>
              <a:ext cx="318407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0000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0" name="Freeform 10"/>
            <p:cNvSpPr>
              <a:spLocks/>
            </p:cNvSpPr>
            <p:nvPr/>
          </p:nvSpPr>
          <p:spPr bwMode="auto">
            <a:xfrm>
              <a:off x="2790296" y="3034284"/>
              <a:ext cx="318407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0000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6191344" y="5531318"/>
            <a:ext cx="1582888" cy="389775"/>
            <a:chOff x="1516669" y="3627259"/>
            <a:chExt cx="2190182" cy="389775"/>
          </a:xfrm>
        </p:grpSpPr>
        <p:sp>
          <p:nvSpPr>
            <p:cNvPr id="72" name="Freeform 9"/>
            <p:cNvSpPr>
              <a:spLocks/>
            </p:cNvSpPr>
            <p:nvPr/>
          </p:nvSpPr>
          <p:spPr bwMode="auto">
            <a:xfrm>
              <a:off x="1516669" y="3627259"/>
              <a:ext cx="273855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0000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3" name="Freeform 10"/>
            <p:cNvSpPr>
              <a:spLocks/>
            </p:cNvSpPr>
            <p:nvPr/>
          </p:nvSpPr>
          <p:spPr bwMode="auto">
            <a:xfrm>
              <a:off x="1790524" y="3627259"/>
              <a:ext cx="273855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0000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4" name="Freeform 11"/>
            <p:cNvSpPr>
              <a:spLocks/>
            </p:cNvSpPr>
            <p:nvPr/>
          </p:nvSpPr>
          <p:spPr bwMode="auto">
            <a:xfrm>
              <a:off x="2064380" y="3627259"/>
              <a:ext cx="273855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0000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5" name="Freeform 9"/>
            <p:cNvSpPr>
              <a:spLocks/>
            </p:cNvSpPr>
            <p:nvPr/>
          </p:nvSpPr>
          <p:spPr bwMode="auto">
            <a:xfrm>
              <a:off x="2341598" y="3627259"/>
              <a:ext cx="273855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0000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6" name="Freeform 10"/>
            <p:cNvSpPr>
              <a:spLocks/>
            </p:cNvSpPr>
            <p:nvPr/>
          </p:nvSpPr>
          <p:spPr bwMode="auto">
            <a:xfrm>
              <a:off x="2615453" y="3627259"/>
              <a:ext cx="273855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0000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7" name="Freeform 11"/>
            <p:cNvSpPr>
              <a:spLocks/>
            </p:cNvSpPr>
            <p:nvPr/>
          </p:nvSpPr>
          <p:spPr bwMode="auto">
            <a:xfrm>
              <a:off x="2889309" y="3627259"/>
              <a:ext cx="273855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0000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8" name="Freeform 10"/>
            <p:cNvSpPr>
              <a:spLocks/>
            </p:cNvSpPr>
            <p:nvPr/>
          </p:nvSpPr>
          <p:spPr bwMode="auto">
            <a:xfrm>
              <a:off x="3159142" y="3642638"/>
              <a:ext cx="273856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0000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9" name="Freeform 11"/>
            <p:cNvSpPr>
              <a:spLocks/>
            </p:cNvSpPr>
            <p:nvPr/>
          </p:nvSpPr>
          <p:spPr bwMode="auto">
            <a:xfrm>
              <a:off x="3432997" y="3642638"/>
              <a:ext cx="273854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0000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sp>
        <p:nvSpPr>
          <p:cNvPr id="80" name="TextBox 79"/>
          <p:cNvSpPr txBox="1"/>
          <p:nvPr/>
        </p:nvSpPr>
        <p:spPr>
          <a:xfrm>
            <a:off x="95847" y="3890576"/>
            <a:ext cx="1482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Transmitter</a:t>
            </a:r>
          </a:p>
        </p:txBody>
      </p:sp>
      <p:pic>
        <p:nvPicPr>
          <p:cNvPr id="81" name="Picture 8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1033" y="641101"/>
            <a:ext cx="2025749" cy="1468053"/>
          </a:xfrm>
          <a:prstGeom prst="rect">
            <a:avLst/>
          </a:prstGeom>
        </p:spPr>
      </p:pic>
      <p:pic>
        <p:nvPicPr>
          <p:cNvPr id="83" name="Picture 8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3286" y="2824896"/>
            <a:ext cx="1723020" cy="970528"/>
          </a:xfrm>
          <a:prstGeom prst="rect">
            <a:avLst/>
          </a:prstGeom>
        </p:spPr>
      </p:pic>
      <p:pic>
        <p:nvPicPr>
          <p:cNvPr id="85" name="Picture 8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616" y="4597201"/>
            <a:ext cx="1059798" cy="828762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6225552" y="2273211"/>
            <a:ext cx="20981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i="1" dirty="0">
                <a:solidFill>
                  <a:schemeClr val="bg1"/>
                </a:solidFill>
              </a:rPr>
              <a:t>“tuned” to frequency 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86562" y="4129423"/>
            <a:ext cx="1746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i="1" dirty="0">
                <a:solidFill>
                  <a:schemeClr val="bg1"/>
                </a:solidFill>
              </a:rPr>
              <a:t>tuned to frequency b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180639" y="5921093"/>
            <a:ext cx="1746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i="1" dirty="0">
                <a:solidFill>
                  <a:schemeClr val="bg1"/>
                </a:solidFill>
              </a:rPr>
              <a:t>tuned to frequency c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910521" y="1524189"/>
            <a:ext cx="1450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carrier</a:t>
            </a:r>
          </a:p>
          <a:p>
            <a:pPr algn="ctr"/>
            <a:r>
              <a:rPr lang="en-GB" sz="1400" dirty="0"/>
              <a:t>frequency </a:t>
            </a:r>
            <a:r>
              <a:rPr lang="en-GB" sz="1400" i="1" dirty="0"/>
              <a:t>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934961" y="2378285"/>
            <a:ext cx="1450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carrier</a:t>
            </a:r>
          </a:p>
          <a:p>
            <a:pPr algn="ctr"/>
            <a:r>
              <a:rPr lang="en-GB" sz="1400" dirty="0"/>
              <a:t>frequency </a:t>
            </a:r>
            <a:r>
              <a:rPr lang="en-GB" sz="1400" i="1" dirty="0"/>
              <a:t>b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903506" y="3302570"/>
            <a:ext cx="1450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carrier</a:t>
            </a:r>
          </a:p>
          <a:p>
            <a:pPr algn="ctr"/>
            <a:r>
              <a:rPr lang="en-GB" sz="1400" dirty="0"/>
              <a:t>frequency </a:t>
            </a:r>
            <a:r>
              <a:rPr lang="en-GB" sz="1400" i="1" dirty="0"/>
              <a:t>c</a:t>
            </a:r>
          </a:p>
        </p:txBody>
      </p:sp>
      <p:sp>
        <p:nvSpPr>
          <p:cNvPr id="89" name="Rectangle 6"/>
          <p:cNvSpPr>
            <a:spLocks noChangeArrowheads="1"/>
          </p:cNvSpPr>
          <p:nvPr/>
        </p:nvSpPr>
        <p:spPr bwMode="auto">
          <a:xfrm>
            <a:off x="395288" y="333375"/>
            <a:ext cx="22268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400" b="1" dirty="0"/>
              <a:t>Carrier Waves</a:t>
            </a:r>
          </a:p>
        </p:txBody>
      </p:sp>
    </p:spTree>
    <p:extLst>
      <p:ext uri="{BB962C8B-B14F-4D97-AF65-F5344CB8AC3E}">
        <p14:creationId xmlns:p14="http://schemas.microsoft.com/office/powerpoint/2010/main" val="1583873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2905001" y="-1"/>
            <a:ext cx="3237836" cy="6693408"/>
            <a:chOff x="2905001" y="-1"/>
            <a:chExt cx="3237836" cy="6693408"/>
          </a:xfrm>
        </p:grpSpPr>
        <p:sp>
          <p:nvSpPr>
            <p:cNvPr id="109" name="Moon 108"/>
            <p:cNvSpPr/>
            <p:nvPr/>
          </p:nvSpPr>
          <p:spPr bwMode="auto">
            <a:xfrm rot="10800000">
              <a:off x="5871251" y="-1"/>
              <a:ext cx="271586" cy="6693408"/>
            </a:xfrm>
            <a:prstGeom prst="moon">
              <a:avLst>
                <a:gd name="adj" fmla="val 29799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89" name="Moon 88"/>
            <p:cNvSpPr/>
            <p:nvPr/>
          </p:nvSpPr>
          <p:spPr bwMode="auto">
            <a:xfrm rot="10800000">
              <a:off x="2905001" y="2120940"/>
              <a:ext cx="168728" cy="2289088"/>
            </a:xfrm>
            <a:prstGeom prst="moon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82" name="Moon 81"/>
            <p:cNvSpPr/>
            <p:nvPr/>
          </p:nvSpPr>
          <p:spPr bwMode="auto">
            <a:xfrm rot="10800000">
              <a:off x="3191071" y="1817008"/>
              <a:ext cx="182106" cy="2944368"/>
            </a:xfrm>
            <a:prstGeom prst="moon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83" name="Moon 82"/>
            <p:cNvSpPr/>
            <p:nvPr/>
          </p:nvSpPr>
          <p:spPr bwMode="auto">
            <a:xfrm rot="10800000">
              <a:off x="3482335" y="1559960"/>
              <a:ext cx="183966" cy="3458464"/>
            </a:xfrm>
            <a:prstGeom prst="moon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84" name="Moon 83"/>
            <p:cNvSpPr/>
            <p:nvPr/>
          </p:nvSpPr>
          <p:spPr bwMode="auto">
            <a:xfrm rot="10800000">
              <a:off x="3748704" y="1445902"/>
              <a:ext cx="271586" cy="3920685"/>
            </a:xfrm>
            <a:prstGeom prst="moon">
              <a:avLst>
                <a:gd name="adj" fmla="val 33166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85" name="Moon 84"/>
            <p:cNvSpPr/>
            <p:nvPr/>
          </p:nvSpPr>
          <p:spPr bwMode="auto">
            <a:xfrm rot="10800000">
              <a:off x="4089383" y="1100864"/>
              <a:ext cx="271586" cy="4550127"/>
            </a:xfrm>
            <a:prstGeom prst="moon">
              <a:avLst>
                <a:gd name="adj" fmla="val 29799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86" name="Moon 85"/>
            <p:cNvSpPr/>
            <p:nvPr/>
          </p:nvSpPr>
          <p:spPr bwMode="auto">
            <a:xfrm rot="10800000">
              <a:off x="4500395" y="823259"/>
              <a:ext cx="271586" cy="5082454"/>
            </a:xfrm>
            <a:prstGeom prst="moon">
              <a:avLst>
                <a:gd name="adj" fmla="val 29799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87" name="Moon 86"/>
            <p:cNvSpPr/>
            <p:nvPr/>
          </p:nvSpPr>
          <p:spPr bwMode="auto">
            <a:xfrm rot="10800000">
              <a:off x="4911824" y="519981"/>
              <a:ext cx="271586" cy="5621724"/>
            </a:xfrm>
            <a:prstGeom prst="moon">
              <a:avLst>
                <a:gd name="adj" fmla="val 29799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88" name="Moon 87"/>
            <p:cNvSpPr/>
            <p:nvPr/>
          </p:nvSpPr>
          <p:spPr bwMode="auto">
            <a:xfrm rot="10800000">
              <a:off x="5332109" y="331788"/>
              <a:ext cx="271586" cy="6087300"/>
            </a:xfrm>
            <a:prstGeom prst="moon">
              <a:avLst>
                <a:gd name="adj" fmla="val 29799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</p:grpSp>
      <p:grpSp>
        <p:nvGrpSpPr>
          <p:cNvPr id="2" name="Group 58"/>
          <p:cNvGrpSpPr>
            <a:grpSpLocks/>
          </p:cNvGrpSpPr>
          <p:nvPr/>
        </p:nvGrpSpPr>
        <p:grpSpPr bwMode="auto">
          <a:xfrm>
            <a:off x="418643" y="2188676"/>
            <a:ext cx="842963" cy="1612900"/>
            <a:chOff x="2968" y="1560"/>
            <a:chExt cx="531" cy="1016"/>
          </a:xfrm>
        </p:grpSpPr>
        <p:grpSp>
          <p:nvGrpSpPr>
            <p:cNvPr id="3" name="Group 59"/>
            <p:cNvGrpSpPr>
              <a:grpSpLocks/>
            </p:cNvGrpSpPr>
            <p:nvPr/>
          </p:nvGrpSpPr>
          <p:grpSpPr bwMode="auto">
            <a:xfrm>
              <a:off x="2968" y="1640"/>
              <a:ext cx="296" cy="936"/>
              <a:chOff x="3024" y="1816"/>
              <a:chExt cx="480" cy="1256"/>
            </a:xfrm>
          </p:grpSpPr>
          <p:sp>
            <p:nvSpPr>
              <p:cNvPr id="7" name="Line 60"/>
              <p:cNvSpPr>
                <a:spLocks noChangeShapeType="1"/>
              </p:cNvSpPr>
              <p:nvPr/>
            </p:nvSpPr>
            <p:spPr bwMode="auto">
              <a:xfrm flipV="1">
                <a:off x="3024" y="2304"/>
                <a:ext cx="192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8" name="Line 61"/>
              <p:cNvSpPr>
                <a:spLocks noChangeShapeType="1"/>
              </p:cNvSpPr>
              <p:nvPr/>
            </p:nvSpPr>
            <p:spPr bwMode="auto">
              <a:xfrm flipH="1" flipV="1">
                <a:off x="3312" y="2304"/>
                <a:ext cx="192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9" name="Line 62"/>
              <p:cNvSpPr>
                <a:spLocks noChangeShapeType="1"/>
              </p:cNvSpPr>
              <p:nvPr/>
            </p:nvSpPr>
            <p:spPr bwMode="auto">
              <a:xfrm flipH="1" flipV="1">
                <a:off x="3168" y="2544"/>
                <a:ext cx="280" cy="26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0" name="Line 63"/>
              <p:cNvSpPr>
                <a:spLocks noChangeShapeType="1"/>
              </p:cNvSpPr>
              <p:nvPr/>
            </p:nvSpPr>
            <p:spPr bwMode="auto">
              <a:xfrm flipV="1">
                <a:off x="3072" y="2544"/>
                <a:ext cx="288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1" name="Line 64"/>
              <p:cNvSpPr>
                <a:spLocks noChangeShapeType="1"/>
              </p:cNvSpPr>
              <p:nvPr/>
            </p:nvSpPr>
            <p:spPr bwMode="auto">
              <a:xfrm flipV="1">
                <a:off x="3040" y="2784"/>
                <a:ext cx="408" cy="2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2" name="Line 65"/>
              <p:cNvSpPr>
                <a:spLocks noChangeShapeType="1"/>
              </p:cNvSpPr>
              <p:nvPr/>
            </p:nvSpPr>
            <p:spPr bwMode="auto">
              <a:xfrm flipH="1" flipV="1">
                <a:off x="3104" y="2800"/>
                <a:ext cx="392" cy="26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3" name="Line 66"/>
              <p:cNvSpPr>
                <a:spLocks noChangeShapeType="1"/>
              </p:cNvSpPr>
              <p:nvPr/>
            </p:nvSpPr>
            <p:spPr bwMode="auto">
              <a:xfrm flipH="1" flipV="1">
                <a:off x="3216" y="2320"/>
                <a:ext cx="144" cy="23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4" name="Line 67"/>
              <p:cNvSpPr>
                <a:spLocks noChangeShapeType="1"/>
              </p:cNvSpPr>
              <p:nvPr/>
            </p:nvSpPr>
            <p:spPr bwMode="auto">
              <a:xfrm flipV="1">
                <a:off x="3144" y="2304"/>
                <a:ext cx="168" cy="26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5" name="Line 68"/>
              <p:cNvSpPr>
                <a:spLocks noChangeShapeType="1"/>
              </p:cNvSpPr>
              <p:nvPr/>
            </p:nvSpPr>
            <p:spPr bwMode="auto">
              <a:xfrm flipV="1">
                <a:off x="3208" y="2304"/>
                <a:ext cx="10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6" name="Line 69"/>
              <p:cNvSpPr>
                <a:spLocks noChangeShapeType="1"/>
              </p:cNvSpPr>
              <p:nvPr/>
            </p:nvSpPr>
            <p:spPr bwMode="auto">
              <a:xfrm flipH="1" flipV="1">
                <a:off x="3248" y="1816"/>
                <a:ext cx="8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  <p:sp>
          <p:nvSpPr>
            <p:cNvPr id="4" name="Freeform 70"/>
            <p:cNvSpPr>
              <a:spLocks/>
            </p:cNvSpPr>
            <p:nvPr/>
          </p:nvSpPr>
          <p:spPr bwMode="auto">
            <a:xfrm>
              <a:off x="3200" y="1656"/>
              <a:ext cx="67" cy="208"/>
            </a:xfrm>
            <a:custGeom>
              <a:avLst/>
              <a:gdLst>
                <a:gd name="T0" fmla="*/ 0 w 155"/>
                <a:gd name="T1" fmla="*/ 0 h 368"/>
                <a:gd name="T2" fmla="*/ 0 w 155"/>
                <a:gd name="T3" fmla="*/ 1 h 368"/>
                <a:gd name="T4" fmla="*/ 0 w 155"/>
                <a:gd name="T5" fmla="*/ 1 h 368"/>
                <a:gd name="T6" fmla="*/ 0 w 155"/>
                <a:gd name="T7" fmla="*/ 1 h 368"/>
                <a:gd name="T8" fmla="*/ 0 w 155"/>
                <a:gd name="T9" fmla="*/ 1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5"/>
                <a:gd name="T16" fmla="*/ 0 h 368"/>
                <a:gd name="T17" fmla="*/ 155 w 155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5" h="368">
                  <a:moveTo>
                    <a:pt x="0" y="0"/>
                  </a:moveTo>
                  <a:cubicBezTo>
                    <a:pt x="43" y="26"/>
                    <a:pt x="87" y="52"/>
                    <a:pt x="112" y="80"/>
                  </a:cubicBezTo>
                  <a:cubicBezTo>
                    <a:pt x="137" y="108"/>
                    <a:pt x="149" y="135"/>
                    <a:pt x="152" y="168"/>
                  </a:cubicBezTo>
                  <a:cubicBezTo>
                    <a:pt x="155" y="201"/>
                    <a:pt x="143" y="247"/>
                    <a:pt x="128" y="280"/>
                  </a:cubicBezTo>
                  <a:cubicBezTo>
                    <a:pt x="113" y="313"/>
                    <a:pt x="88" y="340"/>
                    <a:pt x="64" y="368"/>
                  </a:cubicBezTo>
                </a:path>
              </a:pathLst>
            </a:cu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5" name="Freeform 71"/>
            <p:cNvSpPr>
              <a:spLocks/>
            </p:cNvSpPr>
            <p:nvPr/>
          </p:nvSpPr>
          <p:spPr bwMode="auto">
            <a:xfrm>
              <a:off x="3280" y="1608"/>
              <a:ext cx="91" cy="280"/>
            </a:xfrm>
            <a:custGeom>
              <a:avLst/>
              <a:gdLst>
                <a:gd name="T0" fmla="*/ 0 w 155"/>
                <a:gd name="T1" fmla="*/ 0 h 368"/>
                <a:gd name="T2" fmla="*/ 1 w 155"/>
                <a:gd name="T3" fmla="*/ 2 h 368"/>
                <a:gd name="T4" fmla="*/ 1 w 155"/>
                <a:gd name="T5" fmla="*/ 3 h 368"/>
                <a:gd name="T6" fmla="*/ 1 w 155"/>
                <a:gd name="T7" fmla="*/ 5 h 368"/>
                <a:gd name="T8" fmla="*/ 1 w 155"/>
                <a:gd name="T9" fmla="*/ 6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5"/>
                <a:gd name="T16" fmla="*/ 0 h 368"/>
                <a:gd name="T17" fmla="*/ 155 w 155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5" h="368">
                  <a:moveTo>
                    <a:pt x="0" y="0"/>
                  </a:moveTo>
                  <a:cubicBezTo>
                    <a:pt x="43" y="26"/>
                    <a:pt x="87" y="52"/>
                    <a:pt x="112" y="80"/>
                  </a:cubicBezTo>
                  <a:cubicBezTo>
                    <a:pt x="137" y="108"/>
                    <a:pt x="149" y="135"/>
                    <a:pt x="152" y="168"/>
                  </a:cubicBezTo>
                  <a:cubicBezTo>
                    <a:pt x="155" y="201"/>
                    <a:pt x="143" y="247"/>
                    <a:pt x="128" y="280"/>
                  </a:cubicBezTo>
                  <a:cubicBezTo>
                    <a:pt x="113" y="313"/>
                    <a:pt x="88" y="340"/>
                    <a:pt x="64" y="368"/>
                  </a:cubicBezTo>
                </a:path>
              </a:pathLst>
            </a:cu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" name="Freeform 72"/>
            <p:cNvSpPr>
              <a:spLocks/>
            </p:cNvSpPr>
            <p:nvPr/>
          </p:nvSpPr>
          <p:spPr bwMode="auto">
            <a:xfrm>
              <a:off x="3376" y="1560"/>
              <a:ext cx="123" cy="376"/>
            </a:xfrm>
            <a:custGeom>
              <a:avLst/>
              <a:gdLst>
                <a:gd name="T0" fmla="*/ 0 w 155"/>
                <a:gd name="T1" fmla="*/ 0 h 368"/>
                <a:gd name="T2" fmla="*/ 3 w 155"/>
                <a:gd name="T3" fmla="*/ 110 h 368"/>
                <a:gd name="T4" fmla="*/ 5 w 155"/>
                <a:gd name="T5" fmla="*/ 233 h 368"/>
                <a:gd name="T6" fmla="*/ 4 w 155"/>
                <a:gd name="T7" fmla="*/ 386 h 368"/>
                <a:gd name="T8" fmla="*/ 2 w 155"/>
                <a:gd name="T9" fmla="*/ 509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5"/>
                <a:gd name="T16" fmla="*/ 0 h 368"/>
                <a:gd name="T17" fmla="*/ 155 w 155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5" h="368">
                  <a:moveTo>
                    <a:pt x="0" y="0"/>
                  </a:moveTo>
                  <a:cubicBezTo>
                    <a:pt x="43" y="26"/>
                    <a:pt x="87" y="52"/>
                    <a:pt x="112" y="80"/>
                  </a:cubicBezTo>
                  <a:cubicBezTo>
                    <a:pt x="137" y="108"/>
                    <a:pt x="149" y="135"/>
                    <a:pt x="152" y="168"/>
                  </a:cubicBezTo>
                  <a:cubicBezTo>
                    <a:pt x="155" y="201"/>
                    <a:pt x="143" y="247"/>
                    <a:pt x="128" y="280"/>
                  </a:cubicBezTo>
                  <a:cubicBezTo>
                    <a:pt x="113" y="313"/>
                    <a:pt x="88" y="340"/>
                    <a:pt x="64" y="368"/>
                  </a:cubicBezTo>
                </a:path>
              </a:pathLst>
            </a:cu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sp>
        <p:nvSpPr>
          <p:cNvPr id="17" name="Rectangle 6"/>
          <p:cNvSpPr>
            <a:spLocks noChangeArrowheads="1"/>
          </p:cNvSpPr>
          <p:nvPr/>
        </p:nvSpPr>
        <p:spPr bwMode="auto">
          <a:xfrm>
            <a:off x="385763" y="333375"/>
            <a:ext cx="186781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400" b="1" dirty="0"/>
              <a:t>Modulation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00228" y="1278390"/>
            <a:ext cx="1000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Sports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00228" y="2133430"/>
            <a:ext cx="1000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News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25954" y="3080632"/>
            <a:ext cx="1000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Music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5788534" y="823260"/>
            <a:ext cx="2201702" cy="1704398"/>
            <a:chOff x="4352925" y="1590675"/>
            <a:chExt cx="2605659" cy="1704398"/>
          </a:xfrm>
        </p:grpSpPr>
        <p:sp>
          <p:nvSpPr>
            <p:cNvPr id="44" name="Text Box 26"/>
            <p:cNvSpPr txBox="1">
              <a:spLocks noChangeArrowheads="1"/>
            </p:cNvSpPr>
            <p:nvPr/>
          </p:nvSpPr>
          <p:spPr bwMode="auto">
            <a:xfrm>
              <a:off x="4552950" y="2464076"/>
              <a:ext cx="2405634" cy="830997"/>
            </a:xfrm>
            <a:prstGeom prst="rect">
              <a:avLst/>
            </a:prstGeom>
            <a:solidFill>
              <a:srgbClr val="CC330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GB" sz="1600" b="1" dirty="0">
                <a:solidFill>
                  <a:schemeClr val="bg1"/>
                </a:solidFill>
              </a:endParaRPr>
            </a:p>
            <a:p>
              <a:pPr algn="ctr"/>
              <a:r>
                <a:rPr lang="en-GB" sz="1600" b="1" dirty="0">
                  <a:solidFill>
                    <a:schemeClr val="bg1"/>
                  </a:solidFill>
                </a:rPr>
                <a:t>Receiver</a:t>
              </a:r>
            </a:p>
            <a:p>
              <a:pPr algn="ctr"/>
              <a:endParaRPr lang="en-GB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Line 27"/>
            <p:cNvSpPr>
              <a:spLocks noChangeShapeType="1"/>
            </p:cNvSpPr>
            <p:nvPr/>
          </p:nvSpPr>
          <p:spPr bwMode="auto">
            <a:xfrm>
              <a:off x="4352925" y="1590675"/>
              <a:ext cx="0" cy="10953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6" name="Line 28"/>
            <p:cNvSpPr>
              <a:spLocks noChangeShapeType="1"/>
            </p:cNvSpPr>
            <p:nvPr/>
          </p:nvSpPr>
          <p:spPr bwMode="auto">
            <a:xfrm>
              <a:off x="4362450" y="2686050"/>
              <a:ext cx="1809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5815966" y="2731008"/>
            <a:ext cx="2149424" cy="1628349"/>
            <a:chOff x="4352925" y="1590675"/>
            <a:chExt cx="2605659" cy="1628349"/>
          </a:xfrm>
        </p:grpSpPr>
        <p:sp>
          <p:nvSpPr>
            <p:cNvPr id="49" name="Text Box 26"/>
            <p:cNvSpPr txBox="1">
              <a:spLocks noChangeArrowheads="1"/>
            </p:cNvSpPr>
            <p:nvPr/>
          </p:nvSpPr>
          <p:spPr bwMode="auto">
            <a:xfrm>
              <a:off x="4552950" y="2365376"/>
              <a:ext cx="2405634" cy="853648"/>
            </a:xfrm>
            <a:prstGeom prst="rect">
              <a:avLst/>
            </a:prstGeom>
            <a:solidFill>
              <a:srgbClr val="CC330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GB" sz="1600" b="1" dirty="0">
                <a:solidFill>
                  <a:schemeClr val="bg1"/>
                </a:solidFill>
              </a:endParaRPr>
            </a:p>
            <a:p>
              <a:pPr algn="ctr"/>
              <a:r>
                <a:rPr lang="en-GB" sz="1600" b="1" dirty="0">
                  <a:solidFill>
                    <a:schemeClr val="bg1"/>
                  </a:solidFill>
                </a:rPr>
                <a:t>Receiver</a:t>
              </a:r>
            </a:p>
            <a:p>
              <a:pPr algn="ctr"/>
              <a:endParaRPr lang="en-GB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50" name="Line 27"/>
            <p:cNvSpPr>
              <a:spLocks noChangeShapeType="1"/>
            </p:cNvSpPr>
            <p:nvPr/>
          </p:nvSpPr>
          <p:spPr bwMode="auto">
            <a:xfrm>
              <a:off x="4352925" y="1590675"/>
              <a:ext cx="0" cy="10953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" name="Line 28"/>
            <p:cNvSpPr>
              <a:spLocks noChangeShapeType="1"/>
            </p:cNvSpPr>
            <p:nvPr/>
          </p:nvSpPr>
          <p:spPr bwMode="auto">
            <a:xfrm>
              <a:off x="4362450" y="2686050"/>
              <a:ext cx="1809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5798059" y="4486656"/>
            <a:ext cx="2055017" cy="1655049"/>
            <a:chOff x="4352925" y="1590675"/>
            <a:chExt cx="2605277" cy="1655049"/>
          </a:xfrm>
        </p:grpSpPr>
        <p:sp>
          <p:nvSpPr>
            <p:cNvPr id="53" name="Text Box 26"/>
            <p:cNvSpPr txBox="1">
              <a:spLocks noChangeArrowheads="1"/>
            </p:cNvSpPr>
            <p:nvPr/>
          </p:nvSpPr>
          <p:spPr bwMode="auto">
            <a:xfrm>
              <a:off x="4552949" y="2414727"/>
              <a:ext cx="2405253" cy="830997"/>
            </a:xfrm>
            <a:prstGeom prst="rect">
              <a:avLst/>
            </a:prstGeom>
            <a:solidFill>
              <a:srgbClr val="CC3300"/>
            </a:solidFill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GB" sz="1600" b="1">
                <a:solidFill>
                  <a:schemeClr val="bg1"/>
                </a:solidFill>
              </a:endParaRPr>
            </a:p>
            <a:p>
              <a:pPr algn="ctr"/>
              <a:r>
                <a:rPr lang="en-GB" sz="1600" b="1">
                  <a:solidFill>
                    <a:schemeClr val="bg1"/>
                  </a:solidFill>
                </a:rPr>
                <a:t>Receiver</a:t>
              </a:r>
            </a:p>
            <a:p>
              <a:pPr algn="ctr"/>
              <a:endParaRPr lang="en-GB" sz="1600" b="1">
                <a:solidFill>
                  <a:schemeClr val="bg1"/>
                </a:solidFill>
              </a:endParaRPr>
            </a:p>
          </p:txBody>
        </p:sp>
        <p:sp>
          <p:nvSpPr>
            <p:cNvPr id="54" name="Line 27"/>
            <p:cNvSpPr>
              <a:spLocks noChangeShapeType="1"/>
            </p:cNvSpPr>
            <p:nvPr/>
          </p:nvSpPr>
          <p:spPr bwMode="auto">
            <a:xfrm>
              <a:off x="4352925" y="1590675"/>
              <a:ext cx="0" cy="10953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5" name="Line 28"/>
            <p:cNvSpPr>
              <a:spLocks noChangeShapeType="1"/>
            </p:cNvSpPr>
            <p:nvPr/>
          </p:nvSpPr>
          <p:spPr bwMode="auto">
            <a:xfrm>
              <a:off x="4362450" y="2686050"/>
              <a:ext cx="1809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56" name="Group 8"/>
          <p:cNvGrpSpPr>
            <a:grpSpLocks/>
          </p:cNvGrpSpPr>
          <p:nvPr/>
        </p:nvGrpSpPr>
        <p:grpSpPr bwMode="auto">
          <a:xfrm>
            <a:off x="6191344" y="1924961"/>
            <a:ext cx="1597725" cy="374396"/>
            <a:chOff x="1226" y="1384"/>
            <a:chExt cx="576" cy="432"/>
          </a:xfrm>
        </p:grpSpPr>
        <p:sp>
          <p:nvSpPr>
            <p:cNvPr id="57" name="Freeform 9"/>
            <p:cNvSpPr>
              <a:spLocks/>
            </p:cNvSpPr>
            <p:nvPr/>
          </p:nvSpPr>
          <p:spPr bwMode="auto">
            <a:xfrm>
              <a:off x="1226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7059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58" name="Freeform 10"/>
            <p:cNvSpPr>
              <a:spLocks/>
            </p:cNvSpPr>
            <p:nvPr/>
          </p:nvSpPr>
          <p:spPr bwMode="auto">
            <a:xfrm>
              <a:off x="1418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7059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59" name="Freeform 11"/>
            <p:cNvSpPr>
              <a:spLocks/>
            </p:cNvSpPr>
            <p:nvPr/>
          </p:nvSpPr>
          <p:spPr bwMode="auto">
            <a:xfrm>
              <a:off x="1610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7059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6244666" y="3734889"/>
            <a:ext cx="1587049" cy="387138"/>
            <a:chOff x="1521654" y="3021542"/>
            <a:chExt cx="1587049" cy="387138"/>
          </a:xfrm>
        </p:grpSpPr>
        <p:sp>
          <p:nvSpPr>
            <p:cNvPr id="63" name="Freeform 9"/>
            <p:cNvSpPr>
              <a:spLocks/>
            </p:cNvSpPr>
            <p:nvPr/>
          </p:nvSpPr>
          <p:spPr bwMode="auto">
            <a:xfrm>
              <a:off x="1521654" y="3021542"/>
              <a:ext cx="318407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0000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4" name="Freeform 10"/>
            <p:cNvSpPr>
              <a:spLocks/>
            </p:cNvSpPr>
            <p:nvPr/>
          </p:nvSpPr>
          <p:spPr bwMode="auto">
            <a:xfrm>
              <a:off x="1840061" y="3021542"/>
              <a:ext cx="318407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0000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5" name="Freeform 11"/>
            <p:cNvSpPr>
              <a:spLocks/>
            </p:cNvSpPr>
            <p:nvPr/>
          </p:nvSpPr>
          <p:spPr bwMode="auto">
            <a:xfrm>
              <a:off x="2158468" y="3021542"/>
              <a:ext cx="318407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0000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6" name="Freeform 9"/>
            <p:cNvSpPr>
              <a:spLocks/>
            </p:cNvSpPr>
            <p:nvPr/>
          </p:nvSpPr>
          <p:spPr bwMode="auto">
            <a:xfrm>
              <a:off x="2471889" y="3034284"/>
              <a:ext cx="318407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0000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7" name="Freeform 10"/>
            <p:cNvSpPr>
              <a:spLocks/>
            </p:cNvSpPr>
            <p:nvPr/>
          </p:nvSpPr>
          <p:spPr bwMode="auto">
            <a:xfrm>
              <a:off x="2790296" y="3034284"/>
              <a:ext cx="318407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0000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6191344" y="5531318"/>
            <a:ext cx="1582888" cy="389775"/>
            <a:chOff x="1516669" y="3627259"/>
            <a:chExt cx="2190182" cy="389775"/>
          </a:xfrm>
        </p:grpSpPr>
        <p:sp>
          <p:nvSpPr>
            <p:cNvPr id="71" name="Freeform 9"/>
            <p:cNvSpPr>
              <a:spLocks/>
            </p:cNvSpPr>
            <p:nvPr/>
          </p:nvSpPr>
          <p:spPr bwMode="auto">
            <a:xfrm>
              <a:off x="1516669" y="3627259"/>
              <a:ext cx="273855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0000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2" name="Freeform 10"/>
            <p:cNvSpPr>
              <a:spLocks/>
            </p:cNvSpPr>
            <p:nvPr/>
          </p:nvSpPr>
          <p:spPr bwMode="auto">
            <a:xfrm>
              <a:off x="1790524" y="3627259"/>
              <a:ext cx="273855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0000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3" name="Freeform 11"/>
            <p:cNvSpPr>
              <a:spLocks/>
            </p:cNvSpPr>
            <p:nvPr/>
          </p:nvSpPr>
          <p:spPr bwMode="auto">
            <a:xfrm>
              <a:off x="2064380" y="3627259"/>
              <a:ext cx="273855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0000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4" name="Freeform 9"/>
            <p:cNvSpPr>
              <a:spLocks/>
            </p:cNvSpPr>
            <p:nvPr/>
          </p:nvSpPr>
          <p:spPr bwMode="auto">
            <a:xfrm>
              <a:off x="2341598" y="3627259"/>
              <a:ext cx="273855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0000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5" name="Freeform 10"/>
            <p:cNvSpPr>
              <a:spLocks/>
            </p:cNvSpPr>
            <p:nvPr/>
          </p:nvSpPr>
          <p:spPr bwMode="auto">
            <a:xfrm>
              <a:off x="2615453" y="3627259"/>
              <a:ext cx="273855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0000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6" name="Freeform 11"/>
            <p:cNvSpPr>
              <a:spLocks/>
            </p:cNvSpPr>
            <p:nvPr/>
          </p:nvSpPr>
          <p:spPr bwMode="auto">
            <a:xfrm>
              <a:off x="2889309" y="3627259"/>
              <a:ext cx="273855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0000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7" name="Freeform 10"/>
            <p:cNvSpPr>
              <a:spLocks/>
            </p:cNvSpPr>
            <p:nvPr/>
          </p:nvSpPr>
          <p:spPr bwMode="auto">
            <a:xfrm>
              <a:off x="3159142" y="3642638"/>
              <a:ext cx="273856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0000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8" name="Freeform 11"/>
            <p:cNvSpPr>
              <a:spLocks/>
            </p:cNvSpPr>
            <p:nvPr/>
          </p:nvSpPr>
          <p:spPr bwMode="auto">
            <a:xfrm>
              <a:off x="3432997" y="3642638"/>
              <a:ext cx="273854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CCFF">
                  <a:alpha val="40000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sp>
        <p:nvSpPr>
          <p:cNvPr id="105" name="TextBox 104"/>
          <p:cNvSpPr txBox="1"/>
          <p:nvPr/>
        </p:nvSpPr>
        <p:spPr>
          <a:xfrm>
            <a:off x="99387" y="3869411"/>
            <a:ext cx="1482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Transmitter</a:t>
            </a:r>
          </a:p>
        </p:txBody>
      </p:sp>
      <p:pic>
        <p:nvPicPr>
          <p:cNvPr id="95" name="Picture 9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1033" y="641101"/>
            <a:ext cx="2025749" cy="1468053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7957707" y="1933758"/>
            <a:ext cx="835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accent6">
                    <a:lumMod val="75000"/>
                  </a:schemeClr>
                </a:solidFill>
              </a:rPr>
              <a:t>Sports</a:t>
            </a:r>
          </a:p>
        </p:txBody>
      </p:sp>
      <p:pic>
        <p:nvPicPr>
          <p:cNvPr id="106" name="Picture 10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3286" y="2824896"/>
            <a:ext cx="1723020" cy="97052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8016819" y="3734647"/>
            <a:ext cx="7842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accent6">
                    <a:lumMod val="75000"/>
                  </a:schemeClr>
                </a:solidFill>
              </a:rPr>
              <a:t>News</a:t>
            </a:r>
          </a:p>
        </p:txBody>
      </p:sp>
      <p:pic>
        <p:nvPicPr>
          <p:cNvPr id="107" name="Picture 10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616" y="4597201"/>
            <a:ext cx="1059798" cy="828762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7957707" y="5377429"/>
            <a:ext cx="1000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accent6">
                    <a:lumMod val="75000"/>
                  </a:schemeClr>
                </a:solidFill>
              </a:rPr>
              <a:t>Music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225552" y="2273211"/>
            <a:ext cx="20981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i="1" dirty="0">
                <a:solidFill>
                  <a:schemeClr val="bg1"/>
                </a:solidFill>
              </a:rPr>
              <a:t>“tuned” to frequency a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286562" y="4129423"/>
            <a:ext cx="1746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i="1" dirty="0">
                <a:solidFill>
                  <a:schemeClr val="bg1"/>
                </a:solidFill>
              </a:rPr>
              <a:t>tuned to frequency b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180639" y="5921093"/>
            <a:ext cx="1746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i="1" dirty="0">
                <a:solidFill>
                  <a:schemeClr val="bg1"/>
                </a:solidFill>
              </a:rPr>
              <a:t>tuned to frequency c</a:t>
            </a:r>
          </a:p>
        </p:txBody>
      </p:sp>
      <p:sp>
        <p:nvSpPr>
          <p:cNvPr id="118" name="Freeform 6"/>
          <p:cNvSpPr>
            <a:spLocks/>
          </p:cNvSpPr>
          <p:nvPr/>
        </p:nvSpPr>
        <p:spPr bwMode="auto">
          <a:xfrm>
            <a:off x="1361387" y="1462060"/>
            <a:ext cx="1633141" cy="542214"/>
          </a:xfrm>
          <a:custGeom>
            <a:avLst/>
            <a:gdLst>
              <a:gd name="T0" fmla="*/ 0 w 3840"/>
              <a:gd name="T1" fmla="*/ 2147483647 h 934"/>
              <a:gd name="T2" fmla="*/ 2147483647 w 3840"/>
              <a:gd name="T3" fmla="*/ 2147483647 h 934"/>
              <a:gd name="T4" fmla="*/ 2147483647 w 3840"/>
              <a:gd name="T5" fmla="*/ 2147483647 h 934"/>
              <a:gd name="T6" fmla="*/ 2147483647 w 3840"/>
              <a:gd name="T7" fmla="*/ 2147483647 h 934"/>
              <a:gd name="T8" fmla="*/ 2147483647 w 3840"/>
              <a:gd name="T9" fmla="*/ 2147483647 h 934"/>
              <a:gd name="T10" fmla="*/ 2147483647 w 3840"/>
              <a:gd name="T11" fmla="*/ 2147483647 h 934"/>
              <a:gd name="T12" fmla="*/ 2147483647 w 3840"/>
              <a:gd name="T13" fmla="*/ 2147483647 h 934"/>
              <a:gd name="T14" fmla="*/ 2147483647 w 3840"/>
              <a:gd name="T15" fmla="*/ 2147483647 h 934"/>
              <a:gd name="T16" fmla="*/ 2147483647 w 3840"/>
              <a:gd name="T17" fmla="*/ 2147483647 h 934"/>
              <a:gd name="T18" fmla="*/ 2147483647 w 3840"/>
              <a:gd name="T19" fmla="*/ 2147483647 h 934"/>
              <a:gd name="T20" fmla="*/ 2147483647 w 3840"/>
              <a:gd name="T21" fmla="*/ 2147483647 h 934"/>
              <a:gd name="T22" fmla="*/ 2147483647 w 3840"/>
              <a:gd name="T23" fmla="*/ 2147483647 h 934"/>
              <a:gd name="T24" fmla="*/ 2147483647 w 3840"/>
              <a:gd name="T25" fmla="*/ 2147483647 h 934"/>
              <a:gd name="T26" fmla="*/ 2147483647 w 3840"/>
              <a:gd name="T27" fmla="*/ 2147483647 h 934"/>
              <a:gd name="T28" fmla="*/ 2147483647 w 3840"/>
              <a:gd name="T29" fmla="*/ 2147483647 h 934"/>
              <a:gd name="T30" fmla="*/ 2147483647 w 3840"/>
              <a:gd name="T31" fmla="*/ 2147483647 h 93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840"/>
              <a:gd name="T49" fmla="*/ 0 h 934"/>
              <a:gd name="T50" fmla="*/ 3840 w 3840"/>
              <a:gd name="T51" fmla="*/ 934 h 934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840" h="934">
                <a:moveTo>
                  <a:pt x="0" y="502"/>
                </a:moveTo>
                <a:cubicBezTo>
                  <a:pt x="32" y="278"/>
                  <a:pt x="64" y="54"/>
                  <a:pt x="144" y="118"/>
                </a:cubicBezTo>
                <a:cubicBezTo>
                  <a:pt x="224" y="182"/>
                  <a:pt x="352" y="838"/>
                  <a:pt x="480" y="886"/>
                </a:cubicBezTo>
                <a:cubicBezTo>
                  <a:pt x="608" y="934"/>
                  <a:pt x="792" y="542"/>
                  <a:pt x="912" y="406"/>
                </a:cubicBezTo>
                <a:cubicBezTo>
                  <a:pt x="1032" y="270"/>
                  <a:pt x="1080" y="6"/>
                  <a:pt x="1200" y="70"/>
                </a:cubicBezTo>
                <a:cubicBezTo>
                  <a:pt x="1320" y="134"/>
                  <a:pt x="1528" y="662"/>
                  <a:pt x="1632" y="790"/>
                </a:cubicBezTo>
                <a:cubicBezTo>
                  <a:pt x="1736" y="918"/>
                  <a:pt x="1768" y="910"/>
                  <a:pt x="1824" y="838"/>
                </a:cubicBezTo>
                <a:cubicBezTo>
                  <a:pt x="1880" y="766"/>
                  <a:pt x="1931" y="461"/>
                  <a:pt x="1968" y="358"/>
                </a:cubicBezTo>
                <a:cubicBezTo>
                  <a:pt x="2005" y="255"/>
                  <a:pt x="2024" y="270"/>
                  <a:pt x="2048" y="222"/>
                </a:cubicBezTo>
                <a:cubicBezTo>
                  <a:pt x="2072" y="174"/>
                  <a:pt x="2061" y="0"/>
                  <a:pt x="2112" y="70"/>
                </a:cubicBezTo>
                <a:cubicBezTo>
                  <a:pt x="2163" y="140"/>
                  <a:pt x="2280" y="614"/>
                  <a:pt x="2352" y="646"/>
                </a:cubicBezTo>
                <a:cubicBezTo>
                  <a:pt x="2424" y="678"/>
                  <a:pt x="2448" y="230"/>
                  <a:pt x="2544" y="262"/>
                </a:cubicBezTo>
                <a:cubicBezTo>
                  <a:pt x="2640" y="294"/>
                  <a:pt x="2808" y="822"/>
                  <a:pt x="2928" y="838"/>
                </a:cubicBezTo>
                <a:cubicBezTo>
                  <a:pt x="3048" y="854"/>
                  <a:pt x="3176" y="398"/>
                  <a:pt x="3264" y="358"/>
                </a:cubicBezTo>
                <a:cubicBezTo>
                  <a:pt x="3352" y="318"/>
                  <a:pt x="3360" y="574"/>
                  <a:pt x="3456" y="598"/>
                </a:cubicBezTo>
                <a:cubicBezTo>
                  <a:pt x="3552" y="622"/>
                  <a:pt x="3776" y="518"/>
                  <a:pt x="3840" y="502"/>
                </a:cubicBezTo>
              </a:path>
            </a:pathLst>
          </a:cu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9" name="Freeform 118"/>
          <p:cNvSpPr/>
          <p:nvPr/>
        </p:nvSpPr>
        <p:spPr bwMode="auto">
          <a:xfrm>
            <a:off x="1316889" y="2392385"/>
            <a:ext cx="1560373" cy="510365"/>
          </a:xfrm>
          <a:custGeom>
            <a:avLst/>
            <a:gdLst>
              <a:gd name="connsiteX0" fmla="*/ 0 w 2073897"/>
              <a:gd name="connsiteY0" fmla="*/ 537327 h 948998"/>
              <a:gd name="connsiteX1" fmla="*/ 28280 w 2073897"/>
              <a:gd name="connsiteY1" fmla="*/ 480767 h 948998"/>
              <a:gd name="connsiteX2" fmla="*/ 47134 w 2073897"/>
              <a:gd name="connsiteY2" fmla="*/ 443059 h 948998"/>
              <a:gd name="connsiteX3" fmla="*/ 94268 w 2073897"/>
              <a:gd name="connsiteY3" fmla="*/ 348791 h 948998"/>
              <a:gd name="connsiteX4" fmla="*/ 113121 w 2073897"/>
              <a:gd name="connsiteY4" fmla="*/ 405352 h 948998"/>
              <a:gd name="connsiteX5" fmla="*/ 131975 w 2073897"/>
              <a:gd name="connsiteY5" fmla="*/ 433633 h 948998"/>
              <a:gd name="connsiteX6" fmla="*/ 150829 w 2073897"/>
              <a:gd name="connsiteY6" fmla="*/ 490193 h 948998"/>
              <a:gd name="connsiteX7" fmla="*/ 169682 w 2073897"/>
              <a:gd name="connsiteY7" fmla="*/ 452486 h 948998"/>
              <a:gd name="connsiteX8" fmla="*/ 216816 w 2073897"/>
              <a:gd name="connsiteY8" fmla="*/ 367645 h 948998"/>
              <a:gd name="connsiteX9" fmla="*/ 254523 w 2073897"/>
              <a:gd name="connsiteY9" fmla="*/ 292231 h 948998"/>
              <a:gd name="connsiteX10" fmla="*/ 273377 w 2073897"/>
              <a:gd name="connsiteY10" fmla="*/ 216816 h 948998"/>
              <a:gd name="connsiteX11" fmla="*/ 292231 w 2073897"/>
              <a:gd name="connsiteY11" fmla="*/ 188536 h 948998"/>
              <a:gd name="connsiteX12" fmla="*/ 329938 w 2073897"/>
              <a:gd name="connsiteY12" fmla="*/ 179109 h 948998"/>
              <a:gd name="connsiteX13" fmla="*/ 339365 w 2073897"/>
              <a:gd name="connsiteY13" fmla="*/ 150828 h 948998"/>
              <a:gd name="connsiteX14" fmla="*/ 348791 w 2073897"/>
              <a:gd name="connsiteY14" fmla="*/ 113121 h 948998"/>
              <a:gd name="connsiteX15" fmla="*/ 367645 w 2073897"/>
              <a:gd name="connsiteY15" fmla="*/ 75414 h 948998"/>
              <a:gd name="connsiteX16" fmla="*/ 386499 w 2073897"/>
              <a:gd name="connsiteY16" fmla="*/ 0 h 948998"/>
              <a:gd name="connsiteX17" fmla="*/ 452486 w 2073897"/>
              <a:gd name="connsiteY17" fmla="*/ 18853 h 948998"/>
              <a:gd name="connsiteX18" fmla="*/ 518474 w 2073897"/>
              <a:gd name="connsiteY18" fmla="*/ 84841 h 948998"/>
              <a:gd name="connsiteX19" fmla="*/ 546754 w 2073897"/>
              <a:gd name="connsiteY19" fmla="*/ 75414 h 948998"/>
              <a:gd name="connsiteX20" fmla="*/ 603315 w 2073897"/>
              <a:gd name="connsiteY20" fmla="*/ 37707 h 948998"/>
              <a:gd name="connsiteX21" fmla="*/ 622169 w 2073897"/>
              <a:gd name="connsiteY21" fmla="*/ 9426 h 948998"/>
              <a:gd name="connsiteX22" fmla="*/ 641022 w 2073897"/>
              <a:gd name="connsiteY22" fmla="*/ 65987 h 948998"/>
              <a:gd name="connsiteX23" fmla="*/ 659876 w 2073897"/>
              <a:gd name="connsiteY23" fmla="*/ 103694 h 948998"/>
              <a:gd name="connsiteX24" fmla="*/ 678730 w 2073897"/>
              <a:gd name="connsiteY24" fmla="*/ 179109 h 948998"/>
              <a:gd name="connsiteX25" fmla="*/ 688156 w 2073897"/>
              <a:gd name="connsiteY25" fmla="*/ 216816 h 948998"/>
              <a:gd name="connsiteX26" fmla="*/ 707010 w 2073897"/>
              <a:gd name="connsiteY26" fmla="*/ 245097 h 948998"/>
              <a:gd name="connsiteX27" fmla="*/ 716437 w 2073897"/>
              <a:gd name="connsiteY27" fmla="*/ 292231 h 948998"/>
              <a:gd name="connsiteX28" fmla="*/ 744717 w 2073897"/>
              <a:gd name="connsiteY28" fmla="*/ 405352 h 948998"/>
              <a:gd name="connsiteX29" fmla="*/ 763571 w 2073897"/>
              <a:gd name="connsiteY29" fmla="*/ 509047 h 948998"/>
              <a:gd name="connsiteX30" fmla="*/ 782424 w 2073897"/>
              <a:gd name="connsiteY30" fmla="*/ 546754 h 948998"/>
              <a:gd name="connsiteX31" fmla="*/ 791851 w 2073897"/>
              <a:gd name="connsiteY31" fmla="*/ 575035 h 948998"/>
              <a:gd name="connsiteX32" fmla="*/ 810705 w 2073897"/>
              <a:gd name="connsiteY32" fmla="*/ 697583 h 948998"/>
              <a:gd name="connsiteX33" fmla="*/ 829558 w 2073897"/>
              <a:gd name="connsiteY33" fmla="*/ 725864 h 948998"/>
              <a:gd name="connsiteX34" fmla="*/ 838985 w 2073897"/>
              <a:gd name="connsiteY34" fmla="*/ 772998 h 948998"/>
              <a:gd name="connsiteX35" fmla="*/ 848412 w 2073897"/>
              <a:gd name="connsiteY35" fmla="*/ 810705 h 948998"/>
              <a:gd name="connsiteX36" fmla="*/ 867266 w 2073897"/>
              <a:gd name="connsiteY36" fmla="*/ 754144 h 948998"/>
              <a:gd name="connsiteX37" fmla="*/ 886119 w 2073897"/>
              <a:gd name="connsiteY37" fmla="*/ 678730 h 948998"/>
              <a:gd name="connsiteX38" fmla="*/ 914400 w 2073897"/>
              <a:gd name="connsiteY38" fmla="*/ 612742 h 948998"/>
              <a:gd name="connsiteX39" fmla="*/ 952107 w 2073897"/>
              <a:gd name="connsiteY39" fmla="*/ 669303 h 948998"/>
              <a:gd name="connsiteX40" fmla="*/ 961534 w 2073897"/>
              <a:gd name="connsiteY40" fmla="*/ 707010 h 948998"/>
              <a:gd name="connsiteX41" fmla="*/ 989814 w 2073897"/>
              <a:gd name="connsiteY41" fmla="*/ 716437 h 948998"/>
              <a:gd name="connsiteX42" fmla="*/ 1008668 w 2073897"/>
              <a:gd name="connsiteY42" fmla="*/ 820132 h 948998"/>
              <a:gd name="connsiteX43" fmla="*/ 1027521 w 2073897"/>
              <a:gd name="connsiteY43" fmla="*/ 857839 h 948998"/>
              <a:gd name="connsiteX44" fmla="*/ 1046375 w 2073897"/>
              <a:gd name="connsiteY44" fmla="*/ 933253 h 948998"/>
              <a:gd name="connsiteX45" fmla="*/ 1074655 w 2073897"/>
              <a:gd name="connsiteY45" fmla="*/ 801278 h 948998"/>
              <a:gd name="connsiteX46" fmla="*/ 1102936 w 2073897"/>
              <a:gd name="connsiteY46" fmla="*/ 725864 h 948998"/>
              <a:gd name="connsiteX47" fmla="*/ 1159497 w 2073897"/>
              <a:gd name="connsiteY47" fmla="*/ 735290 h 948998"/>
              <a:gd name="connsiteX48" fmla="*/ 1168923 w 2073897"/>
              <a:gd name="connsiteY48" fmla="*/ 707010 h 948998"/>
              <a:gd name="connsiteX49" fmla="*/ 1187777 w 2073897"/>
              <a:gd name="connsiteY49" fmla="*/ 678730 h 948998"/>
              <a:gd name="connsiteX50" fmla="*/ 1216057 w 2073897"/>
              <a:gd name="connsiteY50" fmla="*/ 603315 h 948998"/>
              <a:gd name="connsiteX51" fmla="*/ 1244338 w 2073897"/>
              <a:gd name="connsiteY51" fmla="*/ 593888 h 948998"/>
              <a:gd name="connsiteX52" fmla="*/ 1272618 w 2073897"/>
              <a:gd name="connsiteY52" fmla="*/ 527901 h 948998"/>
              <a:gd name="connsiteX53" fmla="*/ 1282045 w 2073897"/>
              <a:gd name="connsiteY53" fmla="*/ 499620 h 948998"/>
              <a:gd name="connsiteX54" fmla="*/ 1310325 w 2073897"/>
              <a:gd name="connsiteY54" fmla="*/ 490193 h 948998"/>
              <a:gd name="connsiteX55" fmla="*/ 1319752 w 2073897"/>
              <a:gd name="connsiteY55" fmla="*/ 518474 h 948998"/>
              <a:gd name="connsiteX56" fmla="*/ 1366886 w 2073897"/>
              <a:gd name="connsiteY56" fmla="*/ 499620 h 948998"/>
              <a:gd name="connsiteX57" fmla="*/ 1404594 w 2073897"/>
              <a:gd name="connsiteY57" fmla="*/ 443059 h 948998"/>
              <a:gd name="connsiteX58" fmla="*/ 1480008 w 2073897"/>
              <a:gd name="connsiteY58" fmla="*/ 433633 h 948998"/>
              <a:gd name="connsiteX59" fmla="*/ 1489435 w 2073897"/>
              <a:gd name="connsiteY59" fmla="*/ 405352 h 948998"/>
              <a:gd name="connsiteX60" fmla="*/ 1545996 w 2073897"/>
              <a:gd name="connsiteY60" fmla="*/ 320511 h 948998"/>
              <a:gd name="connsiteX61" fmla="*/ 1555422 w 2073897"/>
              <a:gd name="connsiteY61" fmla="*/ 292231 h 948998"/>
              <a:gd name="connsiteX62" fmla="*/ 1574276 w 2073897"/>
              <a:gd name="connsiteY62" fmla="*/ 245097 h 948998"/>
              <a:gd name="connsiteX63" fmla="*/ 1583703 w 2073897"/>
              <a:gd name="connsiteY63" fmla="*/ 197963 h 948998"/>
              <a:gd name="connsiteX64" fmla="*/ 1602556 w 2073897"/>
              <a:gd name="connsiteY64" fmla="*/ 160255 h 948998"/>
              <a:gd name="connsiteX65" fmla="*/ 1611983 w 2073897"/>
              <a:gd name="connsiteY65" fmla="*/ 131975 h 948998"/>
              <a:gd name="connsiteX66" fmla="*/ 1621410 w 2073897"/>
              <a:gd name="connsiteY66" fmla="*/ 273377 h 948998"/>
              <a:gd name="connsiteX67" fmla="*/ 1640264 w 2073897"/>
              <a:gd name="connsiteY67" fmla="*/ 301657 h 948998"/>
              <a:gd name="connsiteX68" fmla="*/ 1649690 w 2073897"/>
              <a:gd name="connsiteY68" fmla="*/ 339365 h 948998"/>
              <a:gd name="connsiteX69" fmla="*/ 1696824 w 2073897"/>
              <a:gd name="connsiteY69" fmla="*/ 301657 h 948998"/>
              <a:gd name="connsiteX70" fmla="*/ 1734532 w 2073897"/>
              <a:gd name="connsiteY70" fmla="*/ 329938 h 948998"/>
              <a:gd name="connsiteX71" fmla="*/ 1753385 w 2073897"/>
              <a:gd name="connsiteY71" fmla="*/ 254523 h 948998"/>
              <a:gd name="connsiteX72" fmla="*/ 1772239 w 2073897"/>
              <a:gd name="connsiteY72" fmla="*/ 197963 h 948998"/>
              <a:gd name="connsiteX73" fmla="*/ 1781666 w 2073897"/>
              <a:gd name="connsiteY73" fmla="*/ 131975 h 948998"/>
              <a:gd name="connsiteX74" fmla="*/ 1819373 w 2073897"/>
              <a:gd name="connsiteY74" fmla="*/ 160255 h 948998"/>
              <a:gd name="connsiteX75" fmla="*/ 1857080 w 2073897"/>
              <a:gd name="connsiteY75" fmla="*/ 207389 h 948998"/>
              <a:gd name="connsiteX76" fmla="*/ 1866507 w 2073897"/>
              <a:gd name="connsiteY76" fmla="*/ 235670 h 948998"/>
              <a:gd name="connsiteX77" fmla="*/ 1904214 w 2073897"/>
              <a:gd name="connsiteY77" fmla="*/ 245097 h 948998"/>
              <a:gd name="connsiteX78" fmla="*/ 1932495 w 2073897"/>
              <a:gd name="connsiteY78" fmla="*/ 273377 h 948998"/>
              <a:gd name="connsiteX79" fmla="*/ 1989055 w 2073897"/>
              <a:gd name="connsiteY79" fmla="*/ 395925 h 948998"/>
              <a:gd name="connsiteX80" fmla="*/ 1998482 w 2073897"/>
              <a:gd name="connsiteY80" fmla="*/ 433633 h 948998"/>
              <a:gd name="connsiteX81" fmla="*/ 2026763 w 2073897"/>
              <a:gd name="connsiteY81" fmla="*/ 452486 h 948998"/>
              <a:gd name="connsiteX82" fmla="*/ 2045616 w 2073897"/>
              <a:gd name="connsiteY82" fmla="*/ 509047 h 948998"/>
              <a:gd name="connsiteX83" fmla="*/ 2055043 w 2073897"/>
              <a:gd name="connsiteY83" fmla="*/ 537327 h 948998"/>
              <a:gd name="connsiteX84" fmla="*/ 2073897 w 2073897"/>
              <a:gd name="connsiteY84" fmla="*/ 537327 h 948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2073897" h="948998">
                <a:moveTo>
                  <a:pt x="0" y="537327"/>
                </a:moveTo>
                <a:cubicBezTo>
                  <a:pt x="36231" y="482979"/>
                  <a:pt x="4863" y="535406"/>
                  <a:pt x="28280" y="480767"/>
                </a:cubicBezTo>
                <a:cubicBezTo>
                  <a:pt x="33816" y="467850"/>
                  <a:pt x="42690" y="456391"/>
                  <a:pt x="47134" y="443059"/>
                </a:cubicBezTo>
                <a:cubicBezTo>
                  <a:pt x="77993" y="350481"/>
                  <a:pt x="40379" y="384717"/>
                  <a:pt x="94268" y="348791"/>
                </a:cubicBezTo>
                <a:cubicBezTo>
                  <a:pt x="100552" y="367645"/>
                  <a:pt x="102097" y="388816"/>
                  <a:pt x="113121" y="405352"/>
                </a:cubicBezTo>
                <a:cubicBezTo>
                  <a:pt x="119406" y="414779"/>
                  <a:pt x="127373" y="423280"/>
                  <a:pt x="131975" y="433633"/>
                </a:cubicBezTo>
                <a:cubicBezTo>
                  <a:pt x="140046" y="451793"/>
                  <a:pt x="150829" y="490193"/>
                  <a:pt x="150829" y="490193"/>
                </a:cubicBezTo>
                <a:cubicBezTo>
                  <a:pt x="157113" y="477624"/>
                  <a:pt x="165238" y="465817"/>
                  <a:pt x="169682" y="452486"/>
                </a:cubicBezTo>
                <a:cubicBezTo>
                  <a:pt x="198919" y="364774"/>
                  <a:pt x="160897" y="386285"/>
                  <a:pt x="216816" y="367645"/>
                </a:cubicBezTo>
                <a:cubicBezTo>
                  <a:pt x="229385" y="342507"/>
                  <a:pt x="249011" y="319790"/>
                  <a:pt x="254523" y="292231"/>
                </a:cubicBezTo>
                <a:cubicBezTo>
                  <a:pt x="258108" y="274305"/>
                  <a:pt x="263715" y="236140"/>
                  <a:pt x="273377" y="216816"/>
                </a:cubicBezTo>
                <a:cubicBezTo>
                  <a:pt x="278444" y="206683"/>
                  <a:pt x="282804" y="194820"/>
                  <a:pt x="292231" y="188536"/>
                </a:cubicBezTo>
                <a:cubicBezTo>
                  <a:pt x="303011" y="181349"/>
                  <a:pt x="317369" y="182251"/>
                  <a:pt x="329938" y="179109"/>
                </a:cubicBezTo>
                <a:cubicBezTo>
                  <a:pt x="333080" y="169682"/>
                  <a:pt x="336635" y="160383"/>
                  <a:pt x="339365" y="150828"/>
                </a:cubicBezTo>
                <a:cubicBezTo>
                  <a:pt x="342924" y="138371"/>
                  <a:pt x="344242" y="125252"/>
                  <a:pt x="348791" y="113121"/>
                </a:cubicBezTo>
                <a:cubicBezTo>
                  <a:pt x="353725" y="99963"/>
                  <a:pt x="363201" y="88745"/>
                  <a:pt x="367645" y="75414"/>
                </a:cubicBezTo>
                <a:cubicBezTo>
                  <a:pt x="375839" y="50832"/>
                  <a:pt x="386499" y="0"/>
                  <a:pt x="386499" y="0"/>
                </a:cubicBezTo>
                <a:cubicBezTo>
                  <a:pt x="408495" y="6284"/>
                  <a:pt x="433985" y="5398"/>
                  <a:pt x="452486" y="18853"/>
                </a:cubicBezTo>
                <a:cubicBezTo>
                  <a:pt x="580485" y="111942"/>
                  <a:pt x="431520" y="55855"/>
                  <a:pt x="518474" y="84841"/>
                </a:cubicBezTo>
                <a:cubicBezTo>
                  <a:pt x="527901" y="81699"/>
                  <a:pt x="538486" y="80926"/>
                  <a:pt x="546754" y="75414"/>
                </a:cubicBezTo>
                <a:cubicBezTo>
                  <a:pt x="617367" y="28339"/>
                  <a:pt x="536072" y="60122"/>
                  <a:pt x="603315" y="37707"/>
                </a:cubicBezTo>
                <a:cubicBezTo>
                  <a:pt x="609600" y="28280"/>
                  <a:pt x="613105" y="2628"/>
                  <a:pt x="622169" y="9426"/>
                </a:cubicBezTo>
                <a:cubicBezTo>
                  <a:pt x="638068" y="21350"/>
                  <a:pt x="632134" y="48212"/>
                  <a:pt x="641022" y="65987"/>
                </a:cubicBezTo>
                <a:lnTo>
                  <a:pt x="659876" y="103694"/>
                </a:lnTo>
                <a:lnTo>
                  <a:pt x="678730" y="179109"/>
                </a:lnTo>
                <a:cubicBezTo>
                  <a:pt x="681872" y="191678"/>
                  <a:pt x="680969" y="206036"/>
                  <a:pt x="688156" y="216816"/>
                </a:cubicBezTo>
                <a:lnTo>
                  <a:pt x="707010" y="245097"/>
                </a:lnTo>
                <a:cubicBezTo>
                  <a:pt x="710152" y="260808"/>
                  <a:pt x="712767" y="276634"/>
                  <a:pt x="716437" y="292231"/>
                </a:cubicBezTo>
                <a:cubicBezTo>
                  <a:pt x="725339" y="330065"/>
                  <a:pt x="739220" y="366875"/>
                  <a:pt x="744717" y="405352"/>
                </a:cubicBezTo>
                <a:cubicBezTo>
                  <a:pt x="748158" y="429442"/>
                  <a:pt x="753313" y="481693"/>
                  <a:pt x="763571" y="509047"/>
                </a:cubicBezTo>
                <a:cubicBezTo>
                  <a:pt x="768505" y="522205"/>
                  <a:pt x="776889" y="533838"/>
                  <a:pt x="782424" y="546754"/>
                </a:cubicBezTo>
                <a:cubicBezTo>
                  <a:pt x="786338" y="555888"/>
                  <a:pt x="788709" y="565608"/>
                  <a:pt x="791851" y="575035"/>
                </a:cubicBezTo>
                <a:cubicBezTo>
                  <a:pt x="793744" y="592071"/>
                  <a:pt x="798459" y="669007"/>
                  <a:pt x="810705" y="697583"/>
                </a:cubicBezTo>
                <a:cubicBezTo>
                  <a:pt x="815168" y="707997"/>
                  <a:pt x="823274" y="716437"/>
                  <a:pt x="829558" y="725864"/>
                </a:cubicBezTo>
                <a:cubicBezTo>
                  <a:pt x="832700" y="741575"/>
                  <a:pt x="835509" y="757357"/>
                  <a:pt x="838985" y="772998"/>
                </a:cubicBezTo>
                <a:cubicBezTo>
                  <a:pt x="841796" y="785645"/>
                  <a:pt x="837632" y="817892"/>
                  <a:pt x="848412" y="810705"/>
                </a:cubicBezTo>
                <a:cubicBezTo>
                  <a:pt x="864948" y="799681"/>
                  <a:pt x="861806" y="773253"/>
                  <a:pt x="867266" y="754144"/>
                </a:cubicBezTo>
                <a:cubicBezTo>
                  <a:pt x="874384" y="729229"/>
                  <a:pt x="874531" y="701906"/>
                  <a:pt x="886119" y="678730"/>
                </a:cubicBezTo>
                <a:cubicBezTo>
                  <a:pt x="909417" y="632134"/>
                  <a:pt x="900529" y="654354"/>
                  <a:pt x="914400" y="612742"/>
                </a:cubicBezTo>
                <a:cubicBezTo>
                  <a:pt x="926969" y="631596"/>
                  <a:pt x="946611" y="647320"/>
                  <a:pt x="952107" y="669303"/>
                </a:cubicBezTo>
                <a:cubicBezTo>
                  <a:pt x="955249" y="681872"/>
                  <a:pt x="953441" y="696893"/>
                  <a:pt x="961534" y="707010"/>
                </a:cubicBezTo>
                <a:cubicBezTo>
                  <a:pt x="967741" y="714769"/>
                  <a:pt x="980387" y="713295"/>
                  <a:pt x="989814" y="716437"/>
                </a:cubicBezTo>
                <a:cubicBezTo>
                  <a:pt x="993255" y="740525"/>
                  <a:pt x="998411" y="792779"/>
                  <a:pt x="1008668" y="820132"/>
                </a:cubicBezTo>
                <a:cubicBezTo>
                  <a:pt x="1013602" y="833290"/>
                  <a:pt x="1023077" y="844508"/>
                  <a:pt x="1027521" y="857839"/>
                </a:cubicBezTo>
                <a:cubicBezTo>
                  <a:pt x="1035715" y="882421"/>
                  <a:pt x="1046375" y="933253"/>
                  <a:pt x="1046375" y="933253"/>
                </a:cubicBezTo>
                <a:cubicBezTo>
                  <a:pt x="1088714" y="785070"/>
                  <a:pt x="1045112" y="948998"/>
                  <a:pt x="1074655" y="801278"/>
                </a:cubicBezTo>
                <a:cubicBezTo>
                  <a:pt x="1077610" y="786502"/>
                  <a:pt x="1100526" y="731889"/>
                  <a:pt x="1102936" y="725864"/>
                </a:cubicBezTo>
                <a:cubicBezTo>
                  <a:pt x="1121790" y="729006"/>
                  <a:pt x="1141119" y="740541"/>
                  <a:pt x="1159497" y="735290"/>
                </a:cubicBezTo>
                <a:cubicBezTo>
                  <a:pt x="1169051" y="732560"/>
                  <a:pt x="1164479" y="715897"/>
                  <a:pt x="1168923" y="707010"/>
                </a:cubicBezTo>
                <a:cubicBezTo>
                  <a:pt x="1173990" y="696877"/>
                  <a:pt x="1181492" y="688157"/>
                  <a:pt x="1187777" y="678730"/>
                </a:cubicBezTo>
                <a:cubicBezTo>
                  <a:pt x="1193037" y="657690"/>
                  <a:pt x="1199626" y="619746"/>
                  <a:pt x="1216057" y="603315"/>
                </a:cubicBezTo>
                <a:cubicBezTo>
                  <a:pt x="1223083" y="596289"/>
                  <a:pt x="1234911" y="597030"/>
                  <a:pt x="1244338" y="593888"/>
                </a:cubicBezTo>
                <a:cubicBezTo>
                  <a:pt x="1266447" y="527562"/>
                  <a:pt x="1237670" y="609447"/>
                  <a:pt x="1272618" y="527901"/>
                </a:cubicBezTo>
                <a:cubicBezTo>
                  <a:pt x="1276532" y="518767"/>
                  <a:pt x="1275019" y="506647"/>
                  <a:pt x="1282045" y="499620"/>
                </a:cubicBezTo>
                <a:cubicBezTo>
                  <a:pt x="1289071" y="492594"/>
                  <a:pt x="1300898" y="493335"/>
                  <a:pt x="1310325" y="490193"/>
                </a:cubicBezTo>
                <a:cubicBezTo>
                  <a:pt x="1313467" y="499620"/>
                  <a:pt x="1312726" y="511448"/>
                  <a:pt x="1319752" y="518474"/>
                </a:cubicBezTo>
                <a:cubicBezTo>
                  <a:pt x="1346547" y="545269"/>
                  <a:pt x="1356470" y="520452"/>
                  <a:pt x="1366886" y="499620"/>
                </a:cubicBezTo>
                <a:cubicBezTo>
                  <a:pt x="1378631" y="476129"/>
                  <a:pt x="1371833" y="454972"/>
                  <a:pt x="1404594" y="443059"/>
                </a:cubicBezTo>
                <a:cubicBezTo>
                  <a:pt x="1428402" y="434401"/>
                  <a:pt x="1454870" y="436775"/>
                  <a:pt x="1480008" y="433633"/>
                </a:cubicBezTo>
                <a:cubicBezTo>
                  <a:pt x="1483150" y="424206"/>
                  <a:pt x="1484428" y="413935"/>
                  <a:pt x="1489435" y="405352"/>
                </a:cubicBezTo>
                <a:cubicBezTo>
                  <a:pt x="1506561" y="375993"/>
                  <a:pt x="1545996" y="320511"/>
                  <a:pt x="1545996" y="320511"/>
                </a:cubicBezTo>
                <a:cubicBezTo>
                  <a:pt x="1549138" y="311084"/>
                  <a:pt x="1551933" y="301535"/>
                  <a:pt x="1555422" y="292231"/>
                </a:cubicBezTo>
                <a:cubicBezTo>
                  <a:pt x="1561364" y="276387"/>
                  <a:pt x="1569413" y="261305"/>
                  <a:pt x="1574276" y="245097"/>
                </a:cubicBezTo>
                <a:cubicBezTo>
                  <a:pt x="1578880" y="229750"/>
                  <a:pt x="1578636" y="213163"/>
                  <a:pt x="1583703" y="197963"/>
                </a:cubicBezTo>
                <a:cubicBezTo>
                  <a:pt x="1588147" y="184631"/>
                  <a:pt x="1597020" y="173172"/>
                  <a:pt x="1602556" y="160255"/>
                </a:cubicBezTo>
                <a:cubicBezTo>
                  <a:pt x="1606470" y="151122"/>
                  <a:pt x="1608841" y="141402"/>
                  <a:pt x="1611983" y="131975"/>
                </a:cubicBezTo>
                <a:cubicBezTo>
                  <a:pt x="1615125" y="179109"/>
                  <a:pt x="1613644" y="226781"/>
                  <a:pt x="1621410" y="273377"/>
                </a:cubicBezTo>
                <a:cubicBezTo>
                  <a:pt x="1623273" y="284552"/>
                  <a:pt x="1635801" y="291243"/>
                  <a:pt x="1640264" y="301657"/>
                </a:cubicBezTo>
                <a:cubicBezTo>
                  <a:pt x="1645368" y="313566"/>
                  <a:pt x="1646548" y="326796"/>
                  <a:pt x="1649690" y="339365"/>
                </a:cubicBezTo>
                <a:cubicBezTo>
                  <a:pt x="1658629" y="325957"/>
                  <a:pt x="1671326" y="294372"/>
                  <a:pt x="1696824" y="301657"/>
                </a:cubicBezTo>
                <a:cubicBezTo>
                  <a:pt x="1711931" y="305973"/>
                  <a:pt x="1721963" y="320511"/>
                  <a:pt x="1734532" y="329938"/>
                </a:cubicBezTo>
                <a:cubicBezTo>
                  <a:pt x="1740816" y="304800"/>
                  <a:pt x="1746266" y="279438"/>
                  <a:pt x="1753385" y="254523"/>
                </a:cubicBezTo>
                <a:cubicBezTo>
                  <a:pt x="1758845" y="235414"/>
                  <a:pt x="1767770" y="217327"/>
                  <a:pt x="1772239" y="197963"/>
                </a:cubicBezTo>
                <a:cubicBezTo>
                  <a:pt x="1777235" y="176313"/>
                  <a:pt x="1778524" y="153971"/>
                  <a:pt x="1781666" y="131975"/>
                </a:cubicBezTo>
                <a:cubicBezTo>
                  <a:pt x="1794235" y="141402"/>
                  <a:pt x="1809315" y="148185"/>
                  <a:pt x="1819373" y="160255"/>
                </a:cubicBezTo>
                <a:cubicBezTo>
                  <a:pt x="1876289" y="228554"/>
                  <a:pt x="1770473" y="149652"/>
                  <a:pt x="1857080" y="207389"/>
                </a:cubicBezTo>
                <a:cubicBezTo>
                  <a:pt x="1860222" y="216816"/>
                  <a:pt x="1858748" y="229462"/>
                  <a:pt x="1866507" y="235670"/>
                </a:cubicBezTo>
                <a:cubicBezTo>
                  <a:pt x="1876624" y="243764"/>
                  <a:pt x="1892965" y="238669"/>
                  <a:pt x="1904214" y="245097"/>
                </a:cubicBezTo>
                <a:cubicBezTo>
                  <a:pt x="1915789" y="251711"/>
                  <a:pt x="1923960" y="263135"/>
                  <a:pt x="1932495" y="273377"/>
                </a:cubicBezTo>
                <a:cubicBezTo>
                  <a:pt x="1958572" y="304669"/>
                  <a:pt x="1981638" y="366258"/>
                  <a:pt x="1989055" y="395925"/>
                </a:cubicBezTo>
                <a:cubicBezTo>
                  <a:pt x="1992197" y="408494"/>
                  <a:pt x="1991295" y="422853"/>
                  <a:pt x="1998482" y="433633"/>
                </a:cubicBezTo>
                <a:cubicBezTo>
                  <a:pt x="2004767" y="443060"/>
                  <a:pt x="2017336" y="446202"/>
                  <a:pt x="2026763" y="452486"/>
                </a:cubicBezTo>
                <a:lnTo>
                  <a:pt x="2045616" y="509047"/>
                </a:lnTo>
                <a:cubicBezTo>
                  <a:pt x="2048758" y="518474"/>
                  <a:pt x="2045106" y="537327"/>
                  <a:pt x="2055043" y="537327"/>
                </a:cubicBezTo>
                <a:lnTo>
                  <a:pt x="2073897" y="537327"/>
                </a:lnTo>
              </a:path>
            </a:pathLst>
          </a:cu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0" name="Freeform 119"/>
          <p:cNvSpPr/>
          <p:nvPr/>
        </p:nvSpPr>
        <p:spPr bwMode="auto">
          <a:xfrm>
            <a:off x="1301541" y="3195459"/>
            <a:ext cx="1626360" cy="538195"/>
          </a:xfrm>
          <a:custGeom>
            <a:avLst/>
            <a:gdLst>
              <a:gd name="connsiteX0" fmla="*/ 0 w 1800519"/>
              <a:gd name="connsiteY0" fmla="*/ 575036 h 857840"/>
              <a:gd name="connsiteX1" fmla="*/ 28280 w 1800519"/>
              <a:gd name="connsiteY1" fmla="*/ 725864 h 857840"/>
              <a:gd name="connsiteX2" fmla="*/ 37707 w 1800519"/>
              <a:gd name="connsiteY2" fmla="*/ 763572 h 857840"/>
              <a:gd name="connsiteX3" fmla="*/ 75414 w 1800519"/>
              <a:gd name="connsiteY3" fmla="*/ 829559 h 857840"/>
              <a:gd name="connsiteX4" fmla="*/ 84841 w 1800519"/>
              <a:gd name="connsiteY4" fmla="*/ 857840 h 857840"/>
              <a:gd name="connsiteX5" fmla="*/ 179109 w 1800519"/>
              <a:gd name="connsiteY5" fmla="*/ 838986 h 857840"/>
              <a:gd name="connsiteX6" fmla="*/ 188536 w 1800519"/>
              <a:gd name="connsiteY6" fmla="*/ 791852 h 857840"/>
              <a:gd name="connsiteX7" fmla="*/ 197963 w 1800519"/>
              <a:gd name="connsiteY7" fmla="*/ 763572 h 857840"/>
              <a:gd name="connsiteX8" fmla="*/ 207389 w 1800519"/>
              <a:gd name="connsiteY8" fmla="*/ 725864 h 857840"/>
              <a:gd name="connsiteX9" fmla="*/ 226243 w 1800519"/>
              <a:gd name="connsiteY9" fmla="*/ 688157 h 857840"/>
              <a:gd name="connsiteX10" fmla="*/ 245097 w 1800519"/>
              <a:gd name="connsiteY10" fmla="*/ 565609 h 857840"/>
              <a:gd name="connsiteX11" fmla="*/ 263950 w 1800519"/>
              <a:gd name="connsiteY11" fmla="*/ 537328 h 857840"/>
              <a:gd name="connsiteX12" fmla="*/ 282804 w 1800519"/>
              <a:gd name="connsiteY12" fmla="*/ 461914 h 857840"/>
              <a:gd name="connsiteX13" fmla="*/ 301657 w 1800519"/>
              <a:gd name="connsiteY13" fmla="*/ 414780 h 857840"/>
              <a:gd name="connsiteX14" fmla="*/ 348791 w 1800519"/>
              <a:gd name="connsiteY14" fmla="*/ 329939 h 857840"/>
              <a:gd name="connsiteX15" fmla="*/ 386499 w 1800519"/>
              <a:gd name="connsiteY15" fmla="*/ 386499 h 857840"/>
              <a:gd name="connsiteX16" fmla="*/ 414779 w 1800519"/>
              <a:gd name="connsiteY16" fmla="*/ 509048 h 857840"/>
              <a:gd name="connsiteX17" fmla="*/ 443060 w 1800519"/>
              <a:gd name="connsiteY17" fmla="*/ 546755 h 857840"/>
              <a:gd name="connsiteX18" fmla="*/ 452486 w 1800519"/>
              <a:gd name="connsiteY18" fmla="*/ 593889 h 857840"/>
              <a:gd name="connsiteX19" fmla="*/ 471340 w 1800519"/>
              <a:gd name="connsiteY19" fmla="*/ 631596 h 857840"/>
              <a:gd name="connsiteX20" fmla="*/ 490194 w 1800519"/>
              <a:gd name="connsiteY20" fmla="*/ 688157 h 857840"/>
              <a:gd name="connsiteX21" fmla="*/ 499620 w 1800519"/>
              <a:gd name="connsiteY21" fmla="*/ 716438 h 857840"/>
              <a:gd name="connsiteX22" fmla="*/ 556181 w 1800519"/>
              <a:gd name="connsiteY22" fmla="*/ 735291 h 857840"/>
              <a:gd name="connsiteX23" fmla="*/ 603315 w 1800519"/>
              <a:gd name="connsiteY23" fmla="*/ 725864 h 857840"/>
              <a:gd name="connsiteX24" fmla="*/ 631596 w 1800519"/>
              <a:gd name="connsiteY24" fmla="*/ 688157 h 857840"/>
              <a:gd name="connsiteX25" fmla="*/ 688156 w 1800519"/>
              <a:gd name="connsiteY25" fmla="*/ 584462 h 857840"/>
              <a:gd name="connsiteX26" fmla="*/ 716437 w 1800519"/>
              <a:gd name="connsiteY26" fmla="*/ 546755 h 857840"/>
              <a:gd name="connsiteX27" fmla="*/ 744717 w 1800519"/>
              <a:gd name="connsiteY27" fmla="*/ 490194 h 857840"/>
              <a:gd name="connsiteX28" fmla="*/ 782424 w 1800519"/>
              <a:gd name="connsiteY28" fmla="*/ 480767 h 857840"/>
              <a:gd name="connsiteX29" fmla="*/ 810705 w 1800519"/>
              <a:gd name="connsiteY29" fmla="*/ 443060 h 857840"/>
              <a:gd name="connsiteX30" fmla="*/ 829558 w 1800519"/>
              <a:gd name="connsiteY30" fmla="*/ 386499 h 857840"/>
              <a:gd name="connsiteX31" fmla="*/ 867266 w 1800519"/>
              <a:gd name="connsiteY31" fmla="*/ 348792 h 857840"/>
              <a:gd name="connsiteX32" fmla="*/ 923827 w 1800519"/>
              <a:gd name="connsiteY32" fmla="*/ 273378 h 857840"/>
              <a:gd name="connsiteX33" fmla="*/ 933253 w 1800519"/>
              <a:gd name="connsiteY33" fmla="*/ 245097 h 857840"/>
              <a:gd name="connsiteX34" fmla="*/ 961534 w 1800519"/>
              <a:gd name="connsiteY34" fmla="*/ 179110 h 857840"/>
              <a:gd name="connsiteX35" fmla="*/ 1008668 w 1800519"/>
              <a:gd name="connsiteY35" fmla="*/ 18854 h 857840"/>
              <a:gd name="connsiteX36" fmla="*/ 1074655 w 1800519"/>
              <a:gd name="connsiteY36" fmla="*/ 0 h 857840"/>
              <a:gd name="connsiteX37" fmla="*/ 1084082 w 1800519"/>
              <a:gd name="connsiteY37" fmla="*/ 37708 h 857840"/>
              <a:gd name="connsiteX38" fmla="*/ 1112363 w 1800519"/>
              <a:gd name="connsiteY38" fmla="*/ 113122 h 857840"/>
              <a:gd name="connsiteX39" fmla="*/ 1121789 w 1800519"/>
              <a:gd name="connsiteY39" fmla="*/ 216817 h 857840"/>
              <a:gd name="connsiteX40" fmla="*/ 1131216 w 1800519"/>
              <a:gd name="connsiteY40" fmla="*/ 424207 h 857840"/>
              <a:gd name="connsiteX41" fmla="*/ 1150070 w 1800519"/>
              <a:gd name="connsiteY41" fmla="*/ 490194 h 857840"/>
              <a:gd name="connsiteX42" fmla="*/ 1168923 w 1800519"/>
              <a:gd name="connsiteY42" fmla="*/ 556182 h 857840"/>
              <a:gd name="connsiteX43" fmla="*/ 1187777 w 1800519"/>
              <a:gd name="connsiteY43" fmla="*/ 593889 h 857840"/>
              <a:gd name="connsiteX44" fmla="*/ 1197204 w 1800519"/>
              <a:gd name="connsiteY44" fmla="*/ 622170 h 857840"/>
              <a:gd name="connsiteX45" fmla="*/ 1206631 w 1800519"/>
              <a:gd name="connsiteY45" fmla="*/ 659877 h 857840"/>
              <a:gd name="connsiteX46" fmla="*/ 1244338 w 1800519"/>
              <a:gd name="connsiteY46" fmla="*/ 707011 h 857840"/>
              <a:gd name="connsiteX47" fmla="*/ 1263191 w 1800519"/>
              <a:gd name="connsiteY47" fmla="*/ 744718 h 857840"/>
              <a:gd name="connsiteX48" fmla="*/ 1272618 w 1800519"/>
              <a:gd name="connsiteY48" fmla="*/ 772998 h 857840"/>
              <a:gd name="connsiteX49" fmla="*/ 1329179 w 1800519"/>
              <a:gd name="connsiteY49" fmla="*/ 791852 h 857840"/>
              <a:gd name="connsiteX50" fmla="*/ 1385740 w 1800519"/>
              <a:gd name="connsiteY50" fmla="*/ 820132 h 857840"/>
              <a:gd name="connsiteX51" fmla="*/ 1414020 w 1800519"/>
              <a:gd name="connsiteY51" fmla="*/ 810706 h 857840"/>
              <a:gd name="connsiteX52" fmla="*/ 1461154 w 1800519"/>
              <a:gd name="connsiteY52" fmla="*/ 725864 h 857840"/>
              <a:gd name="connsiteX53" fmla="*/ 1470581 w 1800519"/>
              <a:gd name="connsiteY53" fmla="*/ 697584 h 857840"/>
              <a:gd name="connsiteX54" fmla="*/ 1498862 w 1800519"/>
              <a:gd name="connsiteY54" fmla="*/ 669304 h 857840"/>
              <a:gd name="connsiteX55" fmla="*/ 1536569 w 1800519"/>
              <a:gd name="connsiteY55" fmla="*/ 556182 h 857840"/>
              <a:gd name="connsiteX56" fmla="*/ 1555422 w 1800519"/>
              <a:gd name="connsiteY56" fmla="*/ 527902 h 857840"/>
              <a:gd name="connsiteX57" fmla="*/ 1583703 w 1800519"/>
              <a:gd name="connsiteY57" fmla="*/ 471341 h 857840"/>
              <a:gd name="connsiteX58" fmla="*/ 1611983 w 1800519"/>
              <a:gd name="connsiteY58" fmla="*/ 499621 h 857840"/>
              <a:gd name="connsiteX59" fmla="*/ 1630837 w 1800519"/>
              <a:gd name="connsiteY59" fmla="*/ 527902 h 857840"/>
              <a:gd name="connsiteX60" fmla="*/ 1706251 w 1800519"/>
              <a:gd name="connsiteY60" fmla="*/ 565609 h 857840"/>
              <a:gd name="connsiteX61" fmla="*/ 1734532 w 1800519"/>
              <a:gd name="connsiteY61" fmla="*/ 584462 h 857840"/>
              <a:gd name="connsiteX62" fmla="*/ 1762812 w 1800519"/>
              <a:gd name="connsiteY62" fmla="*/ 575036 h 857840"/>
              <a:gd name="connsiteX63" fmla="*/ 1791093 w 1800519"/>
              <a:gd name="connsiteY63" fmla="*/ 537328 h 857840"/>
              <a:gd name="connsiteX64" fmla="*/ 1800519 w 1800519"/>
              <a:gd name="connsiteY64" fmla="*/ 527902 h 857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800519" h="857840">
                <a:moveTo>
                  <a:pt x="0" y="575036"/>
                </a:moveTo>
                <a:cubicBezTo>
                  <a:pt x="35960" y="808782"/>
                  <a:pt x="2033" y="634002"/>
                  <a:pt x="28280" y="725864"/>
                </a:cubicBezTo>
                <a:cubicBezTo>
                  <a:pt x="31839" y="738322"/>
                  <a:pt x="33158" y="751441"/>
                  <a:pt x="37707" y="763572"/>
                </a:cubicBezTo>
                <a:cubicBezTo>
                  <a:pt x="62497" y="829677"/>
                  <a:pt x="48065" y="774861"/>
                  <a:pt x="75414" y="829559"/>
                </a:cubicBezTo>
                <a:cubicBezTo>
                  <a:pt x="79858" y="838447"/>
                  <a:pt x="81699" y="848413"/>
                  <a:pt x="84841" y="857840"/>
                </a:cubicBezTo>
                <a:cubicBezTo>
                  <a:pt x="116264" y="851555"/>
                  <a:pt x="152074" y="856190"/>
                  <a:pt x="179109" y="838986"/>
                </a:cubicBezTo>
                <a:cubicBezTo>
                  <a:pt x="192627" y="830384"/>
                  <a:pt x="184650" y="807396"/>
                  <a:pt x="188536" y="791852"/>
                </a:cubicBezTo>
                <a:cubicBezTo>
                  <a:pt x="190946" y="782212"/>
                  <a:pt x="195233" y="773126"/>
                  <a:pt x="197963" y="763572"/>
                </a:cubicBezTo>
                <a:cubicBezTo>
                  <a:pt x="201522" y="751114"/>
                  <a:pt x="202840" y="737995"/>
                  <a:pt x="207389" y="725864"/>
                </a:cubicBezTo>
                <a:cubicBezTo>
                  <a:pt x="212323" y="712706"/>
                  <a:pt x="219958" y="700726"/>
                  <a:pt x="226243" y="688157"/>
                </a:cubicBezTo>
                <a:cubicBezTo>
                  <a:pt x="227700" y="676504"/>
                  <a:pt x="236999" y="587203"/>
                  <a:pt x="245097" y="565609"/>
                </a:cubicBezTo>
                <a:cubicBezTo>
                  <a:pt x="249075" y="555001"/>
                  <a:pt x="257666" y="546755"/>
                  <a:pt x="263950" y="537328"/>
                </a:cubicBezTo>
                <a:cubicBezTo>
                  <a:pt x="270235" y="512190"/>
                  <a:pt x="273181" y="485973"/>
                  <a:pt x="282804" y="461914"/>
                </a:cubicBezTo>
                <a:cubicBezTo>
                  <a:pt x="289088" y="446203"/>
                  <a:pt x="296681" y="430953"/>
                  <a:pt x="301657" y="414780"/>
                </a:cubicBezTo>
                <a:cubicBezTo>
                  <a:pt x="328388" y="327903"/>
                  <a:pt x="293832" y="348257"/>
                  <a:pt x="348791" y="329939"/>
                </a:cubicBezTo>
                <a:cubicBezTo>
                  <a:pt x="361360" y="348792"/>
                  <a:pt x="382055" y="364280"/>
                  <a:pt x="386499" y="386499"/>
                </a:cubicBezTo>
                <a:cubicBezTo>
                  <a:pt x="390781" y="407909"/>
                  <a:pt x="408579" y="500782"/>
                  <a:pt x="414779" y="509048"/>
                </a:cubicBezTo>
                <a:lnTo>
                  <a:pt x="443060" y="546755"/>
                </a:lnTo>
                <a:cubicBezTo>
                  <a:pt x="446202" y="562466"/>
                  <a:pt x="447419" y="578689"/>
                  <a:pt x="452486" y="593889"/>
                </a:cubicBezTo>
                <a:cubicBezTo>
                  <a:pt x="456930" y="607221"/>
                  <a:pt x="466121" y="618548"/>
                  <a:pt x="471340" y="631596"/>
                </a:cubicBezTo>
                <a:cubicBezTo>
                  <a:pt x="478721" y="650048"/>
                  <a:pt x="483910" y="669303"/>
                  <a:pt x="490194" y="688157"/>
                </a:cubicBezTo>
                <a:cubicBezTo>
                  <a:pt x="493336" y="697584"/>
                  <a:pt x="490193" y="713296"/>
                  <a:pt x="499620" y="716438"/>
                </a:cubicBezTo>
                <a:lnTo>
                  <a:pt x="556181" y="735291"/>
                </a:lnTo>
                <a:cubicBezTo>
                  <a:pt x="571892" y="732149"/>
                  <a:pt x="589728" y="734356"/>
                  <a:pt x="603315" y="725864"/>
                </a:cubicBezTo>
                <a:cubicBezTo>
                  <a:pt x="616638" y="717537"/>
                  <a:pt x="622881" y="701230"/>
                  <a:pt x="631596" y="688157"/>
                </a:cubicBezTo>
                <a:cubicBezTo>
                  <a:pt x="695004" y="593046"/>
                  <a:pt x="623746" y="691812"/>
                  <a:pt x="688156" y="584462"/>
                </a:cubicBezTo>
                <a:cubicBezTo>
                  <a:pt x="696239" y="570990"/>
                  <a:pt x="707010" y="559324"/>
                  <a:pt x="716437" y="546755"/>
                </a:cubicBezTo>
                <a:cubicBezTo>
                  <a:pt x="721814" y="530624"/>
                  <a:pt x="729055" y="500636"/>
                  <a:pt x="744717" y="490194"/>
                </a:cubicBezTo>
                <a:cubicBezTo>
                  <a:pt x="755497" y="483007"/>
                  <a:pt x="769855" y="483909"/>
                  <a:pt x="782424" y="480767"/>
                </a:cubicBezTo>
                <a:cubicBezTo>
                  <a:pt x="791851" y="468198"/>
                  <a:pt x="803679" y="457113"/>
                  <a:pt x="810705" y="443060"/>
                </a:cubicBezTo>
                <a:cubicBezTo>
                  <a:pt x="819593" y="425285"/>
                  <a:pt x="815505" y="400551"/>
                  <a:pt x="829558" y="386499"/>
                </a:cubicBezTo>
                <a:lnTo>
                  <a:pt x="867266" y="348792"/>
                </a:lnTo>
                <a:cubicBezTo>
                  <a:pt x="919179" y="244963"/>
                  <a:pt x="844419" y="384550"/>
                  <a:pt x="923827" y="273378"/>
                </a:cubicBezTo>
                <a:cubicBezTo>
                  <a:pt x="929603" y="265292"/>
                  <a:pt x="929339" y="254230"/>
                  <a:pt x="933253" y="245097"/>
                </a:cubicBezTo>
                <a:cubicBezTo>
                  <a:pt x="968206" y="163538"/>
                  <a:pt x="939422" y="245445"/>
                  <a:pt x="961534" y="179110"/>
                </a:cubicBezTo>
                <a:cubicBezTo>
                  <a:pt x="964246" y="154706"/>
                  <a:pt x="967935" y="32432"/>
                  <a:pt x="1008668" y="18854"/>
                </a:cubicBezTo>
                <a:cubicBezTo>
                  <a:pt x="1049239" y="5330"/>
                  <a:pt x="1027308" y="11837"/>
                  <a:pt x="1074655" y="0"/>
                </a:cubicBezTo>
                <a:cubicBezTo>
                  <a:pt x="1077797" y="12569"/>
                  <a:pt x="1079985" y="25417"/>
                  <a:pt x="1084082" y="37708"/>
                </a:cubicBezTo>
                <a:cubicBezTo>
                  <a:pt x="1092572" y="63178"/>
                  <a:pt x="1106832" y="86850"/>
                  <a:pt x="1112363" y="113122"/>
                </a:cubicBezTo>
                <a:cubicBezTo>
                  <a:pt x="1119513" y="147085"/>
                  <a:pt x="1119689" y="182173"/>
                  <a:pt x="1121789" y="216817"/>
                </a:cubicBezTo>
                <a:cubicBezTo>
                  <a:pt x="1125975" y="285892"/>
                  <a:pt x="1124095" y="355373"/>
                  <a:pt x="1131216" y="424207"/>
                </a:cubicBezTo>
                <a:cubicBezTo>
                  <a:pt x="1133570" y="446961"/>
                  <a:pt x="1144051" y="468124"/>
                  <a:pt x="1150070" y="490194"/>
                </a:cubicBezTo>
                <a:cubicBezTo>
                  <a:pt x="1156048" y="512112"/>
                  <a:pt x="1159894" y="535114"/>
                  <a:pt x="1168923" y="556182"/>
                </a:cubicBezTo>
                <a:cubicBezTo>
                  <a:pt x="1174459" y="569098"/>
                  <a:pt x="1182241" y="580973"/>
                  <a:pt x="1187777" y="593889"/>
                </a:cubicBezTo>
                <a:cubicBezTo>
                  <a:pt x="1191691" y="603022"/>
                  <a:pt x="1194474" y="612615"/>
                  <a:pt x="1197204" y="622170"/>
                </a:cubicBezTo>
                <a:cubicBezTo>
                  <a:pt x="1200763" y="634627"/>
                  <a:pt x="1200339" y="648552"/>
                  <a:pt x="1206631" y="659877"/>
                </a:cubicBezTo>
                <a:cubicBezTo>
                  <a:pt x="1216402" y="677465"/>
                  <a:pt x="1233177" y="690270"/>
                  <a:pt x="1244338" y="707011"/>
                </a:cubicBezTo>
                <a:cubicBezTo>
                  <a:pt x="1252133" y="718703"/>
                  <a:pt x="1257655" y="731802"/>
                  <a:pt x="1263191" y="744718"/>
                </a:cubicBezTo>
                <a:cubicBezTo>
                  <a:pt x="1267105" y="753851"/>
                  <a:pt x="1264532" y="767222"/>
                  <a:pt x="1272618" y="772998"/>
                </a:cubicBezTo>
                <a:cubicBezTo>
                  <a:pt x="1288790" y="784549"/>
                  <a:pt x="1310325" y="785567"/>
                  <a:pt x="1329179" y="791852"/>
                </a:cubicBezTo>
                <a:cubicBezTo>
                  <a:pt x="1368208" y="804862"/>
                  <a:pt x="1349191" y="795767"/>
                  <a:pt x="1385740" y="820132"/>
                </a:cubicBezTo>
                <a:cubicBezTo>
                  <a:pt x="1395167" y="816990"/>
                  <a:pt x="1406387" y="817067"/>
                  <a:pt x="1414020" y="810706"/>
                </a:cubicBezTo>
                <a:cubicBezTo>
                  <a:pt x="1439889" y="789149"/>
                  <a:pt x="1449999" y="755612"/>
                  <a:pt x="1461154" y="725864"/>
                </a:cubicBezTo>
                <a:cubicBezTo>
                  <a:pt x="1464643" y="716560"/>
                  <a:pt x="1465069" y="705852"/>
                  <a:pt x="1470581" y="697584"/>
                </a:cubicBezTo>
                <a:cubicBezTo>
                  <a:pt x="1477976" y="686492"/>
                  <a:pt x="1489435" y="678731"/>
                  <a:pt x="1498862" y="669304"/>
                </a:cubicBezTo>
                <a:cubicBezTo>
                  <a:pt x="1514888" y="605199"/>
                  <a:pt x="1509508" y="603538"/>
                  <a:pt x="1536569" y="556182"/>
                </a:cubicBezTo>
                <a:cubicBezTo>
                  <a:pt x="1542190" y="546345"/>
                  <a:pt x="1550355" y="538035"/>
                  <a:pt x="1555422" y="527902"/>
                </a:cubicBezTo>
                <a:cubicBezTo>
                  <a:pt x="1594446" y="449853"/>
                  <a:pt x="1529677" y="552377"/>
                  <a:pt x="1583703" y="471341"/>
                </a:cubicBezTo>
                <a:cubicBezTo>
                  <a:pt x="1593130" y="480768"/>
                  <a:pt x="1603449" y="489380"/>
                  <a:pt x="1611983" y="499621"/>
                </a:cubicBezTo>
                <a:cubicBezTo>
                  <a:pt x="1619236" y="508325"/>
                  <a:pt x="1622235" y="520529"/>
                  <a:pt x="1630837" y="527902"/>
                </a:cubicBezTo>
                <a:cubicBezTo>
                  <a:pt x="1685706" y="574933"/>
                  <a:pt x="1661015" y="542991"/>
                  <a:pt x="1706251" y="565609"/>
                </a:cubicBezTo>
                <a:cubicBezTo>
                  <a:pt x="1716385" y="570676"/>
                  <a:pt x="1725105" y="578178"/>
                  <a:pt x="1734532" y="584462"/>
                </a:cubicBezTo>
                <a:cubicBezTo>
                  <a:pt x="1743959" y="581320"/>
                  <a:pt x="1755179" y="581397"/>
                  <a:pt x="1762812" y="575036"/>
                </a:cubicBezTo>
                <a:cubicBezTo>
                  <a:pt x="1774882" y="564978"/>
                  <a:pt x="1781278" y="549597"/>
                  <a:pt x="1791093" y="537328"/>
                </a:cubicBezTo>
                <a:cubicBezTo>
                  <a:pt x="1793869" y="533858"/>
                  <a:pt x="1797377" y="531044"/>
                  <a:pt x="1800519" y="527902"/>
                </a:cubicBezTo>
              </a:path>
            </a:pathLst>
          </a:cu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1" name="Freeform 6"/>
          <p:cNvSpPr>
            <a:spLocks/>
          </p:cNvSpPr>
          <p:nvPr/>
        </p:nvSpPr>
        <p:spPr bwMode="auto">
          <a:xfrm>
            <a:off x="6911663" y="1323931"/>
            <a:ext cx="884882" cy="251996"/>
          </a:xfrm>
          <a:custGeom>
            <a:avLst/>
            <a:gdLst>
              <a:gd name="T0" fmla="*/ 0 w 3840"/>
              <a:gd name="T1" fmla="*/ 2147483647 h 934"/>
              <a:gd name="T2" fmla="*/ 2147483647 w 3840"/>
              <a:gd name="T3" fmla="*/ 2147483647 h 934"/>
              <a:gd name="T4" fmla="*/ 2147483647 w 3840"/>
              <a:gd name="T5" fmla="*/ 2147483647 h 934"/>
              <a:gd name="T6" fmla="*/ 2147483647 w 3840"/>
              <a:gd name="T7" fmla="*/ 2147483647 h 934"/>
              <a:gd name="T8" fmla="*/ 2147483647 w 3840"/>
              <a:gd name="T9" fmla="*/ 2147483647 h 934"/>
              <a:gd name="T10" fmla="*/ 2147483647 w 3840"/>
              <a:gd name="T11" fmla="*/ 2147483647 h 934"/>
              <a:gd name="T12" fmla="*/ 2147483647 w 3840"/>
              <a:gd name="T13" fmla="*/ 2147483647 h 934"/>
              <a:gd name="T14" fmla="*/ 2147483647 w 3840"/>
              <a:gd name="T15" fmla="*/ 2147483647 h 934"/>
              <a:gd name="T16" fmla="*/ 2147483647 w 3840"/>
              <a:gd name="T17" fmla="*/ 2147483647 h 934"/>
              <a:gd name="T18" fmla="*/ 2147483647 w 3840"/>
              <a:gd name="T19" fmla="*/ 2147483647 h 934"/>
              <a:gd name="T20" fmla="*/ 2147483647 w 3840"/>
              <a:gd name="T21" fmla="*/ 2147483647 h 934"/>
              <a:gd name="T22" fmla="*/ 2147483647 w 3840"/>
              <a:gd name="T23" fmla="*/ 2147483647 h 934"/>
              <a:gd name="T24" fmla="*/ 2147483647 w 3840"/>
              <a:gd name="T25" fmla="*/ 2147483647 h 934"/>
              <a:gd name="T26" fmla="*/ 2147483647 w 3840"/>
              <a:gd name="T27" fmla="*/ 2147483647 h 934"/>
              <a:gd name="T28" fmla="*/ 2147483647 w 3840"/>
              <a:gd name="T29" fmla="*/ 2147483647 h 934"/>
              <a:gd name="T30" fmla="*/ 2147483647 w 3840"/>
              <a:gd name="T31" fmla="*/ 2147483647 h 93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840"/>
              <a:gd name="T49" fmla="*/ 0 h 934"/>
              <a:gd name="T50" fmla="*/ 3840 w 3840"/>
              <a:gd name="T51" fmla="*/ 934 h 934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840" h="934">
                <a:moveTo>
                  <a:pt x="0" y="502"/>
                </a:moveTo>
                <a:cubicBezTo>
                  <a:pt x="32" y="278"/>
                  <a:pt x="64" y="54"/>
                  <a:pt x="144" y="118"/>
                </a:cubicBezTo>
                <a:cubicBezTo>
                  <a:pt x="224" y="182"/>
                  <a:pt x="352" y="838"/>
                  <a:pt x="480" y="886"/>
                </a:cubicBezTo>
                <a:cubicBezTo>
                  <a:pt x="608" y="934"/>
                  <a:pt x="792" y="542"/>
                  <a:pt x="912" y="406"/>
                </a:cubicBezTo>
                <a:cubicBezTo>
                  <a:pt x="1032" y="270"/>
                  <a:pt x="1080" y="6"/>
                  <a:pt x="1200" y="70"/>
                </a:cubicBezTo>
                <a:cubicBezTo>
                  <a:pt x="1320" y="134"/>
                  <a:pt x="1528" y="662"/>
                  <a:pt x="1632" y="790"/>
                </a:cubicBezTo>
                <a:cubicBezTo>
                  <a:pt x="1736" y="918"/>
                  <a:pt x="1768" y="910"/>
                  <a:pt x="1824" y="838"/>
                </a:cubicBezTo>
                <a:cubicBezTo>
                  <a:pt x="1880" y="766"/>
                  <a:pt x="1931" y="461"/>
                  <a:pt x="1968" y="358"/>
                </a:cubicBezTo>
                <a:cubicBezTo>
                  <a:pt x="2005" y="255"/>
                  <a:pt x="2024" y="270"/>
                  <a:pt x="2048" y="222"/>
                </a:cubicBezTo>
                <a:cubicBezTo>
                  <a:pt x="2072" y="174"/>
                  <a:pt x="2061" y="0"/>
                  <a:pt x="2112" y="70"/>
                </a:cubicBezTo>
                <a:cubicBezTo>
                  <a:pt x="2163" y="140"/>
                  <a:pt x="2280" y="614"/>
                  <a:pt x="2352" y="646"/>
                </a:cubicBezTo>
                <a:cubicBezTo>
                  <a:pt x="2424" y="678"/>
                  <a:pt x="2448" y="230"/>
                  <a:pt x="2544" y="262"/>
                </a:cubicBezTo>
                <a:cubicBezTo>
                  <a:pt x="2640" y="294"/>
                  <a:pt x="2808" y="822"/>
                  <a:pt x="2928" y="838"/>
                </a:cubicBezTo>
                <a:cubicBezTo>
                  <a:pt x="3048" y="854"/>
                  <a:pt x="3176" y="398"/>
                  <a:pt x="3264" y="358"/>
                </a:cubicBezTo>
                <a:cubicBezTo>
                  <a:pt x="3352" y="318"/>
                  <a:pt x="3360" y="574"/>
                  <a:pt x="3456" y="598"/>
                </a:cubicBezTo>
                <a:cubicBezTo>
                  <a:pt x="3552" y="622"/>
                  <a:pt x="3776" y="518"/>
                  <a:pt x="3840" y="502"/>
                </a:cubicBezTo>
              </a:path>
            </a:pathLst>
          </a:cu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2" name="Freeform 121"/>
          <p:cNvSpPr/>
          <p:nvPr/>
        </p:nvSpPr>
        <p:spPr bwMode="auto">
          <a:xfrm>
            <a:off x="6946035" y="3164998"/>
            <a:ext cx="780187" cy="297211"/>
          </a:xfrm>
          <a:custGeom>
            <a:avLst/>
            <a:gdLst>
              <a:gd name="connsiteX0" fmla="*/ 0 w 2073897"/>
              <a:gd name="connsiteY0" fmla="*/ 537327 h 948998"/>
              <a:gd name="connsiteX1" fmla="*/ 28280 w 2073897"/>
              <a:gd name="connsiteY1" fmla="*/ 480767 h 948998"/>
              <a:gd name="connsiteX2" fmla="*/ 47134 w 2073897"/>
              <a:gd name="connsiteY2" fmla="*/ 443059 h 948998"/>
              <a:gd name="connsiteX3" fmla="*/ 94268 w 2073897"/>
              <a:gd name="connsiteY3" fmla="*/ 348791 h 948998"/>
              <a:gd name="connsiteX4" fmla="*/ 113121 w 2073897"/>
              <a:gd name="connsiteY4" fmla="*/ 405352 h 948998"/>
              <a:gd name="connsiteX5" fmla="*/ 131975 w 2073897"/>
              <a:gd name="connsiteY5" fmla="*/ 433633 h 948998"/>
              <a:gd name="connsiteX6" fmla="*/ 150829 w 2073897"/>
              <a:gd name="connsiteY6" fmla="*/ 490193 h 948998"/>
              <a:gd name="connsiteX7" fmla="*/ 169682 w 2073897"/>
              <a:gd name="connsiteY7" fmla="*/ 452486 h 948998"/>
              <a:gd name="connsiteX8" fmla="*/ 216816 w 2073897"/>
              <a:gd name="connsiteY8" fmla="*/ 367645 h 948998"/>
              <a:gd name="connsiteX9" fmla="*/ 254523 w 2073897"/>
              <a:gd name="connsiteY9" fmla="*/ 292231 h 948998"/>
              <a:gd name="connsiteX10" fmla="*/ 273377 w 2073897"/>
              <a:gd name="connsiteY10" fmla="*/ 216816 h 948998"/>
              <a:gd name="connsiteX11" fmla="*/ 292231 w 2073897"/>
              <a:gd name="connsiteY11" fmla="*/ 188536 h 948998"/>
              <a:gd name="connsiteX12" fmla="*/ 329938 w 2073897"/>
              <a:gd name="connsiteY12" fmla="*/ 179109 h 948998"/>
              <a:gd name="connsiteX13" fmla="*/ 339365 w 2073897"/>
              <a:gd name="connsiteY13" fmla="*/ 150828 h 948998"/>
              <a:gd name="connsiteX14" fmla="*/ 348791 w 2073897"/>
              <a:gd name="connsiteY14" fmla="*/ 113121 h 948998"/>
              <a:gd name="connsiteX15" fmla="*/ 367645 w 2073897"/>
              <a:gd name="connsiteY15" fmla="*/ 75414 h 948998"/>
              <a:gd name="connsiteX16" fmla="*/ 386499 w 2073897"/>
              <a:gd name="connsiteY16" fmla="*/ 0 h 948998"/>
              <a:gd name="connsiteX17" fmla="*/ 452486 w 2073897"/>
              <a:gd name="connsiteY17" fmla="*/ 18853 h 948998"/>
              <a:gd name="connsiteX18" fmla="*/ 518474 w 2073897"/>
              <a:gd name="connsiteY18" fmla="*/ 84841 h 948998"/>
              <a:gd name="connsiteX19" fmla="*/ 546754 w 2073897"/>
              <a:gd name="connsiteY19" fmla="*/ 75414 h 948998"/>
              <a:gd name="connsiteX20" fmla="*/ 603315 w 2073897"/>
              <a:gd name="connsiteY20" fmla="*/ 37707 h 948998"/>
              <a:gd name="connsiteX21" fmla="*/ 622169 w 2073897"/>
              <a:gd name="connsiteY21" fmla="*/ 9426 h 948998"/>
              <a:gd name="connsiteX22" fmla="*/ 641022 w 2073897"/>
              <a:gd name="connsiteY22" fmla="*/ 65987 h 948998"/>
              <a:gd name="connsiteX23" fmla="*/ 659876 w 2073897"/>
              <a:gd name="connsiteY23" fmla="*/ 103694 h 948998"/>
              <a:gd name="connsiteX24" fmla="*/ 678730 w 2073897"/>
              <a:gd name="connsiteY24" fmla="*/ 179109 h 948998"/>
              <a:gd name="connsiteX25" fmla="*/ 688156 w 2073897"/>
              <a:gd name="connsiteY25" fmla="*/ 216816 h 948998"/>
              <a:gd name="connsiteX26" fmla="*/ 707010 w 2073897"/>
              <a:gd name="connsiteY26" fmla="*/ 245097 h 948998"/>
              <a:gd name="connsiteX27" fmla="*/ 716437 w 2073897"/>
              <a:gd name="connsiteY27" fmla="*/ 292231 h 948998"/>
              <a:gd name="connsiteX28" fmla="*/ 744717 w 2073897"/>
              <a:gd name="connsiteY28" fmla="*/ 405352 h 948998"/>
              <a:gd name="connsiteX29" fmla="*/ 763571 w 2073897"/>
              <a:gd name="connsiteY29" fmla="*/ 509047 h 948998"/>
              <a:gd name="connsiteX30" fmla="*/ 782424 w 2073897"/>
              <a:gd name="connsiteY30" fmla="*/ 546754 h 948998"/>
              <a:gd name="connsiteX31" fmla="*/ 791851 w 2073897"/>
              <a:gd name="connsiteY31" fmla="*/ 575035 h 948998"/>
              <a:gd name="connsiteX32" fmla="*/ 810705 w 2073897"/>
              <a:gd name="connsiteY32" fmla="*/ 697583 h 948998"/>
              <a:gd name="connsiteX33" fmla="*/ 829558 w 2073897"/>
              <a:gd name="connsiteY33" fmla="*/ 725864 h 948998"/>
              <a:gd name="connsiteX34" fmla="*/ 838985 w 2073897"/>
              <a:gd name="connsiteY34" fmla="*/ 772998 h 948998"/>
              <a:gd name="connsiteX35" fmla="*/ 848412 w 2073897"/>
              <a:gd name="connsiteY35" fmla="*/ 810705 h 948998"/>
              <a:gd name="connsiteX36" fmla="*/ 867266 w 2073897"/>
              <a:gd name="connsiteY36" fmla="*/ 754144 h 948998"/>
              <a:gd name="connsiteX37" fmla="*/ 886119 w 2073897"/>
              <a:gd name="connsiteY37" fmla="*/ 678730 h 948998"/>
              <a:gd name="connsiteX38" fmla="*/ 914400 w 2073897"/>
              <a:gd name="connsiteY38" fmla="*/ 612742 h 948998"/>
              <a:gd name="connsiteX39" fmla="*/ 952107 w 2073897"/>
              <a:gd name="connsiteY39" fmla="*/ 669303 h 948998"/>
              <a:gd name="connsiteX40" fmla="*/ 961534 w 2073897"/>
              <a:gd name="connsiteY40" fmla="*/ 707010 h 948998"/>
              <a:gd name="connsiteX41" fmla="*/ 989814 w 2073897"/>
              <a:gd name="connsiteY41" fmla="*/ 716437 h 948998"/>
              <a:gd name="connsiteX42" fmla="*/ 1008668 w 2073897"/>
              <a:gd name="connsiteY42" fmla="*/ 820132 h 948998"/>
              <a:gd name="connsiteX43" fmla="*/ 1027521 w 2073897"/>
              <a:gd name="connsiteY43" fmla="*/ 857839 h 948998"/>
              <a:gd name="connsiteX44" fmla="*/ 1046375 w 2073897"/>
              <a:gd name="connsiteY44" fmla="*/ 933253 h 948998"/>
              <a:gd name="connsiteX45" fmla="*/ 1074655 w 2073897"/>
              <a:gd name="connsiteY45" fmla="*/ 801278 h 948998"/>
              <a:gd name="connsiteX46" fmla="*/ 1102936 w 2073897"/>
              <a:gd name="connsiteY46" fmla="*/ 725864 h 948998"/>
              <a:gd name="connsiteX47" fmla="*/ 1159497 w 2073897"/>
              <a:gd name="connsiteY47" fmla="*/ 735290 h 948998"/>
              <a:gd name="connsiteX48" fmla="*/ 1168923 w 2073897"/>
              <a:gd name="connsiteY48" fmla="*/ 707010 h 948998"/>
              <a:gd name="connsiteX49" fmla="*/ 1187777 w 2073897"/>
              <a:gd name="connsiteY49" fmla="*/ 678730 h 948998"/>
              <a:gd name="connsiteX50" fmla="*/ 1216057 w 2073897"/>
              <a:gd name="connsiteY50" fmla="*/ 603315 h 948998"/>
              <a:gd name="connsiteX51" fmla="*/ 1244338 w 2073897"/>
              <a:gd name="connsiteY51" fmla="*/ 593888 h 948998"/>
              <a:gd name="connsiteX52" fmla="*/ 1272618 w 2073897"/>
              <a:gd name="connsiteY52" fmla="*/ 527901 h 948998"/>
              <a:gd name="connsiteX53" fmla="*/ 1282045 w 2073897"/>
              <a:gd name="connsiteY53" fmla="*/ 499620 h 948998"/>
              <a:gd name="connsiteX54" fmla="*/ 1310325 w 2073897"/>
              <a:gd name="connsiteY54" fmla="*/ 490193 h 948998"/>
              <a:gd name="connsiteX55" fmla="*/ 1319752 w 2073897"/>
              <a:gd name="connsiteY55" fmla="*/ 518474 h 948998"/>
              <a:gd name="connsiteX56" fmla="*/ 1366886 w 2073897"/>
              <a:gd name="connsiteY56" fmla="*/ 499620 h 948998"/>
              <a:gd name="connsiteX57" fmla="*/ 1404594 w 2073897"/>
              <a:gd name="connsiteY57" fmla="*/ 443059 h 948998"/>
              <a:gd name="connsiteX58" fmla="*/ 1480008 w 2073897"/>
              <a:gd name="connsiteY58" fmla="*/ 433633 h 948998"/>
              <a:gd name="connsiteX59" fmla="*/ 1489435 w 2073897"/>
              <a:gd name="connsiteY59" fmla="*/ 405352 h 948998"/>
              <a:gd name="connsiteX60" fmla="*/ 1545996 w 2073897"/>
              <a:gd name="connsiteY60" fmla="*/ 320511 h 948998"/>
              <a:gd name="connsiteX61" fmla="*/ 1555422 w 2073897"/>
              <a:gd name="connsiteY61" fmla="*/ 292231 h 948998"/>
              <a:gd name="connsiteX62" fmla="*/ 1574276 w 2073897"/>
              <a:gd name="connsiteY62" fmla="*/ 245097 h 948998"/>
              <a:gd name="connsiteX63" fmla="*/ 1583703 w 2073897"/>
              <a:gd name="connsiteY63" fmla="*/ 197963 h 948998"/>
              <a:gd name="connsiteX64" fmla="*/ 1602556 w 2073897"/>
              <a:gd name="connsiteY64" fmla="*/ 160255 h 948998"/>
              <a:gd name="connsiteX65" fmla="*/ 1611983 w 2073897"/>
              <a:gd name="connsiteY65" fmla="*/ 131975 h 948998"/>
              <a:gd name="connsiteX66" fmla="*/ 1621410 w 2073897"/>
              <a:gd name="connsiteY66" fmla="*/ 273377 h 948998"/>
              <a:gd name="connsiteX67" fmla="*/ 1640264 w 2073897"/>
              <a:gd name="connsiteY67" fmla="*/ 301657 h 948998"/>
              <a:gd name="connsiteX68" fmla="*/ 1649690 w 2073897"/>
              <a:gd name="connsiteY68" fmla="*/ 339365 h 948998"/>
              <a:gd name="connsiteX69" fmla="*/ 1696824 w 2073897"/>
              <a:gd name="connsiteY69" fmla="*/ 301657 h 948998"/>
              <a:gd name="connsiteX70" fmla="*/ 1734532 w 2073897"/>
              <a:gd name="connsiteY70" fmla="*/ 329938 h 948998"/>
              <a:gd name="connsiteX71" fmla="*/ 1753385 w 2073897"/>
              <a:gd name="connsiteY71" fmla="*/ 254523 h 948998"/>
              <a:gd name="connsiteX72" fmla="*/ 1772239 w 2073897"/>
              <a:gd name="connsiteY72" fmla="*/ 197963 h 948998"/>
              <a:gd name="connsiteX73" fmla="*/ 1781666 w 2073897"/>
              <a:gd name="connsiteY73" fmla="*/ 131975 h 948998"/>
              <a:gd name="connsiteX74" fmla="*/ 1819373 w 2073897"/>
              <a:gd name="connsiteY74" fmla="*/ 160255 h 948998"/>
              <a:gd name="connsiteX75" fmla="*/ 1857080 w 2073897"/>
              <a:gd name="connsiteY75" fmla="*/ 207389 h 948998"/>
              <a:gd name="connsiteX76" fmla="*/ 1866507 w 2073897"/>
              <a:gd name="connsiteY76" fmla="*/ 235670 h 948998"/>
              <a:gd name="connsiteX77" fmla="*/ 1904214 w 2073897"/>
              <a:gd name="connsiteY77" fmla="*/ 245097 h 948998"/>
              <a:gd name="connsiteX78" fmla="*/ 1932495 w 2073897"/>
              <a:gd name="connsiteY78" fmla="*/ 273377 h 948998"/>
              <a:gd name="connsiteX79" fmla="*/ 1989055 w 2073897"/>
              <a:gd name="connsiteY79" fmla="*/ 395925 h 948998"/>
              <a:gd name="connsiteX80" fmla="*/ 1998482 w 2073897"/>
              <a:gd name="connsiteY80" fmla="*/ 433633 h 948998"/>
              <a:gd name="connsiteX81" fmla="*/ 2026763 w 2073897"/>
              <a:gd name="connsiteY81" fmla="*/ 452486 h 948998"/>
              <a:gd name="connsiteX82" fmla="*/ 2045616 w 2073897"/>
              <a:gd name="connsiteY82" fmla="*/ 509047 h 948998"/>
              <a:gd name="connsiteX83" fmla="*/ 2055043 w 2073897"/>
              <a:gd name="connsiteY83" fmla="*/ 537327 h 948998"/>
              <a:gd name="connsiteX84" fmla="*/ 2073897 w 2073897"/>
              <a:gd name="connsiteY84" fmla="*/ 537327 h 948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2073897" h="948998">
                <a:moveTo>
                  <a:pt x="0" y="537327"/>
                </a:moveTo>
                <a:cubicBezTo>
                  <a:pt x="36231" y="482979"/>
                  <a:pt x="4863" y="535406"/>
                  <a:pt x="28280" y="480767"/>
                </a:cubicBezTo>
                <a:cubicBezTo>
                  <a:pt x="33816" y="467850"/>
                  <a:pt x="42690" y="456391"/>
                  <a:pt x="47134" y="443059"/>
                </a:cubicBezTo>
                <a:cubicBezTo>
                  <a:pt x="77993" y="350481"/>
                  <a:pt x="40379" y="384717"/>
                  <a:pt x="94268" y="348791"/>
                </a:cubicBezTo>
                <a:cubicBezTo>
                  <a:pt x="100552" y="367645"/>
                  <a:pt x="102097" y="388816"/>
                  <a:pt x="113121" y="405352"/>
                </a:cubicBezTo>
                <a:cubicBezTo>
                  <a:pt x="119406" y="414779"/>
                  <a:pt x="127373" y="423280"/>
                  <a:pt x="131975" y="433633"/>
                </a:cubicBezTo>
                <a:cubicBezTo>
                  <a:pt x="140046" y="451793"/>
                  <a:pt x="150829" y="490193"/>
                  <a:pt x="150829" y="490193"/>
                </a:cubicBezTo>
                <a:cubicBezTo>
                  <a:pt x="157113" y="477624"/>
                  <a:pt x="165238" y="465817"/>
                  <a:pt x="169682" y="452486"/>
                </a:cubicBezTo>
                <a:cubicBezTo>
                  <a:pt x="198919" y="364774"/>
                  <a:pt x="160897" y="386285"/>
                  <a:pt x="216816" y="367645"/>
                </a:cubicBezTo>
                <a:cubicBezTo>
                  <a:pt x="229385" y="342507"/>
                  <a:pt x="249011" y="319790"/>
                  <a:pt x="254523" y="292231"/>
                </a:cubicBezTo>
                <a:cubicBezTo>
                  <a:pt x="258108" y="274305"/>
                  <a:pt x="263715" y="236140"/>
                  <a:pt x="273377" y="216816"/>
                </a:cubicBezTo>
                <a:cubicBezTo>
                  <a:pt x="278444" y="206683"/>
                  <a:pt x="282804" y="194820"/>
                  <a:pt x="292231" y="188536"/>
                </a:cubicBezTo>
                <a:cubicBezTo>
                  <a:pt x="303011" y="181349"/>
                  <a:pt x="317369" y="182251"/>
                  <a:pt x="329938" y="179109"/>
                </a:cubicBezTo>
                <a:cubicBezTo>
                  <a:pt x="333080" y="169682"/>
                  <a:pt x="336635" y="160383"/>
                  <a:pt x="339365" y="150828"/>
                </a:cubicBezTo>
                <a:cubicBezTo>
                  <a:pt x="342924" y="138371"/>
                  <a:pt x="344242" y="125252"/>
                  <a:pt x="348791" y="113121"/>
                </a:cubicBezTo>
                <a:cubicBezTo>
                  <a:pt x="353725" y="99963"/>
                  <a:pt x="363201" y="88745"/>
                  <a:pt x="367645" y="75414"/>
                </a:cubicBezTo>
                <a:cubicBezTo>
                  <a:pt x="375839" y="50832"/>
                  <a:pt x="386499" y="0"/>
                  <a:pt x="386499" y="0"/>
                </a:cubicBezTo>
                <a:cubicBezTo>
                  <a:pt x="408495" y="6284"/>
                  <a:pt x="433985" y="5398"/>
                  <a:pt x="452486" y="18853"/>
                </a:cubicBezTo>
                <a:cubicBezTo>
                  <a:pt x="580485" y="111942"/>
                  <a:pt x="431520" y="55855"/>
                  <a:pt x="518474" y="84841"/>
                </a:cubicBezTo>
                <a:cubicBezTo>
                  <a:pt x="527901" y="81699"/>
                  <a:pt x="538486" y="80926"/>
                  <a:pt x="546754" y="75414"/>
                </a:cubicBezTo>
                <a:cubicBezTo>
                  <a:pt x="617367" y="28339"/>
                  <a:pt x="536072" y="60122"/>
                  <a:pt x="603315" y="37707"/>
                </a:cubicBezTo>
                <a:cubicBezTo>
                  <a:pt x="609600" y="28280"/>
                  <a:pt x="613105" y="2628"/>
                  <a:pt x="622169" y="9426"/>
                </a:cubicBezTo>
                <a:cubicBezTo>
                  <a:pt x="638068" y="21350"/>
                  <a:pt x="632134" y="48212"/>
                  <a:pt x="641022" y="65987"/>
                </a:cubicBezTo>
                <a:lnTo>
                  <a:pt x="659876" y="103694"/>
                </a:lnTo>
                <a:lnTo>
                  <a:pt x="678730" y="179109"/>
                </a:lnTo>
                <a:cubicBezTo>
                  <a:pt x="681872" y="191678"/>
                  <a:pt x="680969" y="206036"/>
                  <a:pt x="688156" y="216816"/>
                </a:cubicBezTo>
                <a:lnTo>
                  <a:pt x="707010" y="245097"/>
                </a:lnTo>
                <a:cubicBezTo>
                  <a:pt x="710152" y="260808"/>
                  <a:pt x="712767" y="276634"/>
                  <a:pt x="716437" y="292231"/>
                </a:cubicBezTo>
                <a:cubicBezTo>
                  <a:pt x="725339" y="330065"/>
                  <a:pt x="739220" y="366875"/>
                  <a:pt x="744717" y="405352"/>
                </a:cubicBezTo>
                <a:cubicBezTo>
                  <a:pt x="748158" y="429442"/>
                  <a:pt x="753313" y="481693"/>
                  <a:pt x="763571" y="509047"/>
                </a:cubicBezTo>
                <a:cubicBezTo>
                  <a:pt x="768505" y="522205"/>
                  <a:pt x="776889" y="533838"/>
                  <a:pt x="782424" y="546754"/>
                </a:cubicBezTo>
                <a:cubicBezTo>
                  <a:pt x="786338" y="555888"/>
                  <a:pt x="788709" y="565608"/>
                  <a:pt x="791851" y="575035"/>
                </a:cubicBezTo>
                <a:cubicBezTo>
                  <a:pt x="793744" y="592071"/>
                  <a:pt x="798459" y="669007"/>
                  <a:pt x="810705" y="697583"/>
                </a:cubicBezTo>
                <a:cubicBezTo>
                  <a:pt x="815168" y="707997"/>
                  <a:pt x="823274" y="716437"/>
                  <a:pt x="829558" y="725864"/>
                </a:cubicBezTo>
                <a:cubicBezTo>
                  <a:pt x="832700" y="741575"/>
                  <a:pt x="835509" y="757357"/>
                  <a:pt x="838985" y="772998"/>
                </a:cubicBezTo>
                <a:cubicBezTo>
                  <a:pt x="841796" y="785645"/>
                  <a:pt x="837632" y="817892"/>
                  <a:pt x="848412" y="810705"/>
                </a:cubicBezTo>
                <a:cubicBezTo>
                  <a:pt x="864948" y="799681"/>
                  <a:pt x="861806" y="773253"/>
                  <a:pt x="867266" y="754144"/>
                </a:cubicBezTo>
                <a:cubicBezTo>
                  <a:pt x="874384" y="729229"/>
                  <a:pt x="874531" y="701906"/>
                  <a:pt x="886119" y="678730"/>
                </a:cubicBezTo>
                <a:cubicBezTo>
                  <a:pt x="909417" y="632134"/>
                  <a:pt x="900529" y="654354"/>
                  <a:pt x="914400" y="612742"/>
                </a:cubicBezTo>
                <a:cubicBezTo>
                  <a:pt x="926969" y="631596"/>
                  <a:pt x="946611" y="647320"/>
                  <a:pt x="952107" y="669303"/>
                </a:cubicBezTo>
                <a:cubicBezTo>
                  <a:pt x="955249" y="681872"/>
                  <a:pt x="953441" y="696893"/>
                  <a:pt x="961534" y="707010"/>
                </a:cubicBezTo>
                <a:cubicBezTo>
                  <a:pt x="967741" y="714769"/>
                  <a:pt x="980387" y="713295"/>
                  <a:pt x="989814" y="716437"/>
                </a:cubicBezTo>
                <a:cubicBezTo>
                  <a:pt x="993255" y="740525"/>
                  <a:pt x="998411" y="792779"/>
                  <a:pt x="1008668" y="820132"/>
                </a:cubicBezTo>
                <a:cubicBezTo>
                  <a:pt x="1013602" y="833290"/>
                  <a:pt x="1023077" y="844508"/>
                  <a:pt x="1027521" y="857839"/>
                </a:cubicBezTo>
                <a:cubicBezTo>
                  <a:pt x="1035715" y="882421"/>
                  <a:pt x="1046375" y="933253"/>
                  <a:pt x="1046375" y="933253"/>
                </a:cubicBezTo>
                <a:cubicBezTo>
                  <a:pt x="1088714" y="785070"/>
                  <a:pt x="1045112" y="948998"/>
                  <a:pt x="1074655" y="801278"/>
                </a:cubicBezTo>
                <a:cubicBezTo>
                  <a:pt x="1077610" y="786502"/>
                  <a:pt x="1100526" y="731889"/>
                  <a:pt x="1102936" y="725864"/>
                </a:cubicBezTo>
                <a:cubicBezTo>
                  <a:pt x="1121790" y="729006"/>
                  <a:pt x="1141119" y="740541"/>
                  <a:pt x="1159497" y="735290"/>
                </a:cubicBezTo>
                <a:cubicBezTo>
                  <a:pt x="1169051" y="732560"/>
                  <a:pt x="1164479" y="715897"/>
                  <a:pt x="1168923" y="707010"/>
                </a:cubicBezTo>
                <a:cubicBezTo>
                  <a:pt x="1173990" y="696877"/>
                  <a:pt x="1181492" y="688157"/>
                  <a:pt x="1187777" y="678730"/>
                </a:cubicBezTo>
                <a:cubicBezTo>
                  <a:pt x="1193037" y="657690"/>
                  <a:pt x="1199626" y="619746"/>
                  <a:pt x="1216057" y="603315"/>
                </a:cubicBezTo>
                <a:cubicBezTo>
                  <a:pt x="1223083" y="596289"/>
                  <a:pt x="1234911" y="597030"/>
                  <a:pt x="1244338" y="593888"/>
                </a:cubicBezTo>
                <a:cubicBezTo>
                  <a:pt x="1266447" y="527562"/>
                  <a:pt x="1237670" y="609447"/>
                  <a:pt x="1272618" y="527901"/>
                </a:cubicBezTo>
                <a:cubicBezTo>
                  <a:pt x="1276532" y="518767"/>
                  <a:pt x="1275019" y="506647"/>
                  <a:pt x="1282045" y="499620"/>
                </a:cubicBezTo>
                <a:cubicBezTo>
                  <a:pt x="1289071" y="492594"/>
                  <a:pt x="1300898" y="493335"/>
                  <a:pt x="1310325" y="490193"/>
                </a:cubicBezTo>
                <a:cubicBezTo>
                  <a:pt x="1313467" y="499620"/>
                  <a:pt x="1312726" y="511448"/>
                  <a:pt x="1319752" y="518474"/>
                </a:cubicBezTo>
                <a:cubicBezTo>
                  <a:pt x="1346547" y="545269"/>
                  <a:pt x="1356470" y="520452"/>
                  <a:pt x="1366886" y="499620"/>
                </a:cubicBezTo>
                <a:cubicBezTo>
                  <a:pt x="1378631" y="476129"/>
                  <a:pt x="1371833" y="454972"/>
                  <a:pt x="1404594" y="443059"/>
                </a:cubicBezTo>
                <a:cubicBezTo>
                  <a:pt x="1428402" y="434401"/>
                  <a:pt x="1454870" y="436775"/>
                  <a:pt x="1480008" y="433633"/>
                </a:cubicBezTo>
                <a:cubicBezTo>
                  <a:pt x="1483150" y="424206"/>
                  <a:pt x="1484428" y="413935"/>
                  <a:pt x="1489435" y="405352"/>
                </a:cubicBezTo>
                <a:cubicBezTo>
                  <a:pt x="1506561" y="375993"/>
                  <a:pt x="1545996" y="320511"/>
                  <a:pt x="1545996" y="320511"/>
                </a:cubicBezTo>
                <a:cubicBezTo>
                  <a:pt x="1549138" y="311084"/>
                  <a:pt x="1551933" y="301535"/>
                  <a:pt x="1555422" y="292231"/>
                </a:cubicBezTo>
                <a:cubicBezTo>
                  <a:pt x="1561364" y="276387"/>
                  <a:pt x="1569413" y="261305"/>
                  <a:pt x="1574276" y="245097"/>
                </a:cubicBezTo>
                <a:cubicBezTo>
                  <a:pt x="1578880" y="229750"/>
                  <a:pt x="1578636" y="213163"/>
                  <a:pt x="1583703" y="197963"/>
                </a:cubicBezTo>
                <a:cubicBezTo>
                  <a:pt x="1588147" y="184631"/>
                  <a:pt x="1597020" y="173172"/>
                  <a:pt x="1602556" y="160255"/>
                </a:cubicBezTo>
                <a:cubicBezTo>
                  <a:pt x="1606470" y="151122"/>
                  <a:pt x="1608841" y="141402"/>
                  <a:pt x="1611983" y="131975"/>
                </a:cubicBezTo>
                <a:cubicBezTo>
                  <a:pt x="1615125" y="179109"/>
                  <a:pt x="1613644" y="226781"/>
                  <a:pt x="1621410" y="273377"/>
                </a:cubicBezTo>
                <a:cubicBezTo>
                  <a:pt x="1623273" y="284552"/>
                  <a:pt x="1635801" y="291243"/>
                  <a:pt x="1640264" y="301657"/>
                </a:cubicBezTo>
                <a:cubicBezTo>
                  <a:pt x="1645368" y="313566"/>
                  <a:pt x="1646548" y="326796"/>
                  <a:pt x="1649690" y="339365"/>
                </a:cubicBezTo>
                <a:cubicBezTo>
                  <a:pt x="1658629" y="325957"/>
                  <a:pt x="1671326" y="294372"/>
                  <a:pt x="1696824" y="301657"/>
                </a:cubicBezTo>
                <a:cubicBezTo>
                  <a:pt x="1711931" y="305973"/>
                  <a:pt x="1721963" y="320511"/>
                  <a:pt x="1734532" y="329938"/>
                </a:cubicBezTo>
                <a:cubicBezTo>
                  <a:pt x="1740816" y="304800"/>
                  <a:pt x="1746266" y="279438"/>
                  <a:pt x="1753385" y="254523"/>
                </a:cubicBezTo>
                <a:cubicBezTo>
                  <a:pt x="1758845" y="235414"/>
                  <a:pt x="1767770" y="217327"/>
                  <a:pt x="1772239" y="197963"/>
                </a:cubicBezTo>
                <a:cubicBezTo>
                  <a:pt x="1777235" y="176313"/>
                  <a:pt x="1778524" y="153971"/>
                  <a:pt x="1781666" y="131975"/>
                </a:cubicBezTo>
                <a:cubicBezTo>
                  <a:pt x="1794235" y="141402"/>
                  <a:pt x="1809315" y="148185"/>
                  <a:pt x="1819373" y="160255"/>
                </a:cubicBezTo>
                <a:cubicBezTo>
                  <a:pt x="1876289" y="228554"/>
                  <a:pt x="1770473" y="149652"/>
                  <a:pt x="1857080" y="207389"/>
                </a:cubicBezTo>
                <a:cubicBezTo>
                  <a:pt x="1860222" y="216816"/>
                  <a:pt x="1858748" y="229462"/>
                  <a:pt x="1866507" y="235670"/>
                </a:cubicBezTo>
                <a:cubicBezTo>
                  <a:pt x="1876624" y="243764"/>
                  <a:pt x="1892965" y="238669"/>
                  <a:pt x="1904214" y="245097"/>
                </a:cubicBezTo>
                <a:cubicBezTo>
                  <a:pt x="1915789" y="251711"/>
                  <a:pt x="1923960" y="263135"/>
                  <a:pt x="1932495" y="273377"/>
                </a:cubicBezTo>
                <a:cubicBezTo>
                  <a:pt x="1958572" y="304669"/>
                  <a:pt x="1981638" y="366258"/>
                  <a:pt x="1989055" y="395925"/>
                </a:cubicBezTo>
                <a:cubicBezTo>
                  <a:pt x="1992197" y="408494"/>
                  <a:pt x="1991295" y="422853"/>
                  <a:pt x="1998482" y="433633"/>
                </a:cubicBezTo>
                <a:cubicBezTo>
                  <a:pt x="2004767" y="443060"/>
                  <a:pt x="2017336" y="446202"/>
                  <a:pt x="2026763" y="452486"/>
                </a:cubicBezTo>
                <a:lnTo>
                  <a:pt x="2045616" y="509047"/>
                </a:lnTo>
                <a:cubicBezTo>
                  <a:pt x="2048758" y="518474"/>
                  <a:pt x="2045106" y="537327"/>
                  <a:pt x="2055043" y="537327"/>
                </a:cubicBezTo>
                <a:lnTo>
                  <a:pt x="2073897" y="537327"/>
                </a:lnTo>
              </a:path>
            </a:pathLst>
          </a:cu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23" name="Freeform 122"/>
          <p:cNvSpPr/>
          <p:nvPr/>
        </p:nvSpPr>
        <p:spPr bwMode="auto">
          <a:xfrm>
            <a:off x="7019136" y="4844802"/>
            <a:ext cx="893806" cy="321461"/>
          </a:xfrm>
          <a:custGeom>
            <a:avLst/>
            <a:gdLst>
              <a:gd name="connsiteX0" fmla="*/ 0 w 1800519"/>
              <a:gd name="connsiteY0" fmla="*/ 575036 h 857840"/>
              <a:gd name="connsiteX1" fmla="*/ 28280 w 1800519"/>
              <a:gd name="connsiteY1" fmla="*/ 725864 h 857840"/>
              <a:gd name="connsiteX2" fmla="*/ 37707 w 1800519"/>
              <a:gd name="connsiteY2" fmla="*/ 763572 h 857840"/>
              <a:gd name="connsiteX3" fmla="*/ 75414 w 1800519"/>
              <a:gd name="connsiteY3" fmla="*/ 829559 h 857840"/>
              <a:gd name="connsiteX4" fmla="*/ 84841 w 1800519"/>
              <a:gd name="connsiteY4" fmla="*/ 857840 h 857840"/>
              <a:gd name="connsiteX5" fmla="*/ 179109 w 1800519"/>
              <a:gd name="connsiteY5" fmla="*/ 838986 h 857840"/>
              <a:gd name="connsiteX6" fmla="*/ 188536 w 1800519"/>
              <a:gd name="connsiteY6" fmla="*/ 791852 h 857840"/>
              <a:gd name="connsiteX7" fmla="*/ 197963 w 1800519"/>
              <a:gd name="connsiteY7" fmla="*/ 763572 h 857840"/>
              <a:gd name="connsiteX8" fmla="*/ 207389 w 1800519"/>
              <a:gd name="connsiteY8" fmla="*/ 725864 h 857840"/>
              <a:gd name="connsiteX9" fmla="*/ 226243 w 1800519"/>
              <a:gd name="connsiteY9" fmla="*/ 688157 h 857840"/>
              <a:gd name="connsiteX10" fmla="*/ 245097 w 1800519"/>
              <a:gd name="connsiteY10" fmla="*/ 565609 h 857840"/>
              <a:gd name="connsiteX11" fmla="*/ 263950 w 1800519"/>
              <a:gd name="connsiteY11" fmla="*/ 537328 h 857840"/>
              <a:gd name="connsiteX12" fmla="*/ 282804 w 1800519"/>
              <a:gd name="connsiteY12" fmla="*/ 461914 h 857840"/>
              <a:gd name="connsiteX13" fmla="*/ 301657 w 1800519"/>
              <a:gd name="connsiteY13" fmla="*/ 414780 h 857840"/>
              <a:gd name="connsiteX14" fmla="*/ 348791 w 1800519"/>
              <a:gd name="connsiteY14" fmla="*/ 329939 h 857840"/>
              <a:gd name="connsiteX15" fmla="*/ 386499 w 1800519"/>
              <a:gd name="connsiteY15" fmla="*/ 386499 h 857840"/>
              <a:gd name="connsiteX16" fmla="*/ 414779 w 1800519"/>
              <a:gd name="connsiteY16" fmla="*/ 509048 h 857840"/>
              <a:gd name="connsiteX17" fmla="*/ 443060 w 1800519"/>
              <a:gd name="connsiteY17" fmla="*/ 546755 h 857840"/>
              <a:gd name="connsiteX18" fmla="*/ 452486 w 1800519"/>
              <a:gd name="connsiteY18" fmla="*/ 593889 h 857840"/>
              <a:gd name="connsiteX19" fmla="*/ 471340 w 1800519"/>
              <a:gd name="connsiteY19" fmla="*/ 631596 h 857840"/>
              <a:gd name="connsiteX20" fmla="*/ 490194 w 1800519"/>
              <a:gd name="connsiteY20" fmla="*/ 688157 h 857840"/>
              <a:gd name="connsiteX21" fmla="*/ 499620 w 1800519"/>
              <a:gd name="connsiteY21" fmla="*/ 716438 h 857840"/>
              <a:gd name="connsiteX22" fmla="*/ 556181 w 1800519"/>
              <a:gd name="connsiteY22" fmla="*/ 735291 h 857840"/>
              <a:gd name="connsiteX23" fmla="*/ 603315 w 1800519"/>
              <a:gd name="connsiteY23" fmla="*/ 725864 h 857840"/>
              <a:gd name="connsiteX24" fmla="*/ 631596 w 1800519"/>
              <a:gd name="connsiteY24" fmla="*/ 688157 h 857840"/>
              <a:gd name="connsiteX25" fmla="*/ 688156 w 1800519"/>
              <a:gd name="connsiteY25" fmla="*/ 584462 h 857840"/>
              <a:gd name="connsiteX26" fmla="*/ 716437 w 1800519"/>
              <a:gd name="connsiteY26" fmla="*/ 546755 h 857840"/>
              <a:gd name="connsiteX27" fmla="*/ 744717 w 1800519"/>
              <a:gd name="connsiteY27" fmla="*/ 490194 h 857840"/>
              <a:gd name="connsiteX28" fmla="*/ 782424 w 1800519"/>
              <a:gd name="connsiteY28" fmla="*/ 480767 h 857840"/>
              <a:gd name="connsiteX29" fmla="*/ 810705 w 1800519"/>
              <a:gd name="connsiteY29" fmla="*/ 443060 h 857840"/>
              <a:gd name="connsiteX30" fmla="*/ 829558 w 1800519"/>
              <a:gd name="connsiteY30" fmla="*/ 386499 h 857840"/>
              <a:gd name="connsiteX31" fmla="*/ 867266 w 1800519"/>
              <a:gd name="connsiteY31" fmla="*/ 348792 h 857840"/>
              <a:gd name="connsiteX32" fmla="*/ 923827 w 1800519"/>
              <a:gd name="connsiteY32" fmla="*/ 273378 h 857840"/>
              <a:gd name="connsiteX33" fmla="*/ 933253 w 1800519"/>
              <a:gd name="connsiteY33" fmla="*/ 245097 h 857840"/>
              <a:gd name="connsiteX34" fmla="*/ 961534 w 1800519"/>
              <a:gd name="connsiteY34" fmla="*/ 179110 h 857840"/>
              <a:gd name="connsiteX35" fmla="*/ 1008668 w 1800519"/>
              <a:gd name="connsiteY35" fmla="*/ 18854 h 857840"/>
              <a:gd name="connsiteX36" fmla="*/ 1074655 w 1800519"/>
              <a:gd name="connsiteY36" fmla="*/ 0 h 857840"/>
              <a:gd name="connsiteX37" fmla="*/ 1084082 w 1800519"/>
              <a:gd name="connsiteY37" fmla="*/ 37708 h 857840"/>
              <a:gd name="connsiteX38" fmla="*/ 1112363 w 1800519"/>
              <a:gd name="connsiteY38" fmla="*/ 113122 h 857840"/>
              <a:gd name="connsiteX39" fmla="*/ 1121789 w 1800519"/>
              <a:gd name="connsiteY39" fmla="*/ 216817 h 857840"/>
              <a:gd name="connsiteX40" fmla="*/ 1131216 w 1800519"/>
              <a:gd name="connsiteY40" fmla="*/ 424207 h 857840"/>
              <a:gd name="connsiteX41" fmla="*/ 1150070 w 1800519"/>
              <a:gd name="connsiteY41" fmla="*/ 490194 h 857840"/>
              <a:gd name="connsiteX42" fmla="*/ 1168923 w 1800519"/>
              <a:gd name="connsiteY42" fmla="*/ 556182 h 857840"/>
              <a:gd name="connsiteX43" fmla="*/ 1187777 w 1800519"/>
              <a:gd name="connsiteY43" fmla="*/ 593889 h 857840"/>
              <a:gd name="connsiteX44" fmla="*/ 1197204 w 1800519"/>
              <a:gd name="connsiteY44" fmla="*/ 622170 h 857840"/>
              <a:gd name="connsiteX45" fmla="*/ 1206631 w 1800519"/>
              <a:gd name="connsiteY45" fmla="*/ 659877 h 857840"/>
              <a:gd name="connsiteX46" fmla="*/ 1244338 w 1800519"/>
              <a:gd name="connsiteY46" fmla="*/ 707011 h 857840"/>
              <a:gd name="connsiteX47" fmla="*/ 1263191 w 1800519"/>
              <a:gd name="connsiteY47" fmla="*/ 744718 h 857840"/>
              <a:gd name="connsiteX48" fmla="*/ 1272618 w 1800519"/>
              <a:gd name="connsiteY48" fmla="*/ 772998 h 857840"/>
              <a:gd name="connsiteX49" fmla="*/ 1329179 w 1800519"/>
              <a:gd name="connsiteY49" fmla="*/ 791852 h 857840"/>
              <a:gd name="connsiteX50" fmla="*/ 1385740 w 1800519"/>
              <a:gd name="connsiteY50" fmla="*/ 820132 h 857840"/>
              <a:gd name="connsiteX51" fmla="*/ 1414020 w 1800519"/>
              <a:gd name="connsiteY51" fmla="*/ 810706 h 857840"/>
              <a:gd name="connsiteX52" fmla="*/ 1461154 w 1800519"/>
              <a:gd name="connsiteY52" fmla="*/ 725864 h 857840"/>
              <a:gd name="connsiteX53" fmla="*/ 1470581 w 1800519"/>
              <a:gd name="connsiteY53" fmla="*/ 697584 h 857840"/>
              <a:gd name="connsiteX54" fmla="*/ 1498862 w 1800519"/>
              <a:gd name="connsiteY54" fmla="*/ 669304 h 857840"/>
              <a:gd name="connsiteX55" fmla="*/ 1536569 w 1800519"/>
              <a:gd name="connsiteY55" fmla="*/ 556182 h 857840"/>
              <a:gd name="connsiteX56" fmla="*/ 1555422 w 1800519"/>
              <a:gd name="connsiteY56" fmla="*/ 527902 h 857840"/>
              <a:gd name="connsiteX57" fmla="*/ 1583703 w 1800519"/>
              <a:gd name="connsiteY57" fmla="*/ 471341 h 857840"/>
              <a:gd name="connsiteX58" fmla="*/ 1611983 w 1800519"/>
              <a:gd name="connsiteY58" fmla="*/ 499621 h 857840"/>
              <a:gd name="connsiteX59" fmla="*/ 1630837 w 1800519"/>
              <a:gd name="connsiteY59" fmla="*/ 527902 h 857840"/>
              <a:gd name="connsiteX60" fmla="*/ 1706251 w 1800519"/>
              <a:gd name="connsiteY60" fmla="*/ 565609 h 857840"/>
              <a:gd name="connsiteX61" fmla="*/ 1734532 w 1800519"/>
              <a:gd name="connsiteY61" fmla="*/ 584462 h 857840"/>
              <a:gd name="connsiteX62" fmla="*/ 1762812 w 1800519"/>
              <a:gd name="connsiteY62" fmla="*/ 575036 h 857840"/>
              <a:gd name="connsiteX63" fmla="*/ 1791093 w 1800519"/>
              <a:gd name="connsiteY63" fmla="*/ 537328 h 857840"/>
              <a:gd name="connsiteX64" fmla="*/ 1800519 w 1800519"/>
              <a:gd name="connsiteY64" fmla="*/ 527902 h 857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800519" h="857840">
                <a:moveTo>
                  <a:pt x="0" y="575036"/>
                </a:moveTo>
                <a:cubicBezTo>
                  <a:pt x="35960" y="808782"/>
                  <a:pt x="2033" y="634002"/>
                  <a:pt x="28280" y="725864"/>
                </a:cubicBezTo>
                <a:cubicBezTo>
                  <a:pt x="31839" y="738322"/>
                  <a:pt x="33158" y="751441"/>
                  <a:pt x="37707" y="763572"/>
                </a:cubicBezTo>
                <a:cubicBezTo>
                  <a:pt x="62497" y="829677"/>
                  <a:pt x="48065" y="774861"/>
                  <a:pt x="75414" y="829559"/>
                </a:cubicBezTo>
                <a:cubicBezTo>
                  <a:pt x="79858" y="838447"/>
                  <a:pt x="81699" y="848413"/>
                  <a:pt x="84841" y="857840"/>
                </a:cubicBezTo>
                <a:cubicBezTo>
                  <a:pt x="116264" y="851555"/>
                  <a:pt x="152074" y="856190"/>
                  <a:pt x="179109" y="838986"/>
                </a:cubicBezTo>
                <a:cubicBezTo>
                  <a:pt x="192627" y="830384"/>
                  <a:pt x="184650" y="807396"/>
                  <a:pt x="188536" y="791852"/>
                </a:cubicBezTo>
                <a:cubicBezTo>
                  <a:pt x="190946" y="782212"/>
                  <a:pt x="195233" y="773126"/>
                  <a:pt x="197963" y="763572"/>
                </a:cubicBezTo>
                <a:cubicBezTo>
                  <a:pt x="201522" y="751114"/>
                  <a:pt x="202840" y="737995"/>
                  <a:pt x="207389" y="725864"/>
                </a:cubicBezTo>
                <a:cubicBezTo>
                  <a:pt x="212323" y="712706"/>
                  <a:pt x="219958" y="700726"/>
                  <a:pt x="226243" y="688157"/>
                </a:cubicBezTo>
                <a:cubicBezTo>
                  <a:pt x="227700" y="676504"/>
                  <a:pt x="236999" y="587203"/>
                  <a:pt x="245097" y="565609"/>
                </a:cubicBezTo>
                <a:cubicBezTo>
                  <a:pt x="249075" y="555001"/>
                  <a:pt x="257666" y="546755"/>
                  <a:pt x="263950" y="537328"/>
                </a:cubicBezTo>
                <a:cubicBezTo>
                  <a:pt x="270235" y="512190"/>
                  <a:pt x="273181" y="485973"/>
                  <a:pt x="282804" y="461914"/>
                </a:cubicBezTo>
                <a:cubicBezTo>
                  <a:pt x="289088" y="446203"/>
                  <a:pt x="296681" y="430953"/>
                  <a:pt x="301657" y="414780"/>
                </a:cubicBezTo>
                <a:cubicBezTo>
                  <a:pt x="328388" y="327903"/>
                  <a:pt x="293832" y="348257"/>
                  <a:pt x="348791" y="329939"/>
                </a:cubicBezTo>
                <a:cubicBezTo>
                  <a:pt x="361360" y="348792"/>
                  <a:pt x="382055" y="364280"/>
                  <a:pt x="386499" y="386499"/>
                </a:cubicBezTo>
                <a:cubicBezTo>
                  <a:pt x="390781" y="407909"/>
                  <a:pt x="408579" y="500782"/>
                  <a:pt x="414779" y="509048"/>
                </a:cubicBezTo>
                <a:lnTo>
                  <a:pt x="443060" y="546755"/>
                </a:lnTo>
                <a:cubicBezTo>
                  <a:pt x="446202" y="562466"/>
                  <a:pt x="447419" y="578689"/>
                  <a:pt x="452486" y="593889"/>
                </a:cubicBezTo>
                <a:cubicBezTo>
                  <a:pt x="456930" y="607221"/>
                  <a:pt x="466121" y="618548"/>
                  <a:pt x="471340" y="631596"/>
                </a:cubicBezTo>
                <a:cubicBezTo>
                  <a:pt x="478721" y="650048"/>
                  <a:pt x="483910" y="669303"/>
                  <a:pt x="490194" y="688157"/>
                </a:cubicBezTo>
                <a:cubicBezTo>
                  <a:pt x="493336" y="697584"/>
                  <a:pt x="490193" y="713296"/>
                  <a:pt x="499620" y="716438"/>
                </a:cubicBezTo>
                <a:lnTo>
                  <a:pt x="556181" y="735291"/>
                </a:lnTo>
                <a:cubicBezTo>
                  <a:pt x="571892" y="732149"/>
                  <a:pt x="589728" y="734356"/>
                  <a:pt x="603315" y="725864"/>
                </a:cubicBezTo>
                <a:cubicBezTo>
                  <a:pt x="616638" y="717537"/>
                  <a:pt x="622881" y="701230"/>
                  <a:pt x="631596" y="688157"/>
                </a:cubicBezTo>
                <a:cubicBezTo>
                  <a:pt x="695004" y="593046"/>
                  <a:pt x="623746" y="691812"/>
                  <a:pt x="688156" y="584462"/>
                </a:cubicBezTo>
                <a:cubicBezTo>
                  <a:pt x="696239" y="570990"/>
                  <a:pt x="707010" y="559324"/>
                  <a:pt x="716437" y="546755"/>
                </a:cubicBezTo>
                <a:cubicBezTo>
                  <a:pt x="721814" y="530624"/>
                  <a:pt x="729055" y="500636"/>
                  <a:pt x="744717" y="490194"/>
                </a:cubicBezTo>
                <a:cubicBezTo>
                  <a:pt x="755497" y="483007"/>
                  <a:pt x="769855" y="483909"/>
                  <a:pt x="782424" y="480767"/>
                </a:cubicBezTo>
                <a:cubicBezTo>
                  <a:pt x="791851" y="468198"/>
                  <a:pt x="803679" y="457113"/>
                  <a:pt x="810705" y="443060"/>
                </a:cubicBezTo>
                <a:cubicBezTo>
                  <a:pt x="819593" y="425285"/>
                  <a:pt x="815505" y="400551"/>
                  <a:pt x="829558" y="386499"/>
                </a:cubicBezTo>
                <a:lnTo>
                  <a:pt x="867266" y="348792"/>
                </a:lnTo>
                <a:cubicBezTo>
                  <a:pt x="919179" y="244963"/>
                  <a:pt x="844419" y="384550"/>
                  <a:pt x="923827" y="273378"/>
                </a:cubicBezTo>
                <a:cubicBezTo>
                  <a:pt x="929603" y="265292"/>
                  <a:pt x="929339" y="254230"/>
                  <a:pt x="933253" y="245097"/>
                </a:cubicBezTo>
                <a:cubicBezTo>
                  <a:pt x="968206" y="163538"/>
                  <a:pt x="939422" y="245445"/>
                  <a:pt x="961534" y="179110"/>
                </a:cubicBezTo>
                <a:cubicBezTo>
                  <a:pt x="964246" y="154706"/>
                  <a:pt x="967935" y="32432"/>
                  <a:pt x="1008668" y="18854"/>
                </a:cubicBezTo>
                <a:cubicBezTo>
                  <a:pt x="1049239" y="5330"/>
                  <a:pt x="1027308" y="11837"/>
                  <a:pt x="1074655" y="0"/>
                </a:cubicBezTo>
                <a:cubicBezTo>
                  <a:pt x="1077797" y="12569"/>
                  <a:pt x="1079985" y="25417"/>
                  <a:pt x="1084082" y="37708"/>
                </a:cubicBezTo>
                <a:cubicBezTo>
                  <a:pt x="1092572" y="63178"/>
                  <a:pt x="1106832" y="86850"/>
                  <a:pt x="1112363" y="113122"/>
                </a:cubicBezTo>
                <a:cubicBezTo>
                  <a:pt x="1119513" y="147085"/>
                  <a:pt x="1119689" y="182173"/>
                  <a:pt x="1121789" y="216817"/>
                </a:cubicBezTo>
                <a:cubicBezTo>
                  <a:pt x="1125975" y="285892"/>
                  <a:pt x="1124095" y="355373"/>
                  <a:pt x="1131216" y="424207"/>
                </a:cubicBezTo>
                <a:cubicBezTo>
                  <a:pt x="1133570" y="446961"/>
                  <a:pt x="1144051" y="468124"/>
                  <a:pt x="1150070" y="490194"/>
                </a:cubicBezTo>
                <a:cubicBezTo>
                  <a:pt x="1156048" y="512112"/>
                  <a:pt x="1159894" y="535114"/>
                  <a:pt x="1168923" y="556182"/>
                </a:cubicBezTo>
                <a:cubicBezTo>
                  <a:pt x="1174459" y="569098"/>
                  <a:pt x="1182241" y="580973"/>
                  <a:pt x="1187777" y="593889"/>
                </a:cubicBezTo>
                <a:cubicBezTo>
                  <a:pt x="1191691" y="603022"/>
                  <a:pt x="1194474" y="612615"/>
                  <a:pt x="1197204" y="622170"/>
                </a:cubicBezTo>
                <a:cubicBezTo>
                  <a:pt x="1200763" y="634627"/>
                  <a:pt x="1200339" y="648552"/>
                  <a:pt x="1206631" y="659877"/>
                </a:cubicBezTo>
                <a:cubicBezTo>
                  <a:pt x="1216402" y="677465"/>
                  <a:pt x="1233177" y="690270"/>
                  <a:pt x="1244338" y="707011"/>
                </a:cubicBezTo>
                <a:cubicBezTo>
                  <a:pt x="1252133" y="718703"/>
                  <a:pt x="1257655" y="731802"/>
                  <a:pt x="1263191" y="744718"/>
                </a:cubicBezTo>
                <a:cubicBezTo>
                  <a:pt x="1267105" y="753851"/>
                  <a:pt x="1264532" y="767222"/>
                  <a:pt x="1272618" y="772998"/>
                </a:cubicBezTo>
                <a:cubicBezTo>
                  <a:pt x="1288790" y="784549"/>
                  <a:pt x="1310325" y="785567"/>
                  <a:pt x="1329179" y="791852"/>
                </a:cubicBezTo>
                <a:cubicBezTo>
                  <a:pt x="1368208" y="804862"/>
                  <a:pt x="1349191" y="795767"/>
                  <a:pt x="1385740" y="820132"/>
                </a:cubicBezTo>
                <a:cubicBezTo>
                  <a:pt x="1395167" y="816990"/>
                  <a:pt x="1406387" y="817067"/>
                  <a:pt x="1414020" y="810706"/>
                </a:cubicBezTo>
                <a:cubicBezTo>
                  <a:pt x="1439889" y="789149"/>
                  <a:pt x="1449999" y="755612"/>
                  <a:pt x="1461154" y="725864"/>
                </a:cubicBezTo>
                <a:cubicBezTo>
                  <a:pt x="1464643" y="716560"/>
                  <a:pt x="1465069" y="705852"/>
                  <a:pt x="1470581" y="697584"/>
                </a:cubicBezTo>
                <a:cubicBezTo>
                  <a:pt x="1477976" y="686492"/>
                  <a:pt x="1489435" y="678731"/>
                  <a:pt x="1498862" y="669304"/>
                </a:cubicBezTo>
                <a:cubicBezTo>
                  <a:pt x="1514888" y="605199"/>
                  <a:pt x="1509508" y="603538"/>
                  <a:pt x="1536569" y="556182"/>
                </a:cubicBezTo>
                <a:cubicBezTo>
                  <a:pt x="1542190" y="546345"/>
                  <a:pt x="1550355" y="538035"/>
                  <a:pt x="1555422" y="527902"/>
                </a:cubicBezTo>
                <a:cubicBezTo>
                  <a:pt x="1594446" y="449853"/>
                  <a:pt x="1529677" y="552377"/>
                  <a:pt x="1583703" y="471341"/>
                </a:cubicBezTo>
                <a:cubicBezTo>
                  <a:pt x="1593130" y="480768"/>
                  <a:pt x="1603449" y="489380"/>
                  <a:pt x="1611983" y="499621"/>
                </a:cubicBezTo>
                <a:cubicBezTo>
                  <a:pt x="1619236" y="508325"/>
                  <a:pt x="1622235" y="520529"/>
                  <a:pt x="1630837" y="527902"/>
                </a:cubicBezTo>
                <a:cubicBezTo>
                  <a:pt x="1685706" y="574933"/>
                  <a:pt x="1661015" y="542991"/>
                  <a:pt x="1706251" y="565609"/>
                </a:cubicBezTo>
                <a:cubicBezTo>
                  <a:pt x="1716385" y="570676"/>
                  <a:pt x="1725105" y="578178"/>
                  <a:pt x="1734532" y="584462"/>
                </a:cubicBezTo>
                <a:cubicBezTo>
                  <a:pt x="1743959" y="581320"/>
                  <a:pt x="1755179" y="581397"/>
                  <a:pt x="1762812" y="575036"/>
                </a:cubicBezTo>
                <a:cubicBezTo>
                  <a:pt x="1774882" y="564978"/>
                  <a:pt x="1781278" y="549597"/>
                  <a:pt x="1791093" y="537328"/>
                </a:cubicBezTo>
                <a:cubicBezTo>
                  <a:pt x="1793869" y="533858"/>
                  <a:pt x="1797377" y="531044"/>
                  <a:pt x="1800519" y="527902"/>
                </a:cubicBezTo>
              </a:path>
            </a:pathLst>
          </a:cu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2914061" y="1374428"/>
            <a:ext cx="14509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i="1" dirty="0"/>
              <a:t>modulated </a:t>
            </a:r>
            <a:r>
              <a:rPr lang="en-GB" sz="1400" dirty="0"/>
              <a:t>carrier</a:t>
            </a:r>
          </a:p>
          <a:p>
            <a:pPr algn="ctr"/>
            <a:r>
              <a:rPr lang="en-GB" sz="1400" dirty="0"/>
              <a:t>frequency </a:t>
            </a:r>
            <a:r>
              <a:rPr lang="en-GB" sz="1400" i="1" dirty="0"/>
              <a:t>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938501" y="2357120"/>
            <a:ext cx="14509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modulated carrier</a:t>
            </a:r>
          </a:p>
          <a:p>
            <a:pPr algn="ctr"/>
            <a:r>
              <a:rPr lang="en-GB" sz="1400" dirty="0"/>
              <a:t>frequency </a:t>
            </a:r>
            <a:r>
              <a:rPr lang="en-GB" sz="1400" i="1" dirty="0"/>
              <a:t>b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876631" y="3479149"/>
            <a:ext cx="14509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modulated carrier</a:t>
            </a:r>
          </a:p>
          <a:p>
            <a:pPr algn="ctr"/>
            <a:r>
              <a:rPr lang="en-GB" sz="1400" dirty="0"/>
              <a:t>frequency </a:t>
            </a:r>
            <a:r>
              <a:rPr lang="en-GB" sz="1400" i="1" dirty="0"/>
              <a:t>c</a:t>
            </a:r>
          </a:p>
        </p:txBody>
      </p:sp>
      <p:grpSp>
        <p:nvGrpSpPr>
          <p:cNvPr id="97" name="Group 96"/>
          <p:cNvGrpSpPr/>
          <p:nvPr/>
        </p:nvGrpSpPr>
        <p:grpSpPr>
          <a:xfrm>
            <a:off x="314518" y="5662123"/>
            <a:ext cx="1582888" cy="389775"/>
            <a:chOff x="1516669" y="3627259"/>
            <a:chExt cx="2190182" cy="389775"/>
          </a:xfrm>
        </p:grpSpPr>
        <p:sp>
          <p:nvSpPr>
            <p:cNvPr id="98" name="Freeform 9"/>
            <p:cNvSpPr>
              <a:spLocks/>
            </p:cNvSpPr>
            <p:nvPr/>
          </p:nvSpPr>
          <p:spPr bwMode="auto">
            <a:xfrm>
              <a:off x="1516669" y="3627259"/>
              <a:ext cx="273855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99" name="Freeform 10"/>
            <p:cNvSpPr>
              <a:spLocks/>
            </p:cNvSpPr>
            <p:nvPr/>
          </p:nvSpPr>
          <p:spPr bwMode="auto">
            <a:xfrm>
              <a:off x="1790524" y="3627259"/>
              <a:ext cx="273855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00" name="Freeform 11"/>
            <p:cNvSpPr>
              <a:spLocks/>
            </p:cNvSpPr>
            <p:nvPr/>
          </p:nvSpPr>
          <p:spPr bwMode="auto">
            <a:xfrm>
              <a:off x="2064380" y="3627259"/>
              <a:ext cx="273855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01" name="Freeform 9"/>
            <p:cNvSpPr>
              <a:spLocks/>
            </p:cNvSpPr>
            <p:nvPr/>
          </p:nvSpPr>
          <p:spPr bwMode="auto">
            <a:xfrm>
              <a:off x="2341598" y="3627259"/>
              <a:ext cx="273855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02" name="Freeform 10"/>
            <p:cNvSpPr>
              <a:spLocks/>
            </p:cNvSpPr>
            <p:nvPr/>
          </p:nvSpPr>
          <p:spPr bwMode="auto">
            <a:xfrm>
              <a:off x="2615453" y="3627259"/>
              <a:ext cx="273855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03" name="Freeform 11"/>
            <p:cNvSpPr>
              <a:spLocks/>
            </p:cNvSpPr>
            <p:nvPr/>
          </p:nvSpPr>
          <p:spPr bwMode="auto">
            <a:xfrm>
              <a:off x="2889309" y="3627259"/>
              <a:ext cx="273855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04" name="Freeform 10"/>
            <p:cNvSpPr>
              <a:spLocks/>
            </p:cNvSpPr>
            <p:nvPr/>
          </p:nvSpPr>
          <p:spPr bwMode="auto">
            <a:xfrm>
              <a:off x="3159142" y="3642638"/>
              <a:ext cx="273856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08" name="Freeform 11"/>
            <p:cNvSpPr>
              <a:spLocks/>
            </p:cNvSpPr>
            <p:nvPr/>
          </p:nvSpPr>
          <p:spPr bwMode="auto">
            <a:xfrm>
              <a:off x="3432997" y="3642638"/>
              <a:ext cx="273854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sp>
        <p:nvSpPr>
          <p:cNvPr id="129" name="Freeform 128"/>
          <p:cNvSpPr/>
          <p:nvPr/>
        </p:nvSpPr>
        <p:spPr bwMode="auto">
          <a:xfrm>
            <a:off x="2286761" y="5513703"/>
            <a:ext cx="1626360" cy="538195"/>
          </a:xfrm>
          <a:custGeom>
            <a:avLst/>
            <a:gdLst>
              <a:gd name="connsiteX0" fmla="*/ 0 w 1800519"/>
              <a:gd name="connsiteY0" fmla="*/ 575036 h 857840"/>
              <a:gd name="connsiteX1" fmla="*/ 28280 w 1800519"/>
              <a:gd name="connsiteY1" fmla="*/ 725864 h 857840"/>
              <a:gd name="connsiteX2" fmla="*/ 37707 w 1800519"/>
              <a:gd name="connsiteY2" fmla="*/ 763572 h 857840"/>
              <a:gd name="connsiteX3" fmla="*/ 75414 w 1800519"/>
              <a:gd name="connsiteY3" fmla="*/ 829559 h 857840"/>
              <a:gd name="connsiteX4" fmla="*/ 84841 w 1800519"/>
              <a:gd name="connsiteY4" fmla="*/ 857840 h 857840"/>
              <a:gd name="connsiteX5" fmla="*/ 179109 w 1800519"/>
              <a:gd name="connsiteY5" fmla="*/ 838986 h 857840"/>
              <a:gd name="connsiteX6" fmla="*/ 188536 w 1800519"/>
              <a:gd name="connsiteY6" fmla="*/ 791852 h 857840"/>
              <a:gd name="connsiteX7" fmla="*/ 197963 w 1800519"/>
              <a:gd name="connsiteY7" fmla="*/ 763572 h 857840"/>
              <a:gd name="connsiteX8" fmla="*/ 207389 w 1800519"/>
              <a:gd name="connsiteY8" fmla="*/ 725864 h 857840"/>
              <a:gd name="connsiteX9" fmla="*/ 226243 w 1800519"/>
              <a:gd name="connsiteY9" fmla="*/ 688157 h 857840"/>
              <a:gd name="connsiteX10" fmla="*/ 245097 w 1800519"/>
              <a:gd name="connsiteY10" fmla="*/ 565609 h 857840"/>
              <a:gd name="connsiteX11" fmla="*/ 263950 w 1800519"/>
              <a:gd name="connsiteY11" fmla="*/ 537328 h 857840"/>
              <a:gd name="connsiteX12" fmla="*/ 282804 w 1800519"/>
              <a:gd name="connsiteY12" fmla="*/ 461914 h 857840"/>
              <a:gd name="connsiteX13" fmla="*/ 301657 w 1800519"/>
              <a:gd name="connsiteY13" fmla="*/ 414780 h 857840"/>
              <a:gd name="connsiteX14" fmla="*/ 348791 w 1800519"/>
              <a:gd name="connsiteY14" fmla="*/ 329939 h 857840"/>
              <a:gd name="connsiteX15" fmla="*/ 386499 w 1800519"/>
              <a:gd name="connsiteY15" fmla="*/ 386499 h 857840"/>
              <a:gd name="connsiteX16" fmla="*/ 414779 w 1800519"/>
              <a:gd name="connsiteY16" fmla="*/ 509048 h 857840"/>
              <a:gd name="connsiteX17" fmla="*/ 443060 w 1800519"/>
              <a:gd name="connsiteY17" fmla="*/ 546755 h 857840"/>
              <a:gd name="connsiteX18" fmla="*/ 452486 w 1800519"/>
              <a:gd name="connsiteY18" fmla="*/ 593889 h 857840"/>
              <a:gd name="connsiteX19" fmla="*/ 471340 w 1800519"/>
              <a:gd name="connsiteY19" fmla="*/ 631596 h 857840"/>
              <a:gd name="connsiteX20" fmla="*/ 490194 w 1800519"/>
              <a:gd name="connsiteY20" fmla="*/ 688157 h 857840"/>
              <a:gd name="connsiteX21" fmla="*/ 499620 w 1800519"/>
              <a:gd name="connsiteY21" fmla="*/ 716438 h 857840"/>
              <a:gd name="connsiteX22" fmla="*/ 556181 w 1800519"/>
              <a:gd name="connsiteY22" fmla="*/ 735291 h 857840"/>
              <a:gd name="connsiteX23" fmla="*/ 603315 w 1800519"/>
              <a:gd name="connsiteY23" fmla="*/ 725864 h 857840"/>
              <a:gd name="connsiteX24" fmla="*/ 631596 w 1800519"/>
              <a:gd name="connsiteY24" fmla="*/ 688157 h 857840"/>
              <a:gd name="connsiteX25" fmla="*/ 688156 w 1800519"/>
              <a:gd name="connsiteY25" fmla="*/ 584462 h 857840"/>
              <a:gd name="connsiteX26" fmla="*/ 716437 w 1800519"/>
              <a:gd name="connsiteY26" fmla="*/ 546755 h 857840"/>
              <a:gd name="connsiteX27" fmla="*/ 744717 w 1800519"/>
              <a:gd name="connsiteY27" fmla="*/ 490194 h 857840"/>
              <a:gd name="connsiteX28" fmla="*/ 782424 w 1800519"/>
              <a:gd name="connsiteY28" fmla="*/ 480767 h 857840"/>
              <a:gd name="connsiteX29" fmla="*/ 810705 w 1800519"/>
              <a:gd name="connsiteY29" fmla="*/ 443060 h 857840"/>
              <a:gd name="connsiteX30" fmla="*/ 829558 w 1800519"/>
              <a:gd name="connsiteY30" fmla="*/ 386499 h 857840"/>
              <a:gd name="connsiteX31" fmla="*/ 867266 w 1800519"/>
              <a:gd name="connsiteY31" fmla="*/ 348792 h 857840"/>
              <a:gd name="connsiteX32" fmla="*/ 923827 w 1800519"/>
              <a:gd name="connsiteY32" fmla="*/ 273378 h 857840"/>
              <a:gd name="connsiteX33" fmla="*/ 933253 w 1800519"/>
              <a:gd name="connsiteY33" fmla="*/ 245097 h 857840"/>
              <a:gd name="connsiteX34" fmla="*/ 961534 w 1800519"/>
              <a:gd name="connsiteY34" fmla="*/ 179110 h 857840"/>
              <a:gd name="connsiteX35" fmla="*/ 1008668 w 1800519"/>
              <a:gd name="connsiteY35" fmla="*/ 18854 h 857840"/>
              <a:gd name="connsiteX36" fmla="*/ 1074655 w 1800519"/>
              <a:gd name="connsiteY36" fmla="*/ 0 h 857840"/>
              <a:gd name="connsiteX37" fmla="*/ 1084082 w 1800519"/>
              <a:gd name="connsiteY37" fmla="*/ 37708 h 857840"/>
              <a:gd name="connsiteX38" fmla="*/ 1112363 w 1800519"/>
              <a:gd name="connsiteY38" fmla="*/ 113122 h 857840"/>
              <a:gd name="connsiteX39" fmla="*/ 1121789 w 1800519"/>
              <a:gd name="connsiteY39" fmla="*/ 216817 h 857840"/>
              <a:gd name="connsiteX40" fmla="*/ 1131216 w 1800519"/>
              <a:gd name="connsiteY40" fmla="*/ 424207 h 857840"/>
              <a:gd name="connsiteX41" fmla="*/ 1150070 w 1800519"/>
              <a:gd name="connsiteY41" fmla="*/ 490194 h 857840"/>
              <a:gd name="connsiteX42" fmla="*/ 1168923 w 1800519"/>
              <a:gd name="connsiteY42" fmla="*/ 556182 h 857840"/>
              <a:gd name="connsiteX43" fmla="*/ 1187777 w 1800519"/>
              <a:gd name="connsiteY43" fmla="*/ 593889 h 857840"/>
              <a:gd name="connsiteX44" fmla="*/ 1197204 w 1800519"/>
              <a:gd name="connsiteY44" fmla="*/ 622170 h 857840"/>
              <a:gd name="connsiteX45" fmla="*/ 1206631 w 1800519"/>
              <a:gd name="connsiteY45" fmla="*/ 659877 h 857840"/>
              <a:gd name="connsiteX46" fmla="*/ 1244338 w 1800519"/>
              <a:gd name="connsiteY46" fmla="*/ 707011 h 857840"/>
              <a:gd name="connsiteX47" fmla="*/ 1263191 w 1800519"/>
              <a:gd name="connsiteY47" fmla="*/ 744718 h 857840"/>
              <a:gd name="connsiteX48" fmla="*/ 1272618 w 1800519"/>
              <a:gd name="connsiteY48" fmla="*/ 772998 h 857840"/>
              <a:gd name="connsiteX49" fmla="*/ 1329179 w 1800519"/>
              <a:gd name="connsiteY49" fmla="*/ 791852 h 857840"/>
              <a:gd name="connsiteX50" fmla="*/ 1385740 w 1800519"/>
              <a:gd name="connsiteY50" fmla="*/ 820132 h 857840"/>
              <a:gd name="connsiteX51" fmla="*/ 1414020 w 1800519"/>
              <a:gd name="connsiteY51" fmla="*/ 810706 h 857840"/>
              <a:gd name="connsiteX52" fmla="*/ 1461154 w 1800519"/>
              <a:gd name="connsiteY52" fmla="*/ 725864 h 857840"/>
              <a:gd name="connsiteX53" fmla="*/ 1470581 w 1800519"/>
              <a:gd name="connsiteY53" fmla="*/ 697584 h 857840"/>
              <a:gd name="connsiteX54" fmla="*/ 1498862 w 1800519"/>
              <a:gd name="connsiteY54" fmla="*/ 669304 h 857840"/>
              <a:gd name="connsiteX55" fmla="*/ 1536569 w 1800519"/>
              <a:gd name="connsiteY55" fmla="*/ 556182 h 857840"/>
              <a:gd name="connsiteX56" fmla="*/ 1555422 w 1800519"/>
              <a:gd name="connsiteY56" fmla="*/ 527902 h 857840"/>
              <a:gd name="connsiteX57" fmla="*/ 1583703 w 1800519"/>
              <a:gd name="connsiteY57" fmla="*/ 471341 h 857840"/>
              <a:gd name="connsiteX58" fmla="*/ 1611983 w 1800519"/>
              <a:gd name="connsiteY58" fmla="*/ 499621 h 857840"/>
              <a:gd name="connsiteX59" fmla="*/ 1630837 w 1800519"/>
              <a:gd name="connsiteY59" fmla="*/ 527902 h 857840"/>
              <a:gd name="connsiteX60" fmla="*/ 1706251 w 1800519"/>
              <a:gd name="connsiteY60" fmla="*/ 565609 h 857840"/>
              <a:gd name="connsiteX61" fmla="*/ 1734532 w 1800519"/>
              <a:gd name="connsiteY61" fmla="*/ 584462 h 857840"/>
              <a:gd name="connsiteX62" fmla="*/ 1762812 w 1800519"/>
              <a:gd name="connsiteY62" fmla="*/ 575036 h 857840"/>
              <a:gd name="connsiteX63" fmla="*/ 1791093 w 1800519"/>
              <a:gd name="connsiteY63" fmla="*/ 537328 h 857840"/>
              <a:gd name="connsiteX64" fmla="*/ 1800519 w 1800519"/>
              <a:gd name="connsiteY64" fmla="*/ 527902 h 857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800519" h="857840">
                <a:moveTo>
                  <a:pt x="0" y="575036"/>
                </a:moveTo>
                <a:cubicBezTo>
                  <a:pt x="35960" y="808782"/>
                  <a:pt x="2033" y="634002"/>
                  <a:pt x="28280" y="725864"/>
                </a:cubicBezTo>
                <a:cubicBezTo>
                  <a:pt x="31839" y="738322"/>
                  <a:pt x="33158" y="751441"/>
                  <a:pt x="37707" y="763572"/>
                </a:cubicBezTo>
                <a:cubicBezTo>
                  <a:pt x="62497" y="829677"/>
                  <a:pt x="48065" y="774861"/>
                  <a:pt x="75414" y="829559"/>
                </a:cubicBezTo>
                <a:cubicBezTo>
                  <a:pt x="79858" y="838447"/>
                  <a:pt x="81699" y="848413"/>
                  <a:pt x="84841" y="857840"/>
                </a:cubicBezTo>
                <a:cubicBezTo>
                  <a:pt x="116264" y="851555"/>
                  <a:pt x="152074" y="856190"/>
                  <a:pt x="179109" y="838986"/>
                </a:cubicBezTo>
                <a:cubicBezTo>
                  <a:pt x="192627" y="830384"/>
                  <a:pt x="184650" y="807396"/>
                  <a:pt x="188536" y="791852"/>
                </a:cubicBezTo>
                <a:cubicBezTo>
                  <a:pt x="190946" y="782212"/>
                  <a:pt x="195233" y="773126"/>
                  <a:pt x="197963" y="763572"/>
                </a:cubicBezTo>
                <a:cubicBezTo>
                  <a:pt x="201522" y="751114"/>
                  <a:pt x="202840" y="737995"/>
                  <a:pt x="207389" y="725864"/>
                </a:cubicBezTo>
                <a:cubicBezTo>
                  <a:pt x="212323" y="712706"/>
                  <a:pt x="219958" y="700726"/>
                  <a:pt x="226243" y="688157"/>
                </a:cubicBezTo>
                <a:cubicBezTo>
                  <a:pt x="227700" y="676504"/>
                  <a:pt x="236999" y="587203"/>
                  <a:pt x="245097" y="565609"/>
                </a:cubicBezTo>
                <a:cubicBezTo>
                  <a:pt x="249075" y="555001"/>
                  <a:pt x="257666" y="546755"/>
                  <a:pt x="263950" y="537328"/>
                </a:cubicBezTo>
                <a:cubicBezTo>
                  <a:pt x="270235" y="512190"/>
                  <a:pt x="273181" y="485973"/>
                  <a:pt x="282804" y="461914"/>
                </a:cubicBezTo>
                <a:cubicBezTo>
                  <a:pt x="289088" y="446203"/>
                  <a:pt x="296681" y="430953"/>
                  <a:pt x="301657" y="414780"/>
                </a:cubicBezTo>
                <a:cubicBezTo>
                  <a:pt x="328388" y="327903"/>
                  <a:pt x="293832" y="348257"/>
                  <a:pt x="348791" y="329939"/>
                </a:cubicBezTo>
                <a:cubicBezTo>
                  <a:pt x="361360" y="348792"/>
                  <a:pt x="382055" y="364280"/>
                  <a:pt x="386499" y="386499"/>
                </a:cubicBezTo>
                <a:cubicBezTo>
                  <a:pt x="390781" y="407909"/>
                  <a:pt x="408579" y="500782"/>
                  <a:pt x="414779" y="509048"/>
                </a:cubicBezTo>
                <a:lnTo>
                  <a:pt x="443060" y="546755"/>
                </a:lnTo>
                <a:cubicBezTo>
                  <a:pt x="446202" y="562466"/>
                  <a:pt x="447419" y="578689"/>
                  <a:pt x="452486" y="593889"/>
                </a:cubicBezTo>
                <a:cubicBezTo>
                  <a:pt x="456930" y="607221"/>
                  <a:pt x="466121" y="618548"/>
                  <a:pt x="471340" y="631596"/>
                </a:cubicBezTo>
                <a:cubicBezTo>
                  <a:pt x="478721" y="650048"/>
                  <a:pt x="483910" y="669303"/>
                  <a:pt x="490194" y="688157"/>
                </a:cubicBezTo>
                <a:cubicBezTo>
                  <a:pt x="493336" y="697584"/>
                  <a:pt x="490193" y="713296"/>
                  <a:pt x="499620" y="716438"/>
                </a:cubicBezTo>
                <a:lnTo>
                  <a:pt x="556181" y="735291"/>
                </a:lnTo>
                <a:cubicBezTo>
                  <a:pt x="571892" y="732149"/>
                  <a:pt x="589728" y="734356"/>
                  <a:pt x="603315" y="725864"/>
                </a:cubicBezTo>
                <a:cubicBezTo>
                  <a:pt x="616638" y="717537"/>
                  <a:pt x="622881" y="701230"/>
                  <a:pt x="631596" y="688157"/>
                </a:cubicBezTo>
                <a:cubicBezTo>
                  <a:pt x="695004" y="593046"/>
                  <a:pt x="623746" y="691812"/>
                  <a:pt x="688156" y="584462"/>
                </a:cubicBezTo>
                <a:cubicBezTo>
                  <a:pt x="696239" y="570990"/>
                  <a:pt x="707010" y="559324"/>
                  <a:pt x="716437" y="546755"/>
                </a:cubicBezTo>
                <a:cubicBezTo>
                  <a:pt x="721814" y="530624"/>
                  <a:pt x="729055" y="500636"/>
                  <a:pt x="744717" y="490194"/>
                </a:cubicBezTo>
                <a:cubicBezTo>
                  <a:pt x="755497" y="483007"/>
                  <a:pt x="769855" y="483909"/>
                  <a:pt x="782424" y="480767"/>
                </a:cubicBezTo>
                <a:cubicBezTo>
                  <a:pt x="791851" y="468198"/>
                  <a:pt x="803679" y="457113"/>
                  <a:pt x="810705" y="443060"/>
                </a:cubicBezTo>
                <a:cubicBezTo>
                  <a:pt x="819593" y="425285"/>
                  <a:pt x="815505" y="400551"/>
                  <a:pt x="829558" y="386499"/>
                </a:cubicBezTo>
                <a:lnTo>
                  <a:pt x="867266" y="348792"/>
                </a:lnTo>
                <a:cubicBezTo>
                  <a:pt x="919179" y="244963"/>
                  <a:pt x="844419" y="384550"/>
                  <a:pt x="923827" y="273378"/>
                </a:cubicBezTo>
                <a:cubicBezTo>
                  <a:pt x="929603" y="265292"/>
                  <a:pt x="929339" y="254230"/>
                  <a:pt x="933253" y="245097"/>
                </a:cubicBezTo>
                <a:cubicBezTo>
                  <a:pt x="968206" y="163538"/>
                  <a:pt x="939422" y="245445"/>
                  <a:pt x="961534" y="179110"/>
                </a:cubicBezTo>
                <a:cubicBezTo>
                  <a:pt x="964246" y="154706"/>
                  <a:pt x="967935" y="32432"/>
                  <a:pt x="1008668" y="18854"/>
                </a:cubicBezTo>
                <a:cubicBezTo>
                  <a:pt x="1049239" y="5330"/>
                  <a:pt x="1027308" y="11837"/>
                  <a:pt x="1074655" y="0"/>
                </a:cubicBezTo>
                <a:cubicBezTo>
                  <a:pt x="1077797" y="12569"/>
                  <a:pt x="1079985" y="25417"/>
                  <a:pt x="1084082" y="37708"/>
                </a:cubicBezTo>
                <a:cubicBezTo>
                  <a:pt x="1092572" y="63178"/>
                  <a:pt x="1106832" y="86850"/>
                  <a:pt x="1112363" y="113122"/>
                </a:cubicBezTo>
                <a:cubicBezTo>
                  <a:pt x="1119513" y="147085"/>
                  <a:pt x="1119689" y="182173"/>
                  <a:pt x="1121789" y="216817"/>
                </a:cubicBezTo>
                <a:cubicBezTo>
                  <a:pt x="1125975" y="285892"/>
                  <a:pt x="1124095" y="355373"/>
                  <a:pt x="1131216" y="424207"/>
                </a:cubicBezTo>
                <a:cubicBezTo>
                  <a:pt x="1133570" y="446961"/>
                  <a:pt x="1144051" y="468124"/>
                  <a:pt x="1150070" y="490194"/>
                </a:cubicBezTo>
                <a:cubicBezTo>
                  <a:pt x="1156048" y="512112"/>
                  <a:pt x="1159894" y="535114"/>
                  <a:pt x="1168923" y="556182"/>
                </a:cubicBezTo>
                <a:cubicBezTo>
                  <a:pt x="1174459" y="569098"/>
                  <a:pt x="1182241" y="580973"/>
                  <a:pt x="1187777" y="593889"/>
                </a:cubicBezTo>
                <a:cubicBezTo>
                  <a:pt x="1191691" y="603022"/>
                  <a:pt x="1194474" y="612615"/>
                  <a:pt x="1197204" y="622170"/>
                </a:cubicBezTo>
                <a:cubicBezTo>
                  <a:pt x="1200763" y="634627"/>
                  <a:pt x="1200339" y="648552"/>
                  <a:pt x="1206631" y="659877"/>
                </a:cubicBezTo>
                <a:cubicBezTo>
                  <a:pt x="1216402" y="677465"/>
                  <a:pt x="1233177" y="690270"/>
                  <a:pt x="1244338" y="707011"/>
                </a:cubicBezTo>
                <a:cubicBezTo>
                  <a:pt x="1252133" y="718703"/>
                  <a:pt x="1257655" y="731802"/>
                  <a:pt x="1263191" y="744718"/>
                </a:cubicBezTo>
                <a:cubicBezTo>
                  <a:pt x="1267105" y="753851"/>
                  <a:pt x="1264532" y="767222"/>
                  <a:pt x="1272618" y="772998"/>
                </a:cubicBezTo>
                <a:cubicBezTo>
                  <a:pt x="1288790" y="784549"/>
                  <a:pt x="1310325" y="785567"/>
                  <a:pt x="1329179" y="791852"/>
                </a:cubicBezTo>
                <a:cubicBezTo>
                  <a:pt x="1368208" y="804862"/>
                  <a:pt x="1349191" y="795767"/>
                  <a:pt x="1385740" y="820132"/>
                </a:cubicBezTo>
                <a:cubicBezTo>
                  <a:pt x="1395167" y="816990"/>
                  <a:pt x="1406387" y="817067"/>
                  <a:pt x="1414020" y="810706"/>
                </a:cubicBezTo>
                <a:cubicBezTo>
                  <a:pt x="1439889" y="789149"/>
                  <a:pt x="1449999" y="755612"/>
                  <a:pt x="1461154" y="725864"/>
                </a:cubicBezTo>
                <a:cubicBezTo>
                  <a:pt x="1464643" y="716560"/>
                  <a:pt x="1465069" y="705852"/>
                  <a:pt x="1470581" y="697584"/>
                </a:cubicBezTo>
                <a:cubicBezTo>
                  <a:pt x="1477976" y="686492"/>
                  <a:pt x="1489435" y="678731"/>
                  <a:pt x="1498862" y="669304"/>
                </a:cubicBezTo>
                <a:cubicBezTo>
                  <a:pt x="1514888" y="605199"/>
                  <a:pt x="1509508" y="603538"/>
                  <a:pt x="1536569" y="556182"/>
                </a:cubicBezTo>
                <a:cubicBezTo>
                  <a:pt x="1542190" y="546345"/>
                  <a:pt x="1550355" y="538035"/>
                  <a:pt x="1555422" y="527902"/>
                </a:cubicBezTo>
                <a:cubicBezTo>
                  <a:pt x="1594446" y="449853"/>
                  <a:pt x="1529677" y="552377"/>
                  <a:pt x="1583703" y="471341"/>
                </a:cubicBezTo>
                <a:cubicBezTo>
                  <a:pt x="1593130" y="480768"/>
                  <a:pt x="1603449" y="489380"/>
                  <a:pt x="1611983" y="499621"/>
                </a:cubicBezTo>
                <a:cubicBezTo>
                  <a:pt x="1619236" y="508325"/>
                  <a:pt x="1622235" y="520529"/>
                  <a:pt x="1630837" y="527902"/>
                </a:cubicBezTo>
                <a:cubicBezTo>
                  <a:pt x="1685706" y="574933"/>
                  <a:pt x="1661015" y="542991"/>
                  <a:pt x="1706251" y="565609"/>
                </a:cubicBezTo>
                <a:cubicBezTo>
                  <a:pt x="1716385" y="570676"/>
                  <a:pt x="1725105" y="578178"/>
                  <a:pt x="1734532" y="584462"/>
                </a:cubicBezTo>
                <a:cubicBezTo>
                  <a:pt x="1743959" y="581320"/>
                  <a:pt x="1755179" y="581397"/>
                  <a:pt x="1762812" y="575036"/>
                </a:cubicBezTo>
                <a:cubicBezTo>
                  <a:pt x="1774882" y="564978"/>
                  <a:pt x="1781278" y="549597"/>
                  <a:pt x="1791093" y="537328"/>
                </a:cubicBezTo>
                <a:cubicBezTo>
                  <a:pt x="1793869" y="533858"/>
                  <a:pt x="1797377" y="531044"/>
                  <a:pt x="1800519" y="527902"/>
                </a:cubicBezTo>
              </a:path>
            </a:pathLst>
          </a:cu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95288" y="6109393"/>
            <a:ext cx="13853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carrier wave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351832" y="6081736"/>
            <a:ext cx="1699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program signal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463" y="4965285"/>
            <a:ext cx="1306768" cy="323069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no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Modulation</a:t>
            </a:r>
          </a:p>
        </p:txBody>
      </p:sp>
      <p:sp>
        <p:nvSpPr>
          <p:cNvPr id="21" name="Right Brace 20"/>
          <p:cNvSpPr/>
          <p:nvPr/>
        </p:nvSpPr>
        <p:spPr bwMode="auto">
          <a:xfrm rot="16200000">
            <a:off x="1967599" y="3763867"/>
            <a:ext cx="196064" cy="3387824"/>
          </a:xfrm>
          <a:prstGeom prst="rightBrace">
            <a:avLst>
              <a:gd name="adj1" fmla="val 50885"/>
              <a:gd name="adj2" fmla="val 50000"/>
            </a:avLst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grpSp>
        <p:nvGrpSpPr>
          <p:cNvPr id="131" name="Group 130"/>
          <p:cNvGrpSpPr/>
          <p:nvPr/>
        </p:nvGrpSpPr>
        <p:grpSpPr>
          <a:xfrm>
            <a:off x="1406575" y="3350452"/>
            <a:ext cx="1582888" cy="389775"/>
            <a:chOff x="1516669" y="3627259"/>
            <a:chExt cx="2190182" cy="389775"/>
          </a:xfrm>
        </p:grpSpPr>
        <p:sp>
          <p:nvSpPr>
            <p:cNvPr id="132" name="Freeform 9"/>
            <p:cNvSpPr>
              <a:spLocks/>
            </p:cNvSpPr>
            <p:nvPr/>
          </p:nvSpPr>
          <p:spPr bwMode="auto">
            <a:xfrm>
              <a:off x="1516669" y="3627259"/>
              <a:ext cx="273855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3" name="Freeform 10"/>
            <p:cNvSpPr>
              <a:spLocks/>
            </p:cNvSpPr>
            <p:nvPr/>
          </p:nvSpPr>
          <p:spPr bwMode="auto">
            <a:xfrm>
              <a:off x="1790524" y="3627259"/>
              <a:ext cx="273855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4" name="Freeform 11"/>
            <p:cNvSpPr>
              <a:spLocks/>
            </p:cNvSpPr>
            <p:nvPr/>
          </p:nvSpPr>
          <p:spPr bwMode="auto">
            <a:xfrm>
              <a:off x="2064380" y="3627259"/>
              <a:ext cx="273855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5" name="Freeform 9"/>
            <p:cNvSpPr>
              <a:spLocks/>
            </p:cNvSpPr>
            <p:nvPr/>
          </p:nvSpPr>
          <p:spPr bwMode="auto">
            <a:xfrm>
              <a:off x="2341598" y="3627259"/>
              <a:ext cx="273855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6" name="Freeform 10"/>
            <p:cNvSpPr>
              <a:spLocks/>
            </p:cNvSpPr>
            <p:nvPr/>
          </p:nvSpPr>
          <p:spPr bwMode="auto">
            <a:xfrm>
              <a:off x="2615453" y="3627259"/>
              <a:ext cx="273855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7" name="Freeform 11"/>
            <p:cNvSpPr>
              <a:spLocks/>
            </p:cNvSpPr>
            <p:nvPr/>
          </p:nvSpPr>
          <p:spPr bwMode="auto">
            <a:xfrm>
              <a:off x="2889309" y="3627259"/>
              <a:ext cx="273855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8" name="Freeform 10"/>
            <p:cNvSpPr>
              <a:spLocks/>
            </p:cNvSpPr>
            <p:nvPr/>
          </p:nvSpPr>
          <p:spPr bwMode="auto">
            <a:xfrm>
              <a:off x="3159142" y="3642638"/>
              <a:ext cx="273856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9" name="Freeform 11"/>
            <p:cNvSpPr>
              <a:spLocks/>
            </p:cNvSpPr>
            <p:nvPr/>
          </p:nvSpPr>
          <p:spPr bwMode="auto">
            <a:xfrm>
              <a:off x="3432997" y="3642638"/>
              <a:ext cx="273854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140" name="Group 139"/>
          <p:cNvGrpSpPr/>
          <p:nvPr/>
        </p:nvGrpSpPr>
        <p:grpSpPr>
          <a:xfrm>
            <a:off x="1402414" y="2416051"/>
            <a:ext cx="1587049" cy="387138"/>
            <a:chOff x="1521654" y="3021542"/>
            <a:chExt cx="1587049" cy="387138"/>
          </a:xfrm>
        </p:grpSpPr>
        <p:sp>
          <p:nvSpPr>
            <p:cNvPr id="141" name="Freeform 9"/>
            <p:cNvSpPr>
              <a:spLocks/>
            </p:cNvSpPr>
            <p:nvPr/>
          </p:nvSpPr>
          <p:spPr bwMode="auto">
            <a:xfrm>
              <a:off x="1521654" y="3021542"/>
              <a:ext cx="318407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42" name="Freeform 10"/>
            <p:cNvSpPr>
              <a:spLocks/>
            </p:cNvSpPr>
            <p:nvPr/>
          </p:nvSpPr>
          <p:spPr bwMode="auto">
            <a:xfrm>
              <a:off x="1840061" y="3021542"/>
              <a:ext cx="318407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43" name="Freeform 11"/>
            <p:cNvSpPr>
              <a:spLocks/>
            </p:cNvSpPr>
            <p:nvPr/>
          </p:nvSpPr>
          <p:spPr bwMode="auto">
            <a:xfrm>
              <a:off x="2158468" y="3021542"/>
              <a:ext cx="318407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44" name="Freeform 9"/>
            <p:cNvSpPr>
              <a:spLocks/>
            </p:cNvSpPr>
            <p:nvPr/>
          </p:nvSpPr>
          <p:spPr bwMode="auto">
            <a:xfrm>
              <a:off x="2471889" y="3034284"/>
              <a:ext cx="318407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45" name="Freeform 10"/>
            <p:cNvSpPr>
              <a:spLocks/>
            </p:cNvSpPr>
            <p:nvPr/>
          </p:nvSpPr>
          <p:spPr bwMode="auto">
            <a:xfrm>
              <a:off x="2790296" y="3034284"/>
              <a:ext cx="318407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146" name="Group 8"/>
          <p:cNvGrpSpPr>
            <a:grpSpLocks/>
          </p:cNvGrpSpPr>
          <p:nvPr/>
        </p:nvGrpSpPr>
        <p:grpSpPr bwMode="auto">
          <a:xfrm>
            <a:off x="1405878" y="1566970"/>
            <a:ext cx="1597725" cy="374396"/>
            <a:chOff x="1226" y="1384"/>
            <a:chExt cx="576" cy="432"/>
          </a:xfrm>
        </p:grpSpPr>
        <p:sp>
          <p:nvSpPr>
            <p:cNvPr id="147" name="Freeform 9"/>
            <p:cNvSpPr>
              <a:spLocks/>
            </p:cNvSpPr>
            <p:nvPr/>
          </p:nvSpPr>
          <p:spPr bwMode="auto">
            <a:xfrm>
              <a:off x="1226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48" name="Freeform 10"/>
            <p:cNvSpPr>
              <a:spLocks/>
            </p:cNvSpPr>
            <p:nvPr/>
          </p:nvSpPr>
          <p:spPr bwMode="auto">
            <a:xfrm>
              <a:off x="1418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49" name="Freeform 11"/>
            <p:cNvSpPr>
              <a:spLocks/>
            </p:cNvSpPr>
            <p:nvPr/>
          </p:nvSpPr>
          <p:spPr bwMode="auto">
            <a:xfrm>
              <a:off x="1610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sp>
        <p:nvSpPr>
          <p:cNvPr id="22" name="Right Arrow 21"/>
          <p:cNvSpPr/>
          <p:nvPr/>
        </p:nvSpPr>
        <p:spPr bwMode="auto">
          <a:xfrm rot="16200000">
            <a:off x="1675661" y="4088410"/>
            <a:ext cx="787475" cy="695502"/>
          </a:xfrm>
          <a:prstGeom prst="rightArrow">
            <a:avLst>
              <a:gd name="adj1" fmla="val 50000"/>
              <a:gd name="adj2" fmla="val 69240"/>
            </a:avLst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98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6"/>
          <p:cNvSpPr>
            <a:spLocks noChangeArrowheads="1"/>
          </p:cNvSpPr>
          <p:nvPr/>
        </p:nvSpPr>
        <p:spPr bwMode="auto">
          <a:xfrm>
            <a:off x="385763" y="333375"/>
            <a:ext cx="186781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400" b="1" dirty="0"/>
              <a:t>Modulation</a:t>
            </a:r>
          </a:p>
        </p:txBody>
      </p:sp>
      <p:sp>
        <p:nvSpPr>
          <p:cNvPr id="4100" name="Text Box 7"/>
          <p:cNvSpPr txBox="1">
            <a:spLocks noChangeArrowheads="1"/>
          </p:cNvSpPr>
          <p:nvPr/>
        </p:nvSpPr>
        <p:spPr bwMode="auto">
          <a:xfrm>
            <a:off x="395288" y="1017220"/>
            <a:ext cx="5218028" cy="2751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192088" indent="-192088">
              <a:lnSpc>
                <a:spcPct val="120000"/>
              </a:lnSpc>
              <a:buFontTx/>
              <a:buChar char="•"/>
            </a:pPr>
            <a:r>
              <a:rPr lang="en-GB" sz="1600" dirty="0"/>
              <a:t>To convey a </a:t>
            </a:r>
            <a:r>
              <a:rPr lang="en-GB" sz="1600" b="1" i="1" dirty="0"/>
              <a:t>Baseband  </a:t>
            </a:r>
            <a:r>
              <a:rPr lang="en-GB" sz="1600" dirty="0"/>
              <a:t>signal on a </a:t>
            </a:r>
            <a:r>
              <a:rPr lang="en-GB" sz="1600" b="1" i="1" dirty="0"/>
              <a:t>Carrier</a:t>
            </a:r>
            <a:r>
              <a:rPr lang="en-GB" sz="1600" dirty="0"/>
              <a:t> signal</a:t>
            </a:r>
          </a:p>
          <a:p>
            <a:pPr marL="192088" indent="-192088">
              <a:lnSpc>
                <a:spcPct val="120000"/>
              </a:lnSpc>
              <a:buFontTx/>
              <a:buChar char="•"/>
            </a:pPr>
            <a:r>
              <a:rPr lang="en-GB" sz="1600" dirty="0"/>
              <a:t>Necessary to allow a multitude of baseband signals to simultaneously exist </a:t>
            </a:r>
          </a:p>
          <a:p>
            <a:pPr marL="192088" indent="-192088">
              <a:lnSpc>
                <a:spcPct val="120000"/>
              </a:lnSpc>
            </a:pPr>
            <a:endParaRPr lang="en-GB" sz="1600" dirty="0"/>
          </a:p>
          <a:p>
            <a:pPr marL="192088" indent="-192088">
              <a:lnSpc>
                <a:spcPct val="120000"/>
              </a:lnSpc>
            </a:pPr>
            <a:endParaRPr lang="en-GB" dirty="0"/>
          </a:p>
          <a:p>
            <a:pPr marL="192088" indent="-192088">
              <a:lnSpc>
                <a:spcPct val="120000"/>
              </a:lnSpc>
            </a:pPr>
            <a:endParaRPr lang="en-GB" sz="1600" dirty="0"/>
          </a:p>
          <a:p>
            <a:pPr marL="192088" indent="-192088">
              <a:lnSpc>
                <a:spcPct val="120000"/>
              </a:lnSpc>
            </a:pPr>
            <a:endParaRPr lang="en-GB" sz="1600" dirty="0"/>
          </a:p>
          <a:p>
            <a:pPr marL="192088" indent="-192088">
              <a:lnSpc>
                <a:spcPct val="120000"/>
              </a:lnSpc>
            </a:pPr>
            <a:r>
              <a:rPr lang="en-GB" sz="1600" dirty="0"/>
              <a:t> </a:t>
            </a:r>
          </a:p>
          <a:p>
            <a:pPr marL="192088" indent="-192088">
              <a:lnSpc>
                <a:spcPct val="120000"/>
              </a:lnSpc>
              <a:buFontTx/>
              <a:buChar char="•"/>
            </a:pPr>
            <a:r>
              <a:rPr lang="en-GB" sz="1600" dirty="0"/>
              <a:t>Carrier - sinusoidal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3159125" y="3570288"/>
            <a:ext cx="5556250" cy="685800"/>
            <a:chOff x="1226" y="1384"/>
            <a:chExt cx="576" cy="432"/>
          </a:xfrm>
        </p:grpSpPr>
        <p:sp>
          <p:nvSpPr>
            <p:cNvPr id="4108" name="Freeform 9"/>
            <p:cNvSpPr>
              <a:spLocks/>
            </p:cNvSpPr>
            <p:nvPr/>
          </p:nvSpPr>
          <p:spPr bwMode="auto">
            <a:xfrm>
              <a:off x="1226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4109" name="Freeform 10"/>
            <p:cNvSpPr>
              <a:spLocks/>
            </p:cNvSpPr>
            <p:nvPr/>
          </p:nvSpPr>
          <p:spPr bwMode="auto">
            <a:xfrm>
              <a:off x="1418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4110" name="Freeform 11"/>
            <p:cNvSpPr>
              <a:spLocks/>
            </p:cNvSpPr>
            <p:nvPr/>
          </p:nvSpPr>
          <p:spPr bwMode="auto">
            <a:xfrm>
              <a:off x="1610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sp>
        <p:nvSpPr>
          <p:cNvPr id="4102" name="Line 12"/>
          <p:cNvSpPr>
            <a:spLocks noChangeShapeType="1"/>
          </p:cNvSpPr>
          <p:nvPr/>
        </p:nvSpPr>
        <p:spPr bwMode="auto">
          <a:xfrm>
            <a:off x="5924550" y="3916363"/>
            <a:ext cx="0" cy="1154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4103" name="Line 13"/>
          <p:cNvSpPr>
            <a:spLocks noChangeShapeType="1"/>
          </p:cNvSpPr>
          <p:nvPr/>
        </p:nvSpPr>
        <p:spPr bwMode="auto">
          <a:xfrm>
            <a:off x="7742238" y="3895725"/>
            <a:ext cx="0" cy="1185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4104" name="Text Box 14"/>
          <p:cNvSpPr txBox="1">
            <a:spLocks noChangeArrowheads="1"/>
          </p:cNvSpPr>
          <p:nvPr/>
        </p:nvSpPr>
        <p:spPr bwMode="auto">
          <a:xfrm>
            <a:off x="7359650" y="3227179"/>
            <a:ext cx="121602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GB" sz="1600"/>
              <a:t>y = sin </a:t>
            </a:r>
            <a:r>
              <a:rPr lang="en-GB" sz="1600" i="1"/>
              <a:t>x</a:t>
            </a:r>
            <a:endParaRPr lang="en-GB" sz="1600"/>
          </a:p>
        </p:txBody>
      </p:sp>
      <p:sp>
        <p:nvSpPr>
          <p:cNvPr id="4105" name="Text Box 15"/>
          <p:cNvSpPr txBox="1">
            <a:spLocks noChangeArrowheads="1"/>
          </p:cNvSpPr>
          <p:nvPr/>
        </p:nvSpPr>
        <p:spPr bwMode="auto">
          <a:xfrm>
            <a:off x="5491163" y="4341525"/>
            <a:ext cx="269557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GB" sz="1600" dirty="0"/>
              <a:t>Wavelength = </a:t>
            </a:r>
            <a:r>
              <a:rPr lang="en-GB" sz="1600" dirty="0">
                <a:sym typeface="Symbol" pitchFamily="18" charset="2"/>
              </a:rPr>
              <a:t></a:t>
            </a:r>
            <a:r>
              <a:rPr lang="en-GB" sz="1600" dirty="0"/>
              <a:t> </a:t>
            </a:r>
          </a:p>
          <a:p>
            <a:pPr algn="ctr"/>
            <a:r>
              <a:rPr lang="en-GB" sz="1600" dirty="0"/>
              <a:t>= 1 cycle</a:t>
            </a:r>
          </a:p>
        </p:txBody>
      </p:sp>
      <p:sp>
        <p:nvSpPr>
          <p:cNvPr id="4106" name="Line 16"/>
          <p:cNvSpPr>
            <a:spLocks noChangeShapeType="1"/>
          </p:cNvSpPr>
          <p:nvPr/>
        </p:nvSpPr>
        <p:spPr bwMode="auto">
          <a:xfrm>
            <a:off x="5957888" y="4938713"/>
            <a:ext cx="177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4107" name="Text Box 17"/>
          <p:cNvSpPr txBox="1">
            <a:spLocks noChangeArrowheads="1"/>
          </p:cNvSpPr>
          <p:nvPr/>
        </p:nvSpPr>
        <p:spPr bwMode="auto">
          <a:xfrm>
            <a:off x="5778500" y="5008989"/>
            <a:ext cx="223837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GB" sz="1600"/>
              <a:t>Frequency ... </a:t>
            </a:r>
          </a:p>
          <a:p>
            <a:pPr algn="ctr"/>
            <a:r>
              <a:rPr lang="en-GB" sz="1600"/>
              <a:t>f = cycles/second</a:t>
            </a:r>
          </a:p>
          <a:p>
            <a:pPr algn="ctr"/>
            <a:r>
              <a:rPr lang="en-GB" sz="1600"/>
              <a:t>= Hertz, Hz</a:t>
            </a:r>
          </a:p>
        </p:txBody>
      </p:sp>
      <p:sp>
        <p:nvSpPr>
          <p:cNvPr id="15" name="Freeform 6"/>
          <p:cNvSpPr>
            <a:spLocks/>
          </p:cNvSpPr>
          <p:nvPr/>
        </p:nvSpPr>
        <p:spPr bwMode="auto">
          <a:xfrm>
            <a:off x="5811583" y="909144"/>
            <a:ext cx="2785683" cy="859638"/>
          </a:xfrm>
          <a:custGeom>
            <a:avLst/>
            <a:gdLst>
              <a:gd name="T0" fmla="*/ 0 w 3840"/>
              <a:gd name="T1" fmla="*/ 2147483647 h 934"/>
              <a:gd name="T2" fmla="*/ 2147483647 w 3840"/>
              <a:gd name="T3" fmla="*/ 2147483647 h 934"/>
              <a:gd name="T4" fmla="*/ 2147483647 w 3840"/>
              <a:gd name="T5" fmla="*/ 2147483647 h 934"/>
              <a:gd name="T6" fmla="*/ 2147483647 w 3840"/>
              <a:gd name="T7" fmla="*/ 2147483647 h 934"/>
              <a:gd name="T8" fmla="*/ 2147483647 w 3840"/>
              <a:gd name="T9" fmla="*/ 2147483647 h 934"/>
              <a:gd name="T10" fmla="*/ 2147483647 w 3840"/>
              <a:gd name="T11" fmla="*/ 2147483647 h 934"/>
              <a:gd name="T12" fmla="*/ 2147483647 w 3840"/>
              <a:gd name="T13" fmla="*/ 2147483647 h 934"/>
              <a:gd name="T14" fmla="*/ 2147483647 w 3840"/>
              <a:gd name="T15" fmla="*/ 2147483647 h 934"/>
              <a:gd name="T16" fmla="*/ 2147483647 w 3840"/>
              <a:gd name="T17" fmla="*/ 2147483647 h 934"/>
              <a:gd name="T18" fmla="*/ 2147483647 w 3840"/>
              <a:gd name="T19" fmla="*/ 2147483647 h 934"/>
              <a:gd name="T20" fmla="*/ 2147483647 w 3840"/>
              <a:gd name="T21" fmla="*/ 2147483647 h 934"/>
              <a:gd name="T22" fmla="*/ 2147483647 w 3840"/>
              <a:gd name="T23" fmla="*/ 2147483647 h 934"/>
              <a:gd name="T24" fmla="*/ 2147483647 w 3840"/>
              <a:gd name="T25" fmla="*/ 2147483647 h 934"/>
              <a:gd name="T26" fmla="*/ 2147483647 w 3840"/>
              <a:gd name="T27" fmla="*/ 2147483647 h 934"/>
              <a:gd name="T28" fmla="*/ 2147483647 w 3840"/>
              <a:gd name="T29" fmla="*/ 2147483647 h 934"/>
              <a:gd name="T30" fmla="*/ 2147483647 w 3840"/>
              <a:gd name="T31" fmla="*/ 2147483647 h 93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840"/>
              <a:gd name="T49" fmla="*/ 0 h 934"/>
              <a:gd name="T50" fmla="*/ 3840 w 3840"/>
              <a:gd name="T51" fmla="*/ 934 h 934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840" h="934">
                <a:moveTo>
                  <a:pt x="0" y="502"/>
                </a:moveTo>
                <a:cubicBezTo>
                  <a:pt x="32" y="278"/>
                  <a:pt x="64" y="54"/>
                  <a:pt x="144" y="118"/>
                </a:cubicBezTo>
                <a:cubicBezTo>
                  <a:pt x="224" y="182"/>
                  <a:pt x="352" y="838"/>
                  <a:pt x="480" y="886"/>
                </a:cubicBezTo>
                <a:cubicBezTo>
                  <a:pt x="608" y="934"/>
                  <a:pt x="792" y="542"/>
                  <a:pt x="912" y="406"/>
                </a:cubicBezTo>
                <a:cubicBezTo>
                  <a:pt x="1032" y="270"/>
                  <a:pt x="1080" y="6"/>
                  <a:pt x="1200" y="70"/>
                </a:cubicBezTo>
                <a:cubicBezTo>
                  <a:pt x="1320" y="134"/>
                  <a:pt x="1528" y="662"/>
                  <a:pt x="1632" y="790"/>
                </a:cubicBezTo>
                <a:cubicBezTo>
                  <a:pt x="1736" y="918"/>
                  <a:pt x="1768" y="910"/>
                  <a:pt x="1824" y="838"/>
                </a:cubicBezTo>
                <a:cubicBezTo>
                  <a:pt x="1880" y="766"/>
                  <a:pt x="1931" y="461"/>
                  <a:pt x="1968" y="358"/>
                </a:cubicBezTo>
                <a:cubicBezTo>
                  <a:pt x="2005" y="255"/>
                  <a:pt x="2024" y="270"/>
                  <a:pt x="2048" y="222"/>
                </a:cubicBezTo>
                <a:cubicBezTo>
                  <a:pt x="2072" y="174"/>
                  <a:pt x="2061" y="0"/>
                  <a:pt x="2112" y="70"/>
                </a:cubicBezTo>
                <a:cubicBezTo>
                  <a:pt x="2163" y="140"/>
                  <a:pt x="2280" y="614"/>
                  <a:pt x="2352" y="646"/>
                </a:cubicBezTo>
                <a:cubicBezTo>
                  <a:pt x="2424" y="678"/>
                  <a:pt x="2448" y="230"/>
                  <a:pt x="2544" y="262"/>
                </a:cubicBezTo>
                <a:cubicBezTo>
                  <a:pt x="2640" y="294"/>
                  <a:pt x="2808" y="822"/>
                  <a:pt x="2928" y="838"/>
                </a:cubicBezTo>
                <a:cubicBezTo>
                  <a:pt x="3048" y="854"/>
                  <a:pt x="3176" y="398"/>
                  <a:pt x="3264" y="358"/>
                </a:cubicBezTo>
                <a:cubicBezTo>
                  <a:pt x="3352" y="318"/>
                  <a:pt x="3360" y="574"/>
                  <a:pt x="3456" y="598"/>
                </a:cubicBezTo>
                <a:cubicBezTo>
                  <a:pt x="3552" y="622"/>
                  <a:pt x="3776" y="518"/>
                  <a:pt x="3840" y="502"/>
                </a:cubicBezTo>
              </a:path>
            </a:pathLst>
          </a:cu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182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www.illustrationsof.com/royalty-free-microphone-clipart-illustration-210456.jpg"/>
          <p:cNvPicPr>
            <a:picLocks noChangeAspect="1" noChangeArrowheads="1"/>
          </p:cNvPicPr>
          <p:nvPr/>
        </p:nvPicPr>
        <p:blipFill>
          <a:blip r:embed="rId2" cstate="print"/>
          <a:srcRect r="5397" b="6487"/>
          <a:stretch>
            <a:fillRect/>
          </a:stretch>
        </p:blipFill>
        <p:spPr bwMode="auto">
          <a:xfrm>
            <a:off x="0" y="873956"/>
            <a:ext cx="2588323" cy="2573252"/>
          </a:xfrm>
          <a:prstGeom prst="rect">
            <a:avLst/>
          </a:prstGeom>
          <a:noFill/>
        </p:spPr>
      </p:pic>
      <p:sp>
        <p:nvSpPr>
          <p:cNvPr id="4" name="Freeform 6"/>
          <p:cNvSpPr>
            <a:spLocks/>
          </p:cNvSpPr>
          <p:nvPr/>
        </p:nvSpPr>
        <p:spPr bwMode="auto">
          <a:xfrm>
            <a:off x="3770890" y="331788"/>
            <a:ext cx="4834470" cy="2295302"/>
          </a:xfrm>
          <a:custGeom>
            <a:avLst/>
            <a:gdLst>
              <a:gd name="T0" fmla="*/ 0 w 3840"/>
              <a:gd name="T1" fmla="*/ 2147483647 h 934"/>
              <a:gd name="T2" fmla="*/ 2147483647 w 3840"/>
              <a:gd name="T3" fmla="*/ 2147483647 h 934"/>
              <a:gd name="T4" fmla="*/ 2147483647 w 3840"/>
              <a:gd name="T5" fmla="*/ 2147483647 h 934"/>
              <a:gd name="T6" fmla="*/ 2147483647 w 3840"/>
              <a:gd name="T7" fmla="*/ 2147483647 h 934"/>
              <a:gd name="T8" fmla="*/ 2147483647 w 3840"/>
              <a:gd name="T9" fmla="*/ 2147483647 h 934"/>
              <a:gd name="T10" fmla="*/ 2147483647 w 3840"/>
              <a:gd name="T11" fmla="*/ 2147483647 h 934"/>
              <a:gd name="T12" fmla="*/ 2147483647 w 3840"/>
              <a:gd name="T13" fmla="*/ 2147483647 h 934"/>
              <a:gd name="T14" fmla="*/ 2147483647 w 3840"/>
              <a:gd name="T15" fmla="*/ 2147483647 h 934"/>
              <a:gd name="T16" fmla="*/ 2147483647 w 3840"/>
              <a:gd name="T17" fmla="*/ 2147483647 h 934"/>
              <a:gd name="T18" fmla="*/ 2147483647 w 3840"/>
              <a:gd name="T19" fmla="*/ 2147483647 h 934"/>
              <a:gd name="T20" fmla="*/ 2147483647 w 3840"/>
              <a:gd name="T21" fmla="*/ 2147483647 h 934"/>
              <a:gd name="T22" fmla="*/ 2147483647 w 3840"/>
              <a:gd name="T23" fmla="*/ 2147483647 h 934"/>
              <a:gd name="T24" fmla="*/ 2147483647 w 3840"/>
              <a:gd name="T25" fmla="*/ 2147483647 h 934"/>
              <a:gd name="T26" fmla="*/ 2147483647 w 3840"/>
              <a:gd name="T27" fmla="*/ 2147483647 h 934"/>
              <a:gd name="T28" fmla="*/ 2147483647 w 3840"/>
              <a:gd name="T29" fmla="*/ 2147483647 h 934"/>
              <a:gd name="T30" fmla="*/ 2147483647 w 3840"/>
              <a:gd name="T31" fmla="*/ 2147483647 h 93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840"/>
              <a:gd name="T49" fmla="*/ 0 h 934"/>
              <a:gd name="T50" fmla="*/ 3840 w 3840"/>
              <a:gd name="T51" fmla="*/ 934 h 934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840" h="934">
                <a:moveTo>
                  <a:pt x="0" y="502"/>
                </a:moveTo>
                <a:cubicBezTo>
                  <a:pt x="32" y="278"/>
                  <a:pt x="64" y="54"/>
                  <a:pt x="144" y="118"/>
                </a:cubicBezTo>
                <a:cubicBezTo>
                  <a:pt x="224" y="182"/>
                  <a:pt x="352" y="838"/>
                  <a:pt x="480" y="886"/>
                </a:cubicBezTo>
                <a:cubicBezTo>
                  <a:pt x="608" y="934"/>
                  <a:pt x="792" y="542"/>
                  <a:pt x="912" y="406"/>
                </a:cubicBezTo>
                <a:cubicBezTo>
                  <a:pt x="1032" y="270"/>
                  <a:pt x="1080" y="6"/>
                  <a:pt x="1200" y="70"/>
                </a:cubicBezTo>
                <a:cubicBezTo>
                  <a:pt x="1320" y="134"/>
                  <a:pt x="1528" y="662"/>
                  <a:pt x="1632" y="790"/>
                </a:cubicBezTo>
                <a:cubicBezTo>
                  <a:pt x="1736" y="918"/>
                  <a:pt x="1768" y="910"/>
                  <a:pt x="1824" y="838"/>
                </a:cubicBezTo>
                <a:cubicBezTo>
                  <a:pt x="1880" y="766"/>
                  <a:pt x="1931" y="461"/>
                  <a:pt x="1968" y="358"/>
                </a:cubicBezTo>
                <a:cubicBezTo>
                  <a:pt x="2005" y="255"/>
                  <a:pt x="2024" y="270"/>
                  <a:pt x="2048" y="222"/>
                </a:cubicBezTo>
                <a:cubicBezTo>
                  <a:pt x="2072" y="174"/>
                  <a:pt x="2061" y="0"/>
                  <a:pt x="2112" y="70"/>
                </a:cubicBezTo>
                <a:cubicBezTo>
                  <a:pt x="2163" y="140"/>
                  <a:pt x="2280" y="614"/>
                  <a:pt x="2352" y="646"/>
                </a:cubicBezTo>
                <a:cubicBezTo>
                  <a:pt x="2424" y="678"/>
                  <a:pt x="2448" y="230"/>
                  <a:pt x="2544" y="262"/>
                </a:cubicBezTo>
                <a:cubicBezTo>
                  <a:pt x="2640" y="294"/>
                  <a:pt x="2808" y="822"/>
                  <a:pt x="2928" y="838"/>
                </a:cubicBezTo>
                <a:cubicBezTo>
                  <a:pt x="3048" y="854"/>
                  <a:pt x="3176" y="398"/>
                  <a:pt x="3264" y="358"/>
                </a:cubicBezTo>
                <a:cubicBezTo>
                  <a:pt x="3352" y="318"/>
                  <a:pt x="3360" y="574"/>
                  <a:pt x="3456" y="598"/>
                </a:cubicBezTo>
                <a:cubicBezTo>
                  <a:pt x="3552" y="622"/>
                  <a:pt x="3776" y="518"/>
                  <a:pt x="3840" y="502"/>
                </a:cubicBezTo>
              </a:path>
            </a:pathLst>
          </a:cu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395288" y="331788"/>
            <a:ext cx="124104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400" b="1" dirty="0"/>
              <a:t>Signals</a:t>
            </a:r>
          </a:p>
        </p:txBody>
      </p:sp>
      <p:sp>
        <p:nvSpPr>
          <p:cNvPr id="6" name="Text Box 21"/>
          <p:cNvSpPr txBox="1">
            <a:spLocks noChangeArrowheads="1"/>
          </p:cNvSpPr>
          <p:nvPr/>
        </p:nvSpPr>
        <p:spPr bwMode="auto">
          <a:xfrm>
            <a:off x="6822570" y="2572426"/>
            <a:ext cx="570990" cy="30777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i="1" dirty="0"/>
              <a:t>time</a:t>
            </a:r>
            <a:endParaRPr lang="en-GB" sz="2400" i="1" dirty="0"/>
          </a:p>
        </p:txBody>
      </p:sp>
      <p:sp>
        <p:nvSpPr>
          <p:cNvPr id="7" name="Line 22"/>
          <p:cNvSpPr>
            <a:spLocks noChangeShapeType="1"/>
          </p:cNvSpPr>
          <p:nvPr/>
        </p:nvSpPr>
        <p:spPr bwMode="auto">
          <a:xfrm flipV="1">
            <a:off x="7470309" y="2733774"/>
            <a:ext cx="599035" cy="39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8" name="Line 22"/>
          <p:cNvSpPr>
            <a:spLocks noChangeShapeType="1"/>
          </p:cNvSpPr>
          <p:nvPr/>
        </p:nvSpPr>
        <p:spPr bwMode="auto">
          <a:xfrm flipH="1" flipV="1">
            <a:off x="3463392" y="636447"/>
            <a:ext cx="8092" cy="184498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9" name="Text Box 21"/>
          <p:cNvSpPr txBox="1">
            <a:spLocks noChangeArrowheads="1"/>
          </p:cNvSpPr>
          <p:nvPr/>
        </p:nvSpPr>
        <p:spPr bwMode="auto">
          <a:xfrm>
            <a:off x="2555695" y="705981"/>
            <a:ext cx="817853" cy="30777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i="1" dirty="0"/>
              <a:t>voltage</a:t>
            </a:r>
            <a:endParaRPr lang="en-GB" sz="1800" i="1" dirty="0"/>
          </a:p>
        </p:txBody>
      </p:sp>
      <p:sp>
        <p:nvSpPr>
          <p:cNvPr id="12" name="Line 5"/>
          <p:cNvSpPr>
            <a:spLocks noChangeShapeType="1"/>
          </p:cNvSpPr>
          <p:nvPr/>
        </p:nvSpPr>
        <p:spPr bwMode="auto">
          <a:xfrm>
            <a:off x="1249883" y="5724850"/>
            <a:ext cx="7912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 flipV="1">
            <a:off x="1338783" y="3134050"/>
            <a:ext cx="0" cy="2589213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 flipH="1" flipV="1">
            <a:off x="3785613" y="5004209"/>
            <a:ext cx="12700" cy="1092200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6" name="Line 16"/>
          <p:cNvSpPr>
            <a:spLocks noChangeShapeType="1"/>
          </p:cNvSpPr>
          <p:nvPr/>
        </p:nvSpPr>
        <p:spPr bwMode="auto">
          <a:xfrm flipV="1">
            <a:off x="1326083" y="5988106"/>
            <a:ext cx="2444805" cy="34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2108734" y="5869004"/>
            <a:ext cx="832279" cy="33855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/>
              <a:t>20kHz</a:t>
            </a:r>
            <a:endParaRPr lang="en-GB" sz="2000" dirty="0"/>
          </a:p>
        </p:txBody>
      </p:sp>
      <p:sp>
        <p:nvSpPr>
          <p:cNvPr id="20" name="Line 10"/>
          <p:cNvSpPr>
            <a:spLocks noChangeShapeType="1"/>
          </p:cNvSpPr>
          <p:nvPr/>
        </p:nvSpPr>
        <p:spPr bwMode="auto">
          <a:xfrm flipV="1">
            <a:off x="1314507" y="3134050"/>
            <a:ext cx="0" cy="25892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1" name="Line 15"/>
          <p:cNvSpPr>
            <a:spLocks noChangeShapeType="1"/>
          </p:cNvSpPr>
          <p:nvPr/>
        </p:nvSpPr>
        <p:spPr bwMode="auto">
          <a:xfrm flipH="1" flipV="1">
            <a:off x="3761337" y="5004209"/>
            <a:ext cx="12700" cy="1092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2" name="Text Box 21"/>
          <p:cNvSpPr txBox="1">
            <a:spLocks noChangeArrowheads="1"/>
          </p:cNvSpPr>
          <p:nvPr/>
        </p:nvSpPr>
        <p:spPr bwMode="auto">
          <a:xfrm>
            <a:off x="432030" y="4129935"/>
            <a:ext cx="817853" cy="30777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i="1" dirty="0"/>
              <a:t>voltage</a:t>
            </a:r>
            <a:endParaRPr lang="en-GB" sz="1800" i="1" dirty="0"/>
          </a:p>
        </p:txBody>
      </p:sp>
      <p:sp>
        <p:nvSpPr>
          <p:cNvPr id="23" name="TextBox 22"/>
          <p:cNvSpPr txBox="1"/>
          <p:nvPr/>
        </p:nvSpPr>
        <p:spPr>
          <a:xfrm>
            <a:off x="6796727" y="622169"/>
            <a:ext cx="17439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Arial Black" pitchFamily="34" charset="0"/>
              </a:rPr>
              <a:t>TIME DOMAIN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1233" y="4713403"/>
            <a:ext cx="27903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Arial Black" pitchFamily="34" charset="0"/>
              </a:rPr>
              <a:t>FREQUENCY DOMAIN</a:t>
            </a:r>
          </a:p>
        </p:txBody>
      </p:sp>
      <p:sp>
        <p:nvSpPr>
          <p:cNvPr id="27" name="AutoShape 6"/>
          <p:cNvSpPr>
            <a:spLocks noChangeArrowheads="1"/>
          </p:cNvSpPr>
          <p:nvPr/>
        </p:nvSpPr>
        <p:spPr bwMode="auto">
          <a:xfrm flipV="1">
            <a:off x="1326083" y="4086550"/>
            <a:ext cx="2444805" cy="16256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8" name="Down Arrow 27"/>
          <p:cNvSpPr/>
          <p:nvPr/>
        </p:nvSpPr>
        <p:spPr bwMode="auto">
          <a:xfrm rot="1983744">
            <a:off x="3432586" y="2545545"/>
            <a:ext cx="801279" cy="1385740"/>
          </a:xfrm>
          <a:prstGeom prst="downArrow">
            <a:avLst/>
          </a:prstGeom>
          <a:solidFill>
            <a:schemeClr val="accent1">
              <a:alpha val="53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5" name="Text Box 21"/>
          <p:cNvSpPr txBox="1">
            <a:spLocks noChangeArrowheads="1"/>
          </p:cNvSpPr>
          <p:nvPr/>
        </p:nvSpPr>
        <p:spPr bwMode="auto">
          <a:xfrm>
            <a:off x="7108065" y="6096409"/>
            <a:ext cx="1045479" cy="30777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i="1" dirty="0"/>
              <a:t>frequency</a:t>
            </a:r>
            <a:endParaRPr lang="en-GB" sz="1800" i="1" dirty="0"/>
          </a:p>
        </p:txBody>
      </p:sp>
      <p:sp>
        <p:nvSpPr>
          <p:cNvPr id="26" name="Line 22"/>
          <p:cNvSpPr>
            <a:spLocks noChangeShapeType="1"/>
          </p:cNvSpPr>
          <p:nvPr/>
        </p:nvSpPr>
        <p:spPr bwMode="auto">
          <a:xfrm flipV="1">
            <a:off x="8150565" y="6246307"/>
            <a:ext cx="599035" cy="39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2009460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www.illustrationsof.com/royalty-free-microphone-clipart-illustration-210456.jpg"/>
          <p:cNvPicPr>
            <a:picLocks noChangeAspect="1" noChangeArrowheads="1"/>
          </p:cNvPicPr>
          <p:nvPr/>
        </p:nvPicPr>
        <p:blipFill>
          <a:blip r:embed="rId2" cstate="print"/>
          <a:srcRect r="5397" b="6487"/>
          <a:stretch>
            <a:fillRect/>
          </a:stretch>
        </p:blipFill>
        <p:spPr bwMode="auto">
          <a:xfrm>
            <a:off x="1" y="873956"/>
            <a:ext cx="2079314" cy="2067207"/>
          </a:xfrm>
          <a:prstGeom prst="rect">
            <a:avLst/>
          </a:prstGeom>
          <a:noFill/>
        </p:spPr>
      </p:pic>
      <p:sp>
        <p:nvSpPr>
          <p:cNvPr id="3" name="Freeform 6"/>
          <p:cNvSpPr>
            <a:spLocks/>
          </p:cNvSpPr>
          <p:nvPr/>
        </p:nvSpPr>
        <p:spPr bwMode="auto">
          <a:xfrm>
            <a:off x="2867253" y="897397"/>
            <a:ext cx="2477746" cy="997391"/>
          </a:xfrm>
          <a:custGeom>
            <a:avLst/>
            <a:gdLst>
              <a:gd name="T0" fmla="*/ 0 w 3840"/>
              <a:gd name="T1" fmla="*/ 2147483647 h 934"/>
              <a:gd name="T2" fmla="*/ 2147483647 w 3840"/>
              <a:gd name="T3" fmla="*/ 2147483647 h 934"/>
              <a:gd name="T4" fmla="*/ 2147483647 w 3840"/>
              <a:gd name="T5" fmla="*/ 2147483647 h 934"/>
              <a:gd name="T6" fmla="*/ 2147483647 w 3840"/>
              <a:gd name="T7" fmla="*/ 2147483647 h 934"/>
              <a:gd name="T8" fmla="*/ 2147483647 w 3840"/>
              <a:gd name="T9" fmla="*/ 2147483647 h 934"/>
              <a:gd name="T10" fmla="*/ 2147483647 w 3840"/>
              <a:gd name="T11" fmla="*/ 2147483647 h 934"/>
              <a:gd name="T12" fmla="*/ 2147483647 w 3840"/>
              <a:gd name="T13" fmla="*/ 2147483647 h 934"/>
              <a:gd name="T14" fmla="*/ 2147483647 w 3840"/>
              <a:gd name="T15" fmla="*/ 2147483647 h 934"/>
              <a:gd name="T16" fmla="*/ 2147483647 w 3840"/>
              <a:gd name="T17" fmla="*/ 2147483647 h 934"/>
              <a:gd name="T18" fmla="*/ 2147483647 w 3840"/>
              <a:gd name="T19" fmla="*/ 2147483647 h 934"/>
              <a:gd name="T20" fmla="*/ 2147483647 w 3840"/>
              <a:gd name="T21" fmla="*/ 2147483647 h 934"/>
              <a:gd name="T22" fmla="*/ 2147483647 w 3840"/>
              <a:gd name="T23" fmla="*/ 2147483647 h 934"/>
              <a:gd name="T24" fmla="*/ 2147483647 w 3840"/>
              <a:gd name="T25" fmla="*/ 2147483647 h 934"/>
              <a:gd name="T26" fmla="*/ 2147483647 w 3840"/>
              <a:gd name="T27" fmla="*/ 2147483647 h 934"/>
              <a:gd name="T28" fmla="*/ 2147483647 w 3840"/>
              <a:gd name="T29" fmla="*/ 2147483647 h 934"/>
              <a:gd name="T30" fmla="*/ 2147483647 w 3840"/>
              <a:gd name="T31" fmla="*/ 2147483647 h 93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840"/>
              <a:gd name="T49" fmla="*/ 0 h 934"/>
              <a:gd name="T50" fmla="*/ 3840 w 3840"/>
              <a:gd name="T51" fmla="*/ 934 h 934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840" h="934">
                <a:moveTo>
                  <a:pt x="0" y="502"/>
                </a:moveTo>
                <a:cubicBezTo>
                  <a:pt x="32" y="278"/>
                  <a:pt x="64" y="54"/>
                  <a:pt x="144" y="118"/>
                </a:cubicBezTo>
                <a:cubicBezTo>
                  <a:pt x="224" y="182"/>
                  <a:pt x="352" y="838"/>
                  <a:pt x="480" y="886"/>
                </a:cubicBezTo>
                <a:cubicBezTo>
                  <a:pt x="608" y="934"/>
                  <a:pt x="792" y="542"/>
                  <a:pt x="912" y="406"/>
                </a:cubicBezTo>
                <a:cubicBezTo>
                  <a:pt x="1032" y="270"/>
                  <a:pt x="1080" y="6"/>
                  <a:pt x="1200" y="70"/>
                </a:cubicBezTo>
                <a:cubicBezTo>
                  <a:pt x="1320" y="134"/>
                  <a:pt x="1528" y="662"/>
                  <a:pt x="1632" y="790"/>
                </a:cubicBezTo>
                <a:cubicBezTo>
                  <a:pt x="1736" y="918"/>
                  <a:pt x="1768" y="910"/>
                  <a:pt x="1824" y="838"/>
                </a:cubicBezTo>
                <a:cubicBezTo>
                  <a:pt x="1880" y="766"/>
                  <a:pt x="1931" y="461"/>
                  <a:pt x="1968" y="358"/>
                </a:cubicBezTo>
                <a:cubicBezTo>
                  <a:pt x="2005" y="255"/>
                  <a:pt x="2024" y="270"/>
                  <a:pt x="2048" y="222"/>
                </a:cubicBezTo>
                <a:cubicBezTo>
                  <a:pt x="2072" y="174"/>
                  <a:pt x="2061" y="0"/>
                  <a:pt x="2112" y="70"/>
                </a:cubicBezTo>
                <a:cubicBezTo>
                  <a:pt x="2163" y="140"/>
                  <a:pt x="2280" y="614"/>
                  <a:pt x="2352" y="646"/>
                </a:cubicBezTo>
                <a:cubicBezTo>
                  <a:pt x="2424" y="678"/>
                  <a:pt x="2448" y="230"/>
                  <a:pt x="2544" y="262"/>
                </a:cubicBezTo>
                <a:cubicBezTo>
                  <a:pt x="2640" y="294"/>
                  <a:pt x="2808" y="822"/>
                  <a:pt x="2928" y="838"/>
                </a:cubicBezTo>
                <a:cubicBezTo>
                  <a:pt x="3048" y="854"/>
                  <a:pt x="3176" y="398"/>
                  <a:pt x="3264" y="358"/>
                </a:cubicBezTo>
                <a:cubicBezTo>
                  <a:pt x="3352" y="318"/>
                  <a:pt x="3360" y="574"/>
                  <a:pt x="3456" y="598"/>
                </a:cubicBezTo>
                <a:cubicBezTo>
                  <a:pt x="3552" y="622"/>
                  <a:pt x="3776" y="518"/>
                  <a:pt x="3840" y="502"/>
                </a:cubicBezTo>
              </a:path>
            </a:pathLst>
          </a:cu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432030" y="330873"/>
            <a:ext cx="872065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2400" b="1" dirty="0"/>
              <a:t>Signals – </a:t>
            </a:r>
            <a:r>
              <a:rPr lang="en-GB" sz="1800" dirty="0"/>
              <a:t>transmitting more than one signal on a channel </a:t>
            </a:r>
            <a:r>
              <a:rPr lang="en-GB" sz="1800" b="1" dirty="0"/>
              <a:t>- multiplexing</a:t>
            </a:r>
            <a:r>
              <a:rPr lang="en-GB" sz="2400" b="1" dirty="0"/>
              <a:t> </a:t>
            </a:r>
          </a:p>
        </p:txBody>
      </p:sp>
      <p:sp>
        <p:nvSpPr>
          <p:cNvPr id="9" name="Line 5"/>
          <p:cNvSpPr>
            <a:spLocks noChangeShapeType="1"/>
          </p:cNvSpPr>
          <p:nvPr/>
        </p:nvSpPr>
        <p:spPr bwMode="auto">
          <a:xfrm flipV="1">
            <a:off x="1249883" y="5712643"/>
            <a:ext cx="7017424" cy="1220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auto">
          <a:xfrm flipV="1">
            <a:off x="1326083" y="4086550"/>
            <a:ext cx="2444805" cy="16256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 flipV="1">
            <a:off x="1338783" y="3134050"/>
            <a:ext cx="0" cy="2589213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2" name="Line 15"/>
          <p:cNvSpPr>
            <a:spLocks noChangeShapeType="1"/>
          </p:cNvSpPr>
          <p:nvPr/>
        </p:nvSpPr>
        <p:spPr bwMode="auto">
          <a:xfrm flipH="1" flipV="1">
            <a:off x="3785613" y="5004209"/>
            <a:ext cx="12700" cy="1092200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3" name="Line 16"/>
          <p:cNvSpPr>
            <a:spLocks noChangeShapeType="1"/>
          </p:cNvSpPr>
          <p:nvPr/>
        </p:nvSpPr>
        <p:spPr bwMode="auto">
          <a:xfrm flipV="1">
            <a:off x="1326083" y="5988106"/>
            <a:ext cx="2444805" cy="34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4" name="Text Box 17"/>
          <p:cNvSpPr txBox="1">
            <a:spLocks noChangeArrowheads="1"/>
          </p:cNvSpPr>
          <p:nvPr/>
        </p:nvSpPr>
        <p:spPr bwMode="auto">
          <a:xfrm>
            <a:off x="2108734" y="5869004"/>
            <a:ext cx="832279" cy="33855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/>
              <a:t>20kHz</a:t>
            </a:r>
            <a:endParaRPr lang="en-GB" sz="2000" dirty="0"/>
          </a:p>
        </p:txBody>
      </p:sp>
      <p:sp>
        <p:nvSpPr>
          <p:cNvPr id="17" name="Line 10"/>
          <p:cNvSpPr>
            <a:spLocks noChangeShapeType="1"/>
          </p:cNvSpPr>
          <p:nvPr/>
        </p:nvSpPr>
        <p:spPr bwMode="auto">
          <a:xfrm flipV="1">
            <a:off x="1314507" y="3134050"/>
            <a:ext cx="0" cy="25892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 flipH="1" flipV="1">
            <a:off x="3761337" y="5004209"/>
            <a:ext cx="12700" cy="1092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pic>
        <p:nvPicPr>
          <p:cNvPr id="79874" name="Picture 2" descr="Royalty-Free (RF) Microphone Clipart Illustration by BestVector - Stock Sample #210039"/>
          <p:cNvPicPr>
            <a:picLocks noChangeAspect="1" noChangeArrowheads="1"/>
          </p:cNvPicPr>
          <p:nvPr/>
        </p:nvPicPr>
        <p:blipFill>
          <a:blip r:embed="rId3" cstate="print"/>
          <a:srcRect b="4846"/>
          <a:stretch>
            <a:fillRect/>
          </a:stretch>
        </p:blipFill>
        <p:spPr bwMode="auto">
          <a:xfrm flipH="1">
            <a:off x="6315959" y="1519495"/>
            <a:ext cx="2553322" cy="2222947"/>
          </a:xfrm>
          <a:prstGeom prst="rect">
            <a:avLst/>
          </a:prstGeom>
          <a:noFill/>
        </p:spPr>
      </p:pic>
      <p:sp>
        <p:nvSpPr>
          <p:cNvPr id="21" name="Freeform 20"/>
          <p:cNvSpPr/>
          <p:nvPr/>
        </p:nvSpPr>
        <p:spPr bwMode="auto">
          <a:xfrm>
            <a:off x="4345757" y="2328421"/>
            <a:ext cx="2073897" cy="948998"/>
          </a:xfrm>
          <a:custGeom>
            <a:avLst/>
            <a:gdLst>
              <a:gd name="connsiteX0" fmla="*/ 0 w 2073897"/>
              <a:gd name="connsiteY0" fmla="*/ 537327 h 948998"/>
              <a:gd name="connsiteX1" fmla="*/ 28280 w 2073897"/>
              <a:gd name="connsiteY1" fmla="*/ 480767 h 948998"/>
              <a:gd name="connsiteX2" fmla="*/ 47134 w 2073897"/>
              <a:gd name="connsiteY2" fmla="*/ 443059 h 948998"/>
              <a:gd name="connsiteX3" fmla="*/ 94268 w 2073897"/>
              <a:gd name="connsiteY3" fmla="*/ 348791 h 948998"/>
              <a:gd name="connsiteX4" fmla="*/ 113121 w 2073897"/>
              <a:gd name="connsiteY4" fmla="*/ 405352 h 948998"/>
              <a:gd name="connsiteX5" fmla="*/ 131975 w 2073897"/>
              <a:gd name="connsiteY5" fmla="*/ 433633 h 948998"/>
              <a:gd name="connsiteX6" fmla="*/ 150829 w 2073897"/>
              <a:gd name="connsiteY6" fmla="*/ 490193 h 948998"/>
              <a:gd name="connsiteX7" fmla="*/ 169682 w 2073897"/>
              <a:gd name="connsiteY7" fmla="*/ 452486 h 948998"/>
              <a:gd name="connsiteX8" fmla="*/ 216816 w 2073897"/>
              <a:gd name="connsiteY8" fmla="*/ 367645 h 948998"/>
              <a:gd name="connsiteX9" fmla="*/ 254523 w 2073897"/>
              <a:gd name="connsiteY9" fmla="*/ 292231 h 948998"/>
              <a:gd name="connsiteX10" fmla="*/ 273377 w 2073897"/>
              <a:gd name="connsiteY10" fmla="*/ 216816 h 948998"/>
              <a:gd name="connsiteX11" fmla="*/ 292231 w 2073897"/>
              <a:gd name="connsiteY11" fmla="*/ 188536 h 948998"/>
              <a:gd name="connsiteX12" fmla="*/ 329938 w 2073897"/>
              <a:gd name="connsiteY12" fmla="*/ 179109 h 948998"/>
              <a:gd name="connsiteX13" fmla="*/ 339365 w 2073897"/>
              <a:gd name="connsiteY13" fmla="*/ 150828 h 948998"/>
              <a:gd name="connsiteX14" fmla="*/ 348791 w 2073897"/>
              <a:gd name="connsiteY14" fmla="*/ 113121 h 948998"/>
              <a:gd name="connsiteX15" fmla="*/ 367645 w 2073897"/>
              <a:gd name="connsiteY15" fmla="*/ 75414 h 948998"/>
              <a:gd name="connsiteX16" fmla="*/ 386499 w 2073897"/>
              <a:gd name="connsiteY16" fmla="*/ 0 h 948998"/>
              <a:gd name="connsiteX17" fmla="*/ 452486 w 2073897"/>
              <a:gd name="connsiteY17" fmla="*/ 18853 h 948998"/>
              <a:gd name="connsiteX18" fmla="*/ 518474 w 2073897"/>
              <a:gd name="connsiteY18" fmla="*/ 84841 h 948998"/>
              <a:gd name="connsiteX19" fmla="*/ 546754 w 2073897"/>
              <a:gd name="connsiteY19" fmla="*/ 75414 h 948998"/>
              <a:gd name="connsiteX20" fmla="*/ 603315 w 2073897"/>
              <a:gd name="connsiteY20" fmla="*/ 37707 h 948998"/>
              <a:gd name="connsiteX21" fmla="*/ 622169 w 2073897"/>
              <a:gd name="connsiteY21" fmla="*/ 9426 h 948998"/>
              <a:gd name="connsiteX22" fmla="*/ 641022 w 2073897"/>
              <a:gd name="connsiteY22" fmla="*/ 65987 h 948998"/>
              <a:gd name="connsiteX23" fmla="*/ 659876 w 2073897"/>
              <a:gd name="connsiteY23" fmla="*/ 103694 h 948998"/>
              <a:gd name="connsiteX24" fmla="*/ 678730 w 2073897"/>
              <a:gd name="connsiteY24" fmla="*/ 179109 h 948998"/>
              <a:gd name="connsiteX25" fmla="*/ 688156 w 2073897"/>
              <a:gd name="connsiteY25" fmla="*/ 216816 h 948998"/>
              <a:gd name="connsiteX26" fmla="*/ 707010 w 2073897"/>
              <a:gd name="connsiteY26" fmla="*/ 245097 h 948998"/>
              <a:gd name="connsiteX27" fmla="*/ 716437 w 2073897"/>
              <a:gd name="connsiteY27" fmla="*/ 292231 h 948998"/>
              <a:gd name="connsiteX28" fmla="*/ 744717 w 2073897"/>
              <a:gd name="connsiteY28" fmla="*/ 405352 h 948998"/>
              <a:gd name="connsiteX29" fmla="*/ 763571 w 2073897"/>
              <a:gd name="connsiteY29" fmla="*/ 509047 h 948998"/>
              <a:gd name="connsiteX30" fmla="*/ 782424 w 2073897"/>
              <a:gd name="connsiteY30" fmla="*/ 546754 h 948998"/>
              <a:gd name="connsiteX31" fmla="*/ 791851 w 2073897"/>
              <a:gd name="connsiteY31" fmla="*/ 575035 h 948998"/>
              <a:gd name="connsiteX32" fmla="*/ 810705 w 2073897"/>
              <a:gd name="connsiteY32" fmla="*/ 697583 h 948998"/>
              <a:gd name="connsiteX33" fmla="*/ 829558 w 2073897"/>
              <a:gd name="connsiteY33" fmla="*/ 725864 h 948998"/>
              <a:gd name="connsiteX34" fmla="*/ 838985 w 2073897"/>
              <a:gd name="connsiteY34" fmla="*/ 772998 h 948998"/>
              <a:gd name="connsiteX35" fmla="*/ 848412 w 2073897"/>
              <a:gd name="connsiteY35" fmla="*/ 810705 h 948998"/>
              <a:gd name="connsiteX36" fmla="*/ 867266 w 2073897"/>
              <a:gd name="connsiteY36" fmla="*/ 754144 h 948998"/>
              <a:gd name="connsiteX37" fmla="*/ 886119 w 2073897"/>
              <a:gd name="connsiteY37" fmla="*/ 678730 h 948998"/>
              <a:gd name="connsiteX38" fmla="*/ 914400 w 2073897"/>
              <a:gd name="connsiteY38" fmla="*/ 612742 h 948998"/>
              <a:gd name="connsiteX39" fmla="*/ 952107 w 2073897"/>
              <a:gd name="connsiteY39" fmla="*/ 669303 h 948998"/>
              <a:gd name="connsiteX40" fmla="*/ 961534 w 2073897"/>
              <a:gd name="connsiteY40" fmla="*/ 707010 h 948998"/>
              <a:gd name="connsiteX41" fmla="*/ 989814 w 2073897"/>
              <a:gd name="connsiteY41" fmla="*/ 716437 h 948998"/>
              <a:gd name="connsiteX42" fmla="*/ 1008668 w 2073897"/>
              <a:gd name="connsiteY42" fmla="*/ 820132 h 948998"/>
              <a:gd name="connsiteX43" fmla="*/ 1027521 w 2073897"/>
              <a:gd name="connsiteY43" fmla="*/ 857839 h 948998"/>
              <a:gd name="connsiteX44" fmla="*/ 1046375 w 2073897"/>
              <a:gd name="connsiteY44" fmla="*/ 933253 h 948998"/>
              <a:gd name="connsiteX45" fmla="*/ 1074655 w 2073897"/>
              <a:gd name="connsiteY45" fmla="*/ 801278 h 948998"/>
              <a:gd name="connsiteX46" fmla="*/ 1102936 w 2073897"/>
              <a:gd name="connsiteY46" fmla="*/ 725864 h 948998"/>
              <a:gd name="connsiteX47" fmla="*/ 1159497 w 2073897"/>
              <a:gd name="connsiteY47" fmla="*/ 735290 h 948998"/>
              <a:gd name="connsiteX48" fmla="*/ 1168923 w 2073897"/>
              <a:gd name="connsiteY48" fmla="*/ 707010 h 948998"/>
              <a:gd name="connsiteX49" fmla="*/ 1187777 w 2073897"/>
              <a:gd name="connsiteY49" fmla="*/ 678730 h 948998"/>
              <a:gd name="connsiteX50" fmla="*/ 1216057 w 2073897"/>
              <a:gd name="connsiteY50" fmla="*/ 603315 h 948998"/>
              <a:gd name="connsiteX51" fmla="*/ 1244338 w 2073897"/>
              <a:gd name="connsiteY51" fmla="*/ 593888 h 948998"/>
              <a:gd name="connsiteX52" fmla="*/ 1272618 w 2073897"/>
              <a:gd name="connsiteY52" fmla="*/ 527901 h 948998"/>
              <a:gd name="connsiteX53" fmla="*/ 1282045 w 2073897"/>
              <a:gd name="connsiteY53" fmla="*/ 499620 h 948998"/>
              <a:gd name="connsiteX54" fmla="*/ 1310325 w 2073897"/>
              <a:gd name="connsiteY54" fmla="*/ 490193 h 948998"/>
              <a:gd name="connsiteX55" fmla="*/ 1319752 w 2073897"/>
              <a:gd name="connsiteY55" fmla="*/ 518474 h 948998"/>
              <a:gd name="connsiteX56" fmla="*/ 1366886 w 2073897"/>
              <a:gd name="connsiteY56" fmla="*/ 499620 h 948998"/>
              <a:gd name="connsiteX57" fmla="*/ 1404594 w 2073897"/>
              <a:gd name="connsiteY57" fmla="*/ 443059 h 948998"/>
              <a:gd name="connsiteX58" fmla="*/ 1480008 w 2073897"/>
              <a:gd name="connsiteY58" fmla="*/ 433633 h 948998"/>
              <a:gd name="connsiteX59" fmla="*/ 1489435 w 2073897"/>
              <a:gd name="connsiteY59" fmla="*/ 405352 h 948998"/>
              <a:gd name="connsiteX60" fmla="*/ 1545996 w 2073897"/>
              <a:gd name="connsiteY60" fmla="*/ 320511 h 948998"/>
              <a:gd name="connsiteX61" fmla="*/ 1555422 w 2073897"/>
              <a:gd name="connsiteY61" fmla="*/ 292231 h 948998"/>
              <a:gd name="connsiteX62" fmla="*/ 1574276 w 2073897"/>
              <a:gd name="connsiteY62" fmla="*/ 245097 h 948998"/>
              <a:gd name="connsiteX63" fmla="*/ 1583703 w 2073897"/>
              <a:gd name="connsiteY63" fmla="*/ 197963 h 948998"/>
              <a:gd name="connsiteX64" fmla="*/ 1602556 w 2073897"/>
              <a:gd name="connsiteY64" fmla="*/ 160255 h 948998"/>
              <a:gd name="connsiteX65" fmla="*/ 1611983 w 2073897"/>
              <a:gd name="connsiteY65" fmla="*/ 131975 h 948998"/>
              <a:gd name="connsiteX66" fmla="*/ 1621410 w 2073897"/>
              <a:gd name="connsiteY66" fmla="*/ 273377 h 948998"/>
              <a:gd name="connsiteX67" fmla="*/ 1640264 w 2073897"/>
              <a:gd name="connsiteY67" fmla="*/ 301657 h 948998"/>
              <a:gd name="connsiteX68" fmla="*/ 1649690 w 2073897"/>
              <a:gd name="connsiteY68" fmla="*/ 339365 h 948998"/>
              <a:gd name="connsiteX69" fmla="*/ 1696824 w 2073897"/>
              <a:gd name="connsiteY69" fmla="*/ 301657 h 948998"/>
              <a:gd name="connsiteX70" fmla="*/ 1734532 w 2073897"/>
              <a:gd name="connsiteY70" fmla="*/ 329938 h 948998"/>
              <a:gd name="connsiteX71" fmla="*/ 1753385 w 2073897"/>
              <a:gd name="connsiteY71" fmla="*/ 254523 h 948998"/>
              <a:gd name="connsiteX72" fmla="*/ 1772239 w 2073897"/>
              <a:gd name="connsiteY72" fmla="*/ 197963 h 948998"/>
              <a:gd name="connsiteX73" fmla="*/ 1781666 w 2073897"/>
              <a:gd name="connsiteY73" fmla="*/ 131975 h 948998"/>
              <a:gd name="connsiteX74" fmla="*/ 1819373 w 2073897"/>
              <a:gd name="connsiteY74" fmla="*/ 160255 h 948998"/>
              <a:gd name="connsiteX75" fmla="*/ 1857080 w 2073897"/>
              <a:gd name="connsiteY75" fmla="*/ 207389 h 948998"/>
              <a:gd name="connsiteX76" fmla="*/ 1866507 w 2073897"/>
              <a:gd name="connsiteY76" fmla="*/ 235670 h 948998"/>
              <a:gd name="connsiteX77" fmla="*/ 1904214 w 2073897"/>
              <a:gd name="connsiteY77" fmla="*/ 245097 h 948998"/>
              <a:gd name="connsiteX78" fmla="*/ 1932495 w 2073897"/>
              <a:gd name="connsiteY78" fmla="*/ 273377 h 948998"/>
              <a:gd name="connsiteX79" fmla="*/ 1989055 w 2073897"/>
              <a:gd name="connsiteY79" fmla="*/ 395925 h 948998"/>
              <a:gd name="connsiteX80" fmla="*/ 1998482 w 2073897"/>
              <a:gd name="connsiteY80" fmla="*/ 433633 h 948998"/>
              <a:gd name="connsiteX81" fmla="*/ 2026763 w 2073897"/>
              <a:gd name="connsiteY81" fmla="*/ 452486 h 948998"/>
              <a:gd name="connsiteX82" fmla="*/ 2045616 w 2073897"/>
              <a:gd name="connsiteY82" fmla="*/ 509047 h 948998"/>
              <a:gd name="connsiteX83" fmla="*/ 2055043 w 2073897"/>
              <a:gd name="connsiteY83" fmla="*/ 537327 h 948998"/>
              <a:gd name="connsiteX84" fmla="*/ 2073897 w 2073897"/>
              <a:gd name="connsiteY84" fmla="*/ 537327 h 948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2073897" h="948998">
                <a:moveTo>
                  <a:pt x="0" y="537327"/>
                </a:moveTo>
                <a:cubicBezTo>
                  <a:pt x="36231" y="482979"/>
                  <a:pt x="4863" y="535406"/>
                  <a:pt x="28280" y="480767"/>
                </a:cubicBezTo>
                <a:cubicBezTo>
                  <a:pt x="33816" y="467850"/>
                  <a:pt x="42690" y="456391"/>
                  <a:pt x="47134" y="443059"/>
                </a:cubicBezTo>
                <a:cubicBezTo>
                  <a:pt x="77993" y="350481"/>
                  <a:pt x="40379" y="384717"/>
                  <a:pt x="94268" y="348791"/>
                </a:cubicBezTo>
                <a:cubicBezTo>
                  <a:pt x="100552" y="367645"/>
                  <a:pt x="102097" y="388816"/>
                  <a:pt x="113121" y="405352"/>
                </a:cubicBezTo>
                <a:cubicBezTo>
                  <a:pt x="119406" y="414779"/>
                  <a:pt x="127373" y="423280"/>
                  <a:pt x="131975" y="433633"/>
                </a:cubicBezTo>
                <a:cubicBezTo>
                  <a:pt x="140046" y="451793"/>
                  <a:pt x="150829" y="490193"/>
                  <a:pt x="150829" y="490193"/>
                </a:cubicBezTo>
                <a:cubicBezTo>
                  <a:pt x="157113" y="477624"/>
                  <a:pt x="165238" y="465817"/>
                  <a:pt x="169682" y="452486"/>
                </a:cubicBezTo>
                <a:cubicBezTo>
                  <a:pt x="198919" y="364774"/>
                  <a:pt x="160897" y="386285"/>
                  <a:pt x="216816" y="367645"/>
                </a:cubicBezTo>
                <a:cubicBezTo>
                  <a:pt x="229385" y="342507"/>
                  <a:pt x="249011" y="319790"/>
                  <a:pt x="254523" y="292231"/>
                </a:cubicBezTo>
                <a:cubicBezTo>
                  <a:pt x="258108" y="274305"/>
                  <a:pt x="263715" y="236140"/>
                  <a:pt x="273377" y="216816"/>
                </a:cubicBezTo>
                <a:cubicBezTo>
                  <a:pt x="278444" y="206683"/>
                  <a:pt x="282804" y="194820"/>
                  <a:pt x="292231" y="188536"/>
                </a:cubicBezTo>
                <a:cubicBezTo>
                  <a:pt x="303011" y="181349"/>
                  <a:pt x="317369" y="182251"/>
                  <a:pt x="329938" y="179109"/>
                </a:cubicBezTo>
                <a:cubicBezTo>
                  <a:pt x="333080" y="169682"/>
                  <a:pt x="336635" y="160383"/>
                  <a:pt x="339365" y="150828"/>
                </a:cubicBezTo>
                <a:cubicBezTo>
                  <a:pt x="342924" y="138371"/>
                  <a:pt x="344242" y="125252"/>
                  <a:pt x="348791" y="113121"/>
                </a:cubicBezTo>
                <a:cubicBezTo>
                  <a:pt x="353725" y="99963"/>
                  <a:pt x="363201" y="88745"/>
                  <a:pt x="367645" y="75414"/>
                </a:cubicBezTo>
                <a:cubicBezTo>
                  <a:pt x="375839" y="50832"/>
                  <a:pt x="386499" y="0"/>
                  <a:pt x="386499" y="0"/>
                </a:cubicBezTo>
                <a:cubicBezTo>
                  <a:pt x="408495" y="6284"/>
                  <a:pt x="433985" y="5398"/>
                  <a:pt x="452486" y="18853"/>
                </a:cubicBezTo>
                <a:cubicBezTo>
                  <a:pt x="580485" y="111942"/>
                  <a:pt x="431520" y="55855"/>
                  <a:pt x="518474" y="84841"/>
                </a:cubicBezTo>
                <a:cubicBezTo>
                  <a:pt x="527901" y="81699"/>
                  <a:pt x="538486" y="80926"/>
                  <a:pt x="546754" y="75414"/>
                </a:cubicBezTo>
                <a:cubicBezTo>
                  <a:pt x="617367" y="28339"/>
                  <a:pt x="536072" y="60122"/>
                  <a:pt x="603315" y="37707"/>
                </a:cubicBezTo>
                <a:cubicBezTo>
                  <a:pt x="609600" y="28280"/>
                  <a:pt x="613105" y="2628"/>
                  <a:pt x="622169" y="9426"/>
                </a:cubicBezTo>
                <a:cubicBezTo>
                  <a:pt x="638068" y="21350"/>
                  <a:pt x="632134" y="48212"/>
                  <a:pt x="641022" y="65987"/>
                </a:cubicBezTo>
                <a:lnTo>
                  <a:pt x="659876" y="103694"/>
                </a:lnTo>
                <a:lnTo>
                  <a:pt x="678730" y="179109"/>
                </a:lnTo>
                <a:cubicBezTo>
                  <a:pt x="681872" y="191678"/>
                  <a:pt x="680969" y="206036"/>
                  <a:pt x="688156" y="216816"/>
                </a:cubicBezTo>
                <a:lnTo>
                  <a:pt x="707010" y="245097"/>
                </a:lnTo>
                <a:cubicBezTo>
                  <a:pt x="710152" y="260808"/>
                  <a:pt x="712767" y="276634"/>
                  <a:pt x="716437" y="292231"/>
                </a:cubicBezTo>
                <a:cubicBezTo>
                  <a:pt x="725339" y="330065"/>
                  <a:pt x="739220" y="366875"/>
                  <a:pt x="744717" y="405352"/>
                </a:cubicBezTo>
                <a:cubicBezTo>
                  <a:pt x="748158" y="429442"/>
                  <a:pt x="753313" y="481693"/>
                  <a:pt x="763571" y="509047"/>
                </a:cubicBezTo>
                <a:cubicBezTo>
                  <a:pt x="768505" y="522205"/>
                  <a:pt x="776889" y="533838"/>
                  <a:pt x="782424" y="546754"/>
                </a:cubicBezTo>
                <a:cubicBezTo>
                  <a:pt x="786338" y="555888"/>
                  <a:pt x="788709" y="565608"/>
                  <a:pt x="791851" y="575035"/>
                </a:cubicBezTo>
                <a:cubicBezTo>
                  <a:pt x="793744" y="592071"/>
                  <a:pt x="798459" y="669007"/>
                  <a:pt x="810705" y="697583"/>
                </a:cubicBezTo>
                <a:cubicBezTo>
                  <a:pt x="815168" y="707997"/>
                  <a:pt x="823274" y="716437"/>
                  <a:pt x="829558" y="725864"/>
                </a:cubicBezTo>
                <a:cubicBezTo>
                  <a:pt x="832700" y="741575"/>
                  <a:pt x="835509" y="757357"/>
                  <a:pt x="838985" y="772998"/>
                </a:cubicBezTo>
                <a:cubicBezTo>
                  <a:pt x="841796" y="785645"/>
                  <a:pt x="837632" y="817892"/>
                  <a:pt x="848412" y="810705"/>
                </a:cubicBezTo>
                <a:cubicBezTo>
                  <a:pt x="864948" y="799681"/>
                  <a:pt x="861806" y="773253"/>
                  <a:pt x="867266" y="754144"/>
                </a:cubicBezTo>
                <a:cubicBezTo>
                  <a:pt x="874384" y="729229"/>
                  <a:pt x="874531" y="701906"/>
                  <a:pt x="886119" y="678730"/>
                </a:cubicBezTo>
                <a:cubicBezTo>
                  <a:pt x="909417" y="632134"/>
                  <a:pt x="900529" y="654354"/>
                  <a:pt x="914400" y="612742"/>
                </a:cubicBezTo>
                <a:cubicBezTo>
                  <a:pt x="926969" y="631596"/>
                  <a:pt x="946611" y="647320"/>
                  <a:pt x="952107" y="669303"/>
                </a:cubicBezTo>
                <a:cubicBezTo>
                  <a:pt x="955249" y="681872"/>
                  <a:pt x="953441" y="696893"/>
                  <a:pt x="961534" y="707010"/>
                </a:cubicBezTo>
                <a:cubicBezTo>
                  <a:pt x="967741" y="714769"/>
                  <a:pt x="980387" y="713295"/>
                  <a:pt x="989814" y="716437"/>
                </a:cubicBezTo>
                <a:cubicBezTo>
                  <a:pt x="993255" y="740525"/>
                  <a:pt x="998411" y="792779"/>
                  <a:pt x="1008668" y="820132"/>
                </a:cubicBezTo>
                <a:cubicBezTo>
                  <a:pt x="1013602" y="833290"/>
                  <a:pt x="1023077" y="844508"/>
                  <a:pt x="1027521" y="857839"/>
                </a:cubicBezTo>
                <a:cubicBezTo>
                  <a:pt x="1035715" y="882421"/>
                  <a:pt x="1046375" y="933253"/>
                  <a:pt x="1046375" y="933253"/>
                </a:cubicBezTo>
                <a:cubicBezTo>
                  <a:pt x="1088714" y="785070"/>
                  <a:pt x="1045112" y="948998"/>
                  <a:pt x="1074655" y="801278"/>
                </a:cubicBezTo>
                <a:cubicBezTo>
                  <a:pt x="1077610" y="786502"/>
                  <a:pt x="1100526" y="731889"/>
                  <a:pt x="1102936" y="725864"/>
                </a:cubicBezTo>
                <a:cubicBezTo>
                  <a:pt x="1121790" y="729006"/>
                  <a:pt x="1141119" y="740541"/>
                  <a:pt x="1159497" y="735290"/>
                </a:cubicBezTo>
                <a:cubicBezTo>
                  <a:pt x="1169051" y="732560"/>
                  <a:pt x="1164479" y="715897"/>
                  <a:pt x="1168923" y="707010"/>
                </a:cubicBezTo>
                <a:cubicBezTo>
                  <a:pt x="1173990" y="696877"/>
                  <a:pt x="1181492" y="688157"/>
                  <a:pt x="1187777" y="678730"/>
                </a:cubicBezTo>
                <a:cubicBezTo>
                  <a:pt x="1193037" y="657690"/>
                  <a:pt x="1199626" y="619746"/>
                  <a:pt x="1216057" y="603315"/>
                </a:cubicBezTo>
                <a:cubicBezTo>
                  <a:pt x="1223083" y="596289"/>
                  <a:pt x="1234911" y="597030"/>
                  <a:pt x="1244338" y="593888"/>
                </a:cubicBezTo>
                <a:cubicBezTo>
                  <a:pt x="1266447" y="527562"/>
                  <a:pt x="1237670" y="609447"/>
                  <a:pt x="1272618" y="527901"/>
                </a:cubicBezTo>
                <a:cubicBezTo>
                  <a:pt x="1276532" y="518767"/>
                  <a:pt x="1275019" y="506647"/>
                  <a:pt x="1282045" y="499620"/>
                </a:cubicBezTo>
                <a:cubicBezTo>
                  <a:pt x="1289071" y="492594"/>
                  <a:pt x="1300898" y="493335"/>
                  <a:pt x="1310325" y="490193"/>
                </a:cubicBezTo>
                <a:cubicBezTo>
                  <a:pt x="1313467" y="499620"/>
                  <a:pt x="1312726" y="511448"/>
                  <a:pt x="1319752" y="518474"/>
                </a:cubicBezTo>
                <a:cubicBezTo>
                  <a:pt x="1346547" y="545269"/>
                  <a:pt x="1356470" y="520452"/>
                  <a:pt x="1366886" y="499620"/>
                </a:cubicBezTo>
                <a:cubicBezTo>
                  <a:pt x="1378631" y="476129"/>
                  <a:pt x="1371833" y="454972"/>
                  <a:pt x="1404594" y="443059"/>
                </a:cubicBezTo>
                <a:cubicBezTo>
                  <a:pt x="1428402" y="434401"/>
                  <a:pt x="1454870" y="436775"/>
                  <a:pt x="1480008" y="433633"/>
                </a:cubicBezTo>
                <a:cubicBezTo>
                  <a:pt x="1483150" y="424206"/>
                  <a:pt x="1484428" y="413935"/>
                  <a:pt x="1489435" y="405352"/>
                </a:cubicBezTo>
                <a:cubicBezTo>
                  <a:pt x="1506561" y="375993"/>
                  <a:pt x="1545996" y="320511"/>
                  <a:pt x="1545996" y="320511"/>
                </a:cubicBezTo>
                <a:cubicBezTo>
                  <a:pt x="1549138" y="311084"/>
                  <a:pt x="1551933" y="301535"/>
                  <a:pt x="1555422" y="292231"/>
                </a:cubicBezTo>
                <a:cubicBezTo>
                  <a:pt x="1561364" y="276387"/>
                  <a:pt x="1569413" y="261305"/>
                  <a:pt x="1574276" y="245097"/>
                </a:cubicBezTo>
                <a:cubicBezTo>
                  <a:pt x="1578880" y="229750"/>
                  <a:pt x="1578636" y="213163"/>
                  <a:pt x="1583703" y="197963"/>
                </a:cubicBezTo>
                <a:cubicBezTo>
                  <a:pt x="1588147" y="184631"/>
                  <a:pt x="1597020" y="173172"/>
                  <a:pt x="1602556" y="160255"/>
                </a:cubicBezTo>
                <a:cubicBezTo>
                  <a:pt x="1606470" y="151122"/>
                  <a:pt x="1608841" y="141402"/>
                  <a:pt x="1611983" y="131975"/>
                </a:cubicBezTo>
                <a:cubicBezTo>
                  <a:pt x="1615125" y="179109"/>
                  <a:pt x="1613644" y="226781"/>
                  <a:pt x="1621410" y="273377"/>
                </a:cubicBezTo>
                <a:cubicBezTo>
                  <a:pt x="1623273" y="284552"/>
                  <a:pt x="1635801" y="291243"/>
                  <a:pt x="1640264" y="301657"/>
                </a:cubicBezTo>
                <a:cubicBezTo>
                  <a:pt x="1645368" y="313566"/>
                  <a:pt x="1646548" y="326796"/>
                  <a:pt x="1649690" y="339365"/>
                </a:cubicBezTo>
                <a:cubicBezTo>
                  <a:pt x="1658629" y="325957"/>
                  <a:pt x="1671326" y="294372"/>
                  <a:pt x="1696824" y="301657"/>
                </a:cubicBezTo>
                <a:cubicBezTo>
                  <a:pt x="1711931" y="305973"/>
                  <a:pt x="1721963" y="320511"/>
                  <a:pt x="1734532" y="329938"/>
                </a:cubicBezTo>
                <a:cubicBezTo>
                  <a:pt x="1740816" y="304800"/>
                  <a:pt x="1746266" y="279438"/>
                  <a:pt x="1753385" y="254523"/>
                </a:cubicBezTo>
                <a:cubicBezTo>
                  <a:pt x="1758845" y="235414"/>
                  <a:pt x="1767770" y="217327"/>
                  <a:pt x="1772239" y="197963"/>
                </a:cubicBezTo>
                <a:cubicBezTo>
                  <a:pt x="1777235" y="176313"/>
                  <a:pt x="1778524" y="153971"/>
                  <a:pt x="1781666" y="131975"/>
                </a:cubicBezTo>
                <a:cubicBezTo>
                  <a:pt x="1794235" y="141402"/>
                  <a:pt x="1809315" y="148185"/>
                  <a:pt x="1819373" y="160255"/>
                </a:cubicBezTo>
                <a:cubicBezTo>
                  <a:pt x="1876289" y="228554"/>
                  <a:pt x="1770473" y="149652"/>
                  <a:pt x="1857080" y="207389"/>
                </a:cubicBezTo>
                <a:cubicBezTo>
                  <a:pt x="1860222" y="216816"/>
                  <a:pt x="1858748" y="229462"/>
                  <a:pt x="1866507" y="235670"/>
                </a:cubicBezTo>
                <a:cubicBezTo>
                  <a:pt x="1876624" y="243764"/>
                  <a:pt x="1892965" y="238669"/>
                  <a:pt x="1904214" y="245097"/>
                </a:cubicBezTo>
                <a:cubicBezTo>
                  <a:pt x="1915789" y="251711"/>
                  <a:pt x="1923960" y="263135"/>
                  <a:pt x="1932495" y="273377"/>
                </a:cubicBezTo>
                <a:cubicBezTo>
                  <a:pt x="1958572" y="304669"/>
                  <a:pt x="1981638" y="366258"/>
                  <a:pt x="1989055" y="395925"/>
                </a:cubicBezTo>
                <a:cubicBezTo>
                  <a:pt x="1992197" y="408494"/>
                  <a:pt x="1991295" y="422853"/>
                  <a:pt x="1998482" y="433633"/>
                </a:cubicBezTo>
                <a:cubicBezTo>
                  <a:pt x="2004767" y="443060"/>
                  <a:pt x="2017336" y="446202"/>
                  <a:pt x="2026763" y="452486"/>
                </a:cubicBezTo>
                <a:lnTo>
                  <a:pt x="2045616" y="509047"/>
                </a:lnTo>
                <a:cubicBezTo>
                  <a:pt x="2048758" y="518474"/>
                  <a:pt x="2045106" y="537327"/>
                  <a:pt x="2055043" y="537327"/>
                </a:cubicBezTo>
                <a:lnTo>
                  <a:pt x="2073897" y="537327"/>
                </a:lnTo>
              </a:path>
            </a:pathLst>
          </a:cu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2" name="AutoShape 6"/>
          <p:cNvSpPr>
            <a:spLocks noChangeArrowheads="1"/>
          </p:cNvSpPr>
          <p:nvPr/>
        </p:nvSpPr>
        <p:spPr bwMode="auto">
          <a:xfrm flipV="1">
            <a:off x="3852466" y="4077124"/>
            <a:ext cx="2444805" cy="16256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" name="Line 16"/>
          <p:cNvSpPr>
            <a:spLocks noChangeShapeType="1"/>
          </p:cNvSpPr>
          <p:nvPr/>
        </p:nvSpPr>
        <p:spPr bwMode="auto">
          <a:xfrm flipV="1">
            <a:off x="3861894" y="5988106"/>
            <a:ext cx="2444805" cy="34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4" name="Text Box 17"/>
          <p:cNvSpPr txBox="1">
            <a:spLocks noChangeArrowheads="1"/>
          </p:cNvSpPr>
          <p:nvPr/>
        </p:nvSpPr>
        <p:spPr bwMode="auto">
          <a:xfrm>
            <a:off x="4644545" y="5869004"/>
            <a:ext cx="832279" cy="33855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/>
              <a:t>20kHz</a:t>
            </a:r>
            <a:endParaRPr lang="en-GB" sz="2000" dirty="0"/>
          </a:p>
        </p:txBody>
      </p:sp>
      <p:sp>
        <p:nvSpPr>
          <p:cNvPr id="25" name="Down Arrow 24"/>
          <p:cNvSpPr/>
          <p:nvPr/>
        </p:nvSpPr>
        <p:spPr bwMode="auto">
          <a:xfrm>
            <a:off x="2677212" y="2356701"/>
            <a:ext cx="801279" cy="1385740"/>
          </a:xfrm>
          <a:prstGeom prst="downArrow">
            <a:avLst/>
          </a:prstGeom>
          <a:solidFill>
            <a:schemeClr val="accent1">
              <a:alpha val="53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6" name="Down Arrow 25"/>
          <p:cNvSpPr/>
          <p:nvPr/>
        </p:nvSpPr>
        <p:spPr bwMode="auto">
          <a:xfrm>
            <a:off x="4411743" y="3101417"/>
            <a:ext cx="801279" cy="791851"/>
          </a:xfrm>
          <a:prstGeom prst="downArrow">
            <a:avLst/>
          </a:prstGeom>
          <a:solidFill>
            <a:srgbClr val="C00000">
              <a:alpha val="53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79875" name="Picture 3" descr="C:\Users\jdfos_000\Desktop\Clipboard01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95325" y="4234070"/>
            <a:ext cx="1477708" cy="1470991"/>
          </a:xfrm>
          <a:prstGeom prst="rect">
            <a:avLst/>
          </a:prstGeom>
          <a:noFill/>
        </p:spPr>
      </p:pic>
      <p:pic>
        <p:nvPicPr>
          <p:cNvPr id="79876" name="Picture 4" descr="C:\Users\jdfos_000\Desktop\Clipboard01.g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300262" y="4283765"/>
            <a:ext cx="1399435" cy="1218027"/>
          </a:xfrm>
          <a:prstGeom prst="rect">
            <a:avLst/>
          </a:prstGeom>
          <a:noFill/>
        </p:spPr>
      </p:pic>
      <p:sp>
        <p:nvSpPr>
          <p:cNvPr id="31" name="Text Box 21"/>
          <p:cNvSpPr txBox="1">
            <a:spLocks noChangeArrowheads="1"/>
          </p:cNvSpPr>
          <p:nvPr/>
        </p:nvSpPr>
        <p:spPr bwMode="auto">
          <a:xfrm>
            <a:off x="432030" y="4129935"/>
            <a:ext cx="817853" cy="30777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i="1" dirty="0"/>
              <a:t>voltage</a:t>
            </a:r>
            <a:endParaRPr lang="en-GB" sz="1800" i="1" dirty="0"/>
          </a:p>
        </p:txBody>
      </p:sp>
      <p:sp>
        <p:nvSpPr>
          <p:cNvPr id="32" name="Text Box 21"/>
          <p:cNvSpPr txBox="1">
            <a:spLocks noChangeArrowheads="1"/>
          </p:cNvSpPr>
          <p:nvPr/>
        </p:nvSpPr>
        <p:spPr bwMode="auto">
          <a:xfrm>
            <a:off x="4109459" y="1798992"/>
            <a:ext cx="570990" cy="30777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i="1" dirty="0"/>
              <a:t>time</a:t>
            </a:r>
            <a:endParaRPr lang="en-GB" sz="2400" i="1" dirty="0"/>
          </a:p>
        </p:txBody>
      </p:sp>
      <p:sp>
        <p:nvSpPr>
          <p:cNvPr id="33" name="Line 22"/>
          <p:cNvSpPr>
            <a:spLocks noChangeShapeType="1"/>
          </p:cNvSpPr>
          <p:nvPr/>
        </p:nvSpPr>
        <p:spPr bwMode="auto">
          <a:xfrm flipV="1">
            <a:off x="4644545" y="1950885"/>
            <a:ext cx="599035" cy="39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4" name="Line 22"/>
          <p:cNvSpPr>
            <a:spLocks noChangeShapeType="1"/>
          </p:cNvSpPr>
          <p:nvPr/>
        </p:nvSpPr>
        <p:spPr bwMode="auto">
          <a:xfrm flipH="1" flipV="1">
            <a:off x="2772512" y="848935"/>
            <a:ext cx="11328" cy="104585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5" name="Text Box 21"/>
          <p:cNvSpPr txBox="1">
            <a:spLocks noChangeArrowheads="1"/>
          </p:cNvSpPr>
          <p:nvPr/>
        </p:nvSpPr>
        <p:spPr bwMode="auto">
          <a:xfrm>
            <a:off x="1864815" y="918469"/>
            <a:ext cx="817853" cy="30777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i="1" dirty="0"/>
              <a:t>voltage</a:t>
            </a:r>
            <a:endParaRPr lang="en-GB" sz="1800" i="1" dirty="0"/>
          </a:p>
        </p:txBody>
      </p:sp>
      <p:sp>
        <p:nvSpPr>
          <p:cNvPr id="37" name="Text Box 21"/>
          <p:cNvSpPr txBox="1">
            <a:spLocks noChangeArrowheads="1"/>
          </p:cNvSpPr>
          <p:nvPr/>
        </p:nvSpPr>
        <p:spPr bwMode="auto">
          <a:xfrm>
            <a:off x="7108065" y="6096409"/>
            <a:ext cx="1045479" cy="30777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i="1" dirty="0"/>
              <a:t>frequency</a:t>
            </a:r>
            <a:endParaRPr lang="en-GB" sz="1800" i="1" dirty="0"/>
          </a:p>
        </p:txBody>
      </p:sp>
      <p:sp>
        <p:nvSpPr>
          <p:cNvPr id="38" name="Line 22"/>
          <p:cNvSpPr>
            <a:spLocks noChangeShapeType="1"/>
          </p:cNvSpPr>
          <p:nvPr/>
        </p:nvSpPr>
        <p:spPr bwMode="auto">
          <a:xfrm flipV="1">
            <a:off x="8150565" y="6246307"/>
            <a:ext cx="599035" cy="39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2893204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"/>
          <p:cNvSpPr>
            <a:spLocks/>
          </p:cNvSpPr>
          <p:nvPr/>
        </p:nvSpPr>
        <p:spPr bwMode="auto">
          <a:xfrm>
            <a:off x="2867253" y="897397"/>
            <a:ext cx="2477746" cy="997391"/>
          </a:xfrm>
          <a:custGeom>
            <a:avLst/>
            <a:gdLst>
              <a:gd name="T0" fmla="*/ 0 w 3840"/>
              <a:gd name="T1" fmla="*/ 2147483647 h 934"/>
              <a:gd name="T2" fmla="*/ 2147483647 w 3840"/>
              <a:gd name="T3" fmla="*/ 2147483647 h 934"/>
              <a:gd name="T4" fmla="*/ 2147483647 w 3840"/>
              <a:gd name="T5" fmla="*/ 2147483647 h 934"/>
              <a:gd name="T6" fmla="*/ 2147483647 w 3840"/>
              <a:gd name="T7" fmla="*/ 2147483647 h 934"/>
              <a:gd name="T8" fmla="*/ 2147483647 w 3840"/>
              <a:gd name="T9" fmla="*/ 2147483647 h 934"/>
              <a:gd name="T10" fmla="*/ 2147483647 w 3840"/>
              <a:gd name="T11" fmla="*/ 2147483647 h 934"/>
              <a:gd name="T12" fmla="*/ 2147483647 w 3840"/>
              <a:gd name="T13" fmla="*/ 2147483647 h 934"/>
              <a:gd name="T14" fmla="*/ 2147483647 w 3840"/>
              <a:gd name="T15" fmla="*/ 2147483647 h 934"/>
              <a:gd name="T16" fmla="*/ 2147483647 w 3840"/>
              <a:gd name="T17" fmla="*/ 2147483647 h 934"/>
              <a:gd name="T18" fmla="*/ 2147483647 w 3840"/>
              <a:gd name="T19" fmla="*/ 2147483647 h 934"/>
              <a:gd name="T20" fmla="*/ 2147483647 w 3840"/>
              <a:gd name="T21" fmla="*/ 2147483647 h 934"/>
              <a:gd name="T22" fmla="*/ 2147483647 w 3840"/>
              <a:gd name="T23" fmla="*/ 2147483647 h 934"/>
              <a:gd name="T24" fmla="*/ 2147483647 w 3840"/>
              <a:gd name="T25" fmla="*/ 2147483647 h 934"/>
              <a:gd name="T26" fmla="*/ 2147483647 w 3840"/>
              <a:gd name="T27" fmla="*/ 2147483647 h 934"/>
              <a:gd name="T28" fmla="*/ 2147483647 w 3840"/>
              <a:gd name="T29" fmla="*/ 2147483647 h 934"/>
              <a:gd name="T30" fmla="*/ 2147483647 w 3840"/>
              <a:gd name="T31" fmla="*/ 2147483647 h 93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840"/>
              <a:gd name="T49" fmla="*/ 0 h 934"/>
              <a:gd name="T50" fmla="*/ 3840 w 3840"/>
              <a:gd name="T51" fmla="*/ 934 h 934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840" h="934">
                <a:moveTo>
                  <a:pt x="0" y="502"/>
                </a:moveTo>
                <a:cubicBezTo>
                  <a:pt x="32" y="278"/>
                  <a:pt x="64" y="54"/>
                  <a:pt x="144" y="118"/>
                </a:cubicBezTo>
                <a:cubicBezTo>
                  <a:pt x="224" y="182"/>
                  <a:pt x="352" y="838"/>
                  <a:pt x="480" y="886"/>
                </a:cubicBezTo>
                <a:cubicBezTo>
                  <a:pt x="608" y="934"/>
                  <a:pt x="792" y="542"/>
                  <a:pt x="912" y="406"/>
                </a:cubicBezTo>
                <a:cubicBezTo>
                  <a:pt x="1032" y="270"/>
                  <a:pt x="1080" y="6"/>
                  <a:pt x="1200" y="70"/>
                </a:cubicBezTo>
                <a:cubicBezTo>
                  <a:pt x="1320" y="134"/>
                  <a:pt x="1528" y="662"/>
                  <a:pt x="1632" y="790"/>
                </a:cubicBezTo>
                <a:cubicBezTo>
                  <a:pt x="1736" y="918"/>
                  <a:pt x="1768" y="910"/>
                  <a:pt x="1824" y="838"/>
                </a:cubicBezTo>
                <a:cubicBezTo>
                  <a:pt x="1880" y="766"/>
                  <a:pt x="1931" y="461"/>
                  <a:pt x="1968" y="358"/>
                </a:cubicBezTo>
                <a:cubicBezTo>
                  <a:pt x="2005" y="255"/>
                  <a:pt x="2024" y="270"/>
                  <a:pt x="2048" y="222"/>
                </a:cubicBezTo>
                <a:cubicBezTo>
                  <a:pt x="2072" y="174"/>
                  <a:pt x="2061" y="0"/>
                  <a:pt x="2112" y="70"/>
                </a:cubicBezTo>
                <a:cubicBezTo>
                  <a:pt x="2163" y="140"/>
                  <a:pt x="2280" y="614"/>
                  <a:pt x="2352" y="646"/>
                </a:cubicBezTo>
                <a:cubicBezTo>
                  <a:pt x="2424" y="678"/>
                  <a:pt x="2448" y="230"/>
                  <a:pt x="2544" y="262"/>
                </a:cubicBezTo>
                <a:cubicBezTo>
                  <a:pt x="2640" y="294"/>
                  <a:pt x="2808" y="822"/>
                  <a:pt x="2928" y="838"/>
                </a:cubicBezTo>
                <a:cubicBezTo>
                  <a:pt x="3048" y="854"/>
                  <a:pt x="3176" y="398"/>
                  <a:pt x="3264" y="358"/>
                </a:cubicBezTo>
                <a:cubicBezTo>
                  <a:pt x="3352" y="318"/>
                  <a:pt x="3360" y="574"/>
                  <a:pt x="3456" y="598"/>
                </a:cubicBezTo>
                <a:cubicBezTo>
                  <a:pt x="3552" y="622"/>
                  <a:pt x="3776" y="518"/>
                  <a:pt x="3840" y="502"/>
                </a:cubicBezTo>
              </a:path>
            </a:pathLst>
          </a:cu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 flipV="1">
            <a:off x="1249883" y="5712643"/>
            <a:ext cx="7017424" cy="1220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1" name="AutoShape 6"/>
          <p:cNvSpPr>
            <a:spLocks noChangeArrowheads="1"/>
          </p:cNvSpPr>
          <p:nvPr/>
        </p:nvSpPr>
        <p:spPr bwMode="auto">
          <a:xfrm flipV="1">
            <a:off x="1326083" y="4086550"/>
            <a:ext cx="2444805" cy="16256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 flipV="1">
            <a:off x="1338783" y="3134050"/>
            <a:ext cx="0" cy="2589213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3" name="Line 15"/>
          <p:cNvSpPr>
            <a:spLocks noChangeShapeType="1"/>
          </p:cNvSpPr>
          <p:nvPr/>
        </p:nvSpPr>
        <p:spPr bwMode="auto">
          <a:xfrm flipH="1" flipV="1">
            <a:off x="3785613" y="5004209"/>
            <a:ext cx="12700" cy="1092200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4" name="Line 16"/>
          <p:cNvSpPr>
            <a:spLocks noChangeShapeType="1"/>
          </p:cNvSpPr>
          <p:nvPr/>
        </p:nvSpPr>
        <p:spPr bwMode="auto">
          <a:xfrm flipV="1">
            <a:off x="1326083" y="5988106"/>
            <a:ext cx="2444805" cy="34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2108734" y="5869004"/>
            <a:ext cx="832279" cy="33855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/>
              <a:t>20kHz</a:t>
            </a:r>
            <a:endParaRPr lang="en-GB" sz="2000" dirty="0"/>
          </a:p>
        </p:txBody>
      </p:sp>
      <p:sp>
        <p:nvSpPr>
          <p:cNvPr id="18" name="Line 10"/>
          <p:cNvSpPr>
            <a:spLocks noChangeShapeType="1"/>
          </p:cNvSpPr>
          <p:nvPr/>
        </p:nvSpPr>
        <p:spPr bwMode="auto">
          <a:xfrm flipV="1">
            <a:off x="1314507" y="3134050"/>
            <a:ext cx="0" cy="25892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9" name="Line 15"/>
          <p:cNvSpPr>
            <a:spLocks noChangeShapeType="1"/>
          </p:cNvSpPr>
          <p:nvPr/>
        </p:nvSpPr>
        <p:spPr bwMode="auto">
          <a:xfrm flipH="1" flipV="1">
            <a:off x="3761337" y="5004209"/>
            <a:ext cx="12700" cy="1092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2" name="Freeform 21"/>
          <p:cNvSpPr/>
          <p:nvPr/>
        </p:nvSpPr>
        <p:spPr bwMode="auto">
          <a:xfrm>
            <a:off x="4345757" y="2328421"/>
            <a:ext cx="2073897" cy="948998"/>
          </a:xfrm>
          <a:custGeom>
            <a:avLst/>
            <a:gdLst>
              <a:gd name="connsiteX0" fmla="*/ 0 w 2073897"/>
              <a:gd name="connsiteY0" fmla="*/ 537327 h 948998"/>
              <a:gd name="connsiteX1" fmla="*/ 28280 w 2073897"/>
              <a:gd name="connsiteY1" fmla="*/ 480767 h 948998"/>
              <a:gd name="connsiteX2" fmla="*/ 47134 w 2073897"/>
              <a:gd name="connsiteY2" fmla="*/ 443059 h 948998"/>
              <a:gd name="connsiteX3" fmla="*/ 94268 w 2073897"/>
              <a:gd name="connsiteY3" fmla="*/ 348791 h 948998"/>
              <a:gd name="connsiteX4" fmla="*/ 113121 w 2073897"/>
              <a:gd name="connsiteY4" fmla="*/ 405352 h 948998"/>
              <a:gd name="connsiteX5" fmla="*/ 131975 w 2073897"/>
              <a:gd name="connsiteY5" fmla="*/ 433633 h 948998"/>
              <a:gd name="connsiteX6" fmla="*/ 150829 w 2073897"/>
              <a:gd name="connsiteY6" fmla="*/ 490193 h 948998"/>
              <a:gd name="connsiteX7" fmla="*/ 169682 w 2073897"/>
              <a:gd name="connsiteY7" fmla="*/ 452486 h 948998"/>
              <a:gd name="connsiteX8" fmla="*/ 216816 w 2073897"/>
              <a:gd name="connsiteY8" fmla="*/ 367645 h 948998"/>
              <a:gd name="connsiteX9" fmla="*/ 254523 w 2073897"/>
              <a:gd name="connsiteY9" fmla="*/ 292231 h 948998"/>
              <a:gd name="connsiteX10" fmla="*/ 273377 w 2073897"/>
              <a:gd name="connsiteY10" fmla="*/ 216816 h 948998"/>
              <a:gd name="connsiteX11" fmla="*/ 292231 w 2073897"/>
              <a:gd name="connsiteY11" fmla="*/ 188536 h 948998"/>
              <a:gd name="connsiteX12" fmla="*/ 329938 w 2073897"/>
              <a:gd name="connsiteY12" fmla="*/ 179109 h 948998"/>
              <a:gd name="connsiteX13" fmla="*/ 339365 w 2073897"/>
              <a:gd name="connsiteY13" fmla="*/ 150828 h 948998"/>
              <a:gd name="connsiteX14" fmla="*/ 348791 w 2073897"/>
              <a:gd name="connsiteY14" fmla="*/ 113121 h 948998"/>
              <a:gd name="connsiteX15" fmla="*/ 367645 w 2073897"/>
              <a:gd name="connsiteY15" fmla="*/ 75414 h 948998"/>
              <a:gd name="connsiteX16" fmla="*/ 386499 w 2073897"/>
              <a:gd name="connsiteY16" fmla="*/ 0 h 948998"/>
              <a:gd name="connsiteX17" fmla="*/ 452486 w 2073897"/>
              <a:gd name="connsiteY17" fmla="*/ 18853 h 948998"/>
              <a:gd name="connsiteX18" fmla="*/ 518474 w 2073897"/>
              <a:gd name="connsiteY18" fmla="*/ 84841 h 948998"/>
              <a:gd name="connsiteX19" fmla="*/ 546754 w 2073897"/>
              <a:gd name="connsiteY19" fmla="*/ 75414 h 948998"/>
              <a:gd name="connsiteX20" fmla="*/ 603315 w 2073897"/>
              <a:gd name="connsiteY20" fmla="*/ 37707 h 948998"/>
              <a:gd name="connsiteX21" fmla="*/ 622169 w 2073897"/>
              <a:gd name="connsiteY21" fmla="*/ 9426 h 948998"/>
              <a:gd name="connsiteX22" fmla="*/ 641022 w 2073897"/>
              <a:gd name="connsiteY22" fmla="*/ 65987 h 948998"/>
              <a:gd name="connsiteX23" fmla="*/ 659876 w 2073897"/>
              <a:gd name="connsiteY23" fmla="*/ 103694 h 948998"/>
              <a:gd name="connsiteX24" fmla="*/ 678730 w 2073897"/>
              <a:gd name="connsiteY24" fmla="*/ 179109 h 948998"/>
              <a:gd name="connsiteX25" fmla="*/ 688156 w 2073897"/>
              <a:gd name="connsiteY25" fmla="*/ 216816 h 948998"/>
              <a:gd name="connsiteX26" fmla="*/ 707010 w 2073897"/>
              <a:gd name="connsiteY26" fmla="*/ 245097 h 948998"/>
              <a:gd name="connsiteX27" fmla="*/ 716437 w 2073897"/>
              <a:gd name="connsiteY27" fmla="*/ 292231 h 948998"/>
              <a:gd name="connsiteX28" fmla="*/ 744717 w 2073897"/>
              <a:gd name="connsiteY28" fmla="*/ 405352 h 948998"/>
              <a:gd name="connsiteX29" fmla="*/ 763571 w 2073897"/>
              <a:gd name="connsiteY29" fmla="*/ 509047 h 948998"/>
              <a:gd name="connsiteX30" fmla="*/ 782424 w 2073897"/>
              <a:gd name="connsiteY30" fmla="*/ 546754 h 948998"/>
              <a:gd name="connsiteX31" fmla="*/ 791851 w 2073897"/>
              <a:gd name="connsiteY31" fmla="*/ 575035 h 948998"/>
              <a:gd name="connsiteX32" fmla="*/ 810705 w 2073897"/>
              <a:gd name="connsiteY32" fmla="*/ 697583 h 948998"/>
              <a:gd name="connsiteX33" fmla="*/ 829558 w 2073897"/>
              <a:gd name="connsiteY33" fmla="*/ 725864 h 948998"/>
              <a:gd name="connsiteX34" fmla="*/ 838985 w 2073897"/>
              <a:gd name="connsiteY34" fmla="*/ 772998 h 948998"/>
              <a:gd name="connsiteX35" fmla="*/ 848412 w 2073897"/>
              <a:gd name="connsiteY35" fmla="*/ 810705 h 948998"/>
              <a:gd name="connsiteX36" fmla="*/ 867266 w 2073897"/>
              <a:gd name="connsiteY36" fmla="*/ 754144 h 948998"/>
              <a:gd name="connsiteX37" fmla="*/ 886119 w 2073897"/>
              <a:gd name="connsiteY37" fmla="*/ 678730 h 948998"/>
              <a:gd name="connsiteX38" fmla="*/ 914400 w 2073897"/>
              <a:gd name="connsiteY38" fmla="*/ 612742 h 948998"/>
              <a:gd name="connsiteX39" fmla="*/ 952107 w 2073897"/>
              <a:gd name="connsiteY39" fmla="*/ 669303 h 948998"/>
              <a:gd name="connsiteX40" fmla="*/ 961534 w 2073897"/>
              <a:gd name="connsiteY40" fmla="*/ 707010 h 948998"/>
              <a:gd name="connsiteX41" fmla="*/ 989814 w 2073897"/>
              <a:gd name="connsiteY41" fmla="*/ 716437 h 948998"/>
              <a:gd name="connsiteX42" fmla="*/ 1008668 w 2073897"/>
              <a:gd name="connsiteY42" fmla="*/ 820132 h 948998"/>
              <a:gd name="connsiteX43" fmla="*/ 1027521 w 2073897"/>
              <a:gd name="connsiteY43" fmla="*/ 857839 h 948998"/>
              <a:gd name="connsiteX44" fmla="*/ 1046375 w 2073897"/>
              <a:gd name="connsiteY44" fmla="*/ 933253 h 948998"/>
              <a:gd name="connsiteX45" fmla="*/ 1074655 w 2073897"/>
              <a:gd name="connsiteY45" fmla="*/ 801278 h 948998"/>
              <a:gd name="connsiteX46" fmla="*/ 1102936 w 2073897"/>
              <a:gd name="connsiteY46" fmla="*/ 725864 h 948998"/>
              <a:gd name="connsiteX47" fmla="*/ 1159497 w 2073897"/>
              <a:gd name="connsiteY47" fmla="*/ 735290 h 948998"/>
              <a:gd name="connsiteX48" fmla="*/ 1168923 w 2073897"/>
              <a:gd name="connsiteY48" fmla="*/ 707010 h 948998"/>
              <a:gd name="connsiteX49" fmla="*/ 1187777 w 2073897"/>
              <a:gd name="connsiteY49" fmla="*/ 678730 h 948998"/>
              <a:gd name="connsiteX50" fmla="*/ 1216057 w 2073897"/>
              <a:gd name="connsiteY50" fmla="*/ 603315 h 948998"/>
              <a:gd name="connsiteX51" fmla="*/ 1244338 w 2073897"/>
              <a:gd name="connsiteY51" fmla="*/ 593888 h 948998"/>
              <a:gd name="connsiteX52" fmla="*/ 1272618 w 2073897"/>
              <a:gd name="connsiteY52" fmla="*/ 527901 h 948998"/>
              <a:gd name="connsiteX53" fmla="*/ 1282045 w 2073897"/>
              <a:gd name="connsiteY53" fmla="*/ 499620 h 948998"/>
              <a:gd name="connsiteX54" fmla="*/ 1310325 w 2073897"/>
              <a:gd name="connsiteY54" fmla="*/ 490193 h 948998"/>
              <a:gd name="connsiteX55" fmla="*/ 1319752 w 2073897"/>
              <a:gd name="connsiteY55" fmla="*/ 518474 h 948998"/>
              <a:gd name="connsiteX56" fmla="*/ 1366886 w 2073897"/>
              <a:gd name="connsiteY56" fmla="*/ 499620 h 948998"/>
              <a:gd name="connsiteX57" fmla="*/ 1404594 w 2073897"/>
              <a:gd name="connsiteY57" fmla="*/ 443059 h 948998"/>
              <a:gd name="connsiteX58" fmla="*/ 1480008 w 2073897"/>
              <a:gd name="connsiteY58" fmla="*/ 433633 h 948998"/>
              <a:gd name="connsiteX59" fmla="*/ 1489435 w 2073897"/>
              <a:gd name="connsiteY59" fmla="*/ 405352 h 948998"/>
              <a:gd name="connsiteX60" fmla="*/ 1545996 w 2073897"/>
              <a:gd name="connsiteY60" fmla="*/ 320511 h 948998"/>
              <a:gd name="connsiteX61" fmla="*/ 1555422 w 2073897"/>
              <a:gd name="connsiteY61" fmla="*/ 292231 h 948998"/>
              <a:gd name="connsiteX62" fmla="*/ 1574276 w 2073897"/>
              <a:gd name="connsiteY62" fmla="*/ 245097 h 948998"/>
              <a:gd name="connsiteX63" fmla="*/ 1583703 w 2073897"/>
              <a:gd name="connsiteY63" fmla="*/ 197963 h 948998"/>
              <a:gd name="connsiteX64" fmla="*/ 1602556 w 2073897"/>
              <a:gd name="connsiteY64" fmla="*/ 160255 h 948998"/>
              <a:gd name="connsiteX65" fmla="*/ 1611983 w 2073897"/>
              <a:gd name="connsiteY65" fmla="*/ 131975 h 948998"/>
              <a:gd name="connsiteX66" fmla="*/ 1621410 w 2073897"/>
              <a:gd name="connsiteY66" fmla="*/ 273377 h 948998"/>
              <a:gd name="connsiteX67" fmla="*/ 1640264 w 2073897"/>
              <a:gd name="connsiteY67" fmla="*/ 301657 h 948998"/>
              <a:gd name="connsiteX68" fmla="*/ 1649690 w 2073897"/>
              <a:gd name="connsiteY68" fmla="*/ 339365 h 948998"/>
              <a:gd name="connsiteX69" fmla="*/ 1696824 w 2073897"/>
              <a:gd name="connsiteY69" fmla="*/ 301657 h 948998"/>
              <a:gd name="connsiteX70" fmla="*/ 1734532 w 2073897"/>
              <a:gd name="connsiteY70" fmla="*/ 329938 h 948998"/>
              <a:gd name="connsiteX71" fmla="*/ 1753385 w 2073897"/>
              <a:gd name="connsiteY71" fmla="*/ 254523 h 948998"/>
              <a:gd name="connsiteX72" fmla="*/ 1772239 w 2073897"/>
              <a:gd name="connsiteY72" fmla="*/ 197963 h 948998"/>
              <a:gd name="connsiteX73" fmla="*/ 1781666 w 2073897"/>
              <a:gd name="connsiteY73" fmla="*/ 131975 h 948998"/>
              <a:gd name="connsiteX74" fmla="*/ 1819373 w 2073897"/>
              <a:gd name="connsiteY74" fmla="*/ 160255 h 948998"/>
              <a:gd name="connsiteX75" fmla="*/ 1857080 w 2073897"/>
              <a:gd name="connsiteY75" fmla="*/ 207389 h 948998"/>
              <a:gd name="connsiteX76" fmla="*/ 1866507 w 2073897"/>
              <a:gd name="connsiteY76" fmla="*/ 235670 h 948998"/>
              <a:gd name="connsiteX77" fmla="*/ 1904214 w 2073897"/>
              <a:gd name="connsiteY77" fmla="*/ 245097 h 948998"/>
              <a:gd name="connsiteX78" fmla="*/ 1932495 w 2073897"/>
              <a:gd name="connsiteY78" fmla="*/ 273377 h 948998"/>
              <a:gd name="connsiteX79" fmla="*/ 1989055 w 2073897"/>
              <a:gd name="connsiteY79" fmla="*/ 395925 h 948998"/>
              <a:gd name="connsiteX80" fmla="*/ 1998482 w 2073897"/>
              <a:gd name="connsiteY80" fmla="*/ 433633 h 948998"/>
              <a:gd name="connsiteX81" fmla="*/ 2026763 w 2073897"/>
              <a:gd name="connsiteY81" fmla="*/ 452486 h 948998"/>
              <a:gd name="connsiteX82" fmla="*/ 2045616 w 2073897"/>
              <a:gd name="connsiteY82" fmla="*/ 509047 h 948998"/>
              <a:gd name="connsiteX83" fmla="*/ 2055043 w 2073897"/>
              <a:gd name="connsiteY83" fmla="*/ 537327 h 948998"/>
              <a:gd name="connsiteX84" fmla="*/ 2073897 w 2073897"/>
              <a:gd name="connsiteY84" fmla="*/ 537327 h 948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2073897" h="948998">
                <a:moveTo>
                  <a:pt x="0" y="537327"/>
                </a:moveTo>
                <a:cubicBezTo>
                  <a:pt x="36231" y="482979"/>
                  <a:pt x="4863" y="535406"/>
                  <a:pt x="28280" y="480767"/>
                </a:cubicBezTo>
                <a:cubicBezTo>
                  <a:pt x="33816" y="467850"/>
                  <a:pt x="42690" y="456391"/>
                  <a:pt x="47134" y="443059"/>
                </a:cubicBezTo>
                <a:cubicBezTo>
                  <a:pt x="77993" y="350481"/>
                  <a:pt x="40379" y="384717"/>
                  <a:pt x="94268" y="348791"/>
                </a:cubicBezTo>
                <a:cubicBezTo>
                  <a:pt x="100552" y="367645"/>
                  <a:pt x="102097" y="388816"/>
                  <a:pt x="113121" y="405352"/>
                </a:cubicBezTo>
                <a:cubicBezTo>
                  <a:pt x="119406" y="414779"/>
                  <a:pt x="127373" y="423280"/>
                  <a:pt x="131975" y="433633"/>
                </a:cubicBezTo>
                <a:cubicBezTo>
                  <a:pt x="140046" y="451793"/>
                  <a:pt x="150829" y="490193"/>
                  <a:pt x="150829" y="490193"/>
                </a:cubicBezTo>
                <a:cubicBezTo>
                  <a:pt x="157113" y="477624"/>
                  <a:pt x="165238" y="465817"/>
                  <a:pt x="169682" y="452486"/>
                </a:cubicBezTo>
                <a:cubicBezTo>
                  <a:pt x="198919" y="364774"/>
                  <a:pt x="160897" y="386285"/>
                  <a:pt x="216816" y="367645"/>
                </a:cubicBezTo>
                <a:cubicBezTo>
                  <a:pt x="229385" y="342507"/>
                  <a:pt x="249011" y="319790"/>
                  <a:pt x="254523" y="292231"/>
                </a:cubicBezTo>
                <a:cubicBezTo>
                  <a:pt x="258108" y="274305"/>
                  <a:pt x="263715" y="236140"/>
                  <a:pt x="273377" y="216816"/>
                </a:cubicBezTo>
                <a:cubicBezTo>
                  <a:pt x="278444" y="206683"/>
                  <a:pt x="282804" y="194820"/>
                  <a:pt x="292231" y="188536"/>
                </a:cubicBezTo>
                <a:cubicBezTo>
                  <a:pt x="303011" y="181349"/>
                  <a:pt x="317369" y="182251"/>
                  <a:pt x="329938" y="179109"/>
                </a:cubicBezTo>
                <a:cubicBezTo>
                  <a:pt x="333080" y="169682"/>
                  <a:pt x="336635" y="160383"/>
                  <a:pt x="339365" y="150828"/>
                </a:cubicBezTo>
                <a:cubicBezTo>
                  <a:pt x="342924" y="138371"/>
                  <a:pt x="344242" y="125252"/>
                  <a:pt x="348791" y="113121"/>
                </a:cubicBezTo>
                <a:cubicBezTo>
                  <a:pt x="353725" y="99963"/>
                  <a:pt x="363201" y="88745"/>
                  <a:pt x="367645" y="75414"/>
                </a:cubicBezTo>
                <a:cubicBezTo>
                  <a:pt x="375839" y="50832"/>
                  <a:pt x="386499" y="0"/>
                  <a:pt x="386499" y="0"/>
                </a:cubicBezTo>
                <a:cubicBezTo>
                  <a:pt x="408495" y="6284"/>
                  <a:pt x="433985" y="5398"/>
                  <a:pt x="452486" y="18853"/>
                </a:cubicBezTo>
                <a:cubicBezTo>
                  <a:pt x="580485" y="111942"/>
                  <a:pt x="431520" y="55855"/>
                  <a:pt x="518474" y="84841"/>
                </a:cubicBezTo>
                <a:cubicBezTo>
                  <a:pt x="527901" y="81699"/>
                  <a:pt x="538486" y="80926"/>
                  <a:pt x="546754" y="75414"/>
                </a:cubicBezTo>
                <a:cubicBezTo>
                  <a:pt x="617367" y="28339"/>
                  <a:pt x="536072" y="60122"/>
                  <a:pt x="603315" y="37707"/>
                </a:cubicBezTo>
                <a:cubicBezTo>
                  <a:pt x="609600" y="28280"/>
                  <a:pt x="613105" y="2628"/>
                  <a:pt x="622169" y="9426"/>
                </a:cubicBezTo>
                <a:cubicBezTo>
                  <a:pt x="638068" y="21350"/>
                  <a:pt x="632134" y="48212"/>
                  <a:pt x="641022" y="65987"/>
                </a:cubicBezTo>
                <a:lnTo>
                  <a:pt x="659876" y="103694"/>
                </a:lnTo>
                <a:lnTo>
                  <a:pt x="678730" y="179109"/>
                </a:lnTo>
                <a:cubicBezTo>
                  <a:pt x="681872" y="191678"/>
                  <a:pt x="680969" y="206036"/>
                  <a:pt x="688156" y="216816"/>
                </a:cubicBezTo>
                <a:lnTo>
                  <a:pt x="707010" y="245097"/>
                </a:lnTo>
                <a:cubicBezTo>
                  <a:pt x="710152" y="260808"/>
                  <a:pt x="712767" y="276634"/>
                  <a:pt x="716437" y="292231"/>
                </a:cubicBezTo>
                <a:cubicBezTo>
                  <a:pt x="725339" y="330065"/>
                  <a:pt x="739220" y="366875"/>
                  <a:pt x="744717" y="405352"/>
                </a:cubicBezTo>
                <a:cubicBezTo>
                  <a:pt x="748158" y="429442"/>
                  <a:pt x="753313" y="481693"/>
                  <a:pt x="763571" y="509047"/>
                </a:cubicBezTo>
                <a:cubicBezTo>
                  <a:pt x="768505" y="522205"/>
                  <a:pt x="776889" y="533838"/>
                  <a:pt x="782424" y="546754"/>
                </a:cubicBezTo>
                <a:cubicBezTo>
                  <a:pt x="786338" y="555888"/>
                  <a:pt x="788709" y="565608"/>
                  <a:pt x="791851" y="575035"/>
                </a:cubicBezTo>
                <a:cubicBezTo>
                  <a:pt x="793744" y="592071"/>
                  <a:pt x="798459" y="669007"/>
                  <a:pt x="810705" y="697583"/>
                </a:cubicBezTo>
                <a:cubicBezTo>
                  <a:pt x="815168" y="707997"/>
                  <a:pt x="823274" y="716437"/>
                  <a:pt x="829558" y="725864"/>
                </a:cubicBezTo>
                <a:cubicBezTo>
                  <a:pt x="832700" y="741575"/>
                  <a:pt x="835509" y="757357"/>
                  <a:pt x="838985" y="772998"/>
                </a:cubicBezTo>
                <a:cubicBezTo>
                  <a:pt x="841796" y="785645"/>
                  <a:pt x="837632" y="817892"/>
                  <a:pt x="848412" y="810705"/>
                </a:cubicBezTo>
                <a:cubicBezTo>
                  <a:pt x="864948" y="799681"/>
                  <a:pt x="861806" y="773253"/>
                  <a:pt x="867266" y="754144"/>
                </a:cubicBezTo>
                <a:cubicBezTo>
                  <a:pt x="874384" y="729229"/>
                  <a:pt x="874531" y="701906"/>
                  <a:pt x="886119" y="678730"/>
                </a:cubicBezTo>
                <a:cubicBezTo>
                  <a:pt x="909417" y="632134"/>
                  <a:pt x="900529" y="654354"/>
                  <a:pt x="914400" y="612742"/>
                </a:cubicBezTo>
                <a:cubicBezTo>
                  <a:pt x="926969" y="631596"/>
                  <a:pt x="946611" y="647320"/>
                  <a:pt x="952107" y="669303"/>
                </a:cubicBezTo>
                <a:cubicBezTo>
                  <a:pt x="955249" y="681872"/>
                  <a:pt x="953441" y="696893"/>
                  <a:pt x="961534" y="707010"/>
                </a:cubicBezTo>
                <a:cubicBezTo>
                  <a:pt x="967741" y="714769"/>
                  <a:pt x="980387" y="713295"/>
                  <a:pt x="989814" y="716437"/>
                </a:cubicBezTo>
                <a:cubicBezTo>
                  <a:pt x="993255" y="740525"/>
                  <a:pt x="998411" y="792779"/>
                  <a:pt x="1008668" y="820132"/>
                </a:cubicBezTo>
                <a:cubicBezTo>
                  <a:pt x="1013602" y="833290"/>
                  <a:pt x="1023077" y="844508"/>
                  <a:pt x="1027521" y="857839"/>
                </a:cubicBezTo>
                <a:cubicBezTo>
                  <a:pt x="1035715" y="882421"/>
                  <a:pt x="1046375" y="933253"/>
                  <a:pt x="1046375" y="933253"/>
                </a:cubicBezTo>
                <a:cubicBezTo>
                  <a:pt x="1088714" y="785070"/>
                  <a:pt x="1045112" y="948998"/>
                  <a:pt x="1074655" y="801278"/>
                </a:cubicBezTo>
                <a:cubicBezTo>
                  <a:pt x="1077610" y="786502"/>
                  <a:pt x="1100526" y="731889"/>
                  <a:pt x="1102936" y="725864"/>
                </a:cubicBezTo>
                <a:cubicBezTo>
                  <a:pt x="1121790" y="729006"/>
                  <a:pt x="1141119" y="740541"/>
                  <a:pt x="1159497" y="735290"/>
                </a:cubicBezTo>
                <a:cubicBezTo>
                  <a:pt x="1169051" y="732560"/>
                  <a:pt x="1164479" y="715897"/>
                  <a:pt x="1168923" y="707010"/>
                </a:cubicBezTo>
                <a:cubicBezTo>
                  <a:pt x="1173990" y="696877"/>
                  <a:pt x="1181492" y="688157"/>
                  <a:pt x="1187777" y="678730"/>
                </a:cubicBezTo>
                <a:cubicBezTo>
                  <a:pt x="1193037" y="657690"/>
                  <a:pt x="1199626" y="619746"/>
                  <a:pt x="1216057" y="603315"/>
                </a:cubicBezTo>
                <a:cubicBezTo>
                  <a:pt x="1223083" y="596289"/>
                  <a:pt x="1234911" y="597030"/>
                  <a:pt x="1244338" y="593888"/>
                </a:cubicBezTo>
                <a:cubicBezTo>
                  <a:pt x="1266447" y="527562"/>
                  <a:pt x="1237670" y="609447"/>
                  <a:pt x="1272618" y="527901"/>
                </a:cubicBezTo>
                <a:cubicBezTo>
                  <a:pt x="1276532" y="518767"/>
                  <a:pt x="1275019" y="506647"/>
                  <a:pt x="1282045" y="499620"/>
                </a:cubicBezTo>
                <a:cubicBezTo>
                  <a:pt x="1289071" y="492594"/>
                  <a:pt x="1300898" y="493335"/>
                  <a:pt x="1310325" y="490193"/>
                </a:cubicBezTo>
                <a:cubicBezTo>
                  <a:pt x="1313467" y="499620"/>
                  <a:pt x="1312726" y="511448"/>
                  <a:pt x="1319752" y="518474"/>
                </a:cubicBezTo>
                <a:cubicBezTo>
                  <a:pt x="1346547" y="545269"/>
                  <a:pt x="1356470" y="520452"/>
                  <a:pt x="1366886" y="499620"/>
                </a:cubicBezTo>
                <a:cubicBezTo>
                  <a:pt x="1378631" y="476129"/>
                  <a:pt x="1371833" y="454972"/>
                  <a:pt x="1404594" y="443059"/>
                </a:cubicBezTo>
                <a:cubicBezTo>
                  <a:pt x="1428402" y="434401"/>
                  <a:pt x="1454870" y="436775"/>
                  <a:pt x="1480008" y="433633"/>
                </a:cubicBezTo>
                <a:cubicBezTo>
                  <a:pt x="1483150" y="424206"/>
                  <a:pt x="1484428" y="413935"/>
                  <a:pt x="1489435" y="405352"/>
                </a:cubicBezTo>
                <a:cubicBezTo>
                  <a:pt x="1506561" y="375993"/>
                  <a:pt x="1545996" y="320511"/>
                  <a:pt x="1545996" y="320511"/>
                </a:cubicBezTo>
                <a:cubicBezTo>
                  <a:pt x="1549138" y="311084"/>
                  <a:pt x="1551933" y="301535"/>
                  <a:pt x="1555422" y="292231"/>
                </a:cubicBezTo>
                <a:cubicBezTo>
                  <a:pt x="1561364" y="276387"/>
                  <a:pt x="1569413" y="261305"/>
                  <a:pt x="1574276" y="245097"/>
                </a:cubicBezTo>
                <a:cubicBezTo>
                  <a:pt x="1578880" y="229750"/>
                  <a:pt x="1578636" y="213163"/>
                  <a:pt x="1583703" y="197963"/>
                </a:cubicBezTo>
                <a:cubicBezTo>
                  <a:pt x="1588147" y="184631"/>
                  <a:pt x="1597020" y="173172"/>
                  <a:pt x="1602556" y="160255"/>
                </a:cubicBezTo>
                <a:cubicBezTo>
                  <a:pt x="1606470" y="151122"/>
                  <a:pt x="1608841" y="141402"/>
                  <a:pt x="1611983" y="131975"/>
                </a:cubicBezTo>
                <a:cubicBezTo>
                  <a:pt x="1615125" y="179109"/>
                  <a:pt x="1613644" y="226781"/>
                  <a:pt x="1621410" y="273377"/>
                </a:cubicBezTo>
                <a:cubicBezTo>
                  <a:pt x="1623273" y="284552"/>
                  <a:pt x="1635801" y="291243"/>
                  <a:pt x="1640264" y="301657"/>
                </a:cubicBezTo>
                <a:cubicBezTo>
                  <a:pt x="1645368" y="313566"/>
                  <a:pt x="1646548" y="326796"/>
                  <a:pt x="1649690" y="339365"/>
                </a:cubicBezTo>
                <a:cubicBezTo>
                  <a:pt x="1658629" y="325957"/>
                  <a:pt x="1671326" y="294372"/>
                  <a:pt x="1696824" y="301657"/>
                </a:cubicBezTo>
                <a:cubicBezTo>
                  <a:pt x="1711931" y="305973"/>
                  <a:pt x="1721963" y="320511"/>
                  <a:pt x="1734532" y="329938"/>
                </a:cubicBezTo>
                <a:cubicBezTo>
                  <a:pt x="1740816" y="304800"/>
                  <a:pt x="1746266" y="279438"/>
                  <a:pt x="1753385" y="254523"/>
                </a:cubicBezTo>
                <a:cubicBezTo>
                  <a:pt x="1758845" y="235414"/>
                  <a:pt x="1767770" y="217327"/>
                  <a:pt x="1772239" y="197963"/>
                </a:cubicBezTo>
                <a:cubicBezTo>
                  <a:pt x="1777235" y="176313"/>
                  <a:pt x="1778524" y="153971"/>
                  <a:pt x="1781666" y="131975"/>
                </a:cubicBezTo>
                <a:cubicBezTo>
                  <a:pt x="1794235" y="141402"/>
                  <a:pt x="1809315" y="148185"/>
                  <a:pt x="1819373" y="160255"/>
                </a:cubicBezTo>
                <a:cubicBezTo>
                  <a:pt x="1876289" y="228554"/>
                  <a:pt x="1770473" y="149652"/>
                  <a:pt x="1857080" y="207389"/>
                </a:cubicBezTo>
                <a:cubicBezTo>
                  <a:pt x="1860222" y="216816"/>
                  <a:pt x="1858748" y="229462"/>
                  <a:pt x="1866507" y="235670"/>
                </a:cubicBezTo>
                <a:cubicBezTo>
                  <a:pt x="1876624" y="243764"/>
                  <a:pt x="1892965" y="238669"/>
                  <a:pt x="1904214" y="245097"/>
                </a:cubicBezTo>
                <a:cubicBezTo>
                  <a:pt x="1915789" y="251711"/>
                  <a:pt x="1923960" y="263135"/>
                  <a:pt x="1932495" y="273377"/>
                </a:cubicBezTo>
                <a:cubicBezTo>
                  <a:pt x="1958572" y="304669"/>
                  <a:pt x="1981638" y="366258"/>
                  <a:pt x="1989055" y="395925"/>
                </a:cubicBezTo>
                <a:cubicBezTo>
                  <a:pt x="1992197" y="408494"/>
                  <a:pt x="1991295" y="422853"/>
                  <a:pt x="1998482" y="433633"/>
                </a:cubicBezTo>
                <a:cubicBezTo>
                  <a:pt x="2004767" y="443060"/>
                  <a:pt x="2017336" y="446202"/>
                  <a:pt x="2026763" y="452486"/>
                </a:cubicBezTo>
                <a:lnTo>
                  <a:pt x="2045616" y="509047"/>
                </a:lnTo>
                <a:cubicBezTo>
                  <a:pt x="2048758" y="518474"/>
                  <a:pt x="2045106" y="537327"/>
                  <a:pt x="2055043" y="537327"/>
                </a:cubicBezTo>
                <a:lnTo>
                  <a:pt x="2073897" y="537327"/>
                </a:lnTo>
              </a:path>
            </a:pathLst>
          </a:cu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3" name="AutoShape 6"/>
          <p:cNvSpPr>
            <a:spLocks noChangeArrowheads="1"/>
          </p:cNvSpPr>
          <p:nvPr/>
        </p:nvSpPr>
        <p:spPr bwMode="auto">
          <a:xfrm flipV="1">
            <a:off x="3852466" y="4077124"/>
            <a:ext cx="2444805" cy="16256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4" name="Line 16"/>
          <p:cNvSpPr>
            <a:spLocks noChangeShapeType="1"/>
          </p:cNvSpPr>
          <p:nvPr/>
        </p:nvSpPr>
        <p:spPr bwMode="auto">
          <a:xfrm flipV="1">
            <a:off x="3861894" y="5988106"/>
            <a:ext cx="2444805" cy="34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5" name="Text Box 17"/>
          <p:cNvSpPr txBox="1">
            <a:spLocks noChangeArrowheads="1"/>
          </p:cNvSpPr>
          <p:nvPr/>
        </p:nvSpPr>
        <p:spPr bwMode="auto">
          <a:xfrm>
            <a:off x="4644545" y="5869004"/>
            <a:ext cx="832279" cy="33855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/>
              <a:t>20kHz</a:t>
            </a:r>
            <a:endParaRPr lang="en-GB" sz="2000" dirty="0"/>
          </a:p>
        </p:txBody>
      </p:sp>
      <p:sp>
        <p:nvSpPr>
          <p:cNvPr id="26" name="Down Arrow 25"/>
          <p:cNvSpPr/>
          <p:nvPr/>
        </p:nvSpPr>
        <p:spPr bwMode="auto">
          <a:xfrm>
            <a:off x="2677212" y="2356701"/>
            <a:ext cx="801279" cy="1385740"/>
          </a:xfrm>
          <a:prstGeom prst="downArrow">
            <a:avLst/>
          </a:prstGeom>
          <a:solidFill>
            <a:schemeClr val="accent1">
              <a:alpha val="53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7" name="Down Arrow 26"/>
          <p:cNvSpPr/>
          <p:nvPr/>
        </p:nvSpPr>
        <p:spPr bwMode="auto">
          <a:xfrm>
            <a:off x="4411743" y="3101417"/>
            <a:ext cx="801279" cy="791851"/>
          </a:xfrm>
          <a:prstGeom prst="downArrow">
            <a:avLst/>
          </a:prstGeom>
          <a:solidFill>
            <a:srgbClr val="C00000">
              <a:alpha val="53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8" name="AutoShape 6"/>
          <p:cNvSpPr>
            <a:spLocks noChangeArrowheads="1"/>
          </p:cNvSpPr>
          <p:nvPr/>
        </p:nvSpPr>
        <p:spPr bwMode="auto">
          <a:xfrm flipV="1">
            <a:off x="6397703" y="4077124"/>
            <a:ext cx="2444805" cy="16256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3" name="Freeform 32"/>
          <p:cNvSpPr/>
          <p:nvPr/>
        </p:nvSpPr>
        <p:spPr bwMode="auto">
          <a:xfrm>
            <a:off x="6702458" y="1084082"/>
            <a:ext cx="1800519" cy="857840"/>
          </a:xfrm>
          <a:custGeom>
            <a:avLst/>
            <a:gdLst>
              <a:gd name="connsiteX0" fmla="*/ 0 w 1800519"/>
              <a:gd name="connsiteY0" fmla="*/ 575036 h 857840"/>
              <a:gd name="connsiteX1" fmla="*/ 28280 w 1800519"/>
              <a:gd name="connsiteY1" fmla="*/ 725864 h 857840"/>
              <a:gd name="connsiteX2" fmla="*/ 37707 w 1800519"/>
              <a:gd name="connsiteY2" fmla="*/ 763572 h 857840"/>
              <a:gd name="connsiteX3" fmla="*/ 75414 w 1800519"/>
              <a:gd name="connsiteY3" fmla="*/ 829559 h 857840"/>
              <a:gd name="connsiteX4" fmla="*/ 84841 w 1800519"/>
              <a:gd name="connsiteY4" fmla="*/ 857840 h 857840"/>
              <a:gd name="connsiteX5" fmla="*/ 179109 w 1800519"/>
              <a:gd name="connsiteY5" fmla="*/ 838986 h 857840"/>
              <a:gd name="connsiteX6" fmla="*/ 188536 w 1800519"/>
              <a:gd name="connsiteY6" fmla="*/ 791852 h 857840"/>
              <a:gd name="connsiteX7" fmla="*/ 197963 w 1800519"/>
              <a:gd name="connsiteY7" fmla="*/ 763572 h 857840"/>
              <a:gd name="connsiteX8" fmla="*/ 207389 w 1800519"/>
              <a:gd name="connsiteY8" fmla="*/ 725864 h 857840"/>
              <a:gd name="connsiteX9" fmla="*/ 226243 w 1800519"/>
              <a:gd name="connsiteY9" fmla="*/ 688157 h 857840"/>
              <a:gd name="connsiteX10" fmla="*/ 245097 w 1800519"/>
              <a:gd name="connsiteY10" fmla="*/ 565609 h 857840"/>
              <a:gd name="connsiteX11" fmla="*/ 263950 w 1800519"/>
              <a:gd name="connsiteY11" fmla="*/ 537328 h 857840"/>
              <a:gd name="connsiteX12" fmla="*/ 282804 w 1800519"/>
              <a:gd name="connsiteY12" fmla="*/ 461914 h 857840"/>
              <a:gd name="connsiteX13" fmla="*/ 301657 w 1800519"/>
              <a:gd name="connsiteY13" fmla="*/ 414780 h 857840"/>
              <a:gd name="connsiteX14" fmla="*/ 348791 w 1800519"/>
              <a:gd name="connsiteY14" fmla="*/ 329939 h 857840"/>
              <a:gd name="connsiteX15" fmla="*/ 386499 w 1800519"/>
              <a:gd name="connsiteY15" fmla="*/ 386499 h 857840"/>
              <a:gd name="connsiteX16" fmla="*/ 414779 w 1800519"/>
              <a:gd name="connsiteY16" fmla="*/ 509048 h 857840"/>
              <a:gd name="connsiteX17" fmla="*/ 443060 w 1800519"/>
              <a:gd name="connsiteY17" fmla="*/ 546755 h 857840"/>
              <a:gd name="connsiteX18" fmla="*/ 452486 w 1800519"/>
              <a:gd name="connsiteY18" fmla="*/ 593889 h 857840"/>
              <a:gd name="connsiteX19" fmla="*/ 471340 w 1800519"/>
              <a:gd name="connsiteY19" fmla="*/ 631596 h 857840"/>
              <a:gd name="connsiteX20" fmla="*/ 490194 w 1800519"/>
              <a:gd name="connsiteY20" fmla="*/ 688157 h 857840"/>
              <a:gd name="connsiteX21" fmla="*/ 499620 w 1800519"/>
              <a:gd name="connsiteY21" fmla="*/ 716438 h 857840"/>
              <a:gd name="connsiteX22" fmla="*/ 556181 w 1800519"/>
              <a:gd name="connsiteY22" fmla="*/ 735291 h 857840"/>
              <a:gd name="connsiteX23" fmla="*/ 603315 w 1800519"/>
              <a:gd name="connsiteY23" fmla="*/ 725864 h 857840"/>
              <a:gd name="connsiteX24" fmla="*/ 631596 w 1800519"/>
              <a:gd name="connsiteY24" fmla="*/ 688157 h 857840"/>
              <a:gd name="connsiteX25" fmla="*/ 688156 w 1800519"/>
              <a:gd name="connsiteY25" fmla="*/ 584462 h 857840"/>
              <a:gd name="connsiteX26" fmla="*/ 716437 w 1800519"/>
              <a:gd name="connsiteY26" fmla="*/ 546755 h 857840"/>
              <a:gd name="connsiteX27" fmla="*/ 744717 w 1800519"/>
              <a:gd name="connsiteY27" fmla="*/ 490194 h 857840"/>
              <a:gd name="connsiteX28" fmla="*/ 782424 w 1800519"/>
              <a:gd name="connsiteY28" fmla="*/ 480767 h 857840"/>
              <a:gd name="connsiteX29" fmla="*/ 810705 w 1800519"/>
              <a:gd name="connsiteY29" fmla="*/ 443060 h 857840"/>
              <a:gd name="connsiteX30" fmla="*/ 829558 w 1800519"/>
              <a:gd name="connsiteY30" fmla="*/ 386499 h 857840"/>
              <a:gd name="connsiteX31" fmla="*/ 867266 w 1800519"/>
              <a:gd name="connsiteY31" fmla="*/ 348792 h 857840"/>
              <a:gd name="connsiteX32" fmla="*/ 923827 w 1800519"/>
              <a:gd name="connsiteY32" fmla="*/ 273378 h 857840"/>
              <a:gd name="connsiteX33" fmla="*/ 933253 w 1800519"/>
              <a:gd name="connsiteY33" fmla="*/ 245097 h 857840"/>
              <a:gd name="connsiteX34" fmla="*/ 961534 w 1800519"/>
              <a:gd name="connsiteY34" fmla="*/ 179110 h 857840"/>
              <a:gd name="connsiteX35" fmla="*/ 1008668 w 1800519"/>
              <a:gd name="connsiteY35" fmla="*/ 18854 h 857840"/>
              <a:gd name="connsiteX36" fmla="*/ 1074655 w 1800519"/>
              <a:gd name="connsiteY36" fmla="*/ 0 h 857840"/>
              <a:gd name="connsiteX37" fmla="*/ 1084082 w 1800519"/>
              <a:gd name="connsiteY37" fmla="*/ 37708 h 857840"/>
              <a:gd name="connsiteX38" fmla="*/ 1112363 w 1800519"/>
              <a:gd name="connsiteY38" fmla="*/ 113122 h 857840"/>
              <a:gd name="connsiteX39" fmla="*/ 1121789 w 1800519"/>
              <a:gd name="connsiteY39" fmla="*/ 216817 h 857840"/>
              <a:gd name="connsiteX40" fmla="*/ 1131216 w 1800519"/>
              <a:gd name="connsiteY40" fmla="*/ 424207 h 857840"/>
              <a:gd name="connsiteX41" fmla="*/ 1150070 w 1800519"/>
              <a:gd name="connsiteY41" fmla="*/ 490194 h 857840"/>
              <a:gd name="connsiteX42" fmla="*/ 1168923 w 1800519"/>
              <a:gd name="connsiteY42" fmla="*/ 556182 h 857840"/>
              <a:gd name="connsiteX43" fmla="*/ 1187777 w 1800519"/>
              <a:gd name="connsiteY43" fmla="*/ 593889 h 857840"/>
              <a:gd name="connsiteX44" fmla="*/ 1197204 w 1800519"/>
              <a:gd name="connsiteY44" fmla="*/ 622170 h 857840"/>
              <a:gd name="connsiteX45" fmla="*/ 1206631 w 1800519"/>
              <a:gd name="connsiteY45" fmla="*/ 659877 h 857840"/>
              <a:gd name="connsiteX46" fmla="*/ 1244338 w 1800519"/>
              <a:gd name="connsiteY46" fmla="*/ 707011 h 857840"/>
              <a:gd name="connsiteX47" fmla="*/ 1263191 w 1800519"/>
              <a:gd name="connsiteY47" fmla="*/ 744718 h 857840"/>
              <a:gd name="connsiteX48" fmla="*/ 1272618 w 1800519"/>
              <a:gd name="connsiteY48" fmla="*/ 772998 h 857840"/>
              <a:gd name="connsiteX49" fmla="*/ 1329179 w 1800519"/>
              <a:gd name="connsiteY49" fmla="*/ 791852 h 857840"/>
              <a:gd name="connsiteX50" fmla="*/ 1385740 w 1800519"/>
              <a:gd name="connsiteY50" fmla="*/ 820132 h 857840"/>
              <a:gd name="connsiteX51" fmla="*/ 1414020 w 1800519"/>
              <a:gd name="connsiteY51" fmla="*/ 810706 h 857840"/>
              <a:gd name="connsiteX52" fmla="*/ 1461154 w 1800519"/>
              <a:gd name="connsiteY52" fmla="*/ 725864 h 857840"/>
              <a:gd name="connsiteX53" fmla="*/ 1470581 w 1800519"/>
              <a:gd name="connsiteY53" fmla="*/ 697584 h 857840"/>
              <a:gd name="connsiteX54" fmla="*/ 1498862 w 1800519"/>
              <a:gd name="connsiteY54" fmla="*/ 669304 h 857840"/>
              <a:gd name="connsiteX55" fmla="*/ 1536569 w 1800519"/>
              <a:gd name="connsiteY55" fmla="*/ 556182 h 857840"/>
              <a:gd name="connsiteX56" fmla="*/ 1555422 w 1800519"/>
              <a:gd name="connsiteY56" fmla="*/ 527902 h 857840"/>
              <a:gd name="connsiteX57" fmla="*/ 1583703 w 1800519"/>
              <a:gd name="connsiteY57" fmla="*/ 471341 h 857840"/>
              <a:gd name="connsiteX58" fmla="*/ 1611983 w 1800519"/>
              <a:gd name="connsiteY58" fmla="*/ 499621 h 857840"/>
              <a:gd name="connsiteX59" fmla="*/ 1630837 w 1800519"/>
              <a:gd name="connsiteY59" fmla="*/ 527902 h 857840"/>
              <a:gd name="connsiteX60" fmla="*/ 1706251 w 1800519"/>
              <a:gd name="connsiteY60" fmla="*/ 565609 h 857840"/>
              <a:gd name="connsiteX61" fmla="*/ 1734532 w 1800519"/>
              <a:gd name="connsiteY61" fmla="*/ 584462 h 857840"/>
              <a:gd name="connsiteX62" fmla="*/ 1762812 w 1800519"/>
              <a:gd name="connsiteY62" fmla="*/ 575036 h 857840"/>
              <a:gd name="connsiteX63" fmla="*/ 1791093 w 1800519"/>
              <a:gd name="connsiteY63" fmla="*/ 537328 h 857840"/>
              <a:gd name="connsiteX64" fmla="*/ 1800519 w 1800519"/>
              <a:gd name="connsiteY64" fmla="*/ 527902 h 857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800519" h="857840">
                <a:moveTo>
                  <a:pt x="0" y="575036"/>
                </a:moveTo>
                <a:cubicBezTo>
                  <a:pt x="35960" y="808782"/>
                  <a:pt x="2033" y="634002"/>
                  <a:pt x="28280" y="725864"/>
                </a:cubicBezTo>
                <a:cubicBezTo>
                  <a:pt x="31839" y="738322"/>
                  <a:pt x="33158" y="751441"/>
                  <a:pt x="37707" y="763572"/>
                </a:cubicBezTo>
                <a:cubicBezTo>
                  <a:pt x="62497" y="829677"/>
                  <a:pt x="48065" y="774861"/>
                  <a:pt x="75414" y="829559"/>
                </a:cubicBezTo>
                <a:cubicBezTo>
                  <a:pt x="79858" y="838447"/>
                  <a:pt x="81699" y="848413"/>
                  <a:pt x="84841" y="857840"/>
                </a:cubicBezTo>
                <a:cubicBezTo>
                  <a:pt x="116264" y="851555"/>
                  <a:pt x="152074" y="856190"/>
                  <a:pt x="179109" y="838986"/>
                </a:cubicBezTo>
                <a:cubicBezTo>
                  <a:pt x="192627" y="830384"/>
                  <a:pt x="184650" y="807396"/>
                  <a:pt x="188536" y="791852"/>
                </a:cubicBezTo>
                <a:cubicBezTo>
                  <a:pt x="190946" y="782212"/>
                  <a:pt x="195233" y="773126"/>
                  <a:pt x="197963" y="763572"/>
                </a:cubicBezTo>
                <a:cubicBezTo>
                  <a:pt x="201522" y="751114"/>
                  <a:pt x="202840" y="737995"/>
                  <a:pt x="207389" y="725864"/>
                </a:cubicBezTo>
                <a:cubicBezTo>
                  <a:pt x="212323" y="712706"/>
                  <a:pt x="219958" y="700726"/>
                  <a:pt x="226243" y="688157"/>
                </a:cubicBezTo>
                <a:cubicBezTo>
                  <a:pt x="227700" y="676504"/>
                  <a:pt x="236999" y="587203"/>
                  <a:pt x="245097" y="565609"/>
                </a:cubicBezTo>
                <a:cubicBezTo>
                  <a:pt x="249075" y="555001"/>
                  <a:pt x="257666" y="546755"/>
                  <a:pt x="263950" y="537328"/>
                </a:cubicBezTo>
                <a:cubicBezTo>
                  <a:pt x="270235" y="512190"/>
                  <a:pt x="273181" y="485973"/>
                  <a:pt x="282804" y="461914"/>
                </a:cubicBezTo>
                <a:cubicBezTo>
                  <a:pt x="289088" y="446203"/>
                  <a:pt x="296681" y="430953"/>
                  <a:pt x="301657" y="414780"/>
                </a:cubicBezTo>
                <a:cubicBezTo>
                  <a:pt x="328388" y="327903"/>
                  <a:pt x="293832" y="348257"/>
                  <a:pt x="348791" y="329939"/>
                </a:cubicBezTo>
                <a:cubicBezTo>
                  <a:pt x="361360" y="348792"/>
                  <a:pt x="382055" y="364280"/>
                  <a:pt x="386499" y="386499"/>
                </a:cubicBezTo>
                <a:cubicBezTo>
                  <a:pt x="390781" y="407909"/>
                  <a:pt x="408579" y="500782"/>
                  <a:pt x="414779" y="509048"/>
                </a:cubicBezTo>
                <a:lnTo>
                  <a:pt x="443060" y="546755"/>
                </a:lnTo>
                <a:cubicBezTo>
                  <a:pt x="446202" y="562466"/>
                  <a:pt x="447419" y="578689"/>
                  <a:pt x="452486" y="593889"/>
                </a:cubicBezTo>
                <a:cubicBezTo>
                  <a:pt x="456930" y="607221"/>
                  <a:pt x="466121" y="618548"/>
                  <a:pt x="471340" y="631596"/>
                </a:cubicBezTo>
                <a:cubicBezTo>
                  <a:pt x="478721" y="650048"/>
                  <a:pt x="483910" y="669303"/>
                  <a:pt x="490194" y="688157"/>
                </a:cubicBezTo>
                <a:cubicBezTo>
                  <a:pt x="493336" y="697584"/>
                  <a:pt x="490193" y="713296"/>
                  <a:pt x="499620" y="716438"/>
                </a:cubicBezTo>
                <a:lnTo>
                  <a:pt x="556181" y="735291"/>
                </a:lnTo>
                <a:cubicBezTo>
                  <a:pt x="571892" y="732149"/>
                  <a:pt x="589728" y="734356"/>
                  <a:pt x="603315" y="725864"/>
                </a:cubicBezTo>
                <a:cubicBezTo>
                  <a:pt x="616638" y="717537"/>
                  <a:pt x="622881" y="701230"/>
                  <a:pt x="631596" y="688157"/>
                </a:cubicBezTo>
                <a:cubicBezTo>
                  <a:pt x="695004" y="593046"/>
                  <a:pt x="623746" y="691812"/>
                  <a:pt x="688156" y="584462"/>
                </a:cubicBezTo>
                <a:cubicBezTo>
                  <a:pt x="696239" y="570990"/>
                  <a:pt x="707010" y="559324"/>
                  <a:pt x="716437" y="546755"/>
                </a:cubicBezTo>
                <a:cubicBezTo>
                  <a:pt x="721814" y="530624"/>
                  <a:pt x="729055" y="500636"/>
                  <a:pt x="744717" y="490194"/>
                </a:cubicBezTo>
                <a:cubicBezTo>
                  <a:pt x="755497" y="483007"/>
                  <a:pt x="769855" y="483909"/>
                  <a:pt x="782424" y="480767"/>
                </a:cubicBezTo>
                <a:cubicBezTo>
                  <a:pt x="791851" y="468198"/>
                  <a:pt x="803679" y="457113"/>
                  <a:pt x="810705" y="443060"/>
                </a:cubicBezTo>
                <a:cubicBezTo>
                  <a:pt x="819593" y="425285"/>
                  <a:pt x="815505" y="400551"/>
                  <a:pt x="829558" y="386499"/>
                </a:cubicBezTo>
                <a:lnTo>
                  <a:pt x="867266" y="348792"/>
                </a:lnTo>
                <a:cubicBezTo>
                  <a:pt x="919179" y="244963"/>
                  <a:pt x="844419" y="384550"/>
                  <a:pt x="923827" y="273378"/>
                </a:cubicBezTo>
                <a:cubicBezTo>
                  <a:pt x="929603" y="265292"/>
                  <a:pt x="929339" y="254230"/>
                  <a:pt x="933253" y="245097"/>
                </a:cubicBezTo>
                <a:cubicBezTo>
                  <a:pt x="968206" y="163538"/>
                  <a:pt x="939422" y="245445"/>
                  <a:pt x="961534" y="179110"/>
                </a:cubicBezTo>
                <a:cubicBezTo>
                  <a:pt x="964246" y="154706"/>
                  <a:pt x="967935" y="32432"/>
                  <a:pt x="1008668" y="18854"/>
                </a:cubicBezTo>
                <a:cubicBezTo>
                  <a:pt x="1049239" y="5330"/>
                  <a:pt x="1027308" y="11837"/>
                  <a:pt x="1074655" y="0"/>
                </a:cubicBezTo>
                <a:cubicBezTo>
                  <a:pt x="1077797" y="12569"/>
                  <a:pt x="1079985" y="25417"/>
                  <a:pt x="1084082" y="37708"/>
                </a:cubicBezTo>
                <a:cubicBezTo>
                  <a:pt x="1092572" y="63178"/>
                  <a:pt x="1106832" y="86850"/>
                  <a:pt x="1112363" y="113122"/>
                </a:cubicBezTo>
                <a:cubicBezTo>
                  <a:pt x="1119513" y="147085"/>
                  <a:pt x="1119689" y="182173"/>
                  <a:pt x="1121789" y="216817"/>
                </a:cubicBezTo>
                <a:cubicBezTo>
                  <a:pt x="1125975" y="285892"/>
                  <a:pt x="1124095" y="355373"/>
                  <a:pt x="1131216" y="424207"/>
                </a:cubicBezTo>
                <a:cubicBezTo>
                  <a:pt x="1133570" y="446961"/>
                  <a:pt x="1144051" y="468124"/>
                  <a:pt x="1150070" y="490194"/>
                </a:cubicBezTo>
                <a:cubicBezTo>
                  <a:pt x="1156048" y="512112"/>
                  <a:pt x="1159894" y="535114"/>
                  <a:pt x="1168923" y="556182"/>
                </a:cubicBezTo>
                <a:cubicBezTo>
                  <a:pt x="1174459" y="569098"/>
                  <a:pt x="1182241" y="580973"/>
                  <a:pt x="1187777" y="593889"/>
                </a:cubicBezTo>
                <a:cubicBezTo>
                  <a:pt x="1191691" y="603022"/>
                  <a:pt x="1194474" y="612615"/>
                  <a:pt x="1197204" y="622170"/>
                </a:cubicBezTo>
                <a:cubicBezTo>
                  <a:pt x="1200763" y="634627"/>
                  <a:pt x="1200339" y="648552"/>
                  <a:pt x="1206631" y="659877"/>
                </a:cubicBezTo>
                <a:cubicBezTo>
                  <a:pt x="1216402" y="677465"/>
                  <a:pt x="1233177" y="690270"/>
                  <a:pt x="1244338" y="707011"/>
                </a:cubicBezTo>
                <a:cubicBezTo>
                  <a:pt x="1252133" y="718703"/>
                  <a:pt x="1257655" y="731802"/>
                  <a:pt x="1263191" y="744718"/>
                </a:cubicBezTo>
                <a:cubicBezTo>
                  <a:pt x="1267105" y="753851"/>
                  <a:pt x="1264532" y="767222"/>
                  <a:pt x="1272618" y="772998"/>
                </a:cubicBezTo>
                <a:cubicBezTo>
                  <a:pt x="1288790" y="784549"/>
                  <a:pt x="1310325" y="785567"/>
                  <a:pt x="1329179" y="791852"/>
                </a:cubicBezTo>
                <a:cubicBezTo>
                  <a:pt x="1368208" y="804862"/>
                  <a:pt x="1349191" y="795767"/>
                  <a:pt x="1385740" y="820132"/>
                </a:cubicBezTo>
                <a:cubicBezTo>
                  <a:pt x="1395167" y="816990"/>
                  <a:pt x="1406387" y="817067"/>
                  <a:pt x="1414020" y="810706"/>
                </a:cubicBezTo>
                <a:cubicBezTo>
                  <a:pt x="1439889" y="789149"/>
                  <a:pt x="1449999" y="755612"/>
                  <a:pt x="1461154" y="725864"/>
                </a:cubicBezTo>
                <a:cubicBezTo>
                  <a:pt x="1464643" y="716560"/>
                  <a:pt x="1465069" y="705852"/>
                  <a:pt x="1470581" y="697584"/>
                </a:cubicBezTo>
                <a:cubicBezTo>
                  <a:pt x="1477976" y="686492"/>
                  <a:pt x="1489435" y="678731"/>
                  <a:pt x="1498862" y="669304"/>
                </a:cubicBezTo>
                <a:cubicBezTo>
                  <a:pt x="1514888" y="605199"/>
                  <a:pt x="1509508" y="603538"/>
                  <a:pt x="1536569" y="556182"/>
                </a:cubicBezTo>
                <a:cubicBezTo>
                  <a:pt x="1542190" y="546345"/>
                  <a:pt x="1550355" y="538035"/>
                  <a:pt x="1555422" y="527902"/>
                </a:cubicBezTo>
                <a:cubicBezTo>
                  <a:pt x="1594446" y="449853"/>
                  <a:pt x="1529677" y="552377"/>
                  <a:pt x="1583703" y="471341"/>
                </a:cubicBezTo>
                <a:cubicBezTo>
                  <a:pt x="1593130" y="480768"/>
                  <a:pt x="1603449" y="489380"/>
                  <a:pt x="1611983" y="499621"/>
                </a:cubicBezTo>
                <a:cubicBezTo>
                  <a:pt x="1619236" y="508325"/>
                  <a:pt x="1622235" y="520529"/>
                  <a:pt x="1630837" y="527902"/>
                </a:cubicBezTo>
                <a:cubicBezTo>
                  <a:pt x="1685706" y="574933"/>
                  <a:pt x="1661015" y="542991"/>
                  <a:pt x="1706251" y="565609"/>
                </a:cubicBezTo>
                <a:cubicBezTo>
                  <a:pt x="1716385" y="570676"/>
                  <a:pt x="1725105" y="578178"/>
                  <a:pt x="1734532" y="584462"/>
                </a:cubicBezTo>
                <a:cubicBezTo>
                  <a:pt x="1743959" y="581320"/>
                  <a:pt x="1755179" y="581397"/>
                  <a:pt x="1762812" y="575036"/>
                </a:cubicBezTo>
                <a:cubicBezTo>
                  <a:pt x="1774882" y="564978"/>
                  <a:pt x="1781278" y="549597"/>
                  <a:pt x="1791093" y="537328"/>
                </a:cubicBezTo>
                <a:cubicBezTo>
                  <a:pt x="1793869" y="533858"/>
                  <a:pt x="1797377" y="531044"/>
                  <a:pt x="1800519" y="527902"/>
                </a:cubicBezTo>
              </a:path>
            </a:pathLst>
          </a:cu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4" name="Down Arrow 33"/>
          <p:cNvSpPr/>
          <p:nvPr/>
        </p:nvSpPr>
        <p:spPr bwMode="auto">
          <a:xfrm>
            <a:off x="7249212" y="2224724"/>
            <a:ext cx="801279" cy="1545997"/>
          </a:xfrm>
          <a:prstGeom prst="downArrow">
            <a:avLst/>
          </a:prstGeom>
          <a:solidFill>
            <a:schemeClr val="accent6">
              <a:lumMod val="60000"/>
              <a:lumOff val="40000"/>
              <a:alpha val="53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5" name="Line 16"/>
          <p:cNvSpPr>
            <a:spLocks noChangeShapeType="1"/>
          </p:cNvSpPr>
          <p:nvPr/>
        </p:nvSpPr>
        <p:spPr bwMode="auto">
          <a:xfrm flipV="1">
            <a:off x="6407131" y="5959825"/>
            <a:ext cx="2444805" cy="34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6" name="Text Box 17"/>
          <p:cNvSpPr txBox="1">
            <a:spLocks noChangeArrowheads="1"/>
          </p:cNvSpPr>
          <p:nvPr/>
        </p:nvSpPr>
        <p:spPr bwMode="auto">
          <a:xfrm>
            <a:off x="7189782" y="5840723"/>
            <a:ext cx="832279" cy="33855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/>
              <a:t>20kHz</a:t>
            </a:r>
            <a:endParaRPr lang="en-GB" sz="2000" dirty="0"/>
          </a:p>
        </p:txBody>
      </p:sp>
      <p:pic>
        <p:nvPicPr>
          <p:cNvPr id="86018" name="Picture 2" descr="C:\Users\jdfos_000\Desktop\Clipboard01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flipH="1">
            <a:off x="7013026" y="4214192"/>
            <a:ext cx="1204001" cy="1264201"/>
          </a:xfrm>
          <a:prstGeom prst="rect">
            <a:avLst/>
          </a:prstGeom>
          <a:noFill/>
        </p:spPr>
      </p:pic>
      <p:pic>
        <p:nvPicPr>
          <p:cNvPr id="38" name="Picture 3" descr="C:\Users\jdfos_000\Desktop\Clipboard01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325" y="4234070"/>
            <a:ext cx="1477708" cy="1470991"/>
          </a:xfrm>
          <a:prstGeom prst="rect">
            <a:avLst/>
          </a:prstGeom>
          <a:noFill/>
        </p:spPr>
      </p:pic>
      <p:pic>
        <p:nvPicPr>
          <p:cNvPr id="39" name="Picture 4" descr="C:\Users\jdfos_000\Desktop\Clipboard01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00262" y="4283765"/>
            <a:ext cx="1399435" cy="1218027"/>
          </a:xfrm>
          <a:prstGeom prst="rect">
            <a:avLst/>
          </a:prstGeom>
          <a:noFill/>
        </p:spPr>
      </p:pic>
      <p:sp>
        <p:nvSpPr>
          <p:cNvPr id="41" name="Text Box 21"/>
          <p:cNvSpPr txBox="1">
            <a:spLocks noChangeArrowheads="1"/>
          </p:cNvSpPr>
          <p:nvPr/>
        </p:nvSpPr>
        <p:spPr bwMode="auto">
          <a:xfrm>
            <a:off x="432030" y="4129935"/>
            <a:ext cx="817853" cy="30777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i="1" dirty="0"/>
              <a:t>voltage</a:t>
            </a:r>
            <a:endParaRPr lang="en-GB" sz="1800" i="1" dirty="0"/>
          </a:p>
        </p:txBody>
      </p:sp>
      <p:sp>
        <p:nvSpPr>
          <p:cNvPr id="42" name="Text Box 21"/>
          <p:cNvSpPr txBox="1">
            <a:spLocks noChangeArrowheads="1"/>
          </p:cNvSpPr>
          <p:nvPr/>
        </p:nvSpPr>
        <p:spPr bwMode="auto">
          <a:xfrm>
            <a:off x="7108065" y="6096409"/>
            <a:ext cx="1045479" cy="30777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i="1" dirty="0"/>
              <a:t>frequency</a:t>
            </a:r>
            <a:endParaRPr lang="en-GB" sz="1800" i="1" dirty="0"/>
          </a:p>
        </p:txBody>
      </p:sp>
      <p:sp>
        <p:nvSpPr>
          <p:cNvPr id="43" name="Line 22"/>
          <p:cNvSpPr>
            <a:spLocks noChangeShapeType="1"/>
          </p:cNvSpPr>
          <p:nvPr/>
        </p:nvSpPr>
        <p:spPr bwMode="auto">
          <a:xfrm flipV="1">
            <a:off x="8150565" y="6246307"/>
            <a:ext cx="599035" cy="39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432030" y="330873"/>
            <a:ext cx="872065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2400" b="1" dirty="0"/>
              <a:t>Signals – </a:t>
            </a:r>
            <a:r>
              <a:rPr lang="en-GB" sz="1800" dirty="0"/>
              <a:t>transmitting more than one signal on a channel </a:t>
            </a:r>
            <a:r>
              <a:rPr lang="en-GB" sz="1800" b="1" dirty="0"/>
              <a:t>- multiplexing</a:t>
            </a:r>
            <a:r>
              <a:rPr lang="en-GB" sz="2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7889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5"/>
          <p:cNvSpPr>
            <a:spLocks noChangeShapeType="1"/>
          </p:cNvSpPr>
          <p:nvPr/>
        </p:nvSpPr>
        <p:spPr bwMode="auto">
          <a:xfrm flipV="1">
            <a:off x="1249883" y="5712643"/>
            <a:ext cx="7017424" cy="1220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4" name="AutoShape 6"/>
          <p:cNvSpPr>
            <a:spLocks noChangeArrowheads="1"/>
          </p:cNvSpPr>
          <p:nvPr/>
        </p:nvSpPr>
        <p:spPr bwMode="auto">
          <a:xfrm flipV="1">
            <a:off x="1326083" y="4086550"/>
            <a:ext cx="2444805" cy="16256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5" name="Line 10"/>
          <p:cNvSpPr>
            <a:spLocks noChangeShapeType="1"/>
          </p:cNvSpPr>
          <p:nvPr/>
        </p:nvSpPr>
        <p:spPr bwMode="auto">
          <a:xfrm flipV="1">
            <a:off x="1338783" y="3134050"/>
            <a:ext cx="0" cy="2589213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6" name="Line 15"/>
          <p:cNvSpPr>
            <a:spLocks noChangeShapeType="1"/>
          </p:cNvSpPr>
          <p:nvPr/>
        </p:nvSpPr>
        <p:spPr bwMode="auto">
          <a:xfrm flipH="1" flipV="1">
            <a:off x="3785613" y="5004209"/>
            <a:ext cx="12700" cy="1092200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7" name="Line 16"/>
          <p:cNvSpPr>
            <a:spLocks noChangeShapeType="1"/>
          </p:cNvSpPr>
          <p:nvPr/>
        </p:nvSpPr>
        <p:spPr bwMode="auto">
          <a:xfrm flipV="1">
            <a:off x="1326083" y="5988106"/>
            <a:ext cx="2444805" cy="34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2108734" y="5869004"/>
            <a:ext cx="832279" cy="33855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/>
              <a:t>20kHz</a:t>
            </a:r>
            <a:endParaRPr lang="en-GB" sz="2000" dirty="0"/>
          </a:p>
        </p:txBody>
      </p:sp>
      <p:sp>
        <p:nvSpPr>
          <p:cNvPr id="9" name="Line 10"/>
          <p:cNvSpPr>
            <a:spLocks noChangeShapeType="1"/>
          </p:cNvSpPr>
          <p:nvPr/>
        </p:nvSpPr>
        <p:spPr bwMode="auto">
          <a:xfrm flipV="1">
            <a:off x="1314507" y="3134050"/>
            <a:ext cx="0" cy="25892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0" name="Line 15"/>
          <p:cNvSpPr>
            <a:spLocks noChangeShapeType="1"/>
          </p:cNvSpPr>
          <p:nvPr/>
        </p:nvSpPr>
        <p:spPr bwMode="auto">
          <a:xfrm flipV="1">
            <a:off x="3774036" y="3534031"/>
            <a:ext cx="11577" cy="256237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auto">
          <a:xfrm flipV="1">
            <a:off x="3852466" y="4077124"/>
            <a:ext cx="2444805" cy="16256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3" name="Line 16"/>
          <p:cNvSpPr>
            <a:spLocks noChangeShapeType="1"/>
          </p:cNvSpPr>
          <p:nvPr/>
        </p:nvSpPr>
        <p:spPr bwMode="auto">
          <a:xfrm flipV="1">
            <a:off x="3861894" y="5988106"/>
            <a:ext cx="2444805" cy="34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4" name="Text Box 17"/>
          <p:cNvSpPr txBox="1">
            <a:spLocks noChangeArrowheads="1"/>
          </p:cNvSpPr>
          <p:nvPr/>
        </p:nvSpPr>
        <p:spPr bwMode="auto">
          <a:xfrm>
            <a:off x="4644545" y="5869004"/>
            <a:ext cx="832279" cy="33855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/>
              <a:t>20kHz</a:t>
            </a:r>
            <a:endParaRPr lang="en-GB" sz="2000" dirty="0"/>
          </a:p>
        </p:txBody>
      </p:sp>
      <p:sp>
        <p:nvSpPr>
          <p:cNvPr id="17" name="AutoShape 6"/>
          <p:cNvSpPr>
            <a:spLocks noChangeArrowheads="1"/>
          </p:cNvSpPr>
          <p:nvPr/>
        </p:nvSpPr>
        <p:spPr bwMode="auto">
          <a:xfrm flipV="1">
            <a:off x="6397703" y="4077124"/>
            <a:ext cx="2444805" cy="16256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0" name="Line 16"/>
          <p:cNvSpPr>
            <a:spLocks noChangeShapeType="1"/>
          </p:cNvSpPr>
          <p:nvPr/>
        </p:nvSpPr>
        <p:spPr bwMode="auto">
          <a:xfrm flipV="1">
            <a:off x="6407131" y="5959825"/>
            <a:ext cx="2444805" cy="34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1" name="Text Box 17"/>
          <p:cNvSpPr txBox="1">
            <a:spLocks noChangeArrowheads="1"/>
          </p:cNvSpPr>
          <p:nvPr/>
        </p:nvSpPr>
        <p:spPr bwMode="auto">
          <a:xfrm>
            <a:off x="7189782" y="5840723"/>
            <a:ext cx="832279" cy="33855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/>
              <a:t>20kHz</a:t>
            </a:r>
            <a:endParaRPr lang="en-GB" sz="2000" dirty="0"/>
          </a:p>
        </p:txBody>
      </p:sp>
      <p:sp>
        <p:nvSpPr>
          <p:cNvPr id="25" name="Text Box 21"/>
          <p:cNvSpPr txBox="1">
            <a:spLocks noChangeArrowheads="1"/>
          </p:cNvSpPr>
          <p:nvPr/>
        </p:nvSpPr>
        <p:spPr bwMode="auto">
          <a:xfrm>
            <a:off x="432030" y="4129935"/>
            <a:ext cx="817853" cy="30777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i="1" dirty="0"/>
              <a:t>voltage</a:t>
            </a:r>
            <a:endParaRPr lang="en-GB" sz="1800" i="1" dirty="0"/>
          </a:p>
        </p:txBody>
      </p:sp>
      <p:sp>
        <p:nvSpPr>
          <p:cNvPr id="26" name="Text Box 21"/>
          <p:cNvSpPr txBox="1">
            <a:spLocks noChangeArrowheads="1"/>
          </p:cNvSpPr>
          <p:nvPr/>
        </p:nvSpPr>
        <p:spPr bwMode="auto">
          <a:xfrm>
            <a:off x="7108065" y="6096409"/>
            <a:ext cx="1045479" cy="30777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i="1" dirty="0"/>
              <a:t>frequency</a:t>
            </a:r>
            <a:endParaRPr lang="en-GB" sz="1800" i="1" dirty="0"/>
          </a:p>
        </p:txBody>
      </p:sp>
      <p:sp>
        <p:nvSpPr>
          <p:cNvPr id="27" name="Line 22"/>
          <p:cNvSpPr>
            <a:spLocks noChangeShapeType="1"/>
          </p:cNvSpPr>
          <p:nvPr/>
        </p:nvSpPr>
        <p:spPr bwMode="auto">
          <a:xfrm flipV="1">
            <a:off x="8150565" y="6246307"/>
            <a:ext cx="599035" cy="39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432030" y="330873"/>
            <a:ext cx="300755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2400" b="1" dirty="0"/>
              <a:t>Signals – </a:t>
            </a:r>
            <a:r>
              <a:rPr lang="en-GB" sz="1800" b="1" dirty="0"/>
              <a:t>multiplexing</a:t>
            </a:r>
            <a:endParaRPr lang="en-GB" sz="2400" b="1" dirty="0"/>
          </a:p>
        </p:txBody>
      </p:sp>
      <p:sp>
        <p:nvSpPr>
          <p:cNvPr id="56" name="TextBox 55"/>
          <p:cNvSpPr txBox="1"/>
          <p:nvPr/>
        </p:nvSpPr>
        <p:spPr>
          <a:xfrm>
            <a:off x="395288" y="957521"/>
            <a:ext cx="39372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Each channel needs a separate carrier</a:t>
            </a:r>
          </a:p>
        </p:txBody>
      </p:sp>
      <p:grpSp>
        <p:nvGrpSpPr>
          <p:cNvPr id="57" name="Group 8"/>
          <p:cNvGrpSpPr>
            <a:grpSpLocks/>
          </p:cNvGrpSpPr>
          <p:nvPr/>
        </p:nvGrpSpPr>
        <p:grpSpPr bwMode="auto">
          <a:xfrm>
            <a:off x="1749622" y="1410712"/>
            <a:ext cx="1597725" cy="374396"/>
            <a:chOff x="1226" y="1384"/>
            <a:chExt cx="576" cy="432"/>
          </a:xfrm>
        </p:grpSpPr>
        <p:sp>
          <p:nvSpPr>
            <p:cNvPr id="58" name="Freeform 9"/>
            <p:cNvSpPr>
              <a:spLocks/>
            </p:cNvSpPr>
            <p:nvPr/>
          </p:nvSpPr>
          <p:spPr bwMode="auto">
            <a:xfrm>
              <a:off x="1226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59" name="Freeform 10"/>
            <p:cNvSpPr>
              <a:spLocks/>
            </p:cNvSpPr>
            <p:nvPr/>
          </p:nvSpPr>
          <p:spPr bwMode="auto">
            <a:xfrm>
              <a:off x="1418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0" name="Freeform 11"/>
            <p:cNvSpPr>
              <a:spLocks/>
            </p:cNvSpPr>
            <p:nvPr/>
          </p:nvSpPr>
          <p:spPr bwMode="auto">
            <a:xfrm>
              <a:off x="1610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4170328" y="1410712"/>
            <a:ext cx="1587049" cy="387138"/>
            <a:chOff x="1521654" y="3021542"/>
            <a:chExt cx="1587049" cy="387138"/>
          </a:xfrm>
        </p:grpSpPr>
        <p:sp>
          <p:nvSpPr>
            <p:cNvPr id="62" name="Freeform 9"/>
            <p:cNvSpPr>
              <a:spLocks/>
            </p:cNvSpPr>
            <p:nvPr/>
          </p:nvSpPr>
          <p:spPr bwMode="auto">
            <a:xfrm>
              <a:off x="1521654" y="3021542"/>
              <a:ext cx="318407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3" name="Freeform 10"/>
            <p:cNvSpPr>
              <a:spLocks/>
            </p:cNvSpPr>
            <p:nvPr/>
          </p:nvSpPr>
          <p:spPr bwMode="auto">
            <a:xfrm>
              <a:off x="1840061" y="3021542"/>
              <a:ext cx="318407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4" name="Freeform 11"/>
            <p:cNvSpPr>
              <a:spLocks/>
            </p:cNvSpPr>
            <p:nvPr/>
          </p:nvSpPr>
          <p:spPr bwMode="auto">
            <a:xfrm>
              <a:off x="2158468" y="3021542"/>
              <a:ext cx="318407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5" name="Freeform 9"/>
            <p:cNvSpPr>
              <a:spLocks/>
            </p:cNvSpPr>
            <p:nvPr/>
          </p:nvSpPr>
          <p:spPr bwMode="auto">
            <a:xfrm>
              <a:off x="2471889" y="3034284"/>
              <a:ext cx="318407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6" name="Freeform 10"/>
            <p:cNvSpPr>
              <a:spLocks/>
            </p:cNvSpPr>
            <p:nvPr/>
          </p:nvSpPr>
          <p:spPr bwMode="auto">
            <a:xfrm>
              <a:off x="2790296" y="3034284"/>
              <a:ext cx="318407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6694448" y="1423454"/>
            <a:ext cx="1582888" cy="389775"/>
            <a:chOff x="1516669" y="3627259"/>
            <a:chExt cx="2190182" cy="389775"/>
          </a:xfrm>
        </p:grpSpPr>
        <p:sp>
          <p:nvSpPr>
            <p:cNvPr id="68" name="Freeform 9"/>
            <p:cNvSpPr>
              <a:spLocks/>
            </p:cNvSpPr>
            <p:nvPr/>
          </p:nvSpPr>
          <p:spPr bwMode="auto">
            <a:xfrm>
              <a:off x="1516669" y="3627259"/>
              <a:ext cx="273855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9" name="Freeform 10"/>
            <p:cNvSpPr>
              <a:spLocks/>
            </p:cNvSpPr>
            <p:nvPr/>
          </p:nvSpPr>
          <p:spPr bwMode="auto">
            <a:xfrm>
              <a:off x="1790524" y="3627259"/>
              <a:ext cx="273855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0" name="Freeform 11"/>
            <p:cNvSpPr>
              <a:spLocks/>
            </p:cNvSpPr>
            <p:nvPr/>
          </p:nvSpPr>
          <p:spPr bwMode="auto">
            <a:xfrm>
              <a:off x="2064380" y="3627259"/>
              <a:ext cx="273855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1" name="Freeform 9"/>
            <p:cNvSpPr>
              <a:spLocks/>
            </p:cNvSpPr>
            <p:nvPr/>
          </p:nvSpPr>
          <p:spPr bwMode="auto">
            <a:xfrm>
              <a:off x="2341598" y="3627259"/>
              <a:ext cx="273855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2" name="Freeform 10"/>
            <p:cNvSpPr>
              <a:spLocks/>
            </p:cNvSpPr>
            <p:nvPr/>
          </p:nvSpPr>
          <p:spPr bwMode="auto">
            <a:xfrm>
              <a:off x="2615453" y="3627259"/>
              <a:ext cx="273855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3" name="Freeform 11"/>
            <p:cNvSpPr>
              <a:spLocks/>
            </p:cNvSpPr>
            <p:nvPr/>
          </p:nvSpPr>
          <p:spPr bwMode="auto">
            <a:xfrm>
              <a:off x="2889309" y="3627259"/>
              <a:ext cx="273855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4" name="Freeform 10"/>
            <p:cNvSpPr>
              <a:spLocks/>
            </p:cNvSpPr>
            <p:nvPr/>
          </p:nvSpPr>
          <p:spPr bwMode="auto">
            <a:xfrm>
              <a:off x="3159142" y="3642638"/>
              <a:ext cx="273856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5" name="Freeform 11"/>
            <p:cNvSpPr>
              <a:spLocks/>
            </p:cNvSpPr>
            <p:nvPr/>
          </p:nvSpPr>
          <p:spPr bwMode="auto">
            <a:xfrm>
              <a:off x="3432997" y="3642638"/>
              <a:ext cx="273854" cy="374396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cxnSp>
        <p:nvCxnSpPr>
          <p:cNvPr id="77" name="Straight Connector 76"/>
          <p:cNvCxnSpPr/>
          <p:nvPr/>
        </p:nvCxnSpPr>
        <p:spPr bwMode="auto">
          <a:xfrm flipV="1">
            <a:off x="2544396" y="2372497"/>
            <a:ext cx="0" cy="3330227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lgDashDot"/>
            <a:round/>
            <a:headEnd type="none" w="med" len="med"/>
            <a:tailEnd type="none" w="med" len="med"/>
          </a:ln>
          <a:effectLst/>
        </p:spPr>
      </p:cxnSp>
      <p:cxnSp>
        <p:nvCxnSpPr>
          <p:cNvPr id="78" name="Straight Connector 77"/>
          <p:cNvCxnSpPr/>
          <p:nvPr/>
        </p:nvCxnSpPr>
        <p:spPr bwMode="auto">
          <a:xfrm flipV="1">
            <a:off x="5084296" y="2372497"/>
            <a:ext cx="0" cy="3330227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lgDashDot"/>
            <a:round/>
            <a:headEnd type="none" w="med" len="med"/>
            <a:tailEnd type="none" w="med" len="med"/>
          </a:ln>
          <a:effectLst/>
        </p:spPr>
      </p:cxnSp>
      <p:cxnSp>
        <p:nvCxnSpPr>
          <p:cNvPr id="79" name="Straight Connector 78"/>
          <p:cNvCxnSpPr/>
          <p:nvPr/>
        </p:nvCxnSpPr>
        <p:spPr bwMode="auto">
          <a:xfrm flipV="1">
            <a:off x="7631083" y="2372497"/>
            <a:ext cx="0" cy="3330227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lgDashDot"/>
            <a:round/>
            <a:headEnd type="none" w="med" len="med"/>
            <a:tailEnd type="none" w="med" len="med"/>
          </a:ln>
          <a:effectLst/>
        </p:spPr>
      </p:cxnSp>
      <p:sp>
        <p:nvSpPr>
          <p:cNvPr id="80" name="TextBox 79"/>
          <p:cNvSpPr txBox="1"/>
          <p:nvPr/>
        </p:nvSpPr>
        <p:spPr>
          <a:xfrm>
            <a:off x="2544396" y="2074169"/>
            <a:ext cx="14670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f</a:t>
            </a:r>
            <a:r>
              <a:rPr lang="en-GB" b="1" baseline="-25000" dirty="0">
                <a:solidFill>
                  <a:schemeClr val="accent1"/>
                </a:solidFill>
              </a:rPr>
              <a:t>c1</a:t>
            </a:r>
          </a:p>
          <a:p>
            <a:r>
              <a:rPr lang="en-GB" b="1" dirty="0">
                <a:solidFill>
                  <a:schemeClr val="accent1"/>
                </a:solidFill>
              </a:rPr>
              <a:t>e.g. 200kHz</a:t>
            </a:r>
            <a:r>
              <a:rPr lang="en-GB" dirty="0"/>
              <a:t>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60684" y="2032825"/>
            <a:ext cx="14670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f</a:t>
            </a:r>
            <a:r>
              <a:rPr lang="en-GB" b="1" baseline="-25000" dirty="0">
                <a:solidFill>
                  <a:srgbClr val="FF0000"/>
                </a:solidFill>
              </a:rPr>
              <a:t>c2</a:t>
            </a:r>
          </a:p>
          <a:p>
            <a:r>
              <a:rPr lang="en-GB" b="1" dirty="0">
                <a:solidFill>
                  <a:srgbClr val="FF0000"/>
                </a:solidFill>
              </a:rPr>
              <a:t>e.g. 222kHz</a:t>
            </a:r>
            <a:r>
              <a:rPr lang="en-GB" dirty="0"/>
              <a:t>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629533" y="2008177"/>
            <a:ext cx="14670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70C0"/>
                </a:solidFill>
              </a:rPr>
              <a:t>f</a:t>
            </a:r>
            <a:r>
              <a:rPr lang="en-GB" b="1" baseline="-25000" dirty="0">
                <a:solidFill>
                  <a:srgbClr val="0070C0"/>
                </a:solidFill>
              </a:rPr>
              <a:t>c3</a:t>
            </a:r>
          </a:p>
          <a:p>
            <a:r>
              <a:rPr lang="en-GB" b="1" dirty="0">
                <a:solidFill>
                  <a:srgbClr val="0070C0"/>
                </a:solidFill>
              </a:rPr>
              <a:t>e.g. 244kHz</a:t>
            </a:r>
            <a:r>
              <a:rPr lang="en-GB" dirty="0"/>
              <a:t> </a:t>
            </a:r>
          </a:p>
        </p:txBody>
      </p:sp>
      <p:sp>
        <p:nvSpPr>
          <p:cNvPr id="83" name="Line 15"/>
          <p:cNvSpPr>
            <a:spLocks noChangeShapeType="1"/>
          </p:cNvSpPr>
          <p:nvPr/>
        </p:nvSpPr>
        <p:spPr bwMode="auto">
          <a:xfrm flipV="1">
            <a:off x="3865531" y="3475904"/>
            <a:ext cx="11577" cy="256237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84" name="Line 15"/>
          <p:cNvSpPr>
            <a:spLocks noChangeShapeType="1"/>
          </p:cNvSpPr>
          <p:nvPr/>
        </p:nvSpPr>
        <p:spPr bwMode="auto">
          <a:xfrm flipV="1">
            <a:off x="6309847" y="3534031"/>
            <a:ext cx="11577" cy="256237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85" name="Line 15"/>
          <p:cNvSpPr>
            <a:spLocks noChangeShapeType="1"/>
          </p:cNvSpPr>
          <p:nvPr/>
        </p:nvSpPr>
        <p:spPr bwMode="auto">
          <a:xfrm flipV="1">
            <a:off x="6401342" y="3475904"/>
            <a:ext cx="11577" cy="256237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86" name="TextBox 85"/>
          <p:cNvSpPr txBox="1"/>
          <p:nvPr/>
        </p:nvSpPr>
        <p:spPr>
          <a:xfrm>
            <a:off x="5176071" y="2601620"/>
            <a:ext cx="17994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Includes 2kHz </a:t>
            </a:r>
            <a:r>
              <a:rPr lang="en-GB" dirty="0" err="1"/>
              <a:t>guardband</a:t>
            </a:r>
            <a:endParaRPr lang="en-GB" dirty="0"/>
          </a:p>
        </p:txBody>
      </p:sp>
      <p:cxnSp>
        <p:nvCxnSpPr>
          <p:cNvPr id="88" name="Straight Arrow Connector 87"/>
          <p:cNvCxnSpPr>
            <a:cxnSpLocks/>
          </p:cNvCxnSpPr>
          <p:nvPr/>
        </p:nvCxnSpPr>
        <p:spPr bwMode="auto">
          <a:xfrm>
            <a:off x="5883114" y="3186395"/>
            <a:ext cx="419347" cy="57729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9" name="Straight Arrow Connector 88"/>
          <p:cNvCxnSpPr>
            <a:cxnSpLocks/>
          </p:cNvCxnSpPr>
          <p:nvPr/>
        </p:nvCxnSpPr>
        <p:spPr bwMode="auto">
          <a:xfrm flipH="1">
            <a:off x="3900721" y="3186395"/>
            <a:ext cx="1588022" cy="78587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258511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395288" y="976290"/>
            <a:ext cx="3637216" cy="685800"/>
            <a:chOff x="1226" y="1384"/>
            <a:chExt cx="576" cy="432"/>
          </a:xfrm>
        </p:grpSpPr>
        <p:sp>
          <p:nvSpPr>
            <p:cNvPr id="3" name="Freeform 9"/>
            <p:cNvSpPr>
              <a:spLocks/>
            </p:cNvSpPr>
            <p:nvPr/>
          </p:nvSpPr>
          <p:spPr bwMode="auto">
            <a:xfrm>
              <a:off x="1226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4" name="Freeform 10"/>
            <p:cNvSpPr>
              <a:spLocks/>
            </p:cNvSpPr>
            <p:nvPr/>
          </p:nvSpPr>
          <p:spPr bwMode="auto">
            <a:xfrm>
              <a:off x="1418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5" name="Freeform 11"/>
            <p:cNvSpPr>
              <a:spLocks/>
            </p:cNvSpPr>
            <p:nvPr/>
          </p:nvSpPr>
          <p:spPr bwMode="auto">
            <a:xfrm>
              <a:off x="1610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4069597" y="1149913"/>
            <a:ext cx="121602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GB" sz="1600" dirty="0"/>
              <a:t>y = sin </a:t>
            </a:r>
            <a:r>
              <a:rPr lang="en-GB" sz="1600" i="1" dirty="0"/>
              <a:t>x</a:t>
            </a:r>
            <a:endParaRPr lang="en-GB" sz="1600" dirty="0"/>
          </a:p>
        </p:txBody>
      </p:sp>
      <p:grpSp>
        <p:nvGrpSpPr>
          <p:cNvPr id="12" name="Group 8"/>
          <p:cNvGrpSpPr>
            <a:grpSpLocks/>
          </p:cNvGrpSpPr>
          <p:nvPr/>
        </p:nvGrpSpPr>
        <p:grpSpPr bwMode="auto">
          <a:xfrm>
            <a:off x="395288" y="2600799"/>
            <a:ext cx="5556250" cy="685800"/>
            <a:chOff x="1226" y="1384"/>
            <a:chExt cx="576" cy="432"/>
          </a:xfrm>
        </p:grpSpPr>
        <p:sp>
          <p:nvSpPr>
            <p:cNvPr id="13" name="Freeform 9"/>
            <p:cNvSpPr>
              <a:spLocks/>
            </p:cNvSpPr>
            <p:nvPr/>
          </p:nvSpPr>
          <p:spPr bwMode="auto">
            <a:xfrm>
              <a:off x="1226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6">
                  <a:lumMod val="40000"/>
                  <a:lumOff val="60000"/>
                </a:schemeClr>
              </a:solidFill>
              <a:prstDash val="sysDash"/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4" name="Freeform 10"/>
            <p:cNvSpPr>
              <a:spLocks/>
            </p:cNvSpPr>
            <p:nvPr/>
          </p:nvSpPr>
          <p:spPr bwMode="auto">
            <a:xfrm>
              <a:off x="1418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6">
                  <a:lumMod val="40000"/>
                  <a:lumOff val="60000"/>
                </a:schemeClr>
              </a:solidFill>
              <a:prstDash val="sysDash"/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5" name="Freeform 11"/>
            <p:cNvSpPr>
              <a:spLocks/>
            </p:cNvSpPr>
            <p:nvPr/>
          </p:nvSpPr>
          <p:spPr bwMode="auto">
            <a:xfrm>
              <a:off x="1610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6">
                  <a:lumMod val="40000"/>
                  <a:lumOff val="60000"/>
                </a:schemeClr>
              </a:solidFill>
              <a:prstDash val="sysDash"/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16" name="Group 8"/>
          <p:cNvGrpSpPr>
            <a:grpSpLocks/>
          </p:cNvGrpSpPr>
          <p:nvPr/>
        </p:nvGrpSpPr>
        <p:grpSpPr bwMode="auto">
          <a:xfrm>
            <a:off x="395288" y="2249199"/>
            <a:ext cx="5556250" cy="1389000"/>
            <a:chOff x="1226" y="1384"/>
            <a:chExt cx="576" cy="432"/>
          </a:xfrm>
        </p:grpSpPr>
        <p:sp>
          <p:nvSpPr>
            <p:cNvPr id="17" name="Freeform 9"/>
            <p:cNvSpPr>
              <a:spLocks/>
            </p:cNvSpPr>
            <p:nvPr/>
          </p:nvSpPr>
          <p:spPr bwMode="auto">
            <a:xfrm>
              <a:off x="1226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8" name="Freeform 10"/>
            <p:cNvSpPr>
              <a:spLocks/>
            </p:cNvSpPr>
            <p:nvPr/>
          </p:nvSpPr>
          <p:spPr bwMode="auto">
            <a:xfrm>
              <a:off x="1418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9" name="Freeform 11"/>
            <p:cNvSpPr>
              <a:spLocks/>
            </p:cNvSpPr>
            <p:nvPr/>
          </p:nvSpPr>
          <p:spPr bwMode="auto">
            <a:xfrm>
              <a:off x="1610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24" name="Group 8"/>
          <p:cNvGrpSpPr>
            <a:grpSpLocks/>
          </p:cNvGrpSpPr>
          <p:nvPr/>
        </p:nvGrpSpPr>
        <p:grpSpPr bwMode="auto">
          <a:xfrm>
            <a:off x="395287" y="4315282"/>
            <a:ext cx="5556250" cy="685800"/>
            <a:chOff x="1226" y="1384"/>
            <a:chExt cx="576" cy="432"/>
          </a:xfrm>
        </p:grpSpPr>
        <p:sp>
          <p:nvSpPr>
            <p:cNvPr id="25" name="Freeform 9"/>
            <p:cNvSpPr>
              <a:spLocks/>
            </p:cNvSpPr>
            <p:nvPr/>
          </p:nvSpPr>
          <p:spPr bwMode="auto">
            <a:xfrm>
              <a:off x="1226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6">
                  <a:lumMod val="40000"/>
                  <a:lumOff val="60000"/>
                </a:schemeClr>
              </a:solidFill>
              <a:prstDash val="sysDash"/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26" name="Freeform 10"/>
            <p:cNvSpPr>
              <a:spLocks/>
            </p:cNvSpPr>
            <p:nvPr/>
          </p:nvSpPr>
          <p:spPr bwMode="auto">
            <a:xfrm>
              <a:off x="1418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6">
                  <a:lumMod val="40000"/>
                  <a:lumOff val="60000"/>
                </a:schemeClr>
              </a:solidFill>
              <a:prstDash val="sysDash"/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27" name="Freeform 11"/>
            <p:cNvSpPr>
              <a:spLocks/>
            </p:cNvSpPr>
            <p:nvPr/>
          </p:nvSpPr>
          <p:spPr bwMode="auto">
            <a:xfrm>
              <a:off x="1610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6">
                  <a:lumMod val="40000"/>
                  <a:lumOff val="60000"/>
                </a:schemeClr>
              </a:solidFill>
              <a:prstDash val="sysDash"/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29" name="Group 8"/>
          <p:cNvGrpSpPr>
            <a:grpSpLocks/>
          </p:cNvGrpSpPr>
          <p:nvPr/>
        </p:nvGrpSpPr>
        <p:grpSpPr bwMode="auto">
          <a:xfrm>
            <a:off x="395287" y="4315284"/>
            <a:ext cx="5361685" cy="693738"/>
            <a:chOff x="1226" y="1384"/>
            <a:chExt cx="768" cy="437"/>
          </a:xfrm>
        </p:grpSpPr>
        <p:sp>
          <p:nvSpPr>
            <p:cNvPr id="30" name="Freeform 9"/>
            <p:cNvSpPr>
              <a:spLocks/>
            </p:cNvSpPr>
            <p:nvPr/>
          </p:nvSpPr>
          <p:spPr bwMode="auto">
            <a:xfrm>
              <a:off x="1226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1" name="Freeform 10"/>
            <p:cNvSpPr>
              <a:spLocks/>
            </p:cNvSpPr>
            <p:nvPr/>
          </p:nvSpPr>
          <p:spPr bwMode="auto">
            <a:xfrm>
              <a:off x="1418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2" name="Freeform 11"/>
            <p:cNvSpPr>
              <a:spLocks/>
            </p:cNvSpPr>
            <p:nvPr/>
          </p:nvSpPr>
          <p:spPr bwMode="auto">
            <a:xfrm>
              <a:off x="1610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3" name="Freeform 11"/>
            <p:cNvSpPr>
              <a:spLocks/>
            </p:cNvSpPr>
            <p:nvPr/>
          </p:nvSpPr>
          <p:spPr bwMode="auto">
            <a:xfrm>
              <a:off x="1802" y="1389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34" name="Group 8"/>
          <p:cNvGrpSpPr>
            <a:grpSpLocks/>
          </p:cNvGrpSpPr>
          <p:nvPr/>
        </p:nvGrpSpPr>
        <p:grpSpPr bwMode="auto">
          <a:xfrm>
            <a:off x="398230" y="5576253"/>
            <a:ext cx="5556250" cy="685800"/>
            <a:chOff x="1226" y="1384"/>
            <a:chExt cx="576" cy="432"/>
          </a:xfrm>
        </p:grpSpPr>
        <p:sp>
          <p:nvSpPr>
            <p:cNvPr id="35" name="Freeform 9"/>
            <p:cNvSpPr>
              <a:spLocks/>
            </p:cNvSpPr>
            <p:nvPr/>
          </p:nvSpPr>
          <p:spPr bwMode="auto">
            <a:xfrm>
              <a:off x="1226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6">
                  <a:lumMod val="40000"/>
                  <a:lumOff val="60000"/>
                </a:schemeClr>
              </a:solidFill>
              <a:prstDash val="sysDash"/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6" name="Freeform 10"/>
            <p:cNvSpPr>
              <a:spLocks/>
            </p:cNvSpPr>
            <p:nvPr/>
          </p:nvSpPr>
          <p:spPr bwMode="auto">
            <a:xfrm>
              <a:off x="1418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6">
                  <a:lumMod val="40000"/>
                  <a:lumOff val="60000"/>
                </a:schemeClr>
              </a:solidFill>
              <a:prstDash val="sysDash"/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7" name="Freeform 11"/>
            <p:cNvSpPr>
              <a:spLocks/>
            </p:cNvSpPr>
            <p:nvPr/>
          </p:nvSpPr>
          <p:spPr bwMode="auto">
            <a:xfrm>
              <a:off x="1610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6">
                  <a:lumMod val="40000"/>
                  <a:lumOff val="60000"/>
                </a:schemeClr>
              </a:solidFill>
              <a:prstDash val="sysDash"/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43" name="Group 8"/>
          <p:cNvGrpSpPr>
            <a:grpSpLocks/>
          </p:cNvGrpSpPr>
          <p:nvPr/>
        </p:nvGrpSpPr>
        <p:grpSpPr bwMode="auto">
          <a:xfrm>
            <a:off x="754846" y="5572138"/>
            <a:ext cx="5556250" cy="685800"/>
            <a:chOff x="1226" y="1384"/>
            <a:chExt cx="576" cy="432"/>
          </a:xfrm>
        </p:grpSpPr>
        <p:sp>
          <p:nvSpPr>
            <p:cNvPr id="44" name="Freeform 9"/>
            <p:cNvSpPr>
              <a:spLocks/>
            </p:cNvSpPr>
            <p:nvPr/>
          </p:nvSpPr>
          <p:spPr bwMode="auto">
            <a:xfrm>
              <a:off x="1226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6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45" name="Freeform 10"/>
            <p:cNvSpPr>
              <a:spLocks/>
            </p:cNvSpPr>
            <p:nvPr/>
          </p:nvSpPr>
          <p:spPr bwMode="auto">
            <a:xfrm>
              <a:off x="1418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6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46" name="Freeform 11"/>
            <p:cNvSpPr>
              <a:spLocks/>
            </p:cNvSpPr>
            <p:nvPr/>
          </p:nvSpPr>
          <p:spPr bwMode="auto">
            <a:xfrm>
              <a:off x="1610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6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cxnSp>
        <p:nvCxnSpPr>
          <p:cNvPr id="48" name="Straight Arrow Connector 47"/>
          <p:cNvCxnSpPr/>
          <p:nvPr/>
        </p:nvCxnSpPr>
        <p:spPr bwMode="auto">
          <a:xfrm flipV="1">
            <a:off x="4565797" y="2249199"/>
            <a:ext cx="0" cy="13890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triangle" w="lg" len="lg"/>
            <a:tailEnd type="triangle" w="lg" len="lg"/>
          </a:ln>
          <a:effectLst/>
        </p:spPr>
      </p:cxnSp>
      <p:cxnSp>
        <p:nvCxnSpPr>
          <p:cNvPr id="50" name="Straight Arrow Connector 49"/>
          <p:cNvCxnSpPr/>
          <p:nvPr/>
        </p:nvCxnSpPr>
        <p:spPr bwMode="auto">
          <a:xfrm flipV="1">
            <a:off x="4372638" y="4658182"/>
            <a:ext cx="1384334" cy="1285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triangle" w="lg" len="lg"/>
            <a:tailEnd type="triangle" w="lg" len="lg"/>
          </a:ln>
          <a:effectLst/>
        </p:spPr>
      </p:cxnSp>
      <p:cxnSp>
        <p:nvCxnSpPr>
          <p:cNvPr id="53" name="Straight Arrow Connector 52"/>
          <p:cNvCxnSpPr/>
          <p:nvPr/>
        </p:nvCxnSpPr>
        <p:spPr bwMode="auto">
          <a:xfrm flipV="1">
            <a:off x="2734134" y="4312825"/>
            <a:ext cx="1831663" cy="2325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triangle" w="lg" len="lg"/>
            <a:tailEnd type="triangle" w="lg" len="lg"/>
          </a:ln>
          <a:effectLst/>
        </p:spPr>
      </p:cxnSp>
      <p:cxnSp>
        <p:nvCxnSpPr>
          <p:cNvPr id="57" name="Straight Arrow Connector 56"/>
          <p:cNvCxnSpPr/>
          <p:nvPr/>
        </p:nvCxnSpPr>
        <p:spPr bwMode="auto">
          <a:xfrm flipV="1">
            <a:off x="4900333" y="2600799"/>
            <a:ext cx="0" cy="6858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triangle" w="lg" len="lg"/>
            <a:tailEnd type="triangle" w="lg" len="lg"/>
          </a:ln>
          <a:effectLst/>
        </p:spPr>
      </p:cxnSp>
      <p:cxnSp>
        <p:nvCxnSpPr>
          <p:cNvPr id="63" name="Straight Arrow Connector 62"/>
          <p:cNvCxnSpPr/>
          <p:nvPr/>
        </p:nvCxnSpPr>
        <p:spPr bwMode="auto">
          <a:xfrm flipV="1">
            <a:off x="5826878" y="5908777"/>
            <a:ext cx="527882" cy="1252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triangle" w="lg" len="lg"/>
            <a:tailEnd type="triangle" w="lg" len="lg"/>
          </a:ln>
          <a:effectLst/>
        </p:spPr>
      </p:cxnSp>
      <p:cxnSp>
        <p:nvCxnSpPr>
          <p:cNvPr id="65" name="Straight Arrow Connector 64"/>
          <p:cNvCxnSpPr/>
          <p:nvPr/>
        </p:nvCxnSpPr>
        <p:spPr bwMode="auto">
          <a:xfrm flipV="1">
            <a:off x="354566" y="5908776"/>
            <a:ext cx="527882" cy="1252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triangle" w="lg" len="lg"/>
            <a:tailEnd type="triangle" w="lg" len="lg"/>
          </a:ln>
          <a:effectLst/>
        </p:spPr>
      </p:cxnSp>
      <p:sp>
        <p:nvSpPr>
          <p:cNvPr id="66" name="Rectangle 65"/>
          <p:cNvSpPr/>
          <p:nvPr/>
        </p:nvSpPr>
        <p:spPr>
          <a:xfrm>
            <a:off x="5642517" y="572647"/>
            <a:ext cx="3401122" cy="5780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92088" indent="-192088">
              <a:lnSpc>
                <a:spcPct val="120000"/>
              </a:lnSpc>
              <a:buFontTx/>
              <a:buChar char="•"/>
            </a:pPr>
            <a:endParaRPr lang="en-GB" dirty="0"/>
          </a:p>
          <a:p>
            <a:pPr marL="192088" indent="-192088">
              <a:lnSpc>
                <a:spcPct val="120000"/>
              </a:lnSpc>
              <a:buFontTx/>
              <a:buChar char="•"/>
            </a:pPr>
            <a:endParaRPr lang="en-GB" dirty="0"/>
          </a:p>
          <a:p>
            <a:pPr marL="192088" indent="-192088">
              <a:lnSpc>
                <a:spcPct val="120000"/>
              </a:lnSpc>
              <a:buFontTx/>
              <a:buChar char="•"/>
            </a:pPr>
            <a:r>
              <a:rPr lang="en-GB" dirty="0"/>
              <a:t>Carrier - sinusoidal</a:t>
            </a:r>
          </a:p>
          <a:p>
            <a:pPr marL="192088" indent="-192088">
              <a:lnSpc>
                <a:spcPct val="120000"/>
              </a:lnSpc>
              <a:buFontTx/>
              <a:buChar char="•"/>
            </a:pPr>
            <a:endParaRPr lang="en-GB" dirty="0"/>
          </a:p>
          <a:p>
            <a:pPr marL="534988" indent="-192088">
              <a:lnSpc>
                <a:spcPct val="120000"/>
              </a:lnSpc>
              <a:buFontTx/>
              <a:buChar char="•"/>
            </a:pPr>
            <a:r>
              <a:rPr lang="en-GB" dirty="0"/>
              <a:t>Carrier parameters can change to convey the baseband signal: </a:t>
            </a:r>
          </a:p>
          <a:p>
            <a:pPr marL="892175" lvl="1" indent="-179388">
              <a:lnSpc>
                <a:spcPct val="120000"/>
              </a:lnSpc>
              <a:buFontTx/>
              <a:buChar char="•"/>
            </a:pPr>
            <a:endParaRPr lang="en-GB" dirty="0"/>
          </a:p>
          <a:p>
            <a:pPr marL="714375" lvl="1">
              <a:lnSpc>
                <a:spcPct val="120000"/>
              </a:lnSpc>
            </a:pPr>
            <a:r>
              <a:rPr lang="en-GB" b="1" dirty="0"/>
              <a:t>Amplitude</a:t>
            </a:r>
          </a:p>
          <a:p>
            <a:pPr marL="714375" lvl="1">
              <a:lnSpc>
                <a:spcPct val="120000"/>
              </a:lnSpc>
            </a:pPr>
            <a:r>
              <a:rPr lang="en-GB" sz="1400" dirty="0"/>
              <a:t>... Amplitude Modulation 	- AM</a:t>
            </a:r>
          </a:p>
          <a:p>
            <a:pPr marL="714375" lvl="1">
              <a:lnSpc>
                <a:spcPct val="120000"/>
              </a:lnSpc>
              <a:buFontTx/>
              <a:buChar char="•"/>
            </a:pPr>
            <a:endParaRPr lang="en-GB" dirty="0"/>
          </a:p>
          <a:p>
            <a:pPr marL="714375" lvl="1">
              <a:lnSpc>
                <a:spcPct val="120000"/>
              </a:lnSpc>
              <a:buFontTx/>
              <a:buChar char="•"/>
            </a:pPr>
            <a:endParaRPr lang="en-GB" dirty="0"/>
          </a:p>
          <a:p>
            <a:pPr marL="714375" lvl="1">
              <a:lnSpc>
                <a:spcPct val="120000"/>
              </a:lnSpc>
            </a:pPr>
            <a:r>
              <a:rPr lang="en-GB" b="1" dirty="0"/>
              <a:t>Frequency</a:t>
            </a:r>
          </a:p>
          <a:p>
            <a:pPr marL="714375" lvl="1">
              <a:lnSpc>
                <a:spcPct val="120000"/>
              </a:lnSpc>
            </a:pPr>
            <a:r>
              <a:rPr lang="en-GB" sz="1400" dirty="0"/>
              <a:t>… Frequency Modulation</a:t>
            </a:r>
          </a:p>
          <a:p>
            <a:pPr marL="714375" lvl="1">
              <a:lnSpc>
                <a:spcPct val="120000"/>
              </a:lnSpc>
            </a:pPr>
            <a:r>
              <a:rPr lang="en-GB" sz="1400" dirty="0"/>
              <a:t>	- FM</a:t>
            </a:r>
          </a:p>
          <a:p>
            <a:pPr marL="714375" lvl="1">
              <a:lnSpc>
                <a:spcPct val="120000"/>
              </a:lnSpc>
              <a:buFontTx/>
              <a:buChar char="•"/>
            </a:pPr>
            <a:endParaRPr lang="en-GB" dirty="0"/>
          </a:p>
          <a:p>
            <a:pPr marL="714375" lvl="1">
              <a:lnSpc>
                <a:spcPct val="120000"/>
              </a:lnSpc>
            </a:pPr>
            <a:r>
              <a:rPr lang="en-GB" b="1" dirty="0"/>
              <a:t>Phase</a:t>
            </a:r>
          </a:p>
          <a:p>
            <a:pPr marL="714375" lvl="1">
              <a:lnSpc>
                <a:spcPct val="120000"/>
              </a:lnSpc>
            </a:pPr>
            <a:r>
              <a:rPr lang="en-GB" sz="1400" dirty="0"/>
              <a:t>… Phase Modulation </a:t>
            </a:r>
          </a:p>
          <a:p>
            <a:pPr marL="714375" lvl="1">
              <a:lnSpc>
                <a:spcPct val="120000"/>
              </a:lnSpc>
            </a:pPr>
            <a:r>
              <a:rPr lang="en-GB" sz="1400" dirty="0"/>
              <a:t>	(PM and many other types)</a:t>
            </a:r>
          </a:p>
        </p:txBody>
      </p:sp>
      <p:sp>
        <p:nvSpPr>
          <p:cNvPr id="67" name="Rectangle 6"/>
          <p:cNvSpPr>
            <a:spLocks noChangeArrowheads="1"/>
          </p:cNvSpPr>
          <p:nvPr/>
        </p:nvSpPr>
        <p:spPr bwMode="auto">
          <a:xfrm>
            <a:off x="385763" y="333375"/>
            <a:ext cx="186781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400" b="1" dirty="0"/>
              <a:t>Modulation</a:t>
            </a:r>
          </a:p>
        </p:txBody>
      </p:sp>
    </p:spTree>
    <p:extLst>
      <p:ext uri="{BB962C8B-B14F-4D97-AF65-F5344CB8AC3E}">
        <p14:creationId xmlns:p14="http://schemas.microsoft.com/office/powerpoint/2010/main" val="1968130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288" y="2569464"/>
            <a:ext cx="72582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dirty="0"/>
              <a:t>Analogue Modulation – AM and FM</a:t>
            </a:r>
          </a:p>
        </p:txBody>
      </p:sp>
    </p:spTree>
    <p:extLst>
      <p:ext uri="{BB962C8B-B14F-4D97-AF65-F5344CB8AC3E}">
        <p14:creationId xmlns:p14="http://schemas.microsoft.com/office/powerpoint/2010/main" val="336490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5"/>
          <p:cNvSpPr txBox="1">
            <a:spLocks noChangeArrowheads="1"/>
          </p:cNvSpPr>
          <p:nvPr/>
        </p:nvSpPr>
        <p:spPr bwMode="auto">
          <a:xfrm>
            <a:off x="438508" y="368552"/>
            <a:ext cx="43620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400" b="1" dirty="0"/>
              <a:t>Amplitude Modulation - AM</a:t>
            </a:r>
          </a:p>
        </p:txBody>
      </p:sp>
      <p:sp>
        <p:nvSpPr>
          <p:cNvPr id="5123" name="Freeform 6"/>
          <p:cNvSpPr>
            <a:spLocks/>
          </p:cNvSpPr>
          <p:nvPr/>
        </p:nvSpPr>
        <p:spPr bwMode="auto">
          <a:xfrm>
            <a:off x="2362200" y="2209800"/>
            <a:ext cx="6096000" cy="1101725"/>
          </a:xfrm>
          <a:custGeom>
            <a:avLst/>
            <a:gdLst>
              <a:gd name="T0" fmla="*/ 0 w 3840"/>
              <a:gd name="T1" fmla="*/ 2147483647 h 934"/>
              <a:gd name="T2" fmla="*/ 2147483647 w 3840"/>
              <a:gd name="T3" fmla="*/ 2147483647 h 934"/>
              <a:gd name="T4" fmla="*/ 2147483647 w 3840"/>
              <a:gd name="T5" fmla="*/ 2147483647 h 934"/>
              <a:gd name="T6" fmla="*/ 2147483647 w 3840"/>
              <a:gd name="T7" fmla="*/ 2147483647 h 934"/>
              <a:gd name="T8" fmla="*/ 2147483647 w 3840"/>
              <a:gd name="T9" fmla="*/ 2147483647 h 934"/>
              <a:gd name="T10" fmla="*/ 2147483647 w 3840"/>
              <a:gd name="T11" fmla="*/ 2147483647 h 934"/>
              <a:gd name="T12" fmla="*/ 2147483647 w 3840"/>
              <a:gd name="T13" fmla="*/ 2147483647 h 934"/>
              <a:gd name="T14" fmla="*/ 2147483647 w 3840"/>
              <a:gd name="T15" fmla="*/ 2147483647 h 934"/>
              <a:gd name="T16" fmla="*/ 2147483647 w 3840"/>
              <a:gd name="T17" fmla="*/ 2147483647 h 934"/>
              <a:gd name="T18" fmla="*/ 2147483647 w 3840"/>
              <a:gd name="T19" fmla="*/ 2147483647 h 934"/>
              <a:gd name="T20" fmla="*/ 2147483647 w 3840"/>
              <a:gd name="T21" fmla="*/ 2147483647 h 934"/>
              <a:gd name="T22" fmla="*/ 2147483647 w 3840"/>
              <a:gd name="T23" fmla="*/ 2147483647 h 934"/>
              <a:gd name="T24" fmla="*/ 2147483647 w 3840"/>
              <a:gd name="T25" fmla="*/ 2147483647 h 934"/>
              <a:gd name="T26" fmla="*/ 2147483647 w 3840"/>
              <a:gd name="T27" fmla="*/ 2147483647 h 934"/>
              <a:gd name="T28" fmla="*/ 2147483647 w 3840"/>
              <a:gd name="T29" fmla="*/ 2147483647 h 934"/>
              <a:gd name="T30" fmla="*/ 2147483647 w 3840"/>
              <a:gd name="T31" fmla="*/ 2147483647 h 93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840"/>
              <a:gd name="T49" fmla="*/ 0 h 934"/>
              <a:gd name="T50" fmla="*/ 3840 w 3840"/>
              <a:gd name="T51" fmla="*/ 934 h 934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840" h="934">
                <a:moveTo>
                  <a:pt x="0" y="502"/>
                </a:moveTo>
                <a:cubicBezTo>
                  <a:pt x="32" y="278"/>
                  <a:pt x="64" y="54"/>
                  <a:pt x="144" y="118"/>
                </a:cubicBezTo>
                <a:cubicBezTo>
                  <a:pt x="224" y="182"/>
                  <a:pt x="352" y="838"/>
                  <a:pt x="480" y="886"/>
                </a:cubicBezTo>
                <a:cubicBezTo>
                  <a:pt x="608" y="934"/>
                  <a:pt x="792" y="542"/>
                  <a:pt x="912" y="406"/>
                </a:cubicBezTo>
                <a:cubicBezTo>
                  <a:pt x="1032" y="270"/>
                  <a:pt x="1080" y="6"/>
                  <a:pt x="1200" y="70"/>
                </a:cubicBezTo>
                <a:cubicBezTo>
                  <a:pt x="1320" y="134"/>
                  <a:pt x="1528" y="662"/>
                  <a:pt x="1632" y="790"/>
                </a:cubicBezTo>
                <a:cubicBezTo>
                  <a:pt x="1736" y="918"/>
                  <a:pt x="1768" y="910"/>
                  <a:pt x="1824" y="838"/>
                </a:cubicBezTo>
                <a:cubicBezTo>
                  <a:pt x="1880" y="766"/>
                  <a:pt x="1931" y="461"/>
                  <a:pt x="1968" y="358"/>
                </a:cubicBezTo>
                <a:cubicBezTo>
                  <a:pt x="2005" y="255"/>
                  <a:pt x="2024" y="270"/>
                  <a:pt x="2048" y="222"/>
                </a:cubicBezTo>
                <a:cubicBezTo>
                  <a:pt x="2072" y="174"/>
                  <a:pt x="2061" y="0"/>
                  <a:pt x="2112" y="70"/>
                </a:cubicBezTo>
                <a:cubicBezTo>
                  <a:pt x="2163" y="140"/>
                  <a:pt x="2280" y="614"/>
                  <a:pt x="2352" y="646"/>
                </a:cubicBezTo>
                <a:cubicBezTo>
                  <a:pt x="2424" y="678"/>
                  <a:pt x="2448" y="230"/>
                  <a:pt x="2544" y="262"/>
                </a:cubicBezTo>
                <a:cubicBezTo>
                  <a:pt x="2640" y="294"/>
                  <a:pt x="2808" y="822"/>
                  <a:pt x="2928" y="838"/>
                </a:cubicBezTo>
                <a:cubicBezTo>
                  <a:pt x="3048" y="854"/>
                  <a:pt x="3176" y="398"/>
                  <a:pt x="3264" y="358"/>
                </a:cubicBezTo>
                <a:cubicBezTo>
                  <a:pt x="3352" y="318"/>
                  <a:pt x="3360" y="574"/>
                  <a:pt x="3456" y="598"/>
                </a:cubicBezTo>
                <a:cubicBezTo>
                  <a:pt x="3552" y="622"/>
                  <a:pt x="3776" y="518"/>
                  <a:pt x="3840" y="502"/>
                </a:cubicBezTo>
              </a:path>
            </a:pathLst>
          </a:cu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362200" y="1143000"/>
            <a:ext cx="6096000" cy="685800"/>
            <a:chOff x="864" y="720"/>
            <a:chExt cx="3840" cy="960"/>
          </a:xfrm>
        </p:grpSpPr>
        <p:sp>
          <p:nvSpPr>
            <p:cNvPr id="5177" name="Freeform 8"/>
            <p:cNvSpPr>
              <a:spLocks/>
            </p:cNvSpPr>
            <p:nvPr/>
          </p:nvSpPr>
          <p:spPr bwMode="auto">
            <a:xfrm>
              <a:off x="864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78" name="Freeform 9"/>
            <p:cNvSpPr>
              <a:spLocks/>
            </p:cNvSpPr>
            <p:nvPr/>
          </p:nvSpPr>
          <p:spPr bwMode="auto">
            <a:xfrm>
              <a:off x="1056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79" name="Freeform 10"/>
            <p:cNvSpPr>
              <a:spLocks/>
            </p:cNvSpPr>
            <p:nvPr/>
          </p:nvSpPr>
          <p:spPr bwMode="auto">
            <a:xfrm>
              <a:off x="1248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80" name="Freeform 11"/>
            <p:cNvSpPr>
              <a:spLocks/>
            </p:cNvSpPr>
            <p:nvPr/>
          </p:nvSpPr>
          <p:spPr bwMode="auto">
            <a:xfrm>
              <a:off x="1440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81" name="Freeform 12"/>
            <p:cNvSpPr>
              <a:spLocks/>
            </p:cNvSpPr>
            <p:nvPr/>
          </p:nvSpPr>
          <p:spPr bwMode="auto">
            <a:xfrm>
              <a:off x="1632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82" name="Freeform 13"/>
            <p:cNvSpPr>
              <a:spLocks/>
            </p:cNvSpPr>
            <p:nvPr/>
          </p:nvSpPr>
          <p:spPr bwMode="auto">
            <a:xfrm>
              <a:off x="1824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83" name="Freeform 14"/>
            <p:cNvSpPr>
              <a:spLocks/>
            </p:cNvSpPr>
            <p:nvPr/>
          </p:nvSpPr>
          <p:spPr bwMode="auto">
            <a:xfrm>
              <a:off x="2016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84" name="Freeform 15"/>
            <p:cNvSpPr>
              <a:spLocks/>
            </p:cNvSpPr>
            <p:nvPr/>
          </p:nvSpPr>
          <p:spPr bwMode="auto">
            <a:xfrm>
              <a:off x="2208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85" name="Freeform 16"/>
            <p:cNvSpPr>
              <a:spLocks/>
            </p:cNvSpPr>
            <p:nvPr/>
          </p:nvSpPr>
          <p:spPr bwMode="auto">
            <a:xfrm>
              <a:off x="2400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86" name="Freeform 17"/>
            <p:cNvSpPr>
              <a:spLocks/>
            </p:cNvSpPr>
            <p:nvPr/>
          </p:nvSpPr>
          <p:spPr bwMode="auto">
            <a:xfrm>
              <a:off x="2592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87" name="Freeform 18"/>
            <p:cNvSpPr>
              <a:spLocks/>
            </p:cNvSpPr>
            <p:nvPr/>
          </p:nvSpPr>
          <p:spPr bwMode="auto">
            <a:xfrm>
              <a:off x="2784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88" name="Freeform 19"/>
            <p:cNvSpPr>
              <a:spLocks/>
            </p:cNvSpPr>
            <p:nvPr/>
          </p:nvSpPr>
          <p:spPr bwMode="auto">
            <a:xfrm>
              <a:off x="2976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89" name="Freeform 20"/>
            <p:cNvSpPr>
              <a:spLocks/>
            </p:cNvSpPr>
            <p:nvPr/>
          </p:nvSpPr>
          <p:spPr bwMode="auto">
            <a:xfrm>
              <a:off x="3168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90" name="Freeform 21"/>
            <p:cNvSpPr>
              <a:spLocks/>
            </p:cNvSpPr>
            <p:nvPr/>
          </p:nvSpPr>
          <p:spPr bwMode="auto">
            <a:xfrm>
              <a:off x="3360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91" name="Freeform 22"/>
            <p:cNvSpPr>
              <a:spLocks/>
            </p:cNvSpPr>
            <p:nvPr/>
          </p:nvSpPr>
          <p:spPr bwMode="auto">
            <a:xfrm>
              <a:off x="3552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92" name="Freeform 23"/>
            <p:cNvSpPr>
              <a:spLocks/>
            </p:cNvSpPr>
            <p:nvPr/>
          </p:nvSpPr>
          <p:spPr bwMode="auto">
            <a:xfrm>
              <a:off x="3744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93" name="Freeform 24"/>
            <p:cNvSpPr>
              <a:spLocks/>
            </p:cNvSpPr>
            <p:nvPr/>
          </p:nvSpPr>
          <p:spPr bwMode="auto">
            <a:xfrm>
              <a:off x="3936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94" name="Freeform 25"/>
            <p:cNvSpPr>
              <a:spLocks/>
            </p:cNvSpPr>
            <p:nvPr/>
          </p:nvSpPr>
          <p:spPr bwMode="auto">
            <a:xfrm>
              <a:off x="4128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95" name="Freeform 26"/>
            <p:cNvSpPr>
              <a:spLocks/>
            </p:cNvSpPr>
            <p:nvPr/>
          </p:nvSpPr>
          <p:spPr bwMode="auto">
            <a:xfrm>
              <a:off x="4320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96" name="Freeform 27"/>
            <p:cNvSpPr>
              <a:spLocks/>
            </p:cNvSpPr>
            <p:nvPr/>
          </p:nvSpPr>
          <p:spPr bwMode="auto">
            <a:xfrm>
              <a:off x="4512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125" name="Text Box 28"/>
          <p:cNvSpPr txBox="1">
            <a:spLocks noChangeArrowheads="1"/>
          </p:cNvSpPr>
          <p:nvPr/>
        </p:nvSpPr>
        <p:spPr bwMode="auto">
          <a:xfrm>
            <a:off x="431800" y="1385679"/>
            <a:ext cx="143981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1600"/>
              <a:t>Carrier Wave</a:t>
            </a:r>
            <a:endParaRPr lang="en-GB" sz="2000"/>
          </a:p>
        </p:txBody>
      </p:sp>
      <p:sp>
        <p:nvSpPr>
          <p:cNvPr id="5126" name="Text Box 29"/>
          <p:cNvSpPr txBox="1">
            <a:spLocks noChangeArrowheads="1"/>
          </p:cNvSpPr>
          <p:nvPr/>
        </p:nvSpPr>
        <p:spPr bwMode="auto">
          <a:xfrm>
            <a:off x="509649" y="2604879"/>
            <a:ext cx="143180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1600"/>
              <a:t>Audio Signal</a:t>
            </a:r>
            <a:endParaRPr lang="en-GB" sz="2000"/>
          </a:p>
        </p:txBody>
      </p: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457200" y="3352800"/>
            <a:ext cx="8001000" cy="1452563"/>
            <a:chOff x="288" y="2112"/>
            <a:chExt cx="5040" cy="915"/>
          </a:xfrm>
        </p:grpSpPr>
        <p:grpSp>
          <p:nvGrpSpPr>
            <p:cNvPr id="4" name="Group 31"/>
            <p:cNvGrpSpPr>
              <a:grpSpLocks/>
            </p:cNvGrpSpPr>
            <p:nvPr/>
          </p:nvGrpSpPr>
          <p:grpSpPr bwMode="auto">
            <a:xfrm>
              <a:off x="1488" y="2112"/>
              <a:ext cx="3840" cy="915"/>
              <a:chOff x="912" y="2880"/>
              <a:chExt cx="3840" cy="915"/>
            </a:xfrm>
          </p:grpSpPr>
          <p:sp>
            <p:nvSpPr>
              <p:cNvPr id="5155" name="Freeform 32"/>
              <p:cNvSpPr>
                <a:spLocks/>
              </p:cNvSpPr>
              <p:nvPr/>
            </p:nvSpPr>
            <p:spPr bwMode="auto">
              <a:xfrm>
                <a:off x="912" y="2976"/>
                <a:ext cx="192" cy="777"/>
              </a:xfrm>
              <a:custGeom>
                <a:avLst/>
                <a:gdLst>
                  <a:gd name="T0" fmla="*/ 0 w 1536"/>
                  <a:gd name="T1" fmla="*/ 1 h 1152"/>
                  <a:gd name="T2" fmla="*/ 0 w 1536"/>
                  <a:gd name="T3" fmla="*/ 0 h 1152"/>
                  <a:gd name="T4" fmla="*/ 0 w 1536"/>
                  <a:gd name="T5" fmla="*/ 1 h 1152"/>
                  <a:gd name="T6" fmla="*/ 0 w 1536"/>
                  <a:gd name="T7" fmla="*/ 3 h 1152"/>
                  <a:gd name="T8" fmla="*/ 0 w 1536"/>
                  <a:gd name="T9" fmla="*/ 1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5156" name="Freeform 33"/>
              <p:cNvSpPr>
                <a:spLocks/>
              </p:cNvSpPr>
              <p:nvPr/>
            </p:nvSpPr>
            <p:spPr bwMode="auto">
              <a:xfrm>
                <a:off x="1104" y="3021"/>
                <a:ext cx="192" cy="528"/>
              </a:xfrm>
              <a:custGeom>
                <a:avLst/>
                <a:gdLst>
                  <a:gd name="T0" fmla="*/ 0 w 192"/>
                  <a:gd name="T1" fmla="*/ 339 h 528"/>
                  <a:gd name="T2" fmla="*/ 48 w 192"/>
                  <a:gd name="T3" fmla="*/ 11 h 528"/>
                  <a:gd name="T4" fmla="*/ 96 w 192"/>
                  <a:gd name="T5" fmla="*/ 270 h 528"/>
                  <a:gd name="T6" fmla="*/ 144 w 192"/>
                  <a:gd name="T7" fmla="*/ 528 h 528"/>
                  <a:gd name="T8" fmla="*/ 192 w 192"/>
                  <a:gd name="T9" fmla="*/ 270 h 5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528"/>
                  <a:gd name="T17" fmla="*/ 192 w 192"/>
                  <a:gd name="T18" fmla="*/ 528 h 5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528">
                    <a:moveTo>
                      <a:pt x="0" y="339"/>
                    </a:moveTo>
                    <a:cubicBezTo>
                      <a:pt x="8" y="285"/>
                      <a:pt x="32" y="22"/>
                      <a:pt x="48" y="11"/>
                    </a:cubicBezTo>
                    <a:cubicBezTo>
                      <a:pt x="64" y="0"/>
                      <a:pt x="80" y="183"/>
                      <a:pt x="96" y="270"/>
                    </a:cubicBezTo>
                    <a:cubicBezTo>
                      <a:pt x="112" y="356"/>
                      <a:pt x="128" y="528"/>
                      <a:pt x="144" y="528"/>
                    </a:cubicBezTo>
                    <a:cubicBezTo>
                      <a:pt x="160" y="528"/>
                      <a:pt x="176" y="399"/>
                      <a:pt x="192" y="270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5157" name="Freeform 34"/>
              <p:cNvSpPr>
                <a:spLocks/>
              </p:cNvSpPr>
              <p:nvPr/>
            </p:nvSpPr>
            <p:spPr bwMode="auto">
              <a:xfrm>
                <a:off x="1293" y="3211"/>
                <a:ext cx="202" cy="229"/>
              </a:xfrm>
              <a:custGeom>
                <a:avLst/>
                <a:gdLst>
                  <a:gd name="T0" fmla="*/ 0 w 202"/>
                  <a:gd name="T1" fmla="*/ 98 h 229"/>
                  <a:gd name="T2" fmla="*/ 48 w 202"/>
                  <a:gd name="T3" fmla="*/ 8 h 229"/>
                  <a:gd name="T4" fmla="*/ 99 w 202"/>
                  <a:gd name="T5" fmla="*/ 149 h 229"/>
                  <a:gd name="T6" fmla="*/ 135 w 202"/>
                  <a:gd name="T7" fmla="*/ 224 h 229"/>
                  <a:gd name="T8" fmla="*/ 192 w 202"/>
                  <a:gd name="T9" fmla="*/ 119 h 229"/>
                  <a:gd name="T10" fmla="*/ 195 w 202"/>
                  <a:gd name="T11" fmla="*/ 149 h 22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02"/>
                  <a:gd name="T19" fmla="*/ 0 h 229"/>
                  <a:gd name="T20" fmla="*/ 202 w 202"/>
                  <a:gd name="T21" fmla="*/ 229 h 22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02" h="229">
                    <a:moveTo>
                      <a:pt x="0" y="98"/>
                    </a:moveTo>
                    <a:cubicBezTo>
                      <a:pt x="8" y="83"/>
                      <a:pt x="32" y="0"/>
                      <a:pt x="48" y="8"/>
                    </a:cubicBezTo>
                    <a:cubicBezTo>
                      <a:pt x="64" y="16"/>
                      <a:pt x="85" y="113"/>
                      <a:pt x="99" y="149"/>
                    </a:cubicBezTo>
                    <a:cubicBezTo>
                      <a:pt x="113" y="185"/>
                      <a:pt x="120" y="229"/>
                      <a:pt x="135" y="224"/>
                    </a:cubicBezTo>
                    <a:cubicBezTo>
                      <a:pt x="150" y="219"/>
                      <a:pt x="182" y="131"/>
                      <a:pt x="192" y="119"/>
                    </a:cubicBezTo>
                    <a:cubicBezTo>
                      <a:pt x="202" y="107"/>
                      <a:pt x="195" y="143"/>
                      <a:pt x="195" y="149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5158" name="Freeform 35"/>
              <p:cNvSpPr>
                <a:spLocks/>
              </p:cNvSpPr>
              <p:nvPr/>
            </p:nvSpPr>
            <p:spPr bwMode="auto">
              <a:xfrm>
                <a:off x="1482" y="3213"/>
                <a:ext cx="198" cy="303"/>
              </a:xfrm>
              <a:custGeom>
                <a:avLst/>
                <a:gdLst>
                  <a:gd name="T0" fmla="*/ 0 w 198"/>
                  <a:gd name="T1" fmla="*/ 129 h 303"/>
                  <a:gd name="T2" fmla="*/ 48 w 198"/>
                  <a:gd name="T3" fmla="*/ 3 h 303"/>
                  <a:gd name="T4" fmla="*/ 102 w 198"/>
                  <a:gd name="T5" fmla="*/ 147 h 303"/>
                  <a:gd name="T6" fmla="*/ 150 w 198"/>
                  <a:gd name="T7" fmla="*/ 303 h 303"/>
                  <a:gd name="T8" fmla="*/ 198 w 198"/>
                  <a:gd name="T9" fmla="*/ 147 h 30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8"/>
                  <a:gd name="T16" fmla="*/ 0 h 303"/>
                  <a:gd name="T17" fmla="*/ 198 w 198"/>
                  <a:gd name="T18" fmla="*/ 303 h 30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8" h="303">
                    <a:moveTo>
                      <a:pt x="0" y="129"/>
                    </a:moveTo>
                    <a:cubicBezTo>
                      <a:pt x="8" y="108"/>
                      <a:pt x="31" y="0"/>
                      <a:pt x="48" y="3"/>
                    </a:cubicBezTo>
                    <a:cubicBezTo>
                      <a:pt x="65" y="6"/>
                      <a:pt x="85" y="97"/>
                      <a:pt x="102" y="147"/>
                    </a:cubicBezTo>
                    <a:cubicBezTo>
                      <a:pt x="119" y="197"/>
                      <a:pt x="134" y="303"/>
                      <a:pt x="150" y="303"/>
                    </a:cubicBezTo>
                    <a:cubicBezTo>
                      <a:pt x="166" y="303"/>
                      <a:pt x="188" y="179"/>
                      <a:pt x="198" y="147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5159" name="Freeform 36"/>
              <p:cNvSpPr>
                <a:spLocks/>
              </p:cNvSpPr>
              <p:nvPr/>
            </p:nvSpPr>
            <p:spPr bwMode="auto">
              <a:xfrm>
                <a:off x="1680" y="3090"/>
                <a:ext cx="192" cy="546"/>
              </a:xfrm>
              <a:custGeom>
                <a:avLst/>
                <a:gdLst>
                  <a:gd name="T0" fmla="*/ 0 w 192"/>
                  <a:gd name="T1" fmla="*/ 270 h 546"/>
                  <a:gd name="T2" fmla="*/ 51 w 192"/>
                  <a:gd name="T3" fmla="*/ 0 h 546"/>
                  <a:gd name="T4" fmla="*/ 96 w 192"/>
                  <a:gd name="T5" fmla="*/ 270 h 546"/>
                  <a:gd name="T6" fmla="*/ 147 w 192"/>
                  <a:gd name="T7" fmla="*/ 546 h 546"/>
                  <a:gd name="T8" fmla="*/ 192 w 192"/>
                  <a:gd name="T9" fmla="*/ 270 h 5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546"/>
                  <a:gd name="T17" fmla="*/ 192 w 192"/>
                  <a:gd name="T18" fmla="*/ 546 h 54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546">
                    <a:moveTo>
                      <a:pt x="0" y="270"/>
                    </a:moveTo>
                    <a:cubicBezTo>
                      <a:pt x="8" y="225"/>
                      <a:pt x="35" y="0"/>
                      <a:pt x="51" y="0"/>
                    </a:cubicBezTo>
                    <a:cubicBezTo>
                      <a:pt x="67" y="0"/>
                      <a:pt x="80" y="179"/>
                      <a:pt x="96" y="270"/>
                    </a:cubicBezTo>
                    <a:cubicBezTo>
                      <a:pt x="112" y="361"/>
                      <a:pt x="131" y="546"/>
                      <a:pt x="147" y="546"/>
                    </a:cubicBezTo>
                    <a:cubicBezTo>
                      <a:pt x="163" y="546"/>
                      <a:pt x="183" y="327"/>
                      <a:pt x="192" y="270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5160" name="Freeform 37"/>
              <p:cNvSpPr>
                <a:spLocks/>
              </p:cNvSpPr>
              <p:nvPr/>
            </p:nvSpPr>
            <p:spPr bwMode="auto">
              <a:xfrm>
                <a:off x="1872" y="2988"/>
                <a:ext cx="192" cy="807"/>
              </a:xfrm>
              <a:custGeom>
                <a:avLst/>
                <a:gdLst>
                  <a:gd name="T0" fmla="*/ 0 w 192"/>
                  <a:gd name="T1" fmla="*/ 372 h 807"/>
                  <a:gd name="T2" fmla="*/ 42 w 192"/>
                  <a:gd name="T3" fmla="*/ 0 h 807"/>
                  <a:gd name="T4" fmla="*/ 96 w 192"/>
                  <a:gd name="T5" fmla="*/ 372 h 807"/>
                  <a:gd name="T6" fmla="*/ 147 w 192"/>
                  <a:gd name="T7" fmla="*/ 750 h 807"/>
                  <a:gd name="T8" fmla="*/ 156 w 192"/>
                  <a:gd name="T9" fmla="*/ 714 h 807"/>
                  <a:gd name="T10" fmla="*/ 192 w 192"/>
                  <a:gd name="T11" fmla="*/ 372 h 80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2"/>
                  <a:gd name="T19" fmla="*/ 0 h 807"/>
                  <a:gd name="T20" fmla="*/ 192 w 192"/>
                  <a:gd name="T21" fmla="*/ 807 h 80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2" h="807">
                    <a:moveTo>
                      <a:pt x="0" y="372"/>
                    </a:moveTo>
                    <a:cubicBezTo>
                      <a:pt x="7" y="310"/>
                      <a:pt x="26" y="0"/>
                      <a:pt x="42" y="0"/>
                    </a:cubicBezTo>
                    <a:cubicBezTo>
                      <a:pt x="58" y="0"/>
                      <a:pt x="79" y="247"/>
                      <a:pt x="96" y="372"/>
                    </a:cubicBezTo>
                    <a:cubicBezTo>
                      <a:pt x="113" y="497"/>
                      <a:pt x="137" y="693"/>
                      <a:pt x="147" y="750"/>
                    </a:cubicBezTo>
                    <a:cubicBezTo>
                      <a:pt x="157" y="807"/>
                      <a:pt x="148" y="777"/>
                      <a:pt x="156" y="714"/>
                    </a:cubicBezTo>
                    <a:cubicBezTo>
                      <a:pt x="164" y="651"/>
                      <a:pt x="184" y="443"/>
                      <a:pt x="192" y="372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5161" name="Freeform 38"/>
              <p:cNvSpPr>
                <a:spLocks/>
              </p:cNvSpPr>
              <p:nvPr/>
            </p:nvSpPr>
            <p:spPr bwMode="auto">
              <a:xfrm>
                <a:off x="2064" y="2916"/>
                <a:ext cx="192" cy="801"/>
              </a:xfrm>
              <a:custGeom>
                <a:avLst/>
                <a:gdLst>
                  <a:gd name="T0" fmla="*/ 0 w 192"/>
                  <a:gd name="T1" fmla="*/ 444 h 801"/>
                  <a:gd name="T2" fmla="*/ 45 w 192"/>
                  <a:gd name="T3" fmla="*/ 0 h 801"/>
                  <a:gd name="T4" fmla="*/ 96 w 192"/>
                  <a:gd name="T5" fmla="*/ 444 h 801"/>
                  <a:gd name="T6" fmla="*/ 147 w 192"/>
                  <a:gd name="T7" fmla="*/ 801 h 801"/>
                  <a:gd name="T8" fmla="*/ 192 w 192"/>
                  <a:gd name="T9" fmla="*/ 444 h 80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801"/>
                  <a:gd name="T17" fmla="*/ 192 w 192"/>
                  <a:gd name="T18" fmla="*/ 801 h 80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801">
                    <a:moveTo>
                      <a:pt x="0" y="444"/>
                    </a:moveTo>
                    <a:cubicBezTo>
                      <a:pt x="8" y="370"/>
                      <a:pt x="29" y="0"/>
                      <a:pt x="45" y="0"/>
                    </a:cubicBezTo>
                    <a:cubicBezTo>
                      <a:pt x="61" y="0"/>
                      <a:pt x="79" y="311"/>
                      <a:pt x="96" y="444"/>
                    </a:cubicBezTo>
                    <a:cubicBezTo>
                      <a:pt x="113" y="577"/>
                      <a:pt x="131" y="801"/>
                      <a:pt x="147" y="801"/>
                    </a:cubicBezTo>
                    <a:cubicBezTo>
                      <a:pt x="163" y="801"/>
                      <a:pt x="183" y="518"/>
                      <a:pt x="192" y="444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5162" name="Freeform 39"/>
              <p:cNvSpPr>
                <a:spLocks/>
              </p:cNvSpPr>
              <p:nvPr/>
            </p:nvSpPr>
            <p:spPr bwMode="auto">
              <a:xfrm>
                <a:off x="2256" y="3024"/>
                <a:ext cx="192" cy="549"/>
              </a:xfrm>
              <a:custGeom>
                <a:avLst/>
                <a:gdLst>
                  <a:gd name="T0" fmla="*/ 0 w 192"/>
                  <a:gd name="T1" fmla="*/ 336 h 549"/>
                  <a:gd name="T2" fmla="*/ 48 w 192"/>
                  <a:gd name="T3" fmla="*/ 0 h 549"/>
                  <a:gd name="T4" fmla="*/ 96 w 192"/>
                  <a:gd name="T5" fmla="*/ 336 h 549"/>
                  <a:gd name="T6" fmla="*/ 147 w 192"/>
                  <a:gd name="T7" fmla="*/ 549 h 549"/>
                  <a:gd name="T8" fmla="*/ 192 w 192"/>
                  <a:gd name="T9" fmla="*/ 336 h 54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549"/>
                  <a:gd name="T17" fmla="*/ 192 w 192"/>
                  <a:gd name="T18" fmla="*/ 549 h 54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549">
                    <a:moveTo>
                      <a:pt x="0" y="336"/>
                    </a:moveTo>
                    <a:cubicBezTo>
                      <a:pt x="8" y="280"/>
                      <a:pt x="32" y="0"/>
                      <a:pt x="48" y="0"/>
                    </a:cubicBezTo>
                    <a:cubicBezTo>
                      <a:pt x="64" y="0"/>
                      <a:pt x="80" y="245"/>
                      <a:pt x="96" y="336"/>
                    </a:cubicBezTo>
                    <a:cubicBezTo>
                      <a:pt x="112" y="427"/>
                      <a:pt x="131" y="549"/>
                      <a:pt x="147" y="549"/>
                    </a:cubicBezTo>
                    <a:cubicBezTo>
                      <a:pt x="163" y="549"/>
                      <a:pt x="183" y="380"/>
                      <a:pt x="192" y="33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5163" name="Freeform 40"/>
              <p:cNvSpPr>
                <a:spLocks/>
              </p:cNvSpPr>
              <p:nvPr/>
            </p:nvSpPr>
            <p:spPr bwMode="auto">
              <a:xfrm>
                <a:off x="2448" y="3171"/>
                <a:ext cx="186" cy="283"/>
              </a:xfrm>
              <a:custGeom>
                <a:avLst/>
                <a:gdLst>
                  <a:gd name="T0" fmla="*/ 0 w 186"/>
                  <a:gd name="T1" fmla="*/ 189 h 283"/>
                  <a:gd name="T2" fmla="*/ 45 w 186"/>
                  <a:gd name="T3" fmla="*/ 0 h 283"/>
                  <a:gd name="T4" fmla="*/ 96 w 186"/>
                  <a:gd name="T5" fmla="*/ 189 h 283"/>
                  <a:gd name="T6" fmla="*/ 144 w 186"/>
                  <a:gd name="T7" fmla="*/ 279 h 283"/>
                  <a:gd name="T8" fmla="*/ 186 w 186"/>
                  <a:gd name="T9" fmla="*/ 168 h 28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6"/>
                  <a:gd name="T16" fmla="*/ 0 h 283"/>
                  <a:gd name="T17" fmla="*/ 186 w 186"/>
                  <a:gd name="T18" fmla="*/ 283 h 28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6" h="283">
                    <a:moveTo>
                      <a:pt x="0" y="189"/>
                    </a:moveTo>
                    <a:cubicBezTo>
                      <a:pt x="7" y="158"/>
                      <a:pt x="29" y="0"/>
                      <a:pt x="45" y="0"/>
                    </a:cubicBezTo>
                    <a:cubicBezTo>
                      <a:pt x="61" y="0"/>
                      <a:pt x="80" y="143"/>
                      <a:pt x="96" y="189"/>
                    </a:cubicBezTo>
                    <a:cubicBezTo>
                      <a:pt x="112" y="235"/>
                      <a:pt x="129" y="283"/>
                      <a:pt x="144" y="279"/>
                    </a:cubicBezTo>
                    <a:cubicBezTo>
                      <a:pt x="159" y="275"/>
                      <a:pt x="177" y="191"/>
                      <a:pt x="186" y="168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5164" name="Freeform 41"/>
              <p:cNvSpPr>
                <a:spLocks/>
              </p:cNvSpPr>
              <p:nvPr/>
            </p:nvSpPr>
            <p:spPr bwMode="auto">
              <a:xfrm>
                <a:off x="2637" y="3241"/>
                <a:ext cx="192" cy="258"/>
              </a:xfrm>
              <a:custGeom>
                <a:avLst/>
                <a:gdLst>
                  <a:gd name="T0" fmla="*/ 0 w 192"/>
                  <a:gd name="T1" fmla="*/ 101 h 258"/>
                  <a:gd name="T2" fmla="*/ 33 w 192"/>
                  <a:gd name="T3" fmla="*/ 2 h 258"/>
                  <a:gd name="T4" fmla="*/ 90 w 192"/>
                  <a:gd name="T5" fmla="*/ 116 h 258"/>
                  <a:gd name="T6" fmla="*/ 141 w 192"/>
                  <a:gd name="T7" fmla="*/ 254 h 258"/>
                  <a:gd name="T8" fmla="*/ 192 w 192"/>
                  <a:gd name="T9" fmla="*/ 92 h 2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258"/>
                  <a:gd name="T17" fmla="*/ 192 w 192"/>
                  <a:gd name="T18" fmla="*/ 258 h 25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258">
                    <a:moveTo>
                      <a:pt x="0" y="101"/>
                    </a:moveTo>
                    <a:cubicBezTo>
                      <a:pt x="5" y="85"/>
                      <a:pt x="18" y="0"/>
                      <a:pt x="33" y="2"/>
                    </a:cubicBezTo>
                    <a:cubicBezTo>
                      <a:pt x="48" y="4"/>
                      <a:pt x="72" y="74"/>
                      <a:pt x="90" y="116"/>
                    </a:cubicBezTo>
                    <a:cubicBezTo>
                      <a:pt x="108" y="158"/>
                      <a:pt x="124" y="258"/>
                      <a:pt x="141" y="254"/>
                    </a:cubicBezTo>
                    <a:cubicBezTo>
                      <a:pt x="158" y="250"/>
                      <a:pt x="181" y="126"/>
                      <a:pt x="192" y="92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5165" name="Freeform 42"/>
              <p:cNvSpPr>
                <a:spLocks/>
              </p:cNvSpPr>
              <p:nvPr/>
            </p:nvSpPr>
            <p:spPr bwMode="auto">
              <a:xfrm>
                <a:off x="2823" y="3023"/>
                <a:ext cx="201" cy="694"/>
              </a:xfrm>
              <a:custGeom>
                <a:avLst/>
                <a:gdLst>
                  <a:gd name="T0" fmla="*/ 0 w 201"/>
                  <a:gd name="T1" fmla="*/ 328 h 694"/>
                  <a:gd name="T2" fmla="*/ 54 w 201"/>
                  <a:gd name="T3" fmla="*/ 1 h 694"/>
                  <a:gd name="T4" fmla="*/ 105 w 201"/>
                  <a:gd name="T5" fmla="*/ 337 h 694"/>
                  <a:gd name="T6" fmla="*/ 147 w 201"/>
                  <a:gd name="T7" fmla="*/ 694 h 694"/>
                  <a:gd name="T8" fmla="*/ 201 w 201"/>
                  <a:gd name="T9" fmla="*/ 337 h 69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1"/>
                  <a:gd name="T16" fmla="*/ 0 h 694"/>
                  <a:gd name="T17" fmla="*/ 201 w 201"/>
                  <a:gd name="T18" fmla="*/ 694 h 69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1" h="694">
                    <a:moveTo>
                      <a:pt x="0" y="328"/>
                    </a:moveTo>
                    <a:cubicBezTo>
                      <a:pt x="9" y="274"/>
                      <a:pt x="37" y="0"/>
                      <a:pt x="54" y="1"/>
                    </a:cubicBezTo>
                    <a:cubicBezTo>
                      <a:pt x="71" y="2"/>
                      <a:pt x="90" y="222"/>
                      <a:pt x="105" y="337"/>
                    </a:cubicBezTo>
                    <a:cubicBezTo>
                      <a:pt x="120" y="452"/>
                      <a:pt x="131" y="694"/>
                      <a:pt x="147" y="694"/>
                    </a:cubicBezTo>
                    <a:cubicBezTo>
                      <a:pt x="163" y="694"/>
                      <a:pt x="190" y="411"/>
                      <a:pt x="201" y="337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5166" name="Freeform 43"/>
              <p:cNvSpPr>
                <a:spLocks/>
              </p:cNvSpPr>
              <p:nvPr/>
            </p:nvSpPr>
            <p:spPr bwMode="auto">
              <a:xfrm>
                <a:off x="3024" y="2949"/>
                <a:ext cx="192" cy="645"/>
              </a:xfrm>
              <a:custGeom>
                <a:avLst/>
                <a:gdLst>
                  <a:gd name="T0" fmla="*/ 0 w 192"/>
                  <a:gd name="T1" fmla="*/ 411 h 645"/>
                  <a:gd name="T2" fmla="*/ 45 w 192"/>
                  <a:gd name="T3" fmla="*/ 0 h 645"/>
                  <a:gd name="T4" fmla="*/ 96 w 192"/>
                  <a:gd name="T5" fmla="*/ 411 h 645"/>
                  <a:gd name="T6" fmla="*/ 147 w 192"/>
                  <a:gd name="T7" fmla="*/ 645 h 645"/>
                  <a:gd name="T8" fmla="*/ 192 w 192"/>
                  <a:gd name="T9" fmla="*/ 411 h 6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645"/>
                  <a:gd name="T17" fmla="*/ 192 w 192"/>
                  <a:gd name="T18" fmla="*/ 645 h 64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645">
                    <a:moveTo>
                      <a:pt x="0" y="411"/>
                    </a:moveTo>
                    <a:cubicBezTo>
                      <a:pt x="7" y="343"/>
                      <a:pt x="29" y="0"/>
                      <a:pt x="45" y="0"/>
                    </a:cubicBezTo>
                    <a:cubicBezTo>
                      <a:pt x="61" y="0"/>
                      <a:pt x="79" y="304"/>
                      <a:pt x="96" y="411"/>
                    </a:cubicBezTo>
                    <a:cubicBezTo>
                      <a:pt x="113" y="518"/>
                      <a:pt x="131" y="645"/>
                      <a:pt x="147" y="645"/>
                    </a:cubicBezTo>
                    <a:cubicBezTo>
                      <a:pt x="163" y="645"/>
                      <a:pt x="183" y="460"/>
                      <a:pt x="192" y="411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5167" name="Freeform 44"/>
              <p:cNvSpPr>
                <a:spLocks/>
              </p:cNvSpPr>
              <p:nvPr/>
            </p:nvSpPr>
            <p:spPr bwMode="auto">
              <a:xfrm>
                <a:off x="3216" y="3135"/>
                <a:ext cx="192" cy="489"/>
              </a:xfrm>
              <a:custGeom>
                <a:avLst/>
                <a:gdLst>
                  <a:gd name="T0" fmla="*/ 0 w 192"/>
                  <a:gd name="T1" fmla="*/ 225 h 489"/>
                  <a:gd name="T2" fmla="*/ 39 w 192"/>
                  <a:gd name="T3" fmla="*/ 0 h 489"/>
                  <a:gd name="T4" fmla="*/ 96 w 192"/>
                  <a:gd name="T5" fmla="*/ 225 h 489"/>
                  <a:gd name="T6" fmla="*/ 141 w 192"/>
                  <a:gd name="T7" fmla="*/ 489 h 489"/>
                  <a:gd name="T8" fmla="*/ 192 w 192"/>
                  <a:gd name="T9" fmla="*/ 225 h 4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489"/>
                  <a:gd name="T17" fmla="*/ 192 w 192"/>
                  <a:gd name="T18" fmla="*/ 489 h 4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489">
                    <a:moveTo>
                      <a:pt x="0" y="225"/>
                    </a:moveTo>
                    <a:cubicBezTo>
                      <a:pt x="6" y="188"/>
                      <a:pt x="23" y="0"/>
                      <a:pt x="39" y="0"/>
                    </a:cubicBezTo>
                    <a:cubicBezTo>
                      <a:pt x="55" y="0"/>
                      <a:pt x="79" y="144"/>
                      <a:pt x="96" y="225"/>
                    </a:cubicBezTo>
                    <a:cubicBezTo>
                      <a:pt x="113" y="306"/>
                      <a:pt x="125" y="489"/>
                      <a:pt x="141" y="489"/>
                    </a:cubicBezTo>
                    <a:cubicBezTo>
                      <a:pt x="157" y="489"/>
                      <a:pt x="182" y="280"/>
                      <a:pt x="192" y="225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5168" name="Freeform 45"/>
              <p:cNvSpPr>
                <a:spLocks/>
              </p:cNvSpPr>
              <p:nvPr/>
            </p:nvSpPr>
            <p:spPr bwMode="auto">
              <a:xfrm>
                <a:off x="3408" y="2988"/>
                <a:ext cx="192" cy="654"/>
              </a:xfrm>
              <a:custGeom>
                <a:avLst/>
                <a:gdLst>
                  <a:gd name="T0" fmla="*/ 0 w 192"/>
                  <a:gd name="T1" fmla="*/ 372 h 654"/>
                  <a:gd name="T2" fmla="*/ 51 w 192"/>
                  <a:gd name="T3" fmla="*/ 0 h 654"/>
                  <a:gd name="T4" fmla="*/ 96 w 192"/>
                  <a:gd name="T5" fmla="*/ 372 h 654"/>
                  <a:gd name="T6" fmla="*/ 147 w 192"/>
                  <a:gd name="T7" fmla="*/ 654 h 654"/>
                  <a:gd name="T8" fmla="*/ 192 w 192"/>
                  <a:gd name="T9" fmla="*/ 372 h 65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654"/>
                  <a:gd name="T17" fmla="*/ 192 w 192"/>
                  <a:gd name="T18" fmla="*/ 654 h 65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654">
                    <a:moveTo>
                      <a:pt x="0" y="372"/>
                    </a:moveTo>
                    <a:cubicBezTo>
                      <a:pt x="8" y="310"/>
                      <a:pt x="35" y="0"/>
                      <a:pt x="51" y="0"/>
                    </a:cubicBezTo>
                    <a:cubicBezTo>
                      <a:pt x="67" y="0"/>
                      <a:pt x="80" y="263"/>
                      <a:pt x="96" y="372"/>
                    </a:cubicBezTo>
                    <a:cubicBezTo>
                      <a:pt x="112" y="481"/>
                      <a:pt x="131" y="654"/>
                      <a:pt x="147" y="654"/>
                    </a:cubicBezTo>
                    <a:cubicBezTo>
                      <a:pt x="163" y="654"/>
                      <a:pt x="183" y="431"/>
                      <a:pt x="192" y="372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5169" name="Freeform 46"/>
              <p:cNvSpPr>
                <a:spLocks/>
              </p:cNvSpPr>
              <p:nvPr/>
            </p:nvSpPr>
            <p:spPr bwMode="auto">
              <a:xfrm>
                <a:off x="3600" y="3105"/>
                <a:ext cx="192" cy="384"/>
              </a:xfrm>
              <a:custGeom>
                <a:avLst/>
                <a:gdLst>
                  <a:gd name="T0" fmla="*/ 0 w 192"/>
                  <a:gd name="T1" fmla="*/ 255 h 384"/>
                  <a:gd name="T2" fmla="*/ 45 w 192"/>
                  <a:gd name="T3" fmla="*/ 0 h 384"/>
                  <a:gd name="T4" fmla="*/ 96 w 192"/>
                  <a:gd name="T5" fmla="*/ 255 h 384"/>
                  <a:gd name="T6" fmla="*/ 144 w 192"/>
                  <a:gd name="T7" fmla="*/ 384 h 384"/>
                  <a:gd name="T8" fmla="*/ 192 w 192"/>
                  <a:gd name="T9" fmla="*/ 255 h 3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384"/>
                  <a:gd name="T17" fmla="*/ 192 w 192"/>
                  <a:gd name="T18" fmla="*/ 384 h 3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384">
                    <a:moveTo>
                      <a:pt x="0" y="255"/>
                    </a:moveTo>
                    <a:cubicBezTo>
                      <a:pt x="7" y="213"/>
                      <a:pt x="29" y="0"/>
                      <a:pt x="45" y="0"/>
                    </a:cubicBezTo>
                    <a:cubicBezTo>
                      <a:pt x="61" y="0"/>
                      <a:pt x="80" y="191"/>
                      <a:pt x="96" y="255"/>
                    </a:cubicBezTo>
                    <a:cubicBezTo>
                      <a:pt x="112" y="319"/>
                      <a:pt x="128" y="384"/>
                      <a:pt x="144" y="384"/>
                    </a:cubicBezTo>
                    <a:cubicBezTo>
                      <a:pt x="160" y="384"/>
                      <a:pt x="182" y="282"/>
                      <a:pt x="192" y="255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5170" name="Freeform 47"/>
              <p:cNvSpPr>
                <a:spLocks/>
              </p:cNvSpPr>
              <p:nvPr/>
            </p:nvSpPr>
            <p:spPr bwMode="auto">
              <a:xfrm>
                <a:off x="3792" y="3219"/>
                <a:ext cx="192" cy="267"/>
              </a:xfrm>
              <a:custGeom>
                <a:avLst/>
                <a:gdLst>
                  <a:gd name="T0" fmla="*/ 0 w 192"/>
                  <a:gd name="T1" fmla="*/ 141 h 267"/>
                  <a:gd name="T2" fmla="*/ 45 w 192"/>
                  <a:gd name="T3" fmla="*/ 0 h 267"/>
                  <a:gd name="T4" fmla="*/ 96 w 192"/>
                  <a:gd name="T5" fmla="*/ 141 h 267"/>
                  <a:gd name="T6" fmla="*/ 150 w 192"/>
                  <a:gd name="T7" fmla="*/ 267 h 267"/>
                  <a:gd name="T8" fmla="*/ 192 w 192"/>
                  <a:gd name="T9" fmla="*/ 141 h 2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267"/>
                  <a:gd name="T17" fmla="*/ 192 w 192"/>
                  <a:gd name="T18" fmla="*/ 267 h 2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267">
                    <a:moveTo>
                      <a:pt x="0" y="141"/>
                    </a:moveTo>
                    <a:cubicBezTo>
                      <a:pt x="7" y="118"/>
                      <a:pt x="29" y="0"/>
                      <a:pt x="45" y="0"/>
                    </a:cubicBezTo>
                    <a:cubicBezTo>
                      <a:pt x="61" y="0"/>
                      <a:pt x="79" y="97"/>
                      <a:pt x="96" y="141"/>
                    </a:cubicBezTo>
                    <a:cubicBezTo>
                      <a:pt x="113" y="185"/>
                      <a:pt x="134" y="267"/>
                      <a:pt x="150" y="267"/>
                    </a:cubicBezTo>
                    <a:cubicBezTo>
                      <a:pt x="166" y="267"/>
                      <a:pt x="183" y="167"/>
                      <a:pt x="192" y="141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5171" name="Freeform 48"/>
              <p:cNvSpPr>
                <a:spLocks/>
              </p:cNvSpPr>
              <p:nvPr/>
            </p:nvSpPr>
            <p:spPr bwMode="auto">
              <a:xfrm>
                <a:off x="3984" y="3126"/>
                <a:ext cx="192" cy="507"/>
              </a:xfrm>
              <a:custGeom>
                <a:avLst/>
                <a:gdLst>
                  <a:gd name="T0" fmla="*/ 0 w 192"/>
                  <a:gd name="T1" fmla="*/ 234 h 507"/>
                  <a:gd name="T2" fmla="*/ 45 w 192"/>
                  <a:gd name="T3" fmla="*/ 0 h 507"/>
                  <a:gd name="T4" fmla="*/ 96 w 192"/>
                  <a:gd name="T5" fmla="*/ 234 h 507"/>
                  <a:gd name="T6" fmla="*/ 147 w 192"/>
                  <a:gd name="T7" fmla="*/ 507 h 507"/>
                  <a:gd name="T8" fmla="*/ 192 w 192"/>
                  <a:gd name="T9" fmla="*/ 234 h 50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507"/>
                  <a:gd name="T17" fmla="*/ 192 w 192"/>
                  <a:gd name="T18" fmla="*/ 507 h 50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507">
                    <a:moveTo>
                      <a:pt x="0" y="234"/>
                    </a:moveTo>
                    <a:cubicBezTo>
                      <a:pt x="8" y="195"/>
                      <a:pt x="29" y="0"/>
                      <a:pt x="45" y="0"/>
                    </a:cubicBezTo>
                    <a:cubicBezTo>
                      <a:pt x="61" y="0"/>
                      <a:pt x="79" y="150"/>
                      <a:pt x="96" y="234"/>
                    </a:cubicBezTo>
                    <a:cubicBezTo>
                      <a:pt x="113" y="318"/>
                      <a:pt x="131" y="507"/>
                      <a:pt x="147" y="507"/>
                    </a:cubicBezTo>
                    <a:cubicBezTo>
                      <a:pt x="163" y="507"/>
                      <a:pt x="183" y="291"/>
                      <a:pt x="192" y="234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5172" name="Freeform 49"/>
              <p:cNvSpPr>
                <a:spLocks/>
              </p:cNvSpPr>
              <p:nvPr/>
            </p:nvSpPr>
            <p:spPr bwMode="auto">
              <a:xfrm>
                <a:off x="4176" y="3030"/>
                <a:ext cx="192" cy="534"/>
              </a:xfrm>
              <a:custGeom>
                <a:avLst/>
                <a:gdLst>
                  <a:gd name="T0" fmla="*/ 0 w 192"/>
                  <a:gd name="T1" fmla="*/ 330 h 534"/>
                  <a:gd name="T2" fmla="*/ 48 w 192"/>
                  <a:gd name="T3" fmla="*/ 0 h 534"/>
                  <a:gd name="T4" fmla="*/ 96 w 192"/>
                  <a:gd name="T5" fmla="*/ 330 h 534"/>
                  <a:gd name="T6" fmla="*/ 147 w 192"/>
                  <a:gd name="T7" fmla="*/ 534 h 534"/>
                  <a:gd name="T8" fmla="*/ 192 w 192"/>
                  <a:gd name="T9" fmla="*/ 330 h 5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534"/>
                  <a:gd name="T17" fmla="*/ 192 w 192"/>
                  <a:gd name="T18" fmla="*/ 534 h 5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534">
                    <a:moveTo>
                      <a:pt x="0" y="330"/>
                    </a:moveTo>
                    <a:cubicBezTo>
                      <a:pt x="8" y="275"/>
                      <a:pt x="32" y="0"/>
                      <a:pt x="48" y="0"/>
                    </a:cubicBezTo>
                    <a:cubicBezTo>
                      <a:pt x="64" y="0"/>
                      <a:pt x="80" y="241"/>
                      <a:pt x="96" y="330"/>
                    </a:cubicBezTo>
                    <a:cubicBezTo>
                      <a:pt x="112" y="419"/>
                      <a:pt x="131" y="534"/>
                      <a:pt x="147" y="534"/>
                    </a:cubicBezTo>
                    <a:cubicBezTo>
                      <a:pt x="163" y="534"/>
                      <a:pt x="183" y="372"/>
                      <a:pt x="192" y="330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5173" name="Freeform 50"/>
              <p:cNvSpPr>
                <a:spLocks/>
              </p:cNvSpPr>
              <p:nvPr/>
            </p:nvSpPr>
            <p:spPr bwMode="auto">
              <a:xfrm>
                <a:off x="4368" y="3132"/>
                <a:ext cx="192" cy="423"/>
              </a:xfrm>
              <a:custGeom>
                <a:avLst/>
                <a:gdLst>
                  <a:gd name="T0" fmla="*/ 0 w 192"/>
                  <a:gd name="T1" fmla="*/ 228 h 423"/>
                  <a:gd name="T2" fmla="*/ 48 w 192"/>
                  <a:gd name="T3" fmla="*/ 0 h 423"/>
                  <a:gd name="T4" fmla="*/ 96 w 192"/>
                  <a:gd name="T5" fmla="*/ 228 h 423"/>
                  <a:gd name="T6" fmla="*/ 150 w 192"/>
                  <a:gd name="T7" fmla="*/ 423 h 423"/>
                  <a:gd name="T8" fmla="*/ 192 w 192"/>
                  <a:gd name="T9" fmla="*/ 228 h 4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423"/>
                  <a:gd name="T17" fmla="*/ 192 w 192"/>
                  <a:gd name="T18" fmla="*/ 423 h 42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423">
                    <a:moveTo>
                      <a:pt x="0" y="228"/>
                    </a:moveTo>
                    <a:cubicBezTo>
                      <a:pt x="8" y="190"/>
                      <a:pt x="32" y="0"/>
                      <a:pt x="48" y="0"/>
                    </a:cubicBezTo>
                    <a:cubicBezTo>
                      <a:pt x="64" y="0"/>
                      <a:pt x="79" y="158"/>
                      <a:pt x="96" y="228"/>
                    </a:cubicBezTo>
                    <a:cubicBezTo>
                      <a:pt x="113" y="298"/>
                      <a:pt x="134" y="423"/>
                      <a:pt x="150" y="423"/>
                    </a:cubicBezTo>
                    <a:cubicBezTo>
                      <a:pt x="166" y="423"/>
                      <a:pt x="183" y="269"/>
                      <a:pt x="192" y="228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5174" name="Freeform 51"/>
              <p:cNvSpPr>
                <a:spLocks/>
              </p:cNvSpPr>
              <p:nvPr/>
            </p:nvSpPr>
            <p:spPr bwMode="auto">
              <a:xfrm>
                <a:off x="4560" y="3102"/>
                <a:ext cx="192" cy="477"/>
              </a:xfrm>
              <a:custGeom>
                <a:avLst/>
                <a:gdLst>
                  <a:gd name="T0" fmla="*/ 0 w 192"/>
                  <a:gd name="T1" fmla="*/ 258 h 477"/>
                  <a:gd name="T2" fmla="*/ 45 w 192"/>
                  <a:gd name="T3" fmla="*/ 0 h 477"/>
                  <a:gd name="T4" fmla="*/ 96 w 192"/>
                  <a:gd name="T5" fmla="*/ 258 h 477"/>
                  <a:gd name="T6" fmla="*/ 147 w 192"/>
                  <a:gd name="T7" fmla="*/ 477 h 477"/>
                  <a:gd name="T8" fmla="*/ 192 w 192"/>
                  <a:gd name="T9" fmla="*/ 258 h 4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477"/>
                  <a:gd name="T17" fmla="*/ 192 w 192"/>
                  <a:gd name="T18" fmla="*/ 477 h 4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477">
                    <a:moveTo>
                      <a:pt x="0" y="258"/>
                    </a:moveTo>
                    <a:cubicBezTo>
                      <a:pt x="8" y="215"/>
                      <a:pt x="29" y="0"/>
                      <a:pt x="45" y="0"/>
                    </a:cubicBezTo>
                    <a:cubicBezTo>
                      <a:pt x="61" y="0"/>
                      <a:pt x="79" y="179"/>
                      <a:pt x="96" y="258"/>
                    </a:cubicBezTo>
                    <a:cubicBezTo>
                      <a:pt x="113" y="337"/>
                      <a:pt x="131" y="477"/>
                      <a:pt x="147" y="477"/>
                    </a:cubicBezTo>
                    <a:cubicBezTo>
                      <a:pt x="163" y="477"/>
                      <a:pt x="183" y="304"/>
                      <a:pt x="192" y="258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5175" name="Freeform 52"/>
              <p:cNvSpPr>
                <a:spLocks/>
              </p:cNvSpPr>
              <p:nvPr/>
            </p:nvSpPr>
            <p:spPr bwMode="auto">
              <a:xfrm>
                <a:off x="912" y="2880"/>
                <a:ext cx="3840" cy="384"/>
              </a:xfrm>
              <a:custGeom>
                <a:avLst/>
                <a:gdLst>
                  <a:gd name="T0" fmla="*/ 0 w 3840"/>
                  <a:gd name="T1" fmla="*/ 0 h 934"/>
                  <a:gd name="T2" fmla="*/ 144 w 3840"/>
                  <a:gd name="T3" fmla="*/ 0 h 934"/>
                  <a:gd name="T4" fmla="*/ 480 w 3840"/>
                  <a:gd name="T5" fmla="*/ 0 h 934"/>
                  <a:gd name="T6" fmla="*/ 912 w 3840"/>
                  <a:gd name="T7" fmla="*/ 0 h 934"/>
                  <a:gd name="T8" fmla="*/ 1200 w 3840"/>
                  <a:gd name="T9" fmla="*/ 0 h 934"/>
                  <a:gd name="T10" fmla="*/ 1632 w 3840"/>
                  <a:gd name="T11" fmla="*/ 0 h 934"/>
                  <a:gd name="T12" fmla="*/ 1824 w 3840"/>
                  <a:gd name="T13" fmla="*/ 0 h 934"/>
                  <a:gd name="T14" fmla="*/ 1968 w 3840"/>
                  <a:gd name="T15" fmla="*/ 0 h 934"/>
                  <a:gd name="T16" fmla="*/ 2048 w 3840"/>
                  <a:gd name="T17" fmla="*/ 0 h 934"/>
                  <a:gd name="T18" fmla="*/ 2112 w 3840"/>
                  <a:gd name="T19" fmla="*/ 0 h 934"/>
                  <a:gd name="T20" fmla="*/ 2352 w 3840"/>
                  <a:gd name="T21" fmla="*/ 0 h 934"/>
                  <a:gd name="T22" fmla="*/ 2544 w 3840"/>
                  <a:gd name="T23" fmla="*/ 0 h 934"/>
                  <a:gd name="T24" fmla="*/ 2928 w 3840"/>
                  <a:gd name="T25" fmla="*/ 0 h 934"/>
                  <a:gd name="T26" fmla="*/ 3264 w 3840"/>
                  <a:gd name="T27" fmla="*/ 0 h 934"/>
                  <a:gd name="T28" fmla="*/ 3456 w 3840"/>
                  <a:gd name="T29" fmla="*/ 0 h 934"/>
                  <a:gd name="T30" fmla="*/ 3840 w 3840"/>
                  <a:gd name="T31" fmla="*/ 0 h 93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840"/>
                  <a:gd name="T49" fmla="*/ 0 h 934"/>
                  <a:gd name="T50" fmla="*/ 3840 w 3840"/>
                  <a:gd name="T51" fmla="*/ 934 h 934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840" h="934">
                    <a:moveTo>
                      <a:pt x="0" y="502"/>
                    </a:moveTo>
                    <a:cubicBezTo>
                      <a:pt x="32" y="278"/>
                      <a:pt x="64" y="54"/>
                      <a:pt x="144" y="118"/>
                    </a:cubicBezTo>
                    <a:cubicBezTo>
                      <a:pt x="224" y="182"/>
                      <a:pt x="352" y="838"/>
                      <a:pt x="480" y="886"/>
                    </a:cubicBezTo>
                    <a:cubicBezTo>
                      <a:pt x="608" y="934"/>
                      <a:pt x="792" y="542"/>
                      <a:pt x="912" y="406"/>
                    </a:cubicBezTo>
                    <a:cubicBezTo>
                      <a:pt x="1032" y="270"/>
                      <a:pt x="1080" y="6"/>
                      <a:pt x="1200" y="70"/>
                    </a:cubicBezTo>
                    <a:cubicBezTo>
                      <a:pt x="1320" y="134"/>
                      <a:pt x="1528" y="662"/>
                      <a:pt x="1632" y="790"/>
                    </a:cubicBezTo>
                    <a:cubicBezTo>
                      <a:pt x="1736" y="918"/>
                      <a:pt x="1768" y="910"/>
                      <a:pt x="1824" y="838"/>
                    </a:cubicBezTo>
                    <a:cubicBezTo>
                      <a:pt x="1880" y="766"/>
                      <a:pt x="1931" y="461"/>
                      <a:pt x="1968" y="358"/>
                    </a:cubicBezTo>
                    <a:cubicBezTo>
                      <a:pt x="2005" y="255"/>
                      <a:pt x="2024" y="270"/>
                      <a:pt x="2048" y="222"/>
                    </a:cubicBezTo>
                    <a:cubicBezTo>
                      <a:pt x="2072" y="174"/>
                      <a:pt x="2061" y="0"/>
                      <a:pt x="2112" y="70"/>
                    </a:cubicBezTo>
                    <a:cubicBezTo>
                      <a:pt x="2163" y="140"/>
                      <a:pt x="2280" y="614"/>
                      <a:pt x="2352" y="646"/>
                    </a:cubicBezTo>
                    <a:cubicBezTo>
                      <a:pt x="2424" y="678"/>
                      <a:pt x="2448" y="230"/>
                      <a:pt x="2544" y="262"/>
                    </a:cubicBezTo>
                    <a:cubicBezTo>
                      <a:pt x="2640" y="294"/>
                      <a:pt x="2808" y="822"/>
                      <a:pt x="2928" y="838"/>
                    </a:cubicBezTo>
                    <a:cubicBezTo>
                      <a:pt x="3048" y="854"/>
                      <a:pt x="3176" y="398"/>
                      <a:pt x="3264" y="358"/>
                    </a:cubicBezTo>
                    <a:cubicBezTo>
                      <a:pt x="3352" y="318"/>
                      <a:pt x="3360" y="574"/>
                      <a:pt x="3456" y="598"/>
                    </a:cubicBezTo>
                    <a:cubicBezTo>
                      <a:pt x="3552" y="622"/>
                      <a:pt x="3776" y="518"/>
                      <a:pt x="3840" y="502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5176" name="Freeform 53"/>
              <p:cNvSpPr>
                <a:spLocks/>
              </p:cNvSpPr>
              <p:nvPr/>
            </p:nvSpPr>
            <p:spPr bwMode="auto">
              <a:xfrm flipV="1">
                <a:off x="912" y="3408"/>
                <a:ext cx="3840" cy="384"/>
              </a:xfrm>
              <a:custGeom>
                <a:avLst/>
                <a:gdLst>
                  <a:gd name="T0" fmla="*/ 0 w 3840"/>
                  <a:gd name="T1" fmla="*/ 0 h 934"/>
                  <a:gd name="T2" fmla="*/ 144 w 3840"/>
                  <a:gd name="T3" fmla="*/ 0 h 934"/>
                  <a:gd name="T4" fmla="*/ 480 w 3840"/>
                  <a:gd name="T5" fmla="*/ 0 h 934"/>
                  <a:gd name="T6" fmla="*/ 912 w 3840"/>
                  <a:gd name="T7" fmla="*/ 0 h 934"/>
                  <a:gd name="T8" fmla="*/ 1200 w 3840"/>
                  <a:gd name="T9" fmla="*/ 0 h 934"/>
                  <a:gd name="T10" fmla="*/ 1632 w 3840"/>
                  <a:gd name="T11" fmla="*/ 0 h 934"/>
                  <a:gd name="T12" fmla="*/ 1824 w 3840"/>
                  <a:gd name="T13" fmla="*/ 0 h 934"/>
                  <a:gd name="T14" fmla="*/ 1968 w 3840"/>
                  <a:gd name="T15" fmla="*/ 0 h 934"/>
                  <a:gd name="T16" fmla="*/ 2048 w 3840"/>
                  <a:gd name="T17" fmla="*/ 0 h 934"/>
                  <a:gd name="T18" fmla="*/ 2112 w 3840"/>
                  <a:gd name="T19" fmla="*/ 0 h 934"/>
                  <a:gd name="T20" fmla="*/ 2352 w 3840"/>
                  <a:gd name="T21" fmla="*/ 0 h 934"/>
                  <a:gd name="T22" fmla="*/ 2544 w 3840"/>
                  <a:gd name="T23" fmla="*/ 0 h 934"/>
                  <a:gd name="T24" fmla="*/ 2928 w 3840"/>
                  <a:gd name="T25" fmla="*/ 0 h 934"/>
                  <a:gd name="T26" fmla="*/ 3264 w 3840"/>
                  <a:gd name="T27" fmla="*/ 0 h 934"/>
                  <a:gd name="T28" fmla="*/ 3456 w 3840"/>
                  <a:gd name="T29" fmla="*/ 0 h 934"/>
                  <a:gd name="T30" fmla="*/ 3840 w 3840"/>
                  <a:gd name="T31" fmla="*/ 0 h 93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840"/>
                  <a:gd name="T49" fmla="*/ 0 h 934"/>
                  <a:gd name="T50" fmla="*/ 3840 w 3840"/>
                  <a:gd name="T51" fmla="*/ 934 h 934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840" h="934">
                    <a:moveTo>
                      <a:pt x="0" y="502"/>
                    </a:moveTo>
                    <a:cubicBezTo>
                      <a:pt x="32" y="278"/>
                      <a:pt x="64" y="54"/>
                      <a:pt x="144" y="118"/>
                    </a:cubicBezTo>
                    <a:cubicBezTo>
                      <a:pt x="224" y="182"/>
                      <a:pt x="352" y="838"/>
                      <a:pt x="480" y="886"/>
                    </a:cubicBezTo>
                    <a:cubicBezTo>
                      <a:pt x="608" y="934"/>
                      <a:pt x="792" y="542"/>
                      <a:pt x="912" y="406"/>
                    </a:cubicBezTo>
                    <a:cubicBezTo>
                      <a:pt x="1032" y="270"/>
                      <a:pt x="1080" y="6"/>
                      <a:pt x="1200" y="70"/>
                    </a:cubicBezTo>
                    <a:cubicBezTo>
                      <a:pt x="1320" y="134"/>
                      <a:pt x="1528" y="662"/>
                      <a:pt x="1632" y="790"/>
                    </a:cubicBezTo>
                    <a:cubicBezTo>
                      <a:pt x="1736" y="918"/>
                      <a:pt x="1768" y="910"/>
                      <a:pt x="1824" y="838"/>
                    </a:cubicBezTo>
                    <a:cubicBezTo>
                      <a:pt x="1880" y="766"/>
                      <a:pt x="1931" y="461"/>
                      <a:pt x="1968" y="358"/>
                    </a:cubicBezTo>
                    <a:cubicBezTo>
                      <a:pt x="2005" y="255"/>
                      <a:pt x="2024" y="270"/>
                      <a:pt x="2048" y="222"/>
                    </a:cubicBezTo>
                    <a:cubicBezTo>
                      <a:pt x="2072" y="174"/>
                      <a:pt x="2061" y="0"/>
                      <a:pt x="2112" y="70"/>
                    </a:cubicBezTo>
                    <a:cubicBezTo>
                      <a:pt x="2163" y="140"/>
                      <a:pt x="2280" y="614"/>
                      <a:pt x="2352" y="646"/>
                    </a:cubicBezTo>
                    <a:cubicBezTo>
                      <a:pt x="2424" y="678"/>
                      <a:pt x="2448" y="230"/>
                      <a:pt x="2544" y="262"/>
                    </a:cubicBezTo>
                    <a:cubicBezTo>
                      <a:pt x="2640" y="294"/>
                      <a:pt x="2808" y="822"/>
                      <a:pt x="2928" y="838"/>
                    </a:cubicBezTo>
                    <a:cubicBezTo>
                      <a:pt x="3048" y="854"/>
                      <a:pt x="3176" y="398"/>
                      <a:pt x="3264" y="358"/>
                    </a:cubicBezTo>
                    <a:cubicBezTo>
                      <a:pt x="3352" y="318"/>
                      <a:pt x="3360" y="574"/>
                      <a:pt x="3456" y="598"/>
                    </a:cubicBezTo>
                    <a:cubicBezTo>
                      <a:pt x="3552" y="622"/>
                      <a:pt x="3776" y="518"/>
                      <a:pt x="3840" y="502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  <p:sp>
          <p:nvSpPr>
            <p:cNvPr id="5154" name="Text Box 54"/>
            <p:cNvSpPr txBox="1">
              <a:spLocks noChangeArrowheads="1"/>
            </p:cNvSpPr>
            <p:nvPr/>
          </p:nvSpPr>
          <p:spPr bwMode="auto">
            <a:xfrm>
              <a:off x="288" y="2293"/>
              <a:ext cx="938" cy="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en-GB" sz="1600"/>
                <a:t>Amplitude Modulated Carrier</a:t>
              </a:r>
              <a:endParaRPr lang="en-GB" sz="2000"/>
            </a:p>
          </p:txBody>
        </p:sp>
      </p:grpSp>
      <p:grpSp>
        <p:nvGrpSpPr>
          <p:cNvPr id="5" name="Group 55"/>
          <p:cNvGrpSpPr>
            <a:grpSpLocks/>
          </p:cNvGrpSpPr>
          <p:nvPr/>
        </p:nvGrpSpPr>
        <p:grpSpPr bwMode="auto">
          <a:xfrm>
            <a:off x="381000" y="4933950"/>
            <a:ext cx="8153400" cy="1395413"/>
            <a:chOff x="240" y="3108"/>
            <a:chExt cx="5136" cy="879"/>
          </a:xfrm>
        </p:grpSpPr>
        <p:sp>
          <p:nvSpPr>
            <p:cNvPr id="5132" name="Freeform 56"/>
            <p:cNvSpPr>
              <a:spLocks/>
            </p:cNvSpPr>
            <p:nvPr/>
          </p:nvSpPr>
          <p:spPr bwMode="auto">
            <a:xfrm>
              <a:off x="1536" y="3168"/>
              <a:ext cx="192" cy="777"/>
            </a:xfrm>
            <a:custGeom>
              <a:avLst/>
              <a:gdLst>
                <a:gd name="T0" fmla="*/ 0 w 1536"/>
                <a:gd name="T1" fmla="*/ 1 h 1152"/>
                <a:gd name="T2" fmla="*/ 0 w 1536"/>
                <a:gd name="T3" fmla="*/ 0 h 1152"/>
                <a:gd name="T4" fmla="*/ 0 w 1536"/>
                <a:gd name="T5" fmla="*/ 1 h 1152"/>
                <a:gd name="T6" fmla="*/ 0 w 1536"/>
                <a:gd name="T7" fmla="*/ 3 h 1152"/>
                <a:gd name="T8" fmla="*/ 0 w 1536"/>
                <a:gd name="T9" fmla="*/ 1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5133" name="Freeform 57"/>
            <p:cNvSpPr>
              <a:spLocks/>
            </p:cNvSpPr>
            <p:nvPr/>
          </p:nvSpPr>
          <p:spPr bwMode="auto">
            <a:xfrm>
              <a:off x="1728" y="3213"/>
              <a:ext cx="192" cy="528"/>
            </a:xfrm>
            <a:custGeom>
              <a:avLst/>
              <a:gdLst>
                <a:gd name="T0" fmla="*/ 0 w 192"/>
                <a:gd name="T1" fmla="*/ 339 h 528"/>
                <a:gd name="T2" fmla="*/ 48 w 192"/>
                <a:gd name="T3" fmla="*/ 11 h 528"/>
                <a:gd name="T4" fmla="*/ 96 w 192"/>
                <a:gd name="T5" fmla="*/ 270 h 528"/>
                <a:gd name="T6" fmla="*/ 144 w 192"/>
                <a:gd name="T7" fmla="*/ 528 h 528"/>
                <a:gd name="T8" fmla="*/ 192 w 192"/>
                <a:gd name="T9" fmla="*/ 270 h 5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28"/>
                <a:gd name="T17" fmla="*/ 192 w 192"/>
                <a:gd name="T18" fmla="*/ 528 h 5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28">
                  <a:moveTo>
                    <a:pt x="0" y="339"/>
                  </a:moveTo>
                  <a:cubicBezTo>
                    <a:pt x="8" y="285"/>
                    <a:pt x="32" y="22"/>
                    <a:pt x="48" y="11"/>
                  </a:cubicBezTo>
                  <a:cubicBezTo>
                    <a:pt x="64" y="0"/>
                    <a:pt x="80" y="183"/>
                    <a:pt x="96" y="270"/>
                  </a:cubicBezTo>
                  <a:cubicBezTo>
                    <a:pt x="112" y="356"/>
                    <a:pt x="128" y="528"/>
                    <a:pt x="144" y="528"/>
                  </a:cubicBezTo>
                  <a:cubicBezTo>
                    <a:pt x="160" y="528"/>
                    <a:pt x="176" y="399"/>
                    <a:pt x="192" y="27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5134" name="Freeform 58"/>
            <p:cNvSpPr>
              <a:spLocks/>
            </p:cNvSpPr>
            <p:nvPr/>
          </p:nvSpPr>
          <p:spPr bwMode="auto">
            <a:xfrm>
              <a:off x="1917" y="3403"/>
              <a:ext cx="202" cy="229"/>
            </a:xfrm>
            <a:custGeom>
              <a:avLst/>
              <a:gdLst>
                <a:gd name="T0" fmla="*/ 0 w 202"/>
                <a:gd name="T1" fmla="*/ 98 h 229"/>
                <a:gd name="T2" fmla="*/ 48 w 202"/>
                <a:gd name="T3" fmla="*/ 8 h 229"/>
                <a:gd name="T4" fmla="*/ 99 w 202"/>
                <a:gd name="T5" fmla="*/ 149 h 229"/>
                <a:gd name="T6" fmla="*/ 135 w 202"/>
                <a:gd name="T7" fmla="*/ 224 h 229"/>
                <a:gd name="T8" fmla="*/ 192 w 202"/>
                <a:gd name="T9" fmla="*/ 119 h 229"/>
                <a:gd name="T10" fmla="*/ 195 w 202"/>
                <a:gd name="T11" fmla="*/ 149 h 2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02"/>
                <a:gd name="T19" fmla="*/ 0 h 229"/>
                <a:gd name="T20" fmla="*/ 202 w 202"/>
                <a:gd name="T21" fmla="*/ 229 h 22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02" h="229">
                  <a:moveTo>
                    <a:pt x="0" y="98"/>
                  </a:moveTo>
                  <a:cubicBezTo>
                    <a:pt x="8" y="83"/>
                    <a:pt x="32" y="0"/>
                    <a:pt x="48" y="8"/>
                  </a:cubicBezTo>
                  <a:cubicBezTo>
                    <a:pt x="64" y="16"/>
                    <a:pt x="85" y="113"/>
                    <a:pt x="99" y="149"/>
                  </a:cubicBezTo>
                  <a:cubicBezTo>
                    <a:pt x="113" y="185"/>
                    <a:pt x="120" y="229"/>
                    <a:pt x="135" y="224"/>
                  </a:cubicBezTo>
                  <a:cubicBezTo>
                    <a:pt x="150" y="219"/>
                    <a:pt x="182" y="131"/>
                    <a:pt x="192" y="119"/>
                  </a:cubicBezTo>
                  <a:cubicBezTo>
                    <a:pt x="202" y="107"/>
                    <a:pt x="195" y="143"/>
                    <a:pt x="195" y="149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5135" name="Freeform 59"/>
            <p:cNvSpPr>
              <a:spLocks/>
            </p:cNvSpPr>
            <p:nvPr/>
          </p:nvSpPr>
          <p:spPr bwMode="auto">
            <a:xfrm>
              <a:off x="2106" y="3405"/>
              <a:ext cx="198" cy="303"/>
            </a:xfrm>
            <a:custGeom>
              <a:avLst/>
              <a:gdLst>
                <a:gd name="T0" fmla="*/ 0 w 198"/>
                <a:gd name="T1" fmla="*/ 129 h 303"/>
                <a:gd name="T2" fmla="*/ 48 w 198"/>
                <a:gd name="T3" fmla="*/ 3 h 303"/>
                <a:gd name="T4" fmla="*/ 102 w 198"/>
                <a:gd name="T5" fmla="*/ 147 h 303"/>
                <a:gd name="T6" fmla="*/ 150 w 198"/>
                <a:gd name="T7" fmla="*/ 303 h 303"/>
                <a:gd name="T8" fmla="*/ 198 w 198"/>
                <a:gd name="T9" fmla="*/ 147 h 3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8"/>
                <a:gd name="T16" fmla="*/ 0 h 303"/>
                <a:gd name="T17" fmla="*/ 198 w 198"/>
                <a:gd name="T18" fmla="*/ 303 h 3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8" h="303">
                  <a:moveTo>
                    <a:pt x="0" y="129"/>
                  </a:moveTo>
                  <a:cubicBezTo>
                    <a:pt x="8" y="108"/>
                    <a:pt x="31" y="0"/>
                    <a:pt x="48" y="3"/>
                  </a:cubicBezTo>
                  <a:cubicBezTo>
                    <a:pt x="65" y="6"/>
                    <a:pt x="85" y="97"/>
                    <a:pt x="102" y="147"/>
                  </a:cubicBezTo>
                  <a:cubicBezTo>
                    <a:pt x="119" y="197"/>
                    <a:pt x="134" y="303"/>
                    <a:pt x="150" y="303"/>
                  </a:cubicBezTo>
                  <a:cubicBezTo>
                    <a:pt x="166" y="303"/>
                    <a:pt x="188" y="179"/>
                    <a:pt x="198" y="147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5136" name="Freeform 60"/>
            <p:cNvSpPr>
              <a:spLocks/>
            </p:cNvSpPr>
            <p:nvPr/>
          </p:nvSpPr>
          <p:spPr bwMode="auto">
            <a:xfrm>
              <a:off x="2304" y="3282"/>
              <a:ext cx="192" cy="546"/>
            </a:xfrm>
            <a:custGeom>
              <a:avLst/>
              <a:gdLst>
                <a:gd name="T0" fmla="*/ 0 w 192"/>
                <a:gd name="T1" fmla="*/ 270 h 546"/>
                <a:gd name="T2" fmla="*/ 51 w 192"/>
                <a:gd name="T3" fmla="*/ 0 h 546"/>
                <a:gd name="T4" fmla="*/ 96 w 192"/>
                <a:gd name="T5" fmla="*/ 270 h 546"/>
                <a:gd name="T6" fmla="*/ 147 w 192"/>
                <a:gd name="T7" fmla="*/ 546 h 546"/>
                <a:gd name="T8" fmla="*/ 192 w 192"/>
                <a:gd name="T9" fmla="*/ 270 h 5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46"/>
                <a:gd name="T17" fmla="*/ 192 w 192"/>
                <a:gd name="T18" fmla="*/ 546 h 5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46">
                  <a:moveTo>
                    <a:pt x="0" y="270"/>
                  </a:moveTo>
                  <a:cubicBezTo>
                    <a:pt x="8" y="225"/>
                    <a:pt x="35" y="0"/>
                    <a:pt x="51" y="0"/>
                  </a:cubicBezTo>
                  <a:cubicBezTo>
                    <a:pt x="67" y="0"/>
                    <a:pt x="80" y="179"/>
                    <a:pt x="96" y="270"/>
                  </a:cubicBezTo>
                  <a:cubicBezTo>
                    <a:pt x="112" y="361"/>
                    <a:pt x="131" y="546"/>
                    <a:pt x="147" y="546"/>
                  </a:cubicBezTo>
                  <a:cubicBezTo>
                    <a:pt x="163" y="546"/>
                    <a:pt x="183" y="327"/>
                    <a:pt x="192" y="27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5137" name="Freeform 61"/>
            <p:cNvSpPr>
              <a:spLocks/>
            </p:cNvSpPr>
            <p:nvPr/>
          </p:nvSpPr>
          <p:spPr bwMode="auto">
            <a:xfrm>
              <a:off x="2496" y="3180"/>
              <a:ext cx="192" cy="807"/>
            </a:xfrm>
            <a:custGeom>
              <a:avLst/>
              <a:gdLst>
                <a:gd name="T0" fmla="*/ 0 w 192"/>
                <a:gd name="T1" fmla="*/ 372 h 807"/>
                <a:gd name="T2" fmla="*/ 42 w 192"/>
                <a:gd name="T3" fmla="*/ 0 h 807"/>
                <a:gd name="T4" fmla="*/ 96 w 192"/>
                <a:gd name="T5" fmla="*/ 372 h 807"/>
                <a:gd name="T6" fmla="*/ 147 w 192"/>
                <a:gd name="T7" fmla="*/ 750 h 807"/>
                <a:gd name="T8" fmla="*/ 156 w 192"/>
                <a:gd name="T9" fmla="*/ 714 h 807"/>
                <a:gd name="T10" fmla="*/ 192 w 192"/>
                <a:gd name="T11" fmla="*/ 372 h 8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2"/>
                <a:gd name="T19" fmla="*/ 0 h 807"/>
                <a:gd name="T20" fmla="*/ 192 w 192"/>
                <a:gd name="T21" fmla="*/ 807 h 80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92" h="807">
                  <a:moveTo>
                    <a:pt x="0" y="372"/>
                  </a:moveTo>
                  <a:cubicBezTo>
                    <a:pt x="7" y="310"/>
                    <a:pt x="26" y="0"/>
                    <a:pt x="42" y="0"/>
                  </a:cubicBezTo>
                  <a:cubicBezTo>
                    <a:pt x="58" y="0"/>
                    <a:pt x="79" y="247"/>
                    <a:pt x="96" y="372"/>
                  </a:cubicBezTo>
                  <a:cubicBezTo>
                    <a:pt x="113" y="497"/>
                    <a:pt x="137" y="693"/>
                    <a:pt x="147" y="750"/>
                  </a:cubicBezTo>
                  <a:cubicBezTo>
                    <a:pt x="157" y="807"/>
                    <a:pt x="148" y="777"/>
                    <a:pt x="156" y="714"/>
                  </a:cubicBezTo>
                  <a:cubicBezTo>
                    <a:pt x="164" y="651"/>
                    <a:pt x="184" y="443"/>
                    <a:pt x="192" y="372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5138" name="Freeform 62"/>
            <p:cNvSpPr>
              <a:spLocks/>
            </p:cNvSpPr>
            <p:nvPr/>
          </p:nvSpPr>
          <p:spPr bwMode="auto">
            <a:xfrm>
              <a:off x="2688" y="3108"/>
              <a:ext cx="192" cy="801"/>
            </a:xfrm>
            <a:custGeom>
              <a:avLst/>
              <a:gdLst>
                <a:gd name="T0" fmla="*/ 0 w 192"/>
                <a:gd name="T1" fmla="*/ 444 h 801"/>
                <a:gd name="T2" fmla="*/ 45 w 192"/>
                <a:gd name="T3" fmla="*/ 0 h 801"/>
                <a:gd name="T4" fmla="*/ 96 w 192"/>
                <a:gd name="T5" fmla="*/ 444 h 801"/>
                <a:gd name="T6" fmla="*/ 147 w 192"/>
                <a:gd name="T7" fmla="*/ 801 h 801"/>
                <a:gd name="T8" fmla="*/ 192 w 192"/>
                <a:gd name="T9" fmla="*/ 444 h 8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801"/>
                <a:gd name="T17" fmla="*/ 192 w 192"/>
                <a:gd name="T18" fmla="*/ 801 h 80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801">
                  <a:moveTo>
                    <a:pt x="0" y="444"/>
                  </a:moveTo>
                  <a:cubicBezTo>
                    <a:pt x="8" y="370"/>
                    <a:pt x="29" y="0"/>
                    <a:pt x="45" y="0"/>
                  </a:cubicBezTo>
                  <a:cubicBezTo>
                    <a:pt x="61" y="0"/>
                    <a:pt x="79" y="311"/>
                    <a:pt x="96" y="444"/>
                  </a:cubicBezTo>
                  <a:cubicBezTo>
                    <a:pt x="113" y="577"/>
                    <a:pt x="131" y="801"/>
                    <a:pt x="147" y="801"/>
                  </a:cubicBezTo>
                  <a:cubicBezTo>
                    <a:pt x="163" y="801"/>
                    <a:pt x="183" y="518"/>
                    <a:pt x="192" y="444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5139" name="Freeform 63"/>
            <p:cNvSpPr>
              <a:spLocks/>
            </p:cNvSpPr>
            <p:nvPr/>
          </p:nvSpPr>
          <p:spPr bwMode="auto">
            <a:xfrm>
              <a:off x="2880" y="3216"/>
              <a:ext cx="192" cy="549"/>
            </a:xfrm>
            <a:custGeom>
              <a:avLst/>
              <a:gdLst>
                <a:gd name="T0" fmla="*/ 0 w 192"/>
                <a:gd name="T1" fmla="*/ 336 h 549"/>
                <a:gd name="T2" fmla="*/ 48 w 192"/>
                <a:gd name="T3" fmla="*/ 0 h 549"/>
                <a:gd name="T4" fmla="*/ 96 w 192"/>
                <a:gd name="T5" fmla="*/ 336 h 549"/>
                <a:gd name="T6" fmla="*/ 147 w 192"/>
                <a:gd name="T7" fmla="*/ 549 h 549"/>
                <a:gd name="T8" fmla="*/ 192 w 192"/>
                <a:gd name="T9" fmla="*/ 336 h 5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49"/>
                <a:gd name="T17" fmla="*/ 192 w 192"/>
                <a:gd name="T18" fmla="*/ 549 h 5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49">
                  <a:moveTo>
                    <a:pt x="0" y="336"/>
                  </a:moveTo>
                  <a:cubicBezTo>
                    <a:pt x="8" y="280"/>
                    <a:pt x="32" y="0"/>
                    <a:pt x="48" y="0"/>
                  </a:cubicBezTo>
                  <a:cubicBezTo>
                    <a:pt x="64" y="0"/>
                    <a:pt x="80" y="245"/>
                    <a:pt x="96" y="336"/>
                  </a:cubicBezTo>
                  <a:cubicBezTo>
                    <a:pt x="112" y="427"/>
                    <a:pt x="131" y="549"/>
                    <a:pt x="147" y="549"/>
                  </a:cubicBezTo>
                  <a:cubicBezTo>
                    <a:pt x="163" y="549"/>
                    <a:pt x="183" y="380"/>
                    <a:pt x="192" y="33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5140" name="Freeform 64"/>
            <p:cNvSpPr>
              <a:spLocks/>
            </p:cNvSpPr>
            <p:nvPr/>
          </p:nvSpPr>
          <p:spPr bwMode="auto">
            <a:xfrm>
              <a:off x="3072" y="3363"/>
              <a:ext cx="186" cy="283"/>
            </a:xfrm>
            <a:custGeom>
              <a:avLst/>
              <a:gdLst>
                <a:gd name="T0" fmla="*/ 0 w 186"/>
                <a:gd name="T1" fmla="*/ 189 h 283"/>
                <a:gd name="T2" fmla="*/ 45 w 186"/>
                <a:gd name="T3" fmla="*/ 0 h 283"/>
                <a:gd name="T4" fmla="*/ 96 w 186"/>
                <a:gd name="T5" fmla="*/ 189 h 283"/>
                <a:gd name="T6" fmla="*/ 144 w 186"/>
                <a:gd name="T7" fmla="*/ 279 h 283"/>
                <a:gd name="T8" fmla="*/ 186 w 186"/>
                <a:gd name="T9" fmla="*/ 168 h 2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6"/>
                <a:gd name="T16" fmla="*/ 0 h 283"/>
                <a:gd name="T17" fmla="*/ 186 w 186"/>
                <a:gd name="T18" fmla="*/ 283 h 2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6" h="283">
                  <a:moveTo>
                    <a:pt x="0" y="189"/>
                  </a:moveTo>
                  <a:cubicBezTo>
                    <a:pt x="7" y="158"/>
                    <a:pt x="29" y="0"/>
                    <a:pt x="45" y="0"/>
                  </a:cubicBezTo>
                  <a:cubicBezTo>
                    <a:pt x="61" y="0"/>
                    <a:pt x="80" y="143"/>
                    <a:pt x="96" y="189"/>
                  </a:cubicBezTo>
                  <a:cubicBezTo>
                    <a:pt x="112" y="235"/>
                    <a:pt x="129" y="283"/>
                    <a:pt x="144" y="279"/>
                  </a:cubicBezTo>
                  <a:cubicBezTo>
                    <a:pt x="159" y="275"/>
                    <a:pt x="177" y="191"/>
                    <a:pt x="186" y="16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5141" name="Freeform 65"/>
            <p:cNvSpPr>
              <a:spLocks/>
            </p:cNvSpPr>
            <p:nvPr/>
          </p:nvSpPr>
          <p:spPr bwMode="auto">
            <a:xfrm>
              <a:off x="3261" y="3433"/>
              <a:ext cx="192" cy="258"/>
            </a:xfrm>
            <a:custGeom>
              <a:avLst/>
              <a:gdLst>
                <a:gd name="T0" fmla="*/ 0 w 192"/>
                <a:gd name="T1" fmla="*/ 101 h 258"/>
                <a:gd name="T2" fmla="*/ 33 w 192"/>
                <a:gd name="T3" fmla="*/ 2 h 258"/>
                <a:gd name="T4" fmla="*/ 90 w 192"/>
                <a:gd name="T5" fmla="*/ 116 h 258"/>
                <a:gd name="T6" fmla="*/ 141 w 192"/>
                <a:gd name="T7" fmla="*/ 254 h 258"/>
                <a:gd name="T8" fmla="*/ 192 w 192"/>
                <a:gd name="T9" fmla="*/ 92 h 2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258"/>
                <a:gd name="T17" fmla="*/ 192 w 192"/>
                <a:gd name="T18" fmla="*/ 258 h 2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258">
                  <a:moveTo>
                    <a:pt x="0" y="101"/>
                  </a:moveTo>
                  <a:cubicBezTo>
                    <a:pt x="5" y="85"/>
                    <a:pt x="18" y="0"/>
                    <a:pt x="33" y="2"/>
                  </a:cubicBezTo>
                  <a:cubicBezTo>
                    <a:pt x="48" y="4"/>
                    <a:pt x="72" y="74"/>
                    <a:pt x="90" y="116"/>
                  </a:cubicBezTo>
                  <a:cubicBezTo>
                    <a:pt x="108" y="158"/>
                    <a:pt x="124" y="258"/>
                    <a:pt x="141" y="254"/>
                  </a:cubicBezTo>
                  <a:cubicBezTo>
                    <a:pt x="158" y="250"/>
                    <a:pt x="181" y="126"/>
                    <a:pt x="192" y="92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5142" name="Freeform 66"/>
            <p:cNvSpPr>
              <a:spLocks/>
            </p:cNvSpPr>
            <p:nvPr/>
          </p:nvSpPr>
          <p:spPr bwMode="auto">
            <a:xfrm>
              <a:off x="3447" y="3215"/>
              <a:ext cx="201" cy="694"/>
            </a:xfrm>
            <a:custGeom>
              <a:avLst/>
              <a:gdLst>
                <a:gd name="T0" fmla="*/ 0 w 201"/>
                <a:gd name="T1" fmla="*/ 328 h 694"/>
                <a:gd name="T2" fmla="*/ 54 w 201"/>
                <a:gd name="T3" fmla="*/ 1 h 694"/>
                <a:gd name="T4" fmla="*/ 105 w 201"/>
                <a:gd name="T5" fmla="*/ 337 h 694"/>
                <a:gd name="T6" fmla="*/ 147 w 201"/>
                <a:gd name="T7" fmla="*/ 694 h 694"/>
                <a:gd name="T8" fmla="*/ 201 w 201"/>
                <a:gd name="T9" fmla="*/ 337 h 6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1"/>
                <a:gd name="T16" fmla="*/ 0 h 694"/>
                <a:gd name="T17" fmla="*/ 201 w 201"/>
                <a:gd name="T18" fmla="*/ 694 h 6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1" h="694">
                  <a:moveTo>
                    <a:pt x="0" y="328"/>
                  </a:moveTo>
                  <a:cubicBezTo>
                    <a:pt x="9" y="274"/>
                    <a:pt x="37" y="0"/>
                    <a:pt x="54" y="1"/>
                  </a:cubicBezTo>
                  <a:cubicBezTo>
                    <a:pt x="71" y="2"/>
                    <a:pt x="90" y="222"/>
                    <a:pt x="105" y="337"/>
                  </a:cubicBezTo>
                  <a:cubicBezTo>
                    <a:pt x="120" y="452"/>
                    <a:pt x="131" y="694"/>
                    <a:pt x="147" y="694"/>
                  </a:cubicBezTo>
                  <a:cubicBezTo>
                    <a:pt x="163" y="694"/>
                    <a:pt x="190" y="411"/>
                    <a:pt x="201" y="337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5143" name="Freeform 67"/>
            <p:cNvSpPr>
              <a:spLocks/>
            </p:cNvSpPr>
            <p:nvPr/>
          </p:nvSpPr>
          <p:spPr bwMode="auto">
            <a:xfrm>
              <a:off x="3648" y="3141"/>
              <a:ext cx="192" cy="645"/>
            </a:xfrm>
            <a:custGeom>
              <a:avLst/>
              <a:gdLst>
                <a:gd name="T0" fmla="*/ 0 w 192"/>
                <a:gd name="T1" fmla="*/ 411 h 645"/>
                <a:gd name="T2" fmla="*/ 45 w 192"/>
                <a:gd name="T3" fmla="*/ 0 h 645"/>
                <a:gd name="T4" fmla="*/ 96 w 192"/>
                <a:gd name="T5" fmla="*/ 411 h 645"/>
                <a:gd name="T6" fmla="*/ 147 w 192"/>
                <a:gd name="T7" fmla="*/ 645 h 645"/>
                <a:gd name="T8" fmla="*/ 192 w 192"/>
                <a:gd name="T9" fmla="*/ 411 h 6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645"/>
                <a:gd name="T17" fmla="*/ 192 w 192"/>
                <a:gd name="T18" fmla="*/ 645 h 64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645">
                  <a:moveTo>
                    <a:pt x="0" y="411"/>
                  </a:moveTo>
                  <a:cubicBezTo>
                    <a:pt x="7" y="343"/>
                    <a:pt x="29" y="0"/>
                    <a:pt x="45" y="0"/>
                  </a:cubicBezTo>
                  <a:cubicBezTo>
                    <a:pt x="61" y="0"/>
                    <a:pt x="79" y="304"/>
                    <a:pt x="96" y="411"/>
                  </a:cubicBezTo>
                  <a:cubicBezTo>
                    <a:pt x="113" y="518"/>
                    <a:pt x="131" y="645"/>
                    <a:pt x="147" y="645"/>
                  </a:cubicBezTo>
                  <a:cubicBezTo>
                    <a:pt x="163" y="645"/>
                    <a:pt x="183" y="460"/>
                    <a:pt x="192" y="411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5144" name="Freeform 68"/>
            <p:cNvSpPr>
              <a:spLocks/>
            </p:cNvSpPr>
            <p:nvPr/>
          </p:nvSpPr>
          <p:spPr bwMode="auto">
            <a:xfrm>
              <a:off x="3840" y="3327"/>
              <a:ext cx="192" cy="489"/>
            </a:xfrm>
            <a:custGeom>
              <a:avLst/>
              <a:gdLst>
                <a:gd name="T0" fmla="*/ 0 w 192"/>
                <a:gd name="T1" fmla="*/ 225 h 489"/>
                <a:gd name="T2" fmla="*/ 39 w 192"/>
                <a:gd name="T3" fmla="*/ 0 h 489"/>
                <a:gd name="T4" fmla="*/ 96 w 192"/>
                <a:gd name="T5" fmla="*/ 225 h 489"/>
                <a:gd name="T6" fmla="*/ 141 w 192"/>
                <a:gd name="T7" fmla="*/ 489 h 489"/>
                <a:gd name="T8" fmla="*/ 192 w 192"/>
                <a:gd name="T9" fmla="*/ 225 h 4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489"/>
                <a:gd name="T17" fmla="*/ 192 w 192"/>
                <a:gd name="T18" fmla="*/ 489 h 4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489">
                  <a:moveTo>
                    <a:pt x="0" y="225"/>
                  </a:moveTo>
                  <a:cubicBezTo>
                    <a:pt x="6" y="188"/>
                    <a:pt x="23" y="0"/>
                    <a:pt x="39" y="0"/>
                  </a:cubicBezTo>
                  <a:cubicBezTo>
                    <a:pt x="55" y="0"/>
                    <a:pt x="79" y="144"/>
                    <a:pt x="96" y="225"/>
                  </a:cubicBezTo>
                  <a:cubicBezTo>
                    <a:pt x="113" y="306"/>
                    <a:pt x="125" y="489"/>
                    <a:pt x="141" y="489"/>
                  </a:cubicBezTo>
                  <a:cubicBezTo>
                    <a:pt x="157" y="489"/>
                    <a:pt x="182" y="280"/>
                    <a:pt x="192" y="225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5145" name="Freeform 69"/>
            <p:cNvSpPr>
              <a:spLocks/>
            </p:cNvSpPr>
            <p:nvPr/>
          </p:nvSpPr>
          <p:spPr bwMode="auto">
            <a:xfrm>
              <a:off x="4032" y="3180"/>
              <a:ext cx="192" cy="654"/>
            </a:xfrm>
            <a:custGeom>
              <a:avLst/>
              <a:gdLst>
                <a:gd name="T0" fmla="*/ 0 w 192"/>
                <a:gd name="T1" fmla="*/ 372 h 654"/>
                <a:gd name="T2" fmla="*/ 51 w 192"/>
                <a:gd name="T3" fmla="*/ 0 h 654"/>
                <a:gd name="T4" fmla="*/ 96 w 192"/>
                <a:gd name="T5" fmla="*/ 372 h 654"/>
                <a:gd name="T6" fmla="*/ 147 w 192"/>
                <a:gd name="T7" fmla="*/ 654 h 654"/>
                <a:gd name="T8" fmla="*/ 192 w 192"/>
                <a:gd name="T9" fmla="*/ 372 h 6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654"/>
                <a:gd name="T17" fmla="*/ 192 w 192"/>
                <a:gd name="T18" fmla="*/ 654 h 6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654">
                  <a:moveTo>
                    <a:pt x="0" y="372"/>
                  </a:moveTo>
                  <a:cubicBezTo>
                    <a:pt x="8" y="310"/>
                    <a:pt x="35" y="0"/>
                    <a:pt x="51" y="0"/>
                  </a:cubicBezTo>
                  <a:cubicBezTo>
                    <a:pt x="67" y="0"/>
                    <a:pt x="80" y="263"/>
                    <a:pt x="96" y="372"/>
                  </a:cubicBezTo>
                  <a:cubicBezTo>
                    <a:pt x="112" y="481"/>
                    <a:pt x="131" y="654"/>
                    <a:pt x="147" y="654"/>
                  </a:cubicBezTo>
                  <a:cubicBezTo>
                    <a:pt x="163" y="654"/>
                    <a:pt x="183" y="431"/>
                    <a:pt x="192" y="372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5146" name="Freeform 70"/>
            <p:cNvSpPr>
              <a:spLocks/>
            </p:cNvSpPr>
            <p:nvPr/>
          </p:nvSpPr>
          <p:spPr bwMode="auto">
            <a:xfrm>
              <a:off x="4224" y="3297"/>
              <a:ext cx="192" cy="384"/>
            </a:xfrm>
            <a:custGeom>
              <a:avLst/>
              <a:gdLst>
                <a:gd name="T0" fmla="*/ 0 w 192"/>
                <a:gd name="T1" fmla="*/ 255 h 384"/>
                <a:gd name="T2" fmla="*/ 45 w 192"/>
                <a:gd name="T3" fmla="*/ 0 h 384"/>
                <a:gd name="T4" fmla="*/ 96 w 192"/>
                <a:gd name="T5" fmla="*/ 255 h 384"/>
                <a:gd name="T6" fmla="*/ 144 w 192"/>
                <a:gd name="T7" fmla="*/ 384 h 384"/>
                <a:gd name="T8" fmla="*/ 192 w 192"/>
                <a:gd name="T9" fmla="*/ 255 h 3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384"/>
                <a:gd name="T17" fmla="*/ 192 w 192"/>
                <a:gd name="T18" fmla="*/ 384 h 3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384">
                  <a:moveTo>
                    <a:pt x="0" y="255"/>
                  </a:moveTo>
                  <a:cubicBezTo>
                    <a:pt x="7" y="213"/>
                    <a:pt x="29" y="0"/>
                    <a:pt x="45" y="0"/>
                  </a:cubicBezTo>
                  <a:cubicBezTo>
                    <a:pt x="61" y="0"/>
                    <a:pt x="80" y="191"/>
                    <a:pt x="96" y="255"/>
                  </a:cubicBezTo>
                  <a:cubicBezTo>
                    <a:pt x="112" y="319"/>
                    <a:pt x="128" y="384"/>
                    <a:pt x="144" y="384"/>
                  </a:cubicBezTo>
                  <a:cubicBezTo>
                    <a:pt x="160" y="384"/>
                    <a:pt x="182" y="282"/>
                    <a:pt x="192" y="255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5147" name="Freeform 71"/>
            <p:cNvSpPr>
              <a:spLocks/>
            </p:cNvSpPr>
            <p:nvPr/>
          </p:nvSpPr>
          <p:spPr bwMode="auto">
            <a:xfrm>
              <a:off x="4416" y="3411"/>
              <a:ext cx="192" cy="267"/>
            </a:xfrm>
            <a:custGeom>
              <a:avLst/>
              <a:gdLst>
                <a:gd name="T0" fmla="*/ 0 w 192"/>
                <a:gd name="T1" fmla="*/ 141 h 267"/>
                <a:gd name="T2" fmla="*/ 45 w 192"/>
                <a:gd name="T3" fmla="*/ 0 h 267"/>
                <a:gd name="T4" fmla="*/ 96 w 192"/>
                <a:gd name="T5" fmla="*/ 141 h 267"/>
                <a:gd name="T6" fmla="*/ 150 w 192"/>
                <a:gd name="T7" fmla="*/ 267 h 267"/>
                <a:gd name="T8" fmla="*/ 192 w 192"/>
                <a:gd name="T9" fmla="*/ 141 h 2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267"/>
                <a:gd name="T17" fmla="*/ 192 w 192"/>
                <a:gd name="T18" fmla="*/ 267 h 2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267">
                  <a:moveTo>
                    <a:pt x="0" y="141"/>
                  </a:moveTo>
                  <a:cubicBezTo>
                    <a:pt x="7" y="118"/>
                    <a:pt x="29" y="0"/>
                    <a:pt x="45" y="0"/>
                  </a:cubicBezTo>
                  <a:cubicBezTo>
                    <a:pt x="61" y="0"/>
                    <a:pt x="79" y="97"/>
                    <a:pt x="96" y="141"/>
                  </a:cubicBezTo>
                  <a:cubicBezTo>
                    <a:pt x="113" y="185"/>
                    <a:pt x="134" y="267"/>
                    <a:pt x="150" y="267"/>
                  </a:cubicBezTo>
                  <a:cubicBezTo>
                    <a:pt x="166" y="267"/>
                    <a:pt x="183" y="167"/>
                    <a:pt x="192" y="141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5148" name="Freeform 72"/>
            <p:cNvSpPr>
              <a:spLocks/>
            </p:cNvSpPr>
            <p:nvPr/>
          </p:nvSpPr>
          <p:spPr bwMode="auto">
            <a:xfrm>
              <a:off x="4608" y="3318"/>
              <a:ext cx="192" cy="507"/>
            </a:xfrm>
            <a:custGeom>
              <a:avLst/>
              <a:gdLst>
                <a:gd name="T0" fmla="*/ 0 w 192"/>
                <a:gd name="T1" fmla="*/ 234 h 507"/>
                <a:gd name="T2" fmla="*/ 45 w 192"/>
                <a:gd name="T3" fmla="*/ 0 h 507"/>
                <a:gd name="T4" fmla="*/ 96 w 192"/>
                <a:gd name="T5" fmla="*/ 234 h 507"/>
                <a:gd name="T6" fmla="*/ 147 w 192"/>
                <a:gd name="T7" fmla="*/ 507 h 507"/>
                <a:gd name="T8" fmla="*/ 192 w 192"/>
                <a:gd name="T9" fmla="*/ 234 h 5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07"/>
                <a:gd name="T17" fmla="*/ 192 w 192"/>
                <a:gd name="T18" fmla="*/ 507 h 50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07">
                  <a:moveTo>
                    <a:pt x="0" y="234"/>
                  </a:moveTo>
                  <a:cubicBezTo>
                    <a:pt x="8" y="195"/>
                    <a:pt x="29" y="0"/>
                    <a:pt x="45" y="0"/>
                  </a:cubicBezTo>
                  <a:cubicBezTo>
                    <a:pt x="61" y="0"/>
                    <a:pt x="79" y="150"/>
                    <a:pt x="96" y="234"/>
                  </a:cubicBezTo>
                  <a:cubicBezTo>
                    <a:pt x="113" y="318"/>
                    <a:pt x="131" y="507"/>
                    <a:pt x="147" y="507"/>
                  </a:cubicBezTo>
                  <a:cubicBezTo>
                    <a:pt x="163" y="507"/>
                    <a:pt x="183" y="291"/>
                    <a:pt x="192" y="234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5149" name="Freeform 73"/>
            <p:cNvSpPr>
              <a:spLocks/>
            </p:cNvSpPr>
            <p:nvPr/>
          </p:nvSpPr>
          <p:spPr bwMode="auto">
            <a:xfrm>
              <a:off x="4800" y="3222"/>
              <a:ext cx="192" cy="534"/>
            </a:xfrm>
            <a:custGeom>
              <a:avLst/>
              <a:gdLst>
                <a:gd name="T0" fmla="*/ 0 w 192"/>
                <a:gd name="T1" fmla="*/ 330 h 534"/>
                <a:gd name="T2" fmla="*/ 48 w 192"/>
                <a:gd name="T3" fmla="*/ 0 h 534"/>
                <a:gd name="T4" fmla="*/ 96 w 192"/>
                <a:gd name="T5" fmla="*/ 330 h 534"/>
                <a:gd name="T6" fmla="*/ 147 w 192"/>
                <a:gd name="T7" fmla="*/ 534 h 534"/>
                <a:gd name="T8" fmla="*/ 192 w 192"/>
                <a:gd name="T9" fmla="*/ 330 h 5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34"/>
                <a:gd name="T17" fmla="*/ 192 w 192"/>
                <a:gd name="T18" fmla="*/ 534 h 5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34">
                  <a:moveTo>
                    <a:pt x="0" y="330"/>
                  </a:moveTo>
                  <a:cubicBezTo>
                    <a:pt x="8" y="275"/>
                    <a:pt x="32" y="0"/>
                    <a:pt x="48" y="0"/>
                  </a:cubicBezTo>
                  <a:cubicBezTo>
                    <a:pt x="64" y="0"/>
                    <a:pt x="80" y="241"/>
                    <a:pt x="96" y="330"/>
                  </a:cubicBezTo>
                  <a:cubicBezTo>
                    <a:pt x="112" y="419"/>
                    <a:pt x="131" y="534"/>
                    <a:pt x="147" y="534"/>
                  </a:cubicBezTo>
                  <a:cubicBezTo>
                    <a:pt x="163" y="534"/>
                    <a:pt x="183" y="372"/>
                    <a:pt x="192" y="33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5150" name="Freeform 74"/>
            <p:cNvSpPr>
              <a:spLocks/>
            </p:cNvSpPr>
            <p:nvPr/>
          </p:nvSpPr>
          <p:spPr bwMode="auto">
            <a:xfrm>
              <a:off x="4992" y="3324"/>
              <a:ext cx="192" cy="423"/>
            </a:xfrm>
            <a:custGeom>
              <a:avLst/>
              <a:gdLst>
                <a:gd name="T0" fmla="*/ 0 w 192"/>
                <a:gd name="T1" fmla="*/ 228 h 423"/>
                <a:gd name="T2" fmla="*/ 48 w 192"/>
                <a:gd name="T3" fmla="*/ 0 h 423"/>
                <a:gd name="T4" fmla="*/ 96 w 192"/>
                <a:gd name="T5" fmla="*/ 228 h 423"/>
                <a:gd name="T6" fmla="*/ 150 w 192"/>
                <a:gd name="T7" fmla="*/ 423 h 423"/>
                <a:gd name="T8" fmla="*/ 192 w 192"/>
                <a:gd name="T9" fmla="*/ 228 h 4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423"/>
                <a:gd name="T17" fmla="*/ 192 w 192"/>
                <a:gd name="T18" fmla="*/ 423 h 4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423">
                  <a:moveTo>
                    <a:pt x="0" y="228"/>
                  </a:moveTo>
                  <a:cubicBezTo>
                    <a:pt x="8" y="190"/>
                    <a:pt x="32" y="0"/>
                    <a:pt x="48" y="0"/>
                  </a:cubicBezTo>
                  <a:cubicBezTo>
                    <a:pt x="64" y="0"/>
                    <a:pt x="79" y="158"/>
                    <a:pt x="96" y="228"/>
                  </a:cubicBezTo>
                  <a:cubicBezTo>
                    <a:pt x="113" y="298"/>
                    <a:pt x="134" y="423"/>
                    <a:pt x="150" y="423"/>
                  </a:cubicBezTo>
                  <a:cubicBezTo>
                    <a:pt x="166" y="423"/>
                    <a:pt x="183" y="269"/>
                    <a:pt x="192" y="22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5151" name="Freeform 75"/>
            <p:cNvSpPr>
              <a:spLocks/>
            </p:cNvSpPr>
            <p:nvPr/>
          </p:nvSpPr>
          <p:spPr bwMode="auto">
            <a:xfrm>
              <a:off x="5184" y="3294"/>
              <a:ext cx="192" cy="477"/>
            </a:xfrm>
            <a:custGeom>
              <a:avLst/>
              <a:gdLst>
                <a:gd name="T0" fmla="*/ 0 w 192"/>
                <a:gd name="T1" fmla="*/ 258 h 477"/>
                <a:gd name="T2" fmla="*/ 45 w 192"/>
                <a:gd name="T3" fmla="*/ 0 h 477"/>
                <a:gd name="T4" fmla="*/ 96 w 192"/>
                <a:gd name="T5" fmla="*/ 258 h 477"/>
                <a:gd name="T6" fmla="*/ 147 w 192"/>
                <a:gd name="T7" fmla="*/ 477 h 477"/>
                <a:gd name="T8" fmla="*/ 192 w 192"/>
                <a:gd name="T9" fmla="*/ 258 h 4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477"/>
                <a:gd name="T17" fmla="*/ 192 w 192"/>
                <a:gd name="T18" fmla="*/ 477 h 4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477">
                  <a:moveTo>
                    <a:pt x="0" y="258"/>
                  </a:moveTo>
                  <a:cubicBezTo>
                    <a:pt x="8" y="215"/>
                    <a:pt x="29" y="0"/>
                    <a:pt x="45" y="0"/>
                  </a:cubicBezTo>
                  <a:cubicBezTo>
                    <a:pt x="61" y="0"/>
                    <a:pt x="79" y="179"/>
                    <a:pt x="96" y="258"/>
                  </a:cubicBezTo>
                  <a:cubicBezTo>
                    <a:pt x="113" y="337"/>
                    <a:pt x="131" y="477"/>
                    <a:pt x="147" y="477"/>
                  </a:cubicBezTo>
                  <a:cubicBezTo>
                    <a:pt x="163" y="477"/>
                    <a:pt x="183" y="304"/>
                    <a:pt x="192" y="25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5152" name="Text Box 76"/>
            <p:cNvSpPr txBox="1">
              <a:spLocks noChangeArrowheads="1"/>
            </p:cNvSpPr>
            <p:nvPr/>
          </p:nvSpPr>
          <p:spPr bwMode="auto">
            <a:xfrm>
              <a:off x="240" y="3329"/>
              <a:ext cx="1040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en-GB" sz="1600" dirty="0"/>
                <a:t>Transmitted AM signal</a:t>
              </a:r>
              <a:endParaRPr lang="en-GB" sz="2000" dirty="0"/>
            </a:p>
          </p:txBody>
        </p:sp>
      </p:grpSp>
      <p:grpSp>
        <p:nvGrpSpPr>
          <p:cNvPr id="6" name="Group 77"/>
          <p:cNvGrpSpPr>
            <a:grpSpLocks/>
          </p:cNvGrpSpPr>
          <p:nvPr/>
        </p:nvGrpSpPr>
        <p:grpSpPr bwMode="auto">
          <a:xfrm>
            <a:off x="933452" y="1933575"/>
            <a:ext cx="388938" cy="1511300"/>
            <a:chOff x="588" y="1218"/>
            <a:chExt cx="245" cy="952"/>
          </a:xfrm>
        </p:grpSpPr>
        <p:sp>
          <p:nvSpPr>
            <p:cNvPr id="5130" name="Text Box 78"/>
            <p:cNvSpPr txBox="1">
              <a:spLocks noChangeArrowheads="1"/>
            </p:cNvSpPr>
            <p:nvPr/>
          </p:nvSpPr>
          <p:spPr bwMode="auto">
            <a:xfrm>
              <a:off x="588" y="1218"/>
              <a:ext cx="245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GB" sz="2000" b="1"/>
                <a:t>+</a:t>
              </a:r>
              <a:endParaRPr lang="en-GB" sz="2000"/>
            </a:p>
          </p:txBody>
        </p:sp>
        <p:sp>
          <p:nvSpPr>
            <p:cNvPr id="5131" name="Text Box 79"/>
            <p:cNvSpPr txBox="1">
              <a:spLocks noChangeArrowheads="1"/>
            </p:cNvSpPr>
            <p:nvPr/>
          </p:nvSpPr>
          <p:spPr bwMode="auto">
            <a:xfrm>
              <a:off x="595" y="1957"/>
              <a:ext cx="231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GB" sz="1600" dirty="0">
                  <a:sym typeface="Wingdings" pitchFamily="2" charset="2"/>
                </a:rPr>
                <a:t></a:t>
              </a:r>
              <a:endParaRPr lang="en-GB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27388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81000" y="2438400"/>
            <a:ext cx="2286000" cy="381000"/>
            <a:chOff x="864" y="720"/>
            <a:chExt cx="3840" cy="960"/>
          </a:xfrm>
        </p:grpSpPr>
        <p:sp>
          <p:nvSpPr>
            <p:cNvPr id="6195" name="Freeform 6"/>
            <p:cNvSpPr>
              <a:spLocks/>
            </p:cNvSpPr>
            <p:nvPr/>
          </p:nvSpPr>
          <p:spPr bwMode="auto">
            <a:xfrm>
              <a:off x="864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196" name="Freeform 7"/>
            <p:cNvSpPr>
              <a:spLocks/>
            </p:cNvSpPr>
            <p:nvPr/>
          </p:nvSpPr>
          <p:spPr bwMode="auto">
            <a:xfrm>
              <a:off x="1056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197" name="Freeform 8"/>
            <p:cNvSpPr>
              <a:spLocks/>
            </p:cNvSpPr>
            <p:nvPr/>
          </p:nvSpPr>
          <p:spPr bwMode="auto">
            <a:xfrm>
              <a:off x="1248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198" name="Freeform 9"/>
            <p:cNvSpPr>
              <a:spLocks/>
            </p:cNvSpPr>
            <p:nvPr/>
          </p:nvSpPr>
          <p:spPr bwMode="auto">
            <a:xfrm>
              <a:off x="1440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199" name="Freeform 10"/>
            <p:cNvSpPr>
              <a:spLocks/>
            </p:cNvSpPr>
            <p:nvPr/>
          </p:nvSpPr>
          <p:spPr bwMode="auto">
            <a:xfrm>
              <a:off x="1632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200" name="Freeform 11"/>
            <p:cNvSpPr>
              <a:spLocks/>
            </p:cNvSpPr>
            <p:nvPr/>
          </p:nvSpPr>
          <p:spPr bwMode="auto">
            <a:xfrm>
              <a:off x="1824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201" name="Freeform 12"/>
            <p:cNvSpPr>
              <a:spLocks/>
            </p:cNvSpPr>
            <p:nvPr/>
          </p:nvSpPr>
          <p:spPr bwMode="auto">
            <a:xfrm>
              <a:off x="2016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202" name="Freeform 13"/>
            <p:cNvSpPr>
              <a:spLocks/>
            </p:cNvSpPr>
            <p:nvPr/>
          </p:nvSpPr>
          <p:spPr bwMode="auto">
            <a:xfrm>
              <a:off x="2208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203" name="Freeform 14"/>
            <p:cNvSpPr>
              <a:spLocks/>
            </p:cNvSpPr>
            <p:nvPr/>
          </p:nvSpPr>
          <p:spPr bwMode="auto">
            <a:xfrm>
              <a:off x="2400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204" name="Freeform 15"/>
            <p:cNvSpPr>
              <a:spLocks/>
            </p:cNvSpPr>
            <p:nvPr/>
          </p:nvSpPr>
          <p:spPr bwMode="auto">
            <a:xfrm>
              <a:off x="2592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205" name="Freeform 16"/>
            <p:cNvSpPr>
              <a:spLocks/>
            </p:cNvSpPr>
            <p:nvPr/>
          </p:nvSpPr>
          <p:spPr bwMode="auto">
            <a:xfrm>
              <a:off x="2784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206" name="Freeform 17"/>
            <p:cNvSpPr>
              <a:spLocks/>
            </p:cNvSpPr>
            <p:nvPr/>
          </p:nvSpPr>
          <p:spPr bwMode="auto">
            <a:xfrm>
              <a:off x="2976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207" name="Freeform 18"/>
            <p:cNvSpPr>
              <a:spLocks/>
            </p:cNvSpPr>
            <p:nvPr/>
          </p:nvSpPr>
          <p:spPr bwMode="auto">
            <a:xfrm>
              <a:off x="3168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208" name="Freeform 19"/>
            <p:cNvSpPr>
              <a:spLocks/>
            </p:cNvSpPr>
            <p:nvPr/>
          </p:nvSpPr>
          <p:spPr bwMode="auto">
            <a:xfrm>
              <a:off x="3360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209" name="Freeform 20"/>
            <p:cNvSpPr>
              <a:spLocks/>
            </p:cNvSpPr>
            <p:nvPr/>
          </p:nvSpPr>
          <p:spPr bwMode="auto">
            <a:xfrm>
              <a:off x="3552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210" name="Freeform 21"/>
            <p:cNvSpPr>
              <a:spLocks/>
            </p:cNvSpPr>
            <p:nvPr/>
          </p:nvSpPr>
          <p:spPr bwMode="auto">
            <a:xfrm>
              <a:off x="3744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211" name="Freeform 22"/>
            <p:cNvSpPr>
              <a:spLocks/>
            </p:cNvSpPr>
            <p:nvPr/>
          </p:nvSpPr>
          <p:spPr bwMode="auto">
            <a:xfrm>
              <a:off x="3936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212" name="Freeform 23"/>
            <p:cNvSpPr>
              <a:spLocks/>
            </p:cNvSpPr>
            <p:nvPr/>
          </p:nvSpPr>
          <p:spPr bwMode="auto">
            <a:xfrm>
              <a:off x="4128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213" name="Freeform 24"/>
            <p:cNvSpPr>
              <a:spLocks/>
            </p:cNvSpPr>
            <p:nvPr/>
          </p:nvSpPr>
          <p:spPr bwMode="auto">
            <a:xfrm>
              <a:off x="4320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214" name="Freeform 25"/>
            <p:cNvSpPr>
              <a:spLocks/>
            </p:cNvSpPr>
            <p:nvPr/>
          </p:nvSpPr>
          <p:spPr bwMode="auto">
            <a:xfrm>
              <a:off x="4512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sp>
        <p:nvSpPr>
          <p:cNvPr id="6147" name="Freeform 26"/>
          <p:cNvSpPr>
            <a:spLocks/>
          </p:cNvSpPr>
          <p:nvPr/>
        </p:nvSpPr>
        <p:spPr bwMode="auto">
          <a:xfrm>
            <a:off x="381000" y="4572000"/>
            <a:ext cx="2209800" cy="304800"/>
          </a:xfrm>
          <a:custGeom>
            <a:avLst/>
            <a:gdLst>
              <a:gd name="T0" fmla="*/ 0 w 3840"/>
              <a:gd name="T1" fmla="*/ 2147483647 h 934"/>
              <a:gd name="T2" fmla="*/ 2147483647 w 3840"/>
              <a:gd name="T3" fmla="*/ 2147483647 h 934"/>
              <a:gd name="T4" fmla="*/ 2147483647 w 3840"/>
              <a:gd name="T5" fmla="*/ 2147483647 h 934"/>
              <a:gd name="T6" fmla="*/ 2147483647 w 3840"/>
              <a:gd name="T7" fmla="*/ 2147483647 h 934"/>
              <a:gd name="T8" fmla="*/ 2147483647 w 3840"/>
              <a:gd name="T9" fmla="*/ 2147483647 h 934"/>
              <a:gd name="T10" fmla="*/ 2147483647 w 3840"/>
              <a:gd name="T11" fmla="*/ 2147483647 h 934"/>
              <a:gd name="T12" fmla="*/ 2147483647 w 3840"/>
              <a:gd name="T13" fmla="*/ 2147483647 h 934"/>
              <a:gd name="T14" fmla="*/ 2147483647 w 3840"/>
              <a:gd name="T15" fmla="*/ 2147483647 h 934"/>
              <a:gd name="T16" fmla="*/ 2147483647 w 3840"/>
              <a:gd name="T17" fmla="*/ 2147483647 h 934"/>
              <a:gd name="T18" fmla="*/ 2147483647 w 3840"/>
              <a:gd name="T19" fmla="*/ 2147483647 h 934"/>
              <a:gd name="T20" fmla="*/ 2147483647 w 3840"/>
              <a:gd name="T21" fmla="*/ 2147483647 h 934"/>
              <a:gd name="T22" fmla="*/ 2147483647 w 3840"/>
              <a:gd name="T23" fmla="*/ 2147483647 h 934"/>
              <a:gd name="T24" fmla="*/ 2147483647 w 3840"/>
              <a:gd name="T25" fmla="*/ 2147483647 h 934"/>
              <a:gd name="T26" fmla="*/ 2147483647 w 3840"/>
              <a:gd name="T27" fmla="*/ 2147483647 h 934"/>
              <a:gd name="T28" fmla="*/ 2147483647 w 3840"/>
              <a:gd name="T29" fmla="*/ 2147483647 h 934"/>
              <a:gd name="T30" fmla="*/ 2147483647 w 3840"/>
              <a:gd name="T31" fmla="*/ 2147483647 h 93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840"/>
              <a:gd name="T49" fmla="*/ 0 h 934"/>
              <a:gd name="T50" fmla="*/ 3840 w 3840"/>
              <a:gd name="T51" fmla="*/ 934 h 934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840" h="934">
                <a:moveTo>
                  <a:pt x="0" y="502"/>
                </a:moveTo>
                <a:cubicBezTo>
                  <a:pt x="32" y="278"/>
                  <a:pt x="64" y="54"/>
                  <a:pt x="144" y="118"/>
                </a:cubicBezTo>
                <a:cubicBezTo>
                  <a:pt x="224" y="182"/>
                  <a:pt x="352" y="838"/>
                  <a:pt x="480" y="886"/>
                </a:cubicBezTo>
                <a:cubicBezTo>
                  <a:pt x="608" y="934"/>
                  <a:pt x="792" y="542"/>
                  <a:pt x="912" y="406"/>
                </a:cubicBezTo>
                <a:cubicBezTo>
                  <a:pt x="1032" y="270"/>
                  <a:pt x="1080" y="6"/>
                  <a:pt x="1200" y="70"/>
                </a:cubicBezTo>
                <a:cubicBezTo>
                  <a:pt x="1320" y="134"/>
                  <a:pt x="1528" y="662"/>
                  <a:pt x="1632" y="790"/>
                </a:cubicBezTo>
                <a:cubicBezTo>
                  <a:pt x="1736" y="918"/>
                  <a:pt x="1768" y="910"/>
                  <a:pt x="1824" y="838"/>
                </a:cubicBezTo>
                <a:cubicBezTo>
                  <a:pt x="1880" y="766"/>
                  <a:pt x="1931" y="461"/>
                  <a:pt x="1968" y="358"/>
                </a:cubicBezTo>
                <a:cubicBezTo>
                  <a:pt x="2005" y="255"/>
                  <a:pt x="2024" y="270"/>
                  <a:pt x="2048" y="222"/>
                </a:cubicBezTo>
                <a:cubicBezTo>
                  <a:pt x="2072" y="174"/>
                  <a:pt x="2061" y="0"/>
                  <a:pt x="2112" y="70"/>
                </a:cubicBezTo>
                <a:cubicBezTo>
                  <a:pt x="2163" y="140"/>
                  <a:pt x="2280" y="614"/>
                  <a:pt x="2352" y="646"/>
                </a:cubicBezTo>
                <a:cubicBezTo>
                  <a:pt x="2424" y="678"/>
                  <a:pt x="2448" y="230"/>
                  <a:pt x="2544" y="262"/>
                </a:cubicBezTo>
                <a:cubicBezTo>
                  <a:pt x="2640" y="294"/>
                  <a:pt x="2808" y="822"/>
                  <a:pt x="2928" y="838"/>
                </a:cubicBezTo>
                <a:cubicBezTo>
                  <a:pt x="3048" y="854"/>
                  <a:pt x="3176" y="398"/>
                  <a:pt x="3264" y="358"/>
                </a:cubicBezTo>
                <a:cubicBezTo>
                  <a:pt x="3352" y="318"/>
                  <a:pt x="3360" y="574"/>
                  <a:pt x="3456" y="598"/>
                </a:cubicBezTo>
                <a:cubicBezTo>
                  <a:pt x="3552" y="622"/>
                  <a:pt x="3776" y="518"/>
                  <a:pt x="3840" y="502"/>
                </a:cubicBezTo>
              </a:path>
            </a:pathLst>
          </a:cu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5283200" y="1231900"/>
            <a:ext cx="3581400" cy="990600"/>
            <a:chOff x="1584" y="2448"/>
            <a:chExt cx="3840" cy="879"/>
          </a:xfrm>
        </p:grpSpPr>
        <p:sp>
          <p:nvSpPr>
            <p:cNvPr id="6175" name="Freeform 28"/>
            <p:cNvSpPr>
              <a:spLocks/>
            </p:cNvSpPr>
            <p:nvPr/>
          </p:nvSpPr>
          <p:spPr bwMode="auto">
            <a:xfrm>
              <a:off x="1584" y="2508"/>
              <a:ext cx="192" cy="777"/>
            </a:xfrm>
            <a:custGeom>
              <a:avLst/>
              <a:gdLst>
                <a:gd name="T0" fmla="*/ 0 w 1536"/>
                <a:gd name="T1" fmla="*/ 1 h 1152"/>
                <a:gd name="T2" fmla="*/ 0 w 1536"/>
                <a:gd name="T3" fmla="*/ 0 h 1152"/>
                <a:gd name="T4" fmla="*/ 0 w 1536"/>
                <a:gd name="T5" fmla="*/ 1 h 1152"/>
                <a:gd name="T6" fmla="*/ 0 w 1536"/>
                <a:gd name="T7" fmla="*/ 3 h 1152"/>
                <a:gd name="T8" fmla="*/ 0 w 1536"/>
                <a:gd name="T9" fmla="*/ 1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176" name="Freeform 29"/>
            <p:cNvSpPr>
              <a:spLocks/>
            </p:cNvSpPr>
            <p:nvPr/>
          </p:nvSpPr>
          <p:spPr bwMode="auto">
            <a:xfrm>
              <a:off x="1776" y="2553"/>
              <a:ext cx="192" cy="528"/>
            </a:xfrm>
            <a:custGeom>
              <a:avLst/>
              <a:gdLst>
                <a:gd name="T0" fmla="*/ 0 w 192"/>
                <a:gd name="T1" fmla="*/ 339 h 528"/>
                <a:gd name="T2" fmla="*/ 48 w 192"/>
                <a:gd name="T3" fmla="*/ 11 h 528"/>
                <a:gd name="T4" fmla="*/ 96 w 192"/>
                <a:gd name="T5" fmla="*/ 270 h 528"/>
                <a:gd name="T6" fmla="*/ 144 w 192"/>
                <a:gd name="T7" fmla="*/ 528 h 528"/>
                <a:gd name="T8" fmla="*/ 192 w 192"/>
                <a:gd name="T9" fmla="*/ 270 h 5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28"/>
                <a:gd name="T17" fmla="*/ 192 w 192"/>
                <a:gd name="T18" fmla="*/ 528 h 5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28">
                  <a:moveTo>
                    <a:pt x="0" y="339"/>
                  </a:moveTo>
                  <a:cubicBezTo>
                    <a:pt x="8" y="285"/>
                    <a:pt x="32" y="22"/>
                    <a:pt x="48" y="11"/>
                  </a:cubicBezTo>
                  <a:cubicBezTo>
                    <a:pt x="64" y="0"/>
                    <a:pt x="80" y="183"/>
                    <a:pt x="96" y="270"/>
                  </a:cubicBezTo>
                  <a:cubicBezTo>
                    <a:pt x="112" y="356"/>
                    <a:pt x="128" y="528"/>
                    <a:pt x="144" y="528"/>
                  </a:cubicBezTo>
                  <a:cubicBezTo>
                    <a:pt x="160" y="528"/>
                    <a:pt x="176" y="399"/>
                    <a:pt x="192" y="27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177" name="Freeform 30"/>
            <p:cNvSpPr>
              <a:spLocks/>
            </p:cNvSpPr>
            <p:nvPr/>
          </p:nvSpPr>
          <p:spPr bwMode="auto">
            <a:xfrm>
              <a:off x="1965" y="2743"/>
              <a:ext cx="202" cy="229"/>
            </a:xfrm>
            <a:custGeom>
              <a:avLst/>
              <a:gdLst>
                <a:gd name="T0" fmla="*/ 0 w 202"/>
                <a:gd name="T1" fmla="*/ 98 h 229"/>
                <a:gd name="T2" fmla="*/ 48 w 202"/>
                <a:gd name="T3" fmla="*/ 8 h 229"/>
                <a:gd name="T4" fmla="*/ 99 w 202"/>
                <a:gd name="T5" fmla="*/ 149 h 229"/>
                <a:gd name="T6" fmla="*/ 135 w 202"/>
                <a:gd name="T7" fmla="*/ 224 h 229"/>
                <a:gd name="T8" fmla="*/ 192 w 202"/>
                <a:gd name="T9" fmla="*/ 119 h 229"/>
                <a:gd name="T10" fmla="*/ 195 w 202"/>
                <a:gd name="T11" fmla="*/ 149 h 2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02"/>
                <a:gd name="T19" fmla="*/ 0 h 229"/>
                <a:gd name="T20" fmla="*/ 202 w 202"/>
                <a:gd name="T21" fmla="*/ 229 h 22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02" h="229">
                  <a:moveTo>
                    <a:pt x="0" y="98"/>
                  </a:moveTo>
                  <a:cubicBezTo>
                    <a:pt x="8" y="83"/>
                    <a:pt x="32" y="0"/>
                    <a:pt x="48" y="8"/>
                  </a:cubicBezTo>
                  <a:cubicBezTo>
                    <a:pt x="64" y="16"/>
                    <a:pt x="85" y="113"/>
                    <a:pt x="99" y="149"/>
                  </a:cubicBezTo>
                  <a:cubicBezTo>
                    <a:pt x="113" y="185"/>
                    <a:pt x="120" y="229"/>
                    <a:pt x="135" y="224"/>
                  </a:cubicBezTo>
                  <a:cubicBezTo>
                    <a:pt x="150" y="219"/>
                    <a:pt x="182" y="131"/>
                    <a:pt x="192" y="119"/>
                  </a:cubicBezTo>
                  <a:cubicBezTo>
                    <a:pt x="202" y="107"/>
                    <a:pt x="195" y="143"/>
                    <a:pt x="195" y="149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178" name="Freeform 31"/>
            <p:cNvSpPr>
              <a:spLocks/>
            </p:cNvSpPr>
            <p:nvPr/>
          </p:nvSpPr>
          <p:spPr bwMode="auto">
            <a:xfrm>
              <a:off x="2154" y="2745"/>
              <a:ext cx="198" cy="303"/>
            </a:xfrm>
            <a:custGeom>
              <a:avLst/>
              <a:gdLst>
                <a:gd name="T0" fmla="*/ 0 w 198"/>
                <a:gd name="T1" fmla="*/ 129 h 303"/>
                <a:gd name="T2" fmla="*/ 48 w 198"/>
                <a:gd name="T3" fmla="*/ 3 h 303"/>
                <a:gd name="T4" fmla="*/ 102 w 198"/>
                <a:gd name="T5" fmla="*/ 147 h 303"/>
                <a:gd name="T6" fmla="*/ 150 w 198"/>
                <a:gd name="T7" fmla="*/ 303 h 303"/>
                <a:gd name="T8" fmla="*/ 198 w 198"/>
                <a:gd name="T9" fmla="*/ 147 h 3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8"/>
                <a:gd name="T16" fmla="*/ 0 h 303"/>
                <a:gd name="T17" fmla="*/ 198 w 198"/>
                <a:gd name="T18" fmla="*/ 303 h 3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8" h="303">
                  <a:moveTo>
                    <a:pt x="0" y="129"/>
                  </a:moveTo>
                  <a:cubicBezTo>
                    <a:pt x="8" y="108"/>
                    <a:pt x="31" y="0"/>
                    <a:pt x="48" y="3"/>
                  </a:cubicBezTo>
                  <a:cubicBezTo>
                    <a:pt x="65" y="6"/>
                    <a:pt x="85" y="97"/>
                    <a:pt x="102" y="147"/>
                  </a:cubicBezTo>
                  <a:cubicBezTo>
                    <a:pt x="119" y="197"/>
                    <a:pt x="134" y="303"/>
                    <a:pt x="150" y="303"/>
                  </a:cubicBezTo>
                  <a:cubicBezTo>
                    <a:pt x="166" y="303"/>
                    <a:pt x="188" y="179"/>
                    <a:pt x="198" y="147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179" name="Freeform 32"/>
            <p:cNvSpPr>
              <a:spLocks/>
            </p:cNvSpPr>
            <p:nvPr/>
          </p:nvSpPr>
          <p:spPr bwMode="auto">
            <a:xfrm>
              <a:off x="2352" y="2622"/>
              <a:ext cx="192" cy="546"/>
            </a:xfrm>
            <a:custGeom>
              <a:avLst/>
              <a:gdLst>
                <a:gd name="T0" fmla="*/ 0 w 192"/>
                <a:gd name="T1" fmla="*/ 270 h 546"/>
                <a:gd name="T2" fmla="*/ 51 w 192"/>
                <a:gd name="T3" fmla="*/ 0 h 546"/>
                <a:gd name="T4" fmla="*/ 96 w 192"/>
                <a:gd name="T5" fmla="*/ 270 h 546"/>
                <a:gd name="T6" fmla="*/ 147 w 192"/>
                <a:gd name="T7" fmla="*/ 546 h 546"/>
                <a:gd name="T8" fmla="*/ 192 w 192"/>
                <a:gd name="T9" fmla="*/ 270 h 5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46"/>
                <a:gd name="T17" fmla="*/ 192 w 192"/>
                <a:gd name="T18" fmla="*/ 546 h 5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46">
                  <a:moveTo>
                    <a:pt x="0" y="270"/>
                  </a:moveTo>
                  <a:cubicBezTo>
                    <a:pt x="8" y="225"/>
                    <a:pt x="35" y="0"/>
                    <a:pt x="51" y="0"/>
                  </a:cubicBezTo>
                  <a:cubicBezTo>
                    <a:pt x="67" y="0"/>
                    <a:pt x="80" y="179"/>
                    <a:pt x="96" y="270"/>
                  </a:cubicBezTo>
                  <a:cubicBezTo>
                    <a:pt x="112" y="361"/>
                    <a:pt x="131" y="546"/>
                    <a:pt x="147" y="546"/>
                  </a:cubicBezTo>
                  <a:cubicBezTo>
                    <a:pt x="163" y="546"/>
                    <a:pt x="183" y="327"/>
                    <a:pt x="192" y="27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180" name="Freeform 33"/>
            <p:cNvSpPr>
              <a:spLocks/>
            </p:cNvSpPr>
            <p:nvPr/>
          </p:nvSpPr>
          <p:spPr bwMode="auto">
            <a:xfrm>
              <a:off x="2544" y="2520"/>
              <a:ext cx="192" cy="807"/>
            </a:xfrm>
            <a:custGeom>
              <a:avLst/>
              <a:gdLst>
                <a:gd name="T0" fmla="*/ 0 w 192"/>
                <a:gd name="T1" fmla="*/ 372 h 807"/>
                <a:gd name="T2" fmla="*/ 42 w 192"/>
                <a:gd name="T3" fmla="*/ 0 h 807"/>
                <a:gd name="T4" fmla="*/ 96 w 192"/>
                <a:gd name="T5" fmla="*/ 372 h 807"/>
                <a:gd name="T6" fmla="*/ 147 w 192"/>
                <a:gd name="T7" fmla="*/ 750 h 807"/>
                <a:gd name="T8" fmla="*/ 156 w 192"/>
                <a:gd name="T9" fmla="*/ 714 h 807"/>
                <a:gd name="T10" fmla="*/ 192 w 192"/>
                <a:gd name="T11" fmla="*/ 372 h 8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2"/>
                <a:gd name="T19" fmla="*/ 0 h 807"/>
                <a:gd name="T20" fmla="*/ 192 w 192"/>
                <a:gd name="T21" fmla="*/ 807 h 80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92" h="807">
                  <a:moveTo>
                    <a:pt x="0" y="372"/>
                  </a:moveTo>
                  <a:cubicBezTo>
                    <a:pt x="7" y="310"/>
                    <a:pt x="26" y="0"/>
                    <a:pt x="42" y="0"/>
                  </a:cubicBezTo>
                  <a:cubicBezTo>
                    <a:pt x="58" y="0"/>
                    <a:pt x="79" y="247"/>
                    <a:pt x="96" y="372"/>
                  </a:cubicBezTo>
                  <a:cubicBezTo>
                    <a:pt x="113" y="497"/>
                    <a:pt x="137" y="693"/>
                    <a:pt x="147" y="750"/>
                  </a:cubicBezTo>
                  <a:cubicBezTo>
                    <a:pt x="157" y="807"/>
                    <a:pt x="148" y="777"/>
                    <a:pt x="156" y="714"/>
                  </a:cubicBezTo>
                  <a:cubicBezTo>
                    <a:pt x="164" y="651"/>
                    <a:pt x="184" y="443"/>
                    <a:pt x="192" y="372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181" name="Freeform 34"/>
            <p:cNvSpPr>
              <a:spLocks/>
            </p:cNvSpPr>
            <p:nvPr/>
          </p:nvSpPr>
          <p:spPr bwMode="auto">
            <a:xfrm>
              <a:off x="2736" y="2448"/>
              <a:ext cx="192" cy="801"/>
            </a:xfrm>
            <a:custGeom>
              <a:avLst/>
              <a:gdLst>
                <a:gd name="T0" fmla="*/ 0 w 192"/>
                <a:gd name="T1" fmla="*/ 444 h 801"/>
                <a:gd name="T2" fmla="*/ 45 w 192"/>
                <a:gd name="T3" fmla="*/ 0 h 801"/>
                <a:gd name="T4" fmla="*/ 96 w 192"/>
                <a:gd name="T5" fmla="*/ 444 h 801"/>
                <a:gd name="T6" fmla="*/ 147 w 192"/>
                <a:gd name="T7" fmla="*/ 801 h 801"/>
                <a:gd name="T8" fmla="*/ 192 w 192"/>
                <a:gd name="T9" fmla="*/ 444 h 8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801"/>
                <a:gd name="T17" fmla="*/ 192 w 192"/>
                <a:gd name="T18" fmla="*/ 801 h 80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801">
                  <a:moveTo>
                    <a:pt x="0" y="444"/>
                  </a:moveTo>
                  <a:cubicBezTo>
                    <a:pt x="8" y="370"/>
                    <a:pt x="29" y="0"/>
                    <a:pt x="45" y="0"/>
                  </a:cubicBezTo>
                  <a:cubicBezTo>
                    <a:pt x="61" y="0"/>
                    <a:pt x="79" y="311"/>
                    <a:pt x="96" y="444"/>
                  </a:cubicBezTo>
                  <a:cubicBezTo>
                    <a:pt x="113" y="577"/>
                    <a:pt x="131" y="801"/>
                    <a:pt x="147" y="801"/>
                  </a:cubicBezTo>
                  <a:cubicBezTo>
                    <a:pt x="163" y="801"/>
                    <a:pt x="183" y="518"/>
                    <a:pt x="192" y="444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182" name="Freeform 35"/>
            <p:cNvSpPr>
              <a:spLocks/>
            </p:cNvSpPr>
            <p:nvPr/>
          </p:nvSpPr>
          <p:spPr bwMode="auto">
            <a:xfrm>
              <a:off x="2928" y="2556"/>
              <a:ext cx="192" cy="549"/>
            </a:xfrm>
            <a:custGeom>
              <a:avLst/>
              <a:gdLst>
                <a:gd name="T0" fmla="*/ 0 w 192"/>
                <a:gd name="T1" fmla="*/ 336 h 549"/>
                <a:gd name="T2" fmla="*/ 48 w 192"/>
                <a:gd name="T3" fmla="*/ 0 h 549"/>
                <a:gd name="T4" fmla="*/ 96 w 192"/>
                <a:gd name="T5" fmla="*/ 336 h 549"/>
                <a:gd name="T6" fmla="*/ 147 w 192"/>
                <a:gd name="T7" fmla="*/ 549 h 549"/>
                <a:gd name="T8" fmla="*/ 192 w 192"/>
                <a:gd name="T9" fmla="*/ 336 h 5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49"/>
                <a:gd name="T17" fmla="*/ 192 w 192"/>
                <a:gd name="T18" fmla="*/ 549 h 5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49">
                  <a:moveTo>
                    <a:pt x="0" y="336"/>
                  </a:moveTo>
                  <a:cubicBezTo>
                    <a:pt x="8" y="280"/>
                    <a:pt x="32" y="0"/>
                    <a:pt x="48" y="0"/>
                  </a:cubicBezTo>
                  <a:cubicBezTo>
                    <a:pt x="64" y="0"/>
                    <a:pt x="80" y="245"/>
                    <a:pt x="96" y="336"/>
                  </a:cubicBezTo>
                  <a:cubicBezTo>
                    <a:pt x="112" y="427"/>
                    <a:pt x="131" y="549"/>
                    <a:pt x="147" y="549"/>
                  </a:cubicBezTo>
                  <a:cubicBezTo>
                    <a:pt x="163" y="549"/>
                    <a:pt x="183" y="380"/>
                    <a:pt x="192" y="33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183" name="Freeform 36"/>
            <p:cNvSpPr>
              <a:spLocks/>
            </p:cNvSpPr>
            <p:nvPr/>
          </p:nvSpPr>
          <p:spPr bwMode="auto">
            <a:xfrm>
              <a:off x="3120" y="2703"/>
              <a:ext cx="186" cy="283"/>
            </a:xfrm>
            <a:custGeom>
              <a:avLst/>
              <a:gdLst>
                <a:gd name="T0" fmla="*/ 0 w 186"/>
                <a:gd name="T1" fmla="*/ 189 h 283"/>
                <a:gd name="T2" fmla="*/ 45 w 186"/>
                <a:gd name="T3" fmla="*/ 0 h 283"/>
                <a:gd name="T4" fmla="*/ 96 w 186"/>
                <a:gd name="T5" fmla="*/ 189 h 283"/>
                <a:gd name="T6" fmla="*/ 144 w 186"/>
                <a:gd name="T7" fmla="*/ 279 h 283"/>
                <a:gd name="T8" fmla="*/ 186 w 186"/>
                <a:gd name="T9" fmla="*/ 168 h 2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6"/>
                <a:gd name="T16" fmla="*/ 0 h 283"/>
                <a:gd name="T17" fmla="*/ 186 w 186"/>
                <a:gd name="T18" fmla="*/ 283 h 2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6" h="283">
                  <a:moveTo>
                    <a:pt x="0" y="189"/>
                  </a:moveTo>
                  <a:cubicBezTo>
                    <a:pt x="7" y="158"/>
                    <a:pt x="29" y="0"/>
                    <a:pt x="45" y="0"/>
                  </a:cubicBezTo>
                  <a:cubicBezTo>
                    <a:pt x="61" y="0"/>
                    <a:pt x="80" y="143"/>
                    <a:pt x="96" y="189"/>
                  </a:cubicBezTo>
                  <a:cubicBezTo>
                    <a:pt x="112" y="235"/>
                    <a:pt x="129" y="283"/>
                    <a:pt x="144" y="279"/>
                  </a:cubicBezTo>
                  <a:cubicBezTo>
                    <a:pt x="159" y="275"/>
                    <a:pt x="177" y="191"/>
                    <a:pt x="186" y="16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184" name="Freeform 37"/>
            <p:cNvSpPr>
              <a:spLocks/>
            </p:cNvSpPr>
            <p:nvPr/>
          </p:nvSpPr>
          <p:spPr bwMode="auto">
            <a:xfrm>
              <a:off x="3309" y="2773"/>
              <a:ext cx="192" cy="258"/>
            </a:xfrm>
            <a:custGeom>
              <a:avLst/>
              <a:gdLst>
                <a:gd name="T0" fmla="*/ 0 w 192"/>
                <a:gd name="T1" fmla="*/ 101 h 258"/>
                <a:gd name="T2" fmla="*/ 33 w 192"/>
                <a:gd name="T3" fmla="*/ 2 h 258"/>
                <a:gd name="T4" fmla="*/ 90 w 192"/>
                <a:gd name="T5" fmla="*/ 116 h 258"/>
                <a:gd name="T6" fmla="*/ 141 w 192"/>
                <a:gd name="T7" fmla="*/ 254 h 258"/>
                <a:gd name="T8" fmla="*/ 192 w 192"/>
                <a:gd name="T9" fmla="*/ 92 h 2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258"/>
                <a:gd name="T17" fmla="*/ 192 w 192"/>
                <a:gd name="T18" fmla="*/ 258 h 2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258">
                  <a:moveTo>
                    <a:pt x="0" y="101"/>
                  </a:moveTo>
                  <a:cubicBezTo>
                    <a:pt x="5" y="85"/>
                    <a:pt x="18" y="0"/>
                    <a:pt x="33" y="2"/>
                  </a:cubicBezTo>
                  <a:cubicBezTo>
                    <a:pt x="48" y="4"/>
                    <a:pt x="72" y="74"/>
                    <a:pt x="90" y="116"/>
                  </a:cubicBezTo>
                  <a:cubicBezTo>
                    <a:pt x="108" y="158"/>
                    <a:pt x="124" y="258"/>
                    <a:pt x="141" y="254"/>
                  </a:cubicBezTo>
                  <a:cubicBezTo>
                    <a:pt x="158" y="250"/>
                    <a:pt x="181" y="126"/>
                    <a:pt x="192" y="92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185" name="Freeform 38"/>
            <p:cNvSpPr>
              <a:spLocks/>
            </p:cNvSpPr>
            <p:nvPr/>
          </p:nvSpPr>
          <p:spPr bwMode="auto">
            <a:xfrm>
              <a:off x="3495" y="2555"/>
              <a:ext cx="201" cy="694"/>
            </a:xfrm>
            <a:custGeom>
              <a:avLst/>
              <a:gdLst>
                <a:gd name="T0" fmla="*/ 0 w 201"/>
                <a:gd name="T1" fmla="*/ 328 h 694"/>
                <a:gd name="T2" fmla="*/ 54 w 201"/>
                <a:gd name="T3" fmla="*/ 1 h 694"/>
                <a:gd name="T4" fmla="*/ 105 w 201"/>
                <a:gd name="T5" fmla="*/ 337 h 694"/>
                <a:gd name="T6" fmla="*/ 147 w 201"/>
                <a:gd name="T7" fmla="*/ 694 h 694"/>
                <a:gd name="T8" fmla="*/ 201 w 201"/>
                <a:gd name="T9" fmla="*/ 337 h 6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1"/>
                <a:gd name="T16" fmla="*/ 0 h 694"/>
                <a:gd name="T17" fmla="*/ 201 w 201"/>
                <a:gd name="T18" fmla="*/ 694 h 6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1" h="694">
                  <a:moveTo>
                    <a:pt x="0" y="328"/>
                  </a:moveTo>
                  <a:cubicBezTo>
                    <a:pt x="9" y="274"/>
                    <a:pt x="37" y="0"/>
                    <a:pt x="54" y="1"/>
                  </a:cubicBezTo>
                  <a:cubicBezTo>
                    <a:pt x="71" y="2"/>
                    <a:pt x="90" y="222"/>
                    <a:pt x="105" y="337"/>
                  </a:cubicBezTo>
                  <a:cubicBezTo>
                    <a:pt x="120" y="452"/>
                    <a:pt x="131" y="694"/>
                    <a:pt x="147" y="694"/>
                  </a:cubicBezTo>
                  <a:cubicBezTo>
                    <a:pt x="163" y="694"/>
                    <a:pt x="190" y="411"/>
                    <a:pt x="201" y="337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186" name="Freeform 39"/>
            <p:cNvSpPr>
              <a:spLocks/>
            </p:cNvSpPr>
            <p:nvPr/>
          </p:nvSpPr>
          <p:spPr bwMode="auto">
            <a:xfrm>
              <a:off x="3696" y="2481"/>
              <a:ext cx="192" cy="645"/>
            </a:xfrm>
            <a:custGeom>
              <a:avLst/>
              <a:gdLst>
                <a:gd name="T0" fmla="*/ 0 w 192"/>
                <a:gd name="T1" fmla="*/ 411 h 645"/>
                <a:gd name="T2" fmla="*/ 45 w 192"/>
                <a:gd name="T3" fmla="*/ 0 h 645"/>
                <a:gd name="T4" fmla="*/ 96 w 192"/>
                <a:gd name="T5" fmla="*/ 411 h 645"/>
                <a:gd name="T6" fmla="*/ 147 w 192"/>
                <a:gd name="T7" fmla="*/ 645 h 645"/>
                <a:gd name="T8" fmla="*/ 192 w 192"/>
                <a:gd name="T9" fmla="*/ 411 h 6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645"/>
                <a:gd name="T17" fmla="*/ 192 w 192"/>
                <a:gd name="T18" fmla="*/ 645 h 64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645">
                  <a:moveTo>
                    <a:pt x="0" y="411"/>
                  </a:moveTo>
                  <a:cubicBezTo>
                    <a:pt x="7" y="343"/>
                    <a:pt x="29" y="0"/>
                    <a:pt x="45" y="0"/>
                  </a:cubicBezTo>
                  <a:cubicBezTo>
                    <a:pt x="61" y="0"/>
                    <a:pt x="79" y="304"/>
                    <a:pt x="96" y="411"/>
                  </a:cubicBezTo>
                  <a:cubicBezTo>
                    <a:pt x="113" y="518"/>
                    <a:pt x="131" y="645"/>
                    <a:pt x="147" y="645"/>
                  </a:cubicBezTo>
                  <a:cubicBezTo>
                    <a:pt x="163" y="645"/>
                    <a:pt x="183" y="460"/>
                    <a:pt x="192" y="411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187" name="Freeform 40"/>
            <p:cNvSpPr>
              <a:spLocks/>
            </p:cNvSpPr>
            <p:nvPr/>
          </p:nvSpPr>
          <p:spPr bwMode="auto">
            <a:xfrm>
              <a:off x="3888" y="2667"/>
              <a:ext cx="192" cy="489"/>
            </a:xfrm>
            <a:custGeom>
              <a:avLst/>
              <a:gdLst>
                <a:gd name="T0" fmla="*/ 0 w 192"/>
                <a:gd name="T1" fmla="*/ 225 h 489"/>
                <a:gd name="T2" fmla="*/ 39 w 192"/>
                <a:gd name="T3" fmla="*/ 0 h 489"/>
                <a:gd name="T4" fmla="*/ 96 w 192"/>
                <a:gd name="T5" fmla="*/ 225 h 489"/>
                <a:gd name="T6" fmla="*/ 141 w 192"/>
                <a:gd name="T7" fmla="*/ 489 h 489"/>
                <a:gd name="T8" fmla="*/ 192 w 192"/>
                <a:gd name="T9" fmla="*/ 225 h 4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489"/>
                <a:gd name="T17" fmla="*/ 192 w 192"/>
                <a:gd name="T18" fmla="*/ 489 h 4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489">
                  <a:moveTo>
                    <a:pt x="0" y="225"/>
                  </a:moveTo>
                  <a:cubicBezTo>
                    <a:pt x="6" y="188"/>
                    <a:pt x="23" y="0"/>
                    <a:pt x="39" y="0"/>
                  </a:cubicBezTo>
                  <a:cubicBezTo>
                    <a:pt x="55" y="0"/>
                    <a:pt x="79" y="144"/>
                    <a:pt x="96" y="225"/>
                  </a:cubicBezTo>
                  <a:cubicBezTo>
                    <a:pt x="113" y="306"/>
                    <a:pt x="125" y="489"/>
                    <a:pt x="141" y="489"/>
                  </a:cubicBezTo>
                  <a:cubicBezTo>
                    <a:pt x="157" y="489"/>
                    <a:pt x="182" y="280"/>
                    <a:pt x="192" y="225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188" name="Freeform 41"/>
            <p:cNvSpPr>
              <a:spLocks/>
            </p:cNvSpPr>
            <p:nvPr/>
          </p:nvSpPr>
          <p:spPr bwMode="auto">
            <a:xfrm>
              <a:off x="4080" y="2520"/>
              <a:ext cx="192" cy="654"/>
            </a:xfrm>
            <a:custGeom>
              <a:avLst/>
              <a:gdLst>
                <a:gd name="T0" fmla="*/ 0 w 192"/>
                <a:gd name="T1" fmla="*/ 372 h 654"/>
                <a:gd name="T2" fmla="*/ 51 w 192"/>
                <a:gd name="T3" fmla="*/ 0 h 654"/>
                <a:gd name="T4" fmla="*/ 96 w 192"/>
                <a:gd name="T5" fmla="*/ 372 h 654"/>
                <a:gd name="T6" fmla="*/ 147 w 192"/>
                <a:gd name="T7" fmla="*/ 654 h 654"/>
                <a:gd name="T8" fmla="*/ 192 w 192"/>
                <a:gd name="T9" fmla="*/ 372 h 6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654"/>
                <a:gd name="T17" fmla="*/ 192 w 192"/>
                <a:gd name="T18" fmla="*/ 654 h 6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654">
                  <a:moveTo>
                    <a:pt x="0" y="372"/>
                  </a:moveTo>
                  <a:cubicBezTo>
                    <a:pt x="8" y="310"/>
                    <a:pt x="35" y="0"/>
                    <a:pt x="51" y="0"/>
                  </a:cubicBezTo>
                  <a:cubicBezTo>
                    <a:pt x="67" y="0"/>
                    <a:pt x="80" y="263"/>
                    <a:pt x="96" y="372"/>
                  </a:cubicBezTo>
                  <a:cubicBezTo>
                    <a:pt x="112" y="481"/>
                    <a:pt x="131" y="654"/>
                    <a:pt x="147" y="654"/>
                  </a:cubicBezTo>
                  <a:cubicBezTo>
                    <a:pt x="163" y="654"/>
                    <a:pt x="183" y="431"/>
                    <a:pt x="192" y="372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189" name="Freeform 42"/>
            <p:cNvSpPr>
              <a:spLocks/>
            </p:cNvSpPr>
            <p:nvPr/>
          </p:nvSpPr>
          <p:spPr bwMode="auto">
            <a:xfrm>
              <a:off x="4272" y="2637"/>
              <a:ext cx="192" cy="384"/>
            </a:xfrm>
            <a:custGeom>
              <a:avLst/>
              <a:gdLst>
                <a:gd name="T0" fmla="*/ 0 w 192"/>
                <a:gd name="T1" fmla="*/ 255 h 384"/>
                <a:gd name="T2" fmla="*/ 45 w 192"/>
                <a:gd name="T3" fmla="*/ 0 h 384"/>
                <a:gd name="T4" fmla="*/ 96 w 192"/>
                <a:gd name="T5" fmla="*/ 255 h 384"/>
                <a:gd name="T6" fmla="*/ 144 w 192"/>
                <a:gd name="T7" fmla="*/ 384 h 384"/>
                <a:gd name="T8" fmla="*/ 192 w 192"/>
                <a:gd name="T9" fmla="*/ 255 h 3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384"/>
                <a:gd name="T17" fmla="*/ 192 w 192"/>
                <a:gd name="T18" fmla="*/ 384 h 3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384">
                  <a:moveTo>
                    <a:pt x="0" y="255"/>
                  </a:moveTo>
                  <a:cubicBezTo>
                    <a:pt x="7" y="213"/>
                    <a:pt x="29" y="0"/>
                    <a:pt x="45" y="0"/>
                  </a:cubicBezTo>
                  <a:cubicBezTo>
                    <a:pt x="61" y="0"/>
                    <a:pt x="80" y="191"/>
                    <a:pt x="96" y="255"/>
                  </a:cubicBezTo>
                  <a:cubicBezTo>
                    <a:pt x="112" y="319"/>
                    <a:pt x="128" y="384"/>
                    <a:pt x="144" y="384"/>
                  </a:cubicBezTo>
                  <a:cubicBezTo>
                    <a:pt x="160" y="384"/>
                    <a:pt x="182" y="282"/>
                    <a:pt x="192" y="255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190" name="Freeform 43"/>
            <p:cNvSpPr>
              <a:spLocks/>
            </p:cNvSpPr>
            <p:nvPr/>
          </p:nvSpPr>
          <p:spPr bwMode="auto">
            <a:xfrm>
              <a:off x="4464" y="2751"/>
              <a:ext cx="192" cy="267"/>
            </a:xfrm>
            <a:custGeom>
              <a:avLst/>
              <a:gdLst>
                <a:gd name="T0" fmla="*/ 0 w 192"/>
                <a:gd name="T1" fmla="*/ 141 h 267"/>
                <a:gd name="T2" fmla="*/ 45 w 192"/>
                <a:gd name="T3" fmla="*/ 0 h 267"/>
                <a:gd name="T4" fmla="*/ 96 w 192"/>
                <a:gd name="T5" fmla="*/ 141 h 267"/>
                <a:gd name="T6" fmla="*/ 150 w 192"/>
                <a:gd name="T7" fmla="*/ 267 h 267"/>
                <a:gd name="T8" fmla="*/ 192 w 192"/>
                <a:gd name="T9" fmla="*/ 141 h 2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267"/>
                <a:gd name="T17" fmla="*/ 192 w 192"/>
                <a:gd name="T18" fmla="*/ 267 h 2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267">
                  <a:moveTo>
                    <a:pt x="0" y="141"/>
                  </a:moveTo>
                  <a:cubicBezTo>
                    <a:pt x="7" y="118"/>
                    <a:pt x="29" y="0"/>
                    <a:pt x="45" y="0"/>
                  </a:cubicBezTo>
                  <a:cubicBezTo>
                    <a:pt x="61" y="0"/>
                    <a:pt x="79" y="97"/>
                    <a:pt x="96" y="141"/>
                  </a:cubicBezTo>
                  <a:cubicBezTo>
                    <a:pt x="113" y="185"/>
                    <a:pt x="134" y="267"/>
                    <a:pt x="150" y="267"/>
                  </a:cubicBezTo>
                  <a:cubicBezTo>
                    <a:pt x="166" y="267"/>
                    <a:pt x="183" y="167"/>
                    <a:pt x="192" y="141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191" name="Freeform 44"/>
            <p:cNvSpPr>
              <a:spLocks/>
            </p:cNvSpPr>
            <p:nvPr/>
          </p:nvSpPr>
          <p:spPr bwMode="auto">
            <a:xfrm>
              <a:off x="4656" y="2658"/>
              <a:ext cx="192" cy="507"/>
            </a:xfrm>
            <a:custGeom>
              <a:avLst/>
              <a:gdLst>
                <a:gd name="T0" fmla="*/ 0 w 192"/>
                <a:gd name="T1" fmla="*/ 234 h 507"/>
                <a:gd name="T2" fmla="*/ 45 w 192"/>
                <a:gd name="T3" fmla="*/ 0 h 507"/>
                <a:gd name="T4" fmla="*/ 96 w 192"/>
                <a:gd name="T5" fmla="*/ 234 h 507"/>
                <a:gd name="T6" fmla="*/ 147 w 192"/>
                <a:gd name="T7" fmla="*/ 507 h 507"/>
                <a:gd name="T8" fmla="*/ 192 w 192"/>
                <a:gd name="T9" fmla="*/ 234 h 5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07"/>
                <a:gd name="T17" fmla="*/ 192 w 192"/>
                <a:gd name="T18" fmla="*/ 507 h 50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07">
                  <a:moveTo>
                    <a:pt x="0" y="234"/>
                  </a:moveTo>
                  <a:cubicBezTo>
                    <a:pt x="8" y="195"/>
                    <a:pt x="29" y="0"/>
                    <a:pt x="45" y="0"/>
                  </a:cubicBezTo>
                  <a:cubicBezTo>
                    <a:pt x="61" y="0"/>
                    <a:pt x="79" y="150"/>
                    <a:pt x="96" y="234"/>
                  </a:cubicBezTo>
                  <a:cubicBezTo>
                    <a:pt x="113" y="318"/>
                    <a:pt x="131" y="507"/>
                    <a:pt x="147" y="507"/>
                  </a:cubicBezTo>
                  <a:cubicBezTo>
                    <a:pt x="163" y="507"/>
                    <a:pt x="183" y="291"/>
                    <a:pt x="192" y="234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192" name="Freeform 45"/>
            <p:cNvSpPr>
              <a:spLocks/>
            </p:cNvSpPr>
            <p:nvPr/>
          </p:nvSpPr>
          <p:spPr bwMode="auto">
            <a:xfrm>
              <a:off x="4848" y="2562"/>
              <a:ext cx="192" cy="534"/>
            </a:xfrm>
            <a:custGeom>
              <a:avLst/>
              <a:gdLst>
                <a:gd name="T0" fmla="*/ 0 w 192"/>
                <a:gd name="T1" fmla="*/ 330 h 534"/>
                <a:gd name="T2" fmla="*/ 48 w 192"/>
                <a:gd name="T3" fmla="*/ 0 h 534"/>
                <a:gd name="T4" fmla="*/ 96 w 192"/>
                <a:gd name="T5" fmla="*/ 330 h 534"/>
                <a:gd name="T6" fmla="*/ 147 w 192"/>
                <a:gd name="T7" fmla="*/ 534 h 534"/>
                <a:gd name="T8" fmla="*/ 192 w 192"/>
                <a:gd name="T9" fmla="*/ 330 h 5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34"/>
                <a:gd name="T17" fmla="*/ 192 w 192"/>
                <a:gd name="T18" fmla="*/ 534 h 5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34">
                  <a:moveTo>
                    <a:pt x="0" y="330"/>
                  </a:moveTo>
                  <a:cubicBezTo>
                    <a:pt x="8" y="275"/>
                    <a:pt x="32" y="0"/>
                    <a:pt x="48" y="0"/>
                  </a:cubicBezTo>
                  <a:cubicBezTo>
                    <a:pt x="64" y="0"/>
                    <a:pt x="80" y="241"/>
                    <a:pt x="96" y="330"/>
                  </a:cubicBezTo>
                  <a:cubicBezTo>
                    <a:pt x="112" y="419"/>
                    <a:pt x="131" y="534"/>
                    <a:pt x="147" y="534"/>
                  </a:cubicBezTo>
                  <a:cubicBezTo>
                    <a:pt x="163" y="534"/>
                    <a:pt x="183" y="372"/>
                    <a:pt x="192" y="33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193" name="Freeform 46"/>
            <p:cNvSpPr>
              <a:spLocks/>
            </p:cNvSpPr>
            <p:nvPr/>
          </p:nvSpPr>
          <p:spPr bwMode="auto">
            <a:xfrm>
              <a:off x="5040" y="2664"/>
              <a:ext cx="192" cy="423"/>
            </a:xfrm>
            <a:custGeom>
              <a:avLst/>
              <a:gdLst>
                <a:gd name="T0" fmla="*/ 0 w 192"/>
                <a:gd name="T1" fmla="*/ 228 h 423"/>
                <a:gd name="T2" fmla="*/ 48 w 192"/>
                <a:gd name="T3" fmla="*/ 0 h 423"/>
                <a:gd name="T4" fmla="*/ 96 w 192"/>
                <a:gd name="T5" fmla="*/ 228 h 423"/>
                <a:gd name="T6" fmla="*/ 150 w 192"/>
                <a:gd name="T7" fmla="*/ 423 h 423"/>
                <a:gd name="T8" fmla="*/ 192 w 192"/>
                <a:gd name="T9" fmla="*/ 228 h 4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423"/>
                <a:gd name="T17" fmla="*/ 192 w 192"/>
                <a:gd name="T18" fmla="*/ 423 h 4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423">
                  <a:moveTo>
                    <a:pt x="0" y="228"/>
                  </a:moveTo>
                  <a:cubicBezTo>
                    <a:pt x="8" y="190"/>
                    <a:pt x="32" y="0"/>
                    <a:pt x="48" y="0"/>
                  </a:cubicBezTo>
                  <a:cubicBezTo>
                    <a:pt x="64" y="0"/>
                    <a:pt x="79" y="158"/>
                    <a:pt x="96" y="228"/>
                  </a:cubicBezTo>
                  <a:cubicBezTo>
                    <a:pt x="113" y="298"/>
                    <a:pt x="134" y="423"/>
                    <a:pt x="150" y="423"/>
                  </a:cubicBezTo>
                  <a:cubicBezTo>
                    <a:pt x="166" y="423"/>
                    <a:pt x="183" y="269"/>
                    <a:pt x="192" y="22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194" name="Freeform 47"/>
            <p:cNvSpPr>
              <a:spLocks/>
            </p:cNvSpPr>
            <p:nvPr/>
          </p:nvSpPr>
          <p:spPr bwMode="auto">
            <a:xfrm>
              <a:off x="5232" y="2634"/>
              <a:ext cx="192" cy="477"/>
            </a:xfrm>
            <a:custGeom>
              <a:avLst/>
              <a:gdLst>
                <a:gd name="T0" fmla="*/ 0 w 192"/>
                <a:gd name="T1" fmla="*/ 258 h 477"/>
                <a:gd name="T2" fmla="*/ 45 w 192"/>
                <a:gd name="T3" fmla="*/ 0 h 477"/>
                <a:gd name="T4" fmla="*/ 96 w 192"/>
                <a:gd name="T5" fmla="*/ 258 h 477"/>
                <a:gd name="T6" fmla="*/ 147 w 192"/>
                <a:gd name="T7" fmla="*/ 477 h 477"/>
                <a:gd name="T8" fmla="*/ 192 w 192"/>
                <a:gd name="T9" fmla="*/ 258 h 4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477"/>
                <a:gd name="T17" fmla="*/ 192 w 192"/>
                <a:gd name="T18" fmla="*/ 477 h 4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477">
                  <a:moveTo>
                    <a:pt x="0" y="258"/>
                  </a:moveTo>
                  <a:cubicBezTo>
                    <a:pt x="8" y="215"/>
                    <a:pt x="29" y="0"/>
                    <a:pt x="45" y="0"/>
                  </a:cubicBezTo>
                  <a:cubicBezTo>
                    <a:pt x="61" y="0"/>
                    <a:pt x="79" y="179"/>
                    <a:pt x="96" y="258"/>
                  </a:cubicBezTo>
                  <a:cubicBezTo>
                    <a:pt x="113" y="337"/>
                    <a:pt x="131" y="477"/>
                    <a:pt x="147" y="477"/>
                  </a:cubicBezTo>
                  <a:cubicBezTo>
                    <a:pt x="163" y="477"/>
                    <a:pt x="183" y="304"/>
                    <a:pt x="192" y="25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6149" name="Text Box 48"/>
          <p:cNvSpPr txBox="1">
            <a:spLocks noChangeArrowheads="1"/>
          </p:cNvSpPr>
          <p:nvPr/>
        </p:nvSpPr>
        <p:spPr bwMode="auto">
          <a:xfrm>
            <a:off x="679357" y="5408325"/>
            <a:ext cx="1463862" cy="584775"/>
          </a:xfrm>
          <a:prstGeom prst="rect">
            <a:avLst/>
          </a:prstGeom>
          <a:solidFill>
            <a:srgbClr val="CC3300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1600" b="1">
                <a:solidFill>
                  <a:schemeClr val="bg1"/>
                </a:solidFill>
              </a:rPr>
              <a:t>Audio </a:t>
            </a:r>
          </a:p>
          <a:p>
            <a:pPr algn="ctr"/>
            <a:r>
              <a:rPr lang="en-GB" sz="1600" b="1">
                <a:solidFill>
                  <a:schemeClr val="bg1"/>
                </a:solidFill>
              </a:rPr>
              <a:t> Programme </a:t>
            </a:r>
          </a:p>
        </p:txBody>
      </p:sp>
      <p:sp>
        <p:nvSpPr>
          <p:cNvPr id="6150" name="Text Box 49"/>
          <p:cNvSpPr txBox="1">
            <a:spLocks noChangeArrowheads="1"/>
          </p:cNvSpPr>
          <p:nvPr/>
        </p:nvSpPr>
        <p:spPr bwMode="auto">
          <a:xfrm>
            <a:off x="609600" y="1371600"/>
            <a:ext cx="1447800" cy="581025"/>
          </a:xfrm>
          <a:prstGeom prst="rect">
            <a:avLst/>
          </a:prstGeom>
          <a:solidFill>
            <a:srgbClr val="CC3300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GB" sz="1600" b="1">
                <a:solidFill>
                  <a:schemeClr val="bg1"/>
                </a:solidFill>
              </a:rPr>
              <a:t>Carrier Wave Generator</a:t>
            </a:r>
          </a:p>
        </p:txBody>
      </p:sp>
      <p:sp>
        <p:nvSpPr>
          <p:cNvPr id="6151" name="Text Box 50"/>
          <p:cNvSpPr txBox="1">
            <a:spLocks noChangeArrowheads="1"/>
          </p:cNvSpPr>
          <p:nvPr/>
        </p:nvSpPr>
        <p:spPr bwMode="auto">
          <a:xfrm>
            <a:off x="2667000" y="3258463"/>
            <a:ext cx="1447800" cy="861774"/>
          </a:xfrm>
          <a:prstGeom prst="rect">
            <a:avLst/>
          </a:prstGeom>
          <a:solidFill>
            <a:srgbClr val="CC3300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endParaRPr lang="en-GB" sz="1600" b="1" dirty="0">
              <a:solidFill>
                <a:schemeClr val="bg1"/>
              </a:solidFill>
            </a:endParaRPr>
          </a:p>
          <a:p>
            <a:pPr algn="ctr"/>
            <a:r>
              <a:rPr lang="en-GB" sz="1600" b="1" dirty="0">
                <a:solidFill>
                  <a:schemeClr val="bg1"/>
                </a:solidFill>
              </a:rPr>
              <a:t>Transmitter</a:t>
            </a:r>
          </a:p>
          <a:p>
            <a:pPr algn="ctr"/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6152" name="Text Box 51"/>
          <p:cNvSpPr txBox="1">
            <a:spLocks noChangeArrowheads="1"/>
          </p:cNvSpPr>
          <p:nvPr/>
        </p:nvSpPr>
        <p:spPr bwMode="auto">
          <a:xfrm>
            <a:off x="685800" y="3273851"/>
            <a:ext cx="1447800" cy="830997"/>
          </a:xfrm>
          <a:prstGeom prst="rect">
            <a:avLst/>
          </a:prstGeom>
          <a:solidFill>
            <a:srgbClr val="CC3300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endParaRPr lang="en-GB" sz="1600" b="1">
              <a:solidFill>
                <a:schemeClr val="bg1"/>
              </a:solidFill>
            </a:endParaRPr>
          </a:p>
          <a:p>
            <a:pPr algn="ctr"/>
            <a:r>
              <a:rPr lang="en-GB" sz="1600" b="1">
                <a:solidFill>
                  <a:schemeClr val="bg1"/>
                </a:solidFill>
              </a:rPr>
              <a:t>Modulator</a:t>
            </a:r>
          </a:p>
          <a:p>
            <a:pPr algn="ctr"/>
            <a:endParaRPr lang="en-GB" sz="1600" b="1">
              <a:solidFill>
                <a:schemeClr val="bg1"/>
              </a:solidFill>
            </a:endParaRPr>
          </a:p>
        </p:txBody>
      </p:sp>
      <p:sp>
        <p:nvSpPr>
          <p:cNvPr id="6153" name="Rectangle 52"/>
          <p:cNvSpPr>
            <a:spLocks noChangeArrowheads="1"/>
          </p:cNvSpPr>
          <p:nvPr/>
        </p:nvSpPr>
        <p:spPr bwMode="auto">
          <a:xfrm>
            <a:off x="1163858" y="2009745"/>
            <a:ext cx="4138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000">
                <a:sym typeface="Wingdings" pitchFamily="2" charset="2"/>
              </a:rPr>
              <a:t></a:t>
            </a:r>
          </a:p>
        </p:txBody>
      </p:sp>
      <p:sp>
        <p:nvSpPr>
          <p:cNvPr id="6154" name="Rectangle 53"/>
          <p:cNvSpPr>
            <a:spLocks noChangeArrowheads="1"/>
          </p:cNvSpPr>
          <p:nvPr/>
        </p:nvSpPr>
        <p:spPr bwMode="auto">
          <a:xfrm flipV="1">
            <a:off x="1163858" y="4143345"/>
            <a:ext cx="4138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000">
                <a:sym typeface="Wingdings" pitchFamily="2" charset="2"/>
              </a:rPr>
              <a:t></a:t>
            </a:r>
          </a:p>
        </p:txBody>
      </p:sp>
      <p:sp>
        <p:nvSpPr>
          <p:cNvPr id="6155" name="Rectangle 54"/>
          <p:cNvSpPr>
            <a:spLocks noChangeArrowheads="1"/>
          </p:cNvSpPr>
          <p:nvPr/>
        </p:nvSpPr>
        <p:spPr bwMode="auto">
          <a:xfrm>
            <a:off x="1163858" y="2924145"/>
            <a:ext cx="4138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000">
                <a:sym typeface="Wingdings" pitchFamily="2" charset="2"/>
              </a:rPr>
              <a:t></a:t>
            </a:r>
          </a:p>
        </p:txBody>
      </p:sp>
      <p:sp>
        <p:nvSpPr>
          <p:cNvPr id="6156" name="Rectangle 55"/>
          <p:cNvSpPr>
            <a:spLocks noChangeArrowheads="1"/>
          </p:cNvSpPr>
          <p:nvPr/>
        </p:nvSpPr>
        <p:spPr bwMode="auto">
          <a:xfrm flipV="1">
            <a:off x="1163858" y="4905345"/>
            <a:ext cx="4138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000">
                <a:sym typeface="Wingdings" pitchFamily="2" charset="2"/>
              </a:rPr>
              <a:t></a:t>
            </a:r>
          </a:p>
        </p:txBody>
      </p:sp>
      <p:sp>
        <p:nvSpPr>
          <p:cNvPr id="6157" name="Rectangle 56"/>
          <p:cNvSpPr>
            <a:spLocks noChangeArrowheads="1"/>
          </p:cNvSpPr>
          <p:nvPr/>
        </p:nvSpPr>
        <p:spPr bwMode="auto">
          <a:xfrm rot="-5400000">
            <a:off x="2231451" y="3456752"/>
            <a:ext cx="4138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000">
                <a:sym typeface="Wingdings" pitchFamily="2" charset="2"/>
              </a:rPr>
              <a:t></a:t>
            </a:r>
          </a:p>
        </p:txBody>
      </p:sp>
      <p:sp>
        <p:nvSpPr>
          <p:cNvPr id="6158" name="Rectangle 57"/>
          <p:cNvSpPr>
            <a:spLocks noChangeArrowheads="1"/>
          </p:cNvSpPr>
          <p:nvPr/>
        </p:nvSpPr>
        <p:spPr bwMode="auto">
          <a:xfrm rot="-5400000">
            <a:off x="4225351" y="3482152"/>
            <a:ext cx="4138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000">
                <a:sym typeface="Wingdings" pitchFamily="2" charset="2"/>
              </a:rPr>
              <a:t></a:t>
            </a:r>
          </a:p>
        </p:txBody>
      </p:sp>
      <p:grpSp>
        <p:nvGrpSpPr>
          <p:cNvPr id="4" name="Group 58"/>
          <p:cNvGrpSpPr>
            <a:grpSpLocks/>
          </p:cNvGrpSpPr>
          <p:nvPr/>
        </p:nvGrpSpPr>
        <p:grpSpPr bwMode="auto">
          <a:xfrm>
            <a:off x="4711700" y="2298700"/>
            <a:ext cx="842963" cy="1612900"/>
            <a:chOff x="2968" y="1560"/>
            <a:chExt cx="531" cy="1016"/>
          </a:xfrm>
        </p:grpSpPr>
        <p:grpSp>
          <p:nvGrpSpPr>
            <p:cNvPr id="5" name="Group 59"/>
            <p:cNvGrpSpPr>
              <a:grpSpLocks/>
            </p:cNvGrpSpPr>
            <p:nvPr/>
          </p:nvGrpSpPr>
          <p:grpSpPr bwMode="auto">
            <a:xfrm>
              <a:off x="2968" y="1640"/>
              <a:ext cx="296" cy="936"/>
              <a:chOff x="3024" y="1816"/>
              <a:chExt cx="480" cy="1256"/>
            </a:xfrm>
          </p:grpSpPr>
          <p:sp>
            <p:nvSpPr>
              <p:cNvPr id="6165" name="Line 60"/>
              <p:cNvSpPr>
                <a:spLocks noChangeShapeType="1"/>
              </p:cNvSpPr>
              <p:nvPr/>
            </p:nvSpPr>
            <p:spPr bwMode="auto">
              <a:xfrm flipV="1">
                <a:off x="3024" y="2304"/>
                <a:ext cx="192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6166" name="Line 61"/>
              <p:cNvSpPr>
                <a:spLocks noChangeShapeType="1"/>
              </p:cNvSpPr>
              <p:nvPr/>
            </p:nvSpPr>
            <p:spPr bwMode="auto">
              <a:xfrm flipH="1" flipV="1">
                <a:off x="3312" y="2304"/>
                <a:ext cx="192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6167" name="Line 62"/>
              <p:cNvSpPr>
                <a:spLocks noChangeShapeType="1"/>
              </p:cNvSpPr>
              <p:nvPr/>
            </p:nvSpPr>
            <p:spPr bwMode="auto">
              <a:xfrm flipH="1" flipV="1">
                <a:off x="3168" y="2544"/>
                <a:ext cx="280" cy="26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6168" name="Line 63"/>
              <p:cNvSpPr>
                <a:spLocks noChangeShapeType="1"/>
              </p:cNvSpPr>
              <p:nvPr/>
            </p:nvSpPr>
            <p:spPr bwMode="auto">
              <a:xfrm flipV="1">
                <a:off x="3072" y="2544"/>
                <a:ext cx="288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6169" name="Line 64"/>
              <p:cNvSpPr>
                <a:spLocks noChangeShapeType="1"/>
              </p:cNvSpPr>
              <p:nvPr/>
            </p:nvSpPr>
            <p:spPr bwMode="auto">
              <a:xfrm flipV="1">
                <a:off x="3040" y="2784"/>
                <a:ext cx="408" cy="2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6170" name="Line 65"/>
              <p:cNvSpPr>
                <a:spLocks noChangeShapeType="1"/>
              </p:cNvSpPr>
              <p:nvPr/>
            </p:nvSpPr>
            <p:spPr bwMode="auto">
              <a:xfrm flipH="1" flipV="1">
                <a:off x="3104" y="2800"/>
                <a:ext cx="392" cy="26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6171" name="Line 66"/>
              <p:cNvSpPr>
                <a:spLocks noChangeShapeType="1"/>
              </p:cNvSpPr>
              <p:nvPr/>
            </p:nvSpPr>
            <p:spPr bwMode="auto">
              <a:xfrm flipH="1" flipV="1">
                <a:off x="3216" y="2320"/>
                <a:ext cx="144" cy="23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6172" name="Line 67"/>
              <p:cNvSpPr>
                <a:spLocks noChangeShapeType="1"/>
              </p:cNvSpPr>
              <p:nvPr/>
            </p:nvSpPr>
            <p:spPr bwMode="auto">
              <a:xfrm flipV="1">
                <a:off x="3144" y="2304"/>
                <a:ext cx="168" cy="26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6173" name="Line 68"/>
              <p:cNvSpPr>
                <a:spLocks noChangeShapeType="1"/>
              </p:cNvSpPr>
              <p:nvPr/>
            </p:nvSpPr>
            <p:spPr bwMode="auto">
              <a:xfrm flipV="1">
                <a:off x="3208" y="2304"/>
                <a:ext cx="10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6174" name="Line 69"/>
              <p:cNvSpPr>
                <a:spLocks noChangeShapeType="1"/>
              </p:cNvSpPr>
              <p:nvPr/>
            </p:nvSpPr>
            <p:spPr bwMode="auto">
              <a:xfrm flipH="1" flipV="1">
                <a:off x="3248" y="1816"/>
                <a:ext cx="8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  <p:sp>
          <p:nvSpPr>
            <p:cNvPr id="6162" name="Freeform 70"/>
            <p:cNvSpPr>
              <a:spLocks/>
            </p:cNvSpPr>
            <p:nvPr/>
          </p:nvSpPr>
          <p:spPr bwMode="auto">
            <a:xfrm>
              <a:off x="3200" y="1656"/>
              <a:ext cx="67" cy="208"/>
            </a:xfrm>
            <a:custGeom>
              <a:avLst/>
              <a:gdLst>
                <a:gd name="T0" fmla="*/ 0 w 155"/>
                <a:gd name="T1" fmla="*/ 0 h 368"/>
                <a:gd name="T2" fmla="*/ 0 w 155"/>
                <a:gd name="T3" fmla="*/ 1 h 368"/>
                <a:gd name="T4" fmla="*/ 0 w 155"/>
                <a:gd name="T5" fmla="*/ 1 h 368"/>
                <a:gd name="T6" fmla="*/ 0 w 155"/>
                <a:gd name="T7" fmla="*/ 1 h 368"/>
                <a:gd name="T8" fmla="*/ 0 w 155"/>
                <a:gd name="T9" fmla="*/ 1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5"/>
                <a:gd name="T16" fmla="*/ 0 h 368"/>
                <a:gd name="T17" fmla="*/ 155 w 155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5" h="368">
                  <a:moveTo>
                    <a:pt x="0" y="0"/>
                  </a:moveTo>
                  <a:cubicBezTo>
                    <a:pt x="43" y="26"/>
                    <a:pt x="87" y="52"/>
                    <a:pt x="112" y="80"/>
                  </a:cubicBezTo>
                  <a:cubicBezTo>
                    <a:pt x="137" y="108"/>
                    <a:pt x="149" y="135"/>
                    <a:pt x="152" y="168"/>
                  </a:cubicBezTo>
                  <a:cubicBezTo>
                    <a:pt x="155" y="201"/>
                    <a:pt x="143" y="247"/>
                    <a:pt x="128" y="280"/>
                  </a:cubicBezTo>
                  <a:cubicBezTo>
                    <a:pt x="113" y="313"/>
                    <a:pt x="88" y="340"/>
                    <a:pt x="64" y="36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163" name="Freeform 71"/>
            <p:cNvSpPr>
              <a:spLocks/>
            </p:cNvSpPr>
            <p:nvPr/>
          </p:nvSpPr>
          <p:spPr bwMode="auto">
            <a:xfrm>
              <a:off x="3280" y="1608"/>
              <a:ext cx="91" cy="280"/>
            </a:xfrm>
            <a:custGeom>
              <a:avLst/>
              <a:gdLst>
                <a:gd name="T0" fmla="*/ 0 w 155"/>
                <a:gd name="T1" fmla="*/ 0 h 368"/>
                <a:gd name="T2" fmla="*/ 1 w 155"/>
                <a:gd name="T3" fmla="*/ 2 h 368"/>
                <a:gd name="T4" fmla="*/ 1 w 155"/>
                <a:gd name="T5" fmla="*/ 3 h 368"/>
                <a:gd name="T6" fmla="*/ 1 w 155"/>
                <a:gd name="T7" fmla="*/ 5 h 368"/>
                <a:gd name="T8" fmla="*/ 1 w 155"/>
                <a:gd name="T9" fmla="*/ 6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5"/>
                <a:gd name="T16" fmla="*/ 0 h 368"/>
                <a:gd name="T17" fmla="*/ 155 w 155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5" h="368">
                  <a:moveTo>
                    <a:pt x="0" y="0"/>
                  </a:moveTo>
                  <a:cubicBezTo>
                    <a:pt x="43" y="26"/>
                    <a:pt x="87" y="52"/>
                    <a:pt x="112" y="80"/>
                  </a:cubicBezTo>
                  <a:cubicBezTo>
                    <a:pt x="137" y="108"/>
                    <a:pt x="149" y="135"/>
                    <a:pt x="152" y="168"/>
                  </a:cubicBezTo>
                  <a:cubicBezTo>
                    <a:pt x="155" y="201"/>
                    <a:pt x="143" y="247"/>
                    <a:pt x="128" y="280"/>
                  </a:cubicBezTo>
                  <a:cubicBezTo>
                    <a:pt x="113" y="313"/>
                    <a:pt x="88" y="340"/>
                    <a:pt x="64" y="36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164" name="Freeform 72"/>
            <p:cNvSpPr>
              <a:spLocks/>
            </p:cNvSpPr>
            <p:nvPr/>
          </p:nvSpPr>
          <p:spPr bwMode="auto">
            <a:xfrm>
              <a:off x="3376" y="1560"/>
              <a:ext cx="123" cy="376"/>
            </a:xfrm>
            <a:custGeom>
              <a:avLst/>
              <a:gdLst>
                <a:gd name="T0" fmla="*/ 0 w 155"/>
                <a:gd name="T1" fmla="*/ 0 h 368"/>
                <a:gd name="T2" fmla="*/ 3 w 155"/>
                <a:gd name="T3" fmla="*/ 110 h 368"/>
                <a:gd name="T4" fmla="*/ 5 w 155"/>
                <a:gd name="T5" fmla="*/ 233 h 368"/>
                <a:gd name="T6" fmla="*/ 4 w 155"/>
                <a:gd name="T7" fmla="*/ 386 h 368"/>
                <a:gd name="T8" fmla="*/ 2 w 155"/>
                <a:gd name="T9" fmla="*/ 509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5"/>
                <a:gd name="T16" fmla="*/ 0 h 368"/>
                <a:gd name="T17" fmla="*/ 155 w 155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5" h="368">
                  <a:moveTo>
                    <a:pt x="0" y="0"/>
                  </a:moveTo>
                  <a:cubicBezTo>
                    <a:pt x="43" y="26"/>
                    <a:pt x="87" y="52"/>
                    <a:pt x="112" y="80"/>
                  </a:cubicBezTo>
                  <a:cubicBezTo>
                    <a:pt x="137" y="108"/>
                    <a:pt x="149" y="135"/>
                    <a:pt x="152" y="168"/>
                  </a:cubicBezTo>
                  <a:cubicBezTo>
                    <a:pt x="155" y="201"/>
                    <a:pt x="143" y="247"/>
                    <a:pt x="128" y="280"/>
                  </a:cubicBezTo>
                  <a:cubicBezTo>
                    <a:pt x="113" y="313"/>
                    <a:pt x="88" y="340"/>
                    <a:pt x="64" y="36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sp>
        <p:nvSpPr>
          <p:cNvPr id="6160" name="Text Box 73"/>
          <p:cNvSpPr txBox="1">
            <a:spLocks noChangeArrowheads="1"/>
          </p:cNvSpPr>
          <p:nvPr/>
        </p:nvSpPr>
        <p:spPr bwMode="auto">
          <a:xfrm>
            <a:off x="431800" y="382588"/>
            <a:ext cx="3478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400" b="1" dirty="0"/>
              <a:t>Amplitude Modulation</a:t>
            </a:r>
          </a:p>
        </p:txBody>
      </p:sp>
    </p:spTree>
    <p:extLst>
      <p:ext uri="{BB962C8B-B14F-4D97-AF65-F5344CB8AC3E}">
        <p14:creationId xmlns:p14="http://schemas.microsoft.com/office/powerpoint/2010/main" val="3282339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49275" y="1289050"/>
            <a:ext cx="3581400" cy="990600"/>
            <a:chOff x="1584" y="2448"/>
            <a:chExt cx="3840" cy="879"/>
          </a:xfrm>
        </p:grpSpPr>
        <p:sp>
          <p:nvSpPr>
            <p:cNvPr id="7206" name="Freeform 6"/>
            <p:cNvSpPr>
              <a:spLocks/>
            </p:cNvSpPr>
            <p:nvPr/>
          </p:nvSpPr>
          <p:spPr bwMode="auto">
            <a:xfrm>
              <a:off x="1584" y="2508"/>
              <a:ext cx="192" cy="777"/>
            </a:xfrm>
            <a:custGeom>
              <a:avLst/>
              <a:gdLst>
                <a:gd name="T0" fmla="*/ 0 w 1536"/>
                <a:gd name="T1" fmla="*/ 1 h 1152"/>
                <a:gd name="T2" fmla="*/ 0 w 1536"/>
                <a:gd name="T3" fmla="*/ 0 h 1152"/>
                <a:gd name="T4" fmla="*/ 0 w 1536"/>
                <a:gd name="T5" fmla="*/ 1 h 1152"/>
                <a:gd name="T6" fmla="*/ 0 w 1536"/>
                <a:gd name="T7" fmla="*/ 3 h 1152"/>
                <a:gd name="T8" fmla="*/ 0 w 1536"/>
                <a:gd name="T9" fmla="*/ 1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07" name="Freeform 7"/>
            <p:cNvSpPr>
              <a:spLocks/>
            </p:cNvSpPr>
            <p:nvPr/>
          </p:nvSpPr>
          <p:spPr bwMode="auto">
            <a:xfrm>
              <a:off x="1776" y="2553"/>
              <a:ext cx="192" cy="528"/>
            </a:xfrm>
            <a:custGeom>
              <a:avLst/>
              <a:gdLst>
                <a:gd name="T0" fmla="*/ 0 w 192"/>
                <a:gd name="T1" fmla="*/ 339 h 528"/>
                <a:gd name="T2" fmla="*/ 48 w 192"/>
                <a:gd name="T3" fmla="*/ 11 h 528"/>
                <a:gd name="T4" fmla="*/ 96 w 192"/>
                <a:gd name="T5" fmla="*/ 270 h 528"/>
                <a:gd name="T6" fmla="*/ 144 w 192"/>
                <a:gd name="T7" fmla="*/ 528 h 528"/>
                <a:gd name="T8" fmla="*/ 192 w 192"/>
                <a:gd name="T9" fmla="*/ 270 h 5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28"/>
                <a:gd name="T17" fmla="*/ 192 w 192"/>
                <a:gd name="T18" fmla="*/ 528 h 5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28">
                  <a:moveTo>
                    <a:pt x="0" y="339"/>
                  </a:moveTo>
                  <a:cubicBezTo>
                    <a:pt x="8" y="285"/>
                    <a:pt x="32" y="22"/>
                    <a:pt x="48" y="11"/>
                  </a:cubicBezTo>
                  <a:cubicBezTo>
                    <a:pt x="64" y="0"/>
                    <a:pt x="80" y="183"/>
                    <a:pt x="96" y="270"/>
                  </a:cubicBezTo>
                  <a:cubicBezTo>
                    <a:pt x="112" y="356"/>
                    <a:pt x="128" y="528"/>
                    <a:pt x="144" y="528"/>
                  </a:cubicBezTo>
                  <a:cubicBezTo>
                    <a:pt x="160" y="528"/>
                    <a:pt x="176" y="399"/>
                    <a:pt x="192" y="27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08" name="Freeform 8"/>
            <p:cNvSpPr>
              <a:spLocks/>
            </p:cNvSpPr>
            <p:nvPr/>
          </p:nvSpPr>
          <p:spPr bwMode="auto">
            <a:xfrm>
              <a:off x="1965" y="2743"/>
              <a:ext cx="202" cy="229"/>
            </a:xfrm>
            <a:custGeom>
              <a:avLst/>
              <a:gdLst>
                <a:gd name="T0" fmla="*/ 0 w 202"/>
                <a:gd name="T1" fmla="*/ 98 h 229"/>
                <a:gd name="T2" fmla="*/ 48 w 202"/>
                <a:gd name="T3" fmla="*/ 8 h 229"/>
                <a:gd name="T4" fmla="*/ 99 w 202"/>
                <a:gd name="T5" fmla="*/ 149 h 229"/>
                <a:gd name="T6" fmla="*/ 135 w 202"/>
                <a:gd name="T7" fmla="*/ 224 h 229"/>
                <a:gd name="T8" fmla="*/ 192 w 202"/>
                <a:gd name="T9" fmla="*/ 119 h 229"/>
                <a:gd name="T10" fmla="*/ 195 w 202"/>
                <a:gd name="T11" fmla="*/ 149 h 2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02"/>
                <a:gd name="T19" fmla="*/ 0 h 229"/>
                <a:gd name="T20" fmla="*/ 202 w 202"/>
                <a:gd name="T21" fmla="*/ 229 h 22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02" h="229">
                  <a:moveTo>
                    <a:pt x="0" y="98"/>
                  </a:moveTo>
                  <a:cubicBezTo>
                    <a:pt x="8" y="83"/>
                    <a:pt x="32" y="0"/>
                    <a:pt x="48" y="8"/>
                  </a:cubicBezTo>
                  <a:cubicBezTo>
                    <a:pt x="64" y="16"/>
                    <a:pt x="85" y="113"/>
                    <a:pt x="99" y="149"/>
                  </a:cubicBezTo>
                  <a:cubicBezTo>
                    <a:pt x="113" y="185"/>
                    <a:pt x="120" y="229"/>
                    <a:pt x="135" y="224"/>
                  </a:cubicBezTo>
                  <a:cubicBezTo>
                    <a:pt x="150" y="219"/>
                    <a:pt x="182" y="131"/>
                    <a:pt x="192" y="119"/>
                  </a:cubicBezTo>
                  <a:cubicBezTo>
                    <a:pt x="202" y="107"/>
                    <a:pt x="195" y="143"/>
                    <a:pt x="195" y="149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09" name="Freeform 9"/>
            <p:cNvSpPr>
              <a:spLocks/>
            </p:cNvSpPr>
            <p:nvPr/>
          </p:nvSpPr>
          <p:spPr bwMode="auto">
            <a:xfrm>
              <a:off x="2154" y="2745"/>
              <a:ext cx="198" cy="303"/>
            </a:xfrm>
            <a:custGeom>
              <a:avLst/>
              <a:gdLst>
                <a:gd name="T0" fmla="*/ 0 w 198"/>
                <a:gd name="T1" fmla="*/ 129 h 303"/>
                <a:gd name="T2" fmla="*/ 48 w 198"/>
                <a:gd name="T3" fmla="*/ 3 h 303"/>
                <a:gd name="T4" fmla="*/ 102 w 198"/>
                <a:gd name="T5" fmla="*/ 147 h 303"/>
                <a:gd name="T6" fmla="*/ 150 w 198"/>
                <a:gd name="T7" fmla="*/ 303 h 303"/>
                <a:gd name="T8" fmla="*/ 198 w 198"/>
                <a:gd name="T9" fmla="*/ 147 h 3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8"/>
                <a:gd name="T16" fmla="*/ 0 h 303"/>
                <a:gd name="T17" fmla="*/ 198 w 198"/>
                <a:gd name="T18" fmla="*/ 303 h 3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8" h="303">
                  <a:moveTo>
                    <a:pt x="0" y="129"/>
                  </a:moveTo>
                  <a:cubicBezTo>
                    <a:pt x="8" y="108"/>
                    <a:pt x="31" y="0"/>
                    <a:pt x="48" y="3"/>
                  </a:cubicBezTo>
                  <a:cubicBezTo>
                    <a:pt x="65" y="6"/>
                    <a:pt x="85" y="97"/>
                    <a:pt x="102" y="147"/>
                  </a:cubicBezTo>
                  <a:cubicBezTo>
                    <a:pt x="119" y="197"/>
                    <a:pt x="134" y="303"/>
                    <a:pt x="150" y="303"/>
                  </a:cubicBezTo>
                  <a:cubicBezTo>
                    <a:pt x="166" y="303"/>
                    <a:pt x="188" y="179"/>
                    <a:pt x="198" y="147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10" name="Freeform 10"/>
            <p:cNvSpPr>
              <a:spLocks/>
            </p:cNvSpPr>
            <p:nvPr/>
          </p:nvSpPr>
          <p:spPr bwMode="auto">
            <a:xfrm>
              <a:off x="2352" y="2622"/>
              <a:ext cx="192" cy="546"/>
            </a:xfrm>
            <a:custGeom>
              <a:avLst/>
              <a:gdLst>
                <a:gd name="T0" fmla="*/ 0 w 192"/>
                <a:gd name="T1" fmla="*/ 270 h 546"/>
                <a:gd name="T2" fmla="*/ 51 w 192"/>
                <a:gd name="T3" fmla="*/ 0 h 546"/>
                <a:gd name="T4" fmla="*/ 96 w 192"/>
                <a:gd name="T5" fmla="*/ 270 h 546"/>
                <a:gd name="T6" fmla="*/ 147 w 192"/>
                <a:gd name="T7" fmla="*/ 546 h 546"/>
                <a:gd name="T8" fmla="*/ 192 w 192"/>
                <a:gd name="T9" fmla="*/ 270 h 5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46"/>
                <a:gd name="T17" fmla="*/ 192 w 192"/>
                <a:gd name="T18" fmla="*/ 546 h 5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46">
                  <a:moveTo>
                    <a:pt x="0" y="270"/>
                  </a:moveTo>
                  <a:cubicBezTo>
                    <a:pt x="8" y="225"/>
                    <a:pt x="35" y="0"/>
                    <a:pt x="51" y="0"/>
                  </a:cubicBezTo>
                  <a:cubicBezTo>
                    <a:pt x="67" y="0"/>
                    <a:pt x="80" y="179"/>
                    <a:pt x="96" y="270"/>
                  </a:cubicBezTo>
                  <a:cubicBezTo>
                    <a:pt x="112" y="361"/>
                    <a:pt x="131" y="546"/>
                    <a:pt x="147" y="546"/>
                  </a:cubicBezTo>
                  <a:cubicBezTo>
                    <a:pt x="163" y="546"/>
                    <a:pt x="183" y="327"/>
                    <a:pt x="192" y="27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11" name="Freeform 11"/>
            <p:cNvSpPr>
              <a:spLocks/>
            </p:cNvSpPr>
            <p:nvPr/>
          </p:nvSpPr>
          <p:spPr bwMode="auto">
            <a:xfrm>
              <a:off x="2544" y="2520"/>
              <a:ext cx="192" cy="807"/>
            </a:xfrm>
            <a:custGeom>
              <a:avLst/>
              <a:gdLst>
                <a:gd name="T0" fmla="*/ 0 w 192"/>
                <a:gd name="T1" fmla="*/ 372 h 807"/>
                <a:gd name="T2" fmla="*/ 42 w 192"/>
                <a:gd name="T3" fmla="*/ 0 h 807"/>
                <a:gd name="T4" fmla="*/ 96 w 192"/>
                <a:gd name="T5" fmla="*/ 372 h 807"/>
                <a:gd name="T6" fmla="*/ 147 w 192"/>
                <a:gd name="T7" fmla="*/ 750 h 807"/>
                <a:gd name="T8" fmla="*/ 156 w 192"/>
                <a:gd name="T9" fmla="*/ 714 h 807"/>
                <a:gd name="T10" fmla="*/ 192 w 192"/>
                <a:gd name="T11" fmla="*/ 372 h 8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2"/>
                <a:gd name="T19" fmla="*/ 0 h 807"/>
                <a:gd name="T20" fmla="*/ 192 w 192"/>
                <a:gd name="T21" fmla="*/ 807 h 80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92" h="807">
                  <a:moveTo>
                    <a:pt x="0" y="372"/>
                  </a:moveTo>
                  <a:cubicBezTo>
                    <a:pt x="7" y="310"/>
                    <a:pt x="26" y="0"/>
                    <a:pt x="42" y="0"/>
                  </a:cubicBezTo>
                  <a:cubicBezTo>
                    <a:pt x="58" y="0"/>
                    <a:pt x="79" y="247"/>
                    <a:pt x="96" y="372"/>
                  </a:cubicBezTo>
                  <a:cubicBezTo>
                    <a:pt x="113" y="497"/>
                    <a:pt x="137" y="693"/>
                    <a:pt x="147" y="750"/>
                  </a:cubicBezTo>
                  <a:cubicBezTo>
                    <a:pt x="157" y="807"/>
                    <a:pt x="148" y="777"/>
                    <a:pt x="156" y="714"/>
                  </a:cubicBezTo>
                  <a:cubicBezTo>
                    <a:pt x="164" y="651"/>
                    <a:pt x="184" y="443"/>
                    <a:pt x="192" y="372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12" name="Freeform 12"/>
            <p:cNvSpPr>
              <a:spLocks/>
            </p:cNvSpPr>
            <p:nvPr/>
          </p:nvSpPr>
          <p:spPr bwMode="auto">
            <a:xfrm>
              <a:off x="2736" y="2448"/>
              <a:ext cx="192" cy="801"/>
            </a:xfrm>
            <a:custGeom>
              <a:avLst/>
              <a:gdLst>
                <a:gd name="T0" fmla="*/ 0 w 192"/>
                <a:gd name="T1" fmla="*/ 444 h 801"/>
                <a:gd name="T2" fmla="*/ 45 w 192"/>
                <a:gd name="T3" fmla="*/ 0 h 801"/>
                <a:gd name="T4" fmla="*/ 96 w 192"/>
                <a:gd name="T5" fmla="*/ 444 h 801"/>
                <a:gd name="T6" fmla="*/ 147 w 192"/>
                <a:gd name="T7" fmla="*/ 801 h 801"/>
                <a:gd name="T8" fmla="*/ 192 w 192"/>
                <a:gd name="T9" fmla="*/ 444 h 8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801"/>
                <a:gd name="T17" fmla="*/ 192 w 192"/>
                <a:gd name="T18" fmla="*/ 801 h 80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801">
                  <a:moveTo>
                    <a:pt x="0" y="444"/>
                  </a:moveTo>
                  <a:cubicBezTo>
                    <a:pt x="8" y="370"/>
                    <a:pt x="29" y="0"/>
                    <a:pt x="45" y="0"/>
                  </a:cubicBezTo>
                  <a:cubicBezTo>
                    <a:pt x="61" y="0"/>
                    <a:pt x="79" y="311"/>
                    <a:pt x="96" y="444"/>
                  </a:cubicBezTo>
                  <a:cubicBezTo>
                    <a:pt x="113" y="577"/>
                    <a:pt x="131" y="801"/>
                    <a:pt x="147" y="801"/>
                  </a:cubicBezTo>
                  <a:cubicBezTo>
                    <a:pt x="163" y="801"/>
                    <a:pt x="183" y="518"/>
                    <a:pt x="192" y="444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13" name="Freeform 13"/>
            <p:cNvSpPr>
              <a:spLocks/>
            </p:cNvSpPr>
            <p:nvPr/>
          </p:nvSpPr>
          <p:spPr bwMode="auto">
            <a:xfrm>
              <a:off x="2928" y="2556"/>
              <a:ext cx="192" cy="549"/>
            </a:xfrm>
            <a:custGeom>
              <a:avLst/>
              <a:gdLst>
                <a:gd name="T0" fmla="*/ 0 w 192"/>
                <a:gd name="T1" fmla="*/ 336 h 549"/>
                <a:gd name="T2" fmla="*/ 48 w 192"/>
                <a:gd name="T3" fmla="*/ 0 h 549"/>
                <a:gd name="T4" fmla="*/ 96 w 192"/>
                <a:gd name="T5" fmla="*/ 336 h 549"/>
                <a:gd name="T6" fmla="*/ 147 w 192"/>
                <a:gd name="T7" fmla="*/ 549 h 549"/>
                <a:gd name="T8" fmla="*/ 192 w 192"/>
                <a:gd name="T9" fmla="*/ 336 h 5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49"/>
                <a:gd name="T17" fmla="*/ 192 w 192"/>
                <a:gd name="T18" fmla="*/ 549 h 5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49">
                  <a:moveTo>
                    <a:pt x="0" y="336"/>
                  </a:moveTo>
                  <a:cubicBezTo>
                    <a:pt x="8" y="280"/>
                    <a:pt x="32" y="0"/>
                    <a:pt x="48" y="0"/>
                  </a:cubicBezTo>
                  <a:cubicBezTo>
                    <a:pt x="64" y="0"/>
                    <a:pt x="80" y="245"/>
                    <a:pt x="96" y="336"/>
                  </a:cubicBezTo>
                  <a:cubicBezTo>
                    <a:pt x="112" y="427"/>
                    <a:pt x="131" y="549"/>
                    <a:pt x="147" y="549"/>
                  </a:cubicBezTo>
                  <a:cubicBezTo>
                    <a:pt x="163" y="549"/>
                    <a:pt x="183" y="380"/>
                    <a:pt x="192" y="33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14" name="Freeform 14"/>
            <p:cNvSpPr>
              <a:spLocks/>
            </p:cNvSpPr>
            <p:nvPr/>
          </p:nvSpPr>
          <p:spPr bwMode="auto">
            <a:xfrm>
              <a:off x="3120" y="2703"/>
              <a:ext cx="186" cy="283"/>
            </a:xfrm>
            <a:custGeom>
              <a:avLst/>
              <a:gdLst>
                <a:gd name="T0" fmla="*/ 0 w 186"/>
                <a:gd name="T1" fmla="*/ 189 h 283"/>
                <a:gd name="T2" fmla="*/ 45 w 186"/>
                <a:gd name="T3" fmla="*/ 0 h 283"/>
                <a:gd name="T4" fmla="*/ 96 w 186"/>
                <a:gd name="T5" fmla="*/ 189 h 283"/>
                <a:gd name="T6" fmla="*/ 144 w 186"/>
                <a:gd name="T7" fmla="*/ 279 h 283"/>
                <a:gd name="T8" fmla="*/ 186 w 186"/>
                <a:gd name="T9" fmla="*/ 168 h 2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6"/>
                <a:gd name="T16" fmla="*/ 0 h 283"/>
                <a:gd name="T17" fmla="*/ 186 w 186"/>
                <a:gd name="T18" fmla="*/ 283 h 2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6" h="283">
                  <a:moveTo>
                    <a:pt x="0" y="189"/>
                  </a:moveTo>
                  <a:cubicBezTo>
                    <a:pt x="7" y="158"/>
                    <a:pt x="29" y="0"/>
                    <a:pt x="45" y="0"/>
                  </a:cubicBezTo>
                  <a:cubicBezTo>
                    <a:pt x="61" y="0"/>
                    <a:pt x="80" y="143"/>
                    <a:pt x="96" y="189"/>
                  </a:cubicBezTo>
                  <a:cubicBezTo>
                    <a:pt x="112" y="235"/>
                    <a:pt x="129" y="283"/>
                    <a:pt x="144" y="279"/>
                  </a:cubicBezTo>
                  <a:cubicBezTo>
                    <a:pt x="159" y="275"/>
                    <a:pt x="177" y="191"/>
                    <a:pt x="186" y="16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15" name="Freeform 15"/>
            <p:cNvSpPr>
              <a:spLocks/>
            </p:cNvSpPr>
            <p:nvPr/>
          </p:nvSpPr>
          <p:spPr bwMode="auto">
            <a:xfrm>
              <a:off x="3309" y="2773"/>
              <a:ext cx="192" cy="258"/>
            </a:xfrm>
            <a:custGeom>
              <a:avLst/>
              <a:gdLst>
                <a:gd name="T0" fmla="*/ 0 w 192"/>
                <a:gd name="T1" fmla="*/ 101 h 258"/>
                <a:gd name="T2" fmla="*/ 33 w 192"/>
                <a:gd name="T3" fmla="*/ 2 h 258"/>
                <a:gd name="T4" fmla="*/ 90 w 192"/>
                <a:gd name="T5" fmla="*/ 116 h 258"/>
                <a:gd name="T6" fmla="*/ 141 w 192"/>
                <a:gd name="T7" fmla="*/ 254 h 258"/>
                <a:gd name="T8" fmla="*/ 192 w 192"/>
                <a:gd name="T9" fmla="*/ 92 h 2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258"/>
                <a:gd name="T17" fmla="*/ 192 w 192"/>
                <a:gd name="T18" fmla="*/ 258 h 2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258">
                  <a:moveTo>
                    <a:pt x="0" y="101"/>
                  </a:moveTo>
                  <a:cubicBezTo>
                    <a:pt x="5" y="85"/>
                    <a:pt x="18" y="0"/>
                    <a:pt x="33" y="2"/>
                  </a:cubicBezTo>
                  <a:cubicBezTo>
                    <a:pt x="48" y="4"/>
                    <a:pt x="72" y="74"/>
                    <a:pt x="90" y="116"/>
                  </a:cubicBezTo>
                  <a:cubicBezTo>
                    <a:pt x="108" y="158"/>
                    <a:pt x="124" y="258"/>
                    <a:pt x="141" y="254"/>
                  </a:cubicBezTo>
                  <a:cubicBezTo>
                    <a:pt x="158" y="250"/>
                    <a:pt x="181" y="126"/>
                    <a:pt x="192" y="92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16" name="Freeform 16"/>
            <p:cNvSpPr>
              <a:spLocks/>
            </p:cNvSpPr>
            <p:nvPr/>
          </p:nvSpPr>
          <p:spPr bwMode="auto">
            <a:xfrm>
              <a:off x="3495" y="2555"/>
              <a:ext cx="201" cy="694"/>
            </a:xfrm>
            <a:custGeom>
              <a:avLst/>
              <a:gdLst>
                <a:gd name="T0" fmla="*/ 0 w 201"/>
                <a:gd name="T1" fmla="*/ 328 h 694"/>
                <a:gd name="T2" fmla="*/ 54 w 201"/>
                <a:gd name="T3" fmla="*/ 1 h 694"/>
                <a:gd name="T4" fmla="*/ 105 w 201"/>
                <a:gd name="T5" fmla="*/ 337 h 694"/>
                <a:gd name="T6" fmla="*/ 147 w 201"/>
                <a:gd name="T7" fmla="*/ 694 h 694"/>
                <a:gd name="T8" fmla="*/ 201 w 201"/>
                <a:gd name="T9" fmla="*/ 337 h 6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1"/>
                <a:gd name="T16" fmla="*/ 0 h 694"/>
                <a:gd name="T17" fmla="*/ 201 w 201"/>
                <a:gd name="T18" fmla="*/ 694 h 6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1" h="694">
                  <a:moveTo>
                    <a:pt x="0" y="328"/>
                  </a:moveTo>
                  <a:cubicBezTo>
                    <a:pt x="9" y="274"/>
                    <a:pt x="37" y="0"/>
                    <a:pt x="54" y="1"/>
                  </a:cubicBezTo>
                  <a:cubicBezTo>
                    <a:pt x="71" y="2"/>
                    <a:pt x="90" y="222"/>
                    <a:pt x="105" y="337"/>
                  </a:cubicBezTo>
                  <a:cubicBezTo>
                    <a:pt x="120" y="452"/>
                    <a:pt x="131" y="694"/>
                    <a:pt x="147" y="694"/>
                  </a:cubicBezTo>
                  <a:cubicBezTo>
                    <a:pt x="163" y="694"/>
                    <a:pt x="190" y="411"/>
                    <a:pt x="201" y="337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17" name="Freeform 17"/>
            <p:cNvSpPr>
              <a:spLocks/>
            </p:cNvSpPr>
            <p:nvPr/>
          </p:nvSpPr>
          <p:spPr bwMode="auto">
            <a:xfrm>
              <a:off x="3696" y="2481"/>
              <a:ext cx="192" cy="645"/>
            </a:xfrm>
            <a:custGeom>
              <a:avLst/>
              <a:gdLst>
                <a:gd name="T0" fmla="*/ 0 w 192"/>
                <a:gd name="T1" fmla="*/ 411 h 645"/>
                <a:gd name="T2" fmla="*/ 45 w 192"/>
                <a:gd name="T3" fmla="*/ 0 h 645"/>
                <a:gd name="T4" fmla="*/ 96 w 192"/>
                <a:gd name="T5" fmla="*/ 411 h 645"/>
                <a:gd name="T6" fmla="*/ 147 w 192"/>
                <a:gd name="T7" fmla="*/ 645 h 645"/>
                <a:gd name="T8" fmla="*/ 192 w 192"/>
                <a:gd name="T9" fmla="*/ 411 h 6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645"/>
                <a:gd name="T17" fmla="*/ 192 w 192"/>
                <a:gd name="T18" fmla="*/ 645 h 64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645">
                  <a:moveTo>
                    <a:pt x="0" y="411"/>
                  </a:moveTo>
                  <a:cubicBezTo>
                    <a:pt x="7" y="343"/>
                    <a:pt x="29" y="0"/>
                    <a:pt x="45" y="0"/>
                  </a:cubicBezTo>
                  <a:cubicBezTo>
                    <a:pt x="61" y="0"/>
                    <a:pt x="79" y="304"/>
                    <a:pt x="96" y="411"/>
                  </a:cubicBezTo>
                  <a:cubicBezTo>
                    <a:pt x="113" y="518"/>
                    <a:pt x="131" y="645"/>
                    <a:pt x="147" y="645"/>
                  </a:cubicBezTo>
                  <a:cubicBezTo>
                    <a:pt x="163" y="645"/>
                    <a:pt x="183" y="460"/>
                    <a:pt x="192" y="411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18" name="Freeform 18"/>
            <p:cNvSpPr>
              <a:spLocks/>
            </p:cNvSpPr>
            <p:nvPr/>
          </p:nvSpPr>
          <p:spPr bwMode="auto">
            <a:xfrm>
              <a:off x="3888" y="2667"/>
              <a:ext cx="192" cy="489"/>
            </a:xfrm>
            <a:custGeom>
              <a:avLst/>
              <a:gdLst>
                <a:gd name="T0" fmla="*/ 0 w 192"/>
                <a:gd name="T1" fmla="*/ 225 h 489"/>
                <a:gd name="T2" fmla="*/ 39 w 192"/>
                <a:gd name="T3" fmla="*/ 0 h 489"/>
                <a:gd name="T4" fmla="*/ 96 w 192"/>
                <a:gd name="T5" fmla="*/ 225 h 489"/>
                <a:gd name="T6" fmla="*/ 141 w 192"/>
                <a:gd name="T7" fmla="*/ 489 h 489"/>
                <a:gd name="T8" fmla="*/ 192 w 192"/>
                <a:gd name="T9" fmla="*/ 225 h 4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489"/>
                <a:gd name="T17" fmla="*/ 192 w 192"/>
                <a:gd name="T18" fmla="*/ 489 h 4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489">
                  <a:moveTo>
                    <a:pt x="0" y="225"/>
                  </a:moveTo>
                  <a:cubicBezTo>
                    <a:pt x="6" y="188"/>
                    <a:pt x="23" y="0"/>
                    <a:pt x="39" y="0"/>
                  </a:cubicBezTo>
                  <a:cubicBezTo>
                    <a:pt x="55" y="0"/>
                    <a:pt x="79" y="144"/>
                    <a:pt x="96" y="225"/>
                  </a:cubicBezTo>
                  <a:cubicBezTo>
                    <a:pt x="113" y="306"/>
                    <a:pt x="125" y="489"/>
                    <a:pt x="141" y="489"/>
                  </a:cubicBezTo>
                  <a:cubicBezTo>
                    <a:pt x="157" y="489"/>
                    <a:pt x="182" y="280"/>
                    <a:pt x="192" y="225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19" name="Freeform 19"/>
            <p:cNvSpPr>
              <a:spLocks/>
            </p:cNvSpPr>
            <p:nvPr/>
          </p:nvSpPr>
          <p:spPr bwMode="auto">
            <a:xfrm>
              <a:off x="4080" y="2520"/>
              <a:ext cx="192" cy="654"/>
            </a:xfrm>
            <a:custGeom>
              <a:avLst/>
              <a:gdLst>
                <a:gd name="T0" fmla="*/ 0 w 192"/>
                <a:gd name="T1" fmla="*/ 372 h 654"/>
                <a:gd name="T2" fmla="*/ 51 w 192"/>
                <a:gd name="T3" fmla="*/ 0 h 654"/>
                <a:gd name="T4" fmla="*/ 96 w 192"/>
                <a:gd name="T5" fmla="*/ 372 h 654"/>
                <a:gd name="T6" fmla="*/ 147 w 192"/>
                <a:gd name="T7" fmla="*/ 654 h 654"/>
                <a:gd name="T8" fmla="*/ 192 w 192"/>
                <a:gd name="T9" fmla="*/ 372 h 6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654"/>
                <a:gd name="T17" fmla="*/ 192 w 192"/>
                <a:gd name="T18" fmla="*/ 654 h 6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654">
                  <a:moveTo>
                    <a:pt x="0" y="372"/>
                  </a:moveTo>
                  <a:cubicBezTo>
                    <a:pt x="8" y="310"/>
                    <a:pt x="35" y="0"/>
                    <a:pt x="51" y="0"/>
                  </a:cubicBezTo>
                  <a:cubicBezTo>
                    <a:pt x="67" y="0"/>
                    <a:pt x="80" y="263"/>
                    <a:pt x="96" y="372"/>
                  </a:cubicBezTo>
                  <a:cubicBezTo>
                    <a:pt x="112" y="481"/>
                    <a:pt x="131" y="654"/>
                    <a:pt x="147" y="654"/>
                  </a:cubicBezTo>
                  <a:cubicBezTo>
                    <a:pt x="163" y="654"/>
                    <a:pt x="183" y="431"/>
                    <a:pt x="192" y="372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20" name="Freeform 20"/>
            <p:cNvSpPr>
              <a:spLocks/>
            </p:cNvSpPr>
            <p:nvPr/>
          </p:nvSpPr>
          <p:spPr bwMode="auto">
            <a:xfrm>
              <a:off x="4272" y="2637"/>
              <a:ext cx="192" cy="384"/>
            </a:xfrm>
            <a:custGeom>
              <a:avLst/>
              <a:gdLst>
                <a:gd name="T0" fmla="*/ 0 w 192"/>
                <a:gd name="T1" fmla="*/ 255 h 384"/>
                <a:gd name="T2" fmla="*/ 45 w 192"/>
                <a:gd name="T3" fmla="*/ 0 h 384"/>
                <a:gd name="T4" fmla="*/ 96 w 192"/>
                <a:gd name="T5" fmla="*/ 255 h 384"/>
                <a:gd name="T6" fmla="*/ 144 w 192"/>
                <a:gd name="T7" fmla="*/ 384 h 384"/>
                <a:gd name="T8" fmla="*/ 192 w 192"/>
                <a:gd name="T9" fmla="*/ 255 h 3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384"/>
                <a:gd name="T17" fmla="*/ 192 w 192"/>
                <a:gd name="T18" fmla="*/ 384 h 3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384">
                  <a:moveTo>
                    <a:pt x="0" y="255"/>
                  </a:moveTo>
                  <a:cubicBezTo>
                    <a:pt x="7" y="213"/>
                    <a:pt x="29" y="0"/>
                    <a:pt x="45" y="0"/>
                  </a:cubicBezTo>
                  <a:cubicBezTo>
                    <a:pt x="61" y="0"/>
                    <a:pt x="80" y="191"/>
                    <a:pt x="96" y="255"/>
                  </a:cubicBezTo>
                  <a:cubicBezTo>
                    <a:pt x="112" y="319"/>
                    <a:pt x="128" y="384"/>
                    <a:pt x="144" y="384"/>
                  </a:cubicBezTo>
                  <a:cubicBezTo>
                    <a:pt x="160" y="384"/>
                    <a:pt x="182" y="282"/>
                    <a:pt x="192" y="255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21" name="Freeform 21"/>
            <p:cNvSpPr>
              <a:spLocks/>
            </p:cNvSpPr>
            <p:nvPr/>
          </p:nvSpPr>
          <p:spPr bwMode="auto">
            <a:xfrm>
              <a:off x="4464" y="2751"/>
              <a:ext cx="192" cy="267"/>
            </a:xfrm>
            <a:custGeom>
              <a:avLst/>
              <a:gdLst>
                <a:gd name="T0" fmla="*/ 0 w 192"/>
                <a:gd name="T1" fmla="*/ 141 h 267"/>
                <a:gd name="T2" fmla="*/ 45 w 192"/>
                <a:gd name="T3" fmla="*/ 0 h 267"/>
                <a:gd name="T4" fmla="*/ 96 w 192"/>
                <a:gd name="T5" fmla="*/ 141 h 267"/>
                <a:gd name="T6" fmla="*/ 150 w 192"/>
                <a:gd name="T7" fmla="*/ 267 h 267"/>
                <a:gd name="T8" fmla="*/ 192 w 192"/>
                <a:gd name="T9" fmla="*/ 141 h 2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267"/>
                <a:gd name="T17" fmla="*/ 192 w 192"/>
                <a:gd name="T18" fmla="*/ 267 h 2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267">
                  <a:moveTo>
                    <a:pt x="0" y="141"/>
                  </a:moveTo>
                  <a:cubicBezTo>
                    <a:pt x="7" y="118"/>
                    <a:pt x="29" y="0"/>
                    <a:pt x="45" y="0"/>
                  </a:cubicBezTo>
                  <a:cubicBezTo>
                    <a:pt x="61" y="0"/>
                    <a:pt x="79" y="97"/>
                    <a:pt x="96" y="141"/>
                  </a:cubicBezTo>
                  <a:cubicBezTo>
                    <a:pt x="113" y="185"/>
                    <a:pt x="134" y="267"/>
                    <a:pt x="150" y="267"/>
                  </a:cubicBezTo>
                  <a:cubicBezTo>
                    <a:pt x="166" y="267"/>
                    <a:pt x="183" y="167"/>
                    <a:pt x="192" y="141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22" name="Freeform 22"/>
            <p:cNvSpPr>
              <a:spLocks/>
            </p:cNvSpPr>
            <p:nvPr/>
          </p:nvSpPr>
          <p:spPr bwMode="auto">
            <a:xfrm>
              <a:off x="4656" y="2658"/>
              <a:ext cx="192" cy="507"/>
            </a:xfrm>
            <a:custGeom>
              <a:avLst/>
              <a:gdLst>
                <a:gd name="T0" fmla="*/ 0 w 192"/>
                <a:gd name="T1" fmla="*/ 234 h 507"/>
                <a:gd name="T2" fmla="*/ 45 w 192"/>
                <a:gd name="T3" fmla="*/ 0 h 507"/>
                <a:gd name="T4" fmla="*/ 96 w 192"/>
                <a:gd name="T5" fmla="*/ 234 h 507"/>
                <a:gd name="T6" fmla="*/ 147 w 192"/>
                <a:gd name="T7" fmla="*/ 507 h 507"/>
                <a:gd name="T8" fmla="*/ 192 w 192"/>
                <a:gd name="T9" fmla="*/ 234 h 5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07"/>
                <a:gd name="T17" fmla="*/ 192 w 192"/>
                <a:gd name="T18" fmla="*/ 507 h 50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07">
                  <a:moveTo>
                    <a:pt x="0" y="234"/>
                  </a:moveTo>
                  <a:cubicBezTo>
                    <a:pt x="8" y="195"/>
                    <a:pt x="29" y="0"/>
                    <a:pt x="45" y="0"/>
                  </a:cubicBezTo>
                  <a:cubicBezTo>
                    <a:pt x="61" y="0"/>
                    <a:pt x="79" y="150"/>
                    <a:pt x="96" y="234"/>
                  </a:cubicBezTo>
                  <a:cubicBezTo>
                    <a:pt x="113" y="318"/>
                    <a:pt x="131" y="507"/>
                    <a:pt x="147" y="507"/>
                  </a:cubicBezTo>
                  <a:cubicBezTo>
                    <a:pt x="163" y="507"/>
                    <a:pt x="183" y="291"/>
                    <a:pt x="192" y="234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23" name="Freeform 23"/>
            <p:cNvSpPr>
              <a:spLocks/>
            </p:cNvSpPr>
            <p:nvPr/>
          </p:nvSpPr>
          <p:spPr bwMode="auto">
            <a:xfrm>
              <a:off x="4848" y="2562"/>
              <a:ext cx="192" cy="534"/>
            </a:xfrm>
            <a:custGeom>
              <a:avLst/>
              <a:gdLst>
                <a:gd name="T0" fmla="*/ 0 w 192"/>
                <a:gd name="T1" fmla="*/ 330 h 534"/>
                <a:gd name="T2" fmla="*/ 48 w 192"/>
                <a:gd name="T3" fmla="*/ 0 h 534"/>
                <a:gd name="T4" fmla="*/ 96 w 192"/>
                <a:gd name="T5" fmla="*/ 330 h 534"/>
                <a:gd name="T6" fmla="*/ 147 w 192"/>
                <a:gd name="T7" fmla="*/ 534 h 534"/>
                <a:gd name="T8" fmla="*/ 192 w 192"/>
                <a:gd name="T9" fmla="*/ 330 h 5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34"/>
                <a:gd name="T17" fmla="*/ 192 w 192"/>
                <a:gd name="T18" fmla="*/ 534 h 5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34">
                  <a:moveTo>
                    <a:pt x="0" y="330"/>
                  </a:moveTo>
                  <a:cubicBezTo>
                    <a:pt x="8" y="275"/>
                    <a:pt x="32" y="0"/>
                    <a:pt x="48" y="0"/>
                  </a:cubicBezTo>
                  <a:cubicBezTo>
                    <a:pt x="64" y="0"/>
                    <a:pt x="80" y="241"/>
                    <a:pt x="96" y="330"/>
                  </a:cubicBezTo>
                  <a:cubicBezTo>
                    <a:pt x="112" y="419"/>
                    <a:pt x="131" y="534"/>
                    <a:pt x="147" y="534"/>
                  </a:cubicBezTo>
                  <a:cubicBezTo>
                    <a:pt x="163" y="534"/>
                    <a:pt x="183" y="372"/>
                    <a:pt x="192" y="33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24" name="Freeform 24"/>
            <p:cNvSpPr>
              <a:spLocks/>
            </p:cNvSpPr>
            <p:nvPr/>
          </p:nvSpPr>
          <p:spPr bwMode="auto">
            <a:xfrm>
              <a:off x="5040" y="2664"/>
              <a:ext cx="192" cy="423"/>
            </a:xfrm>
            <a:custGeom>
              <a:avLst/>
              <a:gdLst>
                <a:gd name="T0" fmla="*/ 0 w 192"/>
                <a:gd name="T1" fmla="*/ 228 h 423"/>
                <a:gd name="T2" fmla="*/ 48 w 192"/>
                <a:gd name="T3" fmla="*/ 0 h 423"/>
                <a:gd name="T4" fmla="*/ 96 w 192"/>
                <a:gd name="T5" fmla="*/ 228 h 423"/>
                <a:gd name="T6" fmla="*/ 150 w 192"/>
                <a:gd name="T7" fmla="*/ 423 h 423"/>
                <a:gd name="T8" fmla="*/ 192 w 192"/>
                <a:gd name="T9" fmla="*/ 228 h 4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423"/>
                <a:gd name="T17" fmla="*/ 192 w 192"/>
                <a:gd name="T18" fmla="*/ 423 h 4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423">
                  <a:moveTo>
                    <a:pt x="0" y="228"/>
                  </a:moveTo>
                  <a:cubicBezTo>
                    <a:pt x="8" y="190"/>
                    <a:pt x="32" y="0"/>
                    <a:pt x="48" y="0"/>
                  </a:cubicBezTo>
                  <a:cubicBezTo>
                    <a:pt x="64" y="0"/>
                    <a:pt x="79" y="158"/>
                    <a:pt x="96" y="228"/>
                  </a:cubicBezTo>
                  <a:cubicBezTo>
                    <a:pt x="113" y="298"/>
                    <a:pt x="134" y="423"/>
                    <a:pt x="150" y="423"/>
                  </a:cubicBezTo>
                  <a:cubicBezTo>
                    <a:pt x="166" y="423"/>
                    <a:pt x="183" y="269"/>
                    <a:pt x="192" y="22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225" name="Freeform 25"/>
            <p:cNvSpPr>
              <a:spLocks/>
            </p:cNvSpPr>
            <p:nvPr/>
          </p:nvSpPr>
          <p:spPr bwMode="auto">
            <a:xfrm>
              <a:off x="5232" y="2634"/>
              <a:ext cx="192" cy="477"/>
            </a:xfrm>
            <a:custGeom>
              <a:avLst/>
              <a:gdLst>
                <a:gd name="T0" fmla="*/ 0 w 192"/>
                <a:gd name="T1" fmla="*/ 258 h 477"/>
                <a:gd name="T2" fmla="*/ 45 w 192"/>
                <a:gd name="T3" fmla="*/ 0 h 477"/>
                <a:gd name="T4" fmla="*/ 96 w 192"/>
                <a:gd name="T5" fmla="*/ 258 h 477"/>
                <a:gd name="T6" fmla="*/ 147 w 192"/>
                <a:gd name="T7" fmla="*/ 477 h 477"/>
                <a:gd name="T8" fmla="*/ 192 w 192"/>
                <a:gd name="T9" fmla="*/ 258 h 4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477"/>
                <a:gd name="T17" fmla="*/ 192 w 192"/>
                <a:gd name="T18" fmla="*/ 477 h 4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477">
                  <a:moveTo>
                    <a:pt x="0" y="258"/>
                  </a:moveTo>
                  <a:cubicBezTo>
                    <a:pt x="8" y="215"/>
                    <a:pt x="29" y="0"/>
                    <a:pt x="45" y="0"/>
                  </a:cubicBezTo>
                  <a:cubicBezTo>
                    <a:pt x="61" y="0"/>
                    <a:pt x="79" y="179"/>
                    <a:pt x="96" y="258"/>
                  </a:cubicBezTo>
                  <a:cubicBezTo>
                    <a:pt x="113" y="337"/>
                    <a:pt x="131" y="477"/>
                    <a:pt x="147" y="477"/>
                  </a:cubicBezTo>
                  <a:cubicBezTo>
                    <a:pt x="163" y="477"/>
                    <a:pt x="183" y="304"/>
                    <a:pt x="192" y="25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7171" name="Text Box 26"/>
          <p:cNvSpPr txBox="1">
            <a:spLocks noChangeArrowheads="1"/>
          </p:cNvSpPr>
          <p:nvPr/>
        </p:nvSpPr>
        <p:spPr bwMode="auto">
          <a:xfrm>
            <a:off x="4552950" y="2388026"/>
            <a:ext cx="1447800" cy="830997"/>
          </a:xfrm>
          <a:prstGeom prst="rect">
            <a:avLst/>
          </a:prstGeom>
          <a:solidFill>
            <a:srgbClr val="CC3300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endParaRPr lang="en-GB" sz="1600" b="1">
              <a:solidFill>
                <a:schemeClr val="bg1"/>
              </a:solidFill>
            </a:endParaRPr>
          </a:p>
          <a:p>
            <a:pPr algn="ctr"/>
            <a:r>
              <a:rPr lang="en-GB" sz="1600" b="1">
                <a:solidFill>
                  <a:schemeClr val="bg1"/>
                </a:solidFill>
              </a:rPr>
              <a:t>Receiver</a:t>
            </a:r>
          </a:p>
          <a:p>
            <a:pPr algn="ctr"/>
            <a:endParaRPr lang="en-GB" sz="1600" b="1">
              <a:solidFill>
                <a:schemeClr val="bg1"/>
              </a:solidFill>
            </a:endParaRPr>
          </a:p>
        </p:txBody>
      </p:sp>
      <p:sp>
        <p:nvSpPr>
          <p:cNvPr id="7172" name="Line 27"/>
          <p:cNvSpPr>
            <a:spLocks noChangeShapeType="1"/>
          </p:cNvSpPr>
          <p:nvPr/>
        </p:nvSpPr>
        <p:spPr bwMode="auto">
          <a:xfrm>
            <a:off x="4352925" y="1590675"/>
            <a:ext cx="0" cy="10953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7173" name="Line 28"/>
          <p:cNvSpPr>
            <a:spLocks noChangeShapeType="1"/>
          </p:cNvSpPr>
          <p:nvPr/>
        </p:nvSpPr>
        <p:spPr bwMode="auto">
          <a:xfrm>
            <a:off x="4362450" y="2686050"/>
            <a:ext cx="180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7174" name="Text Box 29"/>
          <p:cNvSpPr txBox="1">
            <a:spLocks noChangeArrowheads="1"/>
          </p:cNvSpPr>
          <p:nvPr/>
        </p:nvSpPr>
        <p:spPr bwMode="auto">
          <a:xfrm>
            <a:off x="6343650" y="3363238"/>
            <a:ext cx="1628775" cy="861774"/>
          </a:xfrm>
          <a:prstGeom prst="rect">
            <a:avLst/>
          </a:prstGeom>
          <a:solidFill>
            <a:srgbClr val="CC3300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endParaRPr lang="en-GB" sz="1600" b="1">
              <a:solidFill>
                <a:schemeClr val="bg1"/>
              </a:solidFill>
            </a:endParaRPr>
          </a:p>
          <a:p>
            <a:pPr algn="ctr"/>
            <a:r>
              <a:rPr lang="en-GB" sz="1600" b="1">
                <a:solidFill>
                  <a:schemeClr val="bg1"/>
                </a:solidFill>
              </a:rPr>
              <a:t>Demodulator</a:t>
            </a:r>
          </a:p>
          <a:p>
            <a:pPr algn="ctr"/>
            <a:endParaRPr lang="en-GB" sz="1600" b="1">
              <a:solidFill>
                <a:schemeClr val="bg1"/>
              </a:solidFill>
            </a:endParaRPr>
          </a:p>
        </p:txBody>
      </p: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6330950" y="2489200"/>
            <a:ext cx="1781175" cy="466725"/>
            <a:chOff x="1584" y="2448"/>
            <a:chExt cx="3840" cy="879"/>
          </a:xfrm>
        </p:grpSpPr>
        <p:sp>
          <p:nvSpPr>
            <p:cNvPr id="7186" name="Freeform 31"/>
            <p:cNvSpPr>
              <a:spLocks/>
            </p:cNvSpPr>
            <p:nvPr/>
          </p:nvSpPr>
          <p:spPr bwMode="auto">
            <a:xfrm>
              <a:off x="1584" y="2508"/>
              <a:ext cx="192" cy="777"/>
            </a:xfrm>
            <a:custGeom>
              <a:avLst/>
              <a:gdLst>
                <a:gd name="T0" fmla="*/ 0 w 1536"/>
                <a:gd name="T1" fmla="*/ 1 h 1152"/>
                <a:gd name="T2" fmla="*/ 0 w 1536"/>
                <a:gd name="T3" fmla="*/ 0 h 1152"/>
                <a:gd name="T4" fmla="*/ 0 w 1536"/>
                <a:gd name="T5" fmla="*/ 1 h 1152"/>
                <a:gd name="T6" fmla="*/ 0 w 1536"/>
                <a:gd name="T7" fmla="*/ 3 h 1152"/>
                <a:gd name="T8" fmla="*/ 0 w 1536"/>
                <a:gd name="T9" fmla="*/ 1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187" name="Freeform 32"/>
            <p:cNvSpPr>
              <a:spLocks/>
            </p:cNvSpPr>
            <p:nvPr/>
          </p:nvSpPr>
          <p:spPr bwMode="auto">
            <a:xfrm>
              <a:off x="1776" y="2553"/>
              <a:ext cx="192" cy="528"/>
            </a:xfrm>
            <a:custGeom>
              <a:avLst/>
              <a:gdLst>
                <a:gd name="T0" fmla="*/ 0 w 192"/>
                <a:gd name="T1" fmla="*/ 339 h 528"/>
                <a:gd name="T2" fmla="*/ 48 w 192"/>
                <a:gd name="T3" fmla="*/ 11 h 528"/>
                <a:gd name="T4" fmla="*/ 96 w 192"/>
                <a:gd name="T5" fmla="*/ 270 h 528"/>
                <a:gd name="T6" fmla="*/ 144 w 192"/>
                <a:gd name="T7" fmla="*/ 528 h 528"/>
                <a:gd name="T8" fmla="*/ 192 w 192"/>
                <a:gd name="T9" fmla="*/ 270 h 5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28"/>
                <a:gd name="T17" fmla="*/ 192 w 192"/>
                <a:gd name="T18" fmla="*/ 528 h 5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28">
                  <a:moveTo>
                    <a:pt x="0" y="339"/>
                  </a:moveTo>
                  <a:cubicBezTo>
                    <a:pt x="8" y="285"/>
                    <a:pt x="32" y="22"/>
                    <a:pt x="48" y="11"/>
                  </a:cubicBezTo>
                  <a:cubicBezTo>
                    <a:pt x="64" y="0"/>
                    <a:pt x="80" y="183"/>
                    <a:pt x="96" y="270"/>
                  </a:cubicBezTo>
                  <a:cubicBezTo>
                    <a:pt x="112" y="356"/>
                    <a:pt x="128" y="528"/>
                    <a:pt x="144" y="528"/>
                  </a:cubicBezTo>
                  <a:cubicBezTo>
                    <a:pt x="160" y="528"/>
                    <a:pt x="176" y="399"/>
                    <a:pt x="192" y="27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188" name="Freeform 33"/>
            <p:cNvSpPr>
              <a:spLocks/>
            </p:cNvSpPr>
            <p:nvPr/>
          </p:nvSpPr>
          <p:spPr bwMode="auto">
            <a:xfrm>
              <a:off x="1965" y="2743"/>
              <a:ext cx="202" cy="229"/>
            </a:xfrm>
            <a:custGeom>
              <a:avLst/>
              <a:gdLst>
                <a:gd name="T0" fmla="*/ 0 w 202"/>
                <a:gd name="T1" fmla="*/ 98 h 229"/>
                <a:gd name="T2" fmla="*/ 48 w 202"/>
                <a:gd name="T3" fmla="*/ 8 h 229"/>
                <a:gd name="T4" fmla="*/ 99 w 202"/>
                <a:gd name="T5" fmla="*/ 149 h 229"/>
                <a:gd name="T6" fmla="*/ 135 w 202"/>
                <a:gd name="T7" fmla="*/ 224 h 229"/>
                <a:gd name="T8" fmla="*/ 192 w 202"/>
                <a:gd name="T9" fmla="*/ 119 h 229"/>
                <a:gd name="T10" fmla="*/ 195 w 202"/>
                <a:gd name="T11" fmla="*/ 149 h 2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02"/>
                <a:gd name="T19" fmla="*/ 0 h 229"/>
                <a:gd name="T20" fmla="*/ 202 w 202"/>
                <a:gd name="T21" fmla="*/ 229 h 22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02" h="229">
                  <a:moveTo>
                    <a:pt x="0" y="98"/>
                  </a:moveTo>
                  <a:cubicBezTo>
                    <a:pt x="8" y="83"/>
                    <a:pt x="32" y="0"/>
                    <a:pt x="48" y="8"/>
                  </a:cubicBezTo>
                  <a:cubicBezTo>
                    <a:pt x="64" y="16"/>
                    <a:pt x="85" y="113"/>
                    <a:pt x="99" y="149"/>
                  </a:cubicBezTo>
                  <a:cubicBezTo>
                    <a:pt x="113" y="185"/>
                    <a:pt x="120" y="229"/>
                    <a:pt x="135" y="224"/>
                  </a:cubicBezTo>
                  <a:cubicBezTo>
                    <a:pt x="150" y="219"/>
                    <a:pt x="182" y="131"/>
                    <a:pt x="192" y="119"/>
                  </a:cubicBezTo>
                  <a:cubicBezTo>
                    <a:pt x="202" y="107"/>
                    <a:pt x="195" y="143"/>
                    <a:pt x="195" y="149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189" name="Freeform 34"/>
            <p:cNvSpPr>
              <a:spLocks/>
            </p:cNvSpPr>
            <p:nvPr/>
          </p:nvSpPr>
          <p:spPr bwMode="auto">
            <a:xfrm>
              <a:off x="2154" y="2745"/>
              <a:ext cx="198" cy="303"/>
            </a:xfrm>
            <a:custGeom>
              <a:avLst/>
              <a:gdLst>
                <a:gd name="T0" fmla="*/ 0 w 198"/>
                <a:gd name="T1" fmla="*/ 129 h 303"/>
                <a:gd name="T2" fmla="*/ 48 w 198"/>
                <a:gd name="T3" fmla="*/ 3 h 303"/>
                <a:gd name="T4" fmla="*/ 102 w 198"/>
                <a:gd name="T5" fmla="*/ 147 h 303"/>
                <a:gd name="T6" fmla="*/ 150 w 198"/>
                <a:gd name="T7" fmla="*/ 303 h 303"/>
                <a:gd name="T8" fmla="*/ 198 w 198"/>
                <a:gd name="T9" fmla="*/ 147 h 3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8"/>
                <a:gd name="T16" fmla="*/ 0 h 303"/>
                <a:gd name="T17" fmla="*/ 198 w 198"/>
                <a:gd name="T18" fmla="*/ 303 h 3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8" h="303">
                  <a:moveTo>
                    <a:pt x="0" y="129"/>
                  </a:moveTo>
                  <a:cubicBezTo>
                    <a:pt x="8" y="108"/>
                    <a:pt x="31" y="0"/>
                    <a:pt x="48" y="3"/>
                  </a:cubicBezTo>
                  <a:cubicBezTo>
                    <a:pt x="65" y="6"/>
                    <a:pt x="85" y="97"/>
                    <a:pt x="102" y="147"/>
                  </a:cubicBezTo>
                  <a:cubicBezTo>
                    <a:pt x="119" y="197"/>
                    <a:pt x="134" y="303"/>
                    <a:pt x="150" y="303"/>
                  </a:cubicBezTo>
                  <a:cubicBezTo>
                    <a:pt x="166" y="303"/>
                    <a:pt x="188" y="179"/>
                    <a:pt x="198" y="147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190" name="Freeform 35"/>
            <p:cNvSpPr>
              <a:spLocks/>
            </p:cNvSpPr>
            <p:nvPr/>
          </p:nvSpPr>
          <p:spPr bwMode="auto">
            <a:xfrm>
              <a:off x="2352" y="2622"/>
              <a:ext cx="192" cy="546"/>
            </a:xfrm>
            <a:custGeom>
              <a:avLst/>
              <a:gdLst>
                <a:gd name="T0" fmla="*/ 0 w 192"/>
                <a:gd name="T1" fmla="*/ 270 h 546"/>
                <a:gd name="T2" fmla="*/ 51 w 192"/>
                <a:gd name="T3" fmla="*/ 0 h 546"/>
                <a:gd name="T4" fmla="*/ 96 w 192"/>
                <a:gd name="T5" fmla="*/ 270 h 546"/>
                <a:gd name="T6" fmla="*/ 147 w 192"/>
                <a:gd name="T7" fmla="*/ 546 h 546"/>
                <a:gd name="T8" fmla="*/ 192 w 192"/>
                <a:gd name="T9" fmla="*/ 270 h 5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46"/>
                <a:gd name="T17" fmla="*/ 192 w 192"/>
                <a:gd name="T18" fmla="*/ 546 h 5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46">
                  <a:moveTo>
                    <a:pt x="0" y="270"/>
                  </a:moveTo>
                  <a:cubicBezTo>
                    <a:pt x="8" y="225"/>
                    <a:pt x="35" y="0"/>
                    <a:pt x="51" y="0"/>
                  </a:cubicBezTo>
                  <a:cubicBezTo>
                    <a:pt x="67" y="0"/>
                    <a:pt x="80" y="179"/>
                    <a:pt x="96" y="270"/>
                  </a:cubicBezTo>
                  <a:cubicBezTo>
                    <a:pt x="112" y="361"/>
                    <a:pt x="131" y="546"/>
                    <a:pt x="147" y="546"/>
                  </a:cubicBezTo>
                  <a:cubicBezTo>
                    <a:pt x="163" y="546"/>
                    <a:pt x="183" y="327"/>
                    <a:pt x="192" y="27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191" name="Freeform 36"/>
            <p:cNvSpPr>
              <a:spLocks/>
            </p:cNvSpPr>
            <p:nvPr/>
          </p:nvSpPr>
          <p:spPr bwMode="auto">
            <a:xfrm>
              <a:off x="2544" y="2520"/>
              <a:ext cx="192" cy="807"/>
            </a:xfrm>
            <a:custGeom>
              <a:avLst/>
              <a:gdLst>
                <a:gd name="T0" fmla="*/ 0 w 192"/>
                <a:gd name="T1" fmla="*/ 372 h 807"/>
                <a:gd name="T2" fmla="*/ 42 w 192"/>
                <a:gd name="T3" fmla="*/ 0 h 807"/>
                <a:gd name="T4" fmla="*/ 96 w 192"/>
                <a:gd name="T5" fmla="*/ 372 h 807"/>
                <a:gd name="T6" fmla="*/ 147 w 192"/>
                <a:gd name="T7" fmla="*/ 750 h 807"/>
                <a:gd name="T8" fmla="*/ 156 w 192"/>
                <a:gd name="T9" fmla="*/ 714 h 807"/>
                <a:gd name="T10" fmla="*/ 192 w 192"/>
                <a:gd name="T11" fmla="*/ 372 h 8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2"/>
                <a:gd name="T19" fmla="*/ 0 h 807"/>
                <a:gd name="T20" fmla="*/ 192 w 192"/>
                <a:gd name="T21" fmla="*/ 807 h 80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92" h="807">
                  <a:moveTo>
                    <a:pt x="0" y="372"/>
                  </a:moveTo>
                  <a:cubicBezTo>
                    <a:pt x="7" y="310"/>
                    <a:pt x="26" y="0"/>
                    <a:pt x="42" y="0"/>
                  </a:cubicBezTo>
                  <a:cubicBezTo>
                    <a:pt x="58" y="0"/>
                    <a:pt x="79" y="247"/>
                    <a:pt x="96" y="372"/>
                  </a:cubicBezTo>
                  <a:cubicBezTo>
                    <a:pt x="113" y="497"/>
                    <a:pt x="137" y="693"/>
                    <a:pt x="147" y="750"/>
                  </a:cubicBezTo>
                  <a:cubicBezTo>
                    <a:pt x="157" y="807"/>
                    <a:pt x="148" y="777"/>
                    <a:pt x="156" y="714"/>
                  </a:cubicBezTo>
                  <a:cubicBezTo>
                    <a:pt x="164" y="651"/>
                    <a:pt x="184" y="443"/>
                    <a:pt x="192" y="372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192" name="Freeform 37"/>
            <p:cNvSpPr>
              <a:spLocks/>
            </p:cNvSpPr>
            <p:nvPr/>
          </p:nvSpPr>
          <p:spPr bwMode="auto">
            <a:xfrm>
              <a:off x="2736" y="2448"/>
              <a:ext cx="192" cy="801"/>
            </a:xfrm>
            <a:custGeom>
              <a:avLst/>
              <a:gdLst>
                <a:gd name="T0" fmla="*/ 0 w 192"/>
                <a:gd name="T1" fmla="*/ 444 h 801"/>
                <a:gd name="T2" fmla="*/ 45 w 192"/>
                <a:gd name="T3" fmla="*/ 0 h 801"/>
                <a:gd name="T4" fmla="*/ 96 w 192"/>
                <a:gd name="T5" fmla="*/ 444 h 801"/>
                <a:gd name="T6" fmla="*/ 147 w 192"/>
                <a:gd name="T7" fmla="*/ 801 h 801"/>
                <a:gd name="T8" fmla="*/ 192 w 192"/>
                <a:gd name="T9" fmla="*/ 444 h 8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801"/>
                <a:gd name="T17" fmla="*/ 192 w 192"/>
                <a:gd name="T18" fmla="*/ 801 h 80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801">
                  <a:moveTo>
                    <a:pt x="0" y="444"/>
                  </a:moveTo>
                  <a:cubicBezTo>
                    <a:pt x="8" y="370"/>
                    <a:pt x="29" y="0"/>
                    <a:pt x="45" y="0"/>
                  </a:cubicBezTo>
                  <a:cubicBezTo>
                    <a:pt x="61" y="0"/>
                    <a:pt x="79" y="311"/>
                    <a:pt x="96" y="444"/>
                  </a:cubicBezTo>
                  <a:cubicBezTo>
                    <a:pt x="113" y="577"/>
                    <a:pt x="131" y="801"/>
                    <a:pt x="147" y="801"/>
                  </a:cubicBezTo>
                  <a:cubicBezTo>
                    <a:pt x="163" y="801"/>
                    <a:pt x="183" y="518"/>
                    <a:pt x="192" y="444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193" name="Freeform 38"/>
            <p:cNvSpPr>
              <a:spLocks/>
            </p:cNvSpPr>
            <p:nvPr/>
          </p:nvSpPr>
          <p:spPr bwMode="auto">
            <a:xfrm>
              <a:off x="2928" y="2556"/>
              <a:ext cx="192" cy="549"/>
            </a:xfrm>
            <a:custGeom>
              <a:avLst/>
              <a:gdLst>
                <a:gd name="T0" fmla="*/ 0 w 192"/>
                <a:gd name="T1" fmla="*/ 336 h 549"/>
                <a:gd name="T2" fmla="*/ 48 w 192"/>
                <a:gd name="T3" fmla="*/ 0 h 549"/>
                <a:gd name="T4" fmla="*/ 96 w 192"/>
                <a:gd name="T5" fmla="*/ 336 h 549"/>
                <a:gd name="T6" fmla="*/ 147 w 192"/>
                <a:gd name="T7" fmla="*/ 549 h 549"/>
                <a:gd name="T8" fmla="*/ 192 w 192"/>
                <a:gd name="T9" fmla="*/ 336 h 5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49"/>
                <a:gd name="T17" fmla="*/ 192 w 192"/>
                <a:gd name="T18" fmla="*/ 549 h 5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49">
                  <a:moveTo>
                    <a:pt x="0" y="336"/>
                  </a:moveTo>
                  <a:cubicBezTo>
                    <a:pt x="8" y="280"/>
                    <a:pt x="32" y="0"/>
                    <a:pt x="48" y="0"/>
                  </a:cubicBezTo>
                  <a:cubicBezTo>
                    <a:pt x="64" y="0"/>
                    <a:pt x="80" y="245"/>
                    <a:pt x="96" y="336"/>
                  </a:cubicBezTo>
                  <a:cubicBezTo>
                    <a:pt x="112" y="427"/>
                    <a:pt x="131" y="549"/>
                    <a:pt x="147" y="549"/>
                  </a:cubicBezTo>
                  <a:cubicBezTo>
                    <a:pt x="163" y="549"/>
                    <a:pt x="183" y="380"/>
                    <a:pt x="192" y="33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194" name="Freeform 39"/>
            <p:cNvSpPr>
              <a:spLocks/>
            </p:cNvSpPr>
            <p:nvPr/>
          </p:nvSpPr>
          <p:spPr bwMode="auto">
            <a:xfrm>
              <a:off x="3120" y="2703"/>
              <a:ext cx="186" cy="283"/>
            </a:xfrm>
            <a:custGeom>
              <a:avLst/>
              <a:gdLst>
                <a:gd name="T0" fmla="*/ 0 w 186"/>
                <a:gd name="T1" fmla="*/ 189 h 283"/>
                <a:gd name="T2" fmla="*/ 45 w 186"/>
                <a:gd name="T3" fmla="*/ 0 h 283"/>
                <a:gd name="T4" fmla="*/ 96 w 186"/>
                <a:gd name="T5" fmla="*/ 189 h 283"/>
                <a:gd name="T6" fmla="*/ 144 w 186"/>
                <a:gd name="T7" fmla="*/ 279 h 283"/>
                <a:gd name="T8" fmla="*/ 186 w 186"/>
                <a:gd name="T9" fmla="*/ 168 h 2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6"/>
                <a:gd name="T16" fmla="*/ 0 h 283"/>
                <a:gd name="T17" fmla="*/ 186 w 186"/>
                <a:gd name="T18" fmla="*/ 283 h 2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6" h="283">
                  <a:moveTo>
                    <a:pt x="0" y="189"/>
                  </a:moveTo>
                  <a:cubicBezTo>
                    <a:pt x="7" y="158"/>
                    <a:pt x="29" y="0"/>
                    <a:pt x="45" y="0"/>
                  </a:cubicBezTo>
                  <a:cubicBezTo>
                    <a:pt x="61" y="0"/>
                    <a:pt x="80" y="143"/>
                    <a:pt x="96" y="189"/>
                  </a:cubicBezTo>
                  <a:cubicBezTo>
                    <a:pt x="112" y="235"/>
                    <a:pt x="129" y="283"/>
                    <a:pt x="144" y="279"/>
                  </a:cubicBezTo>
                  <a:cubicBezTo>
                    <a:pt x="159" y="275"/>
                    <a:pt x="177" y="191"/>
                    <a:pt x="186" y="16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195" name="Freeform 40"/>
            <p:cNvSpPr>
              <a:spLocks/>
            </p:cNvSpPr>
            <p:nvPr/>
          </p:nvSpPr>
          <p:spPr bwMode="auto">
            <a:xfrm>
              <a:off x="3309" y="2773"/>
              <a:ext cx="192" cy="258"/>
            </a:xfrm>
            <a:custGeom>
              <a:avLst/>
              <a:gdLst>
                <a:gd name="T0" fmla="*/ 0 w 192"/>
                <a:gd name="T1" fmla="*/ 101 h 258"/>
                <a:gd name="T2" fmla="*/ 33 w 192"/>
                <a:gd name="T3" fmla="*/ 2 h 258"/>
                <a:gd name="T4" fmla="*/ 90 w 192"/>
                <a:gd name="T5" fmla="*/ 116 h 258"/>
                <a:gd name="T6" fmla="*/ 141 w 192"/>
                <a:gd name="T7" fmla="*/ 254 h 258"/>
                <a:gd name="T8" fmla="*/ 192 w 192"/>
                <a:gd name="T9" fmla="*/ 92 h 2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258"/>
                <a:gd name="T17" fmla="*/ 192 w 192"/>
                <a:gd name="T18" fmla="*/ 258 h 2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258">
                  <a:moveTo>
                    <a:pt x="0" y="101"/>
                  </a:moveTo>
                  <a:cubicBezTo>
                    <a:pt x="5" y="85"/>
                    <a:pt x="18" y="0"/>
                    <a:pt x="33" y="2"/>
                  </a:cubicBezTo>
                  <a:cubicBezTo>
                    <a:pt x="48" y="4"/>
                    <a:pt x="72" y="74"/>
                    <a:pt x="90" y="116"/>
                  </a:cubicBezTo>
                  <a:cubicBezTo>
                    <a:pt x="108" y="158"/>
                    <a:pt x="124" y="258"/>
                    <a:pt x="141" y="254"/>
                  </a:cubicBezTo>
                  <a:cubicBezTo>
                    <a:pt x="158" y="250"/>
                    <a:pt x="181" y="126"/>
                    <a:pt x="192" y="92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196" name="Freeform 41"/>
            <p:cNvSpPr>
              <a:spLocks/>
            </p:cNvSpPr>
            <p:nvPr/>
          </p:nvSpPr>
          <p:spPr bwMode="auto">
            <a:xfrm>
              <a:off x="3495" y="2555"/>
              <a:ext cx="201" cy="694"/>
            </a:xfrm>
            <a:custGeom>
              <a:avLst/>
              <a:gdLst>
                <a:gd name="T0" fmla="*/ 0 w 201"/>
                <a:gd name="T1" fmla="*/ 328 h 694"/>
                <a:gd name="T2" fmla="*/ 54 w 201"/>
                <a:gd name="T3" fmla="*/ 1 h 694"/>
                <a:gd name="T4" fmla="*/ 105 w 201"/>
                <a:gd name="T5" fmla="*/ 337 h 694"/>
                <a:gd name="T6" fmla="*/ 147 w 201"/>
                <a:gd name="T7" fmla="*/ 694 h 694"/>
                <a:gd name="T8" fmla="*/ 201 w 201"/>
                <a:gd name="T9" fmla="*/ 337 h 6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1"/>
                <a:gd name="T16" fmla="*/ 0 h 694"/>
                <a:gd name="T17" fmla="*/ 201 w 201"/>
                <a:gd name="T18" fmla="*/ 694 h 6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1" h="694">
                  <a:moveTo>
                    <a:pt x="0" y="328"/>
                  </a:moveTo>
                  <a:cubicBezTo>
                    <a:pt x="9" y="274"/>
                    <a:pt x="37" y="0"/>
                    <a:pt x="54" y="1"/>
                  </a:cubicBezTo>
                  <a:cubicBezTo>
                    <a:pt x="71" y="2"/>
                    <a:pt x="90" y="222"/>
                    <a:pt x="105" y="337"/>
                  </a:cubicBezTo>
                  <a:cubicBezTo>
                    <a:pt x="120" y="452"/>
                    <a:pt x="131" y="694"/>
                    <a:pt x="147" y="694"/>
                  </a:cubicBezTo>
                  <a:cubicBezTo>
                    <a:pt x="163" y="694"/>
                    <a:pt x="190" y="411"/>
                    <a:pt x="201" y="337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197" name="Freeform 42"/>
            <p:cNvSpPr>
              <a:spLocks/>
            </p:cNvSpPr>
            <p:nvPr/>
          </p:nvSpPr>
          <p:spPr bwMode="auto">
            <a:xfrm>
              <a:off x="3696" y="2481"/>
              <a:ext cx="192" cy="645"/>
            </a:xfrm>
            <a:custGeom>
              <a:avLst/>
              <a:gdLst>
                <a:gd name="T0" fmla="*/ 0 w 192"/>
                <a:gd name="T1" fmla="*/ 411 h 645"/>
                <a:gd name="T2" fmla="*/ 45 w 192"/>
                <a:gd name="T3" fmla="*/ 0 h 645"/>
                <a:gd name="T4" fmla="*/ 96 w 192"/>
                <a:gd name="T5" fmla="*/ 411 h 645"/>
                <a:gd name="T6" fmla="*/ 147 w 192"/>
                <a:gd name="T7" fmla="*/ 645 h 645"/>
                <a:gd name="T8" fmla="*/ 192 w 192"/>
                <a:gd name="T9" fmla="*/ 411 h 6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645"/>
                <a:gd name="T17" fmla="*/ 192 w 192"/>
                <a:gd name="T18" fmla="*/ 645 h 64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645">
                  <a:moveTo>
                    <a:pt x="0" y="411"/>
                  </a:moveTo>
                  <a:cubicBezTo>
                    <a:pt x="7" y="343"/>
                    <a:pt x="29" y="0"/>
                    <a:pt x="45" y="0"/>
                  </a:cubicBezTo>
                  <a:cubicBezTo>
                    <a:pt x="61" y="0"/>
                    <a:pt x="79" y="304"/>
                    <a:pt x="96" y="411"/>
                  </a:cubicBezTo>
                  <a:cubicBezTo>
                    <a:pt x="113" y="518"/>
                    <a:pt x="131" y="645"/>
                    <a:pt x="147" y="645"/>
                  </a:cubicBezTo>
                  <a:cubicBezTo>
                    <a:pt x="163" y="645"/>
                    <a:pt x="183" y="460"/>
                    <a:pt x="192" y="411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198" name="Freeform 43"/>
            <p:cNvSpPr>
              <a:spLocks/>
            </p:cNvSpPr>
            <p:nvPr/>
          </p:nvSpPr>
          <p:spPr bwMode="auto">
            <a:xfrm>
              <a:off x="3888" y="2667"/>
              <a:ext cx="192" cy="489"/>
            </a:xfrm>
            <a:custGeom>
              <a:avLst/>
              <a:gdLst>
                <a:gd name="T0" fmla="*/ 0 w 192"/>
                <a:gd name="T1" fmla="*/ 225 h 489"/>
                <a:gd name="T2" fmla="*/ 39 w 192"/>
                <a:gd name="T3" fmla="*/ 0 h 489"/>
                <a:gd name="T4" fmla="*/ 96 w 192"/>
                <a:gd name="T5" fmla="*/ 225 h 489"/>
                <a:gd name="T6" fmla="*/ 141 w 192"/>
                <a:gd name="T7" fmla="*/ 489 h 489"/>
                <a:gd name="T8" fmla="*/ 192 w 192"/>
                <a:gd name="T9" fmla="*/ 225 h 4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489"/>
                <a:gd name="T17" fmla="*/ 192 w 192"/>
                <a:gd name="T18" fmla="*/ 489 h 4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489">
                  <a:moveTo>
                    <a:pt x="0" y="225"/>
                  </a:moveTo>
                  <a:cubicBezTo>
                    <a:pt x="6" y="188"/>
                    <a:pt x="23" y="0"/>
                    <a:pt x="39" y="0"/>
                  </a:cubicBezTo>
                  <a:cubicBezTo>
                    <a:pt x="55" y="0"/>
                    <a:pt x="79" y="144"/>
                    <a:pt x="96" y="225"/>
                  </a:cubicBezTo>
                  <a:cubicBezTo>
                    <a:pt x="113" y="306"/>
                    <a:pt x="125" y="489"/>
                    <a:pt x="141" y="489"/>
                  </a:cubicBezTo>
                  <a:cubicBezTo>
                    <a:pt x="157" y="489"/>
                    <a:pt x="182" y="280"/>
                    <a:pt x="192" y="225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199" name="Freeform 44"/>
            <p:cNvSpPr>
              <a:spLocks/>
            </p:cNvSpPr>
            <p:nvPr/>
          </p:nvSpPr>
          <p:spPr bwMode="auto">
            <a:xfrm>
              <a:off x="4080" y="2520"/>
              <a:ext cx="192" cy="654"/>
            </a:xfrm>
            <a:custGeom>
              <a:avLst/>
              <a:gdLst>
                <a:gd name="T0" fmla="*/ 0 w 192"/>
                <a:gd name="T1" fmla="*/ 372 h 654"/>
                <a:gd name="T2" fmla="*/ 51 w 192"/>
                <a:gd name="T3" fmla="*/ 0 h 654"/>
                <a:gd name="T4" fmla="*/ 96 w 192"/>
                <a:gd name="T5" fmla="*/ 372 h 654"/>
                <a:gd name="T6" fmla="*/ 147 w 192"/>
                <a:gd name="T7" fmla="*/ 654 h 654"/>
                <a:gd name="T8" fmla="*/ 192 w 192"/>
                <a:gd name="T9" fmla="*/ 372 h 6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654"/>
                <a:gd name="T17" fmla="*/ 192 w 192"/>
                <a:gd name="T18" fmla="*/ 654 h 6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654">
                  <a:moveTo>
                    <a:pt x="0" y="372"/>
                  </a:moveTo>
                  <a:cubicBezTo>
                    <a:pt x="8" y="310"/>
                    <a:pt x="35" y="0"/>
                    <a:pt x="51" y="0"/>
                  </a:cubicBezTo>
                  <a:cubicBezTo>
                    <a:pt x="67" y="0"/>
                    <a:pt x="80" y="263"/>
                    <a:pt x="96" y="372"/>
                  </a:cubicBezTo>
                  <a:cubicBezTo>
                    <a:pt x="112" y="481"/>
                    <a:pt x="131" y="654"/>
                    <a:pt x="147" y="654"/>
                  </a:cubicBezTo>
                  <a:cubicBezTo>
                    <a:pt x="163" y="654"/>
                    <a:pt x="183" y="431"/>
                    <a:pt x="192" y="372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200" name="Freeform 45"/>
            <p:cNvSpPr>
              <a:spLocks/>
            </p:cNvSpPr>
            <p:nvPr/>
          </p:nvSpPr>
          <p:spPr bwMode="auto">
            <a:xfrm>
              <a:off x="4272" y="2637"/>
              <a:ext cx="192" cy="384"/>
            </a:xfrm>
            <a:custGeom>
              <a:avLst/>
              <a:gdLst>
                <a:gd name="T0" fmla="*/ 0 w 192"/>
                <a:gd name="T1" fmla="*/ 255 h 384"/>
                <a:gd name="T2" fmla="*/ 45 w 192"/>
                <a:gd name="T3" fmla="*/ 0 h 384"/>
                <a:gd name="T4" fmla="*/ 96 w 192"/>
                <a:gd name="T5" fmla="*/ 255 h 384"/>
                <a:gd name="T6" fmla="*/ 144 w 192"/>
                <a:gd name="T7" fmla="*/ 384 h 384"/>
                <a:gd name="T8" fmla="*/ 192 w 192"/>
                <a:gd name="T9" fmla="*/ 255 h 3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384"/>
                <a:gd name="T17" fmla="*/ 192 w 192"/>
                <a:gd name="T18" fmla="*/ 384 h 3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384">
                  <a:moveTo>
                    <a:pt x="0" y="255"/>
                  </a:moveTo>
                  <a:cubicBezTo>
                    <a:pt x="7" y="213"/>
                    <a:pt x="29" y="0"/>
                    <a:pt x="45" y="0"/>
                  </a:cubicBezTo>
                  <a:cubicBezTo>
                    <a:pt x="61" y="0"/>
                    <a:pt x="80" y="191"/>
                    <a:pt x="96" y="255"/>
                  </a:cubicBezTo>
                  <a:cubicBezTo>
                    <a:pt x="112" y="319"/>
                    <a:pt x="128" y="384"/>
                    <a:pt x="144" y="384"/>
                  </a:cubicBezTo>
                  <a:cubicBezTo>
                    <a:pt x="160" y="384"/>
                    <a:pt x="182" y="282"/>
                    <a:pt x="192" y="255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201" name="Freeform 46"/>
            <p:cNvSpPr>
              <a:spLocks/>
            </p:cNvSpPr>
            <p:nvPr/>
          </p:nvSpPr>
          <p:spPr bwMode="auto">
            <a:xfrm>
              <a:off x="4464" y="2751"/>
              <a:ext cx="192" cy="267"/>
            </a:xfrm>
            <a:custGeom>
              <a:avLst/>
              <a:gdLst>
                <a:gd name="T0" fmla="*/ 0 w 192"/>
                <a:gd name="T1" fmla="*/ 141 h 267"/>
                <a:gd name="T2" fmla="*/ 45 w 192"/>
                <a:gd name="T3" fmla="*/ 0 h 267"/>
                <a:gd name="T4" fmla="*/ 96 w 192"/>
                <a:gd name="T5" fmla="*/ 141 h 267"/>
                <a:gd name="T6" fmla="*/ 150 w 192"/>
                <a:gd name="T7" fmla="*/ 267 h 267"/>
                <a:gd name="T8" fmla="*/ 192 w 192"/>
                <a:gd name="T9" fmla="*/ 141 h 2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267"/>
                <a:gd name="T17" fmla="*/ 192 w 192"/>
                <a:gd name="T18" fmla="*/ 267 h 2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267">
                  <a:moveTo>
                    <a:pt x="0" y="141"/>
                  </a:moveTo>
                  <a:cubicBezTo>
                    <a:pt x="7" y="118"/>
                    <a:pt x="29" y="0"/>
                    <a:pt x="45" y="0"/>
                  </a:cubicBezTo>
                  <a:cubicBezTo>
                    <a:pt x="61" y="0"/>
                    <a:pt x="79" y="97"/>
                    <a:pt x="96" y="141"/>
                  </a:cubicBezTo>
                  <a:cubicBezTo>
                    <a:pt x="113" y="185"/>
                    <a:pt x="134" y="267"/>
                    <a:pt x="150" y="267"/>
                  </a:cubicBezTo>
                  <a:cubicBezTo>
                    <a:pt x="166" y="267"/>
                    <a:pt x="183" y="167"/>
                    <a:pt x="192" y="141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202" name="Freeform 47"/>
            <p:cNvSpPr>
              <a:spLocks/>
            </p:cNvSpPr>
            <p:nvPr/>
          </p:nvSpPr>
          <p:spPr bwMode="auto">
            <a:xfrm>
              <a:off x="4656" y="2658"/>
              <a:ext cx="192" cy="507"/>
            </a:xfrm>
            <a:custGeom>
              <a:avLst/>
              <a:gdLst>
                <a:gd name="T0" fmla="*/ 0 w 192"/>
                <a:gd name="T1" fmla="*/ 234 h 507"/>
                <a:gd name="T2" fmla="*/ 45 w 192"/>
                <a:gd name="T3" fmla="*/ 0 h 507"/>
                <a:gd name="T4" fmla="*/ 96 w 192"/>
                <a:gd name="T5" fmla="*/ 234 h 507"/>
                <a:gd name="T6" fmla="*/ 147 w 192"/>
                <a:gd name="T7" fmla="*/ 507 h 507"/>
                <a:gd name="T8" fmla="*/ 192 w 192"/>
                <a:gd name="T9" fmla="*/ 234 h 5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07"/>
                <a:gd name="T17" fmla="*/ 192 w 192"/>
                <a:gd name="T18" fmla="*/ 507 h 50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07">
                  <a:moveTo>
                    <a:pt x="0" y="234"/>
                  </a:moveTo>
                  <a:cubicBezTo>
                    <a:pt x="8" y="195"/>
                    <a:pt x="29" y="0"/>
                    <a:pt x="45" y="0"/>
                  </a:cubicBezTo>
                  <a:cubicBezTo>
                    <a:pt x="61" y="0"/>
                    <a:pt x="79" y="150"/>
                    <a:pt x="96" y="234"/>
                  </a:cubicBezTo>
                  <a:cubicBezTo>
                    <a:pt x="113" y="318"/>
                    <a:pt x="131" y="507"/>
                    <a:pt x="147" y="507"/>
                  </a:cubicBezTo>
                  <a:cubicBezTo>
                    <a:pt x="163" y="507"/>
                    <a:pt x="183" y="291"/>
                    <a:pt x="192" y="234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203" name="Freeform 48"/>
            <p:cNvSpPr>
              <a:spLocks/>
            </p:cNvSpPr>
            <p:nvPr/>
          </p:nvSpPr>
          <p:spPr bwMode="auto">
            <a:xfrm>
              <a:off x="4848" y="2562"/>
              <a:ext cx="192" cy="534"/>
            </a:xfrm>
            <a:custGeom>
              <a:avLst/>
              <a:gdLst>
                <a:gd name="T0" fmla="*/ 0 w 192"/>
                <a:gd name="T1" fmla="*/ 330 h 534"/>
                <a:gd name="T2" fmla="*/ 48 w 192"/>
                <a:gd name="T3" fmla="*/ 0 h 534"/>
                <a:gd name="T4" fmla="*/ 96 w 192"/>
                <a:gd name="T5" fmla="*/ 330 h 534"/>
                <a:gd name="T6" fmla="*/ 147 w 192"/>
                <a:gd name="T7" fmla="*/ 534 h 534"/>
                <a:gd name="T8" fmla="*/ 192 w 192"/>
                <a:gd name="T9" fmla="*/ 330 h 5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34"/>
                <a:gd name="T17" fmla="*/ 192 w 192"/>
                <a:gd name="T18" fmla="*/ 534 h 5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34">
                  <a:moveTo>
                    <a:pt x="0" y="330"/>
                  </a:moveTo>
                  <a:cubicBezTo>
                    <a:pt x="8" y="275"/>
                    <a:pt x="32" y="0"/>
                    <a:pt x="48" y="0"/>
                  </a:cubicBezTo>
                  <a:cubicBezTo>
                    <a:pt x="64" y="0"/>
                    <a:pt x="80" y="241"/>
                    <a:pt x="96" y="330"/>
                  </a:cubicBezTo>
                  <a:cubicBezTo>
                    <a:pt x="112" y="419"/>
                    <a:pt x="131" y="534"/>
                    <a:pt x="147" y="534"/>
                  </a:cubicBezTo>
                  <a:cubicBezTo>
                    <a:pt x="163" y="534"/>
                    <a:pt x="183" y="372"/>
                    <a:pt x="192" y="33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204" name="Freeform 49"/>
            <p:cNvSpPr>
              <a:spLocks/>
            </p:cNvSpPr>
            <p:nvPr/>
          </p:nvSpPr>
          <p:spPr bwMode="auto">
            <a:xfrm>
              <a:off x="5040" y="2664"/>
              <a:ext cx="192" cy="423"/>
            </a:xfrm>
            <a:custGeom>
              <a:avLst/>
              <a:gdLst>
                <a:gd name="T0" fmla="*/ 0 w 192"/>
                <a:gd name="T1" fmla="*/ 228 h 423"/>
                <a:gd name="T2" fmla="*/ 48 w 192"/>
                <a:gd name="T3" fmla="*/ 0 h 423"/>
                <a:gd name="T4" fmla="*/ 96 w 192"/>
                <a:gd name="T5" fmla="*/ 228 h 423"/>
                <a:gd name="T6" fmla="*/ 150 w 192"/>
                <a:gd name="T7" fmla="*/ 423 h 423"/>
                <a:gd name="T8" fmla="*/ 192 w 192"/>
                <a:gd name="T9" fmla="*/ 228 h 4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423"/>
                <a:gd name="T17" fmla="*/ 192 w 192"/>
                <a:gd name="T18" fmla="*/ 423 h 4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423">
                  <a:moveTo>
                    <a:pt x="0" y="228"/>
                  </a:moveTo>
                  <a:cubicBezTo>
                    <a:pt x="8" y="190"/>
                    <a:pt x="32" y="0"/>
                    <a:pt x="48" y="0"/>
                  </a:cubicBezTo>
                  <a:cubicBezTo>
                    <a:pt x="64" y="0"/>
                    <a:pt x="79" y="158"/>
                    <a:pt x="96" y="228"/>
                  </a:cubicBezTo>
                  <a:cubicBezTo>
                    <a:pt x="113" y="298"/>
                    <a:pt x="134" y="423"/>
                    <a:pt x="150" y="423"/>
                  </a:cubicBezTo>
                  <a:cubicBezTo>
                    <a:pt x="166" y="423"/>
                    <a:pt x="183" y="269"/>
                    <a:pt x="192" y="22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205" name="Freeform 50"/>
            <p:cNvSpPr>
              <a:spLocks/>
            </p:cNvSpPr>
            <p:nvPr/>
          </p:nvSpPr>
          <p:spPr bwMode="auto">
            <a:xfrm>
              <a:off x="5232" y="2634"/>
              <a:ext cx="192" cy="477"/>
            </a:xfrm>
            <a:custGeom>
              <a:avLst/>
              <a:gdLst>
                <a:gd name="T0" fmla="*/ 0 w 192"/>
                <a:gd name="T1" fmla="*/ 258 h 477"/>
                <a:gd name="T2" fmla="*/ 45 w 192"/>
                <a:gd name="T3" fmla="*/ 0 h 477"/>
                <a:gd name="T4" fmla="*/ 96 w 192"/>
                <a:gd name="T5" fmla="*/ 258 h 477"/>
                <a:gd name="T6" fmla="*/ 147 w 192"/>
                <a:gd name="T7" fmla="*/ 477 h 477"/>
                <a:gd name="T8" fmla="*/ 192 w 192"/>
                <a:gd name="T9" fmla="*/ 258 h 4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477"/>
                <a:gd name="T17" fmla="*/ 192 w 192"/>
                <a:gd name="T18" fmla="*/ 477 h 4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477">
                  <a:moveTo>
                    <a:pt x="0" y="258"/>
                  </a:moveTo>
                  <a:cubicBezTo>
                    <a:pt x="8" y="215"/>
                    <a:pt x="29" y="0"/>
                    <a:pt x="45" y="0"/>
                  </a:cubicBezTo>
                  <a:cubicBezTo>
                    <a:pt x="61" y="0"/>
                    <a:pt x="79" y="179"/>
                    <a:pt x="96" y="258"/>
                  </a:cubicBezTo>
                  <a:cubicBezTo>
                    <a:pt x="113" y="337"/>
                    <a:pt x="131" y="477"/>
                    <a:pt x="147" y="477"/>
                  </a:cubicBezTo>
                  <a:cubicBezTo>
                    <a:pt x="163" y="477"/>
                    <a:pt x="183" y="304"/>
                    <a:pt x="192" y="25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sp>
        <p:nvSpPr>
          <p:cNvPr id="7176" name="Rectangle 51"/>
          <p:cNvSpPr>
            <a:spLocks noChangeArrowheads="1"/>
          </p:cNvSpPr>
          <p:nvPr/>
        </p:nvSpPr>
        <p:spPr bwMode="auto">
          <a:xfrm rot="-5400000">
            <a:off x="6012876" y="2570927"/>
            <a:ext cx="4138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000">
                <a:sym typeface="Wingdings" pitchFamily="2" charset="2"/>
              </a:rPr>
              <a:t></a:t>
            </a:r>
          </a:p>
        </p:txBody>
      </p:sp>
      <p:sp>
        <p:nvSpPr>
          <p:cNvPr id="7177" name="Rectangle 52"/>
          <p:cNvSpPr>
            <a:spLocks noChangeArrowheads="1"/>
          </p:cNvSpPr>
          <p:nvPr/>
        </p:nvSpPr>
        <p:spPr bwMode="auto">
          <a:xfrm>
            <a:off x="6945533" y="2962245"/>
            <a:ext cx="4138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000">
                <a:sym typeface="Wingdings" pitchFamily="2" charset="2"/>
              </a:rPr>
              <a:t></a:t>
            </a:r>
          </a:p>
        </p:txBody>
      </p:sp>
      <p:sp>
        <p:nvSpPr>
          <p:cNvPr id="7178" name="Freeform 53"/>
          <p:cNvSpPr>
            <a:spLocks/>
          </p:cNvSpPr>
          <p:nvPr/>
        </p:nvSpPr>
        <p:spPr bwMode="auto">
          <a:xfrm>
            <a:off x="6305550" y="4457700"/>
            <a:ext cx="1809750" cy="304800"/>
          </a:xfrm>
          <a:custGeom>
            <a:avLst/>
            <a:gdLst>
              <a:gd name="T0" fmla="*/ 0 w 3840"/>
              <a:gd name="T1" fmla="*/ 2147483647 h 934"/>
              <a:gd name="T2" fmla="*/ 2147483647 w 3840"/>
              <a:gd name="T3" fmla="*/ 2147483647 h 934"/>
              <a:gd name="T4" fmla="*/ 2147483647 w 3840"/>
              <a:gd name="T5" fmla="*/ 2147483647 h 934"/>
              <a:gd name="T6" fmla="*/ 2147483647 w 3840"/>
              <a:gd name="T7" fmla="*/ 2147483647 h 934"/>
              <a:gd name="T8" fmla="*/ 2147483647 w 3840"/>
              <a:gd name="T9" fmla="*/ 2147483647 h 934"/>
              <a:gd name="T10" fmla="*/ 2147483647 w 3840"/>
              <a:gd name="T11" fmla="*/ 2147483647 h 934"/>
              <a:gd name="T12" fmla="*/ 2147483647 w 3840"/>
              <a:gd name="T13" fmla="*/ 2147483647 h 934"/>
              <a:gd name="T14" fmla="*/ 2147483647 w 3840"/>
              <a:gd name="T15" fmla="*/ 2147483647 h 934"/>
              <a:gd name="T16" fmla="*/ 2147483647 w 3840"/>
              <a:gd name="T17" fmla="*/ 2147483647 h 934"/>
              <a:gd name="T18" fmla="*/ 2147483647 w 3840"/>
              <a:gd name="T19" fmla="*/ 2147483647 h 934"/>
              <a:gd name="T20" fmla="*/ 2147483647 w 3840"/>
              <a:gd name="T21" fmla="*/ 2147483647 h 934"/>
              <a:gd name="T22" fmla="*/ 2147483647 w 3840"/>
              <a:gd name="T23" fmla="*/ 2147483647 h 934"/>
              <a:gd name="T24" fmla="*/ 2147483647 w 3840"/>
              <a:gd name="T25" fmla="*/ 2147483647 h 934"/>
              <a:gd name="T26" fmla="*/ 2147483647 w 3840"/>
              <a:gd name="T27" fmla="*/ 2147483647 h 934"/>
              <a:gd name="T28" fmla="*/ 2147483647 w 3840"/>
              <a:gd name="T29" fmla="*/ 2147483647 h 934"/>
              <a:gd name="T30" fmla="*/ 2147483647 w 3840"/>
              <a:gd name="T31" fmla="*/ 2147483647 h 93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840"/>
              <a:gd name="T49" fmla="*/ 0 h 934"/>
              <a:gd name="T50" fmla="*/ 3840 w 3840"/>
              <a:gd name="T51" fmla="*/ 934 h 934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840" h="934">
                <a:moveTo>
                  <a:pt x="0" y="502"/>
                </a:moveTo>
                <a:cubicBezTo>
                  <a:pt x="32" y="278"/>
                  <a:pt x="64" y="54"/>
                  <a:pt x="144" y="118"/>
                </a:cubicBezTo>
                <a:cubicBezTo>
                  <a:pt x="224" y="182"/>
                  <a:pt x="352" y="838"/>
                  <a:pt x="480" y="886"/>
                </a:cubicBezTo>
                <a:cubicBezTo>
                  <a:pt x="608" y="934"/>
                  <a:pt x="792" y="542"/>
                  <a:pt x="912" y="406"/>
                </a:cubicBezTo>
                <a:cubicBezTo>
                  <a:pt x="1032" y="270"/>
                  <a:pt x="1080" y="6"/>
                  <a:pt x="1200" y="70"/>
                </a:cubicBezTo>
                <a:cubicBezTo>
                  <a:pt x="1320" y="134"/>
                  <a:pt x="1528" y="662"/>
                  <a:pt x="1632" y="790"/>
                </a:cubicBezTo>
                <a:cubicBezTo>
                  <a:pt x="1736" y="918"/>
                  <a:pt x="1768" y="910"/>
                  <a:pt x="1824" y="838"/>
                </a:cubicBezTo>
                <a:cubicBezTo>
                  <a:pt x="1880" y="766"/>
                  <a:pt x="1931" y="461"/>
                  <a:pt x="1968" y="358"/>
                </a:cubicBezTo>
                <a:cubicBezTo>
                  <a:pt x="2005" y="255"/>
                  <a:pt x="2024" y="270"/>
                  <a:pt x="2048" y="222"/>
                </a:cubicBezTo>
                <a:cubicBezTo>
                  <a:pt x="2072" y="174"/>
                  <a:pt x="2061" y="0"/>
                  <a:pt x="2112" y="70"/>
                </a:cubicBezTo>
                <a:cubicBezTo>
                  <a:pt x="2163" y="140"/>
                  <a:pt x="2280" y="614"/>
                  <a:pt x="2352" y="646"/>
                </a:cubicBezTo>
                <a:cubicBezTo>
                  <a:pt x="2424" y="678"/>
                  <a:pt x="2448" y="230"/>
                  <a:pt x="2544" y="262"/>
                </a:cubicBezTo>
                <a:cubicBezTo>
                  <a:pt x="2640" y="294"/>
                  <a:pt x="2808" y="822"/>
                  <a:pt x="2928" y="838"/>
                </a:cubicBezTo>
                <a:cubicBezTo>
                  <a:pt x="3048" y="854"/>
                  <a:pt x="3176" y="398"/>
                  <a:pt x="3264" y="358"/>
                </a:cubicBezTo>
                <a:cubicBezTo>
                  <a:pt x="3352" y="318"/>
                  <a:pt x="3360" y="574"/>
                  <a:pt x="3456" y="598"/>
                </a:cubicBezTo>
                <a:cubicBezTo>
                  <a:pt x="3552" y="622"/>
                  <a:pt x="3776" y="518"/>
                  <a:pt x="3840" y="502"/>
                </a:cubicBezTo>
              </a:path>
            </a:pathLst>
          </a:cu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7179" name="Text Box 54"/>
          <p:cNvSpPr txBox="1">
            <a:spLocks noChangeArrowheads="1"/>
          </p:cNvSpPr>
          <p:nvPr/>
        </p:nvSpPr>
        <p:spPr bwMode="auto">
          <a:xfrm>
            <a:off x="6391275" y="5140751"/>
            <a:ext cx="1628775" cy="830997"/>
          </a:xfrm>
          <a:prstGeom prst="rect">
            <a:avLst/>
          </a:prstGeom>
          <a:solidFill>
            <a:srgbClr val="CC3300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endParaRPr lang="en-GB" sz="1600" b="1">
              <a:solidFill>
                <a:schemeClr val="bg1"/>
              </a:solidFill>
            </a:endParaRPr>
          </a:p>
          <a:p>
            <a:pPr algn="ctr"/>
            <a:r>
              <a:rPr lang="en-GB" sz="1600" b="1">
                <a:solidFill>
                  <a:schemeClr val="bg1"/>
                </a:solidFill>
              </a:rPr>
              <a:t>Audio Stage</a:t>
            </a:r>
          </a:p>
          <a:p>
            <a:pPr algn="ctr"/>
            <a:endParaRPr lang="en-GB" sz="1600" b="1">
              <a:solidFill>
                <a:schemeClr val="bg1"/>
              </a:solidFill>
            </a:endParaRPr>
          </a:p>
        </p:txBody>
      </p:sp>
      <p:sp>
        <p:nvSpPr>
          <p:cNvPr id="7180" name="Rectangle 55"/>
          <p:cNvSpPr>
            <a:spLocks noChangeArrowheads="1"/>
          </p:cNvSpPr>
          <p:nvPr/>
        </p:nvSpPr>
        <p:spPr bwMode="auto">
          <a:xfrm>
            <a:off x="6983633" y="4210020"/>
            <a:ext cx="4138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000">
                <a:sym typeface="Wingdings" pitchFamily="2" charset="2"/>
              </a:rPr>
              <a:t></a:t>
            </a:r>
          </a:p>
        </p:txBody>
      </p:sp>
      <p:sp>
        <p:nvSpPr>
          <p:cNvPr id="7181" name="Rectangle 56"/>
          <p:cNvSpPr>
            <a:spLocks noChangeArrowheads="1"/>
          </p:cNvSpPr>
          <p:nvPr/>
        </p:nvSpPr>
        <p:spPr bwMode="auto">
          <a:xfrm>
            <a:off x="6993158" y="4724370"/>
            <a:ext cx="4138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000">
                <a:sym typeface="Wingdings" pitchFamily="2" charset="2"/>
              </a:rPr>
              <a:t></a:t>
            </a:r>
          </a:p>
        </p:txBody>
      </p:sp>
      <p:sp>
        <p:nvSpPr>
          <p:cNvPr id="7182" name="Text Box 57"/>
          <p:cNvSpPr txBox="1">
            <a:spLocks noChangeArrowheads="1"/>
          </p:cNvSpPr>
          <p:nvPr/>
        </p:nvSpPr>
        <p:spPr bwMode="auto">
          <a:xfrm>
            <a:off x="381000" y="381000"/>
            <a:ext cx="3898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400" b="1" dirty="0"/>
              <a:t>Amplitude Demodulation</a:t>
            </a:r>
          </a:p>
        </p:txBody>
      </p:sp>
      <p:sp>
        <p:nvSpPr>
          <p:cNvPr id="7183" name="Text Box 58"/>
          <p:cNvSpPr txBox="1">
            <a:spLocks noChangeArrowheads="1"/>
          </p:cNvSpPr>
          <p:nvPr/>
        </p:nvSpPr>
        <p:spPr bwMode="auto">
          <a:xfrm>
            <a:off x="381000" y="3131137"/>
            <a:ext cx="3876675" cy="2800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180975" indent="-180975">
              <a:buFontTx/>
              <a:buChar char="•"/>
            </a:pPr>
            <a:r>
              <a:rPr lang="en-GB" sz="1600" dirty="0"/>
              <a:t>Receiver - antenna feeds a circuit tuned (i.e. sympathetic to the frequency of the desired carrier wave).  The modulated carrier wave is retrieved</a:t>
            </a:r>
          </a:p>
          <a:p>
            <a:pPr marL="180975" indent="-180975">
              <a:buFontTx/>
              <a:buChar char="•"/>
            </a:pPr>
            <a:endParaRPr lang="en-GB" sz="1600" dirty="0"/>
          </a:p>
          <a:p>
            <a:pPr marL="180975" indent="-180975">
              <a:buFontTx/>
              <a:buChar char="•"/>
            </a:pPr>
            <a:r>
              <a:rPr lang="en-GB" sz="1600" dirty="0"/>
              <a:t>The demodulator – “tunes in” to the same frequency as the carrier, so retrieves the required baseband signal</a:t>
            </a:r>
          </a:p>
          <a:p>
            <a:pPr marL="180975" indent="-180975">
              <a:buFontTx/>
              <a:buChar char="•"/>
            </a:pPr>
            <a:endParaRPr lang="en-GB" sz="1600" dirty="0"/>
          </a:p>
        </p:txBody>
      </p:sp>
      <p:sp>
        <p:nvSpPr>
          <p:cNvPr id="7184" name="Line 59"/>
          <p:cNvSpPr>
            <a:spLocks noChangeShapeType="1"/>
          </p:cNvSpPr>
          <p:nvPr/>
        </p:nvSpPr>
        <p:spPr bwMode="auto">
          <a:xfrm flipV="1">
            <a:off x="3844153" y="2946597"/>
            <a:ext cx="642937" cy="320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7185" name="Line 60"/>
          <p:cNvSpPr>
            <a:spLocks noChangeShapeType="1"/>
          </p:cNvSpPr>
          <p:nvPr/>
        </p:nvSpPr>
        <p:spPr bwMode="auto">
          <a:xfrm flipV="1">
            <a:off x="4119563" y="4010025"/>
            <a:ext cx="2078037" cy="963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grpSp>
        <p:nvGrpSpPr>
          <p:cNvPr id="58" name="Group 5"/>
          <p:cNvGrpSpPr>
            <a:grpSpLocks/>
          </p:cNvGrpSpPr>
          <p:nvPr/>
        </p:nvGrpSpPr>
        <p:grpSpPr bwMode="auto">
          <a:xfrm>
            <a:off x="4127613" y="4469502"/>
            <a:ext cx="1698652" cy="264340"/>
            <a:chOff x="864" y="720"/>
            <a:chExt cx="3840" cy="960"/>
          </a:xfrm>
        </p:grpSpPr>
        <p:sp>
          <p:nvSpPr>
            <p:cNvPr id="59" name="Freeform 6"/>
            <p:cNvSpPr>
              <a:spLocks/>
            </p:cNvSpPr>
            <p:nvPr/>
          </p:nvSpPr>
          <p:spPr bwMode="auto">
            <a:xfrm>
              <a:off x="864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0" name="Freeform 7"/>
            <p:cNvSpPr>
              <a:spLocks/>
            </p:cNvSpPr>
            <p:nvPr/>
          </p:nvSpPr>
          <p:spPr bwMode="auto">
            <a:xfrm>
              <a:off x="1056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1" name="Freeform 8"/>
            <p:cNvSpPr>
              <a:spLocks/>
            </p:cNvSpPr>
            <p:nvPr/>
          </p:nvSpPr>
          <p:spPr bwMode="auto">
            <a:xfrm>
              <a:off x="1248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2" name="Freeform 9"/>
            <p:cNvSpPr>
              <a:spLocks/>
            </p:cNvSpPr>
            <p:nvPr/>
          </p:nvSpPr>
          <p:spPr bwMode="auto">
            <a:xfrm>
              <a:off x="1440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3" name="Freeform 10"/>
            <p:cNvSpPr>
              <a:spLocks/>
            </p:cNvSpPr>
            <p:nvPr/>
          </p:nvSpPr>
          <p:spPr bwMode="auto">
            <a:xfrm>
              <a:off x="1632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4" name="Freeform 11"/>
            <p:cNvSpPr>
              <a:spLocks/>
            </p:cNvSpPr>
            <p:nvPr/>
          </p:nvSpPr>
          <p:spPr bwMode="auto">
            <a:xfrm>
              <a:off x="1824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5" name="Freeform 12"/>
            <p:cNvSpPr>
              <a:spLocks/>
            </p:cNvSpPr>
            <p:nvPr/>
          </p:nvSpPr>
          <p:spPr bwMode="auto">
            <a:xfrm>
              <a:off x="2016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6" name="Freeform 13"/>
            <p:cNvSpPr>
              <a:spLocks/>
            </p:cNvSpPr>
            <p:nvPr/>
          </p:nvSpPr>
          <p:spPr bwMode="auto">
            <a:xfrm>
              <a:off x="2208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7" name="Freeform 14"/>
            <p:cNvSpPr>
              <a:spLocks/>
            </p:cNvSpPr>
            <p:nvPr/>
          </p:nvSpPr>
          <p:spPr bwMode="auto">
            <a:xfrm>
              <a:off x="2400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8" name="Freeform 15"/>
            <p:cNvSpPr>
              <a:spLocks/>
            </p:cNvSpPr>
            <p:nvPr/>
          </p:nvSpPr>
          <p:spPr bwMode="auto">
            <a:xfrm>
              <a:off x="2592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9" name="Freeform 16"/>
            <p:cNvSpPr>
              <a:spLocks/>
            </p:cNvSpPr>
            <p:nvPr/>
          </p:nvSpPr>
          <p:spPr bwMode="auto">
            <a:xfrm>
              <a:off x="2784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0" name="Freeform 17"/>
            <p:cNvSpPr>
              <a:spLocks/>
            </p:cNvSpPr>
            <p:nvPr/>
          </p:nvSpPr>
          <p:spPr bwMode="auto">
            <a:xfrm>
              <a:off x="2976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1" name="Freeform 18"/>
            <p:cNvSpPr>
              <a:spLocks/>
            </p:cNvSpPr>
            <p:nvPr/>
          </p:nvSpPr>
          <p:spPr bwMode="auto">
            <a:xfrm>
              <a:off x="3168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2" name="Freeform 19"/>
            <p:cNvSpPr>
              <a:spLocks/>
            </p:cNvSpPr>
            <p:nvPr/>
          </p:nvSpPr>
          <p:spPr bwMode="auto">
            <a:xfrm>
              <a:off x="3360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3" name="Freeform 20"/>
            <p:cNvSpPr>
              <a:spLocks/>
            </p:cNvSpPr>
            <p:nvPr/>
          </p:nvSpPr>
          <p:spPr bwMode="auto">
            <a:xfrm>
              <a:off x="3552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4" name="Freeform 21"/>
            <p:cNvSpPr>
              <a:spLocks/>
            </p:cNvSpPr>
            <p:nvPr/>
          </p:nvSpPr>
          <p:spPr bwMode="auto">
            <a:xfrm>
              <a:off x="3744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5" name="Freeform 22"/>
            <p:cNvSpPr>
              <a:spLocks/>
            </p:cNvSpPr>
            <p:nvPr/>
          </p:nvSpPr>
          <p:spPr bwMode="auto">
            <a:xfrm>
              <a:off x="3936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6" name="Freeform 23"/>
            <p:cNvSpPr>
              <a:spLocks/>
            </p:cNvSpPr>
            <p:nvPr/>
          </p:nvSpPr>
          <p:spPr bwMode="auto">
            <a:xfrm>
              <a:off x="4128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7" name="Freeform 24"/>
            <p:cNvSpPr>
              <a:spLocks/>
            </p:cNvSpPr>
            <p:nvPr/>
          </p:nvSpPr>
          <p:spPr bwMode="auto">
            <a:xfrm>
              <a:off x="4320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8" name="Freeform 25"/>
            <p:cNvSpPr>
              <a:spLocks/>
            </p:cNvSpPr>
            <p:nvPr/>
          </p:nvSpPr>
          <p:spPr bwMode="auto">
            <a:xfrm>
              <a:off x="4512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</p:spTree>
    <p:extLst>
      <p:ext uri="{BB962C8B-B14F-4D97-AF65-F5344CB8AC3E}">
        <p14:creationId xmlns:p14="http://schemas.microsoft.com/office/powerpoint/2010/main" val="4803903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49275" y="1289050"/>
            <a:ext cx="3581400" cy="990600"/>
            <a:chOff x="1584" y="2448"/>
            <a:chExt cx="3840" cy="879"/>
          </a:xfrm>
        </p:grpSpPr>
        <p:sp>
          <p:nvSpPr>
            <p:cNvPr id="3" name="Freeform 6"/>
            <p:cNvSpPr>
              <a:spLocks/>
            </p:cNvSpPr>
            <p:nvPr/>
          </p:nvSpPr>
          <p:spPr bwMode="auto">
            <a:xfrm>
              <a:off x="1584" y="2508"/>
              <a:ext cx="192" cy="777"/>
            </a:xfrm>
            <a:custGeom>
              <a:avLst/>
              <a:gdLst>
                <a:gd name="T0" fmla="*/ 0 w 1536"/>
                <a:gd name="T1" fmla="*/ 1 h 1152"/>
                <a:gd name="T2" fmla="*/ 0 w 1536"/>
                <a:gd name="T3" fmla="*/ 0 h 1152"/>
                <a:gd name="T4" fmla="*/ 0 w 1536"/>
                <a:gd name="T5" fmla="*/ 1 h 1152"/>
                <a:gd name="T6" fmla="*/ 0 w 1536"/>
                <a:gd name="T7" fmla="*/ 3 h 1152"/>
                <a:gd name="T8" fmla="*/ 0 w 1536"/>
                <a:gd name="T9" fmla="*/ 1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" name="Freeform 7"/>
            <p:cNvSpPr>
              <a:spLocks/>
            </p:cNvSpPr>
            <p:nvPr/>
          </p:nvSpPr>
          <p:spPr bwMode="auto">
            <a:xfrm>
              <a:off x="1776" y="2553"/>
              <a:ext cx="192" cy="528"/>
            </a:xfrm>
            <a:custGeom>
              <a:avLst/>
              <a:gdLst>
                <a:gd name="T0" fmla="*/ 0 w 192"/>
                <a:gd name="T1" fmla="*/ 339 h 528"/>
                <a:gd name="T2" fmla="*/ 48 w 192"/>
                <a:gd name="T3" fmla="*/ 11 h 528"/>
                <a:gd name="T4" fmla="*/ 96 w 192"/>
                <a:gd name="T5" fmla="*/ 270 h 528"/>
                <a:gd name="T6" fmla="*/ 144 w 192"/>
                <a:gd name="T7" fmla="*/ 528 h 528"/>
                <a:gd name="T8" fmla="*/ 192 w 192"/>
                <a:gd name="T9" fmla="*/ 270 h 5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28"/>
                <a:gd name="T17" fmla="*/ 192 w 192"/>
                <a:gd name="T18" fmla="*/ 528 h 5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28">
                  <a:moveTo>
                    <a:pt x="0" y="339"/>
                  </a:moveTo>
                  <a:cubicBezTo>
                    <a:pt x="8" y="285"/>
                    <a:pt x="32" y="22"/>
                    <a:pt x="48" y="11"/>
                  </a:cubicBezTo>
                  <a:cubicBezTo>
                    <a:pt x="64" y="0"/>
                    <a:pt x="80" y="183"/>
                    <a:pt x="96" y="270"/>
                  </a:cubicBezTo>
                  <a:cubicBezTo>
                    <a:pt x="112" y="356"/>
                    <a:pt x="128" y="528"/>
                    <a:pt x="144" y="528"/>
                  </a:cubicBezTo>
                  <a:cubicBezTo>
                    <a:pt x="160" y="528"/>
                    <a:pt x="176" y="399"/>
                    <a:pt x="192" y="27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" name="Freeform 8"/>
            <p:cNvSpPr>
              <a:spLocks/>
            </p:cNvSpPr>
            <p:nvPr/>
          </p:nvSpPr>
          <p:spPr bwMode="auto">
            <a:xfrm>
              <a:off x="1965" y="2743"/>
              <a:ext cx="202" cy="229"/>
            </a:xfrm>
            <a:custGeom>
              <a:avLst/>
              <a:gdLst>
                <a:gd name="T0" fmla="*/ 0 w 202"/>
                <a:gd name="T1" fmla="*/ 98 h 229"/>
                <a:gd name="T2" fmla="*/ 48 w 202"/>
                <a:gd name="T3" fmla="*/ 8 h 229"/>
                <a:gd name="T4" fmla="*/ 99 w 202"/>
                <a:gd name="T5" fmla="*/ 149 h 229"/>
                <a:gd name="T6" fmla="*/ 135 w 202"/>
                <a:gd name="T7" fmla="*/ 224 h 229"/>
                <a:gd name="T8" fmla="*/ 192 w 202"/>
                <a:gd name="T9" fmla="*/ 119 h 229"/>
                <a:gd name="T10" fmla="*/ 195 w 202"/>
                <a:gd name="T11" fmla="*/ 149 h 2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02"/>
                <a:gd name="T19" fmla="*/ 0 h 229"/>
                <a:gd name="T20" fmla="*/ 202 w 202"/>
                <a:gd name="T21" fmla="*/ 229 h 22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02" h="229">
                  <a:moveTo>
                    <a:pt x="0" y="98"/>
                  </a:moveTo>
                  <a:cubicBezTo>
                    <a:pt x="8" y="83"/>
                    <a:pt x="32" y="0"/>
                    <a:pt x="48" y="8"/>
                  </a:cubicBezTo>
                  <a:cubicBezTo>
                    <a:pt x="64" y="16"/>
                    <a:pt x="85" y="113"/>
                    <a:pt x="99" y="149"/>
                  </a:cubicBezTo>
                  <a:cubicBezTo>
                    <a:pt x="113" y="185"/>
                    <a:pt x="120" y="229"/>
                    <a:pt x="135" y="224"/>
                  </a:cubicBezTo>
                  <a:cubicBezTo>
                    <a:pt x="150" y="219"/>
                    <a:pt x="182" y="131"/>
                    <a:pt x="192" y="119"/>
                  </a:cubicBezTo>
                  <a:cubicBezTo>
                    <a:pt x="202" y="107"/>
                    <a:pt x="195" y="143"/>
                    <a:pt x="195" y="149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" name="Freeform 9"/>
            <p:cNvSpPr>
              <a:spLocks/>
            </p:cNvSpPr>
            <p:nvPr/>
          </p:nvSpPr>
          <p:spPr bwMode="auto">
            <a:xfrm>
              <a:off x="2154" y="2745"/>
              <a:ext cx="198" cy="303"/>
            </a:xfrm>
            <a:custGeom>
              <a:avLst/>
              <a:gdLst>
                <a:gd name="T0" fmla="*/ 0 w 198"/>
                <a:gd name="T1" fmla="*/ 129 h 303"/>
                <a:gd name="T2" fmla="*/ 48 w 198"/>
                <a:gd name="T3" fmla="*/ 3 h 303"/>
                <a:gd name="T4" fmla="*/ 102 w 198"/>
                <a:gd name="T5" fmla="*/ 147 h 303"/>
                <a:gd name="T6" fmla="*/ 150 w 198"/>
                <a:gd name="T7" fmla="*/ 303 h 303"/>
                <a:gd name="T8" fmla="*/ 198 w 198"/>
                <a:gd name="T9" fmla="*/ 147 h 3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8"/>
                <a:gd name="T16" fmla="*/ 0 h 303"/>
                <a:gd name="T17" fmla="*/ 198 w 198"/>
                <a:gd name="T18" fmla="*/ 303 h 3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8" h="303">
                  <a:moveTo>
                    <a:pt x="0" y="129"/>
                  </a:moveTo>
                  <a:cubicBezTo>
                    <a:pt x="8" y="108"/>
                    <a:pt x="31" y="0"/>
                    <a:pt x="48" y="3"/>
                  </a:cubicBezTo>
                  <a:cubicBezTo>
                    <a:pt x="65" y="6"/>
                    <a:pt x="85" y="97"/>
                    <a:pt x="102" y="147"/>
                  </a:cubicBezTo>
                  <a:cubicBezTo>
                    <a:pt x="119" y="197"/>
                    <a:pt x="134" y="303"/>
                    <a:pt x="150" y="303"/>
                  </a:cubicBezTo>
                  <a:cubicBezTo>
                    <a:pt x="166" y="303"/>
                    <a:pt x="188" y="179"/>
                    <a:pt x="198" y="147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" name="Freeform 10"/>
            <p:cNvSpPr>
              <a:spLocks/>
            </p:cNvSpPr>
            <p:nvPr/>
          </p:nvSpPr>
          <p:spPr bwMode="auto">
            <a:xfrm>
              <a:off x="2352" y="2622"/>
              <a:ext cx="192" cy="546"/>
            </a:xfrm>
            <a:custGeom>
              <a:avLst/>
              <a:gdLst>
                <a:gd name="T0" fmla="*/ 0 w 192"/>
                <a:gd name="T1" fmla="*/ 270 h 546"/>
                <a:gd name="T2" fmla="*/ 51 w 192"/>
                <a:gd name="T3" fmla="*/ 0 h 546"/>
                <a:gd name="T4" fmla="*/ 96 w 192"/>
                <a:gd name="T5" fmla="*/ 270 h 546"/>
                <a:gd name="T6" fmla="*/ 147 w 192"/>
                <a:gd name="T7" fmla="*/ 546 h 546"/>
                <a:gd name="T8" fmla="*/ 192 w 192"/>
                <a:gd name="T9" fmla="*/ 270 h 5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46"/>
                <a:gd name="T17" fmla="*/ 192 w 192"/>
                <a:gd name="T18" fmla="*/ 546 h 5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46">
                  <a:moveTo>
                    <a:pt x="0" y="270"/>
                  </a:moveTo>
                  <a:cubicBezTo>
                    <a:pt x="8" y="225"/>
                    <a:pt x="35" y="0"/>
                    <a:pt x="51" y="0"/>
                  </a:cubicBezTo>
                  <a:cubicBezTo>
                    <a:pt x="67" y="0"/>
                    <a:pt x="80" y="179"/>
                    <a:pt x="96" y="270"/>
                  </a:cubicBezTo>
                  <a:cubicBezTo>
                    <a:pt x="112" y="361"/>
                    <a:pt x="131" y="546"/>
                    <a:pt x="147" y="546"/>
                  </a:cubicBezTo>
                  <a:cubicBezTo>
                    <a:pt x="163" y="546"/>
                    <a:pt x="183" y="327"/>
                    <a:pt x="192" y="27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" name="Freeform 11"/>
            <p:cNvSpPr>
              <a:spLocks/>
            </p:cNvSpPr>
            <p:nvPr/>
          </p:nvSpPr>
          <p:spPr bwMode="auto">
            <a:xfrm>
              <a:off x="2544" y="2520"/>
              <a:ext cx="192" cy="807"/>
            </a:xfrm>
            <a:custGeom>
              <a:avLst/>
              <a:gdLst>
                <a:gd name="T0" fmla="*/ 0 w 192"/>
                <a:gd name="T1" fmla="*/ 372 h 807"/>
                <a:gd name="T2" fmla="*/ 42 w 192"/>
                <a:gd name="T3" fmla="*/ 0 h 807"/>
                <a:gd name="T4" fmla="*/ 96 w 192"/>
                <a:gd name="T5" fmla="*/ 372 h 807"/>
                <a:gd name="T6" fmla="*/ 147 w 192"/>
                <a:gd name="T7" fmla="*/ 750 h 807"/>
                <a:gd name="T8" fmla="*/ 156 w 192"/>
                <a:gd name="T9" fmla="*/ 714 h 807"/>
                <a:gd name="T10" fmla="*/ 192 w 192"/>
                <a:gd name="T11" fmla="*/ 372 h 8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2"/>
                <a:gd name="T19" fmla="*/ 0 h 807"/>
                <a:gd name="T20" fmla="*/ 192 w 192"/>
                <a:gd name="T21" fmla="*/ 807 h 80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92" h="807">
                  <a:moveTo>
                    <a:pt x="0" y="372"/>
                  </a:moveTo>
                  <a:cubicBezTo>
                    <a:pt x="7" y="310"/>
                    <a:pt x="26" y="0"/>
                    <a:pt x="42" y="0"/>
                  </a:cubicBezTo>
                  <a:cubicBezTo>
                    <a:pt x="58" y="0"/>
                    <a:pt x="79" y="247"/>
                    <a:pt x="96" y="372"/>
                  </a:cubicBezTo>
                  <a:cubicBezTo>
                    <a:pt x="113" y="497"/>
                    <a:pt x="137" y="693"/>
                    <a:pt x="147" y="750"/>
                  </a:cubicBezTo>
                  <a:cubicBezTo>
                    <a:pt x="157" y="807"/>
                    <a:pt x="148" y="777"/>
                    <a:pt x="156" y="714"/>
                  </a:cubicBezTo>
                  <a:cubicBezTo>
                    <a:pt x="164" y="651"/>
                    <a:pt x="184" y="443"/>
                    <a:pt x="192" y="372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" name="Freeform 12"/>
            <p:cNvSpPr>
              <a:spLocks/>
            </p:cNvSpPr>
            <p:nvPr/>
          </p:nvSpPr>
          <p:spPr bwMode="auto">
            <a:xfrm>
              <a:off x="2736" y="2448"/>
              <a:ext cx="192" cy="801"/>
            </a:xfrm>
            <a:custGeom>
              <a:avLst/>
              <a:gdLst>
                <a:gd name="T0" fmla="*/ 0 w 192"/>
                <a:gd name="T1" fmla="*/ 444 h 801"/>
                <a:gd name="T2" fmla="*/ 45 w 192"/>
                <a:gd name="T3" fmla="*/ 0 h 801"/>
                <a:gd name="T4" fmla="*/ 96 w 192"/>
                <a:gd name="T5" fmla="*/ 444 h 801"/>
                <a:gd name="T6" fmla="*/ 147 w 192"/>
                <a:gd name="T7" fmla="*/ 801 h 801"/>
                <a:gd name="T8" fmla="*/ 192 w 192"/>
                <a:gd name="T9" fmla="*/ 444 h 8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801"/>
                <a:gd name="T17" fmla="*/ 192 w 192"/>
                <a:gd name="T18" fmla="*/ 801 h 80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801">
                  <a:moveTo>
                    <a:pt x="0" y="444"/>
                  </a:moveTo>
                  <a:cubicBezTo>
                    <a:pt x="8" y="370"/>
                    <a:pt x="29" y="0"/>
                    <a:pt x="45" y="0"/>
                  </a:cubicBezTo>
                  <a:cubicBezTo>
                    <a:pt x="61" y="0"/>
                    <a:pt x="79" y="311"/>
                    <a:pt x="96" y="444"/>
                  </a:cubicBezTo>
                  <a:cubicBezTo>
                    <a:pt x="113" y="577"/>
                    <a:pt x="131" y="801"/>
                    <a:pt x="147" y="801"/>
                  </a:cubicBezTo>
                  <a:cubicBezTo>
                    <a:pt x="163" y="801"/>
                    <a:pt x="183" y="518"/>
                    <a:pt x="192" y="444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" name="Freeform 13"/>
            <p:cNvSpPr>
              <a:spLocks/>
            </p:cNvSpPr>
            <p:nvPr/>
          </p:nvSpPr>
          <p:spPr bwMode="auto">
            <a:xfrm>
              <a:off x="2928" y="2556"/>
              <a:ext cx="192" cy="549"/>
            </a:xfrm>
            <a:custGeom>
              <a:avLst/>
              <a:gdLst>
                <a:gd name="T0" fmla="*/ 0 w 192"/>
                <a:gd name="T1" fmla="*/ 336 h 549"/>
                <a:gd name="T2" fmla="*/ 48 w 192"/>
                <a:gd name="T3" fmla="*/ 0 h 549"/>
                <a:gd name="T4" fmla="*/ 96 w 192"/>
                <a:gd name="T5" fmla="*/ 336 h 549"/>
                <a:gd name="T6" fmla="*/ 147 w 192"/>
                <a:gd name="T7" fmla="*/ 549 h 549"/>
                <a:gd name="T8" fmla="*/ 192 w 192"/>
                <a:gd name="T9" fmla="*/ 336 h 5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49"/>
                <a:gd name="T17" fmla="*/ 192 w 192"/>
                <a:gd name="T18" fmla="*/ 549 h 5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49">
                  <a:moveTo>
                    <a:pt x="0" y="336"/>
                  </a:moveTo>
                  <a:cubicBezTo>
                    <a:pt x="8" y="280"/>
                    <a:pt x="32" y="0"/>
                    <a:pt x="48" y="0"/>
                  </a:cubicBezTo>
                  <a:cubicBezTo>
                    <a:pt x="64" y="0"/>
                    <a:pt x="80" y="245"/>
                    <a:pt x="96" y="336"/>
                  </a:cubicBezTo>
                  <a:cubicBezTo>
                    <a:pt x="112" y="427"/>
                    <a:pt x="131" y="549"/>
                    <a:pt x="147" y="549"/>
                  </a:cubicBezTo>
                  <a:cubicBezTo>
                    <a:pt x="163" y="549"/>
                    <a:pt x="183" y="380"/>
                    <a:pt x="192" y="33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" name="Freeform 14"/>
            <p:cNvSpPr>
              <a:spLocks/>
            </p:cNvSpPr>
            <p:nvPr/>
          </p:nvSpPr>
          <p:spPr bwMode="auto">
            <a:xfrm>
              <a:off x="3120" y="2703"/>
              <a:ext cx="186" cy="283"/>
            </a:xfrm>
            <a:custGeom>
              <a:avLst/>
              <a:gdLst>
                <a:gd name="T0" fmla="*/ 0 w 186"/>
                <a:gd name="T1" fmla="*/ 189 h 283"/>
                <a:gd name="T2" fmla="*/ 45 w 186"/>
                <a:gd name="T3" fmla="*/ 0 h 283"/>
                <a:gd name="T4" fmla="*/ 96 w 186"/>
                <a:gd name="T5" fmla="*/ 189 h 283"/>
                <a:gd name="T6" fmla="*/ 144 w 186"/>
                <a:gd name="T7" fmla="*/ 279 h 283"/>
                <a:gd name="T8" fmla="*/ 186 w 186"/>
                <a:gd name="T9" fmla="*/ 168 h 2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6"/>
                <a:gd name="T16" fmla="*/ 0 h 283"/>
                <a:gd name="T17" fmla="*/ 186 w 186"/>
                <a:gd name="T18" fmla="*/ 283 h 2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6" h="283">
                  <a:moveTo>
                    <a:pt x="0" y="189"/>
                  </a:moveTo>
                  <a:cubicBezTo>
                    <a:pt x="7" y="158"/>
                    <a:pt x="29" y="0"/>
                    <a:pt x="45" y="0"/>
                  </a:cubicBezTo>
                  <a:cubicBezTo>
                    <a:pt x="61" y="0"/>
                    <a:pt x="80" y="143"/>
                    <a:pt x="96" y="189"/>
                  </a:cubicBezTo>
                  <a:cubicBezTo>
                    <a:pt x="112" y="235"/>
                    <a:pt x="129" y="283"/>
                    <a:pt x="144" y="279"/>
                  </a:cubicBezTo>
                  <a:cubicBezTo>
                    <a:pt x="159" y="275"/>
                    <a:pt x="177" y="191"/>
                    <a:pt x="186" y="16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2" name="Freeform 15"/>
            <p:cNvSpPr>
              <a:spLocks/>
            </p:cNvSpPr>
            <p:nvPr/>
          </p:nvSpPr>
          <p:spPr bwMode="auto">
            <a:xfrm>
              <a:off x="3309" y="2773"/>
              <a:ext cx="192" cy="258"/>
            </a:xfrm>
            <a:custGeom>
              <a:avLst/>
              <a:gdLst>
                <a:gd name="T0" fmla="*/ 0 w 192"/>
                <a:gd name="T1" fmla="*/ 101 h 258"/>
                <a:gd name="T2" fmla="*/ 33 w 192"/>
                <a:gd name="T3" fmla="*/ 2 h 258"/>
                <a:gd name="T4" fmla="*/ 90 w 192"/>
                <a:gd name="T5" fmla="*/ 116 h 258"/>
                <a:gd name="T6" fmla="*/ 141 w 192"/>
                <a:gd name="T7" fmla="*/ 254 h 258"/>
                <a:gd name="T8" fmla="*/ 192 w 192"/>
                <a:gd name="T9" fmla="*/ 92 h 2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258"/>
                <a:gd name="T17" fmla="*/ 192 w 192"/>
                <a:gd name="T18" fmla="*/ 258 h 2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258">
                  <a:moveTo>
                    <a:pt x="0" y="101"/>
                  </a:moveTo>
                  <a:cubicBezTo>
                    <a:pt x="5" y="85"/>
                    <a:pt x="18" y="0"/>
                    <a:pt x="33" y="2"/>
                  </a:cubicBezTo>
                  <a:cubicBezTo>
                    <a:pt x="48" y="4"/>
                    <a:pt x="72" y="74"/>
                    <a:pt x="90" y="116"/>
                  </a:cubicBezTo>
                  <a:cubicBezTo>
                    <a:pt x="108" y="158"/>
                    <a:pt x="124" y="258"/>
                    <a:pt x="141" y="254"/>
                  </a:cubicBezTo>
                  <a:cubicBezTo>
                    <a:pt x="158" y="250"/>
                    <a:pt x="181" y="126"/>
                    <a:pt x="192" y="92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" name="Freeform 16"/>
            <p:cNvSpPr>
              <a:spLocks/>
            </p:cNvSpPr>
            <p:nvPr/>
          </p:nvSpPr>
          <p:spPr bwMode="auto">
            <a:xfrm>
              <a:off x="3495" y="2555"/>
              <a:ext cx="201" cy="694"/>
            </a:xfrm>
            <a:custGeom>
              <a:avLst/>
              <a:gdLst>
                <a:gd name="T0" fmla="*/ 0 w 201"/>
                <a:gd name="T1" fmla="*/ 328 h 694"/>
                <a:gd name="T2" fmla="*/ 54 w 201"/>
                <a:gd name="T3" fmla="*/ 1 h 694"/>
                <a:gd name="T4" fmla="*/ 105 w 201"/>
                <a:gd name="T5" fmla="*/ 337 h 694"/>
                <a:gd name="T6" fmla="*/ 147 w 201"/>
                <a:gd name="T7" fmla="*/ 694 h 694"/>
                <a:gd name="T8" fmla="*/ 201 w 201"/>
                <a:gd name="T9" fmla="*/ 337 h 6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1"/>
                <a:gd name="T16" fmla="*/ 0 h 694"/>
                <a:gd name="T17" fmla="*/ 201 w 201"/>
                <a:gd name="T18" fmla="*/ 694 h 6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1" h="694">
                  <a:moveTo>
                    <a:pt x="0" y="328"/>
                  </a:moveTo>
                  <a:cubicBezTo>
                    <a:pt x="9" y="274"/>
                    <a:pt x="37" y="0"/>
                    <a:pt x="54" y="1"/>
                  </a:cubicBezTo>
                  <a:cubicBezTo>
                    <a:pt x="71" y="2"/>
                    <a:pt x="90" y="222"/>
                    <a:pt x="105" y="337"/>
                  </a:cubicBezTo>
                  <a:cubicBezTo>
                    <a:pt x="120" y="452"/>
                    <a:pt x="131" y="694"/>
                    <a:pt x="147" y="694"/>
                  </a:cubicBezTo>
                  <a:cubicBezTo>
                    <a:pt x="163" y="694"/>
                    <a:pt x="190" y="411"/>
                    <a:pt x="201" y="337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" name="Freeform 17"/>
            <p:cNvSpPr>
              <a:spLocks/>
            </p:cNvSpPr>
            <p:nvPr/>
          </p:nvSpPr>
          <p:spPr bwMode="auto">
            <a:xfrm>
              <a:off x="3696" y="2481"/>
              <a:ext cx="192" cy="645"/>
            </a:xfrm>
            <a:custGeom>
              <a:avLst/>
              <a:gdLst>
                <a:gd name="T0" fmla="*/ 0 w 192"/>
                <a:gd name="T1" fmla="*/ 411 h 645"/>
                <a:gd name="T2" fmla="*/ 45 w 192"/>
                <a:gd name="T3" fmla="*/ 0 h 645"/>
                <a:gd name="T4" fmla="*/ 96 w 192"/>
                <a:gd name="T5" fmla="*/ 411 h 645"/>
                <a:gd name="T6" fmla="*/ 147 w 192"/>
                <a:gd name="T7" fmla="*/ 645 h 645"/>
                <a:gd name="T8" fmla="*/ 192 w 192"/>
                <a:gd name="T9" fmla="*/ 411 h 6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645"/>
                <a:gd name="T17" fmla="*/ 192 w 192"/>
                <a:gd name="T18" fmla="*/ 645 h 64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645">
                  <a:moveTo>
                    <a:pt x="0" y="411"/>
                  </a:moveTo>
                  <a:cubicBezTo>
                    <a:pt x="7" y="343"/>
                    <a:pt x="29" y="0"/>
                    <a:pt x="45" y="0"/>
                  </a:cubicBezTo>
                  <a:cubicBezTo>
                    <a:pt x="61" y="0"/>
                    <a:pt x="79" y="304"/>
                    <a:pt x="96" y="411"/>
                  </a:cubicBezTo>
                  <a:cubicBezTo>
                    <a:pt x="113" y="518"/>
                    <a:pt x="131" y="645"/>
                    <a:pt x="147" y="645"/>
                  </a:cubicBezTo>
                  <a:cubicBezTo>
                    <a:pt x="163" y="645"/>
                    <a:pt x="183" y="460"/>
                    <a:pt x="192" y="411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" name="Freeform 18"/>
            <p:cNvSpPr>
              <a:spLocks/>
            </p:cNvSpPr>
            <p:nvPr/>
          </p:nvSpPr>
          <p:spPr bwMode="auto">
            <a:xfrm>
              <a:off x="3888" y="2667"/>
              <a:ext cx="192" cy="489"/>
            </a:xfrm>
            <a:custGeom>
              <a:avLst/>
              <a:gdLst>
                <a:gd name="T0" fmla="*/ 0 w 192"/>
                <a:gd name="T1" fmla="*/ 225 h 489"/>
                <a:gd name="T2" fmla="*/ 39 w 192"/>
                <a:gd name="T3" fmla="*/ 0 h 489"/>
                <a:gd name="T4" fmla="*/ 96 w 192"/>
                <a:gd name="T5" fmla="*/ 225 h 489"/>
                <a:gd name="T6" fmla="*/ 141 w 192"/>
                <a:gd name="T7" fmla="*/ 489 h 489"/>
                <a:gd name="T8" fmla="*/ 192 w 192"/>
                <a:gd name="T9" fmla="*/ 225 h 4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489"/>
                <a:gd name="T17" fmla="*/ 192 w 192"/>
                <a:gd name="T18" fmla="*/ 489 h 4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489">
                  <a:moveTo>
                    <a:pt x="0" y="225"/>
                  </a:moveTo>
                  <a:cubicBezTo>
                    <a:pt x="6" y="188"/>
                    <a:pt x="23" y="0"/>
                    <a:pt x="39" y="0"/>
                  </a:cubicBezTo>
                  <a:cubicBezTo>
                    <a:pt x="55" y="0"/>
                    <a:pt x="79" y="144"/>
                    <a:pt x="96" y="225"/>
                  </a:cubicBezTo>
                  <a:cubicBezTo>
                    <a:pt x="113" y="306"/>
                    <a:pt x="125" y="489"/>
                    <a:pt x="141" y="489"/>
                  </a:cubicBezTo>
                  <a:cubicBezTo>
                    <a:pt x="157" y="489"/>
                    <a:pt x="182" y="280"/>
                    <a:pt x="192" y="225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" name="Freeform 19"/>
            <p:cNvSpPr>
              <a:spLocks/>
            </p:cNvSpPr>
            <p:nvPr/>
          </p:nvSpPr>
          <p:spPr bwMode="auto">
            <a:xfrm>
              <a:off x="4080" y="2520"/>
              <a:ext cx="192" cy="654"/>
            </a:xfrm>
            <a:custGeom>
              <a:avLst/>
              <a:gdLst>
                <a:gd name="T0" fmla="*/ 0 w 192"/>
                <a:gd name="T1" fmla="*/ 372 h 654"/>
                <a:gd name="T2" fmla="*/ 51 w 192"/>
                <a:gd name="T3" fmla="*/ 0 h 654"/>
                <a:gd name="T4" fmla="*/ 96 w 192"/>
                <a:gd name="T5" fmla="*/ 372 h 654"/>
                <a:gd name="T6" fmla="*/ 147 w 192"/>
                <a:gd name="T7" fmla="*/ 654 h 654"/>
                <a:gd name="T8" fmla="*/ 192 w 192"/>
                <a:gd name="T9" fmla="*/ 372 h 6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654"/>
                <a:gd name="T17" fmla="*/ 192 w 192"/>
                <a:gd name="T18" fmla="*/ 654 h 6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654">
                  <a:moveTo>
                    <a:pt x="0" y="372"/>
                  </a:moveTo>
                  <a:cubicBezTo>
                    <a:pt x="8" y="310"/>
                    <a:pt x="35" y="0"/>
                    <a:pt x="51" y="0"/>
                  </a:cubicBezTo>
                  <a:cubicBezTo>
                    <a:pt x="67" y="0"/>
                    <a:pt x="80" y="263"/>
                    <a:pt x="96" y="372"/>
                  </a:cubicBezTo>
                  <a:cubicBezTo>
                    <a:pt x="112" y="481"/>
                    <a:pt x="131" y="654"/>
                    <a:pt x="147" y="654"/>
                  </a:cubicBezTo>
                  <a:cubicBezTo>
                    <a:pt x="163" y="654"/>
                    <a:pt x="183" y="431"/>
                    <a:pt x="192" y="372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" name="Freeform 20"/>
            <p:cNvSpPr>
              <a:spLocks/>
            </p:cNvSpPr>
            <p:nvPr/>
          </p:nvSpPr>
          <p:spPr bwMode="auto">
            <a:xfrm>
              <a:off x="4272" y="2637"/>
              <a:ext cx="192" cy="384"/>
            </a:xfrm>
            <a:custGeom>
              <a:avLst/>
              <a:gdLst>
                <a:gd name="T0" fmla="*/ 0 w 192"/>
                <a:gd name="T1" fmla="*/ 255 h 384"/>
                <a:gd name="T2" fmla="*/ 45 w 192"/>
                <a:gd name="T3" fmla="*/ 0 h 384"/>
                <a:gd name="T4" fmla="*/ 96 w 192"/>
                <a:gd name="T5" fmla="*/ 255 h 384"/>
                <a:gd name="T6" fmla="*/ 144 w 192"/>
                <a:gd name="T7" fmla="*/ 384 h 384"/>
                <a:gd name="T8" fmla="*/ 192 w 192"/>
                <a:gd name="T9" fmla="*/ 255 h 3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384"/>
                <a:gd name="T17" fmla="*/ 192 w 192"/>
                <a:gd name="T18" fmla="*/ 384 h 3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384">
                  <a:moveTo>
                    <a:pt x="0" y="255"/>
                  </a:moveTo>
                  <a:cubicBezTo>
                    <a:pt x="7" y="213"/>
                    <a:pt x="29" y="0"/>
                    <a:pt x="45" y="0"/>
                  </a:cubicBezTo>
                  <a:cubicBezTo>
                    <a:pt x="61" y="0"/>
                    <a:pt x="80" y="191"/>
                    <a:pt x="96" y="255"/>
                  </a:cubicBezTo>
                  <a:cubicBezTo>
                    <a:pt x="112" y="319"/>
                    <a:pt x="128" y="384"/>
                    <a:pt x="144" y="384"/>
                  </a:cubicBezTo>
                  <a:cubicBezTo>
                    <a:pt x="160" y="384"/>
                    <a:pt x="182" y="282"/>
                    <a:pt x="192" y="255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8" name="Freeform 21"/>
            <p:cNvSpPr>
              <a:spLocks/>
            </p:cNvSpPr>
            <p:nvPr/>
          </p:nvSpPr>
          <p:spPr bwMode="auto">
            <a:xfrm>
              <a:off x="4464" y="2751"/>
              <a:ext cx="192" cy="267"/>
            </a:xfrm>
            <a:custGeom>
              <a:avLst/>
              <a:gdLst>
                <a:gd name="T0" fmla="*/ 0 w 192"/>
                <a:gd name="T1" fmla="*/ 141 h 267"/>
                <a:gd name="T2" fmla="*/ 45 w 192"/>
                <a:gd name="T3" fmla="*/ 0 h 267"/>
                <a:gd name="T4" fmla="*/ 96 w 192"/>
                <a:gd name="T5" fmla="*/ 141 h 267"/>
                <a:gd name="T6" fmla="*/ 150 w 192"/>
                <a:gd name="T7" fmla="*/ 267 h 267"/>
                <a:gd name="T8" fmla="*/ 192 w 192"/>
                <a:gd name="T9" fmla="*/ 141 h 2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267"/>
                <a:gd name="T17" fmla="*/ 192 w 192"/>
                <a:gd name="T18" fmla="*/ 267 h 2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267">
                  <a:moveTo>
                    <a:pt x="0" y="141"/>
                  </a:moveTo>
                  <a:cubicBezTo>
                    <a:pt x="7" y="118"/>
                    <a:pt x="29" y="0"/>
                    <a:pt x="45" y="0"/>
                  </a:cubicBezTo>
                  <a:cubicBezTo>
                    <a:pt x="61" y="0"/>
                    <a:pt x="79" y="97"/>
                    <a:pt x="96" y="141"/>
                  </a:cubicBezTo>
                  <a:cubicBezTo>
                    <a:pt x="113" y="185"/>
                    <a:pt x="134" y="267"/>
                    <a:pt x="150" y="267"/>
                  </a:cubicBezTo>
                  <a:cubicBezTo>
                    <a:pt x="166" y="267"/>
                    <a:pt x="183" y="167"/>
                    <a:pt x="192" y="141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auto">
            <a:xfrm>
              <a:off x="4656" y="2658"/>
              <a:ext cx="192" cy="507"/>
            </a:xfrm>
            <a:custGeom>
              <a:avLst/>
              <a:gdLst>
                <a:gd name="T0" fmla="*/ 0 w 192"/>
                <a:gd name="T1" fmla="*/ 234 h 507"/>
                <a:gd name="T2" fmla="*/ 45 w 192"/>
                <a:gd name="T3" fmla="*/ 0 h 507"/>
                <a:gd name="T4" fmla="*/ 96 w 192"/>
                <a:gd name="T5" fmla="*/ 234 h 507"/>
                <a:gd name="T6" fmla="*/ 147 w 192"/>
                <a:gd name="T7" fmla="*/ 507 h 507"/>
                <a:gd name="T8" fmla="*/ 192 w 192"/>
                <a:gd name="T9" fmla="*/ 234 h 5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07"/>
                <a:gd name="T17" fmla="*/ 192 w 192"/>
                <a:gd name="T18" fmla="*/ 507 h 50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07">
                  <a:moveTo>
                    <a:pt x="0" y="234"/>
                  </a:moveTo>
                  <a:cubicBezTo>
                    <a:pt x="8" y="195"/>
                    <a:pt x="29" y="0"/>
                    <a:pt x="45" y="0"/>
                  </a:cubicBezTo>
                  <a:cubicBezTo>
                    <a:pt x="61" y="0"/>
                    <a:pt x="79" y="150"/>
                    <a:pt x="96" y="234"/>
                  </a:cubicBezTo>
                  <a:cubicBezTo>
                    <a:pt x="113" y="318"/>
                    <a:pt x="131" y="507"/>
                    <a:pt x="147" y="507"/>
                  </a:cubicBezTo>
                  <a:cubicBezTo>
                    <a:pt x="163" y="507"/>
                    <a:pt x="183" y="291"/>
                    <a:pt x="192" y="234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" name="Freeform 23"/>
            <p:cNvSpPr>
              <a:spLocks/>
            </p:cNvSpPr>
            <p:nvPr/>
          </p:nvSpPr>
          <p:spPr bwMode="auto">
            <a:xfrm>
              <a:off x="4848" y="2562"/>
              <a:ext cx="192" cy="534"/>
            </a:xfrm>
            <a:custGeom>
              <a:avLst/>
              <a:gdLst>
                <a:gd name="T0" fmla="*/ 0 w 192"/>
                <a:gd name="T1" fmla="*/ 330 h 534"/>
                <a:gd name="T2" fmla="*/ 48 w 192"/>
                <a:gd name="T3" fmla="*/ 0 h 534"/>
                <a:gd name="T4" fmla="*/ 96 w 192"/>
                <a:gd name="T5" fmla="*/ 330 h 534"/>
                <a:gd name="T6" fmla="*/ 147 w 192"/>
                <a:gd name="T7" fmla="*/ 534 h 534"/>
                <a:gd name="T8" fmla="*/ 192 w 192"/>
                <a:gd name="T9" fmla="*/ 330 h 5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34"/>
                <a:gd name="T17" fmla="*/ 192 w 192"/>
                <a:gd name="T18" fmla="*/ 534 h 5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34">
                  <a:moveTo>
                    <a:pt x="0" y="330"/>
                  </a:moveTo>
                  <a:cubicBezTo>
                    <a:pt x="8" y="275"/>
                    <a:pt x="32" y="0"/>
                    <a:pt x="48" y="0"/>
                  </a:cubicBezTo>
                  <a:cubicBezTo>
                    <a:pt x="64" y="0"/>
                    <a:pt x="80" y="241"/>
                    <a:pt x="96" y="330"/>
                  </a:cubicBezTo>
                  <a:cubicBezTo>
                    <a:pt x="112" y="419"/>
                    <a:pt x="131" y="534"/>
                    <a:pt x="147" y="534"/>
                  </a:cubicBezTo>
                  <a:cubicBezTo>
                    <a:pt x="163" y="534"/>
                    <a:pt x="183" y="372"/>
                    <a:pt x="192" y="33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1" name="Freeform 24"/>
            <p:cNvSpPr>
              <a:spLocks/>
            </p:cNvSpPr>
            <p:nvPr/>
          </p:nvSpPr>
          <p:spPr bwMode="auto">
            <a:xfrm>
              <a:off x="5040" y="2664"/>
              <a:ext cx="192" cy="423"/>
            </a:xfrm>
            <a:custGeom>
              <a:avLst/>
              <a:gdLst>
                <a:gd name="T0" fmla="*/ 0 w 192"/>
                <a:gd name="T1" fmla="*/ 228 h 423"/>
                <a:gd name="T2" fmla="*/ 48 w 192"/>
                <a:gd name="T3" fmla="*/ 0 h 423"/>
                <a:gd name="T4" fmla="*/ 96 w 192"/>
                <a:gd name="T5" fmla="*/ 228 h 423"/>
                <a:gd name="T6" fmla="*/ 150 w 192"/>
                <a:gd name="T7" fmla="*/ 423 h 423"/>
                <a:gd name="T8" fmla="*/ 192 w 192"/>
                <a:gd name="T9" fmla="*/ 228 h 4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423"/>
                <a:gd name="T17" fmla="*/ 192 w 192"/>
                <a:gd name="T18" fmla="*/ 423 h 4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423">
                  <a:moveTo>
                    <a:pt x="0" y="228"/>
                  </a:moveTo>
                  <a:cubicBezTo>
                    <a:pt x="8" y="190"/>
                    <a:pt x="32" y="0"/>
                    <a:pt x="48" y="0"/>
                  </a:cubicBezTo>
                  <a:cubicBezTo>
                    <a:pt x="64" y="0"/>
                    <a:pt x="79" y="158"/>
                    <a:pt x="96" y="228"/>
                  </a:cubicBezTo>
                  <a:cubicBezTo>
                    <a:pt x="113" y="298"/>
                    <a:pt x="134" y="423"/>
                    <a:pt x="150" y="423"/>
                  </a:cubicBezTo>
                  <a:cubicBezTo>
                    <a:pt x="166" y="423"/>
                    <a:pt x="183" y="269"/>
                    <a:pt x="192" y="22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2" name="Freeform 25"/>
            <p:cNvSpPr>
              <a:spLocks/>
            </p:cNvSpPr>
            <p:nvPr/>
          </p:nvSpPr>
          <p:spPr bwMode="auto">
            <a:xfrm>
              <a:off x="5232" y="2634"/>
              <a:ext cx="192" cy="477"/>
            </a:xfrm>
            <a:custGeom>
              <a:avLst/>
              <a:gdLst>
                <a:gd name="T0" fmla="*/ 0 w 192"/>
                <a:gd name="T1" fmla="*/ 258 h 477"/>
                <a:gd name="T2" fmla="*/ 45 w 192"/>
                <a:gd name="T3" fmla="*/ 0 h 477"/>
                <a:gd name="T4" fmla="*/ 96 w 192"/>
                <a:gd name="T5" fmla="*/ 258 h 477"/>
                <a:gd name="T6" fmla="*/ 147 w 192"/>
                <a:gd name="T7" fmla="*/ 477 h 477"/>
                <a:gd name="T8" fmla="*/ 192 w 192"/>
                <a:gd name="T9" fmla="*/ 258 h 4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477"/>
                <a:gd name="T17" fmla="*/ 192 w 192"/>
                <a:gd name="T18" fmla="*/ 477 h 4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477">
                  <a:moveTo>
                    <a:pt x="0" y="258"/>
                  </a:moveTo>
                  <a:cubicBezTo>
                    <a:pt x="8" y="215"/>
                    <a:pt x="29" y="0"/>
                    <a:pt x="45" y="0"/>
                  </a:cubicBezTo>
                  <a:cubicBezTo>
                    <a:pt x="61" y="0"/>
                    <a:pt x="79" y="179"/>
                    <a:pt x="96" y="258"/>
                  </a:cubicBezTo>
                  <a:cubicBezTo>
                    <a:pt x="113" y="337"/>
                    <a:pt x="131" y="477"/>
                    <a:pt x="147" y="477"/>
                  </a:cubicBezTo>
                  <a:cubicBezTo>
                    <a:pt x="163" y="477"/>
                    <a:pt x="183" y="304"/>
                    <a:pt x="192" y="25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23" name="Text Box 26"/>
          <p:cNvSpPr txBox="1">
            <a:spLocks noChangeArrowheads="1"/>
          </p:cNvSpPr>
          <p:nvPr/>
        </p:nvSpPr>
        <p:spPr bwMode="auto">
          <a:xfrm>
            <a:off x="4552950" y="2388026"/>
            <a:ext cx="1447800" cy="830997"/>
          </a:xfrm>
          <a:prstGeom prst="rect">
            <a:avLst/>
          </a:prstGeom>
          <a:solidFill>
            <a:srgbClr val="CC3300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endParaRPr lang="en-GB" sz="1600" b="1">
              <a:solidFill>
                <a:schemeClr val="bg1"/>
              </a:solidFill>
            </a:endParaRPr>
          </a:p>
          <a:p>
            <a:pPr algn="ctr"/>
            <a:r>
              <a:rPr lang="en-GB" sz="1600" b="1">
                <a:solidFill>
                  <a:schemeClr val="bg1"/>
                </a:solidFill>
              </a:rPr>
              <a:t>Receiver</a:t>
            </a:r>
          </a:p>
          <a:p>
            <a:pPr algn="ctr"/>
            <a:endParaRPr lang="en-GB" sz="1600" b="1">
              <a:solidFill>
                <a:schemeClr val="bg1"/>
              </a:solidFill>
            </a:endParaRPr>
          </a:p>
        </p:txBody>
      </p:sp>
      <p:sp>
        <p:nvSpPr>
          <p:cNvPr id="24" name="Line 27"/>
          <p:cNvSpPr>
            <a:spLocks noChangeShapeType="1"/>
          </p:cNvSpPr>
          <p:nvPr/>
        </p:nvSpPr>
        <p:spPr bwMode="auto">
          <a:xfrm>
            <a:off x="4352925" y="1590675"/>
            <a:ext cx="0" cy="10953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5" name="Line 28"/>
          <p:cNvSpPr>
            <a:spLocks noChangeShapeType="1"/>
          </p:cNvSpPr>
          <p:nvPr/>
        </p:nvSpPr>
        <p:spPr bwMode="auto">
          <a:xfrm>
            <a:off x="4362450" y="2686050"/>
            <a:ext cx="180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6" name="Text Box 29"/>
          <p:cNvSpPr txBox="1">
            <a:spLocks noChangeArrowheads="1"/>
          </p:cNvSpPr>
          <p:nvPr/>
        </p:nvSpPr>
        <p:spPr bwMode="auto">
          <a:xfrm>
            <a:off x="6343650" y="3363238"/>
            <a:ext cx="1628775" cy="861774"/>
          </a:xfrm>
          <a:prstGeom prst="rect">
            <a:avLst/>
          </a:prstGeom>
          <a:solidFill>
            <a:srgbClr val="CC3300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endParaRPr lang="en-GB" sz="1600" b="1">
              <a:solidFill>
                <a:schemeClr val="bg1"/>
              </a:solidFill>
            </a:endParaRPr>
          </a:p>
          <a:p>
            <a:pPr algn="ctr"/>
            <a:r>
              <a:rPr lang="en-GB" sz="1600" b="1">
                <a:solidFill>
                  <a:schemeClr val="bg1"/>
                </a:solidFill>
              </a:rPr>
              <a:t>Demodulator</a:t>
            </a:r>
          </a:p>
          <a:p>
            <a:pPr algn="ctr"/>
            <a:endParaRPr lang="en-GB" sz="1600" b="1">
              <a:solidFill>
                <a:schemeClr val="bg1"/>
              </a:solidFill>
            </a:endParaRPr>
          </a:p>
        </p:txBody>
      </p:sp>
      <p:grpSp>
        <p:nvGrpSpPr>
          <p:cNvPr id="27" name="Group 30"/>
          <p:cNvGrpSpPr>
            <a:grpSpLocks/>
          </p:cNvGrpSpPr>
          <p:nvPr/>
        </p:nvGrpSpPr>
        <p:grpSpPr bwMode="auto">
          <a:xfrm>
            <a:off x="6330950" y="2489200"/>
            <a:ext cx="1781175" cy="466725"/>
            <a:chOff x="1584" y="2448"/>
            <a:chExt cx="3840" cy="879"/>
          </a:xfrm>
        </p:grpSpPr>
        <p:sp>
          <p:nvSpPr>
            <p:cNvPr id="28" name="Freeform 31"/>
            <p:cNvSpPr>
              <a:spLocks/>
            </p:cNvSpPr>
            <p:nvPr/>
          </p:nvSpPr>
          <p:spPr bwMode="auto">
            <a:xfrm>
              <a:off x="1584" y="2508"/>
              <a:ext cx="192" cy="777"/>
            </a:xfrm>
            <a:custGeom>
              <a:avLst/>
              <a:gdLst>
                <a:gd name="T0" fmla="*/ 0 w 1536"/>
                <a:gd name="T1" fmla="*/ 1 h 1152"/>
                <a:gd name="T2" fmla="*/ 0 w 1536"/>
                <a:gd name="T3" fmla="*/ 0 h 1152"/>
                <a:gd name="T4" fmla="*/ 0 w 1536"/>
                <a:gd name="T5" fmla="*/ 1 h 1152"/>
                <a:gd name="T6" fmla="*/ 0 w 1536"/>
                <a:gd name="T7" fmla="*/ 3 h 1152"/>
                <a:gd name="T8" fmla="*/ 0 w 1536"/>
                <a:gd name="T9" fmla="*/ 1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29" name="Freeform 32"/>
            <p:cNvSpPr>
              <a:spLocks/>
            </p:cNvSpPr>
            <p:nvPr/>
          </p:nvSpPr>
          <p:spPr bwMode="auto">
            <a:xfrm>
              <a:off x="1776" y="2553"/>
              <a:ext cx="192" cy="528"/>
            </a:xfrm>
            <a:custGeom>
              <a:avLst/>
              <a:gdLst>
                <a:gd name="T0" fmla="*/ 0 w 192"/>
                <a:gd name="T1" fmla="*/ 339 h 528"/>
                <a:gd name="T2" fmla="*/ 48 w 192"/>
                <a:gd name="T3" fmla="*/ 11 h 528"/>
                <a:gd name="T4" fmla="*/ 96 w 192"/>
                <a:gd name="T5" fmla="*/ 270 h 528"/>
                <a:gd name="T6" fmla="*/ 144 w 192"/>
                <a:gd name="T7" fmla="*/ 528 h 528"/>
                <a:gd name="T8" fmla="*/ 192 w 192"/>
                <a:gd name="T9" fmla="*/ 270 h 5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28"/>
                <a:gd name="T17" fmla="*/ 192 w 192"/>
                <a:gd name="T18" fmla="*/ 528 h 5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28">
                  <a:moveTo>
                    <a:pt x="0" y="339"/>
                  </a:moveTo>
                  <a:cubicBezTo>
                    <a:pt x="8" y="285"/>
                    <a:pt x="32" y="22"/>
                    <a:pt x="48" y="11"/>
                  </a:cubicBezTo>
                  <a:cubicBezTo>
                    <a:pt x="64" y="0"/>
                    <a:pt x="80" y="183"/>
                    <a:pt x="96" y="270"/>
                  </a:cubicBezTo>
                  <a:cubicBezTo>
                    <a:pt x="112" y="356"/>
                    <a:pt x="128" y="528"/>
                    <a:pt x="144" y="528"/>
                  </a:cubicBezTo>
                  <a:cubicBezTo>
                    <a:pt x="160" y="528"/>
                    <a:pt x="176" y="399"/>
                    <a:pt x="192" y="27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0" name="Freeform 33"/>
            <p:cNvSpPr>
              <a:spLocks/>
            </p:cNvSpPr>
            <p:nvPr/>
          </p:nvSpPr>
          <p:spPr bwMode="auto">
            <a:xfrm>
              <a:off x="1965" y="2743"/>
              <a:ext cx="202" cy="229"/>
            </a:xfrm>
            <a:custGeom>
              <a:avLst/>
              <a:gdLst>
                <a:gd name="T0" fmla="*/ 0 w 202"/>
                <a:gd name="T1" fmla="*/ 98 h 229"/>
                <a:gd name="T2" fmla="*/ 48 w 202"/>
                <a:gd name="T3" fmla="*/ 8 h 229"/>
                <a:gd name="T4" fmla="*/ 99 w 202"/>
                <a:gd name="T5" fmla="*/ 149 h 229"/>
                <a:gd name="T6" fmla="*/ 135 w 202"/>
                <a:gd name="T7" fmla="*/ 224 h 229"/>
                <a:gd name="T8" fmla="*/ 192 w 202"/>
                <a:gd name="T9" fmla="*/ 119 h 229"/>
                <a:gd name="T10" fmla="*/ 195 w 202"/>
                <a:gd name="T11" fmla="*/ 149 h 2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02"/>
                <a:gd name="T19" fmla="*/ 0 h 229"/>
                <a:gd name="T20" fmla="*/ 202 w 202"/>
                <a:gd name="T21" fmla="*/ 229 h 22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02" h="229">
                  <a:moveTo>
                    <a:pt x="0" y="98"/>
                  </a:moveTo>
                  <a:cubicBezTo>
                    <a:pt x="8" y="83"/>
                    <a:pt x="32" y="0"/>
                    <a:pt x="48" y="8"/>
                  </a:cubicBezTo>
                  <a:cubicBezTo>
                    <a:pt x="64" y="16"/>
                    <a:pt x="85" y="113"/>
                    <a:pt x="99" y="149"/>
                  </a:cubicBezTo>
                  <a:cubicBezTo>
                    <a:pt x="113" y="185"/>
                    <a:pt x="120" y="229"/>
                    <a:pt x="135" y="224"/>
                  </a:cubicBezTo>
                  <a:cubicBezTo>
                    <a:pt x="150" y="219"/>
                    <a:pt x="182" y="131"/>
                    <a:pt x="192" y="119"/>
                  </a:cubicBezTo>
                  <a:cubicBezTo>
                    <a:pt x="202" y="107"/>
                    <a:pt x="195" y="143"/>
                    <a:pt x="195" y="149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1" name="Freeform 34"/>
            <p:cNvSpPr>
              <a:spLocks/>
            </p:cNvSpPr>
            <p:nvPr/>
          </p:nvSpPr>
          <p:spPr bwMode="auto">
            <a:xfrm>
              <a:off x="2154" y="2745"/>
              <a:ext cx="198" cy="303"/>
            </a:xfrm>
            <a:custGeom>
              <a:avLst/>
              <a:gdLst>
                <a:gd name="T0" fmla="*/ 0 w 198"/>
                <a:gd name="T1" fmla="*/ 129 h 303"/>
                <a:gd name="T2" fmla="*/ 48 w 198"/>
                <a:gd name="T3" fmla="*/ 3 h 303"/>
                <a:gd name="T4" fmla="*/ 102 w 198"/>
                <a:gd name="T5" fmla="*/ 147 h 303"/>
                <a:gd name="T6" fmla="*/ 150 w 198"/>
                <a:gd name="T7" fmla="*/ 303 h 303"/>
                <a:gd name="T8" fmla="*/ 198 w 198"/>
                <a:gd name="T9" fmla="*/ 147 h 3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8"/>
                <a:gd name="T16" fmla="*/ 0 h 303"/>
                <a:gd name="T17" fmla="*/ 198 w 198"/>
                <a:gd name="T18" fmla="*/ 303 h 3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8" h="303">
                  <a:moveTo>
                    <a:pt x="0" y="129"/>
                  </a:moveTo>
                  <a:cubicBezTo>
                    <a:pt x="8" y="108"/>
                    <a:pt x="31" y="0"/>
                    <a:pt x="48" y="3"/>
                  </a:cubicBezTo>
                  <a:cubicBezTo>
                    <a:pt x="65" y="6"/>
                    <a:pt x="85" y="97"/>
                    <a:pt x="102" y="147"/>
                  </a:cubicBezTo>
                  <a:cubicBezTo>
                    <a:pt x="119" y="197"/>
                    <a:pt x="134" y="303"/>
                    <a:pt x="150" y="303"/>
                  </a:cubicBezTo>
                  <a:cubicBezTo>
                    <a:pt x="166" y="303"/>
                    <a:pt x="188" y="179"/>
                    <a:pt x="198" y="147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2" name="Freeform 35"/>
            <p:cNvSpPr>
              <a:spLocks/>
            </p:cNvSpPr>
            <p:nvPr/>
          </p:nvSpPr>
          <p:spPr bwMode="auto">
            <a:xfrm>
              <a:off x="2352" y="2622"/>
              <a:ext cx="192" cy="546"/>
            </a:xfrm>
            <a:custGeom>
              <a:avLst/>
              <a:gdLst>
                <a:gd name="T0" fmla="*/ 0 w 192"/>
                <a:gd name="T1" fmla="*/ 270 h 546"/>
                <a:gd name="T2" fmla="*/ 51 w 192"/>
                <a:gd name="T3" fmla="*/ 0 h 546"/>
                <a:gd name="T4" fmla="*/ 96 w 192"/>
                <a:gd name="T5" fmla="*/ 270 h 546"/>
                <a:gd name="T6" fmla="*/ 147 w 192"/>
                <a:gd name="T7" fmla="*/ 546 h 546"/>
                <a:gd name="T8" fmla="*/ 192 w 192"/>
                <a:gd name="T9" fmla="*/ 270 h 5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46"/>
                <a:gd name="T17" fmla="*/ 192 w 192"/>
                <a:gd name="T18" fmla="*/ 546 h 5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46">
                  <a:moveTo>
                    <a:pt x="0" y="270"/>
                  </a:moveTo>
                  <a:cubicBezTo>
                    <a:pt x="8" y="225"/>
                    <a:pt x="35" y="0"/>
                    <a:pt x="51" y="0"/>
                  </a:cubicBezTo>
                  <a:cubicBezTo>
                    <a:pt x="67" y="0"/>
                    <a:pt x="80" y="179"/>
                    <a:pt x="96" y="270"/>
                  </a:cubicBezTo>
                  <a:cubicBezTo>
                    <a:pt x="112" y="361"/>
                    <a:pt x="131" y="546"/>
                    <a:pt x="147" y="546"/>
                  </a:cubicBezTo>
                  <a:cubicBezTo>
                    <a:pt x="163" y="546"/>
                    <a:pt x="183" y="327"/>
                    <a:pt x="192" y="27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3" name="Freeform 36"/>
            <p:cNvSpPr>
              <a:spLocks/>
            </p:cNvSpPr>
            <p:nvPr/>
          </p:nvSpPr>
          <p:spPr bwMode="auto">
            <a:xfrm>
              <a:off x="2544" y="2520"/>
              <a:ext cx="192" cy="807"/>
            </a:xfrm>
            <a:custGeom>
              <a:avLst/>
              <a:gdLst>
                <a:gd name="T0" fmla="*/ 0 w 192"/>
                <a:gd name="T1" fmla="*/ 372 h 807"/>
                <a:gd name="T2" fmla="*/ 42 w 192"/>
                <a:gd name="T3" fmla="*/ 0 h 807"/>
                <a:gd name="T4" fmla="*/ 96 w 192"/>
                <a:gd name="T5" fmla="*/ 372 h 807"/>
                <a:gd name="T6" fmla="*/ 147 w 192"/>
                <a:gd name="T7" fmla="*/ 750 h 807"/>
                <a:gd name="T8" fmla="*/ 156 w 192"/>
                <a:gd name="T9" fmla="*/ 714 h 807"/>
                <a:gd name="T10" fmla="*/ 192 w 192"/>
                <a:gd name="T11" fmla="*/ 372 h 8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2"/>
                <a:gd name="T19" fmla="*/ 0 h 807"/>
                <a:gd name="T20" fmla="*/ 192 w 192"/>
                <a:gd name="T21" fmla="*/ 807 h 80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92" h="807">
                  <a:moveTo>
                    <a:pt x="0" y="372"/>
                  </a:moveTo>
                  <a:cubicBezTo>
                    <a:pt x="7" y="310"/>
                    <a:pt x="26" y="0"/>
                    <a:pt x="42" y="0"/>
                  </a:cubicBezTo>
                  <a:cubicBezTo>
                    <a:pt x="58" y="0"/>
                    <a:pt x="79" y="247"/>
                    <a:pt x="96" y="372"/>
                  </a:cubicBezTo>
                  <a:cubicBezTo>
                    <a:pt x="113" y="497"/>
                    <a:pt x="137" y="693"/>
                    <a:pt x="147" y="750"/>
                  </a:cubicBezTo>
                  <a:cubicBezTo>
                    <a:pt x="157" y="807"/>
                    <a:pt x="148" y="777"/>
                    <a:pt x="156" y="714"/>
                  </a:cubicBezTo>
                  <a:cubicBezTo>
                    <a:pt x="164" y="651"/>
                    <a:pt x="184" y="443"/>
                    <a:pt x="192" y="372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4" name="Freeform 37"/>
            <p:cNvSpPr>
              <a:spLocks/>
            </p:cNvSpPr>
            <p:nvPr/>
          </p:nvSpPr>
          <p:spPr bwMode="auto">
            <a:xfrm>
              <a:off x="2736" y="2448"/>
              <a:ext cx="192" cy="801"/>
            </a:xfrm>
            <a:custGeom>
              <a:avLst/>
              <a:gdLst>
                <a:gd name="T0" fmla="*/ 0 w 192"/>
                <a:gd name="T1" fmla="*/ 444 h 801"/>
                <a:gd name="T2" fmla="*/ 45 w 192"/>
                <a:gd name="T3" fmla="*/ 0 h 801"/>
                <a:gd name="T4" fmla="*/ 96 w 192"/>
                <a:gd name="T5" fmla="*/ 444 h 801"/>
                <a:gd name="T6" fmla="*/ 147 w 192"/>
                <a:gd name="T7" fmla="*/ 801 h 801"/>
                <a:gd name="T8" fmla="*/ 192 w 192"/>
                <a:gd name="T9" fmla="*/ 444 h 8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801"/>
                <a:gd name="T17" fmla="*/ 192 w 192"/>
                <a:gd name="T18" fmla="*/ 801 h 80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801">
                  <a:moveTo>
                    <a:pt x="0" y="444"/>
                  </a:moveTo>
                  <a:cubicBezTo>
                    <a:pt x="8" y="370"/>
                    <a:pt x="29" y="0"/>
                    <a:pt x="45" y="0"/>
                  </a:cubicBezTo>
                  <a:cubicBezTo>
                    <a:pt x="61" y="0"/>
                    <a:pt x="79" y="311"/>
                    <a:pt x="96" y="444"/>
                  </a:cubicBezTo>
                  <a:cubicBezTo>
                    <a:pt x="113" y="577"/>
                    <a:pt x="131" y="801"/>
                    <a:pt x="147" y="801"/>
                  </a:cubicBezTo>
                  <a:cubicBezTo>
                    <a:pt x="163" y="801"/>
                    <a:pt x="183" y="518"/>
                    <a:pt x="192" y="444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5" name="Freeform 38"/>
            <p:cNvSpPr>
              <a:spLocks/>
            </p:cNvSpPr>
            <p:nvPr/>
          </p:nvSpPr>
          <p:spPr bwMode="auto">
            <a:xfrm>
              <a:off x="2928" y="2556"/>
              <a:ext cx="192" cy="549"/>
            </a:xfrm>
            <a:custGeom>
              <a:avLst/>
              <a:gdLst>
                <a:gd name="T0" fmla="*/ 0 w 192"/>
                <a:gd name="T1" fmla="*/ 336 h 549"/>
                <a:gd name="T2" fmla="*/ 48 w 192"/>
                <a:gd name="T3" fmla="*/ 0 h 549"/>
                <a:gd name="T4" fmla="*/ 96 w 192"/>
                <a:gd name="T5" fmla="*/ 336 h 549"/>
                <a:gd name="T6" fmla="*/ 147 w 192"/>
                <a:gd name="T7" fmla="*/ 549 h 549"/>
                <a:gd name="T8" fmla="*/ 192 w 192"/>
                <a:gd name="T9" fmla="*/ 336 h 5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49"/>
                <a:gd name="T17" fmla="*/ 192 w 192"/>
                <a:gd name="T18" fmla="*/ 549 h 5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49">
                  <a:moveTo>
                    <a:pt x="0" y="336"/>
                  </a:moveTo>
                  <a:cubicBezTo>
                    <a:pt x="8" y="280"/>
                    <a:pt x="32" y="0"/>
                    <a:pt x="48" y="0"/>
                  </a:cubicBezTo>
                  <a:cubicBezTo>
                    <a:pt x="64" y="0"/>
                    <a:pt x="80" y="245"/>
                    <a:pt x="96" y="336"/>
                  </a:cubicBezTo>
                  <a:cubicBezTo>
                    <a:pt x="112" y="427"/>
                    <a:pt x="131" y="549"/>
                    <a:pt x="147" y="549"/>
                  </a:cubicBezTo>
                  <a:cubicBezTo>
                    <a:pt x="163" y="549"/>
                    <a:pt x="183" y="380"/>
                    <a:pt x="192" y="33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6" name="Freeform 39"/>
            <p:cNvSpPr>
              <a:spLocks/>
            </p:cNvSpPr>
            <p:nvPr/>
          </p:nvSpPr>
          <p:spPr bwMode="auto">
            <a:xfrm>
              <a:off x="3120" y="2703"/>
              <a:ext cx="186" cy="283"/>
            </a:xfrm>
            <a:custGeom>
              <a:avLst/>
              <a:gdLst>
                <a:gd name="T0" fmla="*/ 0 w 186"/>
                <a:gd name="T1" fmla="*/ 189 h 283"/>
                <a:gd name="T2" fmla="*/ 45 w 186"/>
                <a:gd name="T3" fmla="*/ 0 h 283"/>
                <a:gd name="T4" fmla="*/ 96 w 186"/>
                <a:gd name="T5" fmla="*/ 189 h 283"/>
                <a:gd name="T6" fmla="*/ 144 w 186"/>
                <a:gd name="T7" fmla="*/ 279 h 283"/>
                <a:gd name="T8" fmla="*/ 186 w 186"/>
                <a:gd name="T9" fmla="*/ 168 h 2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6"/>
                <a:gd name="T16" fmla="*/ 0 h 283"/>
                <a:gd name="T17" fmla="*/ 186 w 186"/>
                <a:gd name="T18" fmla="*/ 283 h 2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6" h="283">
                  <a:moveTo>
                    <a:pt x="0" y="189"/>
                  </a:moveTo>
                  <a:cubicBezTo>
                    <a:pt x="7" y="158"/>
                    <a:pt x="29" y="0"/>
                    <a:pt x="45" y="0"/>
                  </a:cubicBezTo>
                  <a:cubicBezTo>
                    <a:pt x="61" y="0"/>
                    <a:pt x="80" y="143"/>
                    <a:pt x="96" y="189"/>
                  </a:cubicBezTo>
                  <a:cubicBezTo>
                    <a:pt x="112" y="235"/>
                    <a:pt x="129" y="283"/>
                    <a:pt x="144" y="279"/>
                  </a:cubicBezTo>
                  <a:cubicBezTo>
                    <a:pt x="159" y="275"/>
                    <a:pt x="177" y="191"/>
                    <a:pt x="186" y="16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7" name="Freeform 40"/>
            <p:cNvSpPr>
              <a:spLocks/>
            </p:cNvSpPr>
            <p:nvPr/>
          </p:nvSpPr>
          <p:spPr bwMode="auto">
            <a:xfrm>
              <a:off x="3309" y="2773"/>
              <a:ext cx="192" cy="258"/>
            </a:xfrm>
            <a:custGeom>
              <a:avLst/>
              <a:gdLst>
                <a:gd name="T0" fmla="*/ 0 w 192"/>
                <a:gd name="T1" fmla="*/ 101 h 258"/>
                <a:gd name="T2" fmla="*/ 33 w 192"/>
                <a:gd name="T3" fmla="*/ 2 h 258"/>
                <a:gd name="T4" fmla="*/ 90 w 192"/>
                <a:gd name="T5" fmla="*/ 116 h 258"/>
                <a:gd name="T6" fmla="*/ 141 w 192"/>
                <a:gd name="T7" fmla="*/ 254 h 258"/>
                <a:gd name="T8" fmla="*/ 192 w 192"/>
                <a:gd name="T9" fmla="*/ 92 h 2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258"/>
                <a:gd name="T17" fmla="*/ 192 w 192"/>
                <a:gd name="T18" fmla="*/ 258 h 2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258">
                  <a:moveTo>
                    <a:pt x="0" y="101"/>
                  </a:moveTo>
                  <a:cubicBezTo>
                    <a:pt x="5" y="85"/>
                    <a:pt x="18" y="0"/>
                    <a:pt x="33" y="2"/>
                  </a:cubicBezTo>
                  <a:cubicBezTo>
                    <a:pt x="48" y="4"/>
                    <a:pt x="72" y="74"/>
                    <a:pt x="90" y="116"/>
                  </a:cubicBezTo>
                  <a:cubicBezTo>
                    <a:pt x="108" y="158"/>
                    <a:pt x="124" y="258"/>
                    <a:pt x="141" y="254"/>
                  </a:cubicBezTo>
                  <a:cubicBezTo>
                    <a:pt x="158" y="250"/>
                    <a:pt x="181" y="126"/>
                    <a:pt x="192" y="92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8" name="Freeform 41"/>
            <p:cNvSpPr>
              <a:spLocks/>
            </p:cNvSpPr>
            <p:nvPr/>
          </p:nvSpPr>
          <p:spPr bwMode="auto">
            <a:xfrm>
              <a:off x="3495" y="2555"/>
              <a:ext cx="201" cy="694"/>
            </a:xfrm>
            <a:custGeom>
              <a:avLst/>
              <a:gdLst>
                <a:gd name="T0" fmla="*/ 0 w 201"/>
                <a:gd name="T1" fmla="*/ 328 h 694"/>
                <a:gd name="T2" fmla="*/ 54 w 201"/>
                <a:gd name="T3" fmla="*/ 1 h 694"/>
                <a:gd name="T4" fmla="*/ 105 w 201"/>
                <a:gd name="T5" fmla="*/ 337 h 694"/>
                <a:gd name="T6" fmla="*/ 147 w 201"/>
                <a:gd name="T7" fmla="*/ 694 h 694"/>
                <a:gd name="T8" fmla="*/ 201 w 201"/>
                <a:gd name="T9" fmla="*/ 337 h 6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1"/>
                <a:gd name="T16" fmla="*/ 0 h 694"/>
                <a:gd name="T17" fmla="*/ 201 w 201"/>
                <a:gd name="T18" fmla="*/ 694 h 6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1" h="694">
                  <a:moveTo>
                    <a:pt x="0" y="328"/>
                  </a:moveTo>
                  <a:cubicBezTo>
                    <a:pt x="9" y="274"/>
                    <a:pt x="37" y="0"/>
                    <a:pt x="54" y="1"/>
                  </a:cubicBezTo>
                  <a:cubicBezTo>
                    <a:pt x="71" y="2"/>
                    <a:pt x="90" y="222"/>
                    <a:pt x="105" y="337"/>
                  </a:cubicBezTo>
                  <a:cubicBezTo>
                    <a:pt x="120" y="452"/>
                    <a:pt x="131" y="694"/>
                    <a:pt x="147" y="694"/>
                  </a:cubicBezTo>
                  <a:cubicBezTo>
                    <a:pt x="163" y="694"/>
                    <a:pt x="190" y="411"/>
                    <a:pt x="201" y="337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9" name="Freeform 42"/>
            <p:cNvSpPr>
              <a:spLocks/>
            </p:cNvSpPr>
            <p:nvPr/>
          </p:nvSpPr>
          <p:spPr bwMode="auto">
            <a:xfrm>
              <a:off x="3696" y="2481"/>
              <a:ext cx="192" cy="645"/>
            </a:xfrm>
            <a:custGeom>
              <a:avLst/>
              <a:gdLst>
                <a:gd name="T0" fmla="*/ 0 w 192"/>
                <a:gd name="T1" fmla="*/ 411 h 645"/>
                <a:gd name="T2" fmla="*/ 45 w 192"/>
                <a:gd name="T3" fmla="*/ 0 h 645"/>
                <a:gd name="T4" fmla="*/ 96 w 192"/>
                <a:gd name="T5" fmla="*/ 411 h 645"/>
                <a:gd name="T6" fmla="*/ 147 w 192"/>
                <a:gd name="T7" fmla="*/ 645 h 645"/>
                <a:gd name="T8" fmla="*/ 192 w 192"/>
                <a:gd name="T9" fmla="*/ 411 h 6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645"/>
                <a:gd name="T17" fmla="*/ 192 w 192"/>
                <a:gd name="T18" fmla="*/ 645 h 64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645">
                  <a:moveTo>
                    <a:pt x="0" y="411"/>
                  </a:moveTo>
                  <a:cubicBezTo>
                    <a:pt x="7" y="343"/>
                    <a:pt x="29" y="0"/>
                    <a:pt x="45" y="0"/>
                  </a:cubicBezTo>
                  <a:cubicBezTo>
                    <a:pt x="61" y="0"/>
                    <a:pt x="79" y="304"/>
                    <a:pt x="96" y="411"/>
                  </a:cubicBezTo>
                  <a:cubicBezTo>
                    <a:pt x="113" y="518"/>
                    <a:pt x="131" y="645"/>
                    <a:pt x="147" y="645"/>
                  </a:cubicBezTo>
                  <a:cubicBezTo>
                    <a:pt x="163" y="645"/>
                    <a:pt x="183" y="460"/>
                    <a:pt x="192" y="411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40" name="Freeform 43"/>
            <p:cNvSpPr>
              <a:spLocks/>
            </p:cNvSpPr>
            <p:nvPr/>
          </p:nvSpPr>
          <p:spPr bwMode="auto">
            <a:xfrm>
              <a:off x="3888" y="2667"/>
              <a:ext cx="192" cy="489"/>
            </a:xfrm>
            <a:custGeom>
              <a:avLst/>
              <a:gdLst>
                <a:gd name="T0" fmla="*/ 0 w 192"/>
                <a:gd name="T1" fmla="*/ 225 h 489"/>
                <a:gd name="T2" fmla="*/ 39 w 192"/>
                <a:gd name="T3" fmla="*/ 0 h 489"/>
                <a:gd name="T4" fmla="*/ 96 w 192"/>
                <a:gd name="T5" fmla="*/ 225 h 489"/>
                <a:gd name="T6" fmla="*/ 141 w 192"/>
                <a:gd name="T7" fmla="*/ 489 h 489"/>
                <a:gd name="T8" fmla="*/ 192 w 192"/>
                <a:gd name="T9" fmla="*/ 225 h 4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489"/>
                <a:gd name="T17" fmla="*/ 192 w 192"/>
                <a:gd name="T18" fmla="*/ 489 h 4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489">
                  <a:moveTo>
                    <a:pt x="0" y="225"/>
                  </a:moveTo>
                  <a:cubicBezTo>
                    <a:pt x="6" y="188"/>
                    <a:pt x="23" y="0"/>
                    <a:pt x="39" y="0"/>
                  </a:cubicBezTo>
                  <a:cubicBezTo>
                    <a:pt x="55" y="0"/>
                    <a:pt x="79" y="144"/>
                    <a:pt x="96" y="225"/>
                  </a:cubicBezTo>
                  <a:cubicBezTo>
                    <a:pt x="113" y="306"/>
                    <a:pt x="125" y="489"/>
                    <a:pt x="141" y="489"/>
                  </a:cubicBezTo>
                  <a:cubicBezTo>
                    <a:pt x="157" y="489"/>
                    <a:pt x="182" y="280"/>
                    <a:pt x="192" y="225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41" name="Freeform 44"/>
            <p:cNvSpPr>
              <a:spLocks/>
            </p:cNvSpPr>
            <p:nvPr/>
          </p:nvSpPr>
          <p:spPr bwMode="auto">
            <a:xfrm>
              <a:off x="4080" y="2520"/>
              <a:ext cx="192" cy="654"/>
            </a:xfrm>
            <a:custGeom>
              <a:avLst/>
              <a:gdLst>
                <a:gd name="T0" fmla="*/ 0 w 192"/>
                <a:gd name="T1" fmla="*/ 372 h 654"/>
                <a:gd name="T2" fmla="*/ 51 w 192"/>
                <a:gd name="T3" fmla="*/ 0 h 654"/>
                <a:gd name="T4" fmla="*/ 96 w 192"/>
                <a:gd name="T5" fmla="*/ 372 h 654"/>
                <a:gd name="T6" fmla="*/ 147 w 192"/>
                <a:gd name="T7" fmla="*/ 654 h 654"/>
                <a:gd name="T8" fmla="*/ 192 w 192"/>
                <a:gd name="T9" fmla="*/ 372 h 6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654"/>
                <a:gd name="T17" fmla="*/ 192 w 192"/>
                <a:gd name="T18" fmla="*/ 654 h 6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654">
                  <a:moveTo>
                    <a:pt x="0" y="372"/>
                  </a:moveTo>
                  <a:cubicBezTo>
                    <a:pt x="8" y="310"/>
                    <a:pt x="35" y="0"/>
                    <a:pt x="51" y="0"/>
                  </a:cubicBezTo>
                  <a:cubicBezTo>
                    <a:pt x="67" y="0"/>
                    <a:pt x="80" y="263"/>
                    <a:pt x="96" y="372"/>
                  </a:cubicBezTo>
                  <a:cubicBezTo>
                    <a:pt x="112" y="481"/>
                    <a:pt x="131" y="654"/>
                    <a:pt x="147" y="654"/>
                  </a:cubicBezTo>
                  <a:cubicBezTo>
                    <a:pt x="163" y="654"/>
                    <a:pt x="183" y="431"/>
                    <a:pt x="192" y="372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42" name="Freeform 45"/>
            <p:cNvSpPr>
              <a:spLocks/>
            </p:cNvSpPr>
            <p:nvPr/>
          </p:nvSpPr>
          <p:spPr bwMode="auto">
            <a:xfrm>
              <a:off x="4272" y="2637"/>
              <a:ext cx="192" cy="384"/>
            </a:xfrm>
            <a:custGeom>
              <a:avLst/>
              <a:gdLst>
                <a:gd name="T0" fmla="*/ 0 w 192"/>
                <a:gd name="T1" fmla="*/ 255 h 384"/>
                <a:gd name="T2" fmla="*/ 45 w 192"/>
                <a:gd name="T3" fmla="*/ 0 h 384"/>
                <a:gd name="T4" fmla="*/ 96 w 192"/>
                <a:gd name="T5" fmla="*/ 255 h 384"/>
                <a:gd name="T6" fmla="*/ 144 w 192"/>
                <a:gd name="T7" fmla="*/ 384 h 384"/>
                <a:gd name="T8" fmla="*/ 192 w 192"/>
                <a:gd name="T9" fmla="*/ 255 h 3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384"/>
                <a:gd name="T17" fmla="*/ 192 w 192"/>
                <a:gd name="T18" fmla="*/ 384 h 3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384">
                  <a:moveTo>
                    <a:pt x="0" y="255"/>
                  </a:moveTo>
                  <a:cubicBezTo>
                    <a:pt x="7" y="213"/>
                    <a:pt x="29" y="0"/>
                    <a:pt x="45" y="0"/>
                  </a:cubicBezTo>
                  <a:cubicBezTo>
                    <a:pt x="61" y="0"/>
                    <a:pt x="80" y="191"/>
                    <a:pt x="96" y="255"/>
                  </a:cubicBezTo>
                  <a:cubicBezTo>
                    <a:pt x="112" y="319"/>
                    <a:pt x="128" y="384"/>
                    <a:pt x="144" y="384"/>
                  </a:cubicBezTo>
                  <a:cubicBezTo>
                    <a:pt x="160" y="384"/>
                    <a:pt x="182" y="282"/>
                    <a:pt x="192" y="255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43" name="Freeform 46"/>
            <p:cNvSpPr>
              <a:spLocks/>
            </p:cNvSpPr>
            <p:nvPr/>
          </p:nvSpPr>
          <p:spPr bwMode="auto">
            <a:xfrm>
              <a:off x="4464" y="2751"/>
              <a:ext cx="192" cy="267"/>
            </a:xfrm>
            <a:custGeom>
              <a:avLst/>
              <a:gdLst>
                <a:gd name="T0" fmla="*/ 0 w 192"/>
                <a:gd name="T1" fmla="*/ 141 h 267"/>
                <a:gd name="T2" fmla="*/ 45 w 192"/>
                <a:gd name="T3" fmla="*/ 0 h 267"/>
                <a:gd name="T4" fmla="*/ 96 w 192"/>
                <a:gd name="T5" fmla="*/ 141 h 267"/>
                <a:gd name="T6" fmla="*/ 150 w 192"/>
                <a:gd name="T7" fmla="*/ 267 h 267"/>
                <a:gd name="T8" fmla="*/ 192 w 192"/>
                <a:gd name="T9" fmla="*/ 141 h 2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267"/>
                <a:gd name="T17" fmla="*/ 192 w 192"/>
                <a:gd name="T18" fmla="*/ 267 h 2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267">
                  <a:moveTo>
                    <a:pt x="0" y="141"/>
                  </a:moveTo>
                  <a:cubicBezTo>
                    <a:pt x="7" y="118"/>
                    <a:pt x="29" y="0"/>
                    <a:pt x="45" y="0"/>
                  </a:cubicBezTo>
                  <a:cubicBezTo>
                    <a:pt x="61" y="0"/>
                    <a:pt x="79" y="97"/>
                    <a:pt x="96" y="141"/>
                  </a:cubicBezTo>
                  <a:cubicBezTo>
                    <a:pt x="113" y="185"/>
                    <a:pt x="134" y="267"/>
                    <a:pt x="150" y="267"/>
                  </a:cubicBezTo>
                  <a:cubicBezTo>
                    <a:pt x="166" y="267"/>
                    <a:pt x="183" y="167"/>
                    <a:pt x="192" y="141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44" name="Freeform 47"/>
            <p:cNvSpPr>
              <a:spLocks/>
            </p:cNvSpPr>
            <p:nvPr/>
          </p:nvSpPr>
          <p:spPr bwMode="auto">
            <a:xfrm>
              <a:off x="4656" y="2658"/>
              <a:ext cx="192" cy="507"/>
            </a:xfrm>
            <a:custGeom>
              <a:avLst/>
              <a:gdLst>
                <a:gd name="T0" fmla="*/ 0 w 192"/>
                <a:gd name="T1" fmla="*/ 234 h 507"/>
                <a:gd name="T2" fmla="*/ 45 w 192"/>
                <a:gd name="T3" fmla="*/ 0 h 507"/>
                <a:gd name="T4" fmla="*/ 96 w 192"/>
                <a:gd name="T5" fmla="*/ 234 h 507"/>
                <a:gd name="T6" fmla="*/ 147 w 192"/>
                <a:gd name="T7" fmla="*/ 507 h 507"/>
                <a:gd name="T8" fmla="*/ 192 w 192"/>
                <a:gd name="T9" fmla="*/ 234 h 5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07"/>
                <a:gd name="T17" fmla="*/ 192 w 192"/>
                <a:gd name="T18" fmla="*/ 507 h 50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07">
                  <a:moveTo>
                    <a:pt x="0" y="234"/>
                  </a:moveTo>
                  <a:cubicBezTo>
                    <a:pt x="8" y="195"/>
                    <a:pt x="29" y="0"/>
                    <a:pt x="45" y="0"/>
                  </a:cubicBezTo>
                  <a:cubicBezTo>
                    <a:pt x="61" y="0"/>
                    <a:pt x="79" y="150"/>
                    <a:pt x="96" y="234"/>
                  </a:cubicBezTo>
                  <a:cubicBezTo>
                    <a:pt x="113" y="318"/>
                    <a:pt x="131" y="507"/>
                    <a:pt x="147" y="507"/>
                  </a:cubicBezTo>
                  <a:cubicBezTo>
                    <a:pt x="163" y="507"/>
                    <a:pt x="183" y="291"/>
                    <a:pt x="192" y="234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45" name="Freeform 48"/>
            <p:cNvSpPr>
              <a:spLocks/>
            </p:cNvSpPr>
            <p:nvPr/>
          </p:nvSpPr>
          <p:spPr bwMode="auto">
            <a:xfrm>
              <a:off x="4848" y="2562"/>
              <a:ext cx="192" cy="534"/>
            </a:xfrm>
            <a:custGeom>
              <a:avLst/>
              <a:gdLst>
                <a:gd name="T0" fmla="*/ 0 w 192"/>
                <a:gd name="T1" fmla="*/ 330 h 534"/>
                <a:gd name="T2" fmla="*/ 48 w 192"/>
                <a:gd name="T3" fmla="*/ 0 h 534"/>
                <a:gd name="T4" fmla="*/ 96 w 192"/>
                <a:gd name="T5" fmla="*/ 330 h 534"/>
                <a:gd name="T6" fmla="*/ 147 w 192"/>
                <a:gd name="T7" fmla="*/ 534 h 534"/>
                <a:gd name="T8" fmla="*/ 192 w 192"/>
                <a:gd name="T9" fmla="*/ 330 h 5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34"/>
                <a:gd name="T17" fmla="*/ 192 w 192"/>
                <a:gd name="T18" fmla="*/ 534 h 5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34">
                  <a:moveTo>
                    <a:pt x="0" y="330"/>
                  </a:moveTo>
                  <a:cubicBezTo>
                    <a:pt x="8" y="275"/>
                    <a:pt x="32" y="0"/>
                    <a:pt x="48" y="0"/>
                  </a:cubicBezTo>
                  <a:cubicBezTo>
                    <a:pt x="64" y="0"/>
                    <a:pt x="80" y="241"/>
                    <a:pt x="96" y="330"/>
                  </a:cubicBezTo>
                  <a:cubicBezTo>
                    <a:pt x="112" y="419"/>
                    <a:pt x="131" y="534"/>
                    <a:pt x="147" y="534"/>
                  </a:cubicBezTo>
                  <a:cubicBezTo>
                    <a:pt x="163" y="534"/>
                    <a:pt x="183" y="372"/>
                    <a:pt x="192" y="33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46" name="Freeform 49"/>
            <p:cNvSpPr>
              <a:spLocks/>
            </p:cNvSpPr>
            <p:nvPr/>
          </p:nvSpPr>
          <p:spPr bwMode="auto">
            <a:xfrm>
              <a:off x="5040" y="2664"/>
              <a:ext cx="192" cy="423"/>
            </a:xfrm>
            <a:custGeom>
              <a:avLst/>
              <a:gdLst>
                <a:gd name="T0" fmla="*/ 0 w 192"/>
                <a:gd name="T1" fmla="*/ 228 h 423"/>
                <a:gd name="T2" fmla="*/ 48 w 192"/>
                <a:gd name="T3" fmla="*/ 0 h 423"/>
                <a:gd name="T4" fmla="*/ 96 w 192"/>
                <a:gd name="T5" fmla="*/ 228 h 423"/>
                <a:gd name="T6" fmla="*/ 150 w 192"/>
                <a:gd name="T7" fmla="*/ 423 h 423"/>
                <a:gd name="T8" fmla="*/ 192 w 192"/>
                <a:gd name="T9" fmla="*/ 228 h 4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423"/>
                <a:gd name="T17" fmla="*/ 192 w 192"/>
                <a:gd name="T18" fmla="*/ 423 h 4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423">
                  <a:moveTo>
                    <a:pt x="0" y="228"/>
                  </a:moveTo>
                  <a:cubicBezTo>
                    <a:pt x="8" y="190"/>
                    <a:pt x="32" y="0"/>
                    <a:pt x="48" y="0"/>
                  </a:cubicBezTo>
                  <a:cubicBezTo>
                    <a:pt x="64" y="0"/>
                    <a:pt x="79" y="158"/>
                    <a:pt x="96" y="228"/>
                  </a:cubicBezTo>
                  <a:cubicBezTo>
                    <a:pt x="113" y="298"/>
                    <a:pt x="134" y="423"/>
                    <a:pt x="150" y="423"/>
                  </a:cubicBezTo>
                  <a:cubicBezTo>
                    <a:pt x="166" y="423"/>
                    <a:pt x="183" y="269"/>
                    <a:pt x="192" y="22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47" name="Freeform 50"/>
            <p:cNvSpPr>
              <a:spLocks/>
            </p:cNvSpPr>
            <p:nvPr/>
          </p:nvSpPr>
          <p:spPr bwMode="auto">
            <a:xfrm>
              <a:off x="5232" y="2634"/>
              <a:ext cx="192" cy="477"/>
            </a:xfrm>
            <a:custGeom>
              <a:avLst/>
              <a:gdLst>
                <a:gd name="T0" fmla="*/ 0 w 192"/>
                <a:gd name="T1" fmla="*/ 258 h 477"/>
                <a:gd name="T2" fmla="*/ 45 w 192"/>
                <a:gd name="T3" fmla="*/ 0 h 477"/>
                <a:gd name="T4" fmla="*/ 96 w 192"/>
                <a:gd name="T5" fmla="*/ 258 h 477"/>
                <a:gd name="T6" fmla="*/ 147 w 192"/>
                <a:gd name="T7" fmla="*/ 477 h 477"/>
                <a:gd name="T8" fmla="*/ 192 w 192"/>
                <a:gd name="T9" fmla="*/ 258 h 4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477"/>
                <a:gd name="T17" fmla="*/ 192 w 192"/>
                <a:gd name="T18" fmla="*/ 477 h 4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477">
                  <a:moveTo>
                    <a:pt x="0" y="258"/>
                  </a:moveTo>
                  <a:cubicBezTo>
                    <a:pt x="8" y="215"/>
                    <a:pt x="29" y="0"/>
                    <a:pt x="45" y="0"/>
                  </a:cubicBezTo>
                  <a:cubicBezTo>
                    <a:pt x="61" y="0"/>
                    <a:pt x="79" y="179"/>
                    <a:pt x="96" y="258"/>
                  </a:cubicBezTo>
                  <a:cubicBezTo>
                    <a:pt x="113" y="337"/>
                    <a:pt x="131" y="477"/>
                    <a:pt x="147" y="477"/>
                  </a:cubicBezTo>
                  <a:cubicBezTo>
                    <a:pt x="163" y="477"/>
                    <a:pt x="183" y="304"/>
                    <a:pt x="192" y="25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sp>
        <p:nvSpPr>
          <p:cNvPr id="48" name="Rectangle 51"/>
          <p:cNvSpPr>
            <a:spLocks noChangeArrowheads="1"/>
          </p:cNvSpPr>
          <p:nvPr/>
        </p:nvSpPr>
        <p:spPr bwMode="auto">
          <a:xfrm rot="-5400000">
            <a:off x="6012876" y="2570927"/>
            <a:ext cx="4138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000">
                <a:sym typeface="Wingdings" pitchFamily="2" charset="2"/>
              </a:rPr>
              <a:t></a:t>
            </a:r>
          </a:p>
        </p:txBody>
      </p:sp>
      <p:sp>
        <p:nvSpPr>
          <p:cNvPr id="49" name="Rectangle 52"/>
          <p:cNvSpPr>
            <a:spLocks noChangeArrowheads="1"/>
          </p:cNvSpPr>
          <p:nvPr/>
        </p:nvSpPr>
        <p:spPr bwMode="auto">
          <a:xfrm>
            <a:off x="6945533" y="2962245"/>
            <a:ext cx="4138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000">
                <a:sym typeface="Wingdings" pitchFamily="2" charset="2"/>
              </a:rPr>
              <a:t></a:t>
            </a:r>
          </a:p>
        </p:txBody>
      </p:sp>
      <p:sp>
        <p:nvSpPr>
          <p:cNvPr id="50" name="Freeform 53"/>
          <p:cNvSpPr>
            <a:spLocks/>
          </p:cNvSpPr>
          <p:nvPr/>
        </p:nvSpPr>
        <p:spPr bwMode="auto">
          <a:xfrm>
            <a:off x="6305550" y="4457700"/>
            <a:ext cx="1809750" cy="304800"/>
          </a:xfrm>
          <a:custGeom>
            <a:avLst/>
            <a:gdLst>
              <a:gd name="T0" fmla="*/ 0 w 3840"/>
              <a:gd name="T1" fmla="*/ 2147483647 h 934"/>
              <a:gd name="T2" fmla="*/ 2147483647 w 3840"/>
              <a:gd name="T3" fmla="*/ 2147483647 h 934"/>
              <a:gd name="T4" fmla="*/ 2147483647 w 3840"/>
              <a:gd name="T5" fmla="*/ 2147483647 h 934"/>
              <a:gd name="T6" fmla="*/ 2147483647 w 3840"/>
              <a:gd name="T7" fmla="*/ 2147483647 h 934"/>
              <a:gd name="T8" fmla="*/ 2147483647 w 3840"/>
              <a:gd name="T9" fmla="*/ 2147483647 h 934"/>
              <a:gd name="T10" fmla="*/ 2147483647 w 3840"/>
              <a:gd name="T11" fmla="*/ 2147483647 h 934"/>
              <a:gd name="T12" fmla="*/ 2147483647 w 3840"/>
              <a:gd name="T13" fmla="*/ 2147483647 h 934"/>
              <a:gd name="T14" fmla="*/ 2147483647 w 3840"/>
              <a:gd name="T15" fmla="*/ 2147483647 h 934"/>
              <a:gd name="T16" fmla="*/ 2147483647 w 3840"/>
              <a:gd name="T17" fmla="*/ 2147483647 h 934"/>
              <a:gd name="T18" fmla="*/ 2147483647 w 3840"/>
              <a:gd name="T19" fmla="*/ 2147483647 h 934"/>
              <a:gd name="T20" fmla="*/ 2147483647 w 3840"/>
              <a:gd name="T21" fmla="*/ 2147483647 h 934"/>
              <a:gd name="T22" fmla="*/ 2147483647 w 3840"/>
              <a:gd name="T23" fmla="*/ 2147483647 h 934"/>
              <a:gd name="T24" fmla="*/ 2147483647 w 3840"/>
              <a:gd name="T25" fmla="*/ 2147483647 h 934"/>
              <a:gd name="T26" fmla="*/ 2147483647 w 3840"/>
              <a:gd name="T27" fmla="*/ 2147483647 h 934"/>
              <a:gd name="T28" fmla="*/ 2147483647 w 3840"/>
              <a:gd name="T29" fmla="*/ 2147483647 h 934"/>
              <a:gd name="T30" fmla="*/ 2147483647 w 3840"/>
              <a:gd name="T31" fmla="*/ 2147483647 h 93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840"/>
              <a:gd name="T49" fmla="*/ 0 h 934"/>
              <a:gd name="T50" fmla="*/ 3840 w 3840"/>
              <a:gd name="T51" fmla="*/ 934 h 934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840" h="934">
                <a:moveTo>
                  <a:pt x="0" y="502"/>
                </a:moveTo>
                <a:cubicBezTo>
                  <a:pt x="32" y="278"/>
                  <a:pt x="64" y="54"/>
                  <a:pt x="144" y="118"/>
                </a:cubicBezTo>
                <a:cubicBezTo>
                  <a:pt x="224" y="182"/>
                  <a:pt x="352" y="838"/>
                  <a:pt x="480" y="886"/>
                </a:cubicBezTo>
                <a:cubicBezTo>
                  <a:pt x="608" y="934"/>
                  <a:pt x="792" y="542"/>
                  <a:pt x="912" y="406"/>
                </a:cubicBezTo>
                <a:cubicBezTo>
                  <a:pt x="1032" y="270"/>
                  <a:pt x="1080" y="6"/>
                  <a:pt x="1200" y="70"/>
                </a:cubicBezTo>
                <a:cubicBezTo>
                  <a:pt x="1320" y="134"/>
                  <a:pt x="1528" y="662"/>
                  <a:pt x="1632" y="790"/>
                </a:cubicBezTo>
                <a:cubicBezTo>
                  <a:pt x="1736" y="918"/>
                  <a:pt x="1768" y="910"/>
                  <a:pt x="1824" y="838"/>
                </a:cubicBezTo>
                <a:cubicBezTo>
                  <a:pt x="1880" y="766"/>
                  <a:pt x="1931" y="461"/>
                  <a:pt x="1968" y="358"/>
                </a:cubicBezTo>
                <a:cubicBezTo>
                  <a:pt x="2005" y="255"/>
                  <a:pt x="2024" y="270"/>
                  <a:pt x="2048" y="222"/>
                </a:cubicBezTo>
                <a:cubicBezTo>
                  <a:pt x="2072" y="174"/>
                  <a:pt x="2061" y="0"/>
                  <a:pt x="2112" y="70"/>
                </a:cubicBezTo>
                <a:cubicBezTo>
                  <a:pt x="2163" y="140"/>
                  <a:pt x="2280" y="614"/>
                  <a:pt x="2352" y="646"/>
                </a:cubicBezTo>
                <a:cubicBezTo>
                  <a:pt x="2424" y="678"/>
                  <a:pt x="2448" y="230"/>
                  <a:pt x="2544" y="262"/>
                </a:cubicBezTo>
                <a:cubicBezTo>
                  <a:pt x="2640" y="294"/>
                  <a:pt x="2808" y="822"/>
                  <a:pt x="2928" y="838"/>
                </a:cubicBezTo>
                <a:cubicBezTo>
                  <a:pt x="3048" y="854"/>
                  <a:pt x="3176" y="398"/>
                  <a:pt x="3264" y="358"/>
                </a:cubicBezTo>
                <a:cubicBezTo>
                  <a:pt x="3352" y="318"/>
                  <a:pt x="3360" y="574"/>
                  <a:pt x="3456" y="598"/>
                </a:cubicBezTo>
                <a:cubicBezTo>
                  <a:pt x="3552" y="622"/>
                  <a:pt x="3776" y="518"/>
                  <a:pt x="3840" y="502"/>
                </a:cubicBezTo>
              </a:path>
            </a:pathLst>
          </a:cu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51" name="Text Box 54"/>
          <p:cNvSpPr txBox="1">
            <a:spLocks noChangeArrowheads="1"/>
          </p:cNvSpPr>
          <p:nvPr/>
        </p:nvSpPr>
        <p:spPr bwMode="auto">
          <a:xfrm>
            <a:off x="6391275" y="5140751"/>
            <a:ext cx="1628775" cy="830997"/>
          </a:xfrm>
          <a:prstGeom prst="rect">
            <a:avLst/>
          </a:prstGeom>
          <a:solidFill>
            <a:srgbClr val="CC3300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endParaRPr lang="en-GB" sz="1600" b="1">
              <a:solidFill>
                <a:schemeClr val="bg1"/>
              </a:solidFill>
            </a:endParaRPr>
          </a:p>
          <a:p>
            <a:pPr algn="ctr"/>
            <a:r>
              <a:rPr lang="en-GB" sz="1600" b="1">
                <a:solidFill>
                  <a:schemeClr val="bg1"/>
                </a:solidFill>
              </a:rPr>
              <a:t>Audio Stage</a:t>
            </a:r>
          </a:p>
          <a:p>
            <a:pPr algn="ctr"/>
            <a:endParaRPr lang="en-GB" sz="1600" b="1">
              <a:solidFill>
                <a:schemeClr val="bg1"/>
              </a:solidFill>
            </a:endParaRPr>
          </a:p>
        </p:txBody>
      </p:sp>
      <p:sp>
        <p:nvSpPr>
          <p:cNvPr id="52" name="Rectangle 55"/>
          <p:cNvSpPr>
            <a:spLocks noChangeArrowheads="1"/>
          </p:cNvSpPr>
          <p:nvPr/>
        </p:nvSpPr>
        <p:spPr bwMode="auto">
          <a:xfrm>
            <a:off x="6983633" y="4210020"/>
            <a:ext cx="4138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000">
                <a:sym typeface="Wingdings" pitchFamily="2" charset="2"/>
              </a:rPr>
              <a:t></a:t>
            </a:r>
          </a:p>
        </p:txBody>
      </p:sp>
      <p:sp>
        <p:nvSpPr>
          <p:cNvPr id="53" name="Rectangle 56"/>
          <p:cNvSpPr>
            <a:spLocks noChangeArrowheads="1"/>
          </p:cNvSpPr>
          <p:nvPr/>
        </p:nvSpPr>
        <p:spPr bwMode="auto">
          <a:xfrm>
            <a:off x="6993158" y="4724370"/>
            <a:ext cx="4138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000">
                <a:sym typeface="Wingdings" pitchFamily="2" charset="2"/>
              </a:rPr>
              <a:t></a:t>
            </a:r>
          </a:p>
        </p:txBody>
      </p:sp>
      <p:sp>
        <p:nvSpPr>
          <p:cNvPr id="54" name="Text Box 57"/>
          <p:cNvSpPr txBox="1">
            <a:spLocks noChangeArrowheads="1"/>
          </p:cNvSpPr>
          <p:nvPr/>
        </p:nvSpPr>
        <p:spPr bwMode="auto">
          <a:xfrm>
            <a:off x="381000" y="381000"/>
            <a:ext cx="3898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400" b="1" dirty="0"/>
              <a:t>Amplitude Demodulation</a:t>
            </a:r>
          </a:p>
        </p:txBody>
      </p:sp>
      <p:pic>
        <p:nvPicPr>
          <p:cNvPr id="80" name="Picture 7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235" y="3362355"/>
            <a:ext cx="4675900" cy="2842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700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reeform 5"/>
          <p:cNvSpPr>
            <a:spLocks/>
          </p:cNvSpPr>
          <p:nvPr/>
        </p:nvSpPr>
        <p:spPr bwMode="auto">
          <a:xfrm>
            <a:off x="1870075" y="5467350"/>
            <a:ext cx="7054850" cy="730250"/>
          </a:xfrm>
          <a:custGeom>
            <a:avLst/>
            <a:gdLst>
              <a:gd name="T0" fmla="*/ 0 w 3840"/>
              <a:gd name="T1" fmla="*/ 2147483647 h 934"/>
              <a:gd name="T2" fmla="*/ 2147483647 w 3840"/>
              <a:gd name="T3" fmla="*/ 2147483647 h 934"/>
              <a:gd name="T4" fmla="*/ 2147483647 w 3840"/>
              <a:gd name="T5" fmla="*/ 2147483647 h 934"/>
              <a:gd name="T6" fmla="*/ 2147483647 w 3840"/>
              <a:gd name="T7" fmla="*/ 2147483647 h 934"/>
              <a:gd name="T8" fmla="*/ 2147483647 w 3840"/>
              <a:gd name="T9" fmla="*/ 2147483647 h 934"/>
              <a:gd name="T10" fmla="*/ 2147483647 w 3840"/>
              <a:gd name="T11" fmla="*/ 2147483647 h 934"/>
              <a:gd name="T12" fmla="*/ 2147483647 w 3840"/>
              <a:gd name="T13" fmla="*/ 2147483647 h 934"/>
              <a:gd name="T14" fmla="*/ 2147483647 w 3840"/>
              <a:gd name="T15" fmla="*/ 2147483647 h 934"/>
              <a:gd name="T16" fmla="*/ 2147483647 w 3840"/>
              <a:gd name="T17" fmla="*/ 2147483647 h 934"/>
              <a:gd name="T18" fmla="*/ 2147483647 w 3840"/>
              <a:gd name="T19" fmla="*/ 2147483647 h 934"/>
              <a:gd name="T20" fmla="*/ 2147483647 w 3840"/>
              <a:gd name="T21" fmla="*/ 2147483647 h 934"/>
              <a:gd name="T22" fmla="*/ 2147483647 w 3840"/>
              <a:gd name="T23" fmla="*/ 2147483647 h 934"/>
              <a:gd name="T24" fmla="*/ 2147483647 w 3840"/>
              <a:gd name="T25" fmla="*/ 2147483647 h 934"/>
              <a:gd name="T26" fmla="*/ 2147483647 w 3840"/>
              <a:gd name="T27" fmla="*/ 2147483647 h 934"/>
              <a:gd name="T28" fmla="*/ 2147483647 w 3840"/>
              <a:gd name="T29" fmla="*/ 2147483647 h 934"/>
              <a:gd name="T30" fmla="*/ 2147483647 w 3840"/>
              <a:gd name="T31" fmla="*/ 2147483647 h 93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840"/>
              <a:gd name="T49" fmla="*/ 0 h 934"/>
              <a:gd name="T50" fmla="*/ 3840 w 3840"/>
              <a:gd name="T51" fmla="*/ 934 h 934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840" h="934">
                <a:moveTo>
                  <a:pt x="0" y="502"/>
                </a:moveTo>
                <a:cubicBezTo>
                  <a:pt x="32" y="278"/>
                  <a:pt x="64" y="54"/>
                  <a:pt x="144" y="118"/>
                </a:cubicBezTo>
                <a:cubicBezTo>
                  <a:pt x="224" y="182"/>
                  <a:pt x="352" y="838"/>
                  <a:pt x="480" y="886"/>
                </a:cubicBezTo>
                <a:cubicBezTo>
                  <a:pt x="608" y="934"/>
                  <a:pt x="792" y="542"/>
                  <a:pt x="912" y="406"/>
                </a:cubicBezTo>
                <a:cubicBezTo>
                  <a:pt x="1032" y="270"/>
                  <a:pt x="1080" y="6"/>
                  <a:pt x="1200" y="70"/>
                </a:cubicBezTo>
                <a:cubicBezTo>
                  <a:pt x="1320" y="134"/>
                  <a:pt x="1528" y="662"/>
                  <a:pt x="1632" y="790"/>
                </a:cubicBezTo>
                <a:cubicBezTo>
                  <a:pt x="1736" y="918"/>
                  <a:pt x="1768" y="910"/>
                  <a:pt x="1824" y="838"/>
                </a:cubicBezTo>
                <a:cubicBezTo>
                  <a:pt x="1880" y="766"/>
                  <a:pt x="1931" y="461"/>
                  <a:pt x="1968" y="358"/>
                </a:cubicBezTo>
                <a:cubicBezTo>
                  <a:pt x="2005" y="255"/>
                  <a:pt x="2024" y="270"/>
                  <a:pt x="2048" y="222"/>
                </a:cubicBezTo>
                <a:cubicBezTo>
                  <a:pt x="2072" y="174"/>
                  <a:pt x="2061" y="0"/>
                  <a:pt x="2112" y="70"/>
                </a:cubicBezTo>
                <a:cubicBezTo>
                  <a:pt x="2163" y="140"/>
                  <a:pt x="2280" y="614"/>
                  <a:pt x="2352" y="646"/>
                </a:cubicBezTo>
                <a:cubicBezTo>
                  <a:pt x="2424" y="678"/>
                  <a:pt x="2448" y="230"/>
                  <a:pt x="2544" y="262"/>
                </a:cubicBezTo>
                <a:cubicBezTo>
                  <a:pt x="2640" y="294"/>
                  <a:pt x="2808" y="822"/>
                  <a:pt x="2928" y="838"/>
                </a:cubicBezTo>
                <a:cubicBezTo>
                  <a:pt x="3048" y="854"/>
                  <a:pt x="3176" y="398"/>
                  <a:pt x="3264" y="358"/>
                </a:cubicBezTo>
                <a:cubicBezTo>
                  <a:pt x="3352" y="318"/>
                  <a:pt x="3360" y="574"/>
                  <a:pt x="3456" y="598"/>
                </a:cubicBezTo>
                <a:cubicBezTo>
                  <a:pt x="3552" y="622"/>
                  <a:pt x="3776" y="518"/>
                  <a:pt x="3840" y="502"/>
                </a:cubicBezTo>
              </a:path>
            </a:pathLst>
          </a:custGeom>
          <a:noFill/>
          <a:ln w="28575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876425" y="1143000"/>
            <a:ext cx="6953250" cy="1871663"/>
            <a:chOff x="774" y="1146"/>
            <a:chExt cx="3840" cy="879"/>
          </a:xfrm>
        </p:grpSpPr>
        <p:sp>
          <p:nvSpPr>
            <p:cNvPr id="10297" name="Freeform 7"/>
            <p:cNvSpPr>
              <a:spLocks/>
            </p:cNvSpPr>
            <p:nvPr/>
          </p:nvSpPr>
          <p:spPr bwMode="auto">
            <a:xfrm>
              <a:off x="774" y="1206"/>
              <a:ext cx="192" cy="777"/>
            </a:xfrm>
            <a:custGeom>
              <a:avLst/>
              <a:gdLst>
                <a:gd name="T0" fmla="*/ 0 w 1536"/>
                <a:gd name="T1" fmla="*/ 36 h 1152"/>
                <a:gd name="T2" fmla="*/ 0 w 1536"/>
                <a:gd name="T3" fmla="*/ 0 h 1152"/>
                <a:gd name="T4" fmla="*/ 0 w 1536"/>
                <a:gd name="T5" fmla="*/ 36 h 1152"/>
                <a:gd name="T6" fmla="*/ 0 w 1536"/>
                <a:gd name="T7" fmla="*/ 74 h 1152"/>
                <a:gd name="T8" fmla="*/ 0 w 1536"/>
                <a:gd name="T9" fmla="*/ 36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298" name="Freeform 8"/>
            <p:cNvSpPr>
              <a:spLocks/>
            </p:cNvSpPr>
            <p:nvPr/>
          </p:nvSpPr>
          <p:spPr bwMode="auto">
            <a:xfrm>
              <a:off x="966" y="1251"/>
              <a:ext cx="192" cy="528"/>
            </a:xfrm>
            <a:custGeom>
              <a:avLst/>
              <a:gdLst>
                <a:gd name="T0" fmla="*/ 0 w 192"/>
                <a:gd name="T1" fmla="*/ 339 h 528"/>
                <a:gd name="T2" fmla="*/ 48 w 192"/>
                <a:gd name="T3" fmla="*/ 11 h 528"/>
                <a:gd name="T4" fmla="*/ 96 w 192"/>
                <a:gd name="T5" fmla="*/ 270 h 528"/>
                <a:gd name="T6" fmla="*/ 144 w 192"/>
                <a:gd name="T7" fmla="*/ 528 h 528"/>
                <a:gd name="T8" fmla="*/ 192 w 192"/>
                <a:gd name="T9" fmla="*/ 270 h 5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28"/>
                <a:gd name="T17" fmla="*/ 192 w 192"/>
                <a:gd name="T18" fmla="*/ 528 h 5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28">
                  <a:moveTo>
                    <a:pt x="0" y="339"/>
                  </a:moveTo>
                  <a:cubicBezTo>
                    <a:pt x="8" y="285"/>
                    <a:pt x="32" y="22"/>
                    <a:pt x="48" y="11"/>
                  </a:cubicBezTo>
                  <a:cubicBezTo>
                    <a:pt x="64" y="0"/>
                    <a:pt x="80" y="183"/>
                    <a:pt x="96" y="270"/>
                  </a:cubicBezTo>
                  <a:cubicBezTo>
                    <a:pt x="112" y="356"/>
                    <a:pt x="128" y="528"/>
                    <a:pt x="144" y="528"/>
                  </a:cubicBezTo>
                  <a:cubicBezTo>
                    <a:pt x="160" y="528"/>
                    <a:pt x="176" y="399"/>
                    <a:pt x="192" y="27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299" name="Freeform 9"/>
            <p:cNvSpPr>
              <a:spLocks/>
            </p:cNvSpPr>
            <p:nvPr/>
          </p:nvSpPr>
          <p:spPr bwMode="auto">
            <a:xfrm>
              <a:off x="1155" y="1441"/>
              <a:ext cx="202" cy="229"/>
            </a:xfrm>
            <a:custGeom>
              <a:avLst/>
              <a:gdLst>
                <a:gd name="T0" fmla="*/ 0 w 202"/>
                <a:gd name="T1" fmla="*/ 98 h 229"/>
                <a:gd name="T2" fmla="*/ 48 w 202"/>
                <a:gd name="T3" fmla="*/ 8 h 229"/>
                <a:gd name="T4" fmla="*/ 99 w 202"/>
                <a:gd name="T5" fmla="*/ 149 h 229"/>
                <a:gd name="T6" fmla="*/ 135 w 202"/>
                <a:gd name="T7" fmla="*/ 224 h 229"/>
                <a:gd name="T8" fmla="*/ 192 w 202"/>
                <a:gd name="T9" fmla="*/ 119 h 229"/>
                <a:gd name="T10" fmla="*/ 195 w 202"/>
                <a:gd name="T11" fmla="*/ 149 h 2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02"/>
                <a:gd name="T19" fmla="*/ 0 h 229"/>
                <a:gd name="T20" fmla="*/ 202 w 202"/>
                <a:gd name="T21" fmla="*/ 229 h 22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02" h="229">
                  <a:moveTo>
                    <a:pt x="0" y="98"/>
                  </a:moveTo>
                  <a:cubicBezTo>
                    <a:pt x="8" y="83"/>
                    <a:pt x="32" y="0"/>
                    <a:pt x="48" y="8"/>
                  </a:cubicBezTo>
                  <a:cubicBezTo>
                    <a:pt x="64" y="16"/>
                    <a:pt x="85" y="113"/>
                    <a:pt x="99" y="149"/>
                  </a:cubicBezTo>
                  <a:cubicBezTo>
                    <a:pt x="113" y="185"/>
                    <a:pt x="120" y="229"/>
                    <a:pt x="135" y="224"/>
                  </a:cubicBezTo>
                  <a:cubicBezTo>
                    <a:pt x="150" y="219"/>
                    <a:pt x="182" y="131"/>
                    <a:pt x="192" y="119"/>
                  </a:cubicBezTo>
                  <a:cubicBezTo>
                    <a:pt x="202" y="107"/>
                    <a:pt x="195" y="143"/>
                    <a:pt x="195" y="149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00" name="Freeform 10"/>
            <p:cNvSpPr>
              <a:spLocks/>
            </p:cNvSpPr>
            <p:nvPr/>
          </p:nvSpPr>
          <p:spPr bwMode="auto">
            <a:xfrm>
              <a:off x="1344" y="1443"/>
              <a:ext cx="198" cy="303"/>
            </a:xfrm>
            <a:custGeom>
              <a:avLst/>
              <a:gdLst>
                <a:gd name="T0" fmla="*/ 0 w 198"/>
                <a:gd name="T1" fmla="*/ 129 h 303"/>
                <a:gd name="T2" fmla="*/ 48 w 198"/>
                <a:gd name="T3" fmla="*/ 3 h 303"/>
                <a:gd name="T4" fmla="*/ 102 w 198"/>
                <a:gd name="T5" fmla="*/ 147 h 303"/>
                <a:gd name="T6" fmla="*/ 150 w 198"/>
                <a:gd name="T7" fmla="*/ 303 h 303"/>
                <a:gd name="T8" fmla="*/ 198 w 198"/>
                <a:gd name="T9" fmla="*/ 147 h 3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8"/>
                <a:gd name="T16" fmla="*/ 0 h 303"/>
                <a:gd name="T17" fmla="*/ 198 w 198"/>
                <a:gd name="T18" fmla="*/ 303 h 3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8" h="303">
                  <a:moveTo>
                    <a:pt x="0" y="129"/>
                  </a:moveTo>
                  <a:cubicBezTo>
                    <a:pt x="8" y="108"/>
                    <a:pt x="31" y="0"/>
                    <a:pt x="48" y="3"/>
                  </a:cubicBezTo>
                  <a:cubicBezTo>
                    <a:pt x="65" y="6"/>
                    <a:pt x="85" y="97"/>
                    <a:pt x="102" y="147"/>
                  </a:cubicBezTo>
                  <a:cubicBezTo>
                    <a:pt x="119" y="197"/>
                    <a:pt x="134" y="303"/>
                    <a:pt x="150" y="303"/>
                  </a:cubicBezTo>
                  <a:cubicBezTo>
                    <a:pt x="166" y="303"/>
                    <a:pt x="188" y="179"/>
                    <a:pt x="198" y="147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01" name="Freeform 11"/>
            <p:cNvSpPr>
              <a:spLocks/>
            </p:cNvSpPr>
            <p:nvPr/>
          </p:nvSpPr>
          <p:spPr bwMode="auto">
            <a:xfrm>
              <a:off x="1542" y="1320"/>
              <a:ext cx="192" cy="546"/>
            </a:xfrm>
            <a:custGeom>
              <a:avLst/>
              <a:gdLst>
                <a:gd name="T0" fmla="*/ 0 w 192"/>
                <a:gd name="T1" fmla="*/ 270 h 546"/>
                <a:gd name="T2" fmla="*/ 51 w 192"/>
                <a:gd name="T3" fmla="*/ 0 h 546"/>
                <a:gd name="T4" fmla="*/ 96 w 192"/>
                <a:gd name="T5" fmla="*/ 270 h 546"/>
                <a:gd name="T6" fmla="*/ 147 w 192"/>
                <a:gd name="T7" fmla="*/ 546 h 546"/>
                <a:gd name="T8" fmla="*/ 192 w 192"/>
                <a:gd name="T9" fmla="*/ 270 h 5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46"/>
                <a:gd name="T17" fmla="*/ 192 w 192"/>
                <a:gd name="T18" fmla="*/ 546 h 5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46">
                  <a:moveTo>
                    <a:pt x="0" y="270"/>
                  </a:moveTo>
                  <a:cubicBezTo>
                    <a:pt x="8" y="225"/>
                    <a:pt x="35" y="0"/>
                    <a:pt x="51" y="0"/>
                  </a:cubicBezTo>
                  <a:cubicBezTo>
                    <a:pt x="67" y="0"/>
                    <a:pt x="80" y="179"/>
                    <a:pt x="96" y="270"/>
                  </a:cubicBezTo>
                  <a:cubicBezTo>
                    <a:pt x="112" y="361"/>
                    <a:pt x="131" y="546"/>
                    <a:pt x="147" y="546"/>
                  </a:cubicBezTo>
                  <a:cubicBezTo>
                    <a:pt x="163" y="546"/>
                    <a:pt x="183" y="327"/>
                    <a:pt x="192" y="27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02" name="Freeform 12"/>
            <p:cNvSpPr>
              <a:spLocks/>
            </p:cNvSpPr>
            <p:nvPr/>
          </p:nvSpPr>
          <p:spPr bwMode="auto">
            <a:xfrm>
              <a:off x="1734" y="1218"/>
              <a:ext cx="192" cy="807"/>
            </a:xfrm>
            <a:custGeom>
              <a:avLst/>
              <a:gdLst>
                <a:gd name="T0" fmla="*/ 0 w 192"/>
                <a:gd name="T1" fmla="*/ 372 h 807"/>
                <a:gd name="T2" fmla="*/ 42 w 192"/>
                <a:gd name="T3" fmla="*/ 0 h 807"/>
                <a:gd name="T4" fmla="*/ 96 w 192"/>
                <a:gd name="T5" fmla="*/ 372 h 807"/>
                <a:gd name="T6" fmla="*/ 147 w 192"/>
                <a:gd name="T7" fmla="*/ 750 h 807"/>
                <a:gd name="T8" fmla="*/ 156 w 192"/>
                <a:gd name="T9" fmla="*/ 714 h 807"/>
                <a:gd name="T10" fmla="*/ 192 w 192"/>
                <a:gd name="T11" fmla="*/ 372 h 8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2"/>
                <a:gd name="T19" fmla="*/ 0 h 807"/>
                <a:gd name="T20" fmla="*/ 192 w 192"/>
                <a:gd name="T21" fmla="*/ 807 h 80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92" h="807">
                  <a:moveTo>
                    <a:pt x="0" y="372"/>
                  </a:moveTo>
                  <a:cubicBezTo>
                    <a:pt x="7" y="310"/>
                    <a:pt x="26" y="0"/>
                    <a:pt x="42" y="0"/>
                  </a:cubicBezTo>
                  <a:cubicBezTo>
                    <a:pt x="58" y="0"/>
                    <a:pt x="79" y="247"/>
                    <a:pt x="96" y="372"/>
                  </a:cubicBezTo>
                  <a:cubicBezTo>
                    <a:pt x="113" y="497"/>
                    <a:pt x="137" y="693"/>
                    <a:pt x="147" y="750"/>
                  </a:cubicBezTo>
                  <a:cubicBezTo>
                    <a:pt x="157" y="807"/>
                    <a:pt x="148" y="777"/>
                    <a:pt x="156" y="714"/>
                  </a:cubicBezTo>
                  <a:cubicBezTo>
                    <a:pt x="164" y="651"/>
                    <a:pt x="184" y="443"/>
                    <a:pt x="192" y="372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03" name="Freeform 13"/>
            <p:cNvSpPr>
              <a:spLocks/>
            </p:cNvSpPr>
            <p:nvPr/>
          </p:nvSpPr>
          <p:spPr bwMode="auto">
            <a:xfrm>
              <a:off x="1926" y="1146"/>
              <a:ext cx="192" cy="801"/>
            </a:xfrm>
            <a:custGeom>
              <a:avLst/>
              <a:gdLst>
                <a:gd name="T0" fmla="*/ 0 w 192"/>
                <a:gd name="T1" fmla="*/ 444 h 801"/>
                <a:gd name="T2" fmla="*/ 45 w 192"/>
                <a:gd name="T3" fmla="*/ 0 h 801"/>
                <a:gd name="T4" fmla="*/ 96 w 192"/>
                <a:gd name="T5" fmla="*/ 444 h 801"/>
                <a:gd name="T6" fmla="*/ 147 w 192"/>
                <a:gd name="T7" fmla="*/ 801 h 801"/>
                <a:gd name="T8" fmla="*/ 192 w 192"/>
                <a:gd name="T9" fmla="*/ 444 h 8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801"/>
                <a:gd name="T17" fmla="*/ 192 w 192"/>
                <a:gd name="T18" fmla="*/ 801 h 80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801">
                  <a:moveTo>
                    <a:pt x="0" y="444"/>
                  </a:moveTo>
                  <a:cubicBezTo>
                    <a:pt x="8" y="370"/>
                    <a:pt x="29" y="0"/>
                    <a:pt x="45" y="0"/>
                  </a:cubicBezTo>
                  <a:cubicBezTo>
                    <a:pt x="61" y="0"/>
                    <a:pt x="79" y="311"/>
                    <a:pt x="96" y="444"/>
                  </a:cubicBezTo>
                  <a:cubicBezTo>
                    <a:pt x="113" y="577"/>
                    <a:pt x="131" y="801"/>
                    <a:pt x="147" y="801"/>
                  </a:cubicBezTo>
                  <a:cubicBezTo>
                    <a:pt x="163" y="801"/>
                    <a:pt x="183" y="518"/>
                    <a:pt x="192" y="444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04" name="Freeform 14"/>
            <p:cNvSpPr>
              <a:spLocks/>
            </p:cNvSpPr>
            <p:nvPr/>
          </p:nvSpPr>
          <p:spPr bwMode="auto">
            <a:xfrm>
              <a:off x="2118" y="1254"/>
              <a:ext cx="192" cy="549"/>
            </a:xfrm>
            <a:custGeom>
              <a:avLst/>
              <a:gdLst>
                <a:gd name="T0" fmla="*/ 0 w 192"/>
                <a:gd name="T1" fmla="*/ 336 h 549"/>
                <a:gd name="T2" fmla="*/ 48 w 192"/>
                <a:gd name="T3" fmla="*/ 0 h 549"/>
                <a:gd name="T4" fmla="*/ 96 w 192"/>
                <a:gd name="T5" fmla="*/ 336 h 549"/>
                <a:gd name="T6" fmla="*/ 147 w 192"/>
                <a:gd name="T7" fmla="*/ 549 h 549"/>
                <a:gd name="T8" fmla="*/ 192 w 192"/>
                <a:gd name="T9" fmla="*/ 336 h 5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49"/>
                <a:gd name="T17" fmla="*/ 192 w 192"/>
                <a:gd name="T18" fmla="*/ 549 h 5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49">
                  <a:moveTo>
                    <a:pt x="0" y="336"/>
                  </a:moveTo>
                  <a:cubicBezTo>
                    <a:pt x="8" y="280"/>
                    <a:pt x="32" y="0"/>
                    <a:pt x="48" y="0"/>
                  </a:cubicBezTo>
                  <a:cubicBezTo>
                    <a:pt x="64" y="0"/>
                    <a:pt x="80" y="245"/>
                    <a:pt x="96" y="336"/>
                  </a:cubicBezTo>
                  <a:cubicBezTo>
                    <a:pt x="112" y="427"/>
                    <a:pt x="131" y="549"/>
                    <a:pt x="147" y="549"/>
                  </a:cubicBezTo>
                  <a:cubicBezTo>
                    <a:pt x="163" y="549"/>
                    <a:pt x="183" y="380"/>
                    <a:pt x="192" y="33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05" name="Freeform 15"/>
            <p:cNvSpPr>
              <a:spLocks/>
            </p:cNvSpPr>
            <p:nvPr/>
          </p:nvSpPr>
          <p:spPr bwMode="auto">
            <a:xfrm>
              <a:off x="2310" y="1401"/>
              <a:ext cx="186" cy="283"/>
            </a:xfrm>
            <a:custGeom>
              <a:avLst/>
              <a:gdLst>
                <a:gd name="T0" fmla="*/ 0 w 186"/>
                <a:gd name="T1" fmla="*/ 189 h 283"/>
                <a:gd name="T2" fmla="*/ 45 w 186"/>
                <a:gd name="T3" fmla="*/ 0 h 283"/>
                <a:gd name="T4" fmla="*/ 96 w 186"/>
                <a:gd name="T5" fmla="*/ 189 h 283"/>
                <a:gd name="T6" fmla="*/ 144 w 186"/>
                <a:gd name="T7" fmla="*/ 279 h 283"/>
                <a:gd name="T8" fmla="*/ 186 w 186"/>
                <a:gd name="T9" fmla="*/ 168 h 2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6"/>
                <a:gd name="T16" fmla="*/ 0 h 283"/>
                <a:gd name="T17" fmla="*/ 186 w 186"/>
                <a:gd name="T18" fmla="*/ 283 h 2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6" h="283">
                  <a:moveTo>
                    <a:pt x="0" y="189"/>
                  </a:moveTo>
                  <a:cubicBezTo>
                    <a:pt x="7" y="158"/>
                    <a:pt x="29" y="0"/>
                    <a:pt x="45" y="0"/>
                  </a:cubicBezTo>
                  <a:cubicBezTo>
                    <a:pt x="61" y="0"/>
                    <a:pt x="80" y="143"/>
                    <a:pt x="96" y="189"/>
                  </a:cubicBezTo>
                  <a:cubicBezTo>
                    <a:pt x="112" y="235"/>
                    <a:pt x="129" y="283"/>
                    <a:pt x="144" y="279"/>
                  </a:cubicBezTo>
                  <a:cubicBezTo>
                    <a:pt x="159" y="275"/>
                    <a:pt x="177" y="191"/>
                    <a:pt x="186" y="16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06" name="Freeform 16"/>
            <p:cNvSpPr>
              <a:spLocks/>
            </p:cNvSpPr>
            <p:nvPr/>
          </p:nvSpPr>
          <p:spPr bwMode="auto">
            <a:xfrm>
              <a:off x="2499" y="1471"/>
              <a:ext cx="192" cy="258"/>
            </a:xfrm>
            <a:custGeom>
              <a:avLst/>
              <a:gdLst>
                <a:gd name="T0" fmla="*/ 0 w 192"/>
                <a:gd name="T1" fmla="*/ 101 h 258"/>
                <a:gd name="T2" fmla="*/ 33 w 192"/>
                <a:gd name="T3" fmla="*/ 2 h 258"/>
                <a:gd name="T4" fmla="*/ 90 w 192"/>
                <a:gd name="T5" fmla="*/ 116 h 258"/>
                <a:gd name="T6" fmla="*/ 141 w 192"/>
                <a:gd name="T7" fmla="*/ 254 h 258"/>
                <a:gd name="T8" fmla="*/ 192 w 192"/>
                <a:gd name="T9" fmla="*/ 92 h 2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258"/>
                <a:gd name="T17" fmla="*/ 192 w 192"/>
                <a:gd name="T18" fmla="*/ 258 h 2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258">
                  <a:moveTo>
                    <a:pt x="0" y="101"/>
                  </a:moveTo>
                  <a:cubicBezTo>
                    <a:pt x="5" y="85"/>
                    <a:pt x="18" y="0"/>
                    <a:pt x="33" y="2"/>
                  </a:cubicBezTo>
                  <a:cubicBezTo>
                    <a:pt x="48" y="4"/>
                    <a:pt x="72" y="74"/>
                    <a:pt x="90" y="116"/>
                  </a:cubicBezTo>
                  <a:cubicBezTo>
                    <a:pt x="108" y="158"/>
                    <a:pt x="124" y="258"/>
                    <a:pt x="141" y="254"/>
                  </a:cubicBezTo>
                  <a:cubicBezTo>
                    <a:pt x="158" y="250"/>
                    <a:pt x="181" y="126"/>
                    <a:pt x="192" y="92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07" name="Freeform 17"/>
            <p:cNvSpPr>
              <a:spLocks/>
            </p:cNvSpPr>
            <p:nvPr/>
          </p:nvSpPr>
          <p:spPr bwMode="auto">
            <a:xfrm>
              <a:off x="2685" y="1253"/>
              <a:ext cx="201" cy="694"/>
            </a:xfrm>
            <a:custGeom>
              <a:avLst/>
              <a:gdLst>
                <a:gd name="T0" fmla="*/ 0 w 201"/>
                <a:gd name="T1" fmla="*/ 328 h 694"/>
                <a:gd name="T2" fmla="*/ 54 w 201"/>
                <a:gd name="T3" fmla="*/ 1 h 694"/>
                <a:gd name="T4" fmla="*/ 105 w 201"/>
                <a:gd name="T5" fmla="*/ 337 h 694"/>
                <a:gd name="T6" fmla="*/ 147 w 201"/>
                <a:gd name="T7" fmla="*/ 694 h 694"/>
                <a:gd name="T8" fmla="*/ 201 w 201"/>
                <a:gd name="T9" fmla="*/ 337 h 6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1"/>
                <a:gd name="T16" fmla="*/ 0 h 694"/>
                <a:gd name="T17" fmla="*/ 201 w 201"/>
                <a:gd name="T18" fmla="*/ 694 h 6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1" h="694">
                  <a:moveTo>
                    <a:pt x="0" y="328"/>
                  </a:moveTo>
                  <a:cubicBezTo>
                    <a:pt x="9" y="274"/>
                    <a:pt x="37" y="0"/>
                    <a:pt x="54" y="1"/>
                  </a:cubicBezTo>
                  <a:cubicBezTo>
                    <a:pt x="71" y="2"/>
                    <a:pt x="90" y="222"/>
                    <a:pt x="105" y="337"/>
                  </a:cubicBezTo>
                  <a:cubicBezTo>
                    <a:pt x="120" y="452"/>
                    <a:pt x="131" y="694"/>
                    <a:pt x="147" y="694"/>
                  </a:cubicBezTo>
                  <a:cubicBezTo>
                    <a:pt x="163" y="694"/>
                    <a:pt x="190" y="411"/>
                    <a:pt x="201" y="337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08" name="Freeform 18"/>
            <p:cNvSpPr>
              <a:spLocks/>
            </p:cNvSpPr>
            <p:nvPr/>
          </p:nvSpPr>
          <p:spPr bwMode="auto">
            <a:xfrm>
              <a:off x="2886" y="1179"/>
              <a:ext cx="192" cy="645"/>
            </a:xfrm>
            <a:custGeom>
              <a:avLst/>
              <a:gdLst>
                <a:gd name="T0" fmla="*/ 0 w 192"/>
                <a:gd name="T1" fmla="*/ 411 h 645"/>
                <a:gd name="T2" fmla="*/ 45 w 192"/>
                <a:gd name="T3" fmla="*/ 0 h 645"/>
                <a:gd name="T4" fmla="*/ 96 w 192"/>
                <a:gd name="T5" fmla="*/ 411 h 645"/>
                <a:gd name="T6" fmla="*/ 147 w 192"/>
                <a:gd name="T7" fmla="*/ 645 h 645"/>
                <a:gd name="T8" fmla="*/ 192 w 192"/>
                <a:gd name="T9" fmla="*/ 411 h 6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645"/>
                <a:gd name="T17" fmla="*/ 192 w 192"/>
                <a:gd name="T18" fmla="*/ 645 h 64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645">
                  <a:moveTo>
                    <a:pt x="0" y="411"/>
                  </a:moveTo>
                  <a:cubicBezTo>
                    <a:pt x="7" y="343"/>
                    <a:pt x="29" y="0"/>
                    <a:pt x="45" y="0"/>
                  </a:cubicBezTo>
                  <a:cubicBezTo>
                    <a:pt x="61" y="0"/>
                    <a:pt x="79" y="304"/>
                    <a:pt x="96" y="411"/>
                  </a:cubicBezTo>
                  <a:cubicBezTo>
                    <a:pt x="113" y="518"/>
                    <a:pt x="131" y="645"/>
                    <a:pt x="147" y="645"/>
                  </a:cubicBezTo>
                  <a:cubicBezTo>
                    <a:pt x="163" y="645"/>
                    <a:pt x="183" y="460"/>
                    <a:pt x="192" y="411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09" name="Freeform 19"/>
            <p:cNvSpPr>
              <a:spLocks/>
            </p:cNvSpPr>
            <p:nvPr/>
          </p:nvSpPr>
          <p:spPr bwMode="auto">
            <a:xfrm>
              <a:off x="3078" y="1365"/>
              <a:ext cx="192" cy="489"/>
            </a:xfrm>
            <a:custGeom>
              <a:avLst/>
              <a:gdLst>
                <a:gd name="T0" fmla="*/ 0 w 192"/>
                <a:gd name="T1" fmla="*/ 225 h 489"/>
                <a:gd name="T2" fmla="*/ 39 w 192"/>
                <a:gd name="T3" fmla="*/ 0 h 489"/>
                <a:gd name="T4" fmla="*/ 96 w 192"/>
                <a:gd name="T5" fmla="*/ 225 h 489"/>
                <a:gd name="T6" fmla="*/ 141 w 192"/>
                <a:gd name="T7" fmla="*/ 489 h 489"/>
                <a:gd name="T8" fmla="*/ 192 w 192"/>
                <a:gd name="T9" fmla="*/ 225 h 4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489"/>
                <a:gd name="T17" fmla="*/ 192 w 192"/>
                <a:gd name="T18" fmla="*/ 489 h 4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489">
                  <a:moveTo>
                    <a:pt x="0" y="225"/>
                  </a:moveTo>
                  <a:cubicBezTo>
                    <a:pt x="6" y="188"/>
                    <a:pt x="23" y="0"/>
                    <a:pt x="39" y="0"/>
                  </a:cubicBezTo>
                  <a:cubicBezTo>
                    <a:pt x="55" y="0"/>
                    <a:pt x="79" y="144"/>
                    <a:pt x="96" y="225"/>
                  </a:cubicBezTo>
                  <a:cubicBezTo>
                    <a:pt x="113" y="306"/>
                    <a:pt x="125" y="489"/>
                    <a:pt x="141" y="489"/>
                  </a:cubicBezTo>
                  <a:cubicBezTo>
                    <a:pt x="157" y="489"/>
                    <a:pt x="182" y="280"/>
                    <a:pt x="192" y="225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10" name="Freeform 20"/>
            <p:cNvSpPr>
              <a:spLocks/>
            </p:cNvSpPr>
            <p:nvPr/>
          </p:nvSpPr>
          <p:spPr bwMode="auto">
            <a:xfrm>
              <a:off x="3270" y="1218"/>
              <a:ext cx="192" cy="654"/>
            </a:xfrm>
            <a:custGeom>
              <a:avLst/>
              <a:gdLst>
                <a:gd name="T0" fmla="*/ 0 w 192"/>
                <a:gd name="T1" fmla="*/ 372 h 654"/>
                <a:gd name="T2" fmla="*/ 51 w 192"/>
                <a:gd name="T3" fmla="*/ 0 h 654"/>
                <a:gd name="T4" fmla="*/ 96 w 192"/>
                <a:gd name="T5" fmla="*/ 372 h 654"/>
                <a:gd name="T6" fmla="*/ 147 w 192"/>
                <a:gd name="T7" fmla="*/ 654 h 654"/>
                <a:gd name="T8" fmla="*/ 192 w 192"/>
                <a:gd name="T9" fmla="*/ 372 h 6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654"/>
                <a:gd name="T17" fmla="*/ 192 w 192"/>
                <a:gd name="T18" fmla="*/ 654 h 6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654">
                  <a:moveTo>
                    <a:pt x="0" y="372"/>
                  </a:moveTo>
                  <a:cubicBezTo>
                    <a:pt x="8" y="310"/>
                    <a:pt x="35" y="0"/>
                    <a:pt x="51" y="0"/>
                  </a:cubicBezTo>
                  <a:cubicBezTo>
                    <a:pt x="67" y="0"/>
                    <a:pt x="80" y="263"/>
                    <a:pt x="96" y="372"/>
                  </a:cubicBezTo>
                  <a:cubicBezTo>
                    <a:pt x="112" y="481"/>
                    <a:pt x="131" y="654"/>
                    <a:pt x="147" y="654"/>
                  </a:cubicBezTo>
                  <a:cubicBezTo>
                    <a:pt x="163" y="654"/>
                    <a:pt x="183" y="431"/>
                    <a:pt x="192" y="372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11" name="Freeform 21"/>
            <p:cNvSpPr>
              <a:spLocks/>
            </p:cNvSpPr>
            <p:nvPr/>
          </p:nvSpPr>
          <p:spPr bwMode="auto">
            <a:xfrm>
              <a:off x="3462" y="1335"/>
              <a:ext cx="192" cy="384"/>
            </a:xfrm>
            <a:custGeom>
              <a:avLst/>
              <a:gdLst>
                <a:gd name="T0" fmla="*/ 0 w 192"/>
                <a:gd name="T1" fmla="*/ 255 h 384"/>
                <a:gd name="T2" fmla="*/ 45 w 192"/>
                <a:gd name="T3" fmla="*/ 0 h 384"/>
                <a:gd name="T4" fmla="*/ 96 w 192"/>
                <a:gd name="T5" fmla="*/ 255 h 384"/>
                <a:gd name="T6" fmla="*/ 144 w 192"/>
                <a:gd name="T7" fmla="*/ 384 h 384"/>
                <a:gd name="T8" fmla="*/ 192 w 192"/>
                <a:gd name="T9" fmla="*/ 255 h 3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384"/>
                <a:gd name="T17" fmla="*/ 192 w 192"/>
                <a:gd name="T18" fmla="*/ 384 h 3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384">
                  <a:moveTo>
                    <a:pt x="0" y="255"/>
                  </a:moveTo>
                  <a:cubicBezTo>
                    <a:pt x="7" y="213"/>
                    <a:pt x="29" y="0"/>
                    <a:pt x="45" y="0"/>
                  </a:cubicBezTo>
                  <a:cubicBezTo>
                    <a:pt x="61" y="0"/>
                    <a:pt x="80" y="191"/>
                    <a:pt x="96" y="255"/>
                  </a:cubicBezTo>
                  <a:cubicBezTo>
                    <a:pt x="112" y="319"/>
                    <a:pt x="128" y="384"/>
                    <a:pt x="144" y="384"/>
                  </a:cubicBezTo>
                  <a:cubicBezTo>
                    <a:pt x="160" y="384"/>
                    <a:pt x="182" y="282"/>
                    <a:pt x="192" y="255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12" name="Freeform 22"/>
            <p:cNvSpPr>
              <a:spLocks/>
            </p:cNvSpPr>
            <p:nvPr/>
          </p:nvSpPr>
          <p:spPr bwMode="auto">
            <a:xfrm>
              <a:off x="3654" y="1449"/>
              <a:ext cx="192" cy="267"/>
            </a:xfrm>
            <a:custGeom>
              <a:avLst/>
              <a:gdLst>
                <a:gd name="T0" fmla="*/ 0 w 192"/>
                <a:gd name="T1" fmla="*/ 141 h 267"/>
                <a:gd name="T2" fmla="*/ 45 w 192"/>
                <a:gd name="T3" fmla="*/ 0 h 267"/>
                <a:gd name="T4" fmla="*/ 96 w 192"/>
                <a:gd name="T5" fmla="*/ 141 h 267"/>
                <a:gd name="T6" fmla="*/ 150 w 192"/>
                <a:gd name="T7" fmla="*/ 267 h 267"/>
                <a:gd name="T8" fmla="*/ 192 w 192"/>
                <a:gd name="T9" fmla="*/ 141 h 2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267"/>
                <a:gd name="T17" fmla="*/ 192 w 192"/>
                <a:gd name="T18" fmla="*/ 267 h 2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267">
                  <a:moveTo>
                    <a:pt x="0" y="141"/>
                  </a:moveTo>
                  <a:cubicBezTo>
                    <a:pt x="7" y="118"/>
                    <a:pt x="29" y="0"/>
                    <a:pt x="45" y="0"/>
                  </a:cubicBezTo>
                  <a:cubicBezTo>
                    <a:pt x="61" y="0"/>
                    <a:pt x="79" y="97"/>
                    <a:pt x="96" y="141"/>
                  </a:cubicBezTo>
                  <a:cubicBezTo>
                    <a:pt x="113" y="185"/>
                    <a:pt x="134" y="267"/>
                    <a:pt x="150" y="267"/>
                  </a:cubicBezTo>
                  <a:cubicBezTo>
                    <a:pt x="166" y="267"/>
                    <a:pt x="183" y="167"/>
                    <a:pt x="192" y="141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13" name="Freeform 23"/>
            <p:cNvSpPr>
              <a:spLocks/>
            </p:cNvSpPr>
            <p:nvPr/>
          </p:nvSpPr>
          <p:spPr bwMode="auto">
            <a:xfrm>
              <a:off x="3846" y="1356"/>
              <a:ext cx="192" cy="507"/>
            </a:xfrm>
            <a:custGeom>
              <a:avLst/>
              <a:gdLst>
                <a:gd name="T0" fmla="*/ 0 w 192"/>
                <a:gd name="T1" fmla="*/ 234 h 507"/>
                <a:gd name="T2" fmla="*/ 45 w 192"/>
                <a:gd name="T3" fmla="*/ 0 h 507"/>
                <a:gd name="T4" fmla="*/ 96 w 192"/>
                <a:gd name="T5" fmla="*/ 234 h 507"/>
                <a:gd name="T6" fmla="*/ 147 w 192"/>
                <a:gd name="T7" fmla="*/ 507 h 507"/>
                <a:gd name="T8" fmla="*/ 192 w 192"/>
                <a:gd name="T9" fmla="*/ 234 h 5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07"/>
                <a:gd name="T17" fmla="*/ 192 w 192"/>
                <a:gd name="T18" fmla="*/ 507 h 50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07">
                  <a:moveTo>
                    <a:pt x="0" y="234"/>
                  </a:moveTo>
                  <a:cubicBezTo>
                    <a:pt x="8" y="195"/>
                    <a:pt x="29" y="0"/>
                    <a:pt x="45" y="0"/>
                  </a:cubicBezTo>
                  <a:cubicBezTo>
                    <a:pt x="61" y="0"/>
                    <a:pt x="79" y="150"/>
                    <a:pt x="96" y="234"/>
                  </a:cubicBezTo>
                  <a:cubicBezTo>
                    <a:pt x="113" y="318"/>
                    <a:pt x="131" y="507"/>
                    <a:pt x="147" y="507"/>
                  </a:cubicBezTo>
                  <a:cubicBezTo>
                    <a:pt x="163" y="507"/>
                    <a:pt x="183" y="291"/>
                    <a:pt x="192" y="234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14" name="Freeform 24"/>
            <p:cNvSpPr>
              <a:spLocks/>
            </p:cNvSpPr>
            <p:nvPr/>
          </p:nvSpPr>
          <p:spPr bwMode="auto">
            <a:xfrm>
              <a:off x="4038" y="1260"/>
              <a:ext cx="192" cy="534"/>
            </a:xfrm>
            <a:custGeom>
              <a:avLst/>
              <a:gdLst>
                <a:gd name="T0" fmla="*/ 0 w 192"/>
                <a:gd name="T1" fmla="*/ 330 h 534"/>
                <a:gd name="T2" fmla="*/ 48 w 192"/>
                <a:gd name="T3" fmla="*/ 0 h 534"/>
                <a:gd name="T4" fmla="*/ 96 w 192"/>
                <a:gd name="T5" fmla="*/ 330 h 534"/>
                <a:gd name="T6" fmla="*/ 147 w 192"/>
                <a:gd name="T7" fmla="*/ 534 h 534"/>
                <a:gd name="T8" fmla="*/ 192 w 192"/>
                <a:gd name="T9" fmla="*/ 330 h 5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34"/>
                <a:gd name="T17" fmla="*/ 192 w 192"/>
                <a:gd name="T18" fmla="*/ 534 h 5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34">
                  <a:moveTo>
                    <a:pt x="0" y="330"/>
                  </a:moveTo>
                  <a:cubicBezTo>
                    <a:pt x="8" y="275"/>
                    <a:pt x="32" y="0"/>
                    <a:pt x="48" y="0"/>
                  </a:cubicBezTo>
                  <a:cubicBezTo>
                    <a:pt x="64" y="0"/>
                    <a:pt x="80" y="241"/>
                    <a:pt x="96" y="330"/>
                  </a:cubicBezTo>
                  <a:cubicBezTo>
                    <a:pt x="112" y="419"/>
                    <a:pt x="131" y="534"/>
                    <a:pt x="147" y="534"/>
                  </a:cubicBezTo>
                  <a:cubicBezTo>
                    <a:pt x="163" y="534"/>
                    <a:pt x="183" y="372"/>
                    <a:pt x="192" y="33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15" name="Freeform 25"/>
            <p:cNvSpPr>
              <a:spLocks/>
            </p:cNvSpPr>
            <p:nvPr/>
          </p:nvSpPr>
          <p:spPr bwMode="auto">
            <a:xfrm>
              <a:off x="4230" y="1362"/>
              <a:ext cx="192" cy="423"/>
            </a:xfrm>
            <a:custGeom>
              <a:avLst/>
              <a:gdLst>
                <a:gd name="T0" fmla="*/ 0 w 192"/>
                <a:gd name="T1" fmla="*/ 228 h 423"/>
                <a:gd name="T2" fmla="*/ 48 w 192"/>
                <a:gd name="T3" fmla="*/ 0 h 423"/>
                <a:gd name="T4" fmla="*/ 96 w 192"/>
                <a:gd name="T5" fmla="*/ 228 h 423"/>
                <a:gd name="T6" fmla="*/ 150 w 192"/>
                <a:gd name="T7" fmla="*/ 423 h 423"/>
                <a:gd name="T8" fmla="*/ 192 w 192"/>
                <a:gd name="T9" fmla="*/ 228 h 4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423"/>
                <a:gd name="T17" fmla="*/ 192 w 192"/>
                <a:gd name="T18" fmla="*/ 423 h 4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423">
                  <a:moveTo>
                    <a:pt x="0" y="228"/>
                  </a:moveTo>
                  <a:cubicBezTo>
                    <a:pt x="8" y="190"/>
                    <a:pt x="32" y="0"/>
                    <a:pt x="48" y="0"/>
                  </a:cubicBezTo>
                  <a:cubicBezTo>
                    <a:pt x="64" y="0"/>
                    <a:pt x="79" y="158"/>
                    <a:pt x="96" y="228"/>
                  </a:cubicBezTo>
                  <a:cubicBezTo>
                    <a:pt x="113" y="298"/>
                    <a:pt x="134" y="423"/>
                    <a:pt x="150" y="423"/>
                  </a:cubicBezTo>
                  <a:cubicBezTo>
                    <a:pt x="166" y="423"/>
                    <a:pt x="183" y="269"/>
                    <a:pt x="192" y="22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316" name="Freeform 26"/>
            <p:cNvSpPr>
              <a:spLocks/>
            </p:cNvSpPr>
            <p:nvPr/>
          </p:nvSpPr>
          <p:spPr bwMode="auto">
            <a:xfrm>
              <a:off x="4422" y="1332"/>
              <a:ext cx="192" cy="477"/>
            </a:xfrm>
            <a:custGeom>
              <a:avLst/>
              <a:gdLst>
                <a:gd name="T0" fmla="*/ 0 w 192"/>
                <a:gd name="T1" fmla="*/ 258 h 477"/>
                <a:gd name="T2" fmla="*/ 45 w 192"/>
                <a:gd name="T3" fmla="*/ 0 h 477"/>
                <a:gd name="T4" fmla="*/ 96 w 192"/>
                <a:gd name="T5" fmla="*/ 258 h 477"/>
                <a:gd name="T6" fmla="*/ 147 w 192"/>
                <a:gd name="T7" fmla="*/ 477 h 477"/>
                <a:gd name="T8" fmla="*/ 192 w 192"/>
                <a:gd name="T9" fmla="*/ 258 h 4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477"/>
                <a:gd name="T17" fmla="*/ 192 w 192"/>
                <a:gd name="T18" fmla="*/ 477 h 4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477">
                  <a:moveTo>
                    <a:pt x="0" y="258"/>
                  </a:moveTo>
                  <a:cubicBezTo>
                    <a:pt x="8" y="215"/>
                    <a:pt x="29" y="0"/>
                    <a:pt x="45" y="0"/>
                  </a:cubicBezTo>
                  <a:cubicBezTo>
                    <a:pt x="61" y="0"/>
                    <a:pt x="79" y="179"/>
                    <a:pt x="96" y="258"/>
                  </a:cubicBezTo>
                  <a:cubicBezTo>
                    <a:pt x="113" y="337"/>
                    <a:pt x="131" y="477"/>
                    <a:pt x="147" y="477"/>
                  </a:cubicBezTo>
                  <a:cubicBezTo>
                    <a:pt x="163" y="477"/>
                    <a:pt x="183" y="304"/>
                    <a:pt x="192" y="25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0244" name="AutoShape 27"/>
          <p:cNvSpPr>
            <a:spLocks noChangeArrowheads="1"/>
          </p:cNvSpPr>
          <p:nvPr/>
        </p:nvSpPr>
        <p:spPr bwMode="auto">
          <a:xfrm>
            <a:off x="1989138" y="1800225"/>
            <a:ext cx="344487" cy="438150"/>
          </a:xfrm>
          <a:prstGeom prst="irregularSeal1">
            <a:avLst/>
          </a:prstGeom>
          <a:solidFill>
            <a:srgbClr val="FFFF00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1895475" y="3171825"/>
            <a:ext cx="6953250" cy="1871663"/>
            <a:chOff x="774" y="1146"/>
            <a:chExt cx="3840" cy="879"/>
          </a:xfrm>
        </p:grpSpPr>
        <p:sp>
          <p:nvSpPr>
            <p:cNvPr id="10277" name="Freeform 29"/>
            <p:cNvSpPr>
              <a:spLocks/>
            </p:cNvSpPr>
            <p:nvPr/>
          </p:nvSpPr>
          <p:spPr bwMode="auto">
            <a:xfrm>
              <a:off x="774" y="1206"/>
              <a:ext cx="192" cy="777"/>
            </a:xfrm>
            <a:custGeom>
              <a:avLst/>
              <a:gdLst>
                <a:gd name="T0" fmla="*/ 0 w 1536"/>
                <a:gd name="T1" fmla="*/ 36 h 1152"/>
                <a:gd name="T2" fmla="*/ 0 w 1536"/>
                <a:gd name="T3" fmla="*/ 0 h 1152"/>
                <a:gd name="T4" fmla="*/ 0 w 1536"/>
                <a:gd name="T5" fmla="*/ 36 h 1152"/>
                <a:gd name="T6" fmla="*/ 0 w 1536"/>
                <a:gd name="T7" fmla="*/ 74 h 1152"/>
                <a:gd name="T8" fmla="*/ 0 w 1536"/>
                <a:gd name="T9" fmla="*/ 36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278" name="Freeform 30"/>
            <p:cNvSpPr>
              <a:spLocks/>
            </p:cNvSpPr>
            <p:nvPr/>
          </p:nvSpPr>
          <p:spPr bwMode="auto">
            <a:xfrm>
              <a:off x="966" y="1251"/>
              <a:ext cx="192" cy="528"/>
            </a:xfrm>
            <a:custGeom>
              <a:avLst/>
              <a:gdLst>
                <a:gd name="T0" fmla="*/ 0 w 192"/>
                <a:gd name="T1" fmla="*/ 339 h 528"/>
                <a:gd name="T2" fmla="*/ 48 w 192"/>
                <a:gd name="T3" fmla="*/ 11 h 528"/>
                <a:gd name="T4" fmla="*/ 96 w 192"/>
                <a:gd name="T5" fmla="*/ 270 h 528"/>
                <a:gd name="T6" fmla="*/ 144 w 192"/>
                <a:gd name="T7" fmla="*/ 528 h 528"/>
                <a:gd name="T8" fmla="*/ 192 w 192"/>
                <a:gd name="T9" fmla="*/ 270 h 5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28"/>
                <a:gd name="T17" fmla="*/ 192 w 192"/>
                <a:gd name="T18" fmla="*/ 528 h 5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28">
                  <a:moveTo>
                    <a:pt x="0" y="339"/>
                  </a:moveTo>
                  <a:cubicBezTo>
                    <a:pt x="8" y="285"/>
                    <a:pt x="32" y="22"/>
                    <a:pt x="48" y="11"/>
                  </a:cubicBezTo>
                  <a:cubicBezTo>
                    <a:pt x="64" y="0"/>
                    <a:pt x="80" y="183"/>
                    <a:pt x="96" y="270"/>
                  </a:cubicBezTo>
                  <a:cubicBezTo>
                    <a:pt x="112" y="356"/>
                    <a:pt x="128" y="528"/>
                    <a:pt x="144" y="528"/>
                  </a:cubicBezTo>
                  <a:cubicBezTo>
                    <a:pt x="160" y="528"/>
                    <a:pt x="176" y="399"/>
                    <a:pt x="192" y="27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279" name="Freeform 31"/>
            <p:cNvSpPr>
              <a:spLocks/>
            </p:cNvSpPr>
            <p:nvPr/>
          </p:nvSpPr>
          <p:spPr bwMode="auto">
            <a:xfrm>
              <a:off x="1155" y="1441"/>
              <a:ext cx="202" cy="229"/>
            </a:xfrm>
            <a:custGeom>
              <a:avLst/>
              <a:gdLst>
                <a:gd name="T0" fmla="*/ 0 w 202"/>
                <a:gd name="T1" fmla="*/ 98 h 229"/>
                <a:gd name="T2" fmla="*/ 48 w 202"/>
                <a:gd name="T3" fmla="*/ 8 h 229"/>
                <a:gd name="T4" fmla="*/ 99 w 202"/>
                <a:gd name="T5" fmla="*/ 149 h 229"/>
                <a:gd name="T6" fmla="*/ 135 w 202"/>
                <a:gd name="T7" fmla="*/ 224 h 229"/>
                <a:gd name="T8" fmla="*/ 192 w 202"/>
                <a:gd name="T9" fmla="*/ 119 h 229"/>
                <a:gd name="T10" fmla="*/ 195 w 202"/>
                <a:gd name="T11" fmla="*/ 149 h 2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02"/>
                <a:gd name="T19" fmla="*/ 0 h 229"/>
                <a:gd name="T20" fmla="*/ 202 w 202"/>
                <a:gd name="T21" fmla="*/ 229 h 22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02" h="229">
                  <a:moveTo>
                    <a:pt x="0" y="98"/>
                  </a:moveTo>
                  <a:cubicBezTo>
                    <a:pt x="8" y="83"/>
                    <a:pt x="32" y="0"/>
                    <a:pt x="48" y="8"/>
                  </a:cubicBezTo>
                  <a:cubicBezTo>
                    <a:pt x="64" y="16"/>
                    <a:pt x="85" y="113"/>
                    <a:pt x="99" y="149"/>
                  </a:cubicBezTo>
                  <a:cubicBezTo>
                    <a:pt x="113" y="185"/>
                    <a:pt x="120" y="229"/>
                    <a:pt x="135" y="224"/>
                  </a:cubicBezTo>
                  <a:cubicBezTo>
                    <a:pt x="150" y="219"/>
                    <a:pt x="182" y="131"/>
                    <a:pt x="192" y="119"/>
                  </a:cubicBezTo>
                  <a:cubicBezTo>
                    <a:pt x="202" y="107"/>
                    <a:pt x="195" y="143"/>
                    <a:pt x="195" y="149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280" name="Freeform 32"/>
            <p:cNvSpPr>
              <a:spLocks/>
            </p:cNvSpPr>
            <p:nvPr/>
          </p:nvSpPr>
          <p:spPr bwMode="auto">
            <a:xfrm>
              <a:off x="1344" y="1443"/>
              <a:ext cx="198" cy="303"/>
            </a:xfrm>
            <a:custGeom>
              <a:avLst/>
              <a:gdLst>
                <a:gd name="T0" fmla="*/ 0 w 198"/>
                <a:gd name="T1" fmla="*/ 129 h 303"/>
                <a:gd name="T2" fmla="*/ 48 w 198"/>
                <a:gd name="T3" fmla="*/ 3 h 303"/>
                <a:gd name="T4" fmla="*/ 102 w 198"/>
                <a:gd name="T5" fmla="*/ 147 h 303"/>
                <a:gd name="T6" fmla="*/ 150 w 198"/>
                <a:gd name="T7" fmla="*/ 303 h 303"/>
                <a:gd name="T8" fmla="*/ 198 w 198"/>
                <a:gd name="T9" fmla="*/ 147 h 3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8"/>
                <a:gd name="T16" fmla="*/ 0 h 303"/>
                <a:gd name="T17" fmla="*/ 198 w 198"/>
                <a:gd name="T18" fmla="*/ 303 h 3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8" h="303">
                  <a:moveTo>
                    <a:pt x="0" y="129"/>
                  </a:moveTo>
                  <a:cubicBezTo>
                    <a:pt x="8" y="108"/>
                    <a:pt x="31" y="0"/>
                    <a:pt x="48" y="3"/>
                  </a:cubicBezTo>
                  <a:cubicBezTo>
                    <a:pt x="65" y="6"/>
                    <a:pt x="85" y="97"/>
                    <a:pt x="102" y="147"/>
                  </a:cubicBezTo>
                  <a:cubicBezTo>
                    <a:pt x="119" y="197"/>
                    <a:pt x="134" y="303"/>
                    <a:pt x="150" y="303"/>
                  </a:cubicBezTo>
                  <a:cubicBezTo>
                    <a:pt x="166" y="303"/>
                    <a:pt x="188" y="179"/>
                    <a:pt x="198" y="147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281" name="Freeform 33"/>
            <p:cNvSpPr>
              <a:spLocks/>
            </p:cNvSpPr>
            <p:nvPr/>
          </p:nvSpPr>
          <p:spPr bwMode="auto">
            <a:xfrm>
              <a:off x="1542" y="1320"/>
              <a:ext cx="192" cy="546"/>
            </a:xfrm>
            <a:custGeom>
              <a:avLst/>
              <a:gdLst>
                <a:gd name="T0" fmla="*/ 0 w 192"/>
                <a:gd name="T1" fmla="*/ 270 h 546"/>
                <a:gd name="T2" fmla="*/ 51 w 192"/>
                <a:gd name="T3" fmla="*/ 0 h 546"/>
                <a:gd name="T4" fmla="*/ 96 w 192"/>
                <a:gd name="T5" fmla="*/ 270 h 546"/>
                <a:gd name="T6" fmla="*/ 147 w 192"/>
                <a:gd name="T7" fmla="*/ 546 h 546"/>
                <a:gd name="T8" fmla="*/ 192 w 192"/>
                <a:gd name="T9" fmla="*/ 270 h 5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46"/>
                <a:gd name="T17" fmla="*/ 192 w 192"/>
                <a:gd name="T18" fmla="*/ 546 h 5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46">
                  <a:moveTo>
                    <a:pt x="0" y="270"/>
                  </a:moveTo>
                  <a:cubicBezTo>
                    <a:pt x="8" y="225"/>
                    <a:pt x="35" y="0"/>
                    <a:pt x="51" y="0"/>
                  </a:cubicBezTo>
                  <a:cubicBezTo>
                    <a:pt x="67" y="0"/>
                    <a:pt x="80" y="179"/>
                    <a:pt x="96" y="270"/>
                  </a:cubicBezTo>
                  <a:cubicBezTo>
                    <a:pt x="112" y="361"/>
                    <a:pt x="131" y="546"/>
                    <a:pt x="147" y="546"/>
                  </a:cubicBezTo>
                  <a:cubicBezTo>
                    <a:pt x="163" y="546"/>
                    <a:pt x="183" y="327"/>
                    <a:pt x="192" y="27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282" name="Freeform 34"/>
            <p:cNvSpPr>
              <a:spLocks/>
            </p:cNvSpPr>
            <p:nvPr/>
          </p:nvSpPr>
          <p:spPr bwMode="auto">
            <a:xfrm>
              <a:off x="1734" y="1218"/>
              <a:ext cx="192" cy="807"/>
            </a:xfrm>
            <a:custGeom>
              <a:avLst/>
              <a:gdLst>
                <a:gd name="T0" fmla="*/ 0 w 192"/>
                <a:gd name="T1" fmla="*/ 372 h 807"/>
                <a:gd name="T2" fmla="*/ 42 w 192"/>
                <a:gd name="T3" fmla="*/ 0 h 807"/>
                <a:gd name="T4" fmla="*/ 96 w 192"/>
                <a:gd name="T5" fmla="*/ 372 h 807"/>
                <a:gd name="T6" fmla="*/ 147 w 192"/>
                <a:gd name="T7" fmla="*/ 750 h 807"/>
                <a:gd name="T8" fmla="*/ 156 w 192"/>
                <a:gd name="T9" fmla="*/ 714 h 807"/>
                <a:gd name="T10" fmla="*/ 192 w 192"/>
                <a:gd name="T11" fmla="*/ 372 h 8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2"/>
                <a:gd name="T19" fmla="*/ 0 h 807"/>
                <a:gd name="T20" fmla="*/ 192 w 192"/>
                <a:gd name="T21" fmla="*/ 807 h 80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92" h="807">
                  <a:moveTo>
                    <a:pt x="0" y="372"/>
                  </a:moveTo>
                  <a:cubicBezTo>
                    <a:pt x="7" y="310"/>
                    <a:pt x="26" y="0"/>
                    <a:pt x="42" y="0"/>
                  </a:cubicBezTo>
                  <a:cubicBezTo>
                    <a:pt x="58" y="0"/>
                    <a:pt x="79" y="247"/>
                    <a:pt x="96" y="372"/>
                  </a:cubicBezTo>
                  <a:cubicBezTo>
                    <a:pt x="113" y="497"/>
                    <a:pt x="137" y="693"/>
                    <a:pt x="147" y="750"/>
                  </a:cubicBezTo>
                  <a:cubicBezTo>
                    <a:pt x="157" y="807"/>
                    <a:pt x="148" y="777"/>
                    <a:pt x="156" y="714"/>
                  </a:cubicBezTo>
                  <a:cubicBezTo>
                    <a:pt x="164" y="651"/>
                    <a:pt x="184" y="443"/>
                    <a:pt x="192" y="372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283" name="Freeform 35"/>
            <p:cNvSpPr>
              <a:spLocks/>
            </p:cNvSpPr>
            <p:nvPr/>
          </p:nvSpPr>
          <p:spPr bwMode="auto">
            <a:xfrm>
              <a:off x="1926" y="1146"/>
              <a:ext cx="192" cy="801"/>
            </a:xfrm>
            <a:custGeom>
              <a:avLst/>
              <a:gdLst>
                <a:gd name="T0" fmla="*/ 0 w 192"/>
                <a:gd name="T1" fmla="*/ 444 h 801"/>
                <a:gd name="T2" fmla="*/ 45 w 192"/>
                <a:gd name="T3" fmla="*/ 0 h 801"/>
                <a:gd name="T4" fmla="*/ 96 w 192"/>
                <a:gd name="T5" fmla="*/ 444 h 801"/>
                <a:gd name="T6" fmla="*/ 147 w 192"/>
                <a:gd name="T7" fmla="*/ 801 h 801"/>
                <a:gd name="T8" fmla="*/ 192 w 192"/>
                <a:gd name="T9" fmla="*/ 444 h 8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801"/>
                <a:gd name="T17" fmla="*/ 192 w 192"/>
                <a:gd name="T18" fmla="*/ 801 h 80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801">
                  <a:moveTo>
                    <a:pt x="0" y="444"/>
                  </a:moveTo>
                  <a:cubicBezTo>
                    <a:pt x="8" y="370"/>
                    <a:pt x="29" y="0"/>
                    <a:pt x="45" y="0"/>
                  </a:cubicBezTo>
                  <a:cubicBezTo>
                    <a:pt x="61" y="0"/>
                    <a:pt x="79" y="311"/>
                    <a:pt x="96" y="444"/>
                  </a:cubicBezTo>
                  <a:cubicBezTo>
                    <a:pt x="113" y="577"/>
                    <a:pt x="131" y="801"/>
                    <a:pt x="147" y="801"/>
                  </a:cubicBezTo>
                  <a:cubicBezTo>
                    <a:pt x="163" y="801"/>
                    <a:pt x="183" y="518"/>
                    <a:pt x="192" y="444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284" name="Freeform 36"/>
            <p:cNvSpPr>
              <a:spLocks/>
            </p:cNvSpPr>
            <p:nvPr/>
          </p:nvSpPr>
          <p:spPr bwMode="auto">
            <a:xfrm>
              <a:off x="2118" y="1254"/>
              <a:ext cx="192" cy="549"/>
            </a:xfrm>
            <a:custGeom>
              <a:avLst/>
              <a:gdLst>
                <a:gd name="T0" fmla="*/ 0 w 192"/>
                <a:gd name="T1" fmla="*/ 336 h 549"/>
                <a:gd name="T2" fmla="*/ 48 w 192"/>
                <a:gd name="T3" fmla="*/ 0 h 549"/>
                <a:gd name="T4" fmla="*/ 96 w 192"/>
                <a:gd name="T5" fmla="*/ 336 h 549"/>
                <a:gd name="T6" fmla="*/ 147 w 192"/>
                <a:gd name="T7" fmla="*/ 549 h 549"/>
                <a:gd name="T8" fmla="*/ 192 w 192"/>
                <a:gd name="T9" fmla="*/ 336 h 5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49"/>
                <a:gd name="T17" fmla="*/ 192 w 192"/>
                <a:gd name="T18" fmla="*/ 549 h 5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49">
                  <a:moveTo>
                    <a:pt x="0" y="336"/>
                  </a:moveTo>
                  <a:cubicBezTo>
                    <a:pt x="8" y="280"/>
                    <a:pt x="32" y="0"/>
                    <a:pt x="48" y="0"/>
                  </a:cubicBezTo>
                  <a:cubicBezTo>
                    <a:pt x="64" y="0"/>
                    <a:pt x="80" y="245"/>
                    <a:pt x="96" y="336"/>
                  </a:cubicBezTo>
                  <a:cubicBezTo>
                    <a:pt x="112" y="427"/>
                    <a:pt x="131" y="549"/>
                    <a:pt x="147" y="549"/>
                  </a:cubicBezTo>
                  <a:cubicBezTo>
                    <a:pt x="163" y="549"/>
                    <a:pt x="183" y="380"/>
                    <a:pt x="192" y="33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285" name="Freeform 37"/>
            <p:cNvSpPr>
              <a:spLocks/>
            </p:cNvSpPr>
            <p:nvPr/>
          </p:nvSpPr>
          <p:spPr bwMode="auto">
            <a:xfrm>
              <a:off x="2310" y="1401"/>
              <a:ext cx="186" cy="283"/>
            </a:xfrm>
            <a:custGeom>
              <a:avLst/>
              <a:gdLst>
                <a:gd name="T0" fmla="*/ 0 w 186"/>
                <a:gd name="T1" fmla="*/ 189 h 283"/>
                <a:gd name="T2" fmla="*/ 45 w 186"/>
                <a:gd name="T3" fmla="*/ 0 h 283"/>
                <a:gd name="T4" fmla="*/ 96 w 186"/>
                <a:gd name="T5" fmla="*/ 189 h 283"/>
                <a:gd name="T6" fmla="*/ 144 w 186"/>
                <a:gd name="T7" fmla="*/ 279 h 283"/>
                <a:gd name="T8" fmla="*/ 186 w 186"/>
                <a:gd name="T9" fmla="*/ 168 h 2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6"/>
                <a:gd name="T16" fmla="*/ 0 h 283"/>
                <a:gd name="T17" fmla="*/ 186 w 186"/>
                <a:gd name="T18" fmla="*/ 283 h 2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6" h="283">
                  <a:moveTo>
                    <a:pt x="0" y="189"/>
                  </a:moveTo>
                  <a:cubicBezTo>
                    <a:pt x="7" y="158"/>
                    <a:pt x="29" y="0"/>
                    <a:pt x="45" y="0"/>
                  </a:cubicBezTo>
                  <a:cubicBezTo>
                    <a:pt x="61" y="0"/>
                    <a:pt x="80" y="143"/>
                    <a:pt x="96" y="189"/>
                  </a:cubicBezTo>
                  <a:cubicBezTo>
                    <a:pt x="112" y="235"/>
                    <a:pt x="129" y="283"/>
                    <a:pt x="144" y="279"/>
                  </a:cubicBezTo>
                  <a:cubicBezTo>
                    <a:pt x="159" y="275"/>
                    <a:pt x="177" y="191"/>
                    <a:pt x="186" y="16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286" name="Freeform 38"/>
            <p:cNvSpPr>
              <a:spLocks/>
            </p:cNvSpPr>
            <p:nvPr/>
          </p:nvSpPr>
          <p:spPr bwMode="auto">
            <a:xfrm>
              <a:off x="2499" y="1471"/>
              <a:ext cx="192" cy="258"/>
            </a:xfrm>
            <a:custGeom>
              <a:avLst/>
              <a:gdLst>
                <a:gd name="T0" fmla="*/ 0 w 192"/>
                <a:gd name="T1" fmla="*/ 101 h 258"/>
                <a:gd name="T2" fmla="*/ 33 w 192"/>
                <a:gd name="T3" fmla="*/ 2 h 258"/>
                <a:gd name="T4" fmla="*/ 90 w 192"/>
                <a:gd name="T5" fmla="*/ 116 h 258"/>
                <a:gd name="T6" fmla="*/ 141 w 192"/>
                <a:gd name="T7" fmla="*/ 254 h 258"/>
                <a:gd name="T8" fmla="*/ 192 w 192"/>
                <a:gd name="T9" fmla="*/ 92 h 2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258"/>
                <a:gd name="T17" fmla="*/ 192 w 192"/>
                <a:gd name="T18" fmla="*/ 258 h 2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258">
                  <a:moveTo>
                    <a:pt x="0" y="101"/>
                  </a:moveTo>
                  <a:cubicBezTo>
                    <a:pt x="5" y="85"/>
                    <a:pt x="18" y="0"/>
                    <a:pt x="33" y="2"/>
                  </a:cubicBezTo>
                  <a:cubicBezTo>
                    <a:pt x="48" y="4"/>
                    <a:pt x="72" y="74"/>
                    <a:pt x="90" y="116"/>
                  </a:cubicBezTo>
                  <a:cubicBezTo>
                    <a:pt x="108" y="158"/>
                    <a:pt x="124" y="258"/>
                    <a:pt x="141" y="254"/>
                  </a:cubicBezTo>
                  <a:cubicBezTo>
                    <a:pt x="158" y="250"/>
                    <a:pt x="181" y="126"/>
                    <a:pt x="192" y="92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287" name="Freeform 39"/>
            <p:cNvSpPr>
              <a:spLocks/>
            </p:cNvSpPr>
            <p:nvPr/>
          </p:nvSpPr>
          <p:spPr bwMode="auto">
            <a:xfrm>
              <a:off x="2685" y="1253"/>
              <a:ext cx="201" cy="694"/>
            </a:xfrm>
            <a:custGeom>
              <a:avLst/>
              <a:gdLst>
                <a:gd name="T0" fmla="*/ 0 w 201"/>
                <a:gd name="T1" fmla="*/ 328 h 694"/>
                <a:gd name="T2" fmla="*/ 54 w 201"/>
                <a:gd name="T3" fmla="*/ 1 h 694"/>
                <a:gd name="T4" fmla="*/ 105 w 201"/>
                <a:gd name="T5" fmla="*/ 337 h 694"/>
                <a:gd name="T6" fmla="*/ 147 w 201"/>
                <a:gd name="T7" fmla="*/ 694 h 694"/>
                <a:gd name="T8" fmla="*/ 201 w 201"/>
                <a:gd name="T9" fmla="*/ 337 h 6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1"/>
                <a:gd name="T16" fmla="*/ 0 h 694"/>
                <a:gd name="T17" fmla="*/ 201 w 201"/>
                <a:gd name="T18" fmla="*/ 694 h 6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1" h="694">
                  <a:moveTo>
                    <a:pt x="0" y="328"/>
                  </a:moveTo>
                  <a:cubicBezTo>
                    <a:pt x="9" y="274"/>
                    <a:pt x="37" y="0"/>
                    <a:pt x="54" y="1"/>
                  </a:cubicBezTo>
                  <a:cubicBezTo>
                    <a:pt x="71" y="2"/>
                    <a:pt x="90" y="222"/>
                    <a:pt x="105" y="337"/>
                  </a:cubicBezTo>
                  <a:cubicBezTo>
                    <a:pt x="120" y="452"/>
                    <a:pt x="131" y="694"/>
                    <a:pt x="147" y="694"/>
                  </a:cubicBezTo>
                  <a:cubicBezTo>
                    <a:pt x="163" y="694"/>
                    <a:pt x="190" y="411"/>
                    <a:pt x="201" y="337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288" name="Freeform 40"/>
            <p:cNvSpPr>
              <a:spLocks/>
            </p:cNvSpPr>
            <p:nvPr/>
          </p:nvSpPr>
          <p:spPr bwMode="auto">
            <a:xfrm>
              <a:off x="2886" y="1179"/>
              <a:ext cx="192" cy="645"/>
            </a:xfrm>
            <a:custGeom>
              <a:avLst/>
              <a:gdLst>
                <a:gd name="T0" fmla="*/ 0 w 192"/>
                <a:gd name="T1" fmla="*/ 411 h 645"/>
                <a:gd name="T2" fmla="*/ 45 w 192"/>
                <a:gd name="T3" fmla="*/ 0 h 645"/>
                <a:gd name="T4" fmla="*/ 96 w 192"/>
                <a:gd name="T5" fmla="*/ 411 h 645"/>
                <a:gd name="T6" fmla="*/ 147 w 192"/>
                <a:gd name="T7" fmla="*/ 645 h 645"/>
                <a:gd name="T8" fmla="*/ 192 w 192"/>
                <a:gd name="T9" fmla="*/ 411 h 6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645"/>
                <a:gd name="T17" fmla="*/ 192 w 192"/>
                <a:gd name="T18" fmla="*/ 645 h 64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645">
                  <a:moveTo>
                    <a:pt x="0" y="411"/>
                  </a:moveTo>
                  <a:cubicBezTo>
                    <a:pt x="7" y="343"/>
                    <a:pt x="29" y="0"/>
                    <a:pt x="45" y="0"/>
                  </a:cubicBezTo>
                  <a:cubicBezTo>
                    <a:pt x="61" y="0"/>
                    <a:pt x="79" y="304"/>
                    <a:pt x="96" y="411"/>
                  </a:cubicBezTo>
                  <a:cubicBezTo>
                    <a:pt x="113" y="518"/>
                    <a:pt x="131" y="645"/>
                    <a:pt x="147" y="645"/>
                  </a:cubicBezTo>
                  <a:cubicBezTo>
                    <a:pt x="163" y="645"/>
                    <a:pt x="183" y="460"/>
                    <a:pt x="192" y="411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289" name="Freeform 41"/>
            <p:cNvSpPr>
              <a:spLocks/>
            </p:cNvSpPr>
            <p:nvPr/>
          </p:nvSpPr>
          <p:spPr bwMode="auto">
            <a:xfrm>
              <a:off x="3078" y="1365"/>
              <a:ext cx="192" cy="489"/>
            </a:xfrm>
            <a:custGeom>
              <a:avLst/>
              <a:gdLst>
                <a:gd name="T0" fmla="*/ 0 w 192"/>
                <a:gd name="T1" fmla="*/ 225 h 489"/>
                <a:gd name="T2" fmla="*/ 39 w 192"/>
                <a:gd name="T3" fmla="*/ 0 h 489"/>
                <a:gd name="T4" fmla="*/ 96 w 192"/>
                <a:gd name="T5" fmla="*/ 225 h 489"/>
                <a:gd name="T6" fmla="*/ 141 w 192"/>
                <a:gd name="T7" fmla="*/ 489 h 489"/>
                <a:gd name="T8" fmla="*/ 192 w 192"/>
                <a:gd name="T9" fmla="*/ 225 h 4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489"/>
                <a:gd name="T17" fmla="*/ 192 w 192"/>
                <a:gd name="T18" fmla="*/ 489 h 4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489">
                  <a:moveTo>
                    <a:pt x="0" y="225"/>
                  </a:moveTo>
                  <a:cubicBezTo>
                    <a:pt x="6" y="188"/>
                    <a:pt x="23" y="0"/>
                    <a:pt x="39" y="0"/>
                  </a:cubicBezTo>
                  <a:cubicBezTo>
                    <a:pt x="55" y="0"/>
                    <a:pt x="79" y="144"/>
                    <a:pt x="96" y="225"/>
                  </a:cubicBezTo>
                  <a:cubicBezTo>
                    <a:pt x="113" y="306"/>
                    <a:pt x="125" y="489"/>
                    <a:pt x="141" y="489"/>
                  </a:cubicBezTo>
                  <a:cubicBezTo>
                    <a:pt x="157" y="489"/>
                    <a:pt x="182" y="280"/>
                    <a:pt x="192" y="225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290" name="Freeform 42"/>
            <p:cNvSpPr>
              <a:spLocks/>
            </p:cNvSpPr>
            <p:nvPr/>
          </p:nvSpPr>
          <p:spPr bwMode="auto">
            <a:xfrm>
              <a:off x="3270" y="1218"/>
              <a:ext cx="192" cy="654"/>
            </a:xfrm>
            <a:custGeom>
              <a:avLst/>
              <a:gdLst>
                <a:gd name="T0" fmla="*/ 0 w 192"/>
                <a:gd name="T1" fmla="*/ 372 h 654"/>
                <a:gd name="T2" fmla="*/ 51 w 192"/>
                <a:gd name="T3" fmla="*/ 0 h 654"/>
                <a:gd name="T4" fmla="*/ 96 w 192"/>
                <a:gd name="T5" fmla="*/ 372 h 654"/>
                <a:gd name="T6" fmla="*/ 147 w 192"/>
                <a:gd name="T7" fmla="*/ 654 h 654"/>
                <a:gd name="T8" fmla="*/ 192 w 192"/>
                <a:gd name="T9" fmla="*/ 372 h 6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654"/>
                <a:gd name="T17" fmla="*/ 192 w 192"/>
                <a:gd name="T18" fmla="*/ 654 h 6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654">
                  <a:moveTo>
                    <a:pt x="0" y="372"/>
                  </a:moveTo>
                  <a:cubicBezTo>
                    <a:pt x="8" y="310"/>
                    <a:pt x="35" y="0"/>
                    <a:pt x="51" y="0"/>
                  </a:cubicBezTo>
                  <a:cubicBezTo>
                    <a:pt x="67" y="0"/>
                    <a:pt x="80" y="263"/>
                    <a:pt x="96" y="372"/>
                  </a:cubicBezTo>
                  <a:cubicBezTo>
                    <a:pt x="112" y="481"/>
                    <a:pt x="131" y="654"/>
                    <a:pt x="147" y="654"/>
                  </a:cubicBezTo>
                  <a:cubicBezTo>
                    <a:pt x="163" y="654"/>
                    <a:pt x="183" y="431"/>
                    <a:pt x="192" y="372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291" name="Freeform 43"/>
            <p:cNvSpPr>
              <a:spLocks/>
            </p:cNvSpPr>
            <p:nvPr/>
          </p:nvSpPr>
          <p:spPr bwMode="auto">
            <a:xfrm>
              <a:off x="3462" y="1335"/>
              <a:ext cx="192" cy="384"/>
            </a:xfrm>
            <a:custGeom>
              <a:avLst/>
              <a:gdLst>
                <a:gd name="T0" fmla="*/ 0 w 192"/>
                <a:gd name="T1" fmla="*/ 255 h 384"/>
                <a:gd name="T2" fmla="*/ 45 w 192"/>
                <a:gd name="T3" fmla="*/ 0 h 384"/>
                <a:gd name="T4" fmla="*/ 96 w 192"/>
                <a:gd name="T5" fmla="*/ 255 h 384"/>
                <a:gd name="T6" fmla="*/ 144 w 192"/>
                <a:gd name="T7" fmla="*/ 384 h 384"/>
                <a:gd name="T8" fmla="*/ 192 w 192"/>
                <a:gd name="T9" fmla="*/ 255 h 3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384"/>
                <a:gd name="T17" fmla="*/ 192 w 192"/>
                <a:gd name="T18" fmla="*/ 384 h 3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384">
                  <a:moveTo>
                    <a:pt x="0" y="255"/>
                  </a:moveTo>
                  <a:cubicBezTo>
                    <a:pt x="7" y="213"/>
                    <a:pt x="29" y="0"/>
                    <a:pt x="45" y="0"/>
                  </a:cubicBezTo>
                  <a:cubicBezTo>
                    <a:pt x="61" y="0"/>
                    <a:pt x="80" y="191"/>
                    <a:pt x="96" y="255"/>
                  </a:cubicBezTo>
                  <a:cubicBezTo>
                    <a:pt x="112" y="319"/>
                    <a:pt x="128" y="384"/>
                    <a:pt x="144" y="384"/>
                  </a:cubicBezTo>
                  <a:cubicBezTo>
                    <a:pt x="160" y="384"/>
                    <a:pt x="182" y="282"/>
                    <a:pt x="192" y="255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292" name="Freeform 44"/>
            <p:cNvSpPr>
              <a:spLocks/>
            </p:cNvSpPr>
            <p:nvPr/>
          </p:nvSpPr>
          <p:spPr bwMode="auto">
            <a:xfrm>
              <a:off x="3654" y="1449"/>
              <a:ext cx="192" cy="267"/>
            </a:xfrm>
            <a:custGeom>
              <a:avLst/>
              <a:gdLst>
                <a:gd name="T0" fmla="*/ 0 w 192"/>
                <a:gd name="T1" fmla="*/ 141 h 267"/>
                <a:gd name="T2" fmla="*/ 45 w 192"/>
                <a:gd name="T3" fmla="*/ 0 h 267"/>
                <a:gd name="T4" fmla="*/ 96 w 192"/>
                <a:gd name="T5" fmla="*/ 141 h 267"/>
                <a:gd name="T6" fmla="*/ 150 w 192"/>
                <a:gd name="T7" fmla="*/ 267 h 267"/>
                <a:gd name="T8" fmla="*/ 192 w 192"/>
                <a:gd name="T9" fmla="*/ 141 h 2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267"/>
                <a:gd name="T17" fmla="*/ 192 w 192"/>
                <a:gd name="T18" fmla="*/ 267 h 2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267">
                  <a:moveTo>
                    <a:pt x="0" y="141"/>
                  </a:moveTo>
                  <a:cubicBezTo>
                    <a:pt x="7" y="118"/>
                    <a:pt x="29" y="0"/>
                    <a:pt x="45" y="0"/>
                  </a:cubicBezTo>
                  <a:cubicBezTo>
                    <a:pt x="61" y="0"/>
                    <a:pt x="79" y="97"/>
                    <a:pt x="96" y="141"/>
                  </a:cubicBezTo>
                  <a:cubicBezTo>
                    <a:pt x="113" y="185"/>
                    <a:pt x="134" y="267"/>
                    <a:pt x="150" y="267"/>
                  </a:cubicBezTo>
                  <a:cubicBezTo>
                    <a:pt x="166" y="267"/>
                    <a:pt x="183" y="167"/>
                    <a:pt x="192" y="141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293" name="Freeform 45"/>
            <p:cNvSpPr>
              <a:spLocks/>
            </p:cNvSpPr>
            <p:nvPr/>
          </p:nvSpPr>
          <p:spPr bwMode="auto">
            <a:xfrm>
              <a:off x="3846" y="1356"/>
              <a:ext cx="192" cy="507"/>
            </a:xfrm>
            <a:custGeom>
              <a:avLst/>
              <a:gdLst>
                <a:gd name="T0" fmla="*/ 0 w 192"/>
                <a:gd name="T1" fmla="*/ 234 h 507"/>
                <a:gd name="T2" fmla="*/ 45 w 192"/>
                <a:gd name="T3" fmla="*/ 0 h 507"/>
                <a:gd name="T4" fmla="*/ 96 w 192"/>
                <a:gd name="T5" fmla="*/ 234 h 507"/>
                <a:gd name="T6" fmla="*/ 147 w 192"/>
                <a:gd name="T7" fmla="*/ 507 h 507"/>
                <a:gd name="T8" fmla="*/ 192 w 192"/>
                <a:gd name="T9" fmla="*/ 234 h 5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07"/>
                <a:gd name="T17" fmla="*/ 192 w 192"/>
                <a:gd name="T18" fmla="*/ 507 h 50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07">
                  <a:moveTo>
                    <a:pt x="0" y="234"/>
                  </a:moveTo>
                  <a:cubicBezTo>
                    <a:pt x="8" y="195"/>
                    <a:pt x="29" y="0"/>
                    <a:pt x="45" y="0"/>
                  </a:cubicBezTo>
                  <a:cubicBezTo>
                    <a:pt x="61" y="0"/>
                    <a:pt x="79" y="150"/>
                    <a:pt x="96" y="234"/>
                  </a:cubicBezTo>
                  <a:cubicBezTo>
                    <a:pt x="113" y="318"/>
                    <a:pt x="131" y="507"/>
                    <a:pt x="147" y="507"/>
                  </a:cubicBezTo>
                  <a:cubicBezTo>
                    <a:pt x="163" y="507"/>
                    <a:pt x="183" y="291"/>
                    <a:pt x="192" y="234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294" name="Freeform 46"/>
            <p:cNvSpPr>
              <a:spLocks/>
            </p:cNvSpPr>
            <p:nvPr/>
          </p:nvSpPr>
          <p:spPr bwMode="auto">
            <a:xfrm>
              <a:off x="4038" y="1260"/>
              <a:ext cx="192" cy="534"/>
            </a:xfrm>
            <a:custGeom>
              <a:avLst/>
              <a:gdLst>
                <a:gd name="T0" fmla="*/ 0 w 192"/>
                <a:gd name="T1" fmla="*/ 330 h 534"/>
                <a:gd name="T2" fmla="*/ 48 w 192"/>
                <a:gd name="T3" fmla="*/ 0 h 534"/>
                <a:gd name="T4" fmla="*/ 96 w 192"/>
                <a:gd name="T5" fmla="*/ 330 h 534"/>
                <a:gd name="T6" fmla="*/ 147 w 192"/>
                <a:gd name="T7" fmla="*/ 534 h 534"/>
                <a:gd name="T8" fmla="*/ 192 w 192"/>
                <a:gd name="T9" fmla="*/ 330 h 5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34"/>
                <a:gd name="T17" fmla="*/ 192 w 192"/>
                <a:gd name="T18" fmla="*/ 534 h 5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34">
                  <a:moveTo>
                    <a:pt x="0" y="330"/>
                  </a:moveTo>
                  <a:cubicBezTo>
                    <a:pt x="8" y="275"/>
                    <a:pt x="32" y="0"/>
                    <a:pt x="48" y="0"/>
                  </a:cubicBezTo>
                  <a:cubicBezTo>
                    <a:pt x="64" y="0"/>
                    <a:pt x="80" y="241"/>
                    <a:pt x="96" y="330"/>
                  </a:cubicBezTo>
                  <a:cubicBezTo>
                    <a:pt x="112" y="419"/>
                    <a:pt x="131" y="534"/>
                    <a:pt x="147" y="534"/>
                  </a:cubicBezTo>
                  <a:cubicBezTo>
                    <a:pt x="163" y="534"/>
                    <a:pt x="183" y="372"/>
                    <a:pt x="192" y="33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295" name="Freeform 47"/>
            <p:cNvSpPr>
              <a:spLocks/>
            </p:cNvSpPr>
            <p:nvPr/>
          </p:nvSpPr>
          <p:spPr bwMode="auto">
            <a:xfrm>
              <a:off x="4230" y="1362"/>
              <a:ext cx="192" cy="423"/>
            </a:xfrm>
            <a:custGeom>
              <a:avLst/>
              <a:gdLst>
                <a:gd name="T0" fmla="*/ 0 w 192"/>
                <a:gd name="T1" fmla="*/ 228 h 423"/>
                <a:gd name="T2" fmla="*/ 48 w 192"/>
                <a:gd name="T3" fmla="*/ 0 h 423"/>
                <a:gd name="T4" fmla="*/ 96 w 192"/>
                <a:gd name="T5" fmla="*/ 228 h 423"/>
                <a:gd name="T6" fmla="*/ 150 w 192"/>
                <a:gd name="T7" fmla="*/ 423 h 423"/>
                <a:gd name="T8" fmla="*/ 192 w 192"/>
                <a:gd name="T9" fmla="*/ 228 h 4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423"/>
                <a:gd name="T17" fmla="*/ 192 w 192"/>
                <a:gd name="T18" fmla="*/ 423 h 4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423">
                  <a:moveTo>
                    <a:pt x="0" y="228"/>
                  </a:moveTo>
                  <a:cubicBezTo>
                    <a:pt x="8" y="190"/>
                    <a:pt x="32" y="0"/>
                    <a:pt x="48" y="0"/>
                  </a:cubicBezTo>
                  <a:cubicBezTo>
                    <a:pt x="64" y="0"/>
                    <a:pt x="79" y="158"/>
                    <a:pt x="96" y="228"/>
                  </a:cubicBezTo>
                  <a:cubicBezTo>
                    <a:pt x="113" y="298"/>
                    <a:pt x="134" y="423"/>
                    <a:pt x="150" y="423"/>
                  </a:cubicBezTo>
                  <a:cubicBezTo>
                    <a:pt x="166" y="423"/>
                    <a:pt x="183" y="269"/>
                    <a:pt x="192" y="22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296" name="Freeform 48"/>
            <p:cNvSpPr>
              <a:spLocks/>
            </p:cNvSpPr>
            <p:nvPr/>
          </p:nvSpPr>
          <p:spPr bwMode="auto">
            <a:xfrm>
              <a:off x="4422" y="1332"/>
              <a:ext cx="192" cy="477"/>
            </a:xfrm>
            <a:custGeom>
              <a:avLst/>
              <a:gdLst>
                <a:gd name="T0" fmla="*/ 0 w 192"/>
                <a:gd name="T1" fmla="*/ 258 h 477"/>
                <a:gd name="T2" fmla="*/ 45 w 192"/>
                <a:gd name="T3" fmla="*/ 0 h 477"/>
                <a:gd name="T4" fmla="*/ 96 w 192"/>
                <a:gd name="T5" fmla="*/ 258 h 477"/>
                <a:gd name="T6" fmla="*/ 147 w 192"/>
                <a:gd name="T7" fmla="*/ 477 h 477"/>
                <a:gd name="T8" fmla="*/ 192 w 192"/>
                <a:gd name="T9" fmla="*/ 258 h 4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477"/>
                <a:gd name="T17" fmla="*/ 192 w 192"/>
                <a:gd name="T18" fmla="*/ 477 h 4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477">
                  <a:moveTo>
                    <a:pt x="0" y="258"/>
                  </a:moveTo>
                  <a:cubicBezTo>
                    <a:pt x="8" y="215"/>
                    <a:pt x="29" y="0"/>
                    <a:pt x="45" y="0"/>
                  </a:cubicBezTo>
                  <a:cubicBezTo>
                    <a:pt x="61" y="0"/>
                    <a:pt x="79" y="179"/>
                    <a:pt x="96" y="258"/>
                  </a:cubicBezTo>
                  <a:cubicBezTo>
                    <a:pt x="113" y="337"/>
                    <a:pt x="131" y="477"/>
                    <a:pt x="147" y="477"/>
                  </a:cubicBezTo>
                  <a:cubicBezTo>
                    <a:pt x="163" y="477"/>
                    <a:pt x="183" y="304"/>
                    <a:pt x="192" y="25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0246" name="AutoShape 49"/>
          <p:cNvSpPr>
            <a:spLocks noChangeArrowheads="1"/>
          </p:cNvSpPr>
          <p:nvPr/>
        </p:nvSpPr>
        <p:spPr bwMode="auto">
          <a:xfrm>
            <a:off x="2855913" y="1914525"/>
            <a:ext cx="344487" cy="438150"/>
          </a:xfrm>
          <a:prstGeom prst="irregularSeal1">
            <a:avLst/>
          </a:prstGeom>
          <a:solidFill>
            <a:srgbClr val="FFFF00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7" name="AutoShape 50"/>
          <p:cNvSpPr>
            <a:spLocks noChangeArrowheads="1"/>
          </p:cNvSpPr>
          <p:nvPr/>
        </p:nvSpPr>
        <p:spPr bwMode="auto">
          <a:xfrm>
            <a:off x="3570288" y="1790700"/>
            <a:ext cx="592137" cy="571500"/>
          </a:xfrm>
          <a:prstGeom prst="irregularSeal1">
            <a:avLst/>
          </a:prstGeom>
          <a:solidFill>
            <a:srgbClr val="FFFF00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8" name="AutoShape 51"/>
          <p:cNvSpPr>
            <a:spLocks noChangeArrowheads="1"/>
          </p:cNvSpPr>
          <p:nvPr/>
        </p:nvSpPr>
        <p:spPr bwMode="auto">
          <a:xfrm>
            <a:off x="4903788" y="1924050"/>
            <a:ext cx="344487" cy="438150"/>
          </a:xfrm>
          <a:prstGeom prst="irregularSeal1">
            <a:avLst/>
          </a:prstGeom>
          <a:solidFill>
            <a:srgbClr val="FFFF00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9" name="AutoShape 52"/>
          <p:cNvSpPr>
            <a:spLocks noChangeArrowheads="1"/>
          </p:cNvSpPr>
          <p:nvPr/>
        </p:nvSpPr>
        <p:spPr bwMode="auto">
          <a:xfrm>
            <a:off x="5665788" y="1809750"/>
            <a:ext cx="344487" cy="438150"/>
          </a:xfrm>
          <a:prstGeom prst="irregularSeal1">
            <a:avLst/>
          </a:prstGeom>
          <a:solidFill>
            <a:srgbClr val="FFFF00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0" name="AutoShape 53"/>
          <p:cNvSpPr>
            <a:spLocks noChangeArrowheads="1"/>
          </p:cNvSpPr>
          <p:nvPr/>
        </p:nvSpPr>
        <p:spPr bwMode="auto">
          <a:xfrm>
            <a:off x="6684963" y="1819275"/>
            <a:ext cx="344487" cy="438150"/>
          </a:xfrm>
          <a:prstGeom prst="irregularSeal1">
            <a:avLst/>
          </a:prstGeom>
          <a:solidFill>
            <a:srgbClr val="FFFF00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1" name="AutoShape 54"/>
          <p:cNvSpPr>
            <a:spLocks noChangeArrowheads="1"/>
          </p:cNvSpPr>
          <p:nvPr/>
        </p:nvSpPr>
        <p:spPr bwMode="auto">
          <a:xfrm>
            <a:off x="7646988" y="1819275"/>
            <a:ext cx="344487" cy="438150"/>
          </a:xfrm>
          <a:prstGeom prst="irregularSeal1">
            <a:avLst/>
          </a:prstGeom>
          <a:solidFill>
            <a:srgbClr val="FFFF00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2" name="Freeform 55"/>
          <p:cNvSpPr>
            <a:spLocks/>
          </p:cNvSpPr>
          <p:nvPr/>
        </p:nvSpPr>
        <p:spPr bwMode="auto">
          <a:xfrm>
            <a:off x="1895475" y="3094038"/>
            <a:ext cx="347663" cy="1525587"/>
          </a:xfrm>
          <a:custGeom>
            <a:avLst/>
            <a:gdLst>
              <a:gd name="T0" fmla="*/ 0 w 219"/>
              <a:gd name="T1" fmla="*/ 2147483647 h 961"/>
              <a:gd name="T2" fmla="*/ 2147483647 w 219"/>
              <a:gd name="T3" fmla="*/ 2147483647 h 961"/>
              <a:gd name="T4" fmla="*/ 2147483647 w 219"/>
              <a:gd name="T5" fmla="*/ 2147483647 h 961"/>
              <a:gd name="T6" fmla="*/ 2147483647 w 219"/>
              <a:gd name="T7" fmla="*/ 2147483647 h 961"/>
              <a:gd name="T8" fmla="*/ 2147483647 w 219"/>
              <a:gd name="T9" fmla="*/ 2147483647 h 961"/>
              <a:gd name="T10" fmla="*/ 2147483647 w 219"/>
              <a:gd name="T11" fmla="*/ 2147483647 h 961"/>
              <a:gd name="T12" fmla="*/ 2147483647 w 219"/>
              <a:gd name="T13" fmla="*/ 2147483647 h 96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9"/>
              <a:gd name="T22" fmla="*/ 0 h 961"/>
              <a:gd name="T23" fmla="*/ 219 w 219"/>
              <a:gd name="T24" fmla="*/ 961 h 96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9" h="961">
                <a:moveTo>
                  <a:pt x="0" y="651"/>
                </a:moveTo>
                <a:cubicBezTo>
                  <a:pt x="18" y="390"/>
                  <a:pt x="37" y="129"/>
                  <a:pt x="55" y="129"/>
                </a:cubicBezTo>
                <a:cubicBezTo>
                  <a:pt x="73" y="129"/>
                  <a:pt x="99" y="530"/>
                  <a:pt x="110" y="651"/>
                </a:cubicBezTo>
                <a:cubicBezTo>
                  <a:pt x="121" y="772"/>
                  <a:pt x="109" y="961"/>
                  <a:pt x="120" y="853"/>
                </a:cubicBezTo>
                <a:cubicBezTo>
                  <a:pt x="131" y="745"/>
                  <a:pt x="161" y="2"/>
                  <a:pt x="174" y="1"/>
                </a:cubicBezTo>
                <a:cubicBezTo>
                  <a:pt x="187" y="0"/>
                  <a:pt x="191" y="739"/>
                  <a:pt x="198" y="847"/>
                </a:cubicBezTo>
                <a:cubicBezTo>
                  <a:pt x="205" y="955"/>
                  <a:pt x="215" y="692"/>
                  <a:pt x="219" y="651"/>
                </a:cubicBezTo>
              </a:path>
            </a:pathLst>
          </a:custGeom>
          <a:noFill/>
          <a:ln w="28575">
            <a:solidFill>
              <a:srgbClr val="00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253" name="Freeform 56"/>
          <p:cNvSpPr>
            <a:spLocks/>
          </p:cNvSpPr>
          <p:nvPr/>
        </p:nvSpPr>
        <p:spPr bwMode="auto">
          <a:xfrm>
            <a:off x="2243138" y="3794125"/>
            <a:ext cx="347662" cy="725488"/>
          </a:xfrm>
          <a:custGeom>
            <a:avLst/>
            <a:gdLst>
              <a:gd name="T0" fmla="*/ 0 w 225"/>
              <a:gd name="T1" fmla="*/ 2147483647 h 457"/>
              <a:gd name="T2" fmla="*/ 2147483647 w 225"/>
              <a:gd name="T3" fmla="*/ 2147483647 h 457"/>
              <a:gd name="T4" fmla="*/ 2147483647 w 225"/>
              <a:gd name="T5" fmla="*/ 2147483647 h 457"/>
              <a:gd name="T6" fmla="*/ 2147483647 w 225"/>
              <a:gd name="T7" fmla="*/ 2147483647 h 457"/>
              <a:gd name="T8" fmla="*/ 2147483647 w 225"/>
              <a:gd name="T9" fmla="*/ 2147483647 h 4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5"/>
              <a:gd name="T16" fmla="*/ 0 h 457"/>
              <a:gd name="T17" fmla="*/ 225 w 225"/>
              <a:gd name="T18" fmla="*/ 457 h 45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5" h="457">
                <a:moveTo>
                  <a:pt x="0" y="204"/>
                </a:moveTo>
                <a:cubicBezTo>
                  <a:pt x="10" y="173"/>
                  <a:pt x="39" y="32"/>
                  <a:pt x="58" y="16"/>
                </a:cubicBezTo>
                <a:cubicBezTo>
                  <a:pt x="77" y="0"/>
                  <a:pt x="95" y="38"/>
                  <a:pt x="113" y="111"/>
                </a:cubicBezTo>
                <a:cubicBezTo>
                  <a:pt x="131" y="184"/>
                  <a:pt x="150" y="457"/>
                  <a:pt x="169" y="457"/>
                </a:cubicBezTo>
                <a:cubicBezTo>
                  <a:pt x="188" y="457"/>
                  <a:pt x="206" y="284"/>
                  <a:pt x="225" y="111"/>
                </a:cubicBezTo>
              </a:path>
            </a:pathLst>
          </a:custGeom>
          <a:noFill/>
          <a:ln w="28575">
            <a:solidFill>
              <a:srgbClr val="00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254" name="Freeform 57"/>
          <p:cNvSpPr>
            <a:spLocks/>
          </p:cNvSpPr>
          <p:nvPr/>
        </p:nvSpPr>
        <p:spPr bwMode="auto">
          <a:xfrm>
            <a:off x="2584450" y="3800475"/>
            <a:ext cx="366713" cy="487363"/>
          </a:xfrm>
          <a:custGeom>
            <a:avLst/>
            <a:gdLst>
              <a:gd name="T0" fmla="*/ 0 w 202"/>
              <a:gd name="T1" fmla="*/ 2147483647 h 229"/>
              <a:gd name="T2" fmla="*/ 2147483647 w 202"/>
              <a:gd name="T3" fmla="*/ 2147483647 h 229"/>
              <a:gd name="T4" fmla="*/ 2147483647 w 202"/>
              <a:gd name="T5" fmla="*/ 2147483647 h 229"/>
              <a:gd name="T6" fmla="*/ 2147483647 w 202"/>
              <a:gd name="T7" fmla="*/ 2147483647 h 229"/>
              <a:gd name="T8" fmla="*/ 2147483647 w 202"/>
              <a:gd name="T9" fmla="*/ 2147483647 h 229"/>
              <a:gd name="T10" fmla="*/ 2147483647 w 202"/>
              <a:gd name="T11" fmla="*/ 2147483647 h 22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02"/>
              <a:gd name="T19" fmla="*/ 0 h 229"/>
              <a:gd name="T20" fmla="*/ 202 w 202"/>
              <a:gd name="T21" fmla="*/ 229 h 22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02" h="229">
                <a:moveTo>
                  <a:pt x="0" y="98"/>
                </a:moveTo>
                <a:cubicBezTo>
                  <a:pt x="8" y="83"/>
                  <a:pt x="32" y="0"/>
                  <a:pt x="48" y="8"/>
                </a:cubicBezTo>
                <a:cubicBezTo>
                  <a:pt x="64" y="16"/>
                  <a:pt x="85" y="113"/>
                  <a:pt x="99" y="149"/>
                </a:cubicBezTo>
                <a:cubicBezTo>
                  <a:pt x="113" y="185"/>
                  <a:pt x="120" y="229"/>
                  <a:pt x="135" y="224"/>
                </a:cubicBezTo>
                <a:cubicBezTo>
                  <a:pt x="150" y="219"/>
                  <a:pt x="182" y="131"/>
                  <a:pt x="192" y="119"/>
                </a:cubicBezTo>
                <a:cubicBezTo>
                  <a:pt x="202" y="107"/>
                  <a:pt x="195" y="143"/>
                  <a:pt x="195" y="149"/>
                </a:cubicBezTo>
              </a:path>
            </a:pathLst>
          </a:custGeom>
          <a:noFill/>
          <a:ln w="28575">
            <a:solidFill>
              <a:srgbClr val="00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255" name="Freeform 58"/>
          <p:cNvSpPr>
            <a:spLocks/>
          </p:cNvSpPr>
          <p:nvPr/>
        </p:nvSpPr>
        <p:spPr bwMode="auto">
          <a:xfrm>
            <a:off x="2927350" y="3803650"/>
            <a:ext cx="358775" cy="1085850"/>
          </a:xfrm>
          <a:custGeom>
            <a:avLst/>
            <a:gdLst>
              <a:gd name="T0" fmla="*/ 0 w 226"/>
              <a:gd name="T1" fmla="*/ 2147483647 h 684"/>
              <a:gd name="T2" fmla="*/ 2147483647 w 226"/>
              <a:gd name="T3" fmla="*/ 2147483647 h 684"/>
              <a:gd name="T4" fmla="*/ 2147483647 w 226"/>
              <a:gd name="T5" fmla="*/ 2147483647 h 684"/>
              <a:gd name="T6" fmla="*/ 2147483647 w 226"/>
              <a:gd name="T7" fmla="*/ 2147483647 h 684"/>
              <a:gd name="T8" fmla="*/ 2147483647 w 226"/>
              <a:gd name="T9" fmla="*/ 2147483647 h 684"/>
              <a:gd name="T10" fmla="*/ 2147483647 w 226"/>
              <a:gd name="T11" fmla="*/ 2147483647 h 684"/>
              <a:gd name="T12" fmla="*/ 2147483647 w 226"/>
              <a:gd name="T13" fmla="*/ 2147483647 h 6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6"/>
              <a:gd name="T22" fmla="*/ 0 h 684"/>
              <a:gd name="T23" fmla="*/ 226 w 226"/>
              <a:gd name="T24" fmla="*/ 684 h 68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6" h="684">
                <a:moveTo>
                  <a:pt x="0" y="173"/>
                </a:moveTo>
                <a:cubicBezTo>
                  <a:pt x="9" y="145"/>
                  <a:pt x="35" y="0"/>
                  <a:pt x="55" y="4"/>
                </a:cubicBezTo>
                <a:cubicBezTo>
                  <a:pt x="74" y="8"/>
                  <a:pt x="101" y="135"/>
                  <a:pt x="117" y="197"/>
                </a:cubicBezTo>
                <a:cubicBezTo>
                  <a:pt x="133" y="259"/>
                  <a:pt x="144" y="295"/>
                  <a:pt x="154" y="376"/>
                </a:cubicBezTo>
                <a:cubicBezTo>
                  <a:pt x="164" y="457"/>
                  <a:pt x="173" y="684"/>
                  <a:pt x="178" y="682"/>
                </a:cubicBezTo>
                <a:cubicBezTo>
                  <a:pt x="183" y="680"/>
                  <a:pt x="176" y="445"/>
                  <a:pt x="184" y="364"/>
                </a:cubicBezTo>
                <a:cubicBezTo>
                  <a:pt x="192" y="283"/>
                  <a:pt x="217" y="232"/>
                  <a:pt x="226" y="197"/>
                </a:cubicBezTo>
              </a:path>
            </a:pathLst>
          </a:custGeom>
          <a:noFill/>
          <a:ln w="28575">
            <a:solidFill>
              <a:srgbClr val="00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256" name="Freeform 59"/>
          <p:cNvSpPr>
            <a:spLocks/>
          </p:cNvSpPr>
          <p:nvPr/>
        </p:nvSpPr>
        <p:spPr bwMode="auto">
          <a:xfrm>
            <a:off x="3286125" y="3541713"/>
            <a:ext cx="347663" cy="1163637"/>
          </a:xfrm>
          <a:custGeom>
            <a:avLst/>
            <a:gdLst>
              <a:gd name="T0" fmla="*/ 0 w 192"/>
              <a:gd name="T1" fmla="*/ 2147483647 h 546"/>
              <a:gd name="T2" fmla="*/ 2147483647 w 192"/>
              <a:gd name="T3" fmla="*/ 0 h 546"/>
              <a:gd name="T4" fmla="*/ 2147483647 w 192"/>
              <a:gd name="T5" fmla="*/ 2147483647 h 546"/>
              <a:gd name="T6" fmla="*/ 2147483647 w 192"/>
              <a:gd name="T7" fmla="*/ 2147483647 h 546"/>
              <a:gd name="T8" fmla="*/ 2147483647 w 192"/>
              <a:gd name="T9" fmla="*/ 2147483647 h 54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"/>
              <a:gd name="T16" fmla="*/ 0 h 546"/>
              <a:gd name="T17" fmla="*/ 192 w 192"/>
              <a:gd name="T18" fmla="*/ 546 h 54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" h="546">
                <a:moveTo>
                  <a:pt x="0" y="270"/>
                </a:moveTo>
                <a:cubicBezTo>
                  <a:pt x="8" y="225"/>
                  <a:pt x="35" y="0"/>
                  <a:pt x="51" y="0"/>
                </a:cubicBezTo>
                <a:cubicBezTo>
                  <a:pt x="67" y="0"/>
                  <a:pt x="80" y="179"/>
                  <a:pt x="96" y="270"/>
                </a:cubicBezTo>
                <a:cubicBezTo>
                  <a:pt x="112" y="361"/>
                  <a:pt x="131" y="546"/>
                  <a:pt x="147" y="546"/>
                </a:cubicBezTo>
                <a:cubicBezTo>
                  <a:pt x="163" y="546"/>
                  <a:pt x="183" y="327"/>
                  <a:pt x="192" y="270"/>
                </a:cubicBezTo>
              </a:path>
            </a:pathLst>
          </a:custGeom>
          <a:noFill/>
          <a:ln w="28575">
            <a:solidFill>
              <a:srgbClr val="00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257" name="Freeform 60"/>
          <p:cNvSpPr>
            <a:spLocks/>
          </p:cNvSpPr>
          <p:nvPr/>
        </p:nvSpPr>
        <p:spPr bwMode="auto">
          <a:xfrm>
            <a:off x="3633788" y="3325813"/>
            <a:ext cx="357187" cy="1881187"/>
          </a:xfrm>
          <a:custGeom>
            <a:avLst/>
            <a:gdLst>
              <a:gd name="T0" fmla="*/ 0 w 225"/>
              <a:gd name="T1" fmla="*/ 2147483647 h 1185"/>
              <a:gd name="T2" fmla="*/ 2147483647 w 225"/>
              <a:gd name="T3" fmla="*/ 0 h 1185"/>
              <a:gd name="T4" fmla="*/ 2147483647 w 225"/>
              <a:gd name="T5" fmla="*/ 2147483647 h 1185"/>
              <a:gd name="T6" fmla="*/ 2147483647 w 225"/>
              <a:gd name="T7" fmla="*/ 2147483647 h 1185"/>
              <a:gd name="T8" fmla="*/ 2147483647 w 225"/>
              <a:gd name="T9" fmla="*/ 2147483647 h 1185"/>
              <a:gd name="T10" fmla="*/ 2147483647 w 225"/>
              <a:gd name="T11" fmla="*/ 2147483647 h 1185"/>
              <a:gd name="T12" fmla="*/ 2147483647 w 225"/>
              <a:gd name="T13" fmla="*/ 2147483647 h 1185"/>
              <a:gd name="T14" fmla="*/ 2147483647 w 225"/>
              <a:gd name="T15" fmla="*/ 2147483647 h 1185"/>
              <a:gd name="T16" fmla="*/ 2147483647 w 225"/>
              <a:gd name="T17" fmla="*/ 2147483647 h 118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25"/>
              <a:gd name="T28" fmla="*/ 0 h 1185"/>
              <a:gd name="T29" fmla="*/ 225 w 225"/>
              <a:gd name="T30" fmla="*/ 1185 h 118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25" h="1185">
                <a:moveTo>
                  <a:pt x="0" y="499"/>
                </a:moveTo>
                <a:cubicBezTo>
                  <a:pt x="8" y="416"/>
                  <a:pt x="29" y="0"/>
                  <a:pt x="48" y="0"/>
                </a:cubicBezTo>
                <a:cubicBezTo>
                  <a:pt x="66" y="0"/>
                  <a:pt x="96" y="399"/>
                  <a:pt x="110" y="499"/>
                </a:cubicBezTo>
                <a:cubicBezTo>
                  <a:pt x="124" y="599"/>
                  <a:pt x="127" y="488"/>
                  <a:pt x="135" y="599"/>
                </a:cubicBezTo>
                <a:cubicBezTo>
                  <a:pt x="143" y="710"/>
                  <a:pt x="153" y="1141"/>
                  <a:pt x="159" y="1163"/>
                </a:cubicBezTo>
                <a:cubicBezTo>
                  <a:pt x="165" y="1185"/>
                  <a:pt x="162" y="731"/>
                  <a:pt x="170" y="731"/>
                </a:cubicBezTo>
                <a:cubicBezTo>
                  <a:pt x="178" y="731"/>
                  <a:pt x="199" y="1177"/>
                  <a:pt x="207" y="1163"/>
                </a:cubicBezTo>
                <a:cubicBezTo>
                  <a:pt x="215" y="1149"/>
                  <a:pt x="216" y="766"/>
                  <a:pt x="219" y="647"/>
                </a:cubicBezTo>
                <a:cubicBezTo>
                  <a:pt x="222" y="528"/>
                  <a:pt x="224" y="490"/>
                  <a:pt x="225" y="449"/>
                </a:cubicBezTo>
              </a:path>
            </a:pathLst>
          </a:custGeom>
          <a:noFill/>
          <a:ln w="28575">
            <a:solidFill>
              <a:srgbClr val="00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258" name="Freeform 61"/>
          <p:cNvSpPr>
            <a:spLocks/>
          </p:cNvSpPr>
          <p:nvPr/>
        </p:nvSpPr>
        <p:spPr bwMode="auto">
          <a:xfrm>
            <a:off x="3981450" y="3171825"/>
            <a:ext cx="347663" cy="1704975"/>
          </a:xfrm>
          <a:custGeom>
            <a:avLst/>
            <a:gdLst>
              <a:gd name="T0" fmla="*/ 0 w 192"/>
              <a:gd name="T1" fmla="*/ 2147483647 h 801"/>
              <a:gd name="T2" fmla="*/ 2147483647 w 192"/>
              <a:gd name="T3" fmla="*/ 0 h 801"/>
              <a:gd name="T4" fmla="*/ 2147483647 w 192"/>
              <a:gd name="T5" fmla="*/ 2147483647 h 801"/>
              <a:gd name="T6" fmla="*/ 2147483647 w 192"/>
              <a:gd name="T7" fmla="*/ 2147483647 h 801"/>
              <a:gd name="T8" fmla="*/ 2147483647 w 192"/>
              <a:gd name="T9" fmla="*/ 2147483647 h 80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"/>
              <a:gd name="T16" fmla="*/ 0 h 801"/>
              <a:gd name="T17" fmla="*/ 192 w 192"/>
              <a:gd name="T18" fmla="*/ 801 h 80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" h="801">
                <a:moveTo>
                  <a:pt x="0" y="444"/>
                </a:moveTo>
                <a:cubicBezTo>
                  <a:pt x="8" y="370"/>
                  <a:pt x="29" y="0"/>
                  <a:pt x="45" y="0"/>
                </a:cubicBezTo>
                <a:cubicBezTo>
                  <a:pt x="61" y="0"/>
                  <a:pt x="79" y="311"/>
                  <a:pt x="96" y="444"/>
                </a:cubicBezTo>
                <a:cubicBezTo>
                  <a:pt x="113" y="577"/>
                  <a:pt x="131" y="801"/>
                  <a:pt x="147" y="801"/>
                </a:cubicBezTo>
                <a:cubicBezTo>
                  <a:pt x="163" y="801"/>
                  <a:pt x="183" y="518"/>
                  <a:pt x="192" y="444"/>
                </a:cubicBezTo>
              </a:path>
            </a:pathLst>
          </a:custGeom>
          <a:noFill/>
          <a:ln w="28575">
            <a:solidFill>
              <a:srgbClr val="00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259" name="Freeform 62"/>
          <p:cNvSpPr>
            <a:spLocks/>
          </p:cNvSpPr>
          <p:nvPr/>
        </p:nvSpPr>
        <p:spPr bwMode="auto">
          <a:xfrm>
            <a:off x="4329113" y="3402013"/>
            <a:ext cx="347662" cy="1168400"/>
          </a:xfrm>
          <a:custGeom>
            <a:avLst/>
            <a:gdLst>
              <a:gd name="T0" fmla="*/ 0 w 192"/>
              <a:gd name="T1" fmla="*/ 2147483647 h 549"/>
              <a:gd name="T2" fmla="*/ 2147483647 w 192"/>
              <a:gd name="T3" fmla="*/ 0 h 549"/>
              <a:gd name="T4" fmla="*/ 2147483647 w 192"/>
              <a:gd name="T5" fmla="*/ 2147483647 h 549"/>
              <a:gd name="T6" fmla="*/ 2147483647 w 192"/>
              <a:gd name="T7" fmla="*/ 2147483647 h 549"/>
              <a:gd name="T8" fmla="*/ 2147483647 w 192"/>
              <a:gd name="T9" fmla="*/ 2147483647 h 54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"/>
              <a:gd name="T16" fmla="*/ 0 h 549"/>
              <a:gd name="T17" fmla="*/ 192 w 192"/>
              <a:gd name="T18" fmla="*/ 549 h 54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" h="549">
                <a:moveTo>
                  <a:pt x="0" y="336"/>
                </a:moveTo>
                <a:cubicBezTo>
                  <a:pt x="8" y="280"/>
                  <a:pt x="32" y="0"/>
                  <a:pt x="48" y="0"/>
                </a:cubicBezTo>
                <a:cubicBezTo>
                  <a:pt x="64" y="0"/>
                  <a:pt x="80" y="245"/>
                  <a:pt x="96" y="336"/>
                </a:cubicBezTo>
                <a:cubicBezTo>
                  <a:pt x="112" y="427"/>
                  <a:pt x="131" y="549"/>
                  <a:pt x="147" y="549"/>
                </a:cubicBezTo>
                <a:cubicBezTo>
                  <a:pt x="163" y="549"/>
                  <a:pt x="183" y="380"/>
                  <a:pt x="192" y="336"/>
                </a:cubicBezTo>
              </a:path>
            </a:pathLst>
          </a:custGeom>
          <a:noFill/>
          <a:ln w="28575">
            <a:solidFill>
              <a:srgbClr val="00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260" name="Freeform 63"/>
          <p:cNvSpPr>
            <a:spLocks/>
          </p:cNvSpPr>
          <p:nvPr/>
        </p:nvSpPr>
        <p:spPr bwMode="auto">
          <a:xfrm>
            <a:off x="4676775" y="3714750"/>
            <a:ext cx="338138" cy="603250"/>
          </a:xfrm>
          <a:custGeom>
            <a:avLst/>
            <a:gdLst>
              <a:gd name="T0" fmla="*/ 0 w 186"/>
              <a:gd name="T1" fmla="*/ 2147483647 h 283"/>
              <a:gd name="T2" fmla="*/ 2147483647 w 186"/>
              <a:gd name="T3" fmla="*/ 0 h 283"/>
              <a:gd name="T4" fmla="*/ 2147483647 w 186"/>
              <a:gd name="T5" fmla="*/ 2147483647 h 283"/>
              <a:gd name="T6" fmla="*/ 2147483647 w 186"/>
              <a:gd name="T7" fmla="*/ 2147483647 h 283"/>
              <a:gd name="T8" fmla="*/ 2147483647 w 186"/>
              <a:gd name="T9" fmla="*/ 2147483647 h 2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6"/>
              <a:gd name="T16" fmla="*/ 0 h 283"/>
              <a:gd name="T17" fmla="*/ 186 w 186"/>
              <a:gd name="T18" fmla="*/ 283 h 28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6" h="283">
                <a:moveTo>
                  <a:pt x="0" y="189"/>
                </a:moveTo>
                <a:cubicBezTo>
                  <a:pt x="7" y="158"/>
                  <a:pt x="29" y="0"/>
                  <a:pt x="45" y="0"/>
                </a:cubicBezTo>
                <a:cubicBezTo>
                  <a:pt x="61" y="0"/>
                  <a:pt x="80" y="143"/>
                  <a:pt x="96" y="189"/>
                </a:cubicBezTo>
                <a:cubicBezTo>
                  <a:pt x="112" y="235"/>
                  <a:pt x="129" y="283"/>
                  <a:pt x="144" y="279"/>
                </a:cubicBezTo>
                <a:cubicBezTo>
                  <a:pt x="159" y="275"/>
                  <a:pt x="177" y="191"/>
                  <a:pt x="186" y="168"/>
                </a:cubicBezTo>
              </a:path>
            </a:pathLst>
          </a:custGeom>
          <a:noFill/>
          <a:ln w="28575">
            <a:solidFill>
              <a:srgbClr val="00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261" name="Freeform 64"/>
          <p:cNvSpPr>
            <a:spLocks/>
          </p:cNvSpPr>
          <p:nvPr/>
        </p:nvSpPr>
        <p:spPr bwMode="auto">
          <a:xfrm>
            <a:off x="5019675" y="3881438"/>
            <a:ext cx="346075" cy="627062"/>
          </a:xfrm>
          <a:custGeom>
            <a:avLst/>
            <a:gdLst>
              <a:gd name="T0" fmla="*/ 0 w 218"/>
              <a:gd name="T1" fmla="*/ 2147483647 h 395"/>
              <a:gd name="T2" fmla="*/ 2147483647 w 218"/>
              <a:gd name="T3" fmla="*/ 2147483647 h 395"/>
              <a:gd name="T4" fmla="*/ 2147483647 w 218"/>
              <a:gd name="T5" fmla="*/ 2147483647 h 395"/>
              <a:gd name="T6" fmla="*/ 2147483647 w 218"/>
              <a:gd name="T7" fmla="*/ 2147483647 h 395"/>
              <a:gd name="T8" fmla="*/ 2147483647 w 218"/>
              <a:gd name="T9" fmla="*/ 2147483647 h 395"/>
              <a:gd name="T10" fmla="*/ 2147483647 w 218"/>
              <a:gd name="T11" fmla="*/ 2147483647 h 395"/>
              <a:gd name="T12" fmla="*/ 2147483647 w 218"/>
              <a:gd name="T13" fmla="*/ 2147483647 h 39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8"/>
              <a:gd name="T22" fmla="*/ 0 h 395"/>
              <a:gd name="T23" fmla="*/ 218 w 218"/>
              <a:gd name="T24" fmla="*/ 395 h 39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8" h="395">
                <a:moveTo>
                  <a:pt x="0" y="123"/>
                </a:moveTo>
                <a:cubicBezTo>
                  <a:pt x="2" y="110"/>
                  <a:pt x="4" y="0"/>
                  <a:pt x="12" y="45"/>
                </a:cubicBezTo>
                <a:cubicBezTo>
                  <a:pt x="20" y="90"/>
                  <a:pt x="38" y="391"/>
                  <a:pt x="48" y="393"/>
                </a:cubicBezTo>
                <a:cubicBezTo>
                  <a:pt x="58" y="395"/>
                  <a:pt x="63" y="98"/>
                  <a:pt x="72" y="57"/>
                </a:cubicBezTo>
                <a:cubicBezTo>
                  <a:pt x="81" y="16"/>
                  <a:pt x="87" y="103"/>
                  <a:pt x="102" y="145"/>
                </a:cubicBezTo>
                <a:cubicBezTo>
                  <a:pt x="117" y="187"/>
                  <a:pt x="143" y="315"/>
                  <a:pt x="162" y="309"/>
                </a:cubicBezTo>
                <a:cubicBezTo>
                  <a:pt x="181" y="303"/>
                  <a:pt x="206" y="153"/>
                  <a:pt x="218" y="112"/>
                </a:cubicBezTo>
              </a:path>
            </a:pathLst>
          </a:custGeom>
          <a:noFill/>
          <a:ln w="28575">
            <a:solidFill>
              <a:srgbClr val="00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262" name="Freeform 65"/>
          <p:cNvSpPr>
            <a:spLocks/>
          </p:cNvSpPr>
          <p:nvPr/>
        </p:nvSpPr>
        <p:spPr bwMode="auto">
          <a:xfrm>
            <a:off x="5354638" y="3400425"/>
            <a:ext cx="365125" cy="1476375"/>
          </a:xfrm>
          <a:custGeom>
            <a:avLst/>
            <a:gdLst>
              <a:gd name="T0" fmla="*/ 0 w 201"/>
              <a:gd name="T1" fmla="*/ 2147483647 h 694"/>
              <a:gd name="T2" fmla="*/ 2147483647 w 201"/>
              <a:gd name="T3" fmla="*/ 2147483647 h 694"/>
              <a:gd name="T4" fmla="*/ 2147483647 w 201"/>
              <a:gd name="T5" fmla="*/ 2147483647 h 694"/>
              <a:gd name="T6" fmla="*/ 2147483647 w 201"/>
              <a:gd name="T7" fmla="*/ 2147483647 h 694"/>
              <a:gd name="T8" fmla="*/ 2147483647 w 201"/>
              <a:gd name="T9" fmla="*/ 2147483647 h 69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1"/>
              <a:gd name="T16" fmla="*/ 0 h 694"/>
              <a:gd name="T17" fmla="*/ 201 w 201"/>
              <a:gd name="T18" fmla="*/ 694 h 69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1" h="694">
                <a:moveTo>
                  <a:pt x="0" y="328"/>
                </a:moveTo>
                <a:cubicBezTo>
                  <a:pt x="9" y="274"/>
                  <a:pt x="37" y="0"/>
                  <a:pt x="54" y="1"/>
                </a:cubicBezTo>
                <a:cubicBezTo>
                  <a:pt x="71" y="2"/>
                  <a:pt x="90" y="222"/>
                  <a:pt x="105" y="337"/>
                </a:cubicBezTo>
                <a:cubicBezTo>
                  <a:pt x="120" y="452"/>
                  <a:pt x="131" y="694"/>
                  <a:pt x="147" y="694"/>
                </a:cubicBezTo>
                <a:cubicBezTo>
                  <a:pt x="163" y="694"/>
                  <a:pt x="190" y="411"/>
                  <a:pt x="201" y="337"/>
                </a:cubicBezTo>
              </a:path>
            </a:pathLst>
          </a:custGeom>
          <a:noFill/>
          <a:ln w="28575">
            <a:solidFill>
              <a:srgbClr val="00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263" name="Freeform 66"/>
          <p:cNvSpPr>
            <a:spLocks/>
          </p:cNvSpPr>
          <p:nvPr/>
        </p:nvSpPr>
        <p:spPr bwMode="auto">
          <a:xfrm>
            <a:off x="5719763" y="2736850"/>
            <a:ext cx="347662" cy="1878013"/>
          </a:xfrm>
          <a:custGeom>
            <a:avLst/>
            <a:gdLst>
              <a:gd name="T0" fmla="*/ 0 w 219"/>
              <a:gd name="T1" fmla="*/ 2147483647 h 1183"/>
              <a:gd name="T2" fmla="*/ 2147483647 w 219"/>
              <a:gd name="T3" fmla="*/ 2147483647 h 1183"/>
              <a:gd name="T4" fmla="*/ 2147483647 w 219"/>
              <a:gd name="T5" fmla="*/ 2147483647 h 1183"/>
              <a:gd name="T6" fmla="*/ 2147483647 w 219"/>
              <a:gd name="T7" fmla="*/ 2147483647 h 1183"/>
              <a:gd name="T8" fmla="*/ 2147483647 w 219"/>
              <a:gd name="T9" fmla="*/ 2147483647 h 1183"/>
              <a:gd name="T10" fmla="*/ 2147483647 w 219"/>
              <a:gd name="T11" fmla="*/ 2147483647 h 1183"/>
              <a:gd name="T12" fmla="*/ 2147483647 w 219"/>
              <a:gd name="T13" fmla="*/ 2147483647 h 118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9"/>
              <a:gd name="T22" fmla="*/ 0 h 1183"/>
              <a:gd name="T23" fmla="*/ 219 w 219"/>
              <a:gd name="T24" fmla="*/ 1183 h 118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9" h="1183">
                <a:moveTo>
                  <a:pt x="0" y="869"/>
                </a:moveTo>
                <a:cubicBezTo>
                  <a:pt x="4" y="741"/>
                  <a:pt x="19" y="200"/>
                  <a:pt x="27" y="100"/>
                </a:cubicBezTo>
                <a:cubicBezTo>
                  <a:pt x="35" y="0"/>
                  <a:pt x="41" y="265"/>
                  <a:pt x="51" y="268"/>
                </a:cubicBezTo>
                <a:cubicBezTo>
                  <a:pt x="61" y="271"/>
                  <a:pt x="77" y="18"/>
                  <a:pt x="87" y="118"/>
                </a:cubicBezTo>
                <a:cubicBezTo>
                  <a:pt x="97" y="218"/>
                  <a:pt x="97" y="692"/>
                  <a:pt x="110" y="869"/>
                </a:cubicBezTo>
                <a:cubicBezTo>
                  <a:pt x="123" y="1046"/>
                  <a:pt x="150" y="1183"/>
                  <a:pt x="167" y="1183"/>
                </a:cubicBezTo>
                <a:cubicBezTo>
                  <a:pt x="186" y="1183"/>
                  <a:pt x="208" y="935"/>
                  <a:pt x="219" y="869"/>
                </a:cubicBezTo>
              </a:path>
            </a:pathLst>
          </a:custGeom>
          <a:noFill/>
          <a:ln w="28575">
            <a:solidFill>
              <a:srgbClr val="00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264" name="Freeform 67"/>
          <p:cNvSpPr>
            <a:spLocks/>
          </p:cNvSpPr>
          <p:nvPr/>
        </p:nvSpPr>
        <p:spPr bwMode="auto">
          <a:xfrm>
            <a:off x="6067425" y="3638550"/>
            <a:ext cx="347663" cy="1041400"/>
          </a:xfrm>
          <a:custGeom>
            <a:avLst/>
            <a:gdLst>
              <a:gd name="T0" fmla="*/ 0 w 192"/>
              <a:gd name="T1" fmla="*/ 2147483647 h 489"/>
              <a:gd name="T2" fmla="*/ 2147483647 w 192"/>
              <a:gd name="T3" fmla="*/ 0 h 489"/>
              <a:gd name="T4" fmla="*/ 2147483647 w 192"/>
              <a:gd name="T5" fmla="*/ 2147483647 h 489"/>
              <a:gd name="T6" fmla="*/ 2147483647 w 192"/>
              <a:gd name="T7" fmla="*/ 2147483647 h 489"/>
              <a:gd name="T8" fmla="*/ 2147483647 w 192"/>
              <a:gd name="T9" fmla="*/ 2147483647 h 48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"/>
              <a:gd name="T16" fmla="*/ 0 h 489"/>
              <a:gd name="T17" fmla="*/ 192 w 192"/>
              <a:gd name="T18" fmla="*/ 489 h 48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" h="489">
                <a:moveTo>
                  <a:pt x="0" y="225"/>
                </a:moveTo>
                <a:cubicBezTo>
                  <a:pt x="6" y="188"/>
                  <a:pt x="23" y="0"/>
                  <a:pt x="39" y="0"/>
                </a:cubicBezTo>
                <a:cubicBezTo>
                  <a:pt x="55" y="0"/>
                  <a:pt x="79" y="144"/>
                  <a:pt x="96" y="225"/>
                </a:cubicBezTo>
                <a:cubicBezTo>
                  <a:pt x="113" y="306"/>
                  <a:pt x="125" y="489"/>
                  <a:pt x="141" y="489"/>
                </a:cubicBezTo>
                <a:cubicBezTo>
                  <a:pt x="157" y="489"/>
                  <a:pt x="182" y="280"/>
                  <a:pt x="192" y="225"/>
                </a:cubicBezTo>
              </a:path>
            </a:pathLst>
          </a:custGeom>
          <a:noFill/>
          <a:ln w="28575">
            <a:solidFill>
              <a:srgbClr val="00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265" name="Freeform 68"/>
          <p:cNvSpPr>
            <a:spLocks/>
          </p:cNvSpPr>
          <p:nvPr/>
        </p:nvSpPr>
        <p:spPr bwMode="auto">
          <a:xfrm>
            <a:off x="6415088" y="3325813"/>
            <a:ext cx="347662" cy="1392237"/>
          </a:xfrm>
          <a:custGeom>
            <a:avLst/>
            <a:gdLst>
              <a:gd name="T0" fmla="*/ 0 w 192"/>
              <a:gd name="T1" fmla="*/ 2147483647 h 654"/>
              <a:gd name="T2" fmla="*/ 2147483647 w 192"/>
              <a:gd name="T3" fmla="*/ 0 h 654"/>
              <a:gd name="T4" fmla="*/ 2147483647 w 192"/>
              <a:gd name="T5" fmla="*/ 2147483647 h 654"/>
              <a:gd name="T6" fmla="*/ 2147483647 w 192"/>
              <a:gd name="T7" fmla="*/ 2147483647 h 654"/>
              <a:gd name="T8" fmla="*/ 2147483647 w 192"/>
              <a:gd name="T9" fmla="*/ 2147483647 h 65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"/>
              <a:gd name="T16" fmla="*/ 0 h 654"/>
              <a:gd name="T17" fmla="*/ 192 w 192"/>
              <a:gd name="T18" fmla="*/ 654 h 65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" h="654">
                <a:moveTo>
                  <a:pt x="0" y="372"/>
                </a:moveTo>
                <a:cubicBezTo>
                  <a:pt x="8" y="310"/>
                  <a:pt x="35" y="0"/>
                  <a:pt x="51" y="0"/>
                </a:cubicBezTo>
                <a:cubicBezTo>
                  <a:pt x="67" y="0"/>
                  <a:pt x="80" y="263"/>
                  <a:pt x="96" y="372"/>
                </a:cubicBezTo>
                <a:cubicBezTo>
                  <a:pt x="112" y="481"/>
                  <a:pt x="131" y="654"/>
                  <a:pt x="147" y="654"/>
                </a:cubicBezTo>
                <a:cubicBezTo>
                  <a:pt x="163" y="654"/>
                  <a:pt x="183" y="431"/>
                  <a:pt x="192" y="372"/>
                </a:cubicBezTo>
              </a:path>
            </a:pathLst>
          </a:custGeom>
          <a:noFill/>
          <a:ln w="28575">
            <a:solidFill>
              <a:srgbClr val="00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266" name="Freeform 69"/>
          <p:cNvSpPr>
            <a:spLocks/>
          </p:cNvSpPr>
          <p:nvPr/>
        </p:nvSpPr>
        <p:spPr bwMode="auto">
          <a:xfrm>
            <a:off x="6743700" y="3481388"/>
            <a:ext cx="366713" cy="911225"/>
          </a:xfrm>
          <a:custGeom>
            <a:avLst/>
            <a:gdLst>
              <a:gd name="T0" fmla="*/ 2147483647 w 231"/>
              <a:gd name="T1" fmla="*/ 2147483647 h 574"/>
              <a:gd name="T2" fmla="*/ 2147483647 w 231"/>
              <a:gd name="T3" fmla="*/ 2147483647 h 574"/>
              <a:gd name="T4" fmla="*/ 2147483647 w 231"/>
              <a:gd name="T5" fmla="*/ 2147483647 h 574"/>
              <a:gd name="T6" fmla="*/ 2147483647 w 231"/>
              <a:gd name="T7" fmla="*/ 2147483647 h 574"/>
              <a:gd name="T8" fmla="*/ 2147483647 w 231"/>
              <a:gd name="T9" fmla="*/ 2147483647 h 574"/>
              <a:gd name="T10" fmla="*/ 2147483647 w 231"/>
              <a:gd name="T11" fmla="*/ 2147483647 h 574"/>
              <a:gd name="T12" fmla="*/ 2147483647 w 231"/>
              <a:gd name="T13" fmla="*/ 2147483647 h 57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1"/>
              <a:gd name="T22" fmla="*/ 0 h 574"/>
              <a:gd name="T23" fmla="*/ 231 w 231"/>
              <a:gd name="T24" fmla="*/ 574 h 57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1" h="574">
                <a:moveTo>
                  <a:pt x="12" y="401"/>
                </a:moveTo>
                <a:cubicBezTo>
                  <a:pt x="11" y="338"/>
                  <a:pt x="0" y="42"/>
                  <a:pt x="6" y="21"/>
                </a:cubicBezTo>
                <a:cubicBezTo>
                  <a:pt x="12" y="0"/>
                  <a:pt x="33" y="240"/>
                  <a:pt x="49" y="273"/>
                </a:cubicBezTo>
                <a:cubicBezTo>
                  <a:pt x="65" y="306"/>
                  <a:pt x="90" y="198"/>
                  <a:pt x="102" y="219"/>
                </a:cubicBezTo>
                <a:cubicBezTo>
                  <a:pt x="114" y="240"/>
                  <a:pt x="110" y="342"/>
                  <a:pt x="122" y="401"/>
                </a:cubicBezTo>
                <a:cubicBezTo>
                  <a:pt x="134" y="460"/>
                  <a:pt x="158" y="574"/>
                  <a:pt x="176" y="574"/>
                </a:cubicBezTo>
                <a:cubicBezTo>
                  <a:pt x="195" y="574"/>
                  <a:pt x="219" y="437"/>
                  <a:pt x="231" y="401"/>
                </a:cubicBezTo>
              </a:path>
            </a:pathLst>
          </a:custGeom>
          <a:noFill/>
          <a:ln w="28575">
            <a:solidFill>
              <a:srgbClr val="00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267" name="Freeform 70"/>
          <p:cNvSpPr>
            <a:spLocks/>
          </p:cNvSpPr>
          <p:nvPr/>
        </p:nvSpPr>
        <p:spPr bwMode="auto">
          <a:xfrm>
            <a:off x="7110413" y="3816350"/>
            <a:ext cx="347662" cy="569913"/>
          </a:xfrm>
          <a:custGeom>
            <a:avLst/>
            <a:gdLst>
              <a:gd name="T0" fmla="*/ 0 w 192"/>
              <a:gd name="T1" fmla="*/ 2147483647 h 267"/>
              <a:gd name="T2" fmla="*/ 2147483647 w 192"/>
              <a:gd name="T3" fmla="*/ 0 h 267"/>
              <a:gd name="T4" fmla="*/ 2147483647 w 192"/>
              <a:gd name="T5" fmla="*/ 2147483647 h 267"/>
              <a:gd name="T6" fmla="*/ 2147483647 w 192"/>
              <a:gd name="T7" fmla="*/ 2147483647 h 267"/>
              <a:gd name="T8" fmla="*/ 2147483647 w 192"/>
              <a:gd name="T9" fmla="*/ 2147483647 h 26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"/>
              <a:gd name="T16" fmla="*/ 0 h 267"/>
              <a:gd name="T17" fmla="*/ 192 w 192"/>
              <a:gd name="T18" fmla="*/ 267 h 26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" h="267">
                <a:moveTo>
                  <a:pt x="0" y="141"/>
                </a:moveTo>
                <a:cubicBezTo>
                  <a:pt x="7" y="118"/>
                  <a:pt x="29" y="0"/>
                  <a:pt x="45" y="0"/>
                </a:cubicBezTo>
                <a:cubicBezTo>
                  <a:pt x="61" y="0"/>
                  <a:pt x="79" y="97"/>
                  <a:pt x="96" y="141"/>
                </a:cubicBezTo>
                <a:cubicBezTo>
                  <a:pt x="113" y="185"/>
                  <a:pt x="134" y="267"/>
                  <a:pt x="150" y="267"/>
                </a:cubicBezTo>
                <a:cubicBezTo>
                  <a:pt x="166" y="267"/>
                  <a:pt x="183" y="167"/>
                  <a:pt x="192" y="141"/>
                </a:cubicBezTo>
              </a:path>
            </a:pathLst>
          </a:custGeom>
          <a:noFill/>
          <a:ln w="28575">
            <a:solidFill>
              <a:srgbClr val="00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268" name="Freeform 71"/>
          <p:cNvSpPr>
            <a:spLocks/>
          </p:cNvSpPr>
          <p:nvPr/>
        </p:nvSpPr>
        <p:spPr bwMode="auto">
          <a:xfrm>
            <a:off x="7458075" y="3619500"/>
            <a:ext cx="347663" cy="1079500"/>
          </a:xfrm>
          <a:custGeom>
            <a:avLst/>
            <a:gdLst>
              <a:gd name="T0" fmla="*/ 0 w 192"/>
              <a:gd name="T1" fmla="*/ 2147483647 h 507"/>
              <a:gd name="T2" fmla="*/ 2147483647 w 192"/>
              <a:gd name="T3" fmla="*/ 0 h 507"/>
              <a:gd name="T4" fmla="*/ 2147483647 w 192"/>
              <a:gd name="T5" fmla="*/ 2147483647 h 507"/>
              <a:gd name="T6" fmla="*/ 2147483647 w 192"/>
              <a:gd name="T7" fmla="*/ 2147483647 h 507"/>
              <a:gd name="T8" fmla="*/ 2147483647 w 192"/>
              <a:gd name="T9" fmla="*/ 2147483647 h 50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"/>
              <a:gd name="T16" fmla="*/ 0 h 507"/>
              <a:gd name="T17" fmla="*/ 192 w 192"/>
              <a:gd name="T18" fmla="*/ 507 h 50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" h="507">
                <a:moveTo>
                  <a:pt x="0" y="234"/>
                </a:moveTo>
                <a:cubicBezTo>
                  <a:pt x="8" y="195"/>
                  <a:pt x="29" y="0"/>
                  <a:pt x="45" y="0"/>
                </a:cubicBezTo>
                <a:cubicBezTo>
                  <a:pt x="61" y="0"/>
                  <a:pt x="79" y="150"/>
                  <a:pt x="96" y="234"/>
                </a:cubicBezTo>
                <a:cubicBezTo>
                  <a:pt x="113" y="318"/>
                  <a:pt x="131" y="507"/>
                  <a:pt x="147" y="507"/>
                </a:cubicBezTo>
                <a:cubicBezTo>
                  <a:pt x="163" y="507"/>
                  <a:pt x="183" y="291"/>
                  <a:pt x="192" y="234"/>
                </a:cubicBezTo>
              </a:path>
            </a:pathLst>
          </a:custGeom>
          <a:noFill/>
          <a:ln w="28575">
            <a:solidFill>
              <a:srgbClr val="00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269" name="Freeform 72"/>
          <p:cNvSpPr>
            <a:spLocks/>
          </p:cNvSpPr>
          <p:nvPr/>
        </p:nvSpPr>
        <p:spPr bwMode="auto">
          <a:xfrm>
            <a:off x="7805738" y="2976563"/>
            <a:ext cx="347662" cy="1574800"/>
          </a:xfrm>
          <a:custGeom>
            <a:avLst/>
            <a:gdLst>
              <a:gd name="T0" fmla="*/ 0 w 219"/>
              <a:gd name="T1" fmla="*/ 2147483647 h 992"/>
              <a:gd name="T2" fmla="*/ 2147483647 w 219"/>
              <a:gd name="T3" fmla="*/ 2147483647 h 992"/>
              <a:gd name="T4" fmla="*/ 2147483647 w 219"/>
              <a:gd name="T5" fmla="*/ 2147483647 h 992"/>
              <a:gd name="T6" fmla="*/ 2147483647 w 219"/>
              <a:gd name="T7" fmla="*/ 2147483647 h 992"/>
              <a:gd name="T8" fmla="*/ 2147483647 w 219"/>
              <a:gd name="T9" fmla="*/ 2147483647 h 992"/>
              <a:gd name="T10" fmla="*/ 2147483647 w 219"/>
              <a:gd name="T11" fmla="*/ 2147483647 h 992"/>
              <a:gd name="T12" fmla="*/ 2147483647 w 219"/>
              <a:gd name="T13" fmla="*/ 2147483647 h 992"/>
              <a:gd name="T14" fmla="*/ 2147483647 w 219"/>
              <a:gd name="T15" fmla="*/ 2147483647 h 992"/>
              <a:gd name="T16" fmla="*/ 2147483647 w 219"/>
              <a:gd name="T17" fmla="*/ 2147483647 h 99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19"/>
              <a:gd name="T28" fmla="*/ 0 h 992"/>
              <a:gd name="T29" fmla="*/ 219 w 219"/>
              <a:gd name="T30" fmla="*/ 992 h 99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19" h="992">
                <a:moveTo>
                  <a:pt x="0" y="718"/>
                </a:moveTo>
                <a:cubicBezTo>
                  <a:pt x="4" y="670"/>
                  <a:pt x="23" y="544"/>
                  <a:pt x="27" y="429"/>
                </a:cubicBezTo>
                <a:cubicBezTo>
                  <a:pt x="31" y="314"/>
                  <a:pt x="21" y="54"/>
                  <a:pt x="27" y="27"/>
                </a:cubicBezTo>
                <a:cubicBezTo>
                  <a:pt x="33" y="0"/>
                  <a:pt x="53" y="266"/>
                  <a:pt x="63" y="267"/>
                </a:cubicBezTo>
                <a:cubicBezTo>
                  <a:pt x="73" y="268"/>
                  <a:pt x="82" y="5"/>
                  <a:pt x="87" y="33"/>
                </a:cubicBezTo>
                <a:cubicBezTo>
                  <a:pt x="92" y="61"/>
                  <a:pt x="89" y="321"/>
                  <a:pt x="93" y="435"/>
                </a:cubicBezTo>
                <a:cubicBezTo>
                  <a:pt x="97" y="549"/>
                  <a:pt x="98" y="625"/>
                  <a:pt x="110" y="718"/>
                </a:cubicBezTo>
                <a:cubicBezTo>
                  <a:pt x="122" y="811"/>
                  <a:pt x="150" y="992"/>
                  <a:pt x="168" y="992"/>
                </a:cubicBezTo>
                <a:cubicBezTo>
                  <a:pt x="186" y="992"/>
                  <a:pt x="209" y="775"/>
                  <a:pt x="219" y="718"/>
                </a:cubicBezTo>
              </a:path>
            </a:pathLst>
          </a:custGeom>
          <a:noFill/>
          <a:ln w="28575">
            <a:solidFill>
              <a:srgbClr val="00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270" name="Freeform 73"/>
          <p:cNvSpPr>
            <a:spLocks/>
          </p:cNvSpPr>
          <p:nvPr/>
        </p:nvSpPr>
        <p:spPr bwMode="auto">
          <a:xfrm>
            <a:off x="8153400" y="3632200"/>
            <a:ext cx="347663" cy="900113"/>
          </a:xfrm>
          <a:custGeom>
            <a:avLst/>
            <a:gdLst>
              <a:gd name="T0" fmla="*/ 0 w 192"/>
              <a:gd name="T1" fmla="*/ 2147483647 h 423"/>
              <a:gd name="T2" fmla="*/ 2147483647 w 192"/>
              <a:gd name="T3" fmla="*/ 0 h 423"/>
              <a:gd name="T4" fmla="*/ 2147483647 w 192"/>
              <a:gd name="T5" fmla="*/ 2147483647 h 423"/>
              <a:gd name="T6" fmla="*/ 2147483647 w 192"/>
              <a:gd name="T7" fmla="*/ 2147483647 h 423"/>
              <a:gd name="T8" fmla="*/ 2147483647 w 192"/>
              <a:gd name="T9" fmla="*/ 2147483647 h 4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"/>
              <a:gd name="T16" fmla="*/ 0 h 423"/>
              <a:gd name="T17" fmla="*/ 192 w 192"/>
              <a:gd name="T18" fmla="*/ 423 h 4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" h="423">
                <a:moveTo>
                  <a:pt x="0" y="228"/>
                </a:moveTo>
                <a:cubicBezTo>
                  <a:pt x="8" y="190"/>
                  <a:pt x="32" y="0"/>
                  <a:pt x="48" y="0"/>
                </a:cubicBezTo>
                <a:cubicBezTo>
                  <a:pt x="64" y="0"/>
                  <a:pt x="79" y="158"/>
                  <a:pt x="96" y="228"/>
                </a:cubicBezTo>
                <a:cubicBezTo>
                  <a:pt x="113" y="298"/>
                  <a:pt x="134" y="423"/>
                  <a:pt x="150" y="423"/>
                </a:cubicBezTo>
                <a:cubicBezTo>
                  <a:pt x="166" y="423"/>
                  <a:pt x="183" y="269"/>
                  <a:pt x="192" y="228"/>
                </a:cubicBezTo>
              </a:path>
            </a:pathLst>
          </a:custGeom>
          <a:noFill/>
          <a:ln w="28575">
            <a:solidFill>
              <a:srgbClr val="00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271" name="Freeform 74"/>
          <p:cNvSpPr>
            <a:spLocks/>
          </p:cNvSpPr>
          <p:nvPr/>
        </p:nvSpPr>
        <p:spPr bwMode="auto">
          <a:xfrm>
            <a:off x="8501063" y="3567113"/>
            <a:ext cx="347662" cy="1016000"/>
          </a:xfrm>
          <a:custGeom>
            <a:avLst/>
            <a:gdLst>
              <a:gd name="T0" fmla="*/ 0 w 192"/>
              <a:gd name="T1" fmla="*/ 2147483647 h 477"/>
              <a:gd name="T2" fmla="*/ 2147483647 w 192"/>
              <a:gd name="T3" fmla="*/ 0 h 477"/>
              <a:gd name="T4" fmla="*/ 2147483647 w 192"/>
              <a:gd name="T5" fmla="*/ 2147483647 h 477"/>
              <a:gd name="T6" fmla="*/ 2147483647 w 192"/>
              <a:gd name="T7" fmla="*/ 2147483647 h 477"/>
              <a:gd name="T8" fmla="*/ 2147483647 w 192"/>
              <a:gd name="T9" fmla="*/ 2147483647 h 47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"/>
              <a:gd name="T16" fmla="*/ 0 h 477"/>
              <a:gd name="T17" fmla="*/ 192 w 192"/>
              <a:gd name="T18" fmla="*/ 477 h 47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" h="477">
                <a:moveTo>
                  <a:pt x="0" y="258"/>
                </a:moveTo>
                <a:cubicBezTo>
                  <a:pt x="8" y="215"/>
                  <a:pt x="29" y="0"/>
                  <a:pt x="45" y="0"/>
                </a:cubicBezTo>
                <a:cubicBezTo>
                  <a:pt x="61" y="0"/>
                  <a:pt x="79" y="179"/>
                  <a:pt x="96" y="258"/>
                </a:cubicBezTo>
                <a:cubicBezTo>
                  <a:pt x="113" y="337"/>
                  <a:pt x="131" y="477"/>
                  <a:pt x="147" y="477"/>
                </a:cubicBezTo>
                <a:cubicBezTo>
                  <a:pt x="163" y="477"/>
                  <a:pt x="183" y="304"/>
                  <a:pt x="192" y="258"/>
                </a:cubicBezTo>
              </a:path>
            </a:pathLst>
          </a:custGeom>
          <a:noFill/>
          <a:ln w="28575">
            <a:solidFill>
              <a:srgbClr val="00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272" name="Freeform 75"/>
          <p:cNvSpPr>
            <a:spLocks/>
          </p:cNvSpPr>
          <p:nvPr/>
        </p:nvSpPr>
        <p:spPr bwMode="auto">
          <a:xfrm>
            <a:off x="1841500" y="5106988"/>
            <a:ext cx="7054850" cy="1058862"/>
          </a:xfrm>
          <a:custGeom>
            <a:avLst/>
            <a:gdLst>
              <a:gd name="T0" fmla="*/ 0 w 4444"/>
              <a:gd name="T1" fmla="*/ 2147483647 h 667"/>
              <a:gd name="T2" fmla="*/ 2147483647 w 4444"/>
              <a:gd name="T3" fmla="*/ 2147483647 h 667"/>
              <a:gd name="T4" fmla="*/ 2147483647 w 4444"/>
              <a:gd name="T5" fmla="*/ 2147483647 h 667"/>
              <a:gd name="T6" fmla="*/ 2147483647 w 4444"/>
              <a:gd name="T7" fmla="*/ 2147483647 h 667"/>
              <a:gd name="T8" fmla="*/ 2147483647 w 4444"/>
              <a:gd name="T9" fmla="*/ 2147483647 h 667"/>
              <a:gd name="T10" fmla="*/ 2147483647 w 4444"/>
              <a:gd name="T11" fmla="*/ 2147483647 h 667"/>
              <a:gd name="T12" fmla="*/ 2147483647 w 4444"/>
              <a:gd name="T13" fmla="*/ 2147483647 h 667"/>
              <a:gd name="T14" fmla="*/ 2147483647 w 4444"/>
              <a:gd name="T15" fmla="*/ 2147483647 h 667"/>
              <a:gd name="T16" fmla="*/ 2147483647 w 4444"/>
              <a:gd name="T17" fmla="*/ 2147483647 h 667"/>
              <a:gd name="T18" fmla="*/ 2147483647 w 4444"/>
              <a:gd name="T19" fmla="*/ 2147483647 h 667"/>
              <a:gd name="T20" fmla="*/ 2147483647 w 4444"/>
              <a:gd name="T21" fmla="*/ 2147483647 h 667"/>
              <a:gd name="T22" fmla="*/ 2147483647 w 4444"/>
              <a:gd name="T23" fmla="*/ 2147483647 h 667"/>
              <a:gd name="T24" fmla="*/ 2147483647 w 4444"/>
              <a:gd name="T25" fmla="*/ 2147483647 h 667"/>
              <a:gd name="T26" fmla="*/ 2147483647 w 4444"/>
              <a:gd name="T27" fmla="*/ 2147483647 h 667"/>
              <a:gd name="T28" fmla="*/ 2147483647 w 4444"/>
              <a:gd name="T29" fmla="*/ 2147483647 h 667"/>
              <a:gd name="T30" fmla="*/ 2147483647 w 4444"/>
              <a:gd name="T31" fmla="*/ 2147483647 h 667"/>
              <a:gd name="T32" fmla="*/ 2147483647 w 4444"/>
              <a:gd name="T33" fmla="*/ 2147483647 h 667"/>
              <a:gd name="T34" fmla="*/ 2147483647 w 4444"/>
              <a:gd name="T35" fmla="*/ 2147483647 h 667"/>
              <a:gd name="T36" fmla="*/ 2147483647 w 4444"/>
              <a:gd name="T37" fmla="*/ 2147483647 h 667"/>
              <a:gd name="T38" fmla="*/ 2147483647 w 4444"/>
              <a:gd name="T39" fmla="*/ 2147483647 h 667"/>
              <a:gd name="T40" fmla="*/ 2147483647 w 4444"/>
              <a:gd name="T41" fmla="*/ 2147483647 h 667"/>
              <a:gd name="T42" fmla="*/ 2147483647 w 4444"/>
              <a:gd name="T43" fmla="*/ 2147483647 h 667"/>
              <a:gd name="T44" fmla="*/ 2147483647 w 4444"/>
              <a:gd name="T45" fmla="*/ 2147483647 h 667"/>
              <a:gd name="T46" fmla="*/ 2147483647 w 4444"/>
              <a:gd name="T47" fmla="*/ 2147483647 h 667"/>
              <a:gd name="T48" fmla="*/ 2147483647 w 4444"/>
              <a:gd name="T49" fmla="*/ 2147483647 h 667"/>
              <a:gd name="T50" fmla="*/ 2147483647 w 4444"/>
              <a:gd name="T51" fmla="*/ 2147483647 h 667"/>
              <a:gd name="T52" fmla="*/ 2147483647 w 4444"/>
              <a:gd name="T53" fmla="*/ 2147483647 h 667"/>
              <a:gd name="T54" fmla="*/ 2147483647 w 4444"/>
              <a:gd name="T55" fmla="*/ 2147483647 h 667"/>
              <a:gd name="T56" fmla="*/ 2147483647 w 4444"/>
              <a:gd name="T57" fmla="*/ 2147483647 h 667"/>
              <a:gd name="T58" fmla="*/ 2147483647 w 4444"/>
              <a:gd name="T59" fmla="*/ 2147483647 h 667"/>
              <a:gd name="T60" fmla="*/ 2147483647 w 4444"/>
              <a:gd name="T61" fmla="*/ 2147483647 h 667"/>
              <a:gd name="T62" fmla="*/ 2147483647 w 4444"/>
              <a:gd name="T63" fmla="*/ 2147483647 h 667"/>
              <a:gd name="T64" fmla="*/ 2147483647 w 4444"/>
              <a:gd name="T65" fmla="*/ 2147483647 h 667"/>
              <a:gd name="T66" fmla="*/ 2147483647 w 4444"/>
              <a:gd name="T67" fmla="*/ 2147483647 h 667"/>
              <a:gd name="T68" fmla="*/ 2147483647 w 4444"/>
              <a:gd name="T69" fmla="*/ 2147483647 h 667"/>
              <a:gd name="T70" fmla="*/ 2147483647 w 4444"/>
              <a:gd name="T71" fmla="*/ 2147483647 h 667"/>
              <a:gd name="T72" fmla="*/ 2147483647 w 4444"/>
              <a:gd name="T73" fmla="*/ 2147483647 h 667"/>
              <a:gd name="T74" fmla="*/ 2147483647 w 4444"/>
              <a:gd name="T75" fmla="*/ 2147483647 h 667"/>
              <a:gd name="T76" fmla="*/ 2147483647 w 4444"/>
              <a:gd name="T77" fmla="*/ 2147483647 h 667"/>
              <a:gd name="T78" fmla="*/ 2147483647 w 4444"/>
              <a:gd name="T79" fmla="*/ 2147483647 h 667"/>
              <a:gd name="T80" fmla="*/ 2147483647 w 4444"/>
              <a:gd name="T81" fmla="*/ 2147483647 h 667"/>
              <a:gd name="T82" fmla="*/ 2147483647 w 4444"/>
              <a:gd name="T83" fmla="*/ 2147483647 h 667"/>
              <a:gd name="T84" fmla="*/ 2147483647 w 4444"/>
              <a:gd name="T85" fmla="*/ 2147483647 h 667"/>
              <a:gd name="T86" fmla="*/ 2147483647 w 4444"/>
              <a:gd name="T87" fmla="*/ 2147483647 h 667"/>
              <a:gd name="T88" fmla="*/ 2147483647 w 4444"/>
              <a:gd name="T89" fmla="*/ 2147483647 h 667"/>
              <a:gd name="T90" fmla="*/ 2147483647 w 4444"/>
              <a:gd name="T91" fmla="*/ 2147483647 h 667"/>
              <a:gd name="T92" fmla="*/ 2147483647 w 4444"/>
              <a:gd name="T93" fmla="*/ 2147483647 h 667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w 4444"/>
              <a:gd name="T142" fmla="*/ 0 h 667"/>
              <a:gd name="T143" fmla="*/ 4444 w 4444"/>
              <a:gd name="T144" fmla="*/ 667 h 667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T141" t="T142" r="T143" b="T144"/>
            <a:pathLst>
              <a:path w="4444" h="667">
                <a:moveTo>
                  <a:pt x="0" y="462"/>
                </a:moveTo>
                <a:cubicBezTo>
                  <a:pt x="14" y="433"/>
                  <a:pt x="49" y="317"/>
                  <a:pt x="82" y="287"/>
                </a:cubicBezTo>
                <a:cubicBezTo>
                  <a:pt x="115" y="257"/>
                  <a:pt x="166" y="306"/>
                  <a:pt x="196" y="281"/>
                </a:cubicBezTo>
                <a:cubicBezTo>
                  <a:pt x="226" y="256"/>
                  <a:pt x="252" y="148"/>
                  <a:pt x="262" y="137"/>
                </a:cubicBezTo>
                <a:cubicBezTo>
                  <a:pt x="272" y="126"/>
                  <a:pt x="252" y="174"/>
                  <a:pt x="256" y="215"/>
                </a:cubicBezTo>
                <a:cubicBezTo>
                  <a:pt x="260" y="256"/>
                  <a:pt x="271" y="345"/>
                  <a:pt x="286" y="383"/>
                </a:cubicBezTo>
                <a:cubicBezTo>
                  <a:pt x="301" y="421"/>
                  <a:pt x="300" y="398"/>
                  <a:pt x="345" y="443"/>
                </a:cubicBezTo>
                <a:cubicBezTo>
                  <a:pt x="390" y="488"/>
                  <a:pt x="467" y="635"/>
                  <a:pt x="555" y="651"/>
                </a:cubicBezTo>
                <a:cubicBezTo>
                  <a:pt x="643" y="667"/>
                  <a:pt x="808" y="567"/>
                  <a:pt x="872" y="539"/>
                </a:cubicBezTo>
                <a:cubicBezTo>
                  <a:pt x="936" y="511"/>
                  <a:pt x="922" y="495"/>
                  <a:pt x="940" y="485"/>
                </a:cubicBezTo>
                <a:cubicBezTo>
                  <a:pt x="958" y="475"/>
                  <a:pt x="979" y="479"/>
                  <a:pt x="982" y="479"/>
                </a:cubicBezTo>
                <a:cubicBezTo>
                  <a:pt x="985" y="479"/>
                  <a:pt x="958" y="490"/>
                  <a:pt x="958" y="485"/>
                </a:cubicBezTo>
                <a:cubicBezTo>
                  <a:pt x="958" y="480"/>
                  <a:pt x="969" y="460"/>
                  <a:pt x="984" y="449"/>
                </a:cubicBezTo>
                <a:cubicBezTo>
                  <a:pt x="999" y="438"/>
                  <a:pt x="1006" y="446"/>
                  <a:pt x="1048" y="419"/>
                </a:cubicBezTo>
                <a:cubicBezTo>
                  <a:pt x="1090" y="392"/>
                  <a:pt x="1200" y="322"/>
                  <a:pt x="1235" y="287"/>
                </a:cubicBezTo>
                <a:cubicBezTo>
                  <a:pt x="1270" y="252"/>
                  <a:pt x="1249" y="185"/>
                  <a:pt x="1258" y="209"/>
                </a:cubicBezTo>
                <a:cubicBezTo>
                  <a:pt x="1267" y="233"/>
                  <a:pt x="1279" y="450"/>
                  <a:pt x="1288" y="431"/>
                </a:cubicBezTo>
                <a:cubicBezTo>
                  <a:pt x="1297" y="412"/>
                  <a:pt x="1302" y="131"/>
                  <a:pt x="1312" y="95"/>
                </a:cubicBezTo>
                <a:cubicBezTo>
                  <a:pt x="1322" y="59"/>
                  <a:pt x="1337" y="202"/>
                  <a:pt x="1348" y="215"/>
                </a:cubicBezTo>
                <a:cubicBezTo>
                  <a:pt x="1359" y="228"/>
                  <a:pt x="1371" y="167"/>
                  <a:pt x="1378" y="173"/>
                </a:cubicBezTo>
                <a:cubicBezTo>
                  <a:pt x="1385" y="179"/>
                  <a:pt x="1369" y="229"/>
                  <a:pt x="1389" y="249"/>
                </a:cubicBezTo>
                <a:cubicBezTo>
                  <a:pt x="1409" y="269"/>
                  <a:pt x="1415" y="234"/>
                  <a:pt x="1498" y="293"/>
                </a:cubicBezTo>
                <a:cubicBezTo>
                  <a:pt x="1581" y="352"/>
                  <a:pt x="1786" y="548"/>
                  <a:pt x="1888" y="604"/>
                </a:cubicBezTo>
                <a:cubicBezTo>
                  <a:pt x="1990" y="660"/>
                  <a:pt x="2062" y="639"/>
                  <a:pt x="2111" y="628"/>
                </a:cubicBezTo>
                <a:cubicBezTo>
                  <a:pt x="2160" y="617"/>
                  <a:pt x="2165" y="599"/>
                  <a:pt x="2184" y="539"/>
                </a:cubicBezTo>
                <a:cubicBezTo>
                  <a:pt x="2203" y="479"/>
                  <a:pt x="2212" y="286"/>
                  <a:pt x="2224" y="269"/>
                </a:cubicBezTo>
                <a:cubicBezTo>
                  <a:pt x="2236" y="252"/>
                  <a:pt x="2230" y="428"/>
                  <a:pt x="2254" y="437"/>
                </a:cubicBezTo>
                <a:cubicBezTo>
                  <a:pt x="2278" y="446"/>
                  <a:pt x="2340" y="358"/>
                  <a:pt x="2370" y="324"/>
                </a:cubicBezTo>
                <a:cubicBezTo>
                  <a:pt x="2400" y="290"/>
                  <a:pt x="2417" y="282"/>
                  <a:pt x="2434" y="233"/>
                </a:cubicBezTo>
                <a:cubicBezTo>
                  <a:pt x="2451" y="184"/>
                  <a:pt x="2461" y="39"/>
                  <a:pt x="2470" y="29"/>
                </a:cubicBezTo>
                <a:cubicBezTo>
                  <a:pt x="2479" y="19"/>
                  <a:pt x="2481" y="171"/>
                  <a:pt x="2488" y="173"/>
                </a:cubicBezTo>
                <a:cubicBezTo>
                  <a:pt x="2495" y="175"/>
                  <a:pt x="2493" y="0"/>
                  <a:pt x="2512" y="41"/>
                </a:cubicBezTo>
                <a:cubicBezTo>
                  <a:pt x="2531" y="82"/>
                  <a:pt x="2567" y="337"/>
                  <a:pt x="2602" y="419"/>
                </a:cubicBezTo>
                <a:cubicBezTo>
                  <a:pt x="2637" y="501"/>
                  <a:pt x="2665" y="545"/>
                  <a:pt x="2722" y="533"/>
                </a:cubicBezTo>
                <a:cubicBezTo>
                  <a:pt x="2779" y="521"/>
                  <a:pt x="2874" y="354"/>
                  <a:pt x="2944" y="344"/>
                </a:cubicBezTo>
                <a:cubicBezTo>
                  <a:pt x="3014" y="334"/>
                  <a:pt x="3108" y="482"/>
                  <a:pt x="3144" y="473"/>
                </a:cubicBezTo>
                <a:cubicBezTo>
                  <a:pt x="3180" y="464"/>
                  <a:pt x="3145" y="282"/>
                  <a:pt x="3160" y="287"/>
                </a:cubicBezTo>
                <a:cubicBezTo>
                  <a:pt x="3175" y="292"/>
                  <a:pt x="3194" y="447"/>
                  <a:pt x="3232" y="503"/>
                </a:cubicBezTo>
                <a:cubicBezTo>
                  <a:pt x="3270" y="559"/>
                  <a:pt x="3340" y="611"/>
                  <a:pt x="3390" y="623"/>
                </a:cubicBezTo>
                <a:cubicBezTo>
                  <a:pt x="3440" y="635"/>
                  <a:pt x="3474" y="607"/>
                  <a:pt x="3531" y="575"/>
                </a:cubicBezTo>
                <a:cubicBezTo>
                  <a:pt x="3587" y="543"/>
                  <a:pt x="3687" y="463"/>
                  <a:pt x="3730" y="431"/>
                </a:cubicBezTo>
                <a:cubicBezTo>
                  <a:pt x="3773" y="399"/>
                  <a:pt x="3774" y="439"/>
                  <a:pt x="3790" y="383"/>
                </a:cubicBezTo>
                <a:cubicBezTo>
                  <a:pt x="3806" y="327"/>
                  <a:pt x="3812" y="102"/>
                  <a:pt x="3826" y="95"/>
                </a:cubicBezTo>
                <a:cubicBezTo>
                  <a:pt x="3840" y="88"/>
                  <a:pt x="3863" y="338"/>
                  <a:pt x="3874" y="341"/>
                </a:cubicBezTo>
                <a:cubicBezTo>
                  <a:pt x="3885" y="344"/>
                  <a:pt x="3871" y="85"/>
                  <a:pt x="3892" y="113"/>
                </a:cubicBezTo>
                <a:cubicBezTo>
                  <a:pt x="3913" y="141"/>
                  <a:pt x="3908" y="452"/>
                  <a:pt x="4000" y="510"/>
                </a:cubicBezTo>
                <a:cubicBezTo>
                  <a:pt x="4092" y="568"/>
                  <a:pt x="4370" y="470"/>
                  <a:pt x="4444" y="462"/>
                </a:cubicBezTo>
              </a:path>
            </a:pathLst>
          </a:custGeom>
          <a:noFill/>
          <a:ln w="38100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273" name="Text Box 76"/>
          <p:cNvSpPr txBox="1">
            <a:spLocks noChangeArrowheads="1"/>
          </p:cNvSpPr>
          <p:nvPr/>
        </p:nvSpPr>
        <p:spPr bwMode="auto">
          <a:xfrm>
            <a:off x="381000" y="1565275"/>
            <a:ext cx="1509713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GB" sz="1400"/>
              <a:t>Noise interference hits</a:t>
            </a:r>
          </a:p>
          <a:p>
            <a:r>
              <a:rPr lang="en-GB" sz="1400"/>
              <a:t>transmitted wave</a:t>
            </a:r>
            <a:r>
              <a:rPr lang="en-GB" sz="2400"/>
              <a:t> </a:t>
            </a:r>
          </a:p>
        </p:txBody>
      </p:sp>
      <p:sp>
        <p:nvSpPr>
          <p:cNvPr id="10274" name="Text Box 77"/>
          <p:cNvSpPr txBox="1">
            <a:spLocks noChangeArrowheads="1"/>
          </p:cNvSpPr>
          <p:nvPr/>
        </p:nvSpPr>
        <p:spPr bwMode="auto">
          <a:xfrm>
            <a:off x="381000" y="3394075"/>
            <a:ext cx="1252538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GB" sz="1400"/>
              <a:t>… and alters the amplitude of the carrier</a:t>
            </a:r>
            <a:r>
              <a:rPr lang="en-GB" sz="2400"/>
              <a:t> </a:t>
            </a:r>
          </a:p>
        </p:txBody>
      </p:sp>
      <p:sp>
        <p:nvSpPr>
          <p:cNvPr id="10275" name="Text Box 78"/>
          <p:cNvSpPr txBox="1">
            <a:spLocks noChangeArrowheads="1"/>
          </p:cNvSpPr>
          <p:nvPr/>
        </p:nvSpPr>
        <p:spPr bwMode="auto">
          <a:xfrm>
            <a:off x="381000" y="5207000"/>
            <a:ext cx="1509713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GB" sz="1400"/>
              <a:t>demodulated wave contains noisy spikes</a:t>
            </a:r>
            <a:endParaRPr lang="en-GB" sz="2400"/>
          </a:p>
        </p:txBody>
      </p:sp>
      <p:sp>
        <p:nvSpPr>
          <p:cNvPr id="10276" name="Text Box 79"/>
          <p:cNvSpPr txBox="1">
            <a:spLocks noChangeArrowheads="1"/>
          </p:cNvSpPr>
          <p:nvPr/>
        </p:nvSpPr>
        <p:spPr bwMode="auto">
          <a:xfrm>
            <a:off x="381000" y="381000"/>
            <a:ext cx="4791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400" b="1" dirty="0"/>
              <a:t>AM Prone to Noise Interference</a:t>
            </a:r>
          </a:p>
        </p:txBody>
      </p:sp>
    </p:spTree>
    <p:extLst>
      <p:ext uri="{BB962C8B-B14F-4D97-AF65-F5344CB8AC3E}">
        <p14:creationId xmlns:p14="http://schemas.microsoft.com/office/powerpoint/2010/main" val="26598639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4"/>
          <p:cNvSpPr txBox="1">
            <a:spLocks noChangeArrowheads="1"/>
          </p:cNvSpPr>
          <p:nvPr/>
        </p:nvSpPr>
        <p:spPr bwMode="auto">
          <a:xfrm>
            <a:off x="395288" y="333375"/>
            <a:ext cx="2773362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Modulation Index</a:t>
            </a:r>
            <a:endParaRPr lang="en-US" sz="2400" b="1"/>
          </a:p>
        </p:txBody>
      </p:sp>
      <p:sp>
        <p:nvSpPr>
          <p:cNvPr id="1028" name="Text Box 31"/>
          <p:cNvSpPr txBox="1">
            <a:spLocks noChangeArrowheads="1"/>
          </p:cNvSpPr>
          <p:nvPr/>
        </p:nvSpPr>
        <p:spPr bwMode="auto">
          <a:xfrm>
            <a:off x="430213" y="931863"/>
            <a:ext cx="38100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The ratio of the depth of modulation</a:t>
            </a:r>
            <a:endParaRPr lang="en-US"/>
          </a:p>
        </p:txBody>
      </p:sp>
      <p:pic>
        <p:nvPicPr>
          <p:cNvPr id="1029" name="Picture 3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43100" y="3041650"/>
            <a:ext cx="3171825" cy="17827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030" name="Freeform 46"/>
          <p:cNvSpPr>
            <a:spLocks/>
          </p:cNvSpPr>
          <p:nvPr/>
        </p:nvSpPr>
        <p:spPr bwMode="auto">
          <a:xfrm>
            <a:off x="438150" y="3333750"/>
            <a:ext cx="165100" cy="1195388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31" name="Freeform 47"/>
          <p:cNvSpPr>
            <a:spLocks/>
          </p:cNvSpPr>
          <p:nvPr/>
        </p:nvSpPr>
        <p:spPr bwMode="auto">
          <a:xfrm>
            <a:off x="603250" y="3333750"/>
            <a:ext cx="166688" cy="1195388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32" name="Freeform 48"/>
          <p:cNvSpPr>
            <a:spLocks/>
          </p:cNvSpPr>
          <p:nvPr/>
        </p:nvSpPr>
        <p:spPr bwMode="auto">
          <a:xfrm>
            <a:off x="769938" y="3333750"/>
            <a:ext cx="165100" cy="1195388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33" name="Freeform 49"/>
          <p:cNvSpPr>
            <a:spLocks/>
          </p:cNvSpPr>
          <p:nvPr/>
        </p:nvSpPr>
        <p:spPr bwMode="auto">
          <a:xfrm>
            <a:off x="935038" y="3333750"/>
            <a:ext cx="166687" cy="1195388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34" name="Freeform 50"/>
          <p:cNvSpPr>
            <a:spLocks/>
          </p:cNvSpPr>
          <p:nvPr/>
        </p:nvSpPr>
        <p:spPr bwMode="auto">
          <a:xfrm>
            <a:off x="1101725" y="3333750"/>
            <a:ext cx="165100" cy="1195388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35" name="Freeform 51"/>
          <p:cNvSpPr>
            <a:spLocks/>
          </p:cNvSpPr>
          <p:nvPr/>
        </p:nvSpPr>
        <p:spPr bwMode="auto">
          <a:xfrm>
            <a:off x="1266825" y="3333750"/>
            <a:ext cx="165100" cy="1195388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36" name="Freeform 52"/>
          <p:cNvSpPr>
            <a:spLocks/>
          </p:cNvSpPr>
          <p:nvPr/>
        </p:nvSpPr>
        <p:spPr bwMode="auto">
          <a:xfrm>
            <a:off x="1431925" y="3333750"/>
            <a:ext cx="166688" cy="1195388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37" name="Freeform 53"/>
          <p:cNvSpPr>
            <a:spLocks/>
          </p:cNvSpPr>
          <p:nvPr/>
        </p:nvSpPr>
        <p:spPr bwMode="auto">
          <a:xfrm>
            <a:off x="1598613" y="3333750"/>
            <a:ext cx="165100" cy="1195388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38" name="Freeform 54"/>
          <p:cNvSpPr>
            <a:spLocks/>
          </p:cNvSpPr>
          <p:nvPr/>
        </p:nvSpPr>
        <p:spPr bwMode="auto">
          <a:xfrm>
            <a:off x="1763713" y="3116263"/>
            <a:ext cx="184150" cy="1549400"/>
          </a:xfrm>
          <a:custGeom>
            <a:avLst/>
            <a:gdLst>
              <a:gd name="T0" fmla="*/ 0 w 116"/>
              <a:gd name="T1" fmla="*/ 2147483647 h 976"/>
              <a:gd name="T2" fmla="*/ 2147483647 w 116"/>
              <a:gd name="T3" fmla="*/ 2147483647 h 976"/>
              <a:gd name="T4" fmla="*/ 2147483647 w 116"/>
              <a:gd name="T5" fmla="*/ 2147483647 h 976"/>
              <a:gd name="T6" fmla="*/ 2147483647 w 116"/>
              <a:gd name="T7" fmla="*/ 2147483647 h 976"/>
              <a:gd name="T8" fmla="*/ 2147483647 w 116"/>
              <a:gd name="T9" fmla="*/ 0 h 9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6"/>
              <a:gd name="T16" fmla="*/ 0 h 976"/>
              <a:gd name="T17" fmla="*/ 116 w 116"/>
              <a:gd name="T18" fmla="*/ 976 h 9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6" h="976">
                <a:moveTo>
                  <a:pt x="0" y="514"/>
                </a:moveTo>
                <a:cubicBezTo>
                  <a:pt x="9" y="325"/>
                  <a:pt x="18" y="137"/>
                  <a:pt x="26" y="137"/>
                </a:cubicBezTo>
                <a:cubicBezTo>
                  <a:pt x="35" y="137"/>
                  <a:pt x="44" y="388"/>
                  <a:pt x="53" y="514"/>
                </a:cubicBezTo>
                <a:cubicBezTo>
                  <a:pt x="61" y="639"/>
                  <a:pt x="68" y="976"/>
                  <a:pt x="79" y="890"/>
                </a:cubicBezTo>
                <a:cubicBezTo>
                  <a:pt x="90" y="804"/>
                  <a:pt x="108" y="185"/>
                  <a:pt x="116" y="0"/>
                </a:cubicBezTo>
              </a:path>
            </a:pathLst>
          </a:custGeom>
          <a:noFill/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039" name="Line 61"/>
          <p:cNvSpPr>
            <a:spLocks noChangeShapeType="1"/>
          </p:cNvSpPr>
          <p:nvPr/>
        </p:nvSpPr>
        <p:spPr bwMode="auto">
          <a:xfrm>
            <a:off x="430213" y="3324225"/>
            <a:ext cx="5821362" cy="20638"/>
          </a:xfrm>
          <a:prstGeom prst="line">
            <a:avLst/>
          </a:prstGeom>
          <a:noFill/>
          <a:ln w="9525">
            <a:solidFill>
              <a:srgbClr val="FF0000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040" name="Line 62"/>
          <p:cNvSpPr>
            <a:spLocks noChangeShapeType="1"/>
          </p:cNvSpPr>
          <p:nvPr/>
        </p:nvSpPr>
        <p:spPr bwMode="auto">
          <a:xfrm flipV="1">
            <a:off x="439738" y="3927475"/>
            <a:ext cx="5756275" cy="79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041" name="Line 64"/>
          <p:cNvSpPr>
            <a:spLocks noChangeShapeType="1"/>
          </p:cNvSpPr>
          <p:nvPr/>
        </p:nvSpPr>
        <p:spPr bwMode="auto">
          <a:xfrm flipV="1">
            <a:off x="5932488" y="3344863"/>
            <a:ext cx="0" cy="603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1042" name="Text Box 65"/>
          <p:cNvSpPr txBox="1">
            <a:spLocks noChangeArrowheads="1"/>
          </p:cNvSpPr>
          <p:nvPr/>
        </p:nvSpPr>
        <p:spPr bwMode="auto">
          <a:xfrm>
            <a:off x="5959475" y="3384550"/>
            <a:ext cx="1479550" cy="5175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/>
              <a:t>carrier voltage </a:t>
            </a:r>
          </a:p>
          <a:p>
            <a:r>
              <a:rPr lang="en-GB" sz="1400"/>
              <a:t>= V</a:t>
            </a:r>
            <a:r>
              <a:rPr lang="en-GB" sz="1400" baseline="-25000"/>
              <a:t>c</a:t>
            </a:r>
            <a:endParaRPr lang="en-US" sz="1400" baseline="-25000"/>
          </a:p>
        </p:txBody>
      </p:sp>
      <p:sp>
        <p:nvSpPr>
          <p:cNvPr id="1043" name="Text Box 66"/>
          <p:cNvSpPr txBox="1">
            <a:spLocks noChangeArrowheads="1"/>
          </p:cNvSpPr>
          <p:nvPr/>
        </p:nvSpPr>
        <p:spPr bwMode="auto">
          <a:xfrm>
            <a:off x="430213" y="4672013"/>
            <a:ext cx="820737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carrier</a:t>
            </a:r>
            <a:endParaRPr lang="en-US"/>
          </a:p>
        </p:txBody>
      </p:sp>
      <p:sp>
        <p:nvSpPr>
          <p:cNvPr id="1044" name="Line 83"/>
          <p:cNvSpPr>
            <a:spLocks noChangeShapeType="1"/>
          </p:cNvSpPr>
          <p:nvPr/>
        </p:nvSpPr>
        <p:spPr bwMode="auto">
          <a:xfrm flipV="1">
            <a:off x="430213" y="4506913"/>
            <a:ext cx="1497012" cy="11112"/>
          </a:xfrm>
          <a:prstGeom prst="line">
            <a:avLst/>
          </a:prstGeom>
          <a:noFill/>
          <a:ln w="9525">
            <a:solidFill>
              <a:srgbClr val="FF0000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045" name="Text Box 84"/>
          <p:cNvSpPr txBox="1">
            <a:spLocks noChangeArrowheads="1"/>
          </p:cNvSpPr>
          <p:nvPr/>
        </p:nvSpPr>
        <p:spPr bwMode="auto">
          <a:xfrm>
            <a:off x="430213" y="2449513"/>
            <a:ext cx="1963737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modulating signal</a:t>
            </a:r>
            <a:endParaRPr lang="en-US"/>
          </a:p>
        </p:txBody>
      </p:sp>
      <p:sp>
        <p:nvSpPr>
          <p:cNvPr id="1046" name="Line 85"/>
          <p:cNvSpPr>
            <a:spLocks noChangeShapeType="1"/>
          </p:cNvSpPr>
          <p:nvPr/>
        </p:nvSpPr>
        <p:spPr bwMode="auto">
          <a:xfrm flipV="1">
            <a:off x="2390775" y="2063750"/>
            <a:ext cx="654050" cy="561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1047" name="Text Box 86"/>
          <p:cNvSpPr txBox="1">
            <a:spLocks noChangeArrowheads="1"/>
          </p:cNvSpPr>
          <p:nvPr/>
        </p:nvSpPr>
        <p:spPr bwMode="auto">
          <a:xfrm>
            <a:off x="3379788" y="5130800"/>
            <a:ext cx="1944687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modulated carrier</a:t>
            </a:r>
            <a:endParaRPr lang="en-US"/>
          </a:p>
        </p:txBody>
      </p:sp>
      <p:sp>
        <p:nvSpPr>
          <p:cNvPr id="1048" name="Line 87"/>
          <p:cNvSpPr>
            <a:spLocks noChangeShapeType="1"/>
          </p:cNvSpPr>
          <p:nvPr/>
        </p:nvSpPr>
        <p:spPr bwMode="auto">
          <a:xfrm flipH="1" flipV="1">
            <a:off x="4011613" y="4154488"/>
            <a:ext cx="239712" cy="915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grpSp>
        <p:nvGrpSpPr>
          <p:cNvPr id="2" name="Group 120"/>
          <p:cNvGrpSpPr>
            <a:grpSpLocks/>
          </p:cNvGrpSpPr>
          <p:nvPr/>
        </p:nvGrpSpPr>
        <p:grpSpPr bwMode="auto">
          <a:xfrm>
            <a:off x="1895475" y="1528763"/>
            <a:ext cx="3773488" cy="657225"/>
            <a:chOff x="271" y="1061"/>
            <a:chExt cx="2377" cy="251"/>
          </a:xfrm>
        </p:grpSpPr>
        <p:sp>
          <p:nvSpPr>
            <p:cNvPr id="1057" name="Freeform 98"/>
            <p:cNvSpPr>
              <a:spLocks/>
            </p:cNvSpPr>
            <p:nvPr/>
          </p:nvSpPr>
          <p:spPr bwMode="auto">
            <a:xfrm>
              <a:off x="271" y="1061"/>
              <a:ext cx="1202" cy="251"/>
            </a:xfrm>
            <a:custGeom>
              <a:avLst/>
              <a:gdLst>
                <a:gd name="T0" fmla="*/ 0 w 1536"/>
                <a:gd name="T1" fmla="*/ 0 h 1152"/>
                <a:gd name="T2" fmla="*/ 69 w 1536"/>
                <a:gd name="T3" fmla="*/ 0 h 1152"/>
                <a:gd name="T4" fmla="*/ 138 w 1536"/>
                <a:gd name="T5" fmla="*/ 0 h 1152"/>
                <a:gd name="T6" fmla="*/ 207 w 1536"/>
                <a:gd name="T7" fmla="*/ 0 h 1152"/>
                <a:gd name="T8" fmla="*/ 276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58" name="Freeform 99"/>
            <p:cNvSpPr>
              <a:spLocks/>
            </p:cNvSpPr>
            <p:nvPr/>
          </p:nvSpPr>
          <p:spPr bwMode="auto">
            <a:xfrm>
              <a:off x="1447" y="1061"/>
              <a:ext cx="1201" cy="251"/>
            </a:xfrm>
            <a:custGeom>
              <a:avLst/>
              <a:gdLst>
                <a:gd name="T0" fmla="*/ 0 w 1536"/>
                <a:gd name="T1" fmla="*/ 0 h 1152"/>
                <a:gd name="T2" fmla="*/ 69 w 1536"/>
                <a:gd name="T3" fmla="*/ 0 h 1152"/>
                <a:gd name="T4" fmla="*/ 137 w 1536"/>
                <a:gd name="T5" fmla="*/ 0 h 1152"/>
                <a:gd name="T6" fmla="*/ 206 w 1536"/>
                <a:gd name="T7" fmla="*/ 0 h 1152"/>
                <a:gd name="T8" fmla="*/ 274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050" name="Line 119"/>
          <p:cNvSpPr>
            <a:spLocks noChangeShapeType="1"/>
          </p:cNvSpPr>
          <p:nvPr/>
        </p:nvSpPr>
        <p:spPr bwMode="auto">
          <a:xfrm>
            <a:off x="1895475" y="1857375"/>
            <a:ext cx="4002088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051" name="Line 121"/>
          <p:cNvSpPr>
            <a:spLocks noChangeShapeType="1"/>
          </p:cNvSpPr>
          <p:nvPr/>
        </p:nvSpPr>
        <p:spPr bwMode="auto">
          <a:xfrm>
            <a:off x="1909763" y="1435100"/>
            <a:ext cx="0" cy="8620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052" name="Line 122"/>
          <p:cNvSpPr>
            <a:spLocks noChangeShapeType="1"/>
          </p:cNvSpPr>
          <p:nvPr/>
        </p:nvSpPr>
        <p:spPr bwMode="auto">
          <a:xfrm>
            <a:off x="2392363" y="2625725"/>
            <a:ext cx="911225" cy="466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1053" name="Line 123"/>
          <p:cNvSpPr>
            <a:spLocks noChangeShapeType="1"/>
          </p:cNvSpPr>
          <p:nvPr/>
        </p:nvSpPr>
        <p:spPr bwMode="auto">
          <a:xfrm>
            <a:off x="1925638" y="1504950"/>
            <a:ext cx="4076700" cy="9525"/>
          </a:xfrm>
          <a:prstGeom prst="line">
            <a:avLst/>
          </a:prstGeom>
          <a:noFill/>
          <a:ln w="9525">
            <a:solidFill>
              <a:srgbClr val="FF0000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054" name="Line 124"/>
          <p:cNvSpPr>
            <a:spLocks noChangeShapeType="1"/>
          </p:cNvSpPr>
          <p:nvPr/>
        </p:nvSpPr>
        <p:spPr bwMode="auto">
          <a:xfrm flipV="1">
            <a:off x="5360988" y="1516063"/>
            <a:ext cx="9525" cy="333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1055" name="Text Box 125"/>
          <p:cNvSpPr txBox="1">
            <a:spLocks noChangeArrowheads="1"/>
          </p:cNvSpPr>
          <p:nvPr/>
        </p:nvSpPr>
        <p:spPr bwMode="auto">
          <a:xfrm>
            <a:off x="5451475" y="1514475"/>
            <a:ext cx="2601913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400"/>
              <a:t>signal voltage = V</a:t>
            </a:r>
            <a:r>
              <a:rPr lang="en-GB" sz="1400" baseline="-25000"/>
              <a:t>s</a:t>
            </a:r>
            <a:endParaRPr lang="en-US" sz="1400" baseline="-25000"/>
          </a:p>
        </p:txBody>
      </p:sp>
      <p:sp>
        <p:nvSpPr>
          <p:cNvPr id="1056" name="Text Box 126"/>
          <p:cNvSpPr txBox="1">
            <a:spLocks noChangeArrowheads="1"/>
          </p:cNvSpPr>
          <p:nvPr/>
        </p:nvSpPr>
        <p:spPr bwMode="auto">
          <a:xfrm>
            <a:off x="2546350" y="5816600"/>
            <a:ext cx="3018775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Modulation Index = m = </a:t>
            </a:r>
            <a:endParaRPr lang="en-US" baseline="-25000"/>
          </a:p>
        </p:txBody>
      </p:sp>
      <p:graphicFrame>
        <p:nvGraphicFramePr>
          <p:cNvPr id="1026" name="Object 127"/>
          <p:cNvGraphicFramePr>
            <a:graphicFrameLocks noChangeAspect="1"/>
          </p:cNvGraphicFramePr>
          <p:nvPr/>
        </p:nvGraphicFramePr>
        <p:xfrm>
          <a:off x="5512594" y="5705991"/>
          <a:ext cx="312738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8600" imgH="431640" progId="Equation.3">
                  <p:embed/>
                </p:oleObj>
              </mc:Choice>
              <mc:Fallback>
                <p:oleObj name="Equation" r:id="rId3" imgW="228600" imgH="431640" progId="Equation.3">
                  <p:embed/>
                  <p:pic>
                    <p:nvPicPr>
                      <p:cNvPr id="1026" name="Object 1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2594" y="5705991"/>
                        <a:ext cx="312738" cy="590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636425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0213" y="963613"/>
            <a:ext cx="3171825" cy="17827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2052" name="Text Box 5"/>
          <p:cNvSpPr txBox="1">
            <a:spLocks noChangeArrowheads="1"/>
          </p:cNvSpPr>
          <p:nvPr/>
        </p:nvSpPr>
        <p:spPr bwMode="auto">
          <a:xfrm>
            <a:off x="395288" y="333375"/>
            <a:ext cx="2359941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000" b="1"/>
              <a:t>Modulation Index</a:t>
            </a:r>
            <a:endParaRPr lang="en-US" sz="2000" b="1"/>
          </a:p>
        </p:txBody>
      </p:sp>
      <p:sp>
        <p:nvSpPr>
          <p:cNvPr id="2053" name="Text Box 6"/>
          <p:cNvSpPr txBox="1">
            <a:spLocks noChangeArrowheads="1"/>
          </p:cNvSpPr>
          <p:nvPr/>
        </p:nvSpPr>
        <p:spPr bwMode="auto">
          <a:xfrm>
            <a:off x="4365625" y="652463"/>
            <a:ext cx="4057650" cy="27494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dirty="0"/>
              <a:t>Here, modulating signal V</a:t>
            </a:r>
            <a:r>
              <a:rPr lang="en-GB" sz="1600" baseline="-25000" dirty="0"/>
              <a:t>s</a:t>
            </a:r>
            <a:r>
              <a:rPr lang="en-GB" sz="1600" dirty="0"/>
              <a:t> is half the magnitude of carrier voltage </a:t>
            </a:r>
            <a:r>
              <a:rPr lang="en-GB" sz="1600" dirty="0" err="1"/>
              <a:t>V</a:t>
            </a:r>
            <a:r>
              <a:rPr lang="en-GB" sz="1600" baseline="-25000" dirty="0" err="1"/>
              <a:t>c</a:t>
            </a:r>
            <a:endParaRPr lang="en-GB" sz="1600" baseline="-25000" dirty="0"/>
          </a:p>
          <a:p>
            <a:endParaRPr lang="en-GB" sz="1600" dirty="0">
              <a:ea typeface="Lucida Sans Unicode" pitchFamily="34" charset="0"/>
              <a:cs typeface="Lucida Sans Unicode" pitchFamily="34" charset="0"/>
            </a:endParaRPr>
          </a:p>
          <a:p>
            <a:r>
              <a:rPr lang="en-GB" sz="1600" dirty="0">
                <a:ea typeface="Lucida Sans Unicode" pitchFamily="34" charset="0"/>
                <a:cs typeface="Lucida Sans Unicode" pitchFamily="34" charset="0"/>
              </a:rPr>
              <a:t>i.e. 	Carrier Voltage = </a:t>
            </a:r>
            <a:r>
              <a:rPr lang="en-GB" sz="1600" dirty="0" err="1">
                <a:ea typeface="Lucida Sans Unicode" pitchFamily="34" charset="0"/>
                <a:cs typeface="Lucida Sans Unicode" pitchFamily="34" charset="0"/>
              </a:rPr>
              <a:t>V</a:t>
            </a:r>
            <a:r>
              <a:rPr lang="en-GB" sz="1600" baseline="-25000" dirty="0" err="1">
                <a:ea typeface="Lucida Sans Unicode" pitchFamily="34" charset="0"/>
                <a:cs typeface="Lucida Sans Unicode" pitchFamily="34" charset="0"/>
              </a:rPr>
              <a:t>c</a:t>
            </a:r>
            <a:r>
              <a:rPr lang="en-GB" sz="1600" dirty="0">
                <a:ea typeface="Lucida Sans Unicode" pitchFamily="34" charset="0"/>
                <a:cs typeface="Lucida Sans Unicode" pitchFamily="34" charset="0"/>
              </a:rPr>
              <a:t> </a:t>
            </a:r>
          </a:p>
          <a:p>
            <a:r>
              <a:rPr lang="en-GB" sz="1600" i="1" dirty="0">
                <a:ea typeface="Lucida Sans Unicode" pitchFamily="34" charset="0"/>
                <a:cs typeface="Lucida Sans Unicode" pitchFamily="34" charset="0"/>
              </a:rPr>
              <a:t>	… and   </a:t>
            </a:r>
            <a:r>
              <a:rPr lang="en-GB" sz="1600" dirty="0">
                <a:ea typeface="Lucida Sans Unicode" pitchFamily="34" charset="0"/>
                <a:cs typeface="Lucida Sans Unicode" pitchFamily="34" charset="0"/>
              </a:rPr>
              <a:t>V</a:t>
            </a:r>
            <a:r>
              <a:rPr lang="en-GB" sz="1600" baseline="-25000" dirty="0">
                <a:ea typeface="Lucida Sans Unicode" pitchFamily="34" charset="0"/>
                <a:cs typeface="Lucida Sans Unicode" pitchFamily="34" charset="0"/>
              </a:rPr>
              <a:t>s</a:t>
            </a:r>
            <a:r>
              <a:rPr lang="en-GB" sz="1600" dirty="0">
                <a:ea typeface="Lucida Sans Unicode" pitchFamily="34" charset="0"/>
                <a:cs typeface="Lucida Sans Unicode" pitchFamily="34" charset="0"/>
              </a:rPr>
              <a:t> = 0.5 x </a:t>
            </a:r>
            <a:r>
              <a:rPr lang="en-GB" sz="1600" dirty="0" err="1">
                <a:ea typeface="Lucida Sans Unicode" pitchFamily="34" charset="0"/>
                <a:cs typeface="Lucida Sans Unicode" pitchFamily="34" charset="0"/>
              </a:rPr>
              <a:t>V</a:t>
            </a:r>
            <a:r>
              <a:rPr lang="en-GB" sz="1600" baseline="-25000" dirty="0" err="1">
                <a:ea typeface="Lucida Sans Unicode" pitchFamily="34" charset="0"/>
                <a:cs typeface="Lucida Sans Unicode" pitchFamily="34" charset="0"/>
              </a:rPr>
              <a:t>c</a:t>
            </a:r>
            <a:endParaRPr lang="en-US" sz="1600" i="1" dirty="0">
              <a:ea typeface="Lucida Sans Unicode" pitchFamily="34" charset="0"/>
              <a:cs typeface="Lucida Sans Unicode" pitchFamily="34" charset="0"/>
            </a:endParaRPr>
          </a:p>
          <a:p>
            <a:endParaRPr lang="en-US" sz="1600" dirty="0">
              <a:ea typeface="Lucida Sans Unicode" pitchFamily="34" charset="0"/>
              <a:cs typeface="Lucida Sans Unicode" pitchFamily="34" charset="0"/>
            </a:endParaRPr>
          </a:p>
          <a:p>
            <a:r>
              <a:rPr lang="en-US" sz="1600" dirty="0">
                <a:ea typeface="Lucida Sans Unicode" pitchFamily="34" charset="0"/>
                <a:cs typeface="Lucida Sans Unicode" pitchFamily="34" charset="0"/>
              </a:rPr>
              <a:t>∴ 	m = V</a:t>
            </a:r>
            <a:r>
              <a:rPr lang="en-US" sz="1600" baseline="-25000" dirty="0">
                <a:ea typeface="Lucida Sans Unicode" pitchFamily="34" charset="0"/>
                <a:cs typeface="Lucida Sans Unicode" pitchFamily="34" charset="0"/>
              </a:rPr>
              <a:t>s</a:t>
            </a:r>
            <a:r>
              <a:rPr lang="en-US" sz="1600" dirty="0">
                <a:ea typeface="Lucida Sans Unicode" pitchFamily="34" charset="0"/>
                <a:cs typeface="Lucida Sans Unicode" pitchFamily="34" charset="0"/>
              </a:rPr>
              <a:t> / </a:t>
            </a:r>
            <a:r>
              <a:rPr lang="en-US" sz="1600" dirty="0" err="1">
                <a:ea typeface="Lucida Sans Unicode" pitchFamily="34" charset="0"/>
                <a:cs typeface="Lucida Sans Unicode" pitchFamily="34" charset="0"/>
              </a:rPr>
              <a:t>V</a:t>
            </a:r>
            <a:r>
              <a:rPr lang="en-US" sz="1600" baseline="-25000" dirty="0" err="1">
                <a:ea typeface="Lucida Sans Unicode" pitchFamily="34" charset="0"/>
                <a:cs typeface="Lucida Sans Unicode" pitchFamily="34" charset="0"/>
              </a:rPr>
              <a:t>c</a:t>
            </a:r>
            <a:r>
              <a:rPr lang="en-US" sz="1600" baseline="-25000" dirty="0">
                <a:ea typeface="Lucida Sans Unicode" pitchFamily="34" charset="0"/>
                <a:cs typeface="Lucida Sans Unicode" pitchFamily="34" charset="0"/>
              </a:rPr>
              <a:t> </a:t>
            </a:r>
          </a:p>
          <a:p>
            <a:r>
              <a:rPr lang="en-US" sz="1600" baseline="-25000" dirty="0">
                <a:ea typeface="Lucida Sans Unicode" pitchFamily="34" charset="0"/>
                <a:cs typeface="Lucida Sans Unicode" pitchFamily="34" charset="0"/>
              </a:rPr>
              <a:t>	</a:t>
            </a:r>
          </a:p>
          <a:p>
            <a:r>
              <a:rPr lang="en-US" sz="1600" dirty="0">
                <a:ea typeface="Lucida Sans Unicode" pitchFamily="34" charset="0"/>
                <a:cs typeface="Lucida Sans Unicode" pitchFamily="34" charset="0"/>
              </a:rPr>
              <a:t>        	=  0.5</a:t>
            </a:r>
            <a:r>
              <a:rPr lang="en-US" sz="1600" i="1" dirty="0">
                <a:ea typeface="Lucida Sans Unicode" pitchFamily="34" charset="0"/>
                <a:cs typeface="Lucida Sans Unicode" pitchFamily="34" charset="0"/>
              </a:rPr>
              <a:t>v</a:t>
            </a:r>
            <a:r>
              <a:rPr lang="en-US" sz="1600" dirty="0">
                <a:ea typeface="Lucida Sans Unicode" pitchFamily="34" charset="0"/>
                <a:cs typeface="Lucida Sans Unicode" pitchFamily="34" charset="0"/>
              </a:rPr>
              <a:t> / </a:t>
            </a:r>
            <a:r>
              <a:rPr lang="en-US" sz="1600" i="1" dirty="0">
                <a:ea typeface="Lucida Sans Unicode" pitchFamily="34" charset="0"/>
                <a:cs typeface="Lucida Sans Unicode" pitchFamily="34" charset="0"/>
              </a:rPr>
              <a:t>v</a:t>
            </a:r>
          </a:p>
          <a:p>
            <a:endParaRPr lang="en-GB" sz="1600" dirty="0">
              <a:ea typeface="Lucida Sans Unicode" pitchFamily="34" charset="0"/>
              <a:cs typeface="Lucida Sans Unicode" pitchFamily="34" charset="0"/>
            </a:endParaRPr>
          </a:p>
          <a:p>
            <a:r>
              <a:rPr lang="en-GB" sz="1600" dirty="0">
                <a:ea typeface="Lucida Sans Unicode" pitchFamily="34" charset="0"/>
                <a:cs typeface="Lucida Sans Unicode" pitchFamily="34" charset="0"/>
              </a:rPr>
              <a:t>        	= 0.5  (or 50%)</a:t>
            </a:r>
            <a:endParaRPr lang="en-US" sz="1600" dirty="0">
              <a:ea typeface="Lucida Sans Unicode" pitchFamily="34" charset="0"/>
              <a:cs typeface="Lucida Sans Unicode" pitchFamily="34" charset="0"/>
            </a:endParaRPr>
          </a:p>
        </p:txBody>
      </p:sp>
      <p:graphicFrame>
        <p:nvGraphicFramePr>
          <p:cNvPr id="2050" name="Object 7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120" imgH="215640" progId="Equation.3">
                  <p:embed/>
                </p:oleObj>
              </mc:Choice>
              <mc:Fallback>
                <p:oleObj name="Equation" r:id="rId3" imgW="114120" imgH="215640" progId="Equation.3">
                  <p:embed/>
                  <p:pic>
                    <p:nvPicPr>
                      <p:cNvPr id="205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54" name="Picture 9"/>
          <p:cNvPicPr>
            <a:picLocks noChangeAspect="1" noChangeArrowheads="1"/>
          </p:cNvPicPr>
          <p:nvPr/>
        </p:nvPicPr>
        <p:blipFill>
          <a:blip r:embed="rId5" cstate="print"/>
          <a:srcRect t="534"/>
          <a:stretch>
            <a:fillRect/>
          </a:stretch>
        </p:blipFill>
        <p:spPr bwMode="auto">
          <a:xfrm>
            <a:off x="4949825" y="4054475"/>
            <a:ext cx="3162300" cy="17732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2055" name="Text Box 10"/>
          <p:cNvSpPr txBox="1">
            <a:spLocks noChangeArrowheads="1"/>
          </p:cNvSpPr>
          <p:nvPr/>
        </p:nvSpPr>
        <p:spPr bwMode="auto">
          <a:xfrm>
            <a:off x="430213" y="3976688"/>
            <a:ext cx="4037012" cy="230832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/>
              <a:t>Here, the modulating signal V</a:t>
            </a:r>
            <a:r>
              <a:rPr lang="en-GB" sz="1600" baseline="-25000"/>
              <a:t>s</a:t>
            </a:r>
            <a:r>
              <a:rPr lang="en-GB" sz="1600"/>
              <a:t> is the same magnitude as the carrier V</a:t>
            </a:r>
            <a:r>
              <a:rPr lang="en-GB" sz="1600" baseline="-25000"/>
              <a:t>c</a:t>
            </a:r>
            <a:r>
              <a:rPr lang="en-GB" sz="1600"/>
              <a:t>;  </a:t>
            </a:r>
          </a:p>
          <a:p>
            <a:endParaRPr lang="en-GB" sz="1600"/>
          </a:p>
          <a:p>
            <a:r>
              <a:rPr lang="en-GB" sz="1600"/>
              <a:t>i.e. V</a:t>
            </a:r>
            <a:r>
              <a:rPr lang="en-GB" sz="1600" baseline="-25000"/>
              <a:t>s</a:t>
            </a:r>
            <a:r>
              <a:rPr lang="en-GB" sz="1600"/>
              <a:t> = V</a:t>
            </a:r>
            <a:r>
              <a:rPr lang="en-GB" sz="1600" baseline="-25000"/>
              <a:t>c</a:t>
            </a:r>
          </a:p>
          <a:p>
            <a:endParaRPr lang="en-GB" sz="1600"/>
          </a:p>
          <a:p>
            <a:r>
              <a:rPr lang="en-US" sz="1600">
                <a:ea typeface="Lucida Sans Unicode" pitchFamily="34" charset="0"/>
                <a:cs typeface="Lucida Sans Unicode" pitchFamily="34" charset="0"/>
              </a:rPr>
              <a:t>∴ m = V</a:t>
            </a:r>
            <a:r>
              <a:rPr lang="en-US" sz="1600" baseline="-25000">
                <a:ea typeface="Lucida Sans Unicode" pitchFamily="34" charset="0"/>
                <a:cs typeface="Lucida Sans Unicode" pitchFamily="34" charset="0"/>
              </a:rPr>
              <a:t>s</a:t>
            </a:r>
            <a:r>
              <a:rPr lang="en-US" sz="1600">
                <a:ea typeface="Lucida Sans Unicode" pitchFamily="34" charset="0"/>
                <a:cs typeface="Lucida Sans Unicode" pitchFamily="34" charset="0"/>
              </a:rPr>
              <a:t> / V</a:t>
            </a:r>
            <a:r>
              <a:rPr lang="en-US" sz="1600" baseline="-25000">
                <a:ea typeface="Lucida Sans Unicode" pitchFamily="34" charset="0"/>
                <a:cs typeface="Lucida Sans Unicode" pitchFamily="34" charset="0"/>
              </a:rPr>
              <a:t>c</a:t>
            </a:r>
            <a:r>
              <a:rPr lang="en-US" sz="1600">
                <a:ea typeface="Lucida Sans Unicode" pitchFamily="34" charset="0"/>
                <a:cs typeface="Lucida Sans Unicode" pitchFamily="34" charset="0"/>
              </a:rPr>
              <a:t> = 1  (or 100%)</a:t>
            </a:r>
          </a:p>
          <a:p>
            <a:endParaRPr lang="en-GB" sz="1600">
              <a:ea typeface="Lucida Sans Unicode" pitchFamily="34" charset="0"/>
              <a:cs typeface="Lucida Sans Unicode" pitchFamily="34" charset="0"/>
            </a:endParaRPr>
          </a:p>
          <a:p>
            <a:r>
              <a:rPr lang="en-GB" sz="1600">
                <a:ea typeface="Lucida Sans Unicode" pitchFamily="34" charset="0"/>
                <a:cs typeface="Lucida Sans Unicode" pitchFamily="34" charset="0"/>
              </a:rPr>
              <a:t>note - the modulated wave reduces to zero</a:t>
            </a:r>
            <a:endParaRPr lang="en-US" sz="1600">
              <a:ea typeface="Lucida Sans Unicode" pitchFamily="34" charset="0"/>
              <a:cs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8780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4"/>
          <p:cNvPicPr>
            <a:picLocks noChangeAspect="1" noChangeArrowheads="1"/>
          </p:cNvPicPr>
          <p:nvPr/>
        </p:nvPicPr>
        <p:blipFill>
          <a:blip r:embed="rId2" cstate="print"/>
          <a:srcRect r="940"/>
          <a:stretch>
            <a:fillRect/>
          </a:stretch>
        </p:blipFill>
        <p:spPr bwMode="auto">
          <a:xfrm>
            <a:off x="430213" y="1025525"/>
            <a:ext cx="3179762" cy="15859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1267" name="Picture 5"/>
          <p:cNvPicPr>
            <a:picLocks noChangeAspect="1" noChangeArrowheads="1"/>
          </p:cNvPicPr>
          <p:nvPr/>
        </p:nvPicPr>
        <p:blipFill>
          <a:blip r:embed="rId3" cstate="print"/>
          <a:srcRect l="642"/>
          <a:stretch>
            <a:fillRect/>
          </a:stretch>
        </p:blipFill>
        <p:spPr bwMode="auto">
          <a:xfrm>
            <a:off x="4278313" y="3684588"/>
            <a:ext cx="3189287" cy="14462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1268" name="Text Box 6"/>
          <p:cNvSpPr txBox="1">
            <a:spLocks noChangeArrowheads="1"/>
          </p:cNvSpPr>
          <p:nvPr/>
        </p:nvSpPr>
        <p:spPr bwMode="auto">
          <a:xfrm>
            <a:off x="395288" y="333375"/>
            <a:ext cx="2773362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Modulation Index</a:t>
            </a:r>
            <a:endParaRPr lang="en-US" sz="2400" b="1"/>
          </a:p>
        </p:txBody>
      </p:sp>
      <p:sp>
        <p:nvSpPr>
          <p:cNvPr id="11269" name="Text Box 7"/>
          <p:cNvSpPr txBox="1">
            <a:spLocks noChangeArrowheads="1"/>
          </p:cNvSpPr>
          <p:nvPr/>
        </p:nvSpPr>
        <p:spPr bwMode="auto">
          <a:xfrm>
            <a:off x="4249738" y="1266825"/>
            <a:ext cx="3517900" cy="15696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/>
              <a:t>Here the modulation index is 0.25</a:t>
            </a:r>
          </a:p>
          <a:p>
            <a:pPr>
              <a:buFontTx/>
              <a:buChar char="-"/>
            </a:pPr>
            <a:r>
              <a:rPr lang="en-GB" sz="1600"/>
              <a:t> giving a fairly shallow modulated carrier wave</a:t>
            </a:r>
          </a:p>
          <a:p>
            <a:pPr>
              <a:buFontTx/>
              <a:buChar char="-"/>
            </a:pPr>
            <a:r>
              <a:rPr lang="en-GB" sz="1600"/>
              <a:t> signal strength is low compared to noise (S/N ratio)</a:t>
            </a:r>
            <a:endParaRPr lang="en-US" sz="1600"/>
          </a:p>
        </p:txBody>
      </p:sp>
      <p:sp>
        <p:nvSpPr>
          <p:cNvPr id="11270" name="Text Box 8"/>
          <p:cNvSpPr txBox="1">
            <a:spLocks noChangeArrowheads="1"/>
          </p:cNvSpPr>
          <p:nvPr/>
        </p:nvSpPr>
        <p:spPr bwMode="auto">
          <a:xfrm>
            <a:off x="430213" y="4051300"/>
            <a:ext cx="3517900" cy="830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/>
              <a:t>Here the modulation index is 1.5 </a:t>
            </a:r>
          </a:p>
          <a:p>
            <a:r>
              <a:rPr lang="en-GB" sz="1600"/>
              <a:t>- giving an over modulated carrier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41795527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385763" y="333375"/>
            <a:ext cx="3478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400" b="1"/>
              <a:t>Amplitude Modulation</a:t>
            </a:r>
          </a:p>
        </p:txBody>
      </p:sp>
      <p:sp>
        <p:nvSpPr>
          <p:cNvPr id="3" name="Freeform 6"/>
          <p:cNvSpPr>
            <a:spLocks/>
          </p:cNvSpPr>
          <p:nvPr/>
        </p:nvSpPr>
        <p:spPr bwMode="auto">
          <a:xfrm>
            <a:off x="2316163" y="2160587"/>
            <a:ext cx="6096000" cy="1101725"/>
          </a:xfrm>
          <a:custGeom>
            <a:avLst/>
            <a:gdLst>
              <a:gd name="T0" fmla="*/ 0 w 3840"/>
              <a:gd name="T1" fmla="*/ 2147483647 h 934"/>
              <a:gd name="T2" fmla="*/ 2147483647 w 3840"/>
              <a:gd name="T3" fmla="*/ 2147483647 h 934"/>
              <a:gd name="T4" fmla="*/ 2147483647 w 3840"/>
              <a:gd name="T5" fmla="*/ 2147483647 h 934"/>
              <a:gd name="T6" fmla="*/ 2147483647 w 3840"/>
              <a:gd name="T7" fmla="*/ 2147483647 h 934"/>
              <a:gd name="T8" fmla="*/ 2147483647 w 3840"/>
              <a:gd name="T9" fmla="*/ 2147483647 h 934"/>
              <a:gd name="T10" fmla="*/ 2147483647 w 3840"/>
              <a:gd name="T11" fmla="*/ 2147483647 h 934"/>
              <a:gd name="T12" fmla="*/ 2147483647 w 3840"/>
              <a:gd name="T13" fmla="*/ 2147483647 h 934"/>
              <a:gd name="T14" fmla="*/ 2147483647 w 3840"/>
              <a:gd name="T15" fmla="*/ 2147483647 h 934"/>
              <a:gd name="T16" fmla="*/ 2147483647 w 3840"/>
              <a:gd name="T17" fmla="*/ 2147483647 h 934"/>
              <a:gd name="T18" fmla="*/ 2147483647 w 3840"/>
              <a:gd name="T19" fmla="*/ 2147483647 h 934"/>
              <a:gd name="T20" fmla="*/ 2147483647 w 3840"/>
              <a:gd name="T21" fmla="*/ 2147483647 h 934"/>
              <a:gd name="T22" fmla="*/ 2147483647 w 3840"/>
              <a:gd name="T23" fmla="*/ 2147483647 h 934"/>
              <a:gd name="T24" fmla="*/ 2147483647 w 3840"/>
              <a:gd name="T25" fmla="*/ 2147483647 h 934"/>
              <a:gd name="T26" fmla="*/ 2147483647 w 3840"/>
              <a:gd name="T27" fmla="*/ 2147483647 h 934"/>
              <a:gd name="T28" fmla="*/ 2147483647 w 3840"/>
              <a:gd name="T29" fmla="*/ 2147483647 h 934"/>
              <a:gd name="T30" fmla="*/ 2147483647 w 3840"/>
              <a:gd name="T31" fmla="*/ 2147483647 h 93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3840"/>
              <a:gd name="T49" fmla="*/ 0 h 934"/>
              <a:gd name="T50" fmla="*/ 3840 w 3840"/>
              <a:gd name="T51" fmla="*/ 934 h 934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3840" h="934">
                <a:moveTo>
                  <a:pt x="0" y="502"/>
                </a:moveTo>
                <a:cubicBezTo>
                  <a:pt x="32" y="278"/>
                  <a:pt x="64" y="54"/>
                  <a:pt x="144" y="118"/>
                </a:cubicBezTo>
                <a:cubicBezTo>
                  <a:pt x="224" y="182"/>
                  <a:pt x="352" y="838"/>
                  <a:pt x="480" y="886"/>
                </a:cubicBezTo>
                <a:cubicBezTo>
                  <a:pt x="608" y="934"/>
                  <a:pt x="792" y="542"/>
                  <a:pt x="912" y="406"/>
                </a:cubicBezTo>
                <a:cubicBezTo>
                  <a:pt x="1032" y="270"/>
                  <a:pt x="1080" y="6"/>
                  <a:pt x="1200" y="70"/>
                </a:cubicBezTo>
                <a:cubicBezTo>
                  <a:pt x="1320" y="134"/>
                  <a:pt x="1528" y="662"/>
                  <a:pt x="1632" y="790"/>
                </a:cubicBezTo>
                <a:cubicBezTo>
                  <a:pt x="1736" y="918"/>
                  <a:pt x="1768" y="910"/>
                  <a:pt x="1824" y="838"/>
                </a:cubicBezTo>
                <a:cubicBezTo>
                  <a:pt x="1880" y="766"/>
                  <a:pt x="1931" y="461"/>
                  <a:pt x="1968" y="358"/>
                </a:cubicBezTo>
                <a:cubicBezTo>
                  <a:pt x="2005" y="255"/>
                  <a:pt x="2024" y="270"/>
                  <a:pt x="2048" y="222"/>
                </a:cubicBezTo>
                <a:cubicBezTo>
                  <a:pt x="2072" y="174"/>
                  <a:pt x="2061" y="0"/>
                  <a:pt x="2112" y="70"/>
                </a:cubicBezTo>
                <a:cubicBezTo>
                  <a:pt x="2163" y="140"/>
                  <a:pt x="2280" y="614"/>
                  <a:pt x="2352" y="646"/>
                </a:cubicBezTo>
                <a:cubicBezTo>
                  <a:pt x="2424" y="678"/>
                  <a:pt x="2448" y="230"/>
                  <a:pt x="2544" y="262"/>
                </a:cubicBezTo>
                <a:cubicBezTo>
                  <a:pt x="2640" y="294"/>
                  <a:pt x="2808" y="822"/>
                  <a:pt x="2928" y="838"/>
                </a:cubicBezTo>
                <a:cubicBezTo>
                  <a:pt x="3048" y="854"/>
                  <a:pt x="3176" y="398"/>
                  <a:pt x="3264" y="358"/>
                </a:cubicBezTo>
                <a:cubicBezTo>
                  <a:pt x="3352" y="318"/>
                  <a:pt x="3360" y="574"/>
                  <a:pt x="3456" y="598"/>
                </a:cubicBezTo>
                <a:cubicBezTo>
                  <a:pt x="3552" y="622"/>
                  <a:pt x="3776" y="518"/>
                  <a:pt x="3840" y="502"/>
                </a:cubicBezTo>
              </a:path>
            </a:pathLst>
          </a:cu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2316163" y="1093787"/>
            <a:ext cx="6096000" cy="685800"/>
            <a:chOff x="864" y="720"/>
            <a:chExt cx="3840" cy="960"/>
          </a:xfrm>
        </p:grpSpPr>
        <p:sp>
          <p:nvSpPr>
            <p:cNvPr id="5" name="Freeform 8"/>
            <p:cNvSpPr>
              <a:spLocks/>
            </p:cNvSpPr>
            <p:nvPr/>
          </p:nvSpPr>
          <p:spPr bwMode="auto">
            <a:xfrm>
              <a:off x="864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" name="Freeform 9"/>
            <p:cNvSpPr>
              <a:spLocks/>
            </p:cNvSpPr>
            <p:nvPr/>
          </p:nvSpPr>
          <p:spPr bwMode="auto">
            <a:xfrm>
              <a:off x="1056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" name="Freeform 10"/>
            <p:cNvSpPr>
              <a:spLocks/>
            </p:cNvSpPr>
            <p:nvPr/>
          </p:nvSpPr>
          <p:spPr bwMode="auto">
            <a:xfrm>
              <a:off x="1248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" name="Freeform 11"/>
            <p:cNvSpPr>
              <a:spLocks/>
            </p:cNvSpPr>
            <p:nvPr/>
          </p:nvSpPr>
          <p:spPr bwMode="auto">
            <a:xfrm>
              <a:off x="1440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" name="Freeform 12"/>
            <p:cNvSpPr>
              <a:spLocks/>
            </p:cNvSpPr>
            <p:nvPr/>
          </p:nvSpPr>
          <p:spPr bwMode="auto">
            <a:xfrm>
              <a:off x="1632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" name="Freeform 13"/>
            <p:cNvSpPr>
              <a:spLocks/>
            </p:cNvSpPr>
            <p:nvPr/>
          </p:nvSpPr>
          <p:spPr bwMode="auto">
            <a:xfrm>
              <a:off x="1824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" name="Freeform 14"/>
            <p:cNvSpPr>
              <a:spLocks/>
            </p:cNvSpPr>
            <p:nvPr/>
          </p:nvSpPr>
          <p:spPr bwMode="auto">
            <a:xfrm>
              <a:off x="2016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2" name="Freeform 15"/>
            <p:cNvSpPr>
              <a:spLocks/>
            </p:cNvSpPr>
            <p:nvPr/>
          </p:nvSpPr>
          <p:spPr bwMode="auto">
            <a:xfrm>
              <a:off x="2208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" name="Freeform 16"/>
            <p:cNvSpPr>
              <a:spLocks/>
            </p:cNvSpPr>
            <p:nvPr/>
          </p:nvSpPr>
          <p:spPr bwMode="auto">
            <a:xfrm>
              <a:off x="2400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" name="Freeform 17"/>
            <p:cNvSpPr>
              <a:spLocks/>
            </p:cNvSpPr>
            <p:nvPr/>
          </p:nvSpPr>
          <p:spPr bwMode="auto">
            <a:xfrm>
              <a:off x="2592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" name="Freeform 18"/>
            <p:cNvSpPr>
              <a:spLocks/>
            </p:cNvSpPr>
            <p:nvPr/>
          </p:nvSpPr>
          <p:spPr bwMode="auto">
            <a:xfrm>
              <a:off x="2784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" name="Freeform 19"/>
            <p:cNvSpPr>
              <a:spLocks/>
            </p:cNvSpPr>
            <p:nvPr/>
          </p:nvSpPr>
          <p:spPr bwMode="auto">
            <a:xfrm>
              <a:off x="2976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" name="Freeform 20"/>
            <p:cNvSpPr>
              <a:spLocks/>
            </p:cNvSpPr>
            <p:nvPr/>
          </p:nvSpPr>
          <p:spPr bwMode="auto">
            <a:xfrm>
              <a:off x="3168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8" name="Freeform 21"/>
            <p:cNvSpPr>
              <a:spLocks/>
            </p:cNvSpPr>
            <p:nvPr/>
          </p:nvSpPr>
          <p:spPr bwMode="auto">
            <a:xfrm>
              <a:off x="3360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auto">
            <a:xfrm>
              <a:off x="3552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" name="Freeform 23"/>
            <p:cNvSpPr>
              <a:spLocks/>
            </p:cNvSpPr>
            <p:nvPr/>
          </p:nvSpPr>
          <p:spPr bwMode="auto">
            <a:xfrm>
              <a:off x="3744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1" name="Freeform 24"/>
            <p:cNvSpPr>
              <a:spLocks/>
            </p:cNvSpPr>
            <p:nvPr/>
          </p:nvSpPr>
          <p:spPr bwMode="auto">
            <a:xfrm>
              <a:off x="3936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2" name="Freeform 25"/>
            <p:cNvSpPr>
              <a:spLocks/>
            </p:cNvSpPr>
            <p:nvPr/>
          </p:nvSpPr>
          <p:spPr bwMode="auto">
            <a:xfrm>
              <a:off x="4128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3" name="Freeform 26"/>
            <p:cNvSpPr>
              <a:spLocks/>
            </p:cNvSpPr>
            <p:nvPr/>
          </p:nvSpPr>
          <p:spPr bwMode="auto">
            <a:xfrm>
              <a:off x="4320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" name="Freeform 27"/>
            <p:cNvSpPr>
              <a:spLocks/>
            </p:cNvSpPr>
            <p:nvPr/>
          </p:nvSpPr>
          <p:spPr bwMode="auto">
            <a:xfrm>
              <a:off x="4512" y="720"/>
              <a:ext cx="192" cy="960"/>
            </a:xfrm>
            <a:custGeom>
              <a:avLst/>
              <a:gdLst>
                <a:gd name="T0" fmla="*/ 0 w 1536"/>
                <a:gd name="T1" fmla="*/ 37 h 1152"/>
                <a:gd name="T2" fmla="*/ 0 w 1536"/>
                <a:gd name="T3" fmla="*/ 0 h 1152"/>
                <a:gd name="T4" fmla="*/ 0 w 1536"/>
                <a:gd name="T5" fmla="*/ 37 h 1152"/>
                <a:gd name="T6" fmla="*/ 0 w 1536"/>
                <a:gd name="T7" fmla="*/ 75 h 1152"/>
                <a:gd name="T8" fmla="*/ 0 w 1536"/>
                <a:gd name="T9" fmla="*/ 37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25" name="Text Box 28"/>
          <p:cNvSpPr txBox="1">
            <a:spLocks noChangeArrowheads="1"/>
          </p:cNvSpPr>
          <p:nvPr/>
        </p:nvSpPr>
        <p:spPr bwMode="auto">
          <a:xfrm>
            <a:off x="385763" y="1336466"/>
            <a:ext cx="143981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1600"/>
              <a:t>Carrier Wave</a:t>
            </a:r>
            <a:endParaRPr lang="en-GB" sz="2000"/>
          </a:p>
        </p:txBody>
      </p:sp>
      <p:sp>
        <p:nvSpPr>
          <p:cNvPr id="26" name="Text Box 29"/>
          <p:cNvSpPr txBox="1">
            <a:spLocks noChangeArrowheads="1"/>
          </p:cNvSpPr>
          <p:nvPr/>
        </p:nvSpPr>
        <p:spPr bwMode="auto">
          <a:xfrm>
            <a:off x="463612" y="2555666"/>
            <a:ext cx="143180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1600"/>
              <a:t>Audio Signal</a:t>
            </a:r>
            <a:endParaRPr lang="en-GB" sz="2000"/>
          </a:p>
        </p:txBody>
      </p:sp>
      <p:grpSp>
        <p:nvGrpSpPr>
          <p:cNvPr id="27" name="Group 30"/>
          <p:cNvGrpSpPr>
            <a:grpSpLocks/>
          </p:cNvGrpSpPr>
          <p:nvPr/>
        </p:nvGrpSpPr>
        <p:grpSpPr bwMode="auto">
          <a:xfrm>
            <a:off x="411163" y="3303587"/>
            <a:ext cx="8001000" cy="1452563"/>
            <a:chOff x="288" y="2112"/>
            <a:chExt cx="5040" cy="915"/>
          </a:xfrm>
        </p:grpSpPr>
        <p:grpSp>
          <p:nvGrpSpPr>
            <p:cNvPr id="28" name="Group 31"/>
            <p:cNvGrpSpPr>
              <a:grpSpLocks/>
            </p:cNvGrpSpPr>
            <p:nvPr/>
          </p:nvGrpSpPr>
          <p:grpSpPr bwMode="auto">
            <a:xfrm>
              <a:off x="1488" y="2112"/>
              <a:ext cx="3840" cy="915"/>
              <a:chOff x="912" y="2880"/>
              <a:chExt cx="3840" cy="915"/>
            </a:xfrm>
          </p:grpSpPr>
          <p:sp>
            <p:nvSpPr>
              <p:cNvPr id="30" name="Freeform 32"/>
              <p:cNvSpPr>
                <a:spLocks/>
              </p:cNvSpPr>
              <p:nvPr/>
            </p:nvSpPr>
            <p:spPr bwMode="auto">
              <a:xfrm>
                <a:off x="912" y="2976"/>
                <a:ext cx="192" cy="777"/>
              </a:xfrm>
              <a:custGeom>
                <a:avLst/>
                <a:gdLst>
                  <a:gd name="T0" fmla="*/ 0 w 1536"/>
                  <a:gd name="T1" fmla="*/ 1 h 1152"/>
                  <a:gd name="T2" fmla="*/ 0 w 1536"/>
                  <a:gd name="T3" fmla="*/ 0 h 1152"/>
                  <a:gd name="T4" fmla="*/ 0 w 1536"/>
                  <a:gd name="T5" fmla="*/ 1 h 1152"/>
                  <a:gd name="T6" fmla="*/ 0 w 1536"/>
                  <a:gd name="T7" fmla="*/ 3 h 1152"/>
                  <a:gd name="T8" fmla="*/ 0 w 1536"/>
                  <a:gd name="T9" fmla="*/ 1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31" name="Freeform 33"/>
              <p:cNvSpPr>
                <a:spLocks/>
              </p:cNvSpPr>
              <p:nvPr/>
            </p:nvSpPr>
            <p:spPr bwMode="auto">
              <a:xfrm>
                <a:off x="1104" y="3021"/>
                <a:ext cx="192" cy="528"/>
              </a:xfrm>
              <a:custGeom>
                <a:avLst/>
                <a:gdLst>
                  <a:gd name="T0" fmla="*/ 0 w 192"/>
                  <a:gd name="T1" fmla="*/ 339 h 528"/>
                  <a:gd name="T2" fmla="*/ 48 w 192"/>
                  <a:gd name="T3" fmla="*/ 11 h 528"/>
                  <a:gd name="T4" fmla="*/ 96 w 192"/>
                  <a:gd name="T5" fmla="*/ 270 h 528"/>
                  <a:gd name="T6" fmla="*/ 144 w 192"/>
                  <a:gd name="T7" fmla="*/ 528 h 528"/>
                  <a:gd name="T8" fmla="*/ 192 w 192"/>
                  <a:gd name="T9" fmla="*/ 270 h 5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528"/>
                  <a:gd name="T17" fmla="*/ 192 w 192"/>
                  <a:gd name="T18" fmla="*/ 528 h 5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528">
                    <a:moveTo>
                      <a:pt x="0" y="339"/>
                    </a:moveTo>
                    <a:cubicBezTo>
                      <a:pt x="8" y="285"/>
                      <a:pt x="32" y="22"/>
                      <a:pt x="48" y="11"/>
                    </a:cubicBezTo>
                    <a:cubicBezTo>
                      <a:pt x="64" y="0"/>
                      <a:pt x="80" y="183"/>
                      <a:pt x="96" y="270"/>
                    </a:cubicBezTo>
                    <a:cubicBezTo>
                      <a:pt x="112" y="356"/>
                      <a:pt x="128" y="528"/>
                      <a:pt x="144" y="528"/>
                    </a:cubicBezTo>
                    <a:cubicBezTo>
                      <a:pt x="160" y="528"/>
                      <a:pt x="176" y="399"/>
                      <a:pt x="192" y="270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32" name="Freeform 34"/>
              <p:cNvSpPr>
                <a:spLocks/>
              </p:cNvSpPr>
              <p:nvPr/>
            </p:nvSpPr>
            <p:spPr bwMode="auto">
              <a:xfrm>
                <a:off x="1293" y="3211"/>
                <a:ext cx="202" cy="229"/>
              </a:xfrm>
              <a:custGeom>
                <a:avLst/>
                <a:gdLst>
                  <a:gd name="T0" fmla="*/ 0 w 202"/>
                  <a:gd name="T1" fmla="*/ 98 h 229"/>
                  <a:gd name="T2" fmla="*/ 48 w 202"/>
                  <a:gd name="T3" fmla="*/ 8 h 229"/>
                  <a:gd name="T4" fmla="*/ 99 w 202"/>
                  <a:gd name="T5" fmla="*/ 149 h 229"/>
                  <a:gd name="T6" fmla="*/ 135 w 202"/>
                  <a:gd name="T7" fmla="*/ 224 h 229"/>
                  <a:gd name="T8" fmla="*/ 192 w 202"/>
                  <a:gd name="T9" fmla="*/ 119 h 229"/>
                  <a:gd name="T10" fmla="*/ 195 w 202"/>
                  <a:gd name="T11" fmla="*/ 149 h 22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02"/>
                  <a:gd name="T19" fmla="*/ 0 h 229"/>
                  <a:gd name="T20" fmla="*/ 202 w 202"/>
                  <a:gd name="T21" fmla="*/ 229 h 22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02" h="229">
                    <a:moveTo>
                      <a:pt x="0" y="98"/>
                    </a:moveTo>
                    <a:cubicBezTo>
                      <a:pt x="8" y="83"/>
                      <a:pt x="32" y="0"/>
                      <a:pt x="48" y="8"/>
                    </a:cubicBezTo>
                    <a:cubicBezTo>
                      <a:pt x="64" y="16"/>
                      <a:pt x="85" y="113"/>
                      <a:pt x="99" y="149"/>
                    </a:cubicBezTo>
                    <a:cubicBezTo>
                      <a:pt x="113" y="185"/>
                      <a:pt x="120" y="229"/>
                      <a:pt x="135" y="224"/>
                    </a:cubicBezTo>
                    <a:cubicBezTo>
                      <a:pt x="150" y="219"/>
                      <a:pt x="182" y="131"/>
                      <a:pt x="192" y="119"/>
                    </a:cubicBezTo>
                    <a:cubicBezTo>
                      <a:pt x="202" y="107"/>
                      <a:pt x="195" y="143"/>
                      <a:pt x="195" y="149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33" name="Freeform 35"/>
              <p:cNvSpPr>
                <a:spLocks/>
              </p:cNvSpPr>
              <p:nvPr/>
            </p:nvSpPr>
            <p:spPr bwMode="auto">
              <a:xfrm>
                <a:off x="1482" y="3213"/>
                <a:ext cx="198" cy="303"/>
              </a:xfrm>
              <a:custGeom>
                <a:avLst/>
                <a:gdLst>
                  <a:gd name="T0" fmla="*/ 0 w 198"/>
                  <a:gd name="T1" fmla="*/ 129 h 303"/>
                  <a:gd name="T2" fmla="*/ 48 w 198"/>
                  <a:gd name="T3" fmla="*/ 3 h 303"/>
                  <a:gd name="T4" fmla="*/ 102 w 198"/>
                  <a:gd name="T5" fmla="*/ 147 h 303"/>
                  <a:gd name="T6" fmla="*/ 150 w 198"/>
                  <a:gd name="T7" fmla="*/ 303 h 303"/>
                  <a:gd name="T8" fmla="*/ 198 w 198"/>
                  <a:gd name="T9" fmla="*/ 147 h 30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8"/>
                  <a:gd name="T16" fmla="*/ 0 h 303"/>
                  <a:gd name="T17" fmla="*/ 198 w 198"/>
                  <a:gd name="T18" fmla="*/ 303 h 30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8" h="303">
                    <a:moveTo>
                      <a:pt x="0" y="129"/>
                    </a:moveTo>
                    <a:cubicBezTo>
                      <a:pt x="8" y="108"/>
                      <a:pt x="31" y="0"/>
                      <a:pt x="48" y="3"/>
                    </a:cubicBezTo>
                    <a:cubicBezTo>
                      <a:pt x="65" y="6"/>
                      <a:pt x="85" y="97"/>
                      <a:pt x="102" y="147"/>
                    </a:cubicBezTo>
                    <a:cubicBezTo>
                      <a:pt x="119" y="197"/>
                      <a:pt x="134" y="303"/>
                      <a:pt x="150" y="303"/>
                    </a:cubicBezTo>
                    <a:cubicBezTo>
                      <a:pt x="166" y="303"/>
                      <a:pt x="188" y="179"/>
                      <a:pt x="198" y="147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34" name="Freeform 36"/>
              <p:cNvSpPr>
                <a:spLocks/>
              </p:cNvSpPr>
              <p:nvPr/>
            </p:nvSpPr>
            <p:spPr bwMode="auto">
              <a:xfrm>
                <a:off x="1680" y="3090"/>
                <a:ext cx="192" cy="546"/>
              </a:xfrm>
              <a:custGeom>
                <a:avLst/>
                <a:gdLst>
                  <a:gd name="T0" fmla="*/ 0 w 192"/>
                  <a:gd name="T1" fmla="*/ 270 h 546"/>
                  <a:gd name="T2" fmla="*/ 51 w 192"/>
                  <a:gd name="T3" fmla="*/ 0 h 546"/>
                  <a:gd name="T4" fmla="*/ 96 w 192"/>
                  <a:gd name="T5" fmla="*/ 270 h 546"/>
                  <a:gd name="T6" fmla="*/ 147 w 192"/>
                  <a:gd name="T7" fmla="*/ 546 h 546"/>
                  <a:gd name="T8" fmla="*/ 192 w 192"/>
                  <a:gd name="T9" fmla="*/ 270 h 5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546"/>
                  <a:gd name="T17" fmla="*/ 192 w 192"/>
                  <a:gd name="T18" fmla="*/ 546 h 54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546">
                    <a:moveTo>
                      <a:pt x="0" y="270"/>
                    </a:moveTo>
                    <a:cubicBezTo>
                      <a:pt x="8" y="225"/>
                      <a:pt x="35" y="0"/>
                      <a:pt x="51" y="0"/>
                    </a:cubicBezTo>
                    <a:cubicBezTo>
                      <a:pt x="67" y="0"/>
                      <a:pt x="80" y="179"/>
                      <a:pt x="96" y="270"/>
                    </a:cubicBezTo>
                    <a:cubicBezTo>
                      <a:pt x="112" y="361"/>
                      <a:pt x="131" y="546"/>
                      <a:pt x="147" y="546"/>
                    </a:cubicBezTo>
                    <a:cubicBezTo>
                      <a:pt x="163" y="546"/>
                      <a:pt x="183" y="327"/>
                      <a:pt x="192" y="270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35" name="Freeform 37"/>
              <p:cNvSpPr>
                <a:spLocks/>
              </p:cNvSpPr>
              <p:nvPr/>
            </p:nvSpPr>
            <p:spPr bwMode="auto">
              <a:xfrm>
                <a:off x="1872" y="2988"/>
                <a:ext cx="192" cy="807"/>
              </a:xfrm>
              <a:custGeom>
                <a:avLst/>
                <a:gdLst>
                  <a:gd name="T0" fmla="*/ 0 w 192"/>
                  <a:gd name="T1" fmla="*/ 372 h 807"/>
                  <a:gd name="T2" fmla="*/ 42 w 192"/>
                  <a:gd name="T3" fmla="*/ 0 h 807"/>
                  <a:gd name="T4" fmla="*/ 96 w 192"/>
                  <a:gd name="T5" fmla="*/ 372 h 807"/>
                  <a:gd name="T6" fmla="*/ 147 w 192"/>
                  <a:gd name="T7" fmla="*/ 750 h 807"/>
                  <a:gd name="T8" fmla="*/ 156 w 192"/>
                  <a:gd name="T9" fmla="*/ 714 h 807"/>
                  <a:gd name="T10" fmla="*/ 192 w 192"/>
                  <a:gd name="T11" fmla="*/ 372 h 80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2"/>
                  <a:gd name="T19" fmla="*/ 0 h 807"/>
                  <a:gd name="T20" fmla="*/ 192 w 192"/>
                  <a:gd name="T21" fmla="*/ 807 h 80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2" h="807">
                    <a:moveTo>
                      <a:pt x="0" y="372"/>
                    </a:moveTo>
                    <a:cubicBezTo>
                      <a:pt x="7" y="310"/>
                      <a:pt x="26" y="0"/>
                      <a:pt x="42" y="0"/>
                    </a:cubicBezTo>
                    <a:cubicBezTo>
                      <a:pt x="58" y="0"/>
                      <a:pt x="79" y="247"/>
                      <a:pt x="96" y="372"/>
                    </a:cubicBezTo>
                    <a:cubicBezTo>
                      <a:pt x="113" y="497"/>
                      <a:pt x="137" y="693"/>
                      <a:pt x="147" y="750"/>
                    </a:cubicBezTo>
                    <a:cubicBezTo>
                      <a:pt x="157" y="807"/>
                      <a:pt x="148" y="777"/>
                      <a:pt x="156" y="714"/>
                    </a:cubicBezTo>
                    <a:cubicBezTo>
                      <a:pt x="164" y="651"/>
                      <a:pt x="184" y="443"/>
                      <a:pt x="192" y="372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36" name="Freeform 38"/>
              <p:cNvSpPr>
                <a:spLocks/>
              </p:cNvSpPr>
              <p:nvPr/>
            </p:nvSpPr>
            <p:spPr bwMode="auto">
              <a:xfrm>
                <a:off x="2064" y="2916"/>
                <a:ext cx="192" cy="801"/>
              </a:xfrm>
              <a:custGeom>
                <a:avLst/>
                <a:gdLst>
                  <a:gd name="T0" fmla="*/ 0 w 192"/>
                  <a:gd name="T1" fmla="*/ 444 h 801"/>
                  <a:gd name="T2" fmla="*/ 45 w 192"/>
                  <a:gd name="T3" fmla="*/ 0 h 801"/>
                  <a:gd name="T4" fmla="*/ 96 w 192"/>
                  <a:gd name="T5" fmla="*/ 444 h 801"/>
                  <a:gd name="T6" fmla="*/ 147 w 192"/>
                  <a:gd name="T7" fmla="*/ 801 h 801"/>
                  <a:gd name="T8" fmla="*/ 192 w 192"/>
                  <a:gd name="T9" fmla="*/ 444 h 80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801"/>
                  <a:gd name="T17" fmla="*/ 192 w 192"/>
                  <a:gd name="T18" fmla="*/ 801 h 80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801">
                    <a:moveTo>
                      <a:pt x="0" y="444"/>
                    </a:moveTo>
                    <a:cubicBezTo>
                      <a:pt x="8" y="370"/>
                      <a:pt x="29" y="0"/>
                      <a:pt x="45" y="0"/>
                    </a:cubicBezTo>
                    <a:cubicBezTo>
                      <a:pt x="61" y="0"/>
                      <a:pt x="79" y="311"/>
                      <a:pt x="96" y="444"/>
                    </a:cubicBezTo>
                    <a:cubicBezTo>
                      <a:pt x="113" y="577"/>
                      <a:pt x="131" y="801"/>
                      <a:pt x="147" y="801"/>
                    </a:cubicBezTo>
                    <a:cubicBezTo>
                      <a:pt x="163" y="801"/>
                      <a:pt x="183" y="518"/>
                      <a:pt x="192" y="444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37" name="Freeform 39"/>
              <p:cNvSpPr>
                <a:spLocks/>
              </p:cNvSpPr>
              <p:nvPr/>
            </p:nvSpPr>
            <p:spPr bwMode="auto">
              <a:xfrm>
                <a:off x="2256" y="3024"/>
                <a:ext cx="192" cy="549"/>
              </a:xfrm>
              <a:custGeom>
                <a:avLst/>
                <a:gdLst>
                  <a:gd name="T0" fmla="*/ 0 w 192"/>
                  <a:gd name="T1" fmla="*/ 336 h 549"/>
                  <a:gd name="T2" fmla="*/ 48 w 192"/>
                  <a:gd name="T3" fmla="*/ 0 h 549"/>
                  <a:gd name="T4" fmla="*/ 96 w 192"/>
                  <a:gd name="T5" fmla="*/ 336 h 549"/>
                  <a:gd name="T6" fmla="*/ 147 w 192"/>
                  <a:gd name="T7" fmla="*/ 549 h 549"/>
                  <a:gd name="T8" fmla="*/ 192 w 192"/>
                  <a:gd name="T9" fmla="*/ 336 h 54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549"/>
                  <a:gd name="T17" fmla="*/ 192 w 192"/>
                  <a:gd name="T18" fmla="*/ 549 h 54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549">
                    <a:moveTo>
                      <a:pt x="0" y="336"/>
                    </a:moveTo>
                    <a:cubicBezTo>
                      <a:pt x="8" y="280"/>
                      <a:pt x="32" y="0"/>
                      <a:pt x="48" y="0"/>
                    </a:cubicBezTo>
                    <a:cubicBezTo>
                      <a:pt x="64" y="0"/>
                      <a:pt x="80" y="245"/>
                      <a:pt x="96" y="336"/>
                    </a:cubicBezTo>
                    <a:cubicBezTo>
                      <a:pt x="112" y="427"/>
                      <a:pt x="131" y="549"/>
                      <a:pt x="147" y="549"/>
                    </a:cubicBezTo>
                    <a:cubicBezTo>
                      <a:pt x="163" y="549"/>
                      <a:pt x="183" y="380"/>
                      <a:pt x="192" y="33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38" name="Freeform 40"/>
              <p:cNvSpPr>
                <a:spLocks/>
              </p:cNvSpPr>
              <p:nvPr/>
            </p:nvSpPr>
            <p:spPr bwMode="auto">
              <a:xfrm>
                <a:off x="2448" y="3171"/>
                <a:ext cx="186" cy="283"/>
              </a:xfrm>
              <a:custGeom>
                <a:avLst/>
                <a:gdLst>
                  <a:gd name="T0" fmla="*/ 0 w 186"/>
                  <a:gd name="T1" fmla="*/ 189 h 283"/>
                  <a:gd name="T2" fmla="*/ 45 w 186"/>
                  <a:gd name="T3" fmla="*/ 0 h 283"/>
                  <a:gd name="T4" fmla="*/ 96 w 186"/>
                  <a:gd name="T5" fmla="*/ 189 h 283"/>
                  <a:gd name="T6" fmla="*/ 144 w 186"/>
                  <a:gd name="T7" fmla="*/ 279 h 283"/>
                  <a:gd name="T8" fmla="*/ 186 w 186"/>
                  <a:gd name="T9" fmla="*/ 168 h 28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6"/>
                  <a:gd name="T16" fmla="*/ 0 h 283"/>
                  <a:gd name="T17" fmla="*/ 186 w 186"/>
                  <a:gd name="T18" fmla="*/ 283 h 28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6" h="283">
                    <a:moveTo>
                      <a:pt x="0" y="189"/>
                    </a:moveTo>
                    <a:cubicBezTo>
                      <a:pt x="7" y="158"/>
                      <a:pt x="29" y="0"/>
                      <a:pt x="45" y="0"/>
                    </a:cubicBezTo>
                    <a:cubicBezTo>
                      <a:pt x="61" y="0"/>
                      <a:pt x="80" y="143"/>
                      <a:pt x="96" y="189"/>
                    </a:cubicBezTo>
                    <a:cubicBezTo>
                      <a:pt x="112" y="235"/>
                      <a:pt x="129" y="283"/>
                      <a:pt x="144" y="279"/>
                    </a:cubicBezTo>
                    <a:cubicBezTo>
                      <a:pt x="159" y="275"/>
                      <a:pt x="177" y="191"/>
                      <a:pt x="186" y="168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39" name="Freeform 41"/>
              <p:cNvSpPr>
                <a:spLocks/>
              </p:cNvSpPr>
              <p:nvPr/>
            </p:nvSpPr>
            <p:spPr bwMode="auto">
              <a:xfrm>
                <a:off x="2637" y="3241"/>
                <a:ext cx="192" cy="258"/>
              </a:xfrm>
              <a:custGeom>
                <a:avLst/>
                <a:gdLst>
                  <a:gd name="T0" fmla="*/ 0 w 192"/>
                  <a:gd name="T1" fmla="*/ 101 h 258"/>
                  <a:gd name="T2" fmla="*/ 33 w 192"/>
                  <a:gd name="T3" fmla="*/ 2 h 258"/>
                  <a:gd name="T4" fmla="*/ 90 w 192"/>
                  <a:gd name="T5" fmla="*/ 116 h 258"/>
                  <a:gd name="T6" fmla="*/ 141 w 192"/>
                  <a:gd name="T7" fmla="*/ 254 h 258"/>
                  <a:gd name="T8" fmla="*/ 192 w 192"/>
                  <a:gd name="T9" fmla="*/ 92 h 2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258"/>
                  <a:gd name="T17" fmla="*/ 192 w 192"/>
                  <a:gd name="T18" fmla="*/ 258 h 25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258">
                    <a:moveTo>
                      <a:pt x="0" y="101"/>
                    </a:moveTo>
                    <a:cubicBezTo>
                      <a:pt x="5" y="85"/>
                      <a:pt x="18" y="0"/>
                      <a:pt x="33" y="2"/>
                    </a:cubicBezTo>
                    <a:cubicBezTo>
                      <a:pt x="48" y="4"/>
                      <a:pt x="72" y="74"/>
                      <a:pt x="90" y="116"/>
                    </a:cubicBezTo>
                    <a:cubicBezTo>
                      <a:pt x="108" y="158"/>
                      <a:pt x="124" y="258"/>
                      <a:pt x="141" y="254"/>
                    </a:cubicBezTo>
                    <a:cubicBezTo>
                      <a:pt x="158" y="250"/>
                      <a:pt x="181" y="126"/>
                      <a:pt x="192" y="92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40" name="Freeform 42"/>
              <p:cNvSpPr>
                <a:spLocks/>
              </p:cNvSpPr>
              <p:nvPr/>
            </p:nvSpPr>
            <p:spPr bwMode="auto">
              <a:xfrm>
                <a:off x="2823" y="3023"/>
                <a:ext cx="201" cy="694"/>
              </a:xfrm>
              <a:custGeom>
                <a:avLst/>
                <a:gdLst>
                  <a:gd name="T0" fmla="*/ 0 w 201"/>
                  <a:gd name="T1" fmla="*/ 328 h 694"/>
                  <a:gd name="T2" fmla="*/ 54 w 201"/>
                  <a:gd name="T3" fmla="*/ 1 h 694"/>
                  <a:gd name="T4" fmla="*/ 105 w 201"/>
                  <a:gd name="T5" fmla="*/ 337 h 694"/>
                  <a:gd name="T6" fmla="*/ 147 w 201"/>
                  <a:gd name="T7" fmla="*/ 694 h 694"/>
                  <a:gd name="T8" fmla="*/ 201 w 201"/>
                  <a:gd name="T9" fmla="*/ 337 h 69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1"/>
                  <a:gd name="T16" fmla="*/ 0 h 694"/>
                  <a:gd name="T17" fmla="*/ 201 w 201"/>
                  <a:gd name="T18" fmla="*/ 694 h 69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1" h="694">
                    <a:moveTo>
                      <a:pt x="0" y="328"/>
                    </a:moveTo>
                    <a:cubicBezTo>
                      <a:pt x="9" y="274"/>
                      <a:pt x="37" y="0"/>
                      <a:pt x="54" y="1"/>
                    </a:cubicBezTo>
                    <a:cubicBezTo>
                      <a:pt x="71" y="2"/>
                      <a:pt x="90" y="222"/>
                      <a:pt x="105" y="337"/>
                    </a:cubicBezTo>
                    <a:cubicBezTo>
                      <a:pt x="120" y="452"/>
                      <a:pt x="131" y="694"/>
                      <a:pt x="147" y="694"/>
                    </a:cubicBezTo>
                    <a:cubicBezTo>
                      <a:pt x="163" y="694"/>
                      <a:pt x="190" y="411"/>
                      <a:pt x="201" y="337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41" name="Freeform 43"/>
              <p:cNvSpPr>
                <a:spLocks/>
              </p:cNvSpPr>
              <p:nvPr/>
            </p:nvSpPr>
            <p:spPr bwMode="auto">
              <a:xfrm>
                <a:off x="3024" y="2949"/>
                <a:ext cx="192" cy="645"/>
              </a:xfrm>
              <a:custGeom>
                <a:avLst/>
                <a:gdLst>
                  <a:gd name="T0" fmla="*/ 0 w 192"/>
                  <a:gd name="T1" fmla="*/ 411 h 645"/>
                  <a:gd name="T2" fmla="*/ 45 w 192"/>
                  <a:gd name="T3" fmla="*/ 0 h 645"/>
                  <a:gd name="T4" fmla="*/ 96 w 192"/>
                  <a:gd name="T5" fmla="*/ 411 h 645"/>
                  <a:gd name="T6" fmla="*/ 147 w 192"/>
                  <a:gd name="T7" fmla="*/ 645 h 645"/>
                  <a:gd name="T8" fmla="*/ 192 w 192"/>
                  <a:gd name="T9" fmla="*/ 411 h 6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645"/>
                  <a:gd name="T17" fmla="*/ 192 w 192"/>
                  <a:gd name="T18" fmla="*/ 645 h 64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645">
                    <a:moveTo>
                      <a:pt x="0" y="411"/>
                    </a:moveTo>
                    <a:cubicBezTo>
                      <a:pt x="7" y="343"/>
                      <a:pt x="29" y="0"/>
                      <a:pt x="45" y="0"/>
                    </a:cubicBezTo>
                    <a:cubicBezTo>
                      <a:pt x="61" y="0"/>
                      <a:pt x="79" y="304"/>
                      <a:pt x="96" y="411"/>
                    </a:cubicBezTo>
                    <a:cubicBezTo>
                      <a:pt x="113" y="518"/>
                      <a:pt x="131" y="645"/>
                      <a:pt x="147" y="645"/>
                    </a:cubicBezTo>
                    <a:cubicBezTo>
                      <a:pt x="163" y="645"/>
                      <a:pt x="183" y="460"/>
                      <a:pt x="192" y="411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42" name="Freeform 44"/>
              <p:cNvSpPr>
                <a:spLocks/>
              </p:cNvSpPr>
              <p:nvPr/>
            </p:nvSpPr>
            <p:spPr bwMode="auto">
              <a:xfrm>
                <a:off x="3216" y="3135"/>
                <a:ext cx="192" cy="489"/>
              </a:xfrm>
              <a:custGeom>
                <a:avLst/>
                <a:gdLst>
                  <a:gd name="T0" fmla="*/ 0 w 192"/>
                  <a:gd name="T1" fmla="*/ 225 h 489"/>
                  <a:gd name="T2" fmla="*/ 39 w 192"/>
                  <a:gd name="T3" fmla="*/ 0 h 489"/>
                  <a:gd name="T4" fmla="*/ 96 w 192"/>
                  <a:gd name="T5" fmla="*/ 225 h 489"/>
                  <a:gd name="T6" fmla="*/ 141 w 192"/>
                  <a:gd name="T7" fmla="*/ 489 h 489"/>
                  <a:gd name="T8" fmla="*/ 192 w 192"/>
                  <a:gd name="T9" fmla="*/ 225 h 4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489"/>
                  <a:gd name="T17" fmla="*/ 192 w 192"/>
                  <a:gd name="T18" fmla="*/ 489 h 4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489">
                    <a:moveTo>
                      <a:pt x="0" y="225"/>
                    </a:moveTo>
                    <a:cubicBezTo>
                      <a:pt x="6" y="188"/>
                      <a:pt x="23" y="0"/>
                      <a:pt x="39" y="0"/>
                    </a:cubicBezTo>
                    <a:cubicBezTo>
                      <a:pt x="55" y="0"/>
                      <a:pt x="79" y="144"/>
                      <a:pt x="96" y="225"/>
                    </a:cubicBezTo>
                    <a:cubicBezTo>
                      <a:pt x="113" y="306"/>
                      <a:pt x="125" y="489"/>
                      <a:pt x="141" y="489"/>
                    </a:cubicBezTo>
                    <a:cubicBezTo>
                      <a:pt x="157" y="489"/>
                      <a:pt x="182" y="280"/>
                      <a:pt x="192" y="225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43" name="Freeform 45"/>
              <p:cNvSpPr>
                <a:spLocks/>
              </p:cNvSpPr>
              <p:nvPr/>
            </p:nvSpPr>
            <p:spPr bwMode="auto">
              <a:xfrm>
                <a:off x="3408" y="2988"/>
                <a:ext cx="192" cy="654"/>
              </a:xfrm>
              <a:custGeom>
                <a:avLst/>
                <a:gdLst>
                  <a:gd name="T0" fmla="*/ 0 w 192"/>
                  <a:gd name="T1" fmla="*/ 372 h 654"/>
                  <a:gd name="T2" fmla="*/ 51 w 192"/>
                  <a:gd name="T3" fmla="*/ 0 h 654"/>
                  <a:gd name="T4" fmla="*/ 96 w 192"/>
                  <a:gd name="T5" fmla="*/ 372 h 654"/>
                  <a:gd name="T6" fmla="*/ 147 w 192"/>
                  <a:gd name="T7" fmla="*/ 654 h 654"/>
                  <a:gd name="T8" fmla="*/ 192 w 192"/>
                  <a:gd name="T9" fmla="*/ 372 h 65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654"/>
                  <a:gd name="T17" fmla="*/ 192 w 192"/>
                  <a:gd name="T18" fmla="*/ 654 h 65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654">
                    <a:moveTo>
                      <a:pt x="0" y="372"/>
                    </a:moveTo>
                    <a:cubicBezTo>
                      <a:pt x="8" y="310"/>
                      <a:pt x="35" y="0"/>
                      <a:pt x="51" y="0"/>
                    </a:cubicBezTo>
                    <a:cubicBezTo>
                      <a:pt x="67" y="0"/>
                      <a:pt x="80" y="263"/>
                      <a:pt x="96" y="372"/>
                    </a:cubicBezTo>
                    <a:cubicBezTo>
                      <a:pt x="112" y="481"/>
                      <a:pt x="131" y="654"/>
                      <a:pt x="147" y="654"/>
                    </a:cubicBezTo>
                    <a:cubicBezTo>
                      <a:pt x="163" y="654"/>
                      <a:pt x="183" y="431"/>
                      <a:pt x="192" y="372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44" name="Freeform 46"/>
              <p:cNvSpPr>
                <a:spLocks/>
              </p:cNvSpPr>
              <p:nvPr/>
            </p:nvSpPr>
            <p:spPr bwMode="auto">
              <a:xfrm>
                <a:off x="3600" y="3105"/>
                <a:ext cx="192" cy="384"/>
              </a:xfrm>
              <a:custGeom>
                <a:avLst/>
                <a:gdLst>
                  <a:gd name="T0" fmla="*/ 0 w 192"/>
                  <a:gd name="T1" fmla="*/ 255 h 384"/>
                  <a:gd name="T2" fmla="*/ 45 w 192"/>
                  <a:gd name="T3" fmla="*/ 0 h 384"/>
                  <a:gd name="T4" fmla="*/ 96 w 192"/>
                  <a:gd name="T5" fmla="*/ 255 h 384"/>
                  <a:gd name="T6" fmla="*/ 144 w 192"/>
                  <a:gd name="T7" fmla="*/ 384 h 384"/>
                  <a:gd name="T8" fmla="*/ 192 w 192"/>
                  <a:gd name="T9" fmla="*/ 255 h 3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384"/>
                  <a:gd name="T17" fmla="*/ 192 w 192"/>
                  <a:gd name="T18" fmla="*/ 384 h 3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384">
                    <a:moveTo>
                      <a:pt x="0" y="255"/>
                    </a:moveTo>
                    <a:cubicBezTo>
                      <a:pt x="7" y="213"/>
                      <a:pt x="29" y="0"/>
                      <a:pt x="45" y="0"/>
                    </a:cubicBezTo>
                    <a:cubicBezTo>
                      <a:pt x="61" y="0"/>
                      <a:pt x="80" y="191"/>
                      <a:pt x="96" y="255"/>
                    </a:cubicBezTo>
                    <a:cubicBezTo>
                      <a:pt x="112" y="319"/>
                      <a:pt x="128" y="384"/>
                      <a:pt x="144" y="384"/>
                    </a:cubicBezTo>
                    <a:cubicBezTo>
                      <a:pt x="160" y="384"/>
                      <a:pt x="182" y="282"/>
                      <a:pt x="192" y="255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45" name="Freeform 47"/>
              <p:cNvSpPr>
                <a:spLocks/>
              </p:cNvSpPr>
              <p:nvPr/>
            </p:nvSpPr>
            <p:spPr bwMode="auto">
              <a:xfrm>
                <a:off x="3792" y="3219"/>
                <a:ext cx="192" cy="267"/>
              </a:xfrm>
              <a:custGeom>
                <a:avLst/>
                <a:gdLst>
                  <a:gd name="T0" fmla="*/ 0 w 192"/>
                  <a:gd name="T1" fmla="*/ 141 h 267"/>
                  <a:gd name="T2" fmla="*/ 45 w 192"/>
                  <a:gd name="T3" fmla="*/ 0 h 267"/>
                  <a:gd name="T4" fmla="*/ 96 w 192"/>
                  <a:gd name="T5" fmla="*/ 141 h 267"/>
                  <a:gd name="T6" fmla="*/ 150 w 192"/>
                  <a:gd name="T7" fmla="*/ 267 h 267"/>
                  <a:gd name="T8" fmla="*/ 192 w 192"/>
                  <a:gd name="T9" fmla="*/ 141 h 2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267"/>
                  <a:gd name="T17" fmla="*/ 192 w 192"/>
                  <a:gd name="T18" fmla="*/ 267 h 2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267">
                    <a:moveTo>
                      <a:pt x="0" y="141"/>
                    </a:moveTo>
                    <a:cubicBezTo>
                      <a:pt x="7" y="118"/>
                      <a:pt x="29" y="0"/>
                      <a:pt x="45" y="0"/>
                    </a:cubicBezTo>
                    <a:cubicBezTo>
                      <a:pt x="61" y="0"/>
                      <a:pt x="79" y="97"/>
                      <a:pt x="96" y="141"/>
                    </a:cubicBezTo>
                    <a:cubicBezTo>
                      <a:pt x="113" y="185"/>
                      <a:pt x="134" y="267"/>
                      <a:pt x="150" y="267"/>
                    </a:cubicBezTo>
                    <a:cubicBezTo>
                      <a:pt x="166" y="267"/>
                      <a:pt x="183" y="167"/>
                      <a:pt x="192" y="141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46" name="Freeform 48"/>
              <p:cNvSpPr>
                <a:spLocks/>
              </p:cNvSpPr>
              <p:nvPr/>
            </p:nvSpPr>
            <p:spPr bwMode="auto">
              <a:xfrm>
                <a:off x="3984" y="3126"/>
                <a:ext cx="192" cy="507"/>
              </a:xfrm>
              <a:custGeom>
                <a:avLst/>
                <a:gdLst>
                  <a:gd name="T0" fmla="*/ 0 w 192"/>
                  <a:gd name="T1" fmla="*/ 234 h 507"/>
                  <a:gd name="T2" fmla="*/ 45 w 192"/>
                  <a:gd name="T3" fmla="*/ 0 h 507"/>
                  <a:gd name="T4" fmla="*/ 96 w 192"/>
                  <a:gd name="T5" fmla="*/ 234 h 507"/>
                  <a:gd name="T6" fmla="*/ 147 w 192"/>
                  <a:gd name="T7" fmla="*/ 507 h 507"/>
                  <a:gd name="T8" fmla="*/ 192 w 192"/>
                  <a:gd name="T9" fmla="*/ 234 h 50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507"/>
                  <a:gd name="T17" fmla="*/ 192 w 192"/>
                  <a:gd name="T18" fmla="*/ 507 h 50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507">
                    <a:moveTo>
                      <a:pt x="0" y="234"/>
                    </a:moveTo>
                    <a:cubicBezTo>
                      <a:pt x="8" y="195"/>
                      <a:pt x="29" y="0"/>
                      <a:pt x="45" y="0"/>
                    </a:cubicBezTo>
                    <a:cubicBezTo>
                      <a:pt x="61" y="0"/>
                      <a:pt x="79" y="150"/>
                      <a:pt x="96" y="234"/>
                    </a:cubicBezTo>
                    <a:cubicBezTo>
                      <a:pt x="113" y="318"/>
                      <a:pt x="131" y="507"/>
                      <a:pt x="147" y="507"/>
                    </a:cubicBezTo>
                    <a:cubicBezTo>
                      <a:pt x="163" y="507"/>
                      <a:pt x="183" y="291"/>
                      <a:pt x="192" y="234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47" name="Freeform 49"/>
              <p:cNvSpPr>
                <a:spLocks/>
              </p:cNvSpPr>
              <p:nvPr/>
            </p:nvSpPr>
            <p:spPr bwMode="auto">
              <a:xfrm>
                <a:off x="4176" y="3030"/>
                <a:ext cx="192" cy="534"/>
              </a:xfrm>
              <a:custGeom>
                <a:avLst/>
                <a:gdLst>
                  <a:gd name="T0" fmla="*/ 0 w 192"/>
                  <a:gd name="T1" fmla="*/ 330 h 534"/>
                  <a:gd name="T2" fmla="*/ 48 w 192"/>
                  <a:gd name="T3" fmla="*/ 0 h 534"/>
                  <a:gd name="T4" fmla="*/ 96 w 192"/>
                  <a:gd name="T5" fmla="*/ 330 h 534"/>
                  <a:gd name="T6" fmla="*/ 147 w 192"/>
                  <a:gd name="T7" fmla="*/ 534 h 534"/>
                  <a:gd name="T8" fmla="*/ 192 w 192"/>
                  <a:gd name="T9" fmla="*/ 330 h 5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534"/>
                  <a:gd name="T17" fmla="*/ 192 w 192"/>
                  <a:gd name="T18" fmla="*/ 534 h 5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534">
                    <a:moveTo>
                      <a:pt x="0" y="330"/>
                    </a:moveTo>
                    <a:cubicBezTo>
                      <a:pt x="8" y="275"/>
                      <a:pt x="32" y="0"/>
                      <a:pt x="48" y="0"/>
                    </a:cubicBezTo>
                    <a:cubicBezTo>
                      <a:pt x="64" y="0"/>
                      <a:pt x="80" y="241"/>
                      <a:pt x="96" y="330"/>
                    </a:cubicBezTo>
                    <a:cubicBezTo>
                      <a:pt x="112" y="419"/>
                      <a:pt x="131" y="534"/>
                      <a:pt x="147" y="534"/>
                    </a:cubicBezTo>
                    <a:cubicBezTo>
                      <a:pt x="163" y="534"/>
                      <a:pt x="183" y="372"/>
                      <a:pt x="192" y="330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48" name="Freeform 50"/>
              <p:cNvSpPr>
                <a:spLocks/>
              </p:cNvSpPr>
              <p:nvPr/>
            </p:nvSpPr>
            <p:spPr bwMode="auto">
              <a:xfrm>
                <a:off x="4368" y="3132"/>
                <a:ext cx="192" cy="423"/>
              </a:xfrm>
              <a:custGeom>
                <a:avLst/>
                <a:gdLst>
                  <a:gd name="T0" fmla="*/ 0 w 192"/>
                  <a:gd name="T1" fmla="*/ 228 h 423"/>
                  <a:gd name="T2" fmla="*/ 48 w 192"/>
                  <a:gd name="T3" fmla="*/ 0 h 423"/>
                  <a:gd name="T4" fmla="*/ 96 w 192"/>
                  <a:gd name="T5" fmla="*/ 228 h 423"/>
                  <a:gd name="T6" fmla="*/ 150 w 192"/>
                  <a:gd name="T7" fmla="*/ 423 h 423"/>
                  <a:gd name="T8" fmla="*/ 192 w 192"/>
                  <a:gd name="T9" fmla="*/ 228 h 4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423"/>
                  <a:gd name="T17" fmla="*/ 192 w 192"/>
                  <a:gd name="T18" fmla="*/ 423 h 42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423">
                    <a:moveTo>
                      <a:pt x="0" y="228"/>
                    </a:moveTo>
                    <a:cubicBezTo>
                      <a:pt x="8" y="190"/>
                      <a:pt x="32" y="0"/>
                      <a:pt x="48" y="0"/>
                    </a:cubicBezTo>
                    <a:cubicBezTo>
                      <a:pt x="64" y="0"/>
                      <a:pt x="79" y="158"/>
                      <a:pt x="96" y="228"/>
                    </a:cubicBezTo>
                    <a:cubicBezTo>
                      <a:pt x="113" y="298"/>
                      <a:pt x="134" y="423"/>
                      <a:pt x="150" y="423"/>
                    </a:cubicBezTo>
                    <a:cubicBezTo>
                      <a:pt x="166" y="423"/>
                      <a:pt x="183" y="269"/>
                      <a:pt x="192" y="228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49" name="Freeform 51"/>
              <p:cNvSpPr>
                <a:spLocks/>
              </p:cNvSpPr>
              <p:nvPr/>
            </p:nvSpPr>
            <p:spPr bwMode="auto">
              <a:xfrm>
                <a:off x="4560" y="3102"/>
                <a:ext cx="192" cy="477"/>
              </a:xfrm>
              <a:custGeom>
                <a:avLst/>
                <a:gdLst>
                  <a:gd name="T0" fmla="*/ 0 w 192"/>
                  <a:gd name="T1" fmla="*/ 258 h 477"/>
                  <a:gd name="T2" fmla="*/ 45 w 192"/>
                  <a:gd name="T3" fmla="*/ 0 h 477"/>
                  <a:gd name="T4" fmla="*/ 96 w 192"/>
                  <a:gd name="T5" fmla="*/ 258 h 477"/>
                  <a:gd name="T6" fmla="*/ 147 w 192"/>
                  <a:gd name="T7" fmla="*/ 477 h 477"/>
                  <a:gd name="T8" fmla="*/ 192 w 192"/>
                  <a:gd name="T9" fmla="*/ 258 h 4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477"/>
                  <a:gd name="T17" fmla="*/ 192 w 192"/>
                  <a:gd name="T18" fmla="*/ 477 h 4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477">
                    <a:moveTo>
                      <a:pt x="0" y="258"/>
                    </a:moveTo>
                    <a:cubicBezTo>
                      <a:pt x="8" y="215"/>
                      <a:pt x="29" y="0"/>
                      <a:pt x="45" y="0"/>
                    </a:cubicBezTo>
                    <a:cubicBezTo>
                      <a:pt x="61" y="0"/>
                      <a:pt x="79" y="179"/>
                      <a:pt x="96" y="258"/>
                    </a:cubicBezTo>
                    <a:cubicBezTo>
                      <a:pt x="113" y="337"/>
                      <a:pt x="131" y="477"/>
                      <a:pt x="147" y="477"/>
                    </a:cubicBezTo>
                    <a:cubicBezTo>
                      <a:pt x="163" y="477"/>
                      <a:pt x="183" y="304"/>
                      <a:pt x="192" y="258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50" name="Freeform 52"/>
              <p:cNvSpPr>
                <a:spLocks/>
              </p:cNvSpPr>
              <p:nvPr/>
            </p:nvSpPr>
            <p:spPr bwMode="auto">
              <a:xfrm>
                <a:off x="912" y="2880"/>
                <a:ext cx="3840" cy="384"/>
              </a:xfrm>
              <a:custGeom>
                <a:avLst/>
                <a:gdLst>
                  <a:gd name="T0" fmla="*/ 0 w 3840"/>
                  <a:gd name="T1" fmla="*/ 0 h 934"/>
                  <a:gd name="T2" fmla="*/ 144 w 3840"/>
                  <a:gd name="T3" fmla="*/ 0 h 934"/>
                  <a:gd name="T4" fmla="*/ 480 w 3840"/>
                  <a:gd name="T5" fmla="*/ 0 h 934"/>
                  <a:gd name="T6" fmla="*/ 912 w 3840"/>
                  <a:gd name="T7" fmla="*/ 0 h 934"/>
                  <a:gd name="T8" fmla="*/ 1200 w 3840"/>
                  <a:gd name="T9" fmla="*/ 0 h 934"/>
                  <a:gd name="T10" fmla="*/ 1632 w 3840"/>
                  <a:gd name="T11" fmla="*/ 0 h 934"/>
                  <a:gd name="T12" fmla="*/ 1824 w 3840"/>
                  <a:gd name="T13" fmla="*/ 0 h 934"/>
                  <a:gd name="T14" fmla="*/ 1968 w 3840"/>
                  <a:gd name="T15" fmla="*/ 0 h 934"/>
                  <a:gd name="T16" fmla="*/ 2048 w 3840"/>
                  <a:gd name="T17" fmla="*/ 0 h 934"/>
                  <a:gd name="T18" fmla="*/ 2112 w 3840"/>
                  <a:gd name="T19" fmla="*/ 0 h 934"/>
                  <a:gd name="T20" fmla="*/ 2352 w 3840"/>
                  <a:gd name="T21" fmla="*/ 0 h 934"/>
                  <a:gd name="T22" fmla="*/ 2544 w 3840"/>
                  <a:gd name="T23" fmla="*/ 0 h 934"/>
                  <a:gd name="T24" fmla="*/ 2928 w 3840"/>
                  <a:gd name="T25" fmla="*/ 0 h 934"/>
                  <a:gd name="T26" fmla="*/ 3264 w 3840"/>
                  <a:gd name="T27" fmla="*/ 0 h 934"/>
                  <a:gd name="T28" fmla="*/ 3456 w 3840"/>
                  <a:gd name="T29" fmla="*/ 0 h 934"/>
                  <a:gd name="T30" fmla="*/ 3840 w 3840"/>
                  <a:gd name="T31" fmla="*/ 0 h 93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840"/>
                  <a:gd name="T49" fmla="*/ 0 h 934"/>
                  <a:gd name="T50" fmla="*/ 3840 w 3840"/>
                  <a:gd name="T51" fmla="*/ 934 h 934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840" h="934">
                    <a:moveTo>
                      <a:pt x="0" y="502"/>
                    </a:moveTo>
                    <a:cubicBezTo>
                      <a:pt x="32" y="278"/>
                      <a:pt x="64" y="54"/>
                      <a:pt x="144" y="118"/>
                    </a:cubicBezTo>
                    <a:cubicBezTo>
                      <a:pt x="224" y="182"/>
                      <a:pt x="352" y="838"/>
                      <a:pt x="480" y="886"/>
                    </a:cubicBezTo>
                    <a:cubicBezTo>
                      <a:pt x="608" y="934"/>
                      <a:pt x="792" y="542"/>
                      <a:pt x="912" y="406"/>
                    </a:cubicBezTo>
                    <a:cubicBezTo>
                      <a:pt x="1032" y="270"/>
                      <a:pt x="1080" y="6"/>
                      <a:pt x="1200" y="70"/>
                    </a:cubicBezTo>
                    <a:cubicBezTo>
                      <a:pt x="1320" y="134"/>
                      <a:pt x="1528" y="662"/>
                      <a:pt x="1632" y="790"/>
                    </a:cubicBezTo>
                    <a:cubicBezTo>
                      <a:pt x="1736" y="918"/>
                      <a:pt x="1768" y="910"/>
                      <a:pt x="1824" y="838"/>
                    </a:cubicBezTo>
                    <a:cubicBezTo>
                      <a:pt x="1880" y="766"/>
                      <a:pt x="1931" y="461"/>
                      <a:pt x="1968" y="358"/>
                    </a:cubicBezTo>
                    <a:cubicBezTo>
                      <a:pt x="2005" y="255"/>
                      <a:pt x="2024" y="270"/>
                      <a:pt x="2048" y="222"/>
                    </a:cubicBezTo>
                    <a:cubicBezTo>
                      <a:pt x="2072" y="174"/>
                      <a:pt x="2061" y="0"/>
                      <a:pt x="2112" y="70"/>
                    </a:cubicBezTo>
                    <a:cubicBezTo>
                      <a:pt x="2163" y="140"/>
                      <a:pt x="2280" y="614"/>
                      <a:pt x="2352" y="646"/>
                    </a:cubicBezTo>
                    <a:cubicBezTo>
                      <a:pt x="2424" y="678"/>
                      <a:pt x="2448" y="230"/>
                      <a:pt x="2544" y="262"/>
                    </a:cubicBezTo>
                    <a:cubicBezTo>
                      <a:pt x="2640" y="294"/>
                      <a:pt x="2808" y="822"/>
                      <a:pt x="2928" y="838"/>
                    </a:cubicBezTo>
                    <a:cubicBezTo>
                      <a:pt x="3048" y="854"/>
                      <a:pt x="3176" y="398"/>
                      <a:pt x="3264" y="358"/>
                    </a:cubicBezTo>
                    <a:cubicBezTo>
                      <a:pt x="3352" y="318"/>
                      <a:pt x="3360" y="574"/>
                      <a:pt x="3456" y="598"/>
                    </a:cubicBezTo>
                    <a:cubicBezTo>
                      <a:pt x="3552" y="622"/>
                      <a:pt x="3776" y="518"/>
                      <a:pt x="3840" y="502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51" name="Freeform 53"/>
              <p:cNvSpPr>
                <a:spLocks/>
              </p:cNvSpPr>
              <p:nvPr/>
            </p:nvSpPr>
            <p:spPr bwMode="auto">
              <a:xfrm flipV="1">
                <a:off x="912" y="3408"/>
                <a:ext cx="3840" cy="384"/>
              </a:xfrm>
              <a:custGeom>
                <a:avLst/>
                <a:gdLst>
                  <a:gd name="T0" fmla="*/ 0 w 3840"/>
                  <a:gd name="T1" fmla="*/ 0 h 934"/>
                  <a:gd name="T2" fmla="*/ 144 w 3840"/>
                  <a:gd name="T3" fmla="*/ 0 h 934"/>
                  <a:gd name="T4" fmla="*/ 480 w 3840"/>
                  <a:gd name="T5" fmla="*/ 0 h 934"/>
                  <a:gd name="T6" fmla="*/ 912 w 3840"/>
                  <a:gd name="T7" fmla="*/ 0 h 934"/>
                  <a:gd name="T8" fmla="*/ 1200 w 3840"/>
                  <a:gd name="T9" fmla="*/ 0 h 934"/>
                  <a:gd name="T10" fmla="*/ 1632 w 3840"/>
                  <a:gd name="T11" fmla="*/ 0 h 934"/>
                  <a:gd name="T12" fmla="*/ 1824 w 3840"/>
                  <a:gd name="T13" fmla="*/ 0 h 934"/>
                  <a:gd name="T14" fmla="*/ 1968 w 3840"/>
                  <a:gd name="T15" fmla="*/ 0 h 934"/>
                  <a:gd name="T16" fmla="*/ 2048 w 3840"/>
                  <a:gd name="T17" fmla="*/ 0 h 934"/>
                  <a:gd name="T18" fmla="*/ 2112 w 3840"/>
                  <a:gd name="T19" fmla="*/ 0 h 934"/>
                  <a:gd name="T20" fmla="*/ 2352 w 3840"/>
                  <a:gd name="T21" fmla="*/ 0 h 934"/>
                  <a:gd name="T22" fmla="*/ 2544 w 3840"/>
                  <a:gd name="T23" fmla="*/ 0 h 934"/>
                  <a:gd name="T24" fmla="*/ 2928 w 3840"/>
                  <a:gd name="T25" fmla="*/ 0 h 934"/>
                  <a:gd name="T26" fmla="*/ 3264 w 3840"/>
                  <a:gd name="T27" fmla="*/ 0 h 934"/>
                  <a:gd name="T28" fmla="*/ 3456 w 3840"/>
                  <a:gd name="T29" fmla="*/ 0 h 934"/>
                  <a:gd name="T30" fmla="*/ 3840 w 3840"/>
                  <a:gd name="T31" fmla="*/ 0 h 93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840"/>
                  <a:gd name="T49" fmla="*/ 0 h 934"/>
                  <a:gd name="T50" fmla="*/ 3840 w 3840"/>
                  <a:gd name="T51" fmla="*/ 934 h 934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840" h="934">
                    <a:moveTo>
                      <a:pt x="0" y="502"/>
                    </a:moveTo>
                    <a:cubicBezTo>
                      <a:pt x="32" y="278"/>
                      <a:pt x="64" y="54"/>
                      <a:pt x="144" y="118"/>
                    </a:cubicBezTo>
                    <a:cubicBezTo>
                      <a:pt x="224" y="182"/>
                      <a:pt x="352" y="838"/>
                      <a:pt x="480" y="886"/>
                    </a:cubicBezTo>
                    <a:cubicBezTo>
                      <a:pt x="608" y="934"/>
                      <a:pt x="792" y="542"/>
                      <a:pt x="912" y="406"/>
                    </a:cubicBezTo>
                    <a:cubicBezTo>
                      <a:pt x="1032" y="270"/>
                      <a:pt x="1080" y="6"/>
                      <a:pt x="1200" y="70"/>
                    </a:cubicBezTo>
                    <a:cubicBezTo>
                      <a:pt x="1320" y="134"/>
                      <a:pt x="1528" y="662"/>
                      <a:pt x="1632" y="790"/>
                    </a:cubicBezTo>
                    <a:cubicBezTo>
                      <a:pt x="1736" y="918"/>
                      <a:pt x="1768" y="910"/>
                      <a:pt x="1824" y="838"/>
                    </a:cubicBezTo>
                    <a:cubicBezTo>
                      <a:pt x="1880" y="766"/>
                      <a:pt x="1931" y="461"/>
                      <a:pt x="1968" y="358"/>
                    </a:cubicBezTo>
                    <a:cubicBezTo>
                      <a:pt x="2005" y="255"/>
                      <a:pt x="2024" y="270"/>
                      <a:pt x="2048" y="222"/>
                    </a:cubicBezTo>
                    <a:cubicBezTo>
                      <a:pt x="2072" y="174"/>
                      <a:pt x="2061" y="0"/>
                      <a:pt x="2112" y="70"/>
                    </a:cubicBezTo>
                    <a:cubicBezTo>
                      <a:pt x="2163" y="140"/>
                      <a:pt x="2280" y="614"/>
                      <a:pt x="2352" y="646"/>
                    </a:cubicBezTo>
                    <a:cubicBezTo>
                      <a:pt x="2424" y="678"/>
                      <a:pt x="2448" y="230"/>
                      <a:pt x="2544" y="262"/>
                    </a:cubicBezTo>
                    <a:cubicBezTo>
                      <a:pt x="2640" y="294"/>
                      <a:pt x="2808" y="822"/>
                      <a:pt x="2928" y="838"/>
                    </a:cubicBezTo>
                    <a:cubicBezTo>
                      <a:pt x="3048" y="854"/>
                      <a:pt x="3176" y="398"/>
                      <a:pt x="3264" y="358"/>
                    </a:cubicBezTo>
                    <a:cubicBezTo>
                      <a:pt x="3352" y="318"/>
                      <a:pt x="3360" y="574"/>
                      <a:pt x="3456" y="598"/>
                    </a:cubicBezTo>
                    <a:cubicBezTo>
                      <a:pt x="3552" y="622"/>
                      <a:pt x="3776" y="518"/>
                      <a:pt x="3840" y="502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  <p:sp>
          <p:nvSpPr>
            <p:cNvPr id="29" name="Text Box 54"/>
            <p:cNvSpPr txBox="1">
              <a:spLocks noChangeArrowheads="1"/>
            </p:cNvSpPr>
            <p:nvPr/>
          </p:nvSpPr>
          <p:spPr bwMode="auto">
            <a:xfrm>
              <a:off x="288" y="2293"/>
              <a:ext cx="938" cy="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en-GB" sz="1600"/>
                <a:t>Amplitude Modulated Carrier</a:t>
              </a:r>
              <a:endParaRPr lang="en-GB" sz="2000"/>
            </a:p>
          </p:txBody>
        </p:sp>
      </p:grpSp>
      <p:grpSp>
        <p:nvGrpSpPr>
          <p:cNvPr id="52" name="Group 55"/>
          <p:cNvGrpSpPr>
            <a:grpSpLocks/>
          </p:cNvGrpSpPr>
          <p:nvPr/>
        </p:nvGrpSpPr>
        <p:grpSpPr bwMode="auto">
          <a:xfrm>
            <a:off x="334963" y="4884737"/>
            <a:ext cx="8153400" cy="1395413"/>
            <a:chOff x="240" y="3108"/>
            <a:chExt cx="5136" cy="879"/>
          </a:xfrm>
        </p:grpSpPr>
        <p:sp>
          <p:nvSpPr>
            <p:cNvPr id="53" name="Freeform 56"/>
            <p:cNvSpPr>
              <a:spLocks/>
            </p:cNvSpPr>
            <p:nvPr/>
          </p:nvSpPr>
          <p:spPr bwMode="auto">
            <a:xfrm>
              <a:off x="1536" y="3168"/>
              <a:ext cx="192" cy="777"/>
            </a:xfrm>
            <a:custGeom>
              <a:avLst/>
              <a:gdLst>
                <a:gd name="T0" fmla="*/ 0 w 1536"/>
                <a:gd name="T1" fmla="*/ 1 h 1152"/>
                <a:gd name="T2" fmla="*/ 0 w 1536"/>
                <a:gd name="T3" fmla="*/ 0 h 1152"/>
                <a:gd name="T4" fmla="*/ 0 w 1536"/>
                <a:gd name="T5" fmla="*/ 1 h 1152"/>
                <a:gd name="T6" fmla="*/ 0 w 1536"/>
                <a:gd name="T7" fmla="*/ 3 h 1152"/>
                <a:gd name="T8" fmla="*/ 0 w 1536"/>
                <a:gd name="T9" fmla="*/ 1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54" name="Freeform 57"/>
            <p:cNvSpPr>
              <a:spLocks/>
            </p:cNvSpPr>
            <p:nvPr/>
          </p:nvSpPr>
          <p:spPr bwMode="auto">
            <a:xfrm>
              <a:off x="1728" y="3213"/>
              <a:ext cx="192" cy="528"/>
            </a:xfrm>
            <a:custGeom>
              <a:avLst/>
              <a:gdLst>
                <a:gd name="T0" fmla="*/ 0 w 192"/>
                <a:gd name="T1" fmla="*/ 339 h 528"/>
                <a:gd name="T2" fmla="*/ 48 w 192"/>
                <a:gd name="T3" fmla="*/ 11 h 528"/>
                <a:gd name="T4" fmla="*/ 96 w 192"/>
                <a:gd name="T5" fmla="*/ 270 h 528"/>
                <a:gd name="T6" fmla="*/ 144 w 192"/>
                <a:gd name="T7" fmla="*/ 528 h 528"/>
                <a:gd name="T8" fmla="*/ 192 w 192"/>
                <a:gd name="T9" fmla="*/ 270 h 5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28"/>
                <a:gd name="T17" fmla="*/ 192 w 192"/>
                <a:gd name="T18" fmla="*/ 528 h 5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28">
                  <a:moveTo>
                    <a:pt x="0" y="339"/>
                  </a:moveTo>
                  <a:cubicBezTo>
                    <a:pt x="8" y="285"/>
                    <a:pt x="32" y="22"/>
                    <a:pt x="48" y="11"/>
                  </a:cubicBezTo>
                  <a:cubicBezTo>
                    <a:pt x="64" y="0"/>
                    <a:pt x="80" y="183"/>
                    <a:pt x="96" y="270"/>
                  </a:cubicBezTo>
                  <a:cubicBezTo>
                    <a:pt x="112" y="356"/>
                    <a:pt x="128" y="528"/>
                    <a:pt x="144" y="528"/>
                  </a:cubicBezTo>
                  <a:cubicBezTo>
                    <a:pt x="160" y="528"/>
                    <a:pt x="176" y="399"/>
                    <a:pt x="192" y="27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55" name="Freeform 58"/>
            <p:cNvSpPr>
              <a:spLocks/>
            </p:cNvSpPr>
            <p:nvPr/>
          </p:nvSpPr>
          <p:spPr bwMode="auto">
            <a:xfrm>
              <a:off x="1917" y="3403"/>
              <a:ext cx="202" cy="229"/>
            </a:xfrm>
            <a:custGeom>
              <a:avLst/>
              <a:gdLst>
                <a:gd name="T0" fmla="*/ 0 w 202"/>
                <a:gd name="T1" fmla="*/ 98 h 229"/>
                <a:gd name="T2" fmla="*/ 48 w 202"/>
                <a:gd name="T3" fmla="*/ 8 h 229"/>
                <a:gd name="T4" fmla="*/ 99 w 202"/>
                <a:gd name="T5" fmla="*/ 149 h 229"/>
                <a:gd name="T6" fmla="*/ 135 w 202"/>
                <a:gd name="T7" fmla="*/ 224 h 229"/>
                <a:gd name="T8" fmla="*/ 192 w 202"/>
                <a:gd name="T9" fmla="*/ 119 h 229"/>
                <a:gd name="T10" fmla="*/ 195 w 202"/>
                <a:gd name="T11" fmla="*/ 149 h 2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02"/>
                <a:gd name="T19" fmla="*/ 0 h 229"/>
                <a:gd name="T20" fmla="*/ 202 w 202"/>
                <a:gd name="T21" fmla="*/ 229 h 22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02" h="229">
                  <a:moveTo>
                    <a:pt x="0" y="98"/>
                  </a:moveTo>
                  <a:cubicBezTo>
                    <a:pt x="8" y="83"/>
                    <a:pt x="32" y="0"/>
                    <a:pt x="48" y="8"/>
                  </a:cubicBezTo>
                  <a:cubicBezTo>
                    <a:pt x="64" y="16"/>
                    <a:pt x="85" y="113"/>
                    <a:pt x="99" y="149"/>
                  </a:cubicBezTo>
                  <a:cubicBezTo>
                    <a:pt x="113" y="185"/>
                    <a:pt x="120" y="229"/>
                    <a:pt x="135" y="224"/>
                  </a:cubicBezTo>
                  <a:cubicBezTo>
                    <a:pt x="150" y="219"/>
                    <a:pt x="182" y="131"/>
                    <a:pt x="192" y="119"/>
                  </a:cubicBezTo>
                  <a:cubicBezTo>
                    <a:pt x="202" y="107"/>
                    <a:pt x="195" y="143"/>
                    <a:pt x="195" y="149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56" name="Freeform 59"/>
            <p:cNvSpPr>
              <a:spLocks/>
            </p:cNvSpPr>
            <p:nvPr/>
          </p:nvSpPr>
          <p:spPr bwMode="auto">
            <a:xfrm>
              <a:off x="2106" y="3405"/>
              <a:ext cx="198" cy="303"/>
            </a:xfrm>
            <a:custGeom>
              <a:avLst/>
              <a:gdLst>
                <a:gd name="T0" fmla="*/ 0 w 198"/>
                <a:gd name="T1" fmla="*/ 129 h 303"/>
                <a:gd name="T2" fmla="*/ 48 w 198"/>
                <a:gd name="T3" fmla="*/ 3 h 303"/>
                <a:gd name="T4" fmla="*/ 102 w 198"/>
                <a:gd name="T5" fmla="*/ 147 h 303"/>
                <a:gd name="T6" fmla="*/ 150 w 198"/>
                <a:gd name="T7" fmla="*/ 303 h 303"/>
                <a:gd name="T8" fmla="*/ 198 w 198"/>
                <a:gd name="T9" fmla="*/ 147 h 3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8"/>
                <a:gd name="T16" fmla="*/ 0 h 303"/>
                <a:gd name="T17" fmla="*/ 198 w 198"/>
                <a:gd name="T18" fmla="*/ 303 h 3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8" h="303">
                  <a:moveTo>
                    <a:pt x="0" y="129"/>
                  </a:moveTo>
                  <a:cubicBezTo>
                    <a:pt x="8" y="108"/>
                    <a:pt x="31" y="0"/>
                    <a:pt x="48" y="3"/>
                  </a:cubicBezTo>
                  <a:cubicBezTo>
                    <a:pt x="65" y="6"/>
                    <a:pt x="85" y="97"/>
                    <a:pt x="102" y="147"/>
                  </a:cubicBezTo>
                  <a:cubicBezTo>
                    <a:pt x="119" y="197"/>
                    <a:pt x="134" y="303"/>
                    <a:pt x="150" y="303"/>
                  </a:cubicBezTo>
                  <a:cubicBezTo>
                    <a:pt x="166" y="303"/>
                    <a:pt x="188" y="179"/>
                    <a:pt x="198" y="147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57" name="Freeform 60"/>
            <p:cNvSpPr>
              <a:spLocks/>
            </p:cNvSpPr>
            <p:nvPr/>
          </p:nvSpPr>
          <p:spPr bwMode="auto">
            <a:xfrm>
              <a:off x="2304" y="3282"/>
              <a:ext cx="192" cy="546"/>
            </a:xfrm>
            <a:custGeom>
              <a:avLst/>
              <a:gdLst>
                <a:gd name="T0" fmla="*/ 0 w 192"/>
                <a:gd name="T1" fmla="*/ 270 h 546"/>
                <a:gd name="T2" fmla="*/ 51 w 192"/>
                <a:gd name="T3" fmla="*/ 0 h 546"/>
                <a:gd name="T4" fmla="*/ 96 w 192"/>
                <a:gd name="T5" fmla="*/ 270 h 546"/>
                <a:gd name="T6" fmla="*/ 147 w 192"/>
                <a:gd name="T7" fmla="*/ 546 h 546"/>
                <a:gd name="T8" fmla="*/ 192 w 192"/>
                <a:gd name="T9" fmla="*/ 270 h 5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46"/>
                <a:gd name="T17" fmla="*/ 192 w 192"/>
                <a:gd name="T18" fmla="*/ 546 h 5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46">
                  <a:moveTo>
                    <a:pt x="0" y="270"/>
                  </a:moveTo>
                  <a:cubicBezTo>
                    <a:pt x="8" y="225"/>
                    <a:pt x="35" y="0"/>
                    <a:pt x="51" y="0"/>
                  </a:cubicBezTo>
                  <a:cubicBezTo>
                    <a:pt x="67" y="0"/>
                    <a:pt x="80" y="179"/>
                    <a:pt x="96" y="270"/>
                  </a:cubicBezTo>
                  <a:cubicBezTo>
                    <a:pt x="112" y="361"/>
                    <a:pt x="131" y="546"/>
                    <a:pt x="147" y="546"/>
                  </a:cubicBezTo>
                  <a:cubicBezTo>
                    <a:pt x="163" y="546"/>
                    <a:pt x="183" y="327"/>
                    <a:pt x="192" y="27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58" name="Freeform 61"/>
            <p:cNvSpPr>
              <a:spLocks/>
            </p:cNvSpPr>
            <p:nvPr/>
          </p:nvSpPr>
          <p:spPr bwMode="auto">
            <a:xfrm>
              <a:off x="2496" y="3180"/>
              <a:ext cx="192" cy="807"/>
            </a:xfrm>
            <a:custGeom>
              <a:avLst/>
              <a:gdLst>
                <a:gd name="T0" fmla="*/ 0 w 192"/>
                <a:gd name="T1" fmla="*/ 372 h 807"/>
                <a:gd name="T2" fmla="*/ 42 w 192"/>
                <a:gd name="T3" fmla="*/ 0 h 807"/>
                <a:gd name="T4" fmla="*/ 96 w 192"/>
                <a:gd name="T5" fmla="*/ 372 h 807"/>
                <a:gd name="T6" fmla="*/ 147 w 192"/>
                <a:gd name="T7" fmla="*/ 750 h 807"/>
                <a:gd name="T8" fmla="*/ 156 w 192"/>
                <a:gd name="T9" fmla="*/ 714 h 807"/>
                <a:gd name="T10" fmla="*/ 192 w 192"/>
                <a:gd name="T11" fmla="*/ 372 h 8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2"/>
                <a:gd name="T19" fmla="*/ 0 h 807"/>
                <a:gd name="T20" fmla="*/ 192 w 192"/>
                <a:gd name="T21" fmla="*/ 807 h 80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92" h="807">
                  <a:moveTo>
                    <a:pt x="0" y="372"/>
                  </a:moveTo>
                  <a:cubicBezTo>
                    <a:pt x="7" y="310"/>
                    <a:pt x="26" y="0"/>
                    <a:pt x="42" y="0"/>
                  </a:cubicBezTo>
                  <a:cubicBezTo>
                    <a:pt x="58" y="0"/>
                    <a:pt x="79" y="247"/>
                    <a:pt x="96" y="372"/>
                  </a:cubicBezTo>
                  <a:cubicBezTo>
                    <a:pt x="113" y="497"/>
                    <a:pt x="137" y="693"/>
                    <a:pt x="147" y="750"/>
                  </a:cubicBezTo>
                  <a:cubicBezTo>
                    <a:pt x="157" y="807"/>
                    <a:pt x="148" y="777"/>
                    <a:pt x="156" y="714"/>
                  </a:cubicBezTo>
                  <a:cubicBezTo>
                    <a:pt x="164" y="651"/>
                    <a:pt x="184" y="443"/>
                    <a:pt x="192" y="372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59" name="Freeform 62"/>
            <p:cNvSpPr>
              <a:spLocks/>
            </p:cNvSpPr>
            <p:nvPr/>
          </p:nvSpPr>
          <p:spPr bwMode="auto">
            <a:xfrm>
              <a:off x="2688" y="3108"/>
              <a:ext cx="192" cy="801"/>
            </a:xfrm>
            <a:custGeom>
              <a:avLst/>
              <a:gdLst>
                <a:gd name="T0" fmla="*/ 0 w 192"/>
                <a:gd name="T1" fmla="*/ 444 h 801"/>
                <a:gd name="T2" fmla="*/ 45 w 192"/>
                <a:gd name="T3" fmla="*/ 0 h 801"/>
                <a:gd name="T4" fmla="*/ 96 w 192"/>
                <a:gd name="T5" fmla="*/ 444 h 801"/>
                <a:gd name="T6" fmla="*/ 147 w 192"/>
                <a:gd name="T7" fmla="*/ 801 h 801"/>
                <a:gd name="T8" fmla="*/ 192 w 192"/>
                <a:gd name="T9" fmla="*/ 444 h 8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801"/>
                <a:gd name="T17" fmla="*/ 192 w 192"/>
                <a:gd name="T18" fmla="*/ 801 h 80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801">
                  <a:moveTo>
                    <a:pt x="0" y="444"/>
                  </a:moveTo>
                  <a:cubicBezTo>
                    <a:pt x="8" y="370"/>
                    <a:pt x="29" y="0"/>
                    <a:pt x="45" y="0"/>
                  </a:cubicBezTo>
                  <a:cubicBezTo>
                    <a:pt x="61" y="0"/>
                    <a:pt x="79" y="311"/>
                    <a:pt x="96" y="444"/>
                  </a:cubicBezTo>
                  <a:cubicBezTo>
                    <a:pt x="113" y="577"/>
                    <a:pt x="131" y="801"/>
                    <a:pt x="147" y="801"/>
                  </a:cubicBezTo>
                  <a:cubicBezTo>
                    <a:pt x="163" y="801"/>
                    <a:pt x="183" y="518"/>
                    <a:pt x="192" y="444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0" name="Freeform 63"/>
            <p:cNvSpPr>
              <a:spLocks/>
            </p:cNvSpPr>
            <p:nvPr/>
          </p:nvSpPr>
          <p:spPr bwMode="auto">
            <a:xfrm>
              <a:off x="2880" y="3216"/>
              <a:ext cx="192" cy="549"/>
            </a:xfrm>
            <a:custGeom>
              <a:avLst/>
              <a:gdLst>
                <a:gd name="T0" fmla="*/ 0 w 192"/>
                <a:gd name="T1" fmla="*/ 336 h 549"/>
                <a:gd name="T2" fmla="*/ 48 w 192"/>
                <a:gd name="T3" fmla="*/ 0 h 549"/>
                <a:gd name="T4" fmla="*/ 96 w 192"/>
                <a:gd name="T5" fmla="*/ 336 h 549"/>
                <a:gd name="T6" fmla="*/ 147 w 192"/>
                <a:gd name="T7" fmla="*/ 549 h 549"/>
                <a:gd name="T8" fmla="*/ 192 w 192"/>
                <a:gd name="T9" fmla="*/ 336 h 5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49"/>
                <a:gd name="T17" fmla="*/ 192 w 192"/>
                <a:gd name="T18" fmla="*/ 549 h 5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49">
                  <a:moveTo>
                    <a:pt x="0" y="336"/>
                  </a:moveTo>
                  <a:cubicBezTo>
                    <a:pt x="8" y="280"/>
                    <a:pt x="32" y="0"/>
                    <a:pt x="48" y="0"/>
                  </a:cubicBezTo>
                  <a:cubicBezTo>
                    <a:pt x="64" y="0"/>
                    <a:pt x="80" y="245"/>
                    <a:pt x="96" y="336"/>
                  </a:cubicBezTo>
                  <a:cubicBezTo>
                    <a:pt x="112" y="427"/>
                    <a:pt x="131" y="549"/>
                    <a:pt x="147" y="549"/>
                  </a:cubicBezTo>
                  <a:cubicBezTo>
                    <a:pt x="163" y="549"/>
                    <a:pt x="183" y="380"/>
                    <a:pt x="192" y="33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1" name="Freeform 64"/>
            <p:cNvSpPr>
              <a:spLocks/>
            </p:cNvSpPr>
            <p:nvPr/>
          </p:nvSpPr>
          <p:spPr bwMode="auto">
            <a:xfrm>
              <a:off x="3072" y="3363"/>
              <a:ext cx="186" cy="283"/>
            </a:xfrm>
            <a:custGeom>
              <a:avLst/>
              <a:gdLst>
                <a:gd name="T0" fmla="*/ 0 w 186"/>
                <a:gd name="T1" fmla="*/ 189 h 283"/>
                <a:gd name="T2" fmla="*/ 45 w 186"/>
                <a:gd name="T3" fmla="*/ 0 h 283"/>
                <a:gd name="T4" fmla="*/ 96 w 186"/>
                <a:gd name="T5" fmla="*/ 189 h 283"/>
                <a:gd name="T6" fmla="*/ 144 w 186"/>
                <a:gd name="T7" fmla="*/ 279 h 283"/>
                <a:gd name="T8" fmla="*/ 186 w 186"/>
                <a:gd name="T9" fmla="*/ 168 h 2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6"/>
                <a:gd name="T16" fmla="*/ 0 h 283"/>
                <a:gd name="T17" fmla="*/ 186 w 186"/>
                <a:gd name="T18" fmla="*/ 283 h 2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6" h="283">
                  <a:moveTo>
                    <a:pt x="0" y="189"/>
                  </a:moveTo>
                  <a:cubicBezTo>
                    <a:pt x="7" y="158"/>
                    <a:pt x="29" y="0"/>
                    <a:pt x="45" y="0"/>
                  </a:cubicBezTo>
                  <a:cubicBezTo>
                    <a:pt x="61" y="0"/>
                    <a:pt x="80" y="143"/>
                    <a:pt x="96" y="189"/>
                  </a:cubicBezTo>
                  <a:cubicBezTo>
                    <a:pt x="112" y="235"/>
                    <a:pt x="129" y="283"/>
                    <a:pt x="144" y="279"/>
                  </a:cubicBezTo>
                  <a:cubicBezTo>
                    <a:pt x="159" y="275"/>
                    <a:pt x="177" y="191"/>
                    <a:pt x="186" y="16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2" name="Freeform 65"/>
            <p:cNvSpPr>
              <a:spLocks/>
            </p:cNvSpPr>
            <p:nvPr/>
          </p:nvSpPr>
          <p:spPr bwMode="auto">
            <a:xfrm>
              <a:off x="3261" y="3433"/>
              <a:ext cx="192" cy="258"/>
            </a:xfrm>
            <a:custGeom>
              <a:avLst/>
              <a:gdLst>
                <a:gd name="T0" fmla="*/ 0 w 192"/>
                <a:gd name="T1" fmla="*/ 101 h 258"/>
                <a:gd name="T2" fmla="*/ 33 w 192"/>
                <a:gd name="T3" fmla="*/ 2 h 258"/>
                <a:gd name="T4" fmla="*/ 90 w 192"/>
                <a:gd name="T5" fmla="*/ 116 h 258"/>
                <a:gd name="T6" fmla="*/ 141 w 192"/>
                <a:gd name="T7" fmla="*/ 254 h 258"/>
                <a:gd name="T8" fmla="*/ 192 w 192"/>
                <a:gd name="T9" fmla="*/ 92 h 2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258"/>
                <a:gd name="T17" fmla="*/ 192 w 192"/>
                <a:gd name="T18" fmla="*/ 258 h 2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258">
                  <a:moveTo>
                    <a:pt x="0" y="101"/>
                  </a:moveTo>
                  <a:cubicBezTo>
                    <a:pt x="5" y="85"/>
                    <a:pt x="18" y="0"/>
                    <a:pt x="33" y="2"/>
                  </a:cubicBezTo>
                  <a:cubicBezTo>
                    <a:pt x="48" y="4"/>
                    <a:pt x="72" y="74"/>
                    <a:pt x="90" y="116"/>
                  </a:cubicBezTo>
                  <a:cubicBezTo>
                    <a:pt x="108" y="158"/>
                    <a:pt x="124" y="258"/>
                    <a:pt x="141" y="254"/>
                  </a:cubicBezTo>
                  <a:cubicBezTo>
                    <a:pt x="158" y="250"/>
                    <a:pt x="181" y="126"/>
                    <a:pt x="192" y="92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3" name="Freeform 66"/>
            <p:cNvSpPr>
              <a:spLocks/>
            </p:cNvSpPr>
            <p:nvPr/>
          </p:nvSpPr>
          <p:spPr bwMode="auto">
            <a:xfrm>
              <a:off x="3447" y="3215"/>
              <a:ext cx="201" cy="694"/>
            </a:xfrm>
            <a:custGeom>
              <a:avLst/>
              <a:gdLst>
                <a:gd name="T0" fmla="*/ 0 w 201"/>
                <a:gd name="T1" fmla="*/ 328 h 694"/>
                <a:gd name="T2" fmla="*/ 54 w 201"/>
                <a:gd name="T3" fmla="*/ 1 h 694"/>
                <a:gd name="T4" fmla="*/ 105 w 201"/>
                <a:gd name="T5" fmla="*/ 337 h 694"/>
                <a:gd name="T6" fmla="*/ 147 w 201"/>
                <a:gd name="T7" fmla="*/ 694 h 694"/>
                <a:gd name="T8" fmla="*/ 201 w 201"/>
                <a:gd name="T9" fmla="*/ 337 h 6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1"/>
                <a:gd name="T16" fmla="*/ 0 h 694"/>
                <a:gd name="T17" fmla="*/ 201 w 201"/>
                <a:gd name="T18" fmla="*/ 694 h 6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1" h="694">
                  <a:moveTo>
                    <a:pt x="0" y="328"/>
                  </a:moveTo>
                  <a:cubicBezTo>
                    <a:pt x="9" y="274"/>
                    <a:pt x="37" y="0"/>
                    <a:pt x="54" y="1"/>
                  </a:cubicBezTo>
                  <a:cubicBezTo>
                    <a:pt x="71" y="2"/>
                    <a:pt x="90" y="222"/>
                    <a:pt x="105" y="337"/>
                  </a:cubicBezTo>
                  <a:cubicBezTo>
                    <a:pt x="120" y="452"/>
                    <a:pt x="131" y="694"/>
                    <a:pt x="147" y="694"/>
                  </a:cubicBezTo>
                  <a:cubicBezTo>
                    <a:pt x="163" y="694"/>
                    <a:pt x="190" y="411"/>
                    <a:pt x="201" y="337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4" name="Freeform 67"/>
            <p:cNvSpPr>
              <a:spLocks/>
            </p:cNvSpPr>
            <p:nvPr/>
          </p:nvSpPr>
          <p:spPr bwMode="auto">
            <a:xfrm>
              <a:off x="3648" y="3141"/>
              <a:ext cx="192" cy="645"/>
            </a:xfrm>
            <a:custGeom>
              <a:avLst/>
              <a:gdLst>
                <a:gd name="T0" fmla="*/ 0 w 192"/>
                <a:gd name="T1" fmla="*/ 411 h 645"/>
                <a:gd name="T2" fmla="*/ 45 w 192"/>
                <a:gd name="T3" fmla="*/ 0 h 645"/>
                <a:gd name="T4" fmla="*/ 96 w 192"/>
                <a:gd name="T5" fmla="*/ 411 h 645"/>
                <a:gd name="T6" fmla="*/ 147 w 192"/>
                <a:gd name="T7" fmla="*/ 645 h 645"/>
                <a:gd name="T8" fmla="*/ 192 w 192"/>
                <a:gd name="T9" fmla="*/ 411 h 6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645"/>
                <a:gd name="T17" fmla="*/ 192 w 192"/>
                <a:gd name="T18" fmla="*/ 645 h 64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645">
                  <a:moveTo>
                    <a:pt x="0" y="411"/>
                  </a:moveTo>
                  <a:cubicBezTo>
                    <a:pt x="7" y="343"/>
                    <a:pt x="29" y="0"/>
                    <a:pt x="45" y="0"/>
                  </a:cubicBezTo>
                  <a:cubicBezTo>
                    <a:pt x="61" y="0"/>
                    <a:pt x="79" y="304"/>
                    <a:pt x="96" y="411"/>
                  </a:cubicBezTo>
                  <a:cubicBezTo>
                    <a:pt x="113" y="518"/>
                    <a:pt x="131" y="645"/>
                    <a:pt x="147" y="645"/>
                  </a:cubicBezTo>
                  <a:cubicBezTo>
                    <a:pt x="163" y="645"/>
                    <a:pt x="183" y="460"/>
                    <a:pt x="192" y="411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5" name="Freeform 68"/>
            <p:cNvSpPr>
              <a:spLocks/>
            </p:cNvSpPr>
            <p:nvPr/>
          </p:nvSpPr>
          <p:spPr bwMode="auto">
            <a:xfrm>
              <a:off x="3840" y="3327"/>
              <a:ext cx="192" cy="489"/>
            </a:xfrm>
            <a:custGeom>
              <a:avLst/>
              <a:gdLst>
                <a:gd name="T0" fmla="*/ 0 w 192"/>
                <a:gd name="T1" fmla="*/ 225 h 489"/>
                <a:gd name="T2" fmla="*/ 39 w 192"/>
                <a:gd name="T3" fmla="*/ 0 h 489"/>
                <a:gd name="T4" fmla="*/ 96 w 192"/>
                <a:gd name="T5" fmla="*/ 225 h 489"/>
                <a:gd name="T6" fmla="*/ 141 w 192"/>
                <a:gd name="T7" fmla="*/ 489 h 489"/>
                <a:gd name="T8" fmla="*/ 192 w 192"/>
                <a:gd name="T9" fmla="*/ 225 h 4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489"/>
                <a:gd name="T17" fmla="*/ 192 w 192"/>
                <a:gd name="T18" fmla="*/ 489 h 4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489">
                  <a:moveTo>
                    <a:pt x="0" y="225"/>
                  </a:moveTo>
                  <a:cubicBezTo>
                    <a:pt x="6" y="188"/>
                    <a:pt x="23" y="0"/>
                    <a:pt x="39" y="0"/>
                  </a:cubicBezTo>
                  <a:cubicBezTo>
                    <a:pt x="55" y="0"/>
                    <a:pt x="79" y="144"/>
                    <a:pt x="96" y="225"/>
                  </a:cubicBezTo>
                  <a:cubicBezTo>
                    <a:pt x="113" y="306"/>
                    <a:pt x="125" y="489"/>
                    <a:pt x="141" y="489"/>
                  </a:cubicBezTo>
                  <a:cubicBezTo>
                    <a:pt x="157" y="489"/>
                    <a:pt x="182" y="280"/>
                    <a:pt x="192" y="225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6" name="Freeform 69"/>
            <p:cNvSpPr>
              <a:spLocks/>
            </p:cNvSpPr>
            <p:nvPr/>
          </p:nvSpPr>
          <p:spPr bwMode="auto">
            <a:xfrm>
              <a:off x="4032" y="3180"/>
              <a:ext cx="192" cy="654"/>
            </a:xfrm>
            <a:custGeom>
              <a:avLst/>
              <a:gdLst>
                <a:gd name="T0" fmla="*/ 0 w 192"/>
                <a:gd name="T1" fmla="*/ 372 h 654"/>
                <a:gd name="T2" fmla="*/ 51 w 192"/>
                <a:gd name="T3" fmla="*/ 0 h 654"/>
                <a:gd name="T4" fmla="*/ 96 w 192"/>
                <a:gd name="T5" fmla="*/ 372 h 654"/>
                <a:gd name="T6" fmla="*/ 147 w 192"/>
                <a:gd name="T7" fmla="*/ 654 h 654"/>
                <a:gd name="T8" fmla="*/ 192 w 192"/>
                <a:gd name="T9" fmla="*/ 372 h 6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654"/>
                <a:gd name="T17" fmla="*/ 192 w 192"/>
                <a:gd name="T18" fmla="*/ 654 h 6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654">
                  <a:moveTo>
                    <a:pt x="0" y="372"/>
                  </a:moveTo>
                  <a:cubicBezTo>
                    <a:pt x="8" y="310"/>
                    <a:pt x="35" y="0"/>
                    <a:pt x="51" y="0"/>
                  </a:cubicBezTo>
                  <a:cubicBezTo>
                    <a:pt x="67" y="0"/>
                    <a:pt x="80" y="263"/>
                    <a:pt x="96" y="372"/>
                  </a:cubicBezTo>
                  <a:cubicBezTo>
                    <a:pt x="112" y="481"/>
                    <a:pt x="131" y="654"/>
                    <a:pt x="147" y="654"/>
                  </a:cubicBezTo>
                  <a:cubicBezTo>
                    <a:pt x="163" y="654"/>
                    <a:pt x="183" y="431"/>
                    <a:pt x="192" y="372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7" name="Freeform 70"/>
            <p:cNvSpPr>
              <a:spLocks/>
            </p:cNvSpPr>
            <p:nvPr/>
          </p:nvSpPr>
          <p:spPr bwMode="auto">
            <a:xfrm>
              <a:off x="4224" y="3297"/>
              <a:ext cx="192" cy="384"/>
            </a:xfrm>
            <a:custGeom>
              <a:avLst/>
              <a:gdLst>
                <a:gd name="T0" fmla="*/ 0 w 192"/>
                <a:gd name="T1" fmla="*/ 255 h 384"/>
                <a:gd name="T2" fmla="*/ 45 w 192"/>
                <a:gd name="T3" fmla="*/ 0 h 384"/>
                <a:gd name="T4" fmla="*/ 96 w 192"/>
                <a:gd name="T5" fmla="*/ 255 h 384"/>
                <a:gd name="T6" fmla="*/ 144 w 192"/>
                <a:gd name="T7" fmla="*/ 384 h 384"/>
                <a:gd name="T8" fmla="*/ 192 w 192"/>
                <a:gd name="T9" fmla="*/ 255 h 3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384"/>
                <a:gd name="T17" fmla="*/ 192 w 192"/>
                <a:gd name="T18" fmla="*/ 384 h 3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384">
                  <a:moveTo>
                    <a:pt x="0" y="255"/>
                  </a:moveTo>
                  <a:cubicBezTo>
                    <a:pt x="7" y="213"/>
                    <a:pt x="29" y="0"/>
                    <a:pt x="45" y="0"/>
                  </a:cubicBezTo>
                  <a:cubicBezTo>
                    <a:pt x="61" y="0"/>
                    <a:pt x="80" y="191"/>
                    <a:pt x="96" y="255"/>
                  </a:cubicBezTo>
                  <a:cubicBezTo>
                    <a:pt x="112" y="319"/>
                    <a:pt x="128" y="384"/>
                    <a:pt x="144" y="384"/>
                  </a:cubicBezTo>
                  <a:cubicBezTo>
                    <a:pt x="160" y="384"/>
                    <a:pt x="182" y="282"/>
                    <a:pt x="192" y="255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8" name="Freeform 71"/>
            <p:cNvSpPr>
              <a:spLocks/>
            </p:cNvSpPr>
            <p:nvPr/>
          </p:nvSpPr>
          <p:spPr bwMode="auto">
            <a:xfrm>
              <a:off x="4416" y="3411"/>
              <a:ext cx="192" cy="267"/>
            </a:xfrm>
            <a:custGeom>
              <a:avLst/>
              <a:gdLst>
                <a:gd name="T0" fmla="*/ 0 w 192"/>
                <a:gd name="T1" fmla="*/ 141 h 267"/>
                <a:gd name="T2" fmla="*/ 45 w 192"/>
                <a:gd name="T3" fmla="*/ 0 h 267"/>
                <a:gd name="T4" fmla="*/ 96 w 192"/>
                <a:gd name="T5" fmla="*/ 141 h 267"/>
                <a:gd name="T6" fmla="*/ 150 w 192"/>
                <a:gd name="T7" fmla="*/ 267 h 267"/>
                <a:gd name="T8" fmla="*/ 192 w 192"/>
                <a:gd name="T9" fmla="*/ 141 h 2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267"/>
                <a:gd name="T17" fmla="*/ 192 w 192"/>
                <a:gd name="T18" fmla="*/ 267 h 2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267">
                  <a:moveTo>
                    <a:pt x="0" y="141"/>
                  </a:moveTo>
                  <a:cubicBezTo>
                    <a:pt x="7" y="118"/>
                    <a:pt x="29" y="0"/>
                    <a:pt x="45" y="0"/>
                  </a:cubicBezTo>
                  <a:cubicBezTo>
                    <a:pt x="61" y="0"/>
                    <a:pt x="79" y="97"/>
                    <a:pt x="96" y="141"/>
                  </a:cubicBezTo>
                  <a:cubicBezTo>
                    <a:pt x="113" y="185"/>
                    <a:pt x="134" y="267"/>
                    <a:pt x="150" y="267"/>
                  </a:cubicBezTo>
                  <a:cubicBezTo>
                    <a:pt x="166" y="267"/>
                    <a:pt x="183" y="167"/>
                    <a:pt x="192" y="141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9" name="Freeform 72"/>
            <p:cNvSpPr>
              <a:spLocks/>
            </p:cNvSpPr>
            <p:nvPr/>
          </p:nvSpPr>
          <p:spPr bwMode="auto">
            <a:xfrm>
              <a:off x="4608" y="3318"/>
              <a:ext cx="192" cy="507"/>
            </a:xfrm>
            <a:custGeom>
              <a:avLst/>
              <a:gdLst>
                <a:gd name="T0" fmla="*/ 0 w 192"/>
                <a:gd name="T1" fmla="*/ 234 h 507"/>
                <a:gd name="T2" fmla="*/ 45 w 192"/>
                <a:gd name="T3" fmla="*/ 0 h 507"/>
                <a:gd name="T4" fmla="*/ 96 w 192"/>
                <a:gd name="T5" fmla="*/ 234 h 507"/>
                <a:gd name="T6" fmla="*/ 147 w 192"/>
                <a:gd name="T7" fmla="*/ 507 h 507"/>
                <a:gd name="T8" fmla="*/ 192 w 192"/>
                <a:gd name="T9" fmla="*/ 234 h 5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07"/>
                <a:gd name="T17" fmla="*/ 192 w 192"/>
                <a:gd name="T18" fmla="*/ 507 h 50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07">
                  <a:moveTo>
                    <a:pt x="0" y="234"/>
                  </a:moveTo>
                  <a:cubicBezTo>
                    <a:pt x="8" y="195"/>
                    <a:pt x="29" y="0"/>
                    <a:pt x="45" y="0"/>
                  </a:cubicBezTo>
                  <a:cubicBezTo>
                    <a:pt x="61" y="0"/>
                    <a:pt x="79" y="150"/>
                    <a:pt x="96" y="234"/>
                  </a:cubicBezTo>
                  <a:cubicBezTo>
                    <a:pt x="113" y="318"/>
                    <a:pt x="131" y="507"/>
                    <a:pt x="147" y="507"/>
                  </a:cubicBezTo>
                  <a:cubicBezTo>
                    <a:pt x="163" y="507"/>
                    <a:pt x="183" y="291"/>
                    <a:pt x="192" y="234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0" name="Freeform 73"/>
            <p:cNvSpPr>
              <a:spLocks/>
            </p:cNvSpPr>
            <p:nvPr/>
          </p:nvSpPr>
          <p:spPr bwMode="auto">
            <a:xfrm>
              <a:off x="4800" y="3222"/>
              <a:ext cx="192" cy="534"/>
            </a:xfrm>
            <a:custGeom>
              <a:avLst/>
              <a:gdLst>
                <a:gd name="T0" fmla="*/ 0 w 192"/>
                <a:gd name="T1" fmla="*/ 330 h 534"/>
                <a:gd name="T2" fmla="*/ 48 w 192"/>
                <a:gd name="T3" fmla="*/ 0 h 534"/>
                <a:gd name="T4" fmla="*/ 96 w 192"/>
                <a:gd name="T5" fmla="*/ 330 h 534"/>
                <a:gd name="T6" fmla="*/ 147 w 192"/>
                <a:gd name="T7" fmla="*/ 534 h 534"/>
                <a:gd name="T8" fmla="*/ 192 w 192"/>
                <a:gd name="T9" fmla="*/ 330 h 5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534"/>
                <a:gd name="T17" fmla="*/ 192 w 192"/>
                <a:gd name="T18" fmla="*/ 534 h 5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534">
                  <a:moveTo>
                    <a:pt x="0" y="330"/>
                  </a:moveTo>
                  <a:cubicBezTo>
                    <a:pt x="8" y="275"/>
                    <a:pt x="32" y="0"/>
                    <a:pt x="48" y="0"/>
                  </a:cubicBezTo>
                  <a:cubicBezTo>
                    <a:pt x="64" y="0"/>
                    <a:pt x="80" y="241"/>
                    <a:pt x="96" y="330"/>
                  </a:cubicBezTo>
                  <a:cubicBezTo>
                    <a:pt x="112" y="419"/>
                    <a:pt x="131" y="534"/>
                    <a:pt x="147" y="534"/>
                  </a:cubicBezTo>
                  <a:cubicBezTo>
                    <a:pt x="163" y="534"/>
                    <a:pt x="183" y="372"/>
                    <a:pt x="192" y="33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1" name="Freeform 74"/>
            <p:cNvSpPr>
              <a:spLocks/>
            </p:cNvSpPr>
            <p:nvPr/>
          </p:nvSpPr>
          <p:spPr bwMode="auto">
            <a:xfrm>
              <a:off x="4992" y="3324"/>
              <a:ext cx="192" cy="423"/>
            </a:xfrm>
            <a:custGeom>
              <a:avLst/>
              <a:gdLst>
                <a:gd name="T0" fmla="*/ 0 w 192"/>
                <a:gd name="T1" fmla="*/ 228 h 423"/>
                <a:gd name="T2" fmla="*/ 48 w 192"/>
                <a:gd name="T3" fmla="*/ 0 h 423"/>
                <a:gd name="T4" fmla="*/ 96 w 192"/>
                <a:gd name="T5" fmla="*/ 228 h 423"/>
                <a:gd name="T6" fmla="*/ 150 w 192"/>
                <a:gd name="T7" fmla="*/ 423 h 423"/>
                <a:gd name="T8" fmla="*/ 192 w 192"/>
                <a:gd name="T9" fmla="*/ 228 h 4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423"/>
                <a:gd name="T17" fmla="*/ 192 w 192"/>
                <a:gd name="T18" fmla="*/ 423 h 4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423">
                  <a:moveTo>
                    <a:pt x="0" y="228"/>
                  </a:moveTo>
                  <a:cubicBezTo>
                    <a:pt x="8" y="190"/>
                    <a:pt x="32" y="0"/>
                    <a:pt x="48" y="0"/>
                  </a:cubicBezTo>
                  <a:cubicBezTo>
                    <a:pt x="64" y="0"/>
                    <a:pt x="79" y="158"/>
                    <a:pt x="96" y="228"/>
                  </a:cubicBezTo>
                  <a:cubicBezTo>
                    <a:pt x="113" y="298"/>
                    <a:pt x="134" y="423"/>
                    <a:pt x="150" y="423"/>
                  </a:cubicBezTo>
                  <a:cubicBezTo>
                    <a:pt x="166" y="423"/>
                    <a:pt x="183" y="269"/>
                    <a:pt x="192" y="22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2" name="Freeform 75"/>
            <p:cNvSpPr>
              <a:spLocks/>
            </p:cNvSpPr>
            <p:nvPr/>
          </p:nvSpPr>
          <p:spPr bwMode="auto">
            <a:xfrm>
              <a:off x="5184" y="3294"/>
              <a:ext cx="192" cy="477"/>
            </a:xfrm>
            <a:custGeom>
              <a:avLst/>
              <a:gdLst>
                <a:gd name="T0" fmla="*/ 0 w 192"/>
                <a:gd name="T1" fmla="*/ 258 h 477"/>
                <a:gd name="T2" fmla="*/ 45 w 192"/>
                <a:gd name="T3" fmla="*/ 0 h 477"/>
                <a:gd name="T4" fmla="*/ 96 w 192"/>
                <a:gd name="T5" fmla="*/ 258 h 477"/>
                <a:gd name="T6" fmla="*/ 147 w 192"/>
                <a:gd name="T7" fmla="*/ 477 h 477"/>
                <a:gd name="T8" fmla="*/ 192 w 192"/>
                <a:gd name="T9" fmla="*/ 258 h 4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477"/>
                <a:gd name="T17" fmla="*/ 192 w 192"/>
                <a:gd name="T18" fmla="*/ 477 h 4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477">
                  <a:moveTo>
                    <a:pt x="0" y="258"/>
                  </a:moveTo>
                  <a:cubicBezTo>
                    <a:pt x="8" y="215"/>
                    <a:pt x="29" y="0"/>
                    <a:pt x="45" y="0"/>
                  </a:cubicBezTo>
                  <a:cubicBezTo>
                    <a:pt x="61" y="0"/>
                    <a:pt x="79" y="179"/>
                    <a:pt x="96" y="258"/>
                  </a:cubicBezTo>
                  <a:cubicBezTo>
                    <a:pt x="113" y="337"/>
                    <a:pt x="131" y="477"/>
                    <a:pt x="147" y="477"/>
                  </a:cubicBezTo>
                  <a:cubicBezTo>
                    <a:pt x="163" y="477"/>
                    <a:pt x="183" y="304"/>
                    <a:pt x="192" y="25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73" name="Text Box 76"/>
            <p:cNvSpPr txBox="1">
              <a:spLocks noChangeArrowheads="1"/>
            </p:cNvSpPr>
            <p:nvPr/>
          </p:nvSpPr>
          <p:spPr bwMode="auto">
            <a:xfrm>
              <a:off x="240" y="3329"/>
              <a:ext cx="1040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en-GB" sz="1600" dirty="0"/>
                <a:t>Transmitted AM signal</a:t>
              </a:r>
              <a:endParaRPr lang="en-GB" sz="2000" dirty="0"/>
            </a:p>
          </p:txBody>
        </p:sp>
      </p:grpSp>
      <p:grpSp>
        <p:nvGrpSpPr>
          <p:cNvPr id="74" name="Group 77"/>
          <p:cNvGrpSpPr>
            <a:grpSpLocks/>
          </p:cNvGrpSpPr>
          <p:nvPr/>
        </p:nvGrpSpPr>
        <p:grpSpPr bwMode="auto">
          <a:xfrm>
            <a:off x="887415" y="1884362"/>
            <a:ext cx="388938" cy="1511300"/>
            <a:chOff x="588" y="1218"/>
            <a:chExt cx="245" cy="952"/>
          </a:xfrm>
        </p:grpSpPr>
        <p:sp>
          <p:nvSpPr>
            <p:cNvPr id="75" name="Text Box 78"/>
            <p:cNvSpPr txBox="1">
              <a:spLocks noChangeArrowheads="1"/>
            </p:cNvSpPr>
            <p:nvPr/>
          </p:nvSpPr>
          <p:spPr bwMode="auto">
            <a:xfrm>
              <a:off x="588" y="1218"/>
              <a:ext cx="245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GB" sz="2000" b="1"/>
                <a:t>+</a:t>
              </a:r>
              <a:endParaRPr lang="en-GB" sz="2000"/>
            </a:p>
          </p:txBody>
        </p:sp>
        <p:sp>
          <p:nvSpPr>
            <p:cNvPr id="76" name="Text Box 79"/>
            <p:cNvSpPr txBox="1">
              <a:spLocks noChangeArrowheads="1"/>
            </p:cNvSpPr>
            <p:nvPr/>
          </p:nvSpPr>
          <p:spPr bwMode="auto">
            <a:xfrm>
              <a:off x="595" y="1957"/>
              <a:ext cx="231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GB" sz="1600" dirty="0">
                  <a:sym typeface="Wingdings" pitchFamily="2" charset="2"/>
                </a:rPr>
                <a:t></a:t>
              </a:r>
              <a:endParaRPr lang="en-GB" sz="1600" dirty="0"/>
            </a:p>
          </p:txBody>
        </p:sp>
      </p:grpSp>
      <p:sp>
        <p:nvSpPr>
          <p:cNvPr id="80" name="TextBox 79"/>
          <p:cNvSpPr txBox="1"/>
          <p:nvPr/>
        </p:nvSpPr>
        <p:spPr>
          <a:xfrm>
            <a:off x="427303" y="804422"/>
            <a:ext cx="6589077" cy="5509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Carrier Signal =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GB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GB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</a:t>
            </a:r>
            <a:r>
              <a:rPr lang="el-G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GB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l-G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GB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</a:t>
            </a:r>
            <a:r>
              <a:rPr lang="el-G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GB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where f</a:t>
            </a:r>
            <a:r>
              <a:rPr lang="en-GB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carrier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freq</a:t>
            </a:r>
            <a:endParaRPr lang="en-GB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i="1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r>
              <a:rPr lang="en-GB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Modulating Signal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GB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GB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</a:t>
            </a:r>
            <a:r>
              <a:rPr lang="el-G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GB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l-G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GB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</a:t>
            </a:r>
            <a:r>
              <a:rPr lang="el-G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GB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where f</a:t>
            </a:r>
            <a:r>
              <a:rPr lang="en-GB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modulation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freq</a:t>
            </a:r>
            <a:endParaRPr lang="en-GB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/>
          </a:p>
          <a:p>
            <a:r>
              <a:rPr lang="en-GB" dirty="0"/>
              <a:t>So the voltage of the carrier varies between</a:t>
            </a:r>
          </a:p>
          <a:p>
            <a:r>
              <a:rPr lang="en-GB" dirty="0"/>
              <a:t>		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GB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GB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en-GB" i="1" dirty="0"/>
              <a:t>and 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GB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GB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GB" dirty="0"/>
          </a:p>
          <a:p>
            <a:r>
              <a:rPr lang="en-GB" dirty="0"/>
              <a:t>Modulation Index </a:t>
            </a:r>
            <a:r>
              <a:rPr lang="en-GB" i="1" dirty="0"/>
              <a:t>=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 =V</a:t>
            </a:r>
            <a:r>
              <a:rPr lang="en-GB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GB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 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GB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m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GB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GB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/>
          </a:p>
          <a:p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GB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GB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GB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</a:t>
            </a:r>
            <a:r>
              <a:rPr lang="el-G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GB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sin</a:t>
            </a:r>
            <a:r>
              <a:rPr lang="el-G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GB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=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GB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</a:t>
            </a:r>
            <a:r>
              <a:rPr lang="el-G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GB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+ 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GB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</a:t>
            </a:r>
            <a:r>
              <a:rPr lang="el-G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GB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 sin</a:t>
            </a:r>
            <a:r>
              <a:rPr lang="el-G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GB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baseline="-25000" dirty="0"/>
          </a:p>
          <a:p>
            <a:r>
              <a:rPr lang="en-GB" dirty="0">
                <a:solidFill>
                  <a:srgbClr val="0070C0"/>
                </a:solidFill>
              </a:rPr>
              <a:t>since </a:t>
            </a:r>
          </a:p>
          <a:p>
            <a:r>
              <a:rPr lang="en-GB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sin</a:t>
            </a:r>
            <a:r>
              <a:rPr lang="el-GR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GB" i="1" baseline="-25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GB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GB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 sin</a:t>
            </a:r>
            <a:r>
              <a:rPr lang="el-GR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GB" i="1" baseline="-25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GB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½ [cos(</a:t>
            </a:r>
            <a:r>
              <a:rPr lang="el-GR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GB" i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l-GR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GB" i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GB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)t - cos(</a:t>
            </a:r>
            <a:r>
              <a:rPr lang="el-GR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GB" i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l-GR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GB" i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GB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)t]</a:t>
            </a:r>
          </a:p>
          <a:p>
            <a:endParaRPr lang="en-GB" i="1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r>
              <a:rPr lang="en-GB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then</a:t>
            </a:r>
          </a:p>
          <a:p>
            <a:r>
              <a:rPr lang="en-GB" i="1" dirty="0"/>
              <a:t>  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GB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GB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 </a:t>
            </a:r>
            <a:r>
              <a:rPr lang="el-G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GB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½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mV</a:t>
            </a:r>
            <a:r>
              <a:rPr lang="en-GB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cos(</a:t>
            </a:r>
            <a:r>
              <a:rPr lang="el-G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GB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l-G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GB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)t - ½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mV</a:t>
            </a:r>
            <a:r>
              <a:rPr lang="en-GB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cos(</a:t>
            </a:r>
            <a:r>
              <a:rPr lang="el-G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GB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l-G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GB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)t </a:t>
            </a:r>
          </a:p>
          <a:p>
            <a:endParaRPr lang="en-GB" sz="1600" i="1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925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385763" y="333375"/>
            <a:ext cx="3478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400" b="1"/>
              <a:t>Amplitude Modulation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860371" y="1643090"/>
            <a:ext cx="7362959" cy="1282402"/>
            <a:chOff x="1714024" y="1049239"/>
            <a:chExt cx="6589077" cy="1282402"/>
          </a:xfrm>
        </p:grpSpPr>
        <p:sp>
          <p:nvSpPr>
            <p:cNvPr id="2" name="TextBox 1"/>
            <p:cNvSpPr txBox="1"/>
            <p:nvPr/>
          </p:nvSpPr>
          <p:spPr>
            <a:xfrm>
              <a:off x="1714024" y="1049239"/>
              <a:ext cx="6589077" cy="128240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en-GB" i="1" dirty="0"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  <a:p>
              <a:r>
                <a:rPr lang="en-GB" i="1" dirty="0" err="1"/>
                <a:t>v</a:t>
              </a:r>
              <a:r>
                <a:rPr lang="en-GB" i="1" baseline="-25000" dirty="0" err="1"/>
                <a:t>c</a:t>
              </a:r>
              <a:r>
                <a:rPr lang="en-GB" i="1" baseline="-25000" dirty="0"/>
                <a:t> </a:t>
              </a:r>
              <a:r>
                <a:rPr lang="en-GB" dirty="0"/>
                <a:t>= </a:t>
              </a:r>
              <a:r>
                <a:rPr lang="en-GB" i="1" dirty="0"/>
                <a:t>(</a:t>
              </a:r>
              <a:r>
                <a:rPr lang="en-GB" i="1" dirty="0" err="1"/>
                <a:t>V</a:t>
              </a:r>
              <a:r>
                <a:rPr lang="en-GB" i="1" baseline="-25000" dirty="0" err="1"/>
                <a:t>c</a:t>
              </a:r>
              <a:r>
                <a:rPr lang="en-GB" i="1" dirty="0"/>
                <a:t> sin </a:t>
              </a:r>
              <a:r>
                <a:rPr lang="el-GR" i="1" dirty="0"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ω</a:t>
              </a:r>
              <a:r>
                <a:rPr lang="en-GB" i="1" baseline="-25000" dirty="0" err="1"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c</a:t>
              </a:r>
              <a:r>
                <a:rPr lang="en-GB" i="1" dirty="0" err="1"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t</a:t>
              </a:r>
              <a:r>
                <a:rPr lang="en-GB" i="1" dirty="0"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) + ½ </a:t>
              </a:r>
              <a:r>
                <a:rPr lang="en-GB" i="1" dirty="0" err="1"/>
                <a:t>mV</a:t>
              </a:r>
              <a:r>
                <a:rPr lang="en-GB" i="1" baseline="-25000" dirty="0" err="1"/>
                <a:t>c</a:t>
              </a:r>
              <a:r>
                <a:rPr lang="en-GB" i="1" baseline="-25000" dirty="0"/>
                <a:t> </a:t>
              </a:r>
              <a:r>
                <a:rPr lang="en-GB" i="1" dirty="0"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cos(</a:t>
              </a:r>
              <a:r>
                <a:rPr lang="el-GR" i="1" dirty="0"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ω</a:t>
              </a:r>
              <a:r>
                <a:rPr lang="en-GB" i="1" baseline="-25000" dirty="0"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c</a:t>
              </a:r>
              <a:r>
                <a:rPr lang="en-GB" i="1" dirty="0"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 – </a:t>
              </a:r>
              <a:r>
                <a:rPr lang="el-GR" i="1" dirty="0"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ω</a:t>
              </a:r>
              <a:r>
                <a:rPr lang="en-GB" i="1" baseline="-25000" dirty="0"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s</a:t>
              </a:r>
              <a:r>
                <a:rPr lang="en-GB" i="1" dirty="0"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)t - ½ </a:t>
              </a:r>
              <a:r>
                <a:rPr lang="en-GB" i="1" dirty="0" err="1"/>
                <a:t>mV</a:t>
              </a:r>
              <a:r>
                <a:rPr lang="en-GB" i="1" baseline="-25000" dirty="0" err="1"/>
                <a:t>c</a:t>
              </a:r>
              <a:r>
                <a:rPr lang="en-GB" i="1" baseline="-25000" dirty="0"/>
                <a:t> </a:t>
              </a:r>
              <a:r>
                <a:rPr lang="en-GB" i="1" dirty="0"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cos(</a:t>
              </a:r>
              <a:r>
                <a:rPr lang="el-GR" i="1" dirty="0"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ω</a:t>
              </a:r>
              <a:r>
                <a:rPr lang="en-GB" i="1" baseline="-25000" dirty="0"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c</a:t>
              </a:r>
              <a:r>
                <a:rPr lang="en-GB" i="1" dirty="0"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 + </a:t>
              </a:r>
              <a:r>
                <a:rPr lang="el-GR" i="1" dirty="0"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ω</a:t>
              </a:r>
              <a:r>
                <a:rPr lang="en-GB" i="1" baseline="-25000" dirty="0"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s</a:t>
              </a:r>
              <a:r>
                <a:rPr lang="en-GB" i="1" dirty="0">
                  <a:latin typeface="Lucida Sans Unicode" panose="020B0602030504020204" pitchFamily="34" charset="0"/>
                  <a:cs typeface="Lucida Sans Unicode" panose="020B0602030504020204" pitchFamily="34" charset="0"/>
                </a:rPr>
                <a:t>)t </a:t>
              </a:r>
            </a:p>
            <a:p>
              <a:endParaRPr lang="en-GB" i="1" dirty="0">
                <a:latin typeface="Lucida Sans Unicode" panose="020B0602030504020204" pitchFamily="34" charset="0"/>
                <a:cs typeface="Lucida Sans Unicode" panose="020B0602030504020204" pitchFamily="34" charset="0"/>
              </a:endParaRPr>
            </a:p>
            <a:p>
              <a:r>
                <a:rPr lang="en-GB" sz="2000" b="1" baseline="-25000" dirty="0"/>
                <a:t>              </a:t>
              </a:r>
              <a:r>
                <a:rPr lang="en-GB" sz="2400" b="1" baseline="-25000" dirty="0">
                  <a:solidFill>
                    <a:srgbClr val="C00000"/>
                  </a:solidFill>
                </a:rPr>
                <a:t>Carrier      </a:t>
              </a:r>
              <a:r>
                <a:rPr lang="en-GB" sz="2400" b="1" baseline="-25000">
                  <a:solidFill>
                    <a:srgbClr val="C00000"/>
                  </a:solidFill>
                </a:rPr>
                <a:t>+              </a:t>
              </a:r>
              <a:r>
                <a:rPr lang="en-GB" sz="2400" b="1" baseline="-25000" dirty="0">
                  <a:solidFill>
                    <a:srgbClr val="C00000"/>
                  </a:solidFill>
                </a:rPr>
                <a:t>USB                </a:t>
              </a:r>
              <a:r>
                <a:rPr lang="en-GB" sz="2400" b="1" baseline="-25000">
                  <a:solidFill>
                    <a:srgbClr val="C00000"/>
                  </a:solidFill>
                </a:rPr>
                <a:t>-              </a:t>
              </a:r>
              <a:r>
                <a:rPr lang="en-GB" sz="2400" b="1" baseline="-25000" dirty="0">
                  <a:solidFill>
                    <a:srgbClr val="C00000"/>
                  </a:solidFill>
                </a:rPr>
                <a:t>LSB</a:t>
              </a:r>
            </a:p>
            <a:p>
              <a:endParaRPr lang="en-GB" sz="2000" b="1" baseline="-25000" dirty="0">
                <a:solidFill>
                  <a:srgbClr val="C00000"/>
                </a:solidFill>
              </a:endParaRPr>
            </a:p>
          </p:txBody>
        </p:sp>
        <p:sp>
          <p:nvSpPr>
            <p:cNvPr id="4" name="Rectangle: Rounded Corners 3"/>
            <p:cNvSpPr/>
            <p:nvPr/>
          </p:nvSpPr>
          <p:spPr>
            <a:xfrm>
              <a:off x="2208277" y="1226550"/>
              <a:ext cx="1044711" cy="518160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n-GB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5" name="Rectangle: Rounded Corners 4"/>
            <p:cNvSpPr/>
            <p:nvPr/>
          </p:nvSpPr>
          <p:spPr>
            <a:xfrm>
              <a:off x="3448390" y="1215817"/>
              <a:ext cx="1816624" cy="518160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n-GB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6" name="Rectangle: Rounded Corners 5"/>
            <p:cNvSpPr/>
            <p:nvPr/>
          </p:nvSpPr>
          <p:spPr>
            <a:xfrm>
              <a:off x="5378226" y="1215817"/>
              <a:ext cx="1871133" cy="518160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n-GB" dirty="0">
                <a:latin typeface="Lucida Sans Unicode" pitchFamily="34" charset="0"/>
                <a:cs typeface="Lucida Sans Unicode" pitchFamily="34" charset="0"/>
              </a:endParaRPr>
            </a:p>
          </p:txBody>
        </p:sp>
      </p:grpSp>
      <p:grpSp>
        <p:nvGrpSpPr>
          <p:cNvPr id="8" name="Group 22"/>
          <p:cNvGrpSpPr>
            <a:grpSpLocks/>
          </p:cNvGrpSpPr>
          <p:nvPr/>
        </p:nvGrpSpPr>
        <p:grpSpPr bwMode="auto">
          <a:xfrm>
            <a:off x="1862667" y="4013200"/>
            <a:ext cx="5543973" cy="2398493"/>
            <a:chOff x="530225" y="1703388"/>
            <a:chExt cx="5495926" cy="2535237"/>
          </a:xfrm>
        </p:grpSpPr>
        <p:sp>
          <p:nvSpPr>
            <p:cNvPr id="9" name="Line 5"/>
            <p:cNvSpPr>
              <a:spLocks noChangeShapeType="1"/>
            </p:cNvSpPr>
            <p:nvPr/>
          </p:nvSpPr>
          <p:spPr bwMode="auto">
            <a:xfrm flipV="1">
              <a:off x="1147763" y="3416300"/>
              <a:ext cx="4878388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10" name="Line 7"/>
            <p:cNvSpPr>
              <a:spLocks noChangeShapeType="1"/>
            </p:cNvSpPr>
            <p:nvPr/>
          </p:nvSpPr>
          <p:spPr bwMode="auto">
            <a:xfrm flipH="1">
              <a:off x="3584576" y="1703388"/>
              <a:ext cx="11113" cy="2151062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11" name="Text Box 12"/>
            <p:cNvSpPr txBox="1">
              <a:spLocks noChangeArrowheads="1"/>
            </p:cNvSpPr>
            <p:nvPr/>
          </p:nvSpPr>
          <p:spPr bwMode="auto">
            <a:xfrm>
              <a:off x="3470276" y="3902075"/>
              <a:ext cx="330200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600"/>
                <a:t>f</a:t>
              </a:r>
              <a:r>
                <a:rPr lang="en-GB" sz="1600" baseline="-25000"/>
                <a:t>c</a:t>
              </a:r>
              <a:endParaRPr lang="en-US" sz="1600" baseline="-25000"/>
            </a:p>
          </p:txBody>
        </p:sp>
        <p:sp>
          <p:nvSpPr>
            <p:cNvPr id="12" name="Text Box 13"/>
            <p:cNvSpPr txBox="1">
              <a:spLocks noChangeArrowheads="1"/>
            </p:cNvSpPr>
            <p:nvPr/>
          </p:nvSpPr>
          <p:spPr bwMode="auto">
            <a:xfrm>
              <a:off x="3692526" y="3509963"/>
              <a:ext cx="1976823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200" i="1"/>
                <a:t>f</a:t>
              </a:r>
              <a:r>
                <a:rPr lang="en-GB" sz="1200" i="1" baseline="-25000"/>
                <a:t>c</a:t>
              </a:r>
              <a:r>
                <a:rPr lang="en-GB" sz="1200" i="1"/>
                <a:t> + freq range of signal</a:t>
              </a:r>
              <a:endParaRPr lang="en-US" sz="1200" i="1"/>
            </a:p>
          </p:txBody>
        </p:sp>
        <p:sp>
          <p:nvSpPr>
            <p:cNvPr id="13" name="Text Box 15"/>
            <p:cNvSpPr txBox="1">
              <a:spLocks noChangeArrowheads="1"/>
            </p:cNvSpPr>
            <p:nvPr/>
          </p:nvSpPr>
          <p:spPr bwMode="auto">
            <a:xfrm>
              <a:off x="1241426" y="3530600"/>
              <a:ext cx="1944763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200" i="1"/>
                <a:t>f</a:t>
              </a:r>
              <a:r>
                <a:rPr lang="en-GB" sz="1200" i="1" baseline="-25000"/>
                <a:t>c</a:t>
              </a:r>
              <a:r>
                <a:rPr lang="en-GB" sz="1200" i="1"/>
                <a:t> - freq range of signal</a:t>
              </a:r>
              <a:endParaRPr lang="en-US" sz="1200" i="1"/>
            </a:p>
          </p:txBody>
        </p:sp>
        <p:sp>
          <p:nvSpPr>
            <p:cNvPr id="14" name="Line 23"/>
            <p:cNvSpPr>
              <a:spLocks noChangeShapeType="1"/>
            </p:cNvSpPr>
            <p:nvPr/>
          </p:nvSpPr>
          <p:spPr bwMode="auto">
            <a:xfrm flipH="1" flipV="1">
              <a:off x="1174749" y="1828800"/>
              <a:ext cx="907" cy="17634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15" name="Line 24"/>
            <p:cNvSpPr>
              <a:spLocks noChangeShapeType="1"/>
            </p:cNvSpPr>
            <p:nvPr/>
          </p:nvSpPr>
          <p:spPr bwMode="auto">
            <a:xfrm flipV="1">
              <a:off x="1060450" y="1839913"/>
              <a:ext cx="0" cy="5603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16" name="Text Box 25"/>
            <p:cNvSpPr txBox="1">
              <a:spLocks noChangeArrowheads="1"/>
            </p:cNvSpPr>
            <p:nvPr/>
          </p:nvSpPr>
          <p:spPr bwMode="auto">
            <a:xfrm>
              <a:off x="530225" y="2376488"/>
              <a:ext cx="630301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200"/>
                <a:t>Power</a:t>
              </a:r>
              <a:endParaRPr lang="en-US" sz="1200"/>
            </a:p>
          </p:txBody>
        </p:sp>
        <p:sp>
          <p:nvSpPr>
            <p:cNvPr id="17" name="Flowchart: Manual Operation 16"/>
            <p:cNvSpPr/>
            <p:nvPr/>
          </p:nvSpPr>
          <p:spPr bwMode="auto">
            <a:xfrm flipV="1">
              <a:off x="1306513" y="1916113"/>
              <a:ext cx="2133600" cy="1479550"/>
            </a:xfrm>
            <a:prstGeom prst="flowChartManualOperation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sz="1600"/>
            </a:p>
          </p:txBody>
        </p:sp>
        <p:sp>
          <p:nvSpPr>
            <p:cNvPr id="18" name="Flowchart: Manual Operation 17"/>
            <p:cNvSpPr/>
            <p:nvPr/>
          </p:nvSpPr>
          <p:spPr bwMode="auto">
            <a:xfrm flipV="1">
              <a:off x="3657601" y="1916113"/>
              <a:ext cx="2133600" cy="1479550"/>
            </a:xfrm>
            <a:prstGeom prst="flowChartManualOperation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sz="1600"/>
            </a:p>
          </p:txBody>
        </p:sp>
        <p:sp>
          <p:nvSpPr>
            <p:cNvPr id="19" name="TextBox 20"/>
            <p:cNvSpPr txBox="1">
              <a:spLocks noChangeArrowheads="1"/>
            </p:cNvSpPr>
            <p:nvPr/>
          </p:nvSpPr>
          <p:spPr bwMode="auto">
            <a:xfrm>
              <a:off x="1457885" y="2612571"/>
              <a:ext cx="1811713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GB" sz="1600" b="1"/>
                <a:t>LSB = </a:t>
              </a:r>
            </a:p>
            <a:p>
              <a:pPr algn="ctr"/>
              <a:r>
                <a:rPr lang="en-GB" sz="1600" b="1"/>
                <a:t>Lower Side Band</a:t>
              </a:r>
              <a:endParaRPr lang="en-US" sz="1600" b="1"/>
            </a:p>
          </p:txBody>
        </p:sp>
        <p:sp>
          <p:nvSpPr>
            <p:cNvPr id="20" name="TextBox 21"/>
            <p:cNvSpPr txBox="1">
              <a:spLocks noChangeArrowheads="1"/>
            </p:cNvSpPr>
            <p:nvPr/>
          </p:nvSpPr>
          <p:spPr bwMode="auto">
            <a:xfrm>
              <a:off x="3848735" y="2634343"/>
              <a:ext cx="1819729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GB" sz="1600" b="1"/>
                <a:t>USB = </a:t>
              </a:r>
            </a:p>
            <a:p>
              <a:pPr algn="ctr"/>
              <a:r>
                <a:rPr lang="en-GB" sz="1600" b="1"/>
                <a:t>Upper Side Band</a:t>
              </a:r>
              <a:endParaRPr lang="en-US" sz="1600" b="1"/>
            </a:p>
          </p:txBody>
        </p:sp>
      </p:grpSp>
    </p:spTree>
    <p:extLst>
      <p:ext uri="{BB962C8B-B14F-4D97-AF65-F5344CB8AC3E}">
        <p14:creationId xmlns:p14="http://schemas.microsoft.com/office/powerpoint/2010/main" val="9639458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4"/>
          <p:cNvSpPr txBox="1">
            <a:spLocks noChangeArrowheads="1"/>
          </p:cNvSpPr>
          <p:nvPr/>
        </p:nvSpPr>
        <p:spPr bwMode="auto">
          <a:xfrm>
            <a:off x="430213" y="366713"/>
            <a:ext cx="5641975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AM Frequency Spectrum - Sidebands</a:t>
            </a:r>
            <a:endParaRPr lang="en-US" sz="2400" b="1"/>
          </a:p>
        </p:txBody>
      </p:sp>
      <p:sp>
        <p:nvSpPr>
          <p:cNvPr id="12291" name="Text Box 6"/>
          <p:cNvSpPr txBox="1">
            <a:spLocks noChangeArrowheads="1"/>
          </p:cNvSpPr>
          <p:nvPr/>
        </p:nvSpPr>
        <p:spPr bwMode="auto">
          <a:xfrm>
            <a:off x="338138" y="849313"/>
            <a:ext cx="7721600" cy="86177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6213" indent="-176213"/>
            <a:r>
              <a:rPr lang="en-GB" sz="1600"/>
              <a:t>AM process produces a spectrum containing the carrier and two sidebands of frequencies related to the modulating signal</a:t>
            </a:r>
          </a:p>
          <a:p>
            <a:pPr marL="176213" indent="-176213"/>
            <a:r>
              <a:rPr lang="en-GB" sz="1600"/>
              <a:t>e.g.:</a:t>
            </a:r>
            <a:endParaRPr lang="en-US" sz="1600"/>
          </a:p>
        </p:txBody>
      </p:sp>
      <p:sp>
        <p:nvSpPr>
          <p:cNvPr id="12292" name="Text Box 17"/>
          <p:cNvSpPr txBox="1">
            <a:spLocks noChangeArrowheads="1"/>
          </p:cNvSpPr>
          <p:nvPr/>
        </p:nvSpPr>
        <p:spPr bwMode="auto">
          <a:xfrm>
            <a:off x="1093788" y="4292600"/>
            <a:ext cx="7000875" cy="21986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GB" sz="1400" dirty="0"/>
              <a:t>e.g.  modulating signal is between 100Hz and 8KHz, </a:t>
            </a:r>
          </a:p>
          <a:p>
            <a:pPr>
              <a:lnSpc>
                <a:spcPct val="120000"/>
              </a:lnSpc>
              <a:defRPr/>
            </a:pPr>
            <a:r>
              <a:rPr lang="en-GB" sz="1400" dirty="0"/>
              <a:t>	and carrier freq = 600KHz (=600,000Hz)</a:t>
            </a:r>
          </a:p>
          <a:p>
            <a:pPr>
              <a:lnSpc>
                <a:spcPct val="120000"/>
              </a:lnSpc>
              <a:defRPr/>
            </a:pPr>
            <a:endParaRPr lang="en-GB" sz="1400" dirty="0"/>
          </a:p>
          <a:p>
            <a:pPr>
              <a:lnSpc>
                <a:spcPct val="120000"/>
              </a:lnSpc>
              <a:defRPr/>
            </a:pPr>
            <a:r>
              <a:rPr lang="en-GB" sz="1400" dirty="0"/>
              <a:t>Then - USB extends </a:t>
            </a:r>
            <a:r>
              <a:rPr lang="en-GB" sz="1400" i="1" dirty="0"/>
              <a:t>up</a:t>
            </a:r>
            <a:r>
              <a:rPr lang="en-GB" sz="1400" dirty="0"/>
              <a:t> from  </a:t>
            </a:r>
            <a:r>
              <a:rPr lang="en-GB" sz="1400" b="1" dirty="0">
                <a:solidFill>
                  <a:srgbClr val="FF0000"/>
                </a:solidFill>
              </a:rPr>
              <a:t>[600,000 + 100]Hz </a:t>
            </a:r>
            <a:r>
              <a:rPr lang="en-GB" sz="1400" dirty="0"/>
              <a:t>   to    </a:t>
            </a:r>
            <a:r>
              <a:rPr lang="en-GB" sz="1400" b="1" dirty="0">
                <a:solidFill>
                  <a:srgbClr val="FF0000"/>
                </a:solidFill>
              </a:rPr>
              <a:t>[600,000 + 8,000]Hz </a:t>
            </a:r>
          </a:p>
          <a:p>
            <a:pPr>
              <a:lnSpc>
                <a:spcPct val="120000"/>
              </a:lnSpc>
              <a:defRPr/>
            </a:pPr>
            <a:r>
              <a:rPr lang="en-GB" sz="1400" dirty="0"/>
              <a:t>		= </a:t>
            </a:r>
            <a:r>
              <a:rPr lang="en-GB" sz="1400" b="1" dirty="0">
                <a:solidFill>
                  <a:srgbClr val="FF0000"/>
                </a:solidFill>
              </a:rPr>
              <a:t>600.1KHz up to 608KHz </a:t>
            </a:r>
          </a:p>
          <a:p>
            <a:pPr>
              <a:lnSpc>
                <a:spcPct val="120000"/>
              </a:lnSpc>
              <a:defRPr/>
            </a:pPr>
            <a:endParaRPr lang="en-GB" sz="1400" dirty="0"/>
          </a:p>
          <a:p>
            <a:pPr>
              <a:lnSpc>
                <a:spcPct val="120000"/>
              </a:lnSpc>
              <a:defRPr/>
            </a:pPr>
            <a:r>
              <a:rPr lang="en-GB" sz="1400" dirty="0"/>
              <a:t>LSB extends </a:t>
            </a:r>
            <a:r>
              <a:rPr lang="en-GB" sz="1400" i="1" dirty="0"/>
              <a:t>down</a:t>
            </a:r>
            <a:r>
              <a:rPr lang="en-GB" sz="1400" dirty="0"/>
              <a:t> from  </a:t>
            </a:r>
            <a:r>
              <a:rPr lang="en-GB" sz="1400" b="1" dirty="0">
                <a:solidFill>
                  <a:srgbClr val="FF0000"/>
                </a:solidFill>
              </a:rPr>
              <a:t>[600,000 – 100]Hz    </a:t>
            </a:r>
            <a:r>
              <a:rPr lang="en-GB" sz="1400" dirty="0"/>
              <a:t>to    </a:t>
            </a:r>
            <a:r>
              <a:rPr lang="en-GB" sz="1400" b="1" dirty="0">
                <a:solidFill>
                  <a:srgbClr val="FF0000"/>
                </a:solidFill>
              </a:rPr>
              <a:t>[600,000 – 8,000]Hz</a:t>
            </a:r>
          </a:p>
          <a:p>
            <a:pPr>
              <a:lnSpc>
                <a:spcPct val="120000"/>
              </a:lnSpc>
              <a:defRPr/>
            </a:pPr>
            <a:r>
              <a:rPr lang="en-GB" sz="1400" dirty="0"/>
              <a:t>	= </a:t>
            </a:r>
            <a:r>
              <a:rPr lang="en-GB" sz="1400" b="1" dirty="0">
                <a:solidFill>
                  <a:srgbClr val="FF0000"/>
                </a:solidFill>
              </a:rPr>
              <a:t>599.9KHz down to 592KHz</a:t>
            </a:r>
            <a:endParaRPr lang="en-US" sz="1400" b="1" dirty="0">
              <a:solidFill>
                <a:srgbClr val="FF0000"/>
              </a:solidFill>
            </a:endParaRP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530225" y="1703388"/>
            <a:ext cx="5495925" cy="2535237"/>
            <a:chOff x="530225" y="1703388"/>
            <a:chExt cx="5495926" cy="2535237"/>
          </a:xfrm>
        </p:grpSpPr>
        <p:sp>
          <p:nvSpPr>
            <p:cNvPr id="12294" name="Line 5"/>
            <p:cNvSpPr>
              <a:spLocks noChangeShapeType="1"/>
            </p:cNvSpPr>
            <p:nvPr/>
          </p:nvSpPr>
          <p:spPr bwMode="auto">
            <a:xfrm flipV="1">
              <a:off x="1147763" y="3416300"/>
              <a:ext cx="4878388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12295" name="Line 7"/>
            <p:cNvSpPr>
              <a:spLocks noChangeShapeType="1"/>
            </p:cNvSpPr>
            <p:nvPr/>
          </p:nvSpPr>
          <p:spPr bwMode="auto">
            <a:xfrm flipH="1">
              <a:off x="3584576" y="1703388"/>
              <a:ext cx="11113" cy="2151062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12296" name="Text Box 12"/>
            <p:cNvSpPr txBox="1">
              <a:spLocks noChangeArrowheads="1"/>
            </p:cNvSpPr>
            <p:nvPr/>
          </p:nvSpPr>
          <p:spPr bwMode="auto">
            <a:xfrm>
              <a:off x="3470276" y="3902075"/>
              <a:ext cx="330200" cy="3365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600"/>
                <a:t>f</a:t>
              </a:r>
              <a:r>
                <a:rPr lang="en-GB" sz="1600" baseline="-25000"/>
                <a:t>c</a:t>
              </a:r>
              <a:endParaRPr lang="en-US" sz="1600" baseline="-25000"/>
            </a:p>
          </p:txBody>
        </p:sp>
        <p:sp>
          <p:nvSpPr>
            <p:cNvPr id="12297" name="Text Box 13"/>
            <p:cNvSpPr txBox="1">
              <a:spLocks noChangeArrowheads="1"/>
            </p:cNvSpPr>
            <p:nvPr/>
          </p:nvSpPr>
          <p:spPr bwMode="auto">
            <a:xfrm>
              <a:off x="3692526" y="3509963"/>
              <a:ext cx="1976823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200" i="1"/>
                <a:t>f</a:t>
              </a:r>
              <a:r>
                <a:rPr lang="en-GB" sz="1200" i="1" baseline="-25000"/>
                <a:t>c</a:t>
              </a:r>
              <a:r>
                <a:rPr lang="en-GB" sz="1200" i="1"/>
                <a:t> + freq range of signal</a:t>
              </a:r>
              <a:endParaRPr lang="en-US" sz="1200" i="1"/>
            </a:p>
          </p:txBody>
        </p:sp>
        <p:sp>
          <p:nvSpPr>
            <p:cNvPr id="12298" name="Text Box 15"/>
            <p:cNvSpPr txBox="1">
              <a:spLocks noChangeArrowheads="1"/>
            </p:cNvSpPr>
            <p:nvPr/>
          </p:nvSpPr>
          <p:spPr bwMode="auto">
            <a:xfrm>
              <a:off x="1241426" y="3530600"/>
              <a:ext cx="1944763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200" i="1"/>
                <a:t>f</a:t>
              </a:r>
              <a:r>
                <a:rPr lang="en-GB" sz="1200" i="1" baseline="-25000"/>
                <a:t>c</a:t>
              </a:r>
              <a:r>
                <a:rPr lang="en-GB" sz="1200" i="1"/>
                <a:t> - freq range of signal</a:t>
              </a:r>
              <a:endParaRPr lang="en-US" sz="1200" i="1"/>
            </a:p>
          </p:txBody>
        </p:sp>
        <p:sp>
          <p:nvSpPr>
            <p:cNvPr id="12299" name="Line 23"/>
            <p:cNvSpPr>
              <a:spLocks noChangeShapeType="1"/>
            </p:cNvSpPr>
            <p:nvPr/>
          </p:nvSpPr>
          <p:spPr bwMode="auto">
            <a:xfrm flipH="1" flipV="1">
              <a:off x="1174749" y="1828800"/>
              <a:ext cx="907" cy="17634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12300" name="Line 24"/>
            <p:cNvSpPr>
              <a:spLocks noChangeShapeType="1"/>
            </p:cNvSpPr>
            <p:nvPr/>
          </p:nvSpPr>
          <p:spPr bwMode="auto">
            <a:xfrm flipV="1">
              <a:off x="1060450" y="1839913"/>
              <a:ext cx="0" cy="5603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12301" name="Text Box 25"/>
            <p:cNvSpPr txBox="1">
              <a:spLocks noChangeArrowheads="1"/>
            </p:cNvSpPr>
            <p:nvPr/>
          </p:nvSpPr>
          <p:spPr bwMode="auto">
            <a:xfrm>
              <a:off x="530225" y="2376488"/>
              <a:ext cx="630301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200"/>
                <a:t>Power</a:t>
              </a:r>
              <a:endParaRPr lang="en-US" sz="1200"/>
            </a:p>
          </p:txBody>
        </p:sp>
        <p:sp>
          <p:nvSpPr>
            <p:cNvPr id="19" name="Flowchart: Manual Operation 18"/>
            <p:cNvSpPr/>
            <p:nvPr/>
          </p:nvSpPr>
          <p:spPr bwMode="auto">
            <a:xfrm flipV="1">
              <a:off x="1306513" y="1916113"/>
              <a:ext cx="2133600" cy="1479550"/>
            </a:xfrm>
            <a:prstGeom prst="flowChartManualOperation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sz="1600"/>
            </a:p>
          </p:txBody>
        </p:sp>
        <p:sp>
          <p:nvSpPr>
            <p:cNvPr id="20" name="Flowchart: Manual Operation 19"/>
            <p:cNvSpPr/>
            <p:nvPr/>
          </p:nvSpPr>
          <p:spPr bwMode="auto">
            <a:xfrm flipV="1">
              <a:off x="3657601" y="1916113"/>
              <a:ext cx="2133600" cy="1479550"/>
            </a:xfrm>
            <a:prstGeom prst="flowChartManualOperation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sz="1600"/>
            </a:p>
          </p:txBody>
        </p:sp>
        <p:sp>
          <p:nvSpPr>
            <p:cNvPr id="12304" name="TextBox 20"/>
            <p:cNvSpPr txBox="1">
              <a:spLocks noChangeArrowheads="1"/>
            </p:cNvSpPr>
            <p:nvPr/>
          </p:nvSpPr>
          <p:spPr bwMode="auto">
            <a:xfrm>
              <a:off x="1457885" y="2612571"/>
              <a:ext cx="1811713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GB" sz="1600" b="1"/>
                <a:t>LSB = </a:t>
              </a:r>
            </a:p>
            <a:p>
              <a:pPr algn="ctr"/>
              <a:r>
                <a:rPr lang="en-GB" sz="1600" b="1"/>
                <a:t>Lower Side Band</a:t>
              </a:r>
              <a:endParaRPr lang="en-US" sz="1600" b="1"/>
            </a:p>
          </p:txBody>
        </p:sp>
        <p:sp>
          <p:nvSpPr>
            <p:cNvPr id="12305" name="TextBox 21"/>
            <p:cNvSpPr txBox="1">
              <a:spLocks noChangeArrowheads="1"/>
            </p:cNvSpPr>
            <p:nvPr/>
          </p:nvSpPr>
          <p:spPr bwMode="auto">
            <a:xfrm>
              <a:off x="3848735" y="2634343"/>
              <a:ext cx="1819729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GB" sz="1600" b="1"/>
                <a:t>USB = </a:t>
              </a:r>
            </a:p>
            <a:p>
              <a:pPr algn="ctr"/>
              <a:r>
                <a:rPr lang="en-GB" sz="1600" b="1"/>
                <a:t>Upper Side Band</a:t>
              </a:r>
              <a:endParaRPr lang="en-US" sz="1600" b="1"/>
            </a:p>
          </p:txBody>
        </p:sp>
      </p:grpSp>
    </p:spTree>
    <p:extLst>
      <p:ext uri="{BB962C8B-B14F-4D97-AF65-F5344CB8AC3E}">
        <p14:creationId xmlns:p14="http://schemas.microsoft.com/office/powerpoint/2010/main" val="27725279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5"/>
          <p:cNvSpPr txBox="1">
            <a:spLocks noChangeArrowheads="1"/>
          </p:cNvSpPr>
          <p:nvPr/>
        </p:nvSpPr>
        <p:spPr bwMode="auto">
          <a:xfrm>
            <a:off x="430213" y="366713"/>
            <a:ext cx="5641975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AM Frequency Spectrum - Sidebands</a:t>
            </a:r>
            <a:endParaRPr lang="en-US" sz="2400" b="1"/>
          </a:p>
        </p:txBody>
      </p:sp>
      <p:grpSp>
        <p:nvGrpSpPr>
          <p:cNvPr id="2" name="Group 36"/>
          <p:cNvGrpSpPr>
            <a:grpSpLocks/>
          </p:cNvGrpSpPr>
          <p:nvPr/>
        </p:nvGrpSpPr>
        <p:grpSpPr bwMode="auto">
          <a:xfrm>
            <a:off x="430213" y="927100"/>
            <a:ext cx="8358187" cy="5175250"/>
            <a:chOff x="430213" y="927735"/>
            <a:chExt cx="8358188" cy="5174298"/>
          </a:xfrm>
        </p:grpSpPr>
        <p:grpSp>
          <p:nvGrpSpPr>
            <p:cNvPr id="3" name="Group 34"/>
            <p:cNvGrpSpPr>
              <a:grpSpLocks/>
            </p:cNvGrpSpPr>
            <p:nvPr/>
          </p:nvGrpSpPr>
          <p:grpSpPr bwMode="auto">
            <a:xfrm>
              <a:off x="430213" y="927735"/>
              <a:ext cx="8307387" cy="4711700"/>
              <a:chOff x="430213" y="724535"/>
              <a:chExt cx="8307387" cy="4711700"/>
            </a:xfrm>
          </p:grpSpPr>
          <p:pic>
            <p:nvPicPr>
              <p:cNvPr id="13329" name="Picture 4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430213" y="724535"/>
                <a:ext cx="8297862" cy="471170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</p:pic>
          <p:sp>
            <p:nvSpPr>
              <p:cNvPr id="13330" name="Rectangle 4"/>
              <p:cNvSpPr>
                <a:spLocks noChangeArrowheads="1"/>
              </p:cNvSpPr>
              <p:nvPr/>
            </p:nvSpPr>
            <p:spPr bwMode="auto">
              <a:xfrm>
                <a:off x="430213" y="782320"/>
                <a:ext cx="8307387" cy="802640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3317" name="Rectangle 5"/>
            <p:cNvSpPr>
              <a:spLocks noChangeArrowheads="1"/>
            </p:cNvSpPr>
            <p:nvPr/>
          </p:nvSpPr>
          <p:spPr bwMode="auto">
            <a:xfrm>
              <a:off x="430213" y="5328920"/>
              <a:ext cx="8355012" cy="773113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  <a:p>
              <a:endParaRPr lang="en-US"/>
            </a:p>
          </p:txBody>
        </p:sp>
        <p:cxnSp>
          <p:nvCxnSpPr>
            <p:cNvPr id="7" name="Straight Arrow Connector 6"/>
            <p:cNvCxnSpPr/>
            <p:nvPr/>
          </p:nvCxnSpPr>
          <p:spPr bwMode="auto">
            <a:xfrm rot="16200000" flipH="1">
              <a:off x="3129033" y="3027583"/>
              <a:ext cx="761860" cy="295275"/>
            </a:xfrm>
            <a:prstGeom prst="straightConnector1">
              <a:avLst/>
            </a:prstGeom>
            <a:ln w="12700">
              <a:solidFill>
                <a:srgbClr val="FF0000"/>
              </a:solidFill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19" name="Straight Connector 16"/>
            <p:cNvCxnSpPr>
              <a:cxnSpLocks noChangeShapeType="1"/>
            </p:cNvCxnSpPr>
            <p:nvPr/>
          </p:nvCxnSpPr>
          <p:spPr bwMode="auto">
            <a:xfrm rot="16200000" flipV="1">
              <a:off x="3042920" y="3764280"/>
              <a:ext cx="3068320" cy="10160"/>
            </a:xfrm>
            <a:prstGeom prst="line">
              <a:avLst/>
            </a:prstGeom>
            <a:noFill/>
            <a:ln w="4762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13320" name="Straight Connector 17"/>
            <p:cNvCxnSpPr>
              <a:cxnSpLocks noChangeShapeType="1"/>
            </p:cNvCxnSpPr>
            <p:nvPr/>
          </p:nvCxnSpPr>
          <p:spPr bwMode="auto">
            <a:xfrm rot="5400000" flipH="1" flipV="1">
              <a:off x="4318000" y="4277360"/>
              <a:ext cx="2062480" cy="10160"/>
            </a:xfrm>
            <a:prstGeom prst="line">
              <a:avLst/>
            </a:prstGeom>
            <a:noFill/>
            <a:ln w="47625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13321" name="Straight Connector 19"/>
            <p:cNvCxnSpPr>
              <a:cxnSpLocks noChangeShapeType="1"/>
            </p:cNvCxnSpPr>
            <p:nvPr/>
          </p:nvCxnSpPr>
          <p:spPr bwMode="auto">
            <a:xfrm rot="5400000" flipH="1" flipV="1">
              <a:off x="2722880" y="4257040"/>
              <a:ext cx="2062480" cy="10160"/>
            </a:xfrm>
            <a:prstGeom prst="line">
              <a:avLst/>
            </a:prstGeom>
            <a:noFill/>
            <a:ln w="47625" algn="ctr">
              <a:solidFill>
                <a:srgbClr val="FF0000"/>
              </a:solidFill>
              <a:round/>
              <a:headEnd/>
              <a:tailEnd/>
            </a:ln>
          </p:spPr>
        </p:cxnSp>
        <p:sp>
          <p:nvSpPr>
            <p:cNvPr id="13322" name="Rectangle 5"/>
            <p:cNvSpPr>
              <a:spLocks noChangeArrowheads="1"/>
            </p:cNvSpPr>
            <p:nvPr/>
          </p:nvSpPr>
          <p:spPr bwMode="auto">
            <a:xfrm>
              <a:off x="4622800" y="1610360"/>
              <a:ext cx="4165601" cy="1325880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  <a:p>
              <a:endParaRPr lang="en-US"/>
            </a:p>
          </p:txBody>
        </p:sp>
        <p:sp>
          <p:nvSpPr>
            <p:cNvPr id="13323" name="Rectangle 20"/>
            <p:cNvSpPr>
              <a:spLocks noChangeArrowheads="1"/>
            </p:cNvSpPr>
            <p:nvPr/>
          </p:nvSpPr>
          <p:spPr bwMode="auto">
            <a:xfrm>
              <a:off x="4263355" y="1644283"/>
              <a:ext cx="1405925" cy="73866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400"/>
                <a:t>Carrier frequency</a:t>
              </a:r>
            </a:p>
            <a:p>
              <a:pPr algn="ctr"/>
              <a:r>
                <a:rPr lang="en-GB" sz="1400"/>
                <a:t> </a:t>
              </a:r>
              <a:r>
                <a:rPr lang="en-GB" sz="1400">
                  <a:solidFill>
                    <a:srgbClr val="FF0000"/>
                  </a:solidFill>
                </a:rPr>
                <a:t>f</a:t>
              </a:r>
              <a:r>
                <a:rPr lang="en-GB" sz="1400" baseline="-25000">
                  <a:solidFill>
                    <a:srgbClr val="FF0000"/>
                  </a:solidFill>
                </a:rPr>
                <a:t>c </a:t>
              </a:r>
              <a:r>
                <a:rPr lang="en-GB" sz="1400">
                  <a:solidFill>
                    <a:srgbClr val="FF0000"/>
                  </a:solidFill>
                </a:rPr>
                <a:t>= 5KHz</a:t>
              </a:r>
            </a:p>
          </p:txBody>
        </p:sp>
        <p:sp>
          <p:nvSpPr>
            <p:cNvPr id="13324" name="Rectangle 21"/>
            <p:cNvSpPr>
              <a:spLocks noChangeArrowheads="1"/>
            </p:cNvSpPr>
            <p:nvPr/>
          </p:nvSpPr>
          <p:spPr bwMode="auto">
            <a:xfrm>
              <a:off x="430213" y="1126123"/>
              <a:ext cx="3118161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/>
                <a:t>Signal frequency, </a:t>
              </a:r>
              <a:r>
                <a:rPr lang="en-GB">
                  <a:solidFill>
                    <a:srgbClr val="FF0000"/>
                  </a:solidFill>
                </a:rPr>
                <a:t>f</a:t>
              </a:r>
              <a:r>
                <a:rPr lang="en-GB" baseline="-25000">
                  <a:solidFill>
                    <a:srgbClr val="FF0000"/>
                  </a:solidFill>
                </a:rPr>
                <a:t>m</a:t>
              </a:r>
              <a:r>
                <a:rPr lang="en-GB">
                  <a:solidFill>
                    <a:srgbClr val="FF0000"/>
                  </a:solidFill>
                </a:rPr>
                <a:t> = 500Hz</a:t>
              </a:r>
            </a:p>
          </p:txBody>
        </p:sp>
        <p:sp>
          <p:nvSpPr>
            <p:cNvPr id="13325" name="Rectangle 5"/>
            <p:cNvSpPr>
              <a:spLocks noChangeArrowheads="1"/>
            </p:cNvSpPr>
            <p:nvPr/>
          </p:nvSpPr>
          <p:spPr bwMode="auto">
            <a:xfrm>
              <a:off x="430213" y="1488440"/>
              <a:ext cx="3969067" cy="1417320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  <a:p>
              <a:endParaRPr lang="en-US"/>
            </a:p>
          </p:txBody>
        </p:sp>
        <p:sp>
          <p:nvSpPr>
            <p:cNvPr id="13326" name="Rectangle 22"/>
            <p:cNvSpPr>
              <a:spLocks noChangeArrowheads="1"/>
            </p:cNvSpPr>
            <p:nvPr/>
          </p:nvSpPr>
          <p:spPr bwMode="auto">
            <a:xfrm>
              <a:off x="1442720" y="2204721"/>
              <a:ext cx="2692400" cy="584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FFCC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/>
                <a:t>Sideband at </a:t>
              </a:r>
              <a:r>
                <a:rPr lang="en-GB">
                  <a:solidFill>
                    <a:srgbClr val="FF0000"/>
                  </a:solidFill>
                </a:rPr>
                <a:t>f</a:t>
              </a:r>
              <a:r>
                <a:rPr lang="en-GB" baseline="-25000">
                  <a:solidFill>
                    <a:srgbClr val="FF0000"/>
                  </a:solidFill>
                </a:rPr>
                <a:t>c</a:t>
              </a:r>
              <a:r>
                <a:rPr lang="en-GB">
                  <a:solidFill>
                    <a:srgbClr val="FF0000"/>
                  </a:solidFill>
                </a:rPr>
                <a:t>-f</a:t>
              </a:r>
              <a:r>
                <a:rPr lang="en-GB" baseline="-25000">
                  <a:solidFill>
                    <a:srgbClr val="FF0000"/>
                  </a:solidFill>
                </a:rPr>
                <a:t>m</a:t>
              </a:r>
              <a:r>
                <a:rPr lang="en-GB"/>
                <a:t> = </a:t>
              </a:r>
              <a:r>
                <a:rPr lang="en-GB">
                  <a:solidFill>
                    <a:srgbClr val="FF0000"/>
                  </a:solidFill>
                </a:rPr>
                <a:t>5KHz-500Hz = </a:t>
              </a:r>
              <a:r>
                <a:rPr lang="en-GB" b="1">
                  <a:solidFill>
                    <a:srgbClr val="FF0000"/>
                  </a:solidFill>
                </a:rPr>
                <a:t>4.5KHz</a:t>
              </a:r>
              <a:r>
                <a:rPr lang="en-GB"/>
                <a:t> </a:t>
              </a:r>
              <a:endParaRPr lang="en-US"/>
            </a:p>
          </p:txBody>
        </p:sp>
        <p:sp>
          <p:nvSpPr>
            <p:cNvPr id="13327" name="Rectangle 27"/>
            <p:cNvSpPr>
              <a:spLocks noChangeArrowheads="1"/>
            </p:cNvSpPr>
            <p:nvPr/>
          </p:nvSpPr>
          <p:spPr bwMode="auto">
            <a:xfrm>
              <a:off x="5071706" y="2264043"/>
              <a:ext cx="2954694" cy="58477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/>
                <a:t>Sideband at </a:t>
              </a:r>
              <a:r>
                <a:rPr lang="en-GB">
                  <a:solidFill>
                    <a:srgbClr val="FF0000"/>
                  </a:solidFill>
                </a:rPr>
                <a:t>f</a:t>
              </a:r>
              <a:r>
                <a:rPr lang="en-GB" baseline="-25000">
                  <a:solidFill>
                    <a:srgbClr val="FF0000"/>
                  </a:solidFill>
                </a:rPr>
                <a:t>c</a:t>
              </a:r>
              <a:r>
                <a:rPr lang="en-GB">
                  <a:solidFill>
                    <a:srgbClr val="FF0000"/>
                  </a:solidFill>
                </a:rPr>
                <a:t>+f</a:t>
              </a:r>
              <a:r>
                <a:rPr lang="en-GB" baseline="-25000">
                  <a:solidFill>
                    <a:srgbClr val="FF0000"/>
                  </a:solidFill>
                </a:rPr>
                <a:t>m</a:t>
              </a:r>
              <a:r>
                <a:rPr lang="en-GB"/>
                <a:t> = </a:t>
              </a:r>
              <a:r>
                <a:rPr lang="en-GB">
                  <a:solidFill>
                    <a:srgbClr val="FF0000"/>
                  </a:solidFill>
                </a:rPr>
                <a:t>5KHz+500Hz = </a:t>
              </a:r>
              <a:r>
                <a:rPr lang="en-GB" b="1">
                  <a:solidFill>
                    <a:srgbClr val="FF0000"/>
                  </a:solidFill>
                </a:rPr>
                <a:t>5.5KHz</a:t>
              </a:r>
              <a:r>
                <a:rPr lang="en-GB"/>
                <a:t> </a:t>
              </a:r>
              <a:endParaRPr lang="en-US"/>
            </a:p>
          </p:txBody>
        </p:sp>
        <p:cxnSp>
          <p:nvCxnSpPr>
            <p:cNvPr id="10" name="Straight Arrow Connector 9"/>
            <p:cNvCxnSpPr/>
            <p:nvPr/>
          </p:nvCxnSpPr>
          <p:spPr bwMode="auto">
            <a:xfrm rot="10800000" flipV="1">
              <a:off x="5435601" y="2773658"/>
              <a:ext cx="1565275" cy="842807"/>
            </a:xfrm>
            <a:prstGeom prst="straightConnector1">
              <a:avLst/>
            </a:prstGeom>
            <a:ln w="12700">
              <a:solidFill>
                <a:srgbClr val="FF0000"/>
              </a:solidFill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602351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5"/>
          <p:cNvSpPr txBox="1">
            <a:spLocks noChangeArrowheads="1"/>
          </p:cNvSpPr>
          <p:nvPr/>
        </p:nvSpPr>
        <p:spPr bwMode="auto">
          <a:xfrm>
            <a:off x="393700" y="381000"/>
            <a:ext cx="3460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400" b="1"/>
              <a:t>Frequency Modulation</a:t>
            </a:r>
          </a:p>
        </p:txBody>
      </p:sp>
      <p:sp>
        <p:nvSpPr>
          <p:cNvPr id="14339" name="Text Box 6"/>
          <p:cNvSpPr txBox="1">
            <a:spLocks noChangeArrowheads="1"/>
          </p:cNvSpPr>
          <p:nvPr/>
        </p:nvSpPr>
        <p:spPr bwMode="auto">
          <a:xfrm>
            <a:off x="381000" y="1558638"/>
            <a:ext cx="152317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1600" dirty="0" err="1"/>
              <a:t>Unmodulated</a:t>
            </a:r>
            <a:endParaRPr lang="en-GB" sz="1600" dirty="0"/>
          </a:p>
          <a:p>
            <a:r>
              <a:rPr lang="en-GB" sz="1600" dirty="0"/>
              <a:t>Carrier Wave</a:t>
            </a:r>
            <a:endParaRPr lang="en-GB" sz="2000" dirty="0"/>
          </a:p>
        </p:txBody>
      </p:sp>
      <p:sp>
        <p:nvSpPr>
          <p:cNvPr id="14340" name="Text Box 7"/>
          <p:cNvSpPr txBox="1">
            <a:spLocks noChangeArrowheads="1"/>
          </p:cNvSpPr>
          <p:nvPr/>
        </p:nvSpPr>
        <p:spPr bwMode="auto">
          <a:xfrm>
            <a:off x="381000" y="2940050"/>
            <a:ext cx="14192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1600"/>
              <a:t>Audio Signal</a:t>
            </a:r>
            <a:endParaRPr lang="en-GB" sz="2000"/>
          </a:p>
        </p:txBody>
      </p:sp>
      <p:sp>
        <p:nvSpPr>
          <p:cNvPr id="14341" name="Text Box 8"/>
          <p:cNvSpPr txBox="1">
            <a:spLocks noChangeArrowheads="1"/>
          </p:cNvSpPr>
          <p:nvPr/>
        </p:nvSpPr>
        <p:spPr bwMode="auto">
          <a:xfrm>
            <a:off x="381000" y="4165600"/>
            <a:ext cx="1479550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GB" sz="1600"/>
              <a:t>Frequency Modulated Wave</a:t>
            </a:r>
            <a:endParaRPr lang="en-GB" sz="2000"/>
          </a:p>
        </p:txBody>
      </p:sp>
      <p:sp>
        <p:nvSpPr>
          <p:cNvPr id="14342" name="Freeform 9"/>
          <p:cNvSpPr>
            <a:spLocks/>
          </p:cNvSpPr>
          <p:nvPr/>
        </p:nvSpPr>
        <p:spPr bwMode="auto">
          <a:xfrm>
            <a:off x="2043113" y="2784475"/>
            <a:ext cx="6038850" cy="650875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2033588" y="1414463"/>
            <a:ext cx="6096000" cy="752475"/>
            <a:chOff x="1157" y="589"/>
            <a:chExt cx="3840" cy="672"/>
          </a:xfrm>
        </p:grpSpPr>
        <p:sp>
          <p:nvSpPr>
            <p:cNvPr id="14366" name="Freeform 11"/>
            <p:cNvSpPr>
              <a:spLocks/>
            </p:cNvSpPr>
            <p:nvPr/>
          </p:nvSpPr>
          <p:spPr bwMode="auto">
            <a:xfrm>
              <a:off x="1157" y="589"/>
              <a:ext cx="192" cy="672"/>
            </a:xfrm>
            <a:custGeom>
              <a:avLst/>
              <a:gdLst>
                <a:gd name="T0" fmla="*/ 0 w 1536"/>
                <a:gd name="T1" fmla="*/ 1 h 1152"/>
                <a:gd name="T2" fmla="*/ 0 w 1536"/>
                <a:gd name="T3" fmla="*/ 0 h 1152"/>
                <a:gd name="T4" fmla="*/ 0 w 1536"/>
                <a:gd name="T5" fmla="*/ 1 h 1152"/>
                <a:gd name="T6" fmla="*/ 0 w 1536"/>
                <a:gd name="T7" fmla="*/ 1 h 1152"/>
                <a:gd name="T8" fmla="*/ 0 w 1536"/>
                <a:gd name="T9" fmla="*/ 1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67" name="Freeform 12"/>
            <p:cNvSpPr>
              <a:spLocks/>
            </p:cNvSpPr>
            <p:nvPr/>
          </p:nvSpPr>
          <p:spPr bwMode="auto">
            <a:xfrm>
              <a:off x="1349" y="589"/>
              <a:ext cx="192" cy="672"/>
            </a:xfrm>
            <a:custGeom>
              <a:avLst/>
              <a:gdLst>
                <a:gd name="T0" fmla="*/ 0 w 1536"/>
                <a:gd name="T1" fmla="*/ 1 h 1152"/>
                <a:gd name="T2" fmla="*/ 0 w 1536"/>
                <a:gd name="T3" fmla="*/ 0 h 1152"/>
                <a:gd name="T4" fmla="*/ 0 w 1536"/>
                <a:gd name="T5" fmla="*/ 1 h 1152"/>
                <a:gd name="T6" fmla="*/ 0 w 1536"/>
                <a:gd name="T7" fmla="*/ 1 h 1152"/>
                <a:gd name="T8" fmla="*/ 0 w 1536"/>
                <a:gd name="T9" fmla="*/ 1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68" name="Freeform 13"/>
            <p:cNvSpPr>
              <a:spLocks/>
            </p:cNvSpPr>
            <p:nvPr/>
          </p:nvSpPr>
          <p:spPr bwMode="auto">
            <a:xfrm>
              <a:off x="1541" y="589"/>
              <a:ext cx="192" cy="672"/>
            </a:xfrm>
            <a:custGeom>
              <a:avLst/>
              <a:gdLst>
                <a:gd name="T0" fmla="*/ 0 w 1536"/>
                <a:gd name="T1" fmla="*/ 1 h 1152"/>
                <a:gd name="T2" fmla="*/ 0 w 1536"/>
                <a:gd name="T3" fmla="*/ 0 h 1152"/>
                <a:gd name="T4" fmla="*/ 0 w 1536"/>
                <a:gd name="T5" fmla="*/ 1 h 1152"/>
                <a:gd name="T6" fmla="*/ 0 w 1536"/>
                <a:gd name="T7" fmla="*/ 1 h 1152"/>
                <a:gd name="T8" fmla="*/ 0 w 1536"/>
                <a:gd name="T9" fmla="*/ 1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69" name="Freeform 14"/>
            <p:cNvSpPr>
              <a:spLocks/>
            </p:cNvSpPr>
            <p:nvPr/>
          </p:nvSpPr>
          <p:spPr bwMode="auto">
            <a:xfrm>
              <a:off x="1733" y="589"/>
              <a:ext cx="192" cy="672"/>
            </a:xfrm>
            <a:custGeom>
              <a:avLst/>
              <a:gdLst>
                <a:gd name="T0" fmla="*/ 0 w 1536"/>
                <a:gd name="T1" fmla="*/ 1 h 1152"/>
                <a:gd name="T2" fmla="*/ 0 w 1536"/>
                <a:gd name="T3" fmla="*/ 0 h 1152"/>
                <a:gd name="T4" fmla="*/ 0 w 1536"/>
                <a:gd name="T5" fmla="*/ 1 h 1152"/>
                <a:gd name="T6" fmla="*/ 0 w 1536"/>
                <a:gd name="T7" fmla="*/ 1 h 1152"/>
                <a:gd name="T8" fmla="*/ 0 w 1536"/>
                <a:gd name="T9" fmla="*/ 1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70" name="Freeform 15"/>
            <p:cNvSpPr>
              <a:spLocks/>
            </p:cNvSpPr>
            <p:nvPr/>
          </p:nvSpPr>
          <p:spPr bwMode="auto">
            <a:xfrm>
              <a:off x="1925" y="589"/>
              <a:ext cx="192" cy="672"/>
            </a:xfrm>
            <a:custGeom>
              <a:avLst/>
              <a:gdLst>
                <a:gd name="T0" fmla="*/ 0 w 1536"/>
                <a:gd name="T1" fmla="*/ 1 h 1152"/>
                <a:gd name="T2" fmla="*/ 0 w 1536"/>
                <a:gd name="T3" fmla="*/ 0 h 1152"/>
                <a:gd name="T4" fmla="*/ 0 w 1536"/>
                <a:gd name="T5" fmla="*/ 1 h 1152"/>
                <a:gd name="T6" fmla="*/ 0 w 1536"/>
                <a:gd name="T7" fmla="*/ 1 h 1152"/>
                <a:gd name="T8" fmla="*/ 0 w 1536"/>
                <a:gd name="T9" fmla="*/ 1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71" name="Freeform 16"/>
            <p:cNvSpPr>
              <a:spLocks/>
            </p:cNvSpPr>
            <p:nvPr/>
          </p:nvSpPr>
          <p:spPr bwMode="auto">
            <a:xfrm>
              <a:off x="2117" y="589"/>
              <a:ext cx="192" cy="672"/>
            </a:xfrm>
            <a:custGeom>
              <a:avLst/>
              <a:gdLst>
                <a:gd name="T0" fmla="*/ 0 w 1536"/>
                <a:gd name="T1" fmla="*/ 1 h 1152"/>
                <a:gd name="T2" fmla="*/ 0 w 1536"/>
                <a:gd name="T3" fmla="*/ 0 h 1152"/>
                <a:gd name="T4" fmla="*/ 0 w 1536"/>
                <a:gd name="T5" fmla="*/ 1 h 1152"/>
                <a:gd name="T6" fmla="*/ 0 w 1536"/>
                <a:gd name="T7" fmla="*/ 1 h 1152"/>
                <a:gd name="T8" fmla="*/ 0 w 1536"/>
                <a:gd name="T9" fmla="*/ 1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72" name="Freeform 17"/>
            <p:cNvSpPr>
              <a:spLocks/>
            </p:cNvSpPr>
            <p:nvPr/>
          </p:nvSpPr>
          <p:spPr bwMode="auto">
            <a:xfrm>
              <a:off x="2309" y="589"/>
              <a:ext cx="192" cy="672"/>
            </a:xfrm>
            <a:custGeom>
              <a:avLst/>
              <a:gdLst>
                <a:gd name="T0" fmla="*/ 0 w 1536"/>
                <a:gd name="T1" fmla="*/ 1 h 1152"/>
                <a:gd name="T2" fmla="*/ 0 w 1536"/>
                <a:gd name="T3" fmla="*/ 0 h 1152"/>
                <a:gd name="T4" fmla="*/ 0 w 1536"/>
                <a:gd name="T5" fmla="*/ 1 h 1152"/>
                <a:gd name="T6" fmla="*/ 0 w 1536"/>
                <a:gd name="T7" fmla="*/ 1 h 1152"/>
                <a:gd name="T8" fmla="*/ 0 w 1536"/>
                <a:gd name="T9" fmla="*/ 1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73" name="Freeform 18"/>
            <p:cNvSpPr>
              <a:spLocks/>
            </p:cNvSpPr>
            <p:nvPr/>
          </p:nvSpPr>
          <p:spPr bwMode="auto">
            <a:xfrm>
              <a:off x="2501" y="589"/>
              <a:ext cx="192" cy="672"/>
            </a:xfrm>
            <a:custGeom>
              <a:avLst/>
              <a:gdLst>
                <a:gd name="T0" fmla="*/ 0 w 1536"/>
                <a:gd name="T1" fmla="*/ 1 h 1152"/>
                <a:gd name="T2" fmla="*/ 0 w 1536"/>
                <a:gd name="T3" fmla="*/ 0 h 1152"/>
                <a:gd name="T4" fmla="*/ 0 w 1536"/>
                <a:gd name="T5" fmla="*/ 1 h 1152"/>
                <a:gd name="T6" fmla="*/ 0 w 1536"/>
                <a:gd name="T7" fmla="*/ 1 h 1152"/>
                <a:gd name="T8" fmla="*/ 0 w 1536"/>
                <a:gd name="T9" fmla="*/ 1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74" name="Freeform 19"/>
            <p:cNvSpPr>
              <a:spLocks/>
            </p:cNvSpPr>
            <p:nvPr/>
          </p:nvSpPr>
          <p:spPr bwMode="auto">
            <a:xfrm>
              <a:off x="2693" y="589"/>
              <a:ext cx="192" cy="672"/>
            </a:xfrm>
            <a:custGeom>
              <a:avLst/>
              <a:gdLst>
                <a:gd name="T0" fmla="*/ 0 w 1536"/>
                <a:gd name="T1" fmla="*/ 1 h 1152"/>
                <a:gd name="T2" fmla="*/ 0 w 1536"/>
                <a:gd name="T3" fmla="*/ 0 h 1152"/>
                <a:gd name="T4" fmla="*/ 0 w 1536"/>
                <a:gd name="T5" fmla="*/ 1 h 1152"/>
                <a:gd name="T6" fmla="*/ 0 w 1536"/>
                <a:gd name="T7" fmla="*/ 1 h 1152"/>
                <a:gd name="T8" fmla="*/ 0 w 1536"/>
                <a:gd name="T9" fmla="*/ 1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75" name="Freeform 20"/>
            <p:cNvSpPr>
              <a:spLocks/>
            </p:cNvSpPr>
            <p:nvPr/>
          </p:nvSpPr>
          <p:spPr bwMode="auto">
            <a:xfrm>
              <a:off x="2885" y="589"/>
              <a:ext cx="192" cy="672"/>
            </a:xfrm>
            <a:custGeom>
              <a:avLst/>
              <a:gdLst>
                <a:gd name="T0" fmla="*/ 0 w 1536"/>
                <a:gd name="T1" fmla="*/ 1 h 1152"/>
                <a:gd name="T2" fmla="*/ 0 w 1536"/>
                <a:gd name="T3" fmla="*/ 0 h 1152"/>
                <a:gd name="T4" fmla="*/ 0 w 1536"/>
                <a:gd name="T5" fmla="*/ 1 h 1152"/>
                <a:gd name="T6" fmla="*/ 0 w 1536"/>
                <a:gd name="T7" fmla="*/ 1 h 1152"/>
                <a:gd name="T8" fmla="*/ 0 w 1536"/>
                <a:gd name="T9" fmla="*/ 1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76" name="Freeform 21"/>
            <p:cNvSpPr>
              <a:spLocks/>
            </p:cNvSpPr>
            <p:nvPr/>
          </p:nvSpPr>
          <p:spPr bwMode="auto">
            <a:xfrm>
              <a:off x="3077" y="589"/>
              <a:ext cx="192" cy="672"/>
            </a:xfrm>
            <a:custGeom>
              <a:avLst/>
              <a:gdLst>
                <a:gd name="T0" fmla="*/ 0 w 1536"/>
                <a:gd name="T1" fmla="*/ 1 h 1152"/>
                <a:gd name="T2" fmla="*/ 0 w 1536"/>
                <a:gd name="T3" fmla="*/ 0 h 1152"/>
                <a:gd name="T4" fmla="*/ 0 w 1536"/>
                <a:gd name="T5" fmla="*/ 1 h 1152"/>
                <a:gd name="T6" fmla="*/ 0 w 1536"/>
                <a:gd name="T7" fmla="*/ 1 h 1152"/>
                <a:gd name="T8" fmla="*/ 0 w 1536"/>
                <a:gd name="T9" fmla="*/ 1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77" name="Freeform 22"/>
            <p:cNvSpPr>
              <a:spLocks/>
            </p:cNvSpPr>
            <p:nvPr/>
          </p:nvSpPr>
          <p:spPr bwMode="auto">
            <a:xfrm>
              <a:off x="3269" y="589"/>
              <a:ext cx="192" cy="672"/>
            </a:xfrm>
            <a:custGeom>
              <a:avLst/>
              <a:gdLst>
                <a:gd name="T0" fmla="*/ 0 w 1536"/>
                <a:gd name="T1" fmla="*/ 1 h 1152"/>
                <a:gd name="T2" fmla="*/ 0 w 1536"/>
                <a:gd name="T3" fmla="*/ 0 h 1152"/>
                <a:gd name="T4" fmla="*/ 0 w 1536"/>
                <a:gd name="T5" fmla="*/ 1 h 1152"/>
                <a:gd name="T6" fmla="*/ 0 w 1536"/>
                <a:gd name="T7" fmla="*/ 1 h 1152"/>
                <a:gd name="T8" fmla="*/ 0 w 1536"/>
                <a:gd name="T9" fmla="*/ 1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78" name="Freeform 23"/>
            <p:cNvSpPr>
              <a:spLocks/>
            </p:cNvSpPr>
            <p:nvPr/>
          </p:nvSpPr>
          <p:spPr bwMode="auto">
            <a:xfrm>
              <a:off x="3461" y="589"/>
              <a:ext cx="192" cy="672"/>
            </a:xfrm>
            <a:custGeom>
              <a:avLst/>
              <a:gdLst>
                <a:gd name="T0" fmla="*/ 0 w 1536"/>
                <a:gd name="T1" fmla="*/ 1 h 1152"/>
                <a:gd name="T2" fmla="*/ 0 w 1536"/>
                <a:gd name="T3" fmla="*/ 0 h 1152"/>
                <a:gd name="T4" fmla="*/ 0 w 1536"/>
                <a:gd name="T5" fmla="*/ 1 h 1152"/>
                <a:gd name="T6" fmla="*/ 0 w 1536"/>
                <a:gd name="T7" fmla="*/ 1 h 1152"/>
                <a:gd name="T8" fmla="*/ 0 w 1536"/>
                <a:gd name="T9" fmla="*/ 1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79" name="Freeform 24"/>
            <p:cNvSpPr>
              <a:spLocks/>
            </p:cNvSpPr>
            <p:nvPr/>
          </p:nvSpPr>
          <p:spPr bwMode="auto">
            <a:xfrm>
              <a:off x="3653" y="589"/>
              <a:ext cx="192" cy="672"/>
            </a:xfrm>
            <a:custGeom>
              <a:avLst/>
              <a:gdLst>
                <a:gd name="T0" fmla="*/ 0 w 1536"/>
                <a:gd name="T1" fmla="*/ 1 h 1152"/>
                <a:gd name="T2" fmla="*/ 0 w 1536"/>
                <a:gd name="T3" fmla="*/ 0 h 1152"/>
                <a:gd name="T4" fmla="*/ 0 w 1536"/>
                <a:gd name="T5" fmla="*/ 1 h 1152"/>
                <a:gd name="T6" fmla="*/ 0 w 1536"/>
                <a:gd name="T7" fmla="*/ 1 h 1152"/>
                <a:gd name="T8" fmla="*/ 0 w 1536"/>
                <a:gd name="T9" fmla="*/ 1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80" name="Freeform 25"/>
            <p:cNvSpPr>
              <a:spLocks/>
            </p:cNvSpPr>
            <p:nvPr/>
          </p:nvSpPr>
          <p:spPr bwMode="auto">
            <a:xfrm>
              <a:off x="3845" y="589"/>
              <a:ext cx="192" cy="672"/>
            </a:xfrm>
            <a:custGeom>
              <a:avLst/>
              <a:gdLst>
                <a:gd name="T0" fmla="*/ 0 w 1536"/>
                <a:gd name="T1" fmla="*/ 1 h 1152"/>
                <a:gd name="T2" fmla="*/ 0 w 1536"/>
                <a:gd name="T3" fmla="*/ 0 h 1152"/>
                <a:gd name="T4" fmla="*/ 0 w 1536"/>
                <a:gd name="T5" fmla="*/ 1 h 1152"/>
                <a:gd name="T6" fmla="*/ 0 w 1536"/>
                <a:gd name="T7" fmla="*/ 1 h 1152"/>
                <a:gd name="T8" fmla="*/ 0 w 1536"/>
                <a:gd name="T9" fmla="*/ 1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81" name="Freeform 26"/>
            <p:cNvSpPr>
              <a:spLocks/>
            </p:cNvSpPr>
            <p:nvPr/>
          </p:nvSpPr>
          <p:spPr bwMode="auto">
            <a:xfrm>
              <a:off x="4037" y="589"/>
              <a:ext cx="192" cy="672"/>
            </a:xfrm>
            <a:custGeom>
              <a:avLst/>
              <a:gdLst>
                <a:gd name="T0" fmla="*/ 0 w 1536"/>
                <a:gd name="T1" fmla="*/ 1 h 1152"/>
                <a:gd name="T2" fmla="*/ 0 w 1536"/>
                <a:gd name="T3" fmla="*/ 0 h 1152"/>
                <a:gd name="T4" fmla="*/ 0 w 1536"/>
                <a:gd name="T5" fmla="*/ 1 h 1152"/>
                <a:gd name="T6" fmla="*/ 0 w 1536"/>
                <a:gd name="T7" fmla="*/ 1 h 1152"/>
                <a:gd name="T8" fmla="*/ 0 w 1536"/>
                <a:gd name="T9" fmla="*/ 1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82" name="Freeform 27"/>
            <p:cNvSpPr>
              <a:spLocks/>
            </p:cNvSpPr>
            <p:nvPr/>
          </p:nvSpPr>
          <p:spPr bwMode="auto">
            <a:xfrm>
              <a:off x="4229" y="589"/>
              <a:ext cx="192" cy="672"/>
            </a:xfrm>
            <a:custGeom>
              <a:avLst/>
              <a:gdLst>
                <a:gd name="T0" fmla="*/ 0 w 1536"/>
                <a:gd name="T1" fmla="*/ 1 h 1152"/>
                <a:gd name="T2" fmla="*/ 0 w 1536"/>
                <a:gd name="T3" fmla="*/ 0 h 1152"/>
                <a:gd name="T4" fmla="*/ 0 w 1536"/>
                <a:gd name="T5" fmla="*/ 1 h 1152"/>
                <a:gd name="T6" fmla="*/ 0 w 1536"/>
                <a:gd name="T7" fmla="*/ 1 h 1152"/>
                <a:gd name="T8" fmla="*/ 0 w 1536"/>
                <a:gd name="T9" fmla="*/ 1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83" name="Freeform 28"/>
            <p:cNvSpPr>
              <a:spLocks/>
            </p:cNvSpPr>
            <p:nvPr/>
          </p:nvSpPr>
          <p:spPr bwMode="auto">
            <a:xfrm>
              <a:off x="4421" y="589"/>
              <a:ext cx="192" cy="672"/>
            </a:xfrm>
            <a:custGeom>
              <a:avLst/>
              <a:gdLst>
                <a:gd name="T0" fmla="*/ 0 w 1536"/>
                <a:gd name="T1" fmla="*/ 1 h 1152"/>
                <a:gd name="T2" fmla="*/ 0 w 1536"/>
                <a:gd name="T3" fmla="*/ 0 h 1152"/>
                <a:gd name="T4" fmla="*/ 0 w 1536"/>
                <a:gd name="T5" fmla="*/ 1 h 1152"/>
                <a:gd name="T6" fmla="*/ 0 w 1536"/>
                <a:gd name="T7" fmla="*/ 1 h 1152"/>
                <a:gd name="T8" fmla="*/ 0 w 1536"/>
                <a:gd name="T9" fmla="*/ 1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84" name="Freeform 29"/>
            <p:cNvSpPr>
              <a:spLocks/>
            </p:cNvSpPr>
            <p:nvPr/>
          </p:nvSpPr>
          <p:spPr bwMode="auto">
            <a:xfrm>
              <a:off x="4613" y="589"/>
              <a:ext cx="192" cy="672"/>
            </a:xfrm>
            <a:custGeom>
              <a:avLst/>
              <a:gdLst>
                <a:gd name="T0" fmla="*/ 0 w 1536"/>
                <a:gd name="T1" fmla="*/ 1 h 1152"/>
                <a:gd name="T2" fmla="*/ 0 w 1536"/>
                <a:gd name="T3" fmla="*/ 0 h 1152"/>
                <a:gd name="T4" fmla="*/ 0 w 1536"/>
                <a:gd name="T5" fmla="*/ 1 h 1152"/>
                <a:gd name="T6" fmla="*/ 0 w 1536"/>
                <a:gd name="T7" fmla="*/ 1 h 1152"/>
                <a:gd name="T8" fmla="*/ 0 w 1536"/>
                <a:gd name="T9" fmla="*/ 1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85" name="Freeform 30"/>
            <p:cNvSpPr>
              <a:spLocks/>
            </p:cNvSpPr>
            <p:nvPr/>
          </p:nvSpPr>
          <p:spPr bwMode="auto">
            <a:xfrm>
              <a:off x="4805" y="589"/>
              <a:ext cx="192" cy="672"/>
            </a:xfrm>
            <a:custGeom>
              <a:avLst/>
              <a:gdLst>
                <a:gd name="T0" fmla="*/ 0 w 1536"/>
                <a:gd name="T1" fmla="*/ 1 h 1152"/>
                <a:gd name="T2" fmla="*/ 0 w 1536"/>
                <a:gd name="T3" fmla="*/ 0 h 1152"/>
                <a:gd name="T4" fmla="*/ 0 w 1536"/>
                <a:gd name="T5" fmla="*/ 1 h 1152"/>
                <a:gd name="T6" fmla="*/ 0 w 1536"/>
                <a:gd name="T7" fmla="*/ 1 h 1152"/>
                <a:gd name="T8" fmla="*/ 0 w 1536"/>
                <a:gd name="T9" fmla="*/ 1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3" name="Group 31"/>
          <p:cNvGrpSpPr>
            <a:grpSpLocks/>
          </p:cNvGrpSpPr>
          <p:nvPr/>
        </p:nvGrpSpPr>
        <p:grpSpPr bwMode="auto">
          <a:xfrm>
            <a:off x="2082800" y="4038600"/>
            <a:ext cx="6205538" cy="1050925"/>
            <a:chOff x="1298" y="1634"/>
            <a:chExt cx="3909" cy="496"/>
          </a:xfrm>
        </p:grpSpPr>
        <p:sp>
          <p:nvSpPr>
            <p:cNvPr id="14346" name="Freeform 32"/>
            <p:cNvSpPr>
              <a:spLocks/>
            </p:cNvSpPr>
            <p:nvPr/>
          </p:nvSpPr>
          <p:spPr bwMode="auto">
            <a:xfrm>
              <a:off x="3118" y="1649"/>
              <a:ext cx="296" cy="474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47" name="Freeform 33"/>
            <p:cNvSpPr>
              <a:spLocks/>
            </p:cNvSpPr>
            <p:nvPr/>
          </p:nvSpPr>
          <p:spPr bwMode="auto">
            <a:xfrm>
              <a:off x="1298" y="1655"/>
              <a:ext cx="206" cy="474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48" name="Freeform 34"/>
            <p:cNvSpPr>
              <a:spLocks/>
            </p:cNvSpPr>
            <p:nvPr/>
          </p:nvSpPr>
          <p:spPr bwMode="auto">
            <a:xfrm>
              <a:off x="1512" y="1655"/>
              <a:ext cx="164" cy="474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49" name="Freeform 35"/>
            <p:cNvSpPr>
              <a:spLocks/>
            </p:cNvSpPr>
            <p:nvPr/>
          </p:nvSpPr>
          <p:spPr bwMode="auto">
            <a:xfrm>
              <a:off x="1685" y="1648"/>
              <a:ext cx="122" cy="474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50" name="Freeform 36"/>
            <p:cNvSpPr>
              <a:spLocks/>
            </p:cNvSpPr>
            <p:nvPr/>
          </p:nvSpPr>
          <p:spPr bwMode="auto">
            <a:xfrm>
              <a:off x="1810" y="1648"/>
              <a:ext cx="109" cy="474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51" name="Freeform 37"/>
            <p:cNvSpPr>
              <a:spLocks/>
            </p:cNvSpPr>
            <p:nvPr/>
          </p:nvSpPr>
          <p:spPr bwMode="auto">
            <a:xfrm>
              <a:off x="1927" y="1648"/>
              <a:ext cx="95" cy="474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52" name="Freeform 38"/>
            <p:cNvSpPr>
              <a:spLocks/>
            </p:cNvSpPr>
            <p:nvPr/>
          </p:nvSpPr>
          <p:spPr bwMode="auto">
            <a:xfrm>
              <a:off x="2024" y="1655"/>
              <a:ext cx="95" cy="474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53" name="Freeform 39"/>
            <p:cNvSpPr>
              <a:spLocks/>
            </p:cNvSpPr>
            <p:nvPr/>
          </p:nvSpPr>
          <p:spPr bwMode="auto">
            <a:xfrm>
              <a:off x="2128" y="1655"/>
              <a:ext cx="95" cy="474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54" name="Freeform 40"/>
            <p:cNvSpPr>
              <a:spLocks/>
            </p:cNvSpPr>
            <p:nvPr/>
          </p:nvSpPr>
          <p:spPr bwMode="auto">
            <a:xfrm>
              <a:off x="2231" y="1648"/>
              <a:ext cx="81" cy="474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55" name="Freeform 41"/>
            <p:cNvSpPr>
              <a:spLocks/>
            </p:cNvSpPr>
            <p:nvPr/>
          </p:nvSpPr>
          <p:spPr bwMode="auto">
            <a:xfrm>
              <a:off x="2307" y="1648"/>
              <a:ext cx="95" cy="474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56" name="Freeform 42"/>
            <p:cNvSpPr>
              <a:spLocks/>
            </p:cNvSpPr>
            <p:nvPr/>
          </p:nvSpPr>
          <p:spPr bwMode="auto">
            <a:xfrm>
              <a:off x="2403" y="1655"/>
              <a:ext cx="95" cy="474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57" name="Freeform 43"/>
            <p:cNvSpPr>
              <a:spLocks/>
            </p:cNvSpPr>
            <p:nvPr/>
          </p:nvSpPr>
          <p:spPr bwMode="auto">
            <a:xfrm>
              <a:off x="2500" y="1654"/>
              <a:ext cx="109" cy="474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58" name="Freeform 44"/>
            <p:cNvSpPr>
              <a:spLocks/>
            </p:cNvSpPr>
            <p:nvPr/>
          </p:nvSpPr>
          <p:spPr bwMode="auto">
            <a:xfrm>
              <a:off x="2617" y="1655"/>
              <a:ext cx="130" cy="474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59" name="Freeform 45"/>
            <p:cNvSpPr>
              <a:spLocks/>
            </p:cNvSpPr>
            <p:nvPr/>
          </p:nvSpPr>
          <p:spPr bwMode="auto">
            <a:xfrm>
              <a:off x="2747" y="1648"/>
              <a:ext cx="163" cy="474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60" name="Freeform 46"/>
            <p:cNvSpPr>
              <a:spLocks/>
            </p:cNvSpPr>
            <p:nvPr/>
          </p:nvSpPr>
          <p:spPr bwMode="auto">
            <a:xfrm>
              <a:off x="2904" y="1634"/>
              <a:ext cx="206" cy="474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61" name="Freeform 47"/>
            <p:cNvSpPr>
              <a:spLocks/>
            </p:cNvSpPr>
            <p:nvPr/>
          </p:nvSpPr>
          <p:spPr bwMode="auto">
            <a:xfrm>
              <a:off x="3407" y="1656"/>
              <a:ext cx="386" cy="474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62" name="Freeform 48"/>
            <p:cNvSpPr>
              <a:spLocks/>
            </p:cNvSpPr>
            <p:nvPr/>
          </p:nvSpPr>
          <p:spPr bwMode="auto">
            <a:xfrm>
              <a:off x="3793" y="1649"/>
              <a:ext cx="462" cy="474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63" name="Freeform 49"/>
            <p:cNvSpPr>
              <a:spLocks/>
            </p:cNvSpPr>
            <p:nvPr/>
          </p:nvSpPr>
          <p:spPr bwMode="auto">
            <a:xfrm>
              <a:off x="4241" y="1648"/>
              <a:ext cx="462" cy="474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64" name="Freeform 50"/>
            <p:cNvSpPr>
              <a:spLocks/>
            </p:cNvSpPr>
            <p:nvPr/>
          </p:nvSpPr>
          <p:spPr bwMode="auto">
            <a:xfrm>
              <a:off x="4703" y="1636"/>
              <a:ext cx="331" cy="474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65" name="Freeform 51"/>
            <p:cNvSpPr>
              <a:spLocks/>
            </p:cNvSpPr>
            <p:nvPr/>
          </p:nvSpPr>
          <p:spPr bwMode="auto">
            <a:xfrm>
              <a:off x="5044" y="1641"/>
              <a:ext cx="163" cy="474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4345" name="Text Box 52"/>
          <p:cNvSpPr txBox="1">
            <a:spLocks noChangeArrowheads="1"/>
          </p:cNvSpPr>
          <p:nvPr/>
        </p:nvSpPr>
        <p:spPr bwMode="auto">
          <a:xfrm>
            <a:off x="381000" y="5687804"/>
            <a:ext cx="54906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1600"/>
              <a:t>i.e. carrier freq increases with audio signal amplitude</a:t>
            </a: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33428974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637" name="Group 5"/>
          <p:cNvGrpSpPr>
            <a:grpSpLocks/>
          </p:cNvGrpSpPr>
          <p:nvPr/>
        </p:nvGrpSpPr>
        <p:grpSpPr bwMode="auto">
          <a:xfrm>
            <a:off x="1143000" y="933450"/>
            <a:ext cx="2320925" cy="5299075"/>
            <a:chOff x="720" y="588"/>
            <a:chExt cx="1462" cy="3338"/>
          </a:xfrm>
        </p:grpSpPr>
        <p:sp>
          <p:nvSpPr>
            <p:cNvPr id="197638" name="Rectangle 6"/>
            <p:cNvSpPr>
              <a:spLocks noChangeArrowheads="1"/>
            </p:cNvSpPr>
            <p:nvPr/>
          </p:nvSpPr>
          <p:spPr bwMode="auto">
            <a:xfrm>
              <a:off x="1054" y="588"/>
              <a:ext cx="35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altLang="en-US" sz="1400">
                  <a:solidFill>
                    <a:srgbClr val="000000"/>
                  </a:solidFill>
                </a:rPr>
                <a:t> </a:t>
              </a:r>
              <a:endParaRPr lang="en-GB" altLang="en-US" sz="1400"/>
            </a:p>
          </p:txBody>
        </p:sp>
        <p:sp>
          <p:nvSpPr>
            <p:cNvPr id="197639" name="Rectangle 7"/>
            <p:cNvSpPr>
              <a:spLocks noChangeArrowheads="1"/>
            </p:cNvSpPr>
            <p:nvPr/>
          </p:nvSpPr>
          <p:spPr bwMode="auto">
            <a:xfrm>
              <a:off x="720" y="912"/>
              <a:ext cx="867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altLang="en-US" sz="1400"/>
                <a:t>Received signal </a:t>
              </a:r>
            </a:p>
          </p:txBody>
        </p:sp>
        <p:sp>
          <p:nvSpPr>
            <p:cNvPr id="197640" name="Rectangle 8"/>
            <p:cNvSpPr>
              <a:spLocks noChangeArrowheads="1"/>
            </p:cNvSpPr>
            <p:nvPr/>
          </p:nvSpPr>
          <p:spPr bwMode="auto">
            <a:xfrm>
              <a:off x="1632" y="912"/>
              <a:ext cx="174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altLang="en-US" sz="1400" i="1"/>
                <a:t>S(t)</a:t>
              </a:r>
              <a:endParaRPr lang="en-GB" altLang="en-US" sz="1400"/>
            </a:p>
          </p:txBody>
        </p:sp>
        <p:sp>
          <p:nvSpPr>
            <p:cNvPr id="197641" name="Rectangle 9"/>
            <p:cNvSpPr>
              <a:spLocks noChangeArrowheads="1"/>
            </p:cNvSpPr>
            <p:nvPr/>
          </p:nvSpPr>
          <p:spPr bwMode="auto">
            <a:xfrm>
              <a:off x="720" y="2016"/>
              <a:ext cx="1313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altLang="en-US" sz="1400"/>
                <a:t>Zero Crossing Detection</a:t>
              </a:r>
            </a:p>
          </p:txBody>
        </p:sp>
        <p:sp>
          <p:nvSpPr>
            <p:cNvPr id="197642" name="Rectangle 10"/>
            <p:cNvSpPr>
              <a:spLocks noChangeArrowheads="1"/>
            </p:cNvSpPr>
            <p:nvPr/>
          </p:nvSpPr>
          <p:spPr bwMode="auto">
            <a:xfrm>
              <a:off x="720" y="2544"/>
              <a:ext cx="1090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altLang="en-US" sz="1400"/>
                <a:t>Fully rectified signal</a:t>
              </a:r>
            </a:p>
          </p:txBody>
        </p:sp>
        <p:sp>
          <p:nvSpPr>
            <p:cNvPr id="197643" name="Rectangle 11"/>
            <p:cNvSpPr>
              <a:spLocks noChangeArrowheads="1"/>
            </p:cNvSpPr>
            <p:nvPr/>
          </p:nvSpPr>
          <p:spPr bwMode="auto">
            <a:xfrm>
              <a:off x="720" y="2880"/>
              <a:ext cx="858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altLang="en-US" sz="1400"/>
                <a:t>Pulse Generator</a:t>
              </a:r>
            </a:p>
          </p:txBody>
        </p:sp>
        <p:sp>
          <p:nvSpPr>
            <p:cNvPr id="197644" name="Rectangle 12"/>
            <p:cNvSpPr>
              <a:spLocks noChangeArrowheads="1"/>
            </p:cNvSpPr>
            <p:nvPr/>
          </p:nvSpPr>
          <p:spPr bwMode="auto">
            <a:xfrm>
              <a:off x="2129" y="2914"/>
              <a:ext cx="35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altLang="en-US" sz="1400" i="1"/>
                <a:t> </a:t>
              </a:r>
              <a:endParaRPr lang="en-GB" altLang="en-US" sz="1400"/>
            </a:p>
          </p:txBody>
        </p:sp>
        <p:sp>
          <p:nvSpPr>
            <p:cNvPr id="197645" name="Rectangle 13"/>
            <p:cNvSpPr>
              <a:spLocks noChangeArrowheads="1"/>
            </p:cNvSpPr>
            <p:nvPr/>
          </p:nvSpPr>
          <p:spPr bwMode="auto">
            <a:xfrm>
              <a:off x="720" y="3216"/>
              <a:ext cx="797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altLang="en-US" sz="1400"/>
                <a:t>Low Pass Filter</a:t>
              </a:r>
            </a:p>
          </p:txBody>
        </p:sp>
        <p:sp>
          <p:nvSpPr>
            <p:cNvPr id="197646" name="Rectangle 14"/>
            <p:cNvSpPr>
              <a:spLocks noChangeArrowheads="1"/>
            </p:cNvSpPr>
            <p:nvPr/>
          </p:nvSpPr>
          <p:spPr bwMode="auto">
            <a:xfrm>
              <a:off x="2088" y="3269"/>
              <a:ext cx="35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altLang="en-US" sz="1400"/>
                <a:t> </a:t>
              </a:r>
            </a:p>
          </p:txBody>
        </p:sp>
        <p:sp>
          <p:nvSpPr>
            <p:cNvPr id="197647" name="Rectangle 15"/>
            <p:cNvSpPr>
              <a:spLocks noChangeArrowheads="1"/>
            </p:cNvSpPr>
            <p:nvPr/>
          </p:nvSpPr>
          <p:spPr bwMode="auto">
            <a:xfrm>
              <a:off x="720" y="3360"/>
              <a:ext cx="1244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altLang="en-US" sz="1400"/>
                <a:t>Regenerator Threshold</a:t>
              </a:r>
            </a:p>
          </p:txBody>
        </p:sp>
        <p:sp>
          <p:nvSpPr>
            <p:cNvPr id="197648" name="Rectangle 16"/>
            <p:cNvSpPr>
              <a:spLocks noChangeArrowheads="1"/>
            </p:cNvSpPr>
            <p:nvPr/>
          </p:nvSpPr>
          <p:spPr bwMode="auto">
            <a:xfrm>
              <a:off x="720" y="3696"/>
              <a:ext cx="1237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altLang="en-US" sz="1400"/>
                <a:t>Regenerated baseband</a:t>
              </a:r>
            </a:p>
          </p:txBody>
        </p:sp>
        <p:sp>
          <p:nvSpPr>
            <p:cNvPr id="197649" name="Rectangle 17"/>
            <p:cNvSpPr>
              <a:spLocks noChangeArrowheads="1"/>
            </p:cNvSpPr>
            <p:nvPr/>
          </p:nvSpPr>
          <p:spPr bwMode="auto">
            <a:xfrm>
              <a:off x="768" y="3792"/>
              <a:ext cx="358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altLang="en-US" sz="1400"/>
                <a:t>signal </a:t>
              </a:r>
            </a:p>
          </p:txBody>
        </p:sp>
        <p:sp>
          <p:nvSpPr>
            <p:cNvPr id="197650" name="Rectangle 18"/>
            <p:cNvSpPr>
              <a:spLocks noChangeArrowheads="1"/>
            </p:cNvSpPr>
            <p:nvPr/>
          </p:nvSpPr>
          <p:spPr bwMode="auto">
            <a:xfrm>
              <a:off x="1104" y="3792"/>
              <a:ext cx="241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altLang="en-US" sz="1400" i="1"/>
                <a:t>S</a:t>
              </a:r>
              <a:r>
                <a:rPr lang="en-GB" altLang="en-US" sz="1400" i="1" baseline="-25000"/>
                <a:t>m</a:t>
              </a:r>
              <a:r>
                <a:rPr lang="en-GB" altLang="en-US" sz="1400" i="1"/>
                <a:t>(t)</a:t>
              </a:r>
              <a:endParaRPr lang="en-GB" altLang="en-US" sz="1400"/>
            </a:p>
          </p:txBody>
        </p:sp>
        <p:sp>
          <p:nvSpPr>
            <p:cNvPr id="197651" name="Rectangle 19"/>
            <p:cNvSpPr>
              <a:spLocks noChangeArrowheads="1"/>
            </p:cNvSpPr>
            <p:nvPr/>
          </p:nvSpPr>
          <p:spPr bwMode="auto">
            <a:xfrm>
              <a:off x="720" y="1488"/>
              <a:ext cx="1062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altLang="en-US" sz="1400"/>
                <a:t>Limited and filtered</a:t>
              </a:r>
            </a:p>
          </p:txBody>
        </p:sp>
        <p:sp>
          <p:nvSpPr>
            <p:cNvPr id="197652" name="Rectangle 20"/>
            <p:cNvSpPr>
              <a:spLocks noChangeArrowheads="1"/>
            </p:cNvSpPr>
            <p:nvPr/>
          </p:nvSpPr>
          <p:spPr bwMode="auto">
            <a:xfrm>
              <a:off x="1824" y="1488"/>
              <a:ext cx="358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altLang="en-US" sz="1400"/>
                <a:t>signal </a:t>
              </a:r>
            </a:p>
          </p:txBody>
        </p:sp>
      </p:grpSp>
      <p:grpSp>
        <p:nvGrpSpPr>
          <p:cNvPr id="197653" name="Group 21"/>
          <p:cNvGrpSpPr>
            <a:grpSpLocks/>
          </p:cNvGrpSpPr>
          <p:nvPr/>
        </p:nvGrpSpPr>
        <p:grpSpPr bwMode="auto">
          <a:xfrm>
            <a:off x="4184650" y="1000125"/>
            <a:ext cx="4437063" cy="5180013"/>
            <a:chOff x="2636" y="630"/>
            <a:chExt cx="2795" cy="3263"/>
          </a:xfrm>
        </p:grpSpPr>
        <p:sp>
          <p:nvSpPr>
            <p:cNvPr id="197654" name="Freeform 22"/>
            <p:cNvSpPr>
              <a:spLocks noEditPoints="1"/>
            </p:cNvSpPr>
            <p:nvPr/>
          </p:nvSpPr>
          <p:spPr bwMode="auto">
            <a:xfrm>
              <a:off x="2672" y="952"/>
              <a:ext cx="2759" cy="25"/>
            </a:xfrm>
            <a:custGeom>
              <a:avLst/>
              <a:gdLst>
                <a:gd name="T0" fmla="*/ 0 w 2759"/>
                <a:gd name="T1" fmla="*/ 18 h 49"/>
                <a:gd name="T2" fmla="*/ 2728 w 2759"/>
                <a:gd name="T3" fmla="*/ 18 h 49"/>
                <a:gd name="T4" fmla="*/ 2728 w 2759"/>
                <a:gd name="T5" fmla="*/ 31 h 49"/>
                <a:gd name="T6" fmla="*/ 0 w 2759"/>
                <a:gd name="T7" fmla="*/ 31 h 49"/>
                <a:gd name="T8" fmla="*/ 0 w 2759"/>
                <a:gd name="T9" fmla="*/ 18 h 49"/>
                <a:gd name="T10" fmla="*/ 2717 w 2759"/>
                <a:gd name="T11" fmla="*/ 0 h 49"/>
                <a:gd name="T12" fmla="*/ 2759 w 2759"/>
                <a:gd name="T13" fmla="*/ 25 h 49"/>
                <a:gd name="T14" fmla="*/ 2717 w 2759"/>
                <a:gd name="T15" fmla="*/ 49 h 49"/>
                <a:gd name="T16" fmla="*/ 2717 w 2759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59" h="49">
                  <a:moveTo>
                    <a:pt x="0" y="18"/>
                  </a:moveTo>
                  <a:lnTo>
                    <a:pt x="2728" y="18"/>
                  </a:lnTo>
                  <a:lnTo>
                    <a:pt x="2728" y="31"/>
                  </a:lnTo>
                  <a:lnTo>
                    <a:pt x="0" y="31"/>
                  </a:lnTo>
                  <a:lnTo>
                    <a:pt x="0" y="18"/>
                  </a:lnTo>
                  <a:close/>
                  <a:moveTo>
                    <a:pt x="2717" y="0"/>
                  </a:moveTo>
                  <a:lnTo>
                    <a:pt x="2759" y="25"/>
                  </a:lnTo>
                  <a:lnTo>
                    <a:pt x="2717" y="49"/>
                  </a:lnTo>
                  <a:lnTo>
                    <a:pt x="2717" y="0"/>
                  </a:lnTo>
                  <a:close/>
                </a:path>
              </a:pathLst>
            </a:custGeom>
            <a:solidFill>
              <a:srgbClr val="000000"/>
            </a:solidFill>
            <a:ln w="12700" cmpd="sng">
              <a:solidFill>
                <a:schemeClr val="hlink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7655" name="Freeform 23"/>
            <p:cNvSpPr>
              <a:spLocks/>
            </p:cNvSpPr>
            <p:nvPr/>
          </p:nvSpPr>
          <p:spPr bwMode="auto">
            <a:xfrm>
              <a:off x="3390" y="2104"/>
              <a:ext cx="36" cy="44"/>
            </a:xfrm>
            <a:custGeom>
              <a:avLst/>
              <a:gdLst>
                <a:gd name="T0" fmla="*/ 0 w 36"/>
                <a:gd name="T1" fmla="*/ 89 h 89"/>
                <a:gd name="T2" fmla="*/ 1 w 36"/>
                <a:gd name="T3" fmla="*/ 88 h 89"/>
                <a:gd name="T4" fmla="*/ 3 w 36"/>
                <a:gd name="T5" fmla="*/ 87 h 89"/>
                <a:gd name="T6" fmla="*/ 4 w 36"/>
                <a:gd name="T7" fmla="*/ 85 h 89"/>
                <a:gd name="T8" fmla="*/ 6 w 36"/>
                <a:gd name="T9" fmla="*/ 84 h 89"/>
                <a:gd name="T10" fmla="*/ 7 w 36"/>
                <a:gd name="T11" fmla="*/ 82 h 89"/>
                <a:gd name="T12" fmla="*/ 8 w 36"/>
                <a:gd name="T13" fmla="*/ 81 h 89"/>
                <a:gd name="T14" fmla="*/ 9 w 36"/>
                <a:gd name="T15" fmla="*/ 76 h 89"/>
                <a:gd name="T16" fmla="*/ 11 w 36"/>
                <a:gd name="T17" fmla="*/ 73 h 89"/>
                <a:gd name="T18" fmla="*/ 12 w 36"/>
                <a:gd name="T19" fmla="*/ 69 h 89"/>
                <a:gd name="T20" fmla="*/ 13 w 36"/>
                <a:gd name="T21" fmla="*/ 64 h 89"/>
                <a:gd name="T22" fmla="*/ 15 w 36"/>
                <a:gd name="T23" fmla="*/ 54 h 89"/>
                <a:gd name="T24" fmla="*/ 18 w 36"/>
                <a:gd name="T25" fmla="*/ 45 h 89"/>
                <a:gd name="T26" fmla="*/ 18 w 36"/>
                <a:gd name="T27" fmla="*/ 0 h 89"/>
                <a:gd name="T28" fmla="*/ 18 w 36"/>
                <a:gd name="T29" fmla="*/ 45 h 89"/>
                <a:gd name="T30" fmla="*/ 19 w 36"/>
                <a:gd name="T31" fmla="*/ 54 h 89"/>
                <a:gd name="T32" fmla="*/ 22 w 36"/>
                <a:gd name="T33" fmla="*/ 64 h 89"/>
                <a:gd name="T34" fmla="*/ 23 w 36"/>
                <a:gd name="T35" fmla="*/ 69 h 89"/>
                <a:gd name="T36" fmla="*/ 24 w 36"/>
                <a:gd name="T37" fmla="*/ 73 h 89"/>
                <a:gd name="T38" fmla="*/ 25 w 36"/>
                <a:gd name="T39" fmla="*/ 76 h 89"/>
                <a:gd name="T40" fmla="*/ 26 w 36"/>
                <a:gd name="T41" fmla="*/ 81 h 89"/>
                <a:gd name="T42" fmla="*/ 28 w 36"/>
                <a:gd name="T43" fmla="*/ 82 h 89"/>
                <a:gd name="T44" fmla="*/ 29 w 36"/>
                <a:gd name="T45" fmla="*/ 84 h 89"/>
                <a:gd name="T46" fmla="*/ 30 w 36"/>
                <a:gd name="T47" fmla="*/ 85 h 89"/>
                <a:gd name="T48" fmla="*/ 31 w 36"/>
                <a:gd name="T49" fmla="*/ 87 h 89"/>
                <a:gd name="T50" fmla="*/ 34 w 36"/>
                <a:gd name="T51" fmla="*/ 88 h 89"/>
                <a:gd name="T52" fmla="*/ 36 w 36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6" h="89">
                  <a:moveTo>
                    <a:pt x="0" y="89"/>
                  </a:moveTo>
                  <a:lnTo>
                    <a:pt x="1" y="88"/>
                  </a:lnTo>
                  <a:lnTo>
                    <a:pt x="3" y="87"/>
                  </a:lnTo>
                  <a:lnTo>
                    <a:pt x="4" y="85"/>
                  </a:lnTo>
                  <a:lnTo>
                    <a:pt x="6" y="84"/>
                  </a:lnTo>
                  <a:lnTo>
                    <a:pt x="7" y="82"/>
                  </a:lnTo>
                  <a:lnTo>
                    <a:pt x="8" y="81"/>
                  </a:lnTo>
                  <a:lnTo>
                    <a:pt x="9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5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19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5" y="76"/>
                  </a:lnTo>
                  <a:lnTo>
                    <a:pt x="26" y="81"/>
                  </a:lnTo>
                  <a:lnTo>
                    <a:pt x="28" y="82"/>
                  </a:lnTo>
                  <a:lnTo>
                    <a:pt x="29" y="84"/>
                  </a:lnTo>
                  <a:lnTo>
                    <a:pt x="30" y="85"/>
                  </a:lnTo>
                  <a:lnTo>
                    <a:pt x="31" y="87"/>
                  </a:lnTo>
                  <a:lnTo>
                    <a:pt x="34" y="88"/>
                  </a:lnTo>
                  <a:lnTo>
                    <a:pt x="36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56" name="Freeform 24"/>
            <p:cNvSpPr>
              <a:spLocks/>
            </p:cNvSpPr>
            <p:nvPr/>
          </p:nvSpPr>
          <p:spPr bwMode="auto">
            <a:xfrm>
              <a:off x="3371" y="2148"/>
              <a:ext cx="19" cy="45"/>
            </a:xfrm>
            <a:custGeom>
              <a:avLst/>
              <a:gdLst>
                <a:gd name="T0" fmla="*/ 0 w 19"/>
                <a:gd name="T1" fmla="*/ 90 h 90"/>
                <a:gd name="T2" fmla="*/ 0 w 19"/>
                <a:gd name="T3" fmla="*/ 45 h 90"/>
                <a:gd name="T4" fmla="*/ 1 w 19"/>
                <a:gd name="T5" fmla="*/ 35 h 90"/>
                <a:gd name="T6" fmla="*/ 4 w 19"/>
                <a:gd name="T7" fmla="*/ 24 h 90"/>
                <a:gd name="T8" fmla="*/ 5 w 19"/>
                <a:gd name="T9" fmla="*/ 20 h 90"/>
                <a:gd name="T10" fmla="*/ 6 w 19"/>
                <a:gd name="T11" fmla="*/ 15 h 90"/>
                <a:gd name="T12" fmla="*/ 7 w 19"/>
                <a:gd name="T13" fmla="*/ 11 h 90"/>
                <a:gd name="T14" fmla="*/ 9 w 19"/>
                <a:gd name="T15" fmla="*/ 8 h 90"/>
                <a:gd name="T16" fmla="*/ 10 w 19"/>
                <a:gd name="T17" fmla="*/ 6 h 90"/>
                <a:gd name="T18" fmla="*/ 11 w 19"/>
                <a:gd name="T19" fmla="*/ 3 h 90"/>
                <a:gd name="T20" fmla="*/ 12 w 19"/>
                <a:gd name="T21" fmla="*/ 2 h 90"/>
                <a:gd name="T22" fmla="*/ 14 w 19"/>
                <a:gd name="T23" fmla="*/ 2 h 90"/>
                <a:gd name="T24" fmla="*/ 16 w 19"/>
                <a:gd name="T25" fmla="*/ 0 h 90"/>
                <a:gd name="T26" fmla="*/ 19 w 19"/>
                <a:gd name="T27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" h="90">
                  <a:moveTo>
                    <a:pt x="0" y="90"/>
                  </a:moveTo>
                  <a:lnTo>
                    <a:pt x="0" y="45"/>
                  </a:lnTo>
                  <a:lnTo>
                    <a:pt x="1" y="35"/>
                  </a:lnTo>
                  <a:lnTo>
                    <a:pt x="4" y="24"/>
                  </a:lnTo>
                  <a:lnTo>
                    <a:pt x="5" y="20"/>
                  </a:lnTo>
                  <a:lnTo>
                    <a:pt x="6" y="15"/>
                  </a:lnTo>
                  <a:lnTo>
                    <a:pt x="7" y="11"/>
                  </a:lnTo>
                  <a:lnTo>
                    <a:pt x="9" y="8"/>
                  </a:lnTo>
                  <a:lnTo>
                    <a:pt x="10" y="6"/>
                  </a:lnTo>
                  <a:lnTo>
                    <a:pt x="11" y="3"/>
                  </a:lnTo>
                  <a:lnTo>
                    <a:pt x="12" y="2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19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57" name="Freeform 25"/>
            <p:cNvSpPr>
              <a:spLocks/>
            </p:cNvSpPr>
            <p:nvPr/>
          </p:nvSpPr>
          <p:spPr bwMode="auto">
            <a:xfrm>
              <a:off x="3463" y="2104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7 h 89"/>
                <a:gd name="T6" fmla="*/ 5 w 37"/>
                <a:gd name="T7" fmla="*/ 85 h 89"/>
                <a:gd name="T8" fmla="*/ 6 w 37"/>
                <a:gd name="T9" fmla="*/ 84 h 89"/>
                <a:gd name="T10" fmla="*/ 7 w 37"/>
                <a:gd name="T11" fmla="*/ 82 h 89"/>
                <a:gd name="T12" fmla="*/ 9 w 37"/>
                <a:gd name="T13" fmla="*/ 81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8 w 37"/>
                <a:gd name="T25" fmla="*/ 45 h 89"/>
                <a:gd name="T26" fmla="*/ 18 w 37"/>
                <a:gd name="T27" fmla="*/ 0 h 89"/>
                <a:gd name="T28" fmla="*/ 18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3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1 h 89"/>
                <a:gd name="T42" fmla="*/ 28 w 37"/>
                <a:gd name="T43" fmla="*/ 82 h 89"/>
                <a:gd name="T44" fmla="*/ 29 w 37"/>
                <a:gd name="T45" fmla="*/ 84 h 89"/>
                <a:gd name="T46" fmla="*/ 31 w 37"/>
                <a:gd name="T47" fmla="*/ 85 h 89"/>
                <a:gd name="T48" fmla="*/ 32 w 37"/>
                <a:gd name="T49" fmla="*/ 87 h 89"/>
                <a:gd name="T50" fmla="*/ 34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7"/>
                  </a:lnTo>
                  <a:lnTo>
                    <a:pt x="5" y="85"/>
                  </a:lnTo>
                  <a:lnTo>
                    <a:pt x="6" y="84"/>
                  </a:lnTo>
                  <a:lnTo>
                    <a:pt x="7" y="82"/>
                  </a:lnTo>
                  <a:lnTo>
                    <a:pt x="9" y="81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1"/>
                  </a:lnTo>
                  <a:lnTo>
                    <a:pt x="28" y="82"/>
                  </a:lnTo>
                  <a:lnTo>
                    <a:pt x="29" y="84"/>
                  </a:lnTo>
                  <a:lnTo>
                    <a:pt x="31" y="85"/>
                  </a:lnTo>
                  <a:lnTo>
                    <a:pt x="32" y="87"/>
                  </a:lnTo>
                  <a:lnTo>
                    <a:pt x="34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58" name="Freeform 26"/>
            <p:cNvSpPr>
              <a:spLocks/>
            </p:cNvSpPr>
            <p:nvPr/>
          </p:nvSpPr>
          <p:spPr bwMode="auto">
            <a:xfrm>
              <a:off x="3426" y="2148"/>
              <a:ext cx="37" cy="45"/>
            </a:xfrm>
            <a:custGeom>
              <a:avLst/>
              <a:gdLst>
                <a:gd name="T0" fmla="*/ 0 w 37"/>
                <a:gd name="T1" fmla="*/ 0 h 90"/>
                <a:gd name="T2" fmla="*/ 2 w 37"/>
                <a:gd name="T3" fmla="*/ 0 h 90"/>
                <a:gd name="T4" fmla="*/ 4 w 37"/>
                <a:gd name="T5" fmla="*/ 2 h 90"/>
                <a:gd name="T6" fmla="*/ 5 w 37"/>
                <a:gd name="T7" fmla="*/ 3 h 90"/>
                <a:gd name="T8" fmla="*/ 6 w 37"/>
                <a:gd name="T9" fmla="*/ 5 h 90"/>
                <a:gd name="T10" fmla="*/ 8 w 37"/>
                <a:gd name="T11" fmla="*/ 6 h 90"/>
                <a:gd name="T12" fmla="*/ 9 w 37"/>
                <a:gd name="T13" fmla="*/ 9 h 90"/>
                <a:gd name="T14" fmla="*/ 10 w 37"/>
                <a:gd name="T15" fmla="*/ 12 h 90"/>
                <a:gd name="T16" fmla="*/ 11 w 37"/>
                <a:gd name="T17" fmla="*/ 15 h 90"/>
                <a:gd name="T18" fmla="*/ 13 w 37"/>
                <a:gd name="T19" fmla="*/ 20 h 90"/>
                <a:gd name="T20" fmla="*/ 14 w 37"/>
                <a:gd name="T21" fmla="*/ 24 h 90"/>
                <a:gd name="T22" fmla="*/ 16 w 37"/>
                <a:gd name="T23" fmla="*/ 35 h 90"/>
                <a:gd name="T24" fmla="*/ 19 w 37"/>
                <a:gd name="T25" fmla="*/ 45 h 90"/>
                <a:gd name="T26" fmla="*/ 19 w 37"/>
                <a:gd name="T27" fmla="*/ 90 h 90"/>
                <a:gd name="T28" fmla="*/ 19 w 37"/>
                <a:gd name="T29" fmla="*/ 45 h 90"/>
                <a:gd name="T30" fmla="*/ 20 w 37"/>
                <a:gd name="T31" fmla="*/ 35 h 90"/>
                <a:gd name="T32" fmla="*/ 22 w 37"/>
                <a:gd name="T33" fmla="*/ 24 h 90"/>
                <a:gd name="T34" fmla="*/ 24 w 37"/>
                <a:gd name="T35" fmla="*/ 20 h 90"/>
                <a:gd name="T36" fmla="*/ 25 w 37"/>
                <a:gd name="T37" fmla="*/ 15 h 90"/>
                <a:gd name="T38" fmla="*/ 26 w 37"/>
                <a:gd name="T39" fmla="*/ 12 h 90"/>
                <a:gd name="T40" fmla="*/ 27 w 37"/>
                <a:gd name="T41" fmla="*/ 9 h 90"/>
                <a:gd name="T42" fmla="*/ 28 w 37"/>
                <a:gd name="T43" fmla="*/ 6 h 90"/>
                <a:gd name="T44" fmla="*/ 30 w 37"/>
                <a:gd name="T45" fmla="*/ 5 h 90"/>
                <a:gd name="T46" fmla="*/ 31 w 37"/>
                <a:gd name="T47" fmla="*/ 3 h 90"/>
                <a:gd name="T48" fmla="*/ 32 w 37"/>
                <a:gd name="T49" fmla="*/ 2 h 90"/>
                <a:gd name="T50" fmla="*/ 35 w 37"/>
                <a:gd name="T51" fmla="*/ 0 h 90"/>
                <a:gd name="T52" fmla="*/ 37 w 37"/>
                <a:gd name="T5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90">
                  <a:moveTo>
                    <a:pt x="0" y="0"/>
                  </a:moveTo>
                  <a:lnTo>
                    <a:pt x="2" y="0"/>
                  </a:lnTo>
                  <a:lnTo>
                    <a:pt x="4" y="2"/>
                  </a:lnTo>
                  <a:lnTo>
                    <a:pt x="5" y="3"/>
                  </a:lnTo>
                  <a:lnTo>
                    <a:pt x="6" y="5"/>
                  </a:lnTo>
                  <a:lnTo>
                    <a:pt x="8" y="6"/>
                  </a:lnTo>
                  <a:lnTo>
                    <a:pt x="9" y="9"/>
                  </a:lnTo>
                  <a:lnTo>
                    <a:pt x="10" y="12"/>
                  </a:lnTo>
                  <a:lnTo>
                    <a:pt x="11" y="15"/>
                  </a:lnTo>
                  <a:lnTo>
                    <a:pt x="13" y="20"/>
                  </a:lnTo>
                  <a:lnTo>
                    <a:pt x="14" y="24"/>
                  </a:lnTo>
                  <a:lnTo>
                    <a:pt x="16" y="35"/>
                  </a:lnTo>
                  <a:lnTo>
                    <a:pt x="19" y="45"/>
                  </a:lnTo>
                  <a:lnTo>
                    <a:pt x="19" y="90"/>
                  </a:lnTo>
                  <a:lnTo>
                    <a:pt x="19" y="45"/>
                  </a:lnTo>
                  <a:lnTo>
                    <a:pt x="20" y="35"/>
                  </a:lnTo>
                  <a:lnTo>
                    <a:pt x="22" y="24"/>
                  </a:lnTo>
                  <a:lnTo>
                    <a:pt x="24" y="20"/>
                  </a:lnTo>
                  <a:lnTo>
                    <a:pt x="25" y="15"/>
                  </a:lnTo>
                  <a:lnTo>
                    <a:pt x="26" y="12"/>
                  </a:lnTo>
                  <a:lnTo>
                    <a:pt x="27" y="9"/>
                  </a:lnTo>
                  <a:lnTo>
                    <a:pt x="28" y="6"/>
                  </a:lnTo>
                  <a:lnTo>
                    <a:pt x="30" y="5"/>
                  </a:lnTo>
                  <a:lnTo>
                    <a:pt x="31" y="3"/>
                  </a:lnTo>
                  <a:lnTo>
                    <a:pt x="32" y="2"/>
                  </a:lnTo>
                  <a:lnTo>
                    <a:pt x="35" y="0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59" name="Freeform 27"/>
            <p:cNvSpPr>
              <a:spLocks/>
            </p:cNvSpPr>
            <p:nvPr/>
          </p:nvSpPr>
          <p:spPr bwMode="auto">
            <a:xfrm>
              <a:off x="3537" y="2104"/>
              <a:ext cx="36" cy="44"/>
            </a:xfrm>
            <a:custGeom>
              <a:avLst/>
              <a:gdLst>
                <a:gd name="T0" fmla="*/ 0 w 36"/>
                <a:gd name="T1" fmla="*/ 89 h 89"/>
                <a:gd name="T2" fmla="*/ 1 w 36"/>
                <a:gd name="T3" fmla="*/ 88 h 89"/>
                <a:gd name="T4" fmla="*/ 3 w 36"/>
                <a:gd name="T5" fmla="*/ 87 h 89"/>
                <a:gd name="T6" fmla="*/ 5 w 36"/>
                <a:gd name="T7" fmla="*/ 85 h 89"/>
                <a:gd name="T8" fmla="*/ 6 w 36"/>
                <a:gd name="T9" fmla="*/ 84 h 89"/>
                <a:gd name="T10" fmla="*/ 7 w 36"/>
                <a:gd name="T11" fmla="*/ 82 h 89"/>
                <a:gd name="T12" fmla="*/ 8 w 36"/>
                <a:gd name="T13" fmla="*/ 81 h 89"/>
                <a:gd name="T14" fmla="*/ 9 w 36"/>
                <a:gd name="T15" fmla="*/ 76 h 89"/>
                <a:gd name="T16" fmla="*/ 11 w 36"/>
                <a:gd name="T17" fmla="*/ 73 h 89"/>
                <a:gd name="T18" fmla="*/ 12 w 36"/>
                <a:gd name="T19" fmla="*/ 69 h 89"/>
                <a:gd name="T20" fmla="*/ 13 w 36"/>
                <a:gd name="T21" fmla="*/ 64 h 89"/>
                <a:gd name="T22" fmla="*/ 16 w 36"/>
                <a:gd name="T23" fmla="*/ 54 h 89"/>
                <a:gd name="T24" fmla="*/ 18 w 36"/>
                <a:gd name="T25" fmla="*/ 45 h 89"/>
                <a:gd name="T26" fmla="*/ 18 w 36"/>
                <a:gd name="T27" fmla="*/ 0 h 89"/>
                <a:gd name="T28" fmla="*/ 18 w 36"/>
                <a:gd name="T29" fmla="*/ 45 h 89"/>
                <a:gd name="T30" fmla="*/ 19 w 36"/>
                <a:gd name="T31" fmla="*/ 54 h 89"/>
                <a:gd name="T32" fmla="*/ 22 w 36"/>
                <a:gd name="T33" fmla="*/ 64 h 89"/>
                <a:gd name="T34" fmla="*/ 23 w 36"/>
                <a:gd name="T35" fmla="*/ 69 h 89"/>
                <a:gd name="T36" fmla="*/ 24 w 36"/>
                <a:gd name="T37" fmla="*/ 73 h 89"/>
                <a:gd name="T38" fmla="*/ 25 w 36"/>
                <a:gd name="T39" fmla="*/ 76 h 89"/>
                <a:gd name="T40" fmla="*/ 27 w 36"/>
                <a:gd name="T41" fmla="*/ 81 h 89"/>
                <a:gd name="T42" fmla="*/ 28 w 36"/>
                <a:gd name="T43" fmla="*/ 82 h 89"/>
                <a:gd name="T44" fmla="*/ 29 w 36"/>
                <a:gd name="T45" fmla="*/ 84 h 89"/>
                <a:gd name="T46" fmla="*/ 30 w 36"/>
                <a:gd name="T47" fmla="*/ 85 h 89"/>
                <a:gd name="T48" fmla="*/ 31 w 36"/>
                <a:gd name="T49" fmla="*/ 87 h 89"/>
                <a:gd name="T50" fmla="*/ 34 w 36"/>
                <a:gd name="T51" fmla="*/ 88 h 89"/>
                <a:gd name="T52" fmla="*/ 36 w 36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6" h="89">
                  <a:moveTo>
                    <a:pt x="0" y="89"/>
                  </a:moveTo>
                  <a:lnTo>
                    <a:pt x="1" y="88"/>
                  </a:lnTo>
                  <a:lnTo>
                    <a:pt x="3" y="87"/>
                  </a:lnTo>
                  <a:lnTo>
                    <a:pt x="5" y="85"/>
                  </a:lnTo>
                  <a:lnTo>
                    <a:pt x="6" y="84"/>
                  </a:lnTo>
                  <a:lnTo>
                    <a:pt x="7" y="82"/>
                  </a:lnTo>
                  <a:lnTo>
                    <a:pt x="8" y="81"/>
                  </a:lnTo>
                  <a:lnTo>
                    <a:pt x="9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19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5" y="76"/>
                  </a:lnTo>
                  <a:lnTo>
                    <a:pt x="27" y="81"/>
                  </a:lnTo>
                  <a:lnTo>
                    <a:pt x="28" y="82"/>
                  </a:lnTo>
                  <a:lnTo>
                    <a:pt x="29" y="84"/>
                  </a:lnTo>
                  <a:lnTo>
                    <a:pt x="30" y="85"/>
                  </a:lnTo>
                  <a:lnTo>
                    <a:pt x="31" y="87"/>
                  </a:lnTo>
                  <a:lnTo>
                    <a:pt x="34" y="88"/>
                  </a:lnTo>
                  <a:lnTo>
                    <a:pt x="36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60" name="Freeform 28"/>
            <p:cNvSpPr>
              <a:spLocks/>
            </p:cNvSpPr>
            <p:nvPr/>
          </p:nvSpPr>
          <p:spPr bwMode="auto">
            <a:xfrm>
              <a:off x="3500" y="2148"/>
              <a:ext cx="37" cy="45"/>
            </a:xfrm>
            <a:custGeom>
              <a:avLst/>
              <a:gdLst>
                <a:gd name="T0" fmla="*/ 0 w 37"/>
                <a:gd name="T1" fmla="*/ 0 h 90"/>
                <a:gd name="T2" fmla="*/ 1 w 37"/>
                <a:gd name="T3" fmla="*/ 0 h 90"/>
                <a:gd name="T4" fmla="*/ 4 w 37"/>
                <a:gd name="T5" fmla="*/ 2 h 90"/>
                <a:gd name="T6" fmla="*/ 5 w 37"/>
                <a:gd name="T7" fmla="*/ 3 h 90"/>
                <a:gd name="T8" fmla="*/ 6 w 37"/>
                <a:gd name="T9" fmla="*/ 5 h 90"/>
                <a:gd name="T10" fmla="*/ 7 w 37"/>
                <a:gd name="T11" fmla="*/ 6 h 90"/>
                <a:gd name="T12" fmla="*/ 8 w 37"/>
                <a:gd name="T13" fmla="*/ 9 h 90"/>
                <a:gd name="T14" fmla="*/ 10 w 37"/>
                <a:gd name="T15" fmla="*/ 12 h 90"/>
                <a:gd name="T16" fmla="*/ 11 w 37"/>
                <a:gd name="T17" fmla="*/ 15 h 90"/>
                <a:gd name="T18" fmla="*/ 12 w 37"/>
                <a:gd name="T19" fmla="*/ 20 h 90"/>
                <a:gd name="T20" fmla="*/ 13 w 37"/>
                <a:gd name="T21" fmla="*/ 24 h 90"/>
                <a:gd name="T22" fmla="*/ 16 w 37"/>
                <a:gd name="T23" fmla="*/ 35 h 90"/>
                <a:gd name="T24" fmla="*/ 18 w 37"/>
                <a:gd name="T25" fmla="*/ 45 h 90"/>
                <a:gd name="T26" fmla="*/ 18 w 37"/>
                <a:gd name="T27" fmla="*/ 90 h 90"/>
                <a:gd name="T28" fmla="*/ 18 w 37"/>
                <a:gd name="T29" fmla="*/ 45 h 90"/>
                <a:gd name="T30" fmla="*/ 19 w 37"/>
                <a:gd name="T31" fmla="*/ 35 h 90"/>
                <a:gd name="T32" fmla="*/ 22 w 37"/>
                <a:gd name="T33" fmla="*/ 24 h 90"/>
                <a:gd name="T34" fmla="*/ 23 w 37"/>
                <a:gd name="T35" fmla="*/ 20 h 90"/>
                <a:gd name="T36" fmla="*/ 24 w 37"/>
                <a:gd name="T37" fmla="*/ 15 h 90"/>
                <a:gd name="T38" fmla="*/ 26 w 37"/>
                <a:gd name="T39" fmla="*/ 12 h 90"/>
                <a:gd name="T40" fmla="*/ 27 w 37"/>
                <a:gd name="T41" fmla="*/ 9 h 90"/>
                <a:gd name="T42" fmla="*/ 28 w 37"/>
                <a:gd name="T43" fmla="*/ 6 h 90"/>
                <a:gd name="T44" fmla="*/ 29 w 37"/>
                <a:gd name="T45" fmla="*/ 5 h 90"/>
                <a:gd name="T46" fmla="*/ 30 w 37"/>
                <a:gd name="T47" fmla="*/ 3 h 90"/>
                <a:gd name="T48" fmla="*/ 32 w 37"/>
                <a:gd name="T49" fmla="*/ 2 h 90"/>
                <a:gd name="T50" fmla="*/ 34 w 37"/>
                <a:gd name="T51" fmla="*/ 0 h 90"/>
                <a:gd name="T52" fmla="*/ 37 w 37"/>
                <a:gd name="T5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90">
                  <a:moveTo>
                    <a:pt x="0" y="0"/>
                  </a:moveTo>
                  <a:lnTo>
                    <a:pt x="1" y="0"/>
                  </a:lnTo>
                  <a:lnTo>
                    <a:pt x="4" y="2"/>
                  </a:lnTo>
                  <a:lnTo>
                    <a:pt x="5" y="3"/>
                  </a:lnTo>
                  <a:lnTo>
                    <a:pt x="6" y="5"/>
                  </a:lnTo>
                  <a:lnTo>
                    <a:pt x="7" y="6"/>
                  </a:lnTo>
                  <a:lnTo>
                    <a:pt x="8" y="9"/>
                  </a:lnTo>
                  <a:lnTo>
                    <a:pt x="10" y="12"/>
                  </a:lnTo>
                  <a:lnTo>
                    <a:pt x="11" y="15"/>
                  </a:lnTo>
                  <a:lnTo>
                    <a:pt x="12" y="20"/>
                  </a:lnTo>
                  <a:lnTo>
                    <a:pt x="13" y="24"/>
                  </a:lnTo>
                  <a:lnTo>
                    <a:pt x="16" y="35"/>
                  </a:lnTo>
                  <a:lnTo>
                    <a:pt x="18" y="45"/>
                  </a:lnTo>
                  <a:lnTo>
                    <a:pt x="18" y="90"/>
                  </a:lnTo>
                  <a:lnTo>
                    <a:pt x="18" y="45"/>
                  </a:lnTo>
                  <a:lnTo>
                    <a:pt x="19" y="35"/>
                  </a:lnTo>
                  <a:lnTo>
                    <a:pt x="22" y="24"/>
                  </a:lnTo>
                  <a:lnTo>
                    <a:pt x="23" y="20"/>
                  </a:lnTo>
                  <a:lnTo>
                    <a:pt x="24" y="15"/>
                  </a:lnTo>
                  <a:lnTo>
                    <a:pt x="26" y="12"/>
                  </a:lnTo>
                  <a:lnTo>
                    <a:pt x="27" y="9"/>
                  </a:lnTo>
                  <a:lnTo>
                    <a:pt x="28" y="6"/>
                  </a:lnTo>
                  <a:lnTo>
                    <a:pt x="29" y="5"/>
                  </a:lnTo>
                  <a:lnTo>
                    <a:pt x="30" y="3"/>
                  </a:lnTo>
                  <a:lnTo>
                    <a:pt x="32" y="2"/>
                  </a:lnTo>
                  <a:lnTo>
                    <a:pt x="34" y="0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61" name="Freeform 29"/>
            <p:cNvSpPr>
              <a:spLocks/>
            </p:cNvSpPr>
            <p:nvPr/>
          </p:nvSpPr>
          <p:spPr bwMode="auto">
            <a:xfrm>
              <a:off x="3610" y="2104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7 h 89"/>
                <a:gd name="T6" fmla="*/ 5 w 37"/>
                <a:gd name="T7" fmla="*/ 85 h 89"/>
                <a:gd name="T8" fmla="*/ 6 w 37"/>
                <a:gd name="T9" fmla="*/ 84 h 89"/>
                <a:gd name="T10" fmla="*/ 8 w 37"/>
                <a:gd name="T11" fmla="*/ 82 h 89"/>
                <a:gd name="T12" fmla="*/ 9 w 37"/>
                <a:gd name="T13" fmla="*/ 81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9 w 37"/>
                <a:gd name="T25" fmla="*/ 45 h 89"/>
                <a:gd name="T26" fmla="*/ 19 w 37"/>
                <a:gd name="T27" fmla="*/ 0 h 89"/>
                <a:gd name="T28" fmla="*/ 19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3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1 h 89"/>
                <a:gd name="T42" fmla="*/ 28 w 37"/>
                <a:gd name="T43" fmla="*/ 82 h 89"/>
                <a:gd name="T44" fmla="*/ 30 w 37"/>
                <a:gd name="T45" fmla="*/ 84 h 89"/>
                <a:gd name="T46" fmla="*/ 31 w 37"/>
                <a:gd name="T47" fmla="*/ 85 h 89"/>
                <a:gd name="T48" fmla="*/ 32 w 37"/>
                <a:gd name="T49" fmla="*/ 87 h 89"/>
                <a:gd name="T50" fmla="*/ 35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7"/>
                  </a:lnTo>
                  <a:lnTo>
                    <a:pt x="5" y="85"/>
                  </a:lnTo>
                  <a:lnTo>
                    <a:pt x="6" y="84"/>
                  </a:lnTo>
                  <a:lnTo>
                    <a:pt x="8" y="82"/>
                  </a:lnTo>
                  <a:lnTo>
                    <a:pt x="9" y="81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9" y="45"/>
                  </a:lnTo>
                  <a:lnTo>
                    <a:pt x="19" y="0"/>
                  </a:lnTo>
                  <a:lnTo>
                    <a:pt x="19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1"/>
                  </a:lnTo>
                  <a:lnTo>
                    <a:pt x="28" y="82"/>
                  </a:lnTo>
                  <a:lnTo>
                    <a:pt x="30" y="84"/>
                  </a:lnTo>
                  <a:lnTo>
                    <a:pt x="31" y="85"/>
                  </a:lnTo>
                  <a:lnTo>
                    <a:pt x="32" y="87"/>
                  </a:lnTo>
                  <a:lnTo>
                    <a:pt x="35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62" name="Freeform 30"/>
            <p:cNvSpPr>
              <a:spLocks/>
            </p:cNvSpPr>
            <p:nvPr/>
          </p:nvSpPr>
          <p:spPr bwMode="auto">
            <a:xfrm>
              <a:off x="3573" y="2148"/>
              <a:ext cx="37" cy="45"/>
            </a:xfrm>
            <a:custGeom>
              <a:avLst/>
              <a:gdLst>
                <a:gd name="T0" fmla="*/ 0 w 37"/>
                <a:gd name="T1" fmla="*/ 0 h 90"/>
                <a:gd name="T2" fmla="*/ 2 w 37"/>
                <a:gd name="T3" fmla="*/ 0 h 90"/>
                <a:gd name="T4" fmla="*/ 4 w 37"/>
                <a:gd name="T5" fmla="*/ 2 h 90"/>
                <a:gd name="T6" fmla="*/ 5 w 37"/>
                <a:gd name="T7" fmla="*/ 3 h 90"/>
                <a:gd name="T8" fmla="*/ 7 w 37"/>
                <a:gd name="T9" fmla="*/ 5 h 90"/>
                <a:gd name="T10" fmla="*/ 8 w 37"/>
                <a:gd name="T11" fmla="*/ 6 h 90"/>
                <a:gd name="T12" fmla="*/ 9 w 37"/>
                <a:gd name="T13" fmla="*/ 9 h 90"/>
                <a:gd name="T14" fmla="*/ 10 w 37"/>
                <a:gd name="T15" fmla="*/ 12 h 90"/>
                <a:gd name="T16" fmla="*/ 11 w 37"/>
                <a:gd name="T17" fmla="*/ 15 h 90"/>
                <a:gd name="T18" fmla="*/ 13 w 37"/>
                <a:gd name="T19" fmla="*/ 20 h 90"/>
                <a:gd name="T20" fmla="*/ 14 w 37"/>
                <a:gd name="T21" fmla="*/ 24 h 90"/>
                <a:gd name="T22" fmla="*/ 16 w 37"/>
                <a:gd name="T23" fmla="*/ 35 h 90"/>
                <a:gd name="T24" fmla="*/ 19 w 37"/>
                <a:gd name="T25" fmla="*/ 45 h 90"/>
                <a:gd name="T26" fmla="*/ 19 w 37"/>
                <a:gd name="T27" fmla="*/ 90 h 90"/>
                <a:gd name="T28" fmla="*/ 19 w 37"/>
                <a:gd name="T29" fmla="*/ 45 h 90"/>
                <a:gd name="T30" fmla="*/ 20 w 37"/>
                <a:gd name="T31" fmla="*/ 35 h 90"/>
                <a:gd name="T32" fmla="*/ 22 w 37"/>
                <a:gd name="T33" fmla="*/ 24 h 90"/>
                <a:gd name="T34" fmla="*/ 24 w 37"/>
                <a:gd name="T35" fmla="*/ 20 h 90"/>
                <a:gd name="T36" fmla="*/ 25 w 37"/>
                <a:gd name="T37" fmla="*/ 15 h 90"/>
                <a:gd name="T38" fmla="*/ 26 w 37"/>
                <a:gd name="T39" fmla="*/ 12 h 90"/>
                <a:gd name="T40" fmla="*/ 27 w 37"/>
                <a:gd name="T41" fmla="*/ 9 h 90"/>
                <a:gd name="T42" fmla="*/ 29 w 37"/>
                <a:gd name="T43" fmla="*/ 6 h 90"/>
                <a:gd name="T44" fmla="*/ 30 w 37"/>
                <a:gd name="T45" fmla="*/ 5 h 90"/>
                <a:gd name="T46" fmla="*/ 31 w 37"/>
                <a:gd name="T47" fmla="*/ 3 h 90"/>
                <a:gd name="T48" fmla="*/ 32 w 37"/>
                <a:gd name="T49" fmla="*/ 2 h 90"/>
                <a:gd name="T50" fmla="*/ 35 w 37"/>
                <a:gd name="T51" fmla="*/ 0 h 90"/>
                <a:gd name="T52" fmla="*/ 37 w 37"/>
                <a:gd name="T5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90">
                  <a:moveTo>
                    <a:pt x="0" y="0"/>
                  </a:moveTo>
                  <a:lnTo>
                    <a:pt x="2" y="0"/>
                  </a:lnTo>
                  <a:lnTo>
                    <a:pt x="4" y="2"/>
                  </a:lnTo>
                  <a:lnTo>
                    <a:pt x="5" y="3"/>
                  </a:lnTo>
                  <a:lnTo>
                    <a:pt x="7" y="5"/>
                  </a:lnTo>
                  <a:lnTo>
                    <a:pt x="8" y="6"/>
                  </a:lnTo>
                  <a:lnTo>
                    <a:pt x="9" y="9"/>
                  </a:lnTo>
                  <a:lnTo>
                    <a:pt x="10" y="12"/>
                  </a:lnTo>
                  <a:lnTo>
                    <a:pt x="11" y="15"/>
                  </a:lnTo>
                  <a:lnTo>
                    <a:pt x="13" y="20"/>
                  </a:lnTo>
                  <a:lnTo>
                    <a:pt x="14" y="24"/>
                  </a:lnTo>
                  <a:lnTo>
                    <a:pt x="16" y="35"/>
                  </a:lnTo>
                  <a:lnTo>
                    <a:pt x="19" y="45"/>
                  </a:lnTo>
                  <a:lnTo>
                    <a:pt x="19" y="90"/>
                  </a:lnTo>
                  <a:lnTo>
                    <a:pt x="19" y="45"/>
                  </a:lnTo>
                  <a:lnTo>
                    <a:pt x="20" y="35"/>
                  </a:lnTo>
                  <a:lnTo>
                    <a:pt x="22" y="24"/>
                  </a:lnTo>
                  <a:lnTo>
                    <a:pt x="24" y="20"/>
                  </a:lnTo>
                  <a:lnTo>
                    <a:pt x="25" y="15"/>
                  </a:lnTo>
                  <a:lnTo>
                    <a:pt x="26" y="12"/>
                  </a:lnTo>
                  <a:lnTo>
                    <a:pt x="27" y="9"/>
                  </a:lnTo>
                  <a:lnTo>
                    <a:pt x="29" y="6"/>
                  </a:lnTo>
                  <a:lnTo>
                    <a:pt x="30" y="5"/>
                  </a:lnTo>
                  <a:lnTo>
                    <a:pt x="31" y="3"/>
                  </a:lnTo>
                  <a:lnTo>
                    <a:pt x="32" y="2"/>
                  </a:lnTo>
                  <a:lnTo>
                    <a:pt x="35" y="0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63" name="Freeform 31"/>
            <p:cNvSpPr>
              <a:spLocks/>
            </p:cNvSpPr>
            <p:nvPr/>
          </p:nvSpPr>
          <p:spPr bwMode="auto">
            <a:xfrm>
              <a:off x="3684" y="2104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3 w 37"/>
                <a:gd name="T5" fmla="*/ 87 h 89"/>
                <a:gd name="T6" fmla="*/ 5 w 37"/>
                <a:gd name="T7" fmla="*/ 85 h 89"/>
                <a:gd name="T8" fmla="*/ 6 w 37"/>
                <a:gd name="T9" fmla="*/ 84 h 89"/>
                <a:gd name="T10" fmla="*/ 7 w 37"/>
                <a:gd name="T11" fmla="*/ 82 h 89"/>
                <a:gd name="T12" fmla="*/ 8 w 37"/>
                <a:gd name="T13" fmla="*/ 81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3 w 37"/>
                <a:gd name="T21" fmla="*/ 64 h 89"/>
                <a:gd name="T22" fmla="*/ 16 w 37"/>
                <a:gd name="T23" fmla="*/ 54 h 89"/>
                <a:gd name="T24" fmla="*/ 18 w 37"/>
                <a:gd name="T25" fmla="*/ 45 h 89"/>
                <a:gd name="T26" fmla="*/ 18 w 37"/>
                <a:gd name="T27" fmla="*/ 0 h 89"/>
                <a:gd name="T28" fmla="*/ 18 w 37"/>
                <a:gd name="T29" fmla="*/ 45 h 89"/>
                <a:gd name="T30" fmla="*/ 19 w 37"/>
                <a:gd name="T31" fmla="*/ 54 h 89"/>
                <a:gd name="T32" fmla="*/ 22 w 37"/>
                <a:gd name="T33" fmla="*/ 64 h 89"/>
                <a:gd name="T34" fmla="*/ 23 w 37"/>
                <a:gd name="T35" fmla="*/ 69 h 89"/>
                <a:gd name="T36" fmla="*/ 24 w 37"/>
                <a:gd name="T37" fmla="*/ 73 h 89"/>
                <a:gd name="T38" fmla="*/ 25 w 37"/>
                <a:gd name="T39" fmla="*/ 76 h 89"/>
                <a:gd name="T40" fmla="*/ 27 w 37"/>
                <a:gd name="T41" fmla="*/ 81 h 89"/>
                <a:gd name="T42" fmla="*/ 28 w 37"/>
                <a:gd name="T43" fmla="*/ 82 h 89"/>
                <a:gd name="T44" fmla="*/ 29 w 37"/>
                <a:gd name="T45" fmla="*/ 84 h 89"/>
                <a:gd name="T46" fmla="*/ 30 w 37"/>
                <a:gd name="T47" fmla="*/ 85 h 89"/>
                <a:gd name="T48" fmla="*/ 32 w 37"/>
                <a:gd name="T49" fmla="*/ 87 h 89"/>
                <a:gd name="T50" fmla="*/ 34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3" y="87"/>
                  </a:lnTo>
                  <a:lnTo>
                    <a:pt x="5" y="85"/>
                  </a:lnTo>
                  <a:lnTo>
                    <a:pt x="6" y="84"/>
                  </a:lnTo>
                  <a:lnTo>
                    <a:pt x="7" y="82"/>
                  </a:lnTo>
                  <a:lnTo>
                    <a:pt x="8" y="81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19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5" y="76"/>
                  </a:lnTo>
                  <a:lnTo>
                    <a:pt x="27" y="81"/>
                  </a:lnTo>
                  <a:lnTo>
                    <a:pt x="28" y="82"/>
                  </a:lnTo>
                  <a:lnTo>
                    <a:pt x="29" y="84"/>
                  </a:lnTo>
                  <a:lnTo>
                    <a:pt x="30" y="85"/>
                  </a:lnTo>
                  <a:lnTo>
                    <a:pt x="32" y="87"/>
                  </a:lnTo>
                  <a:lnTo>
                    <a:pt x="34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64" name="Freeform 32"/>
            <p:cNvSpPr>
              <a:spLocks/>
            </p:cNvSpPr>
            <p:nvPr/>
          </p:nvSpPr>
          <p:spPr bwMode="auto">
            <a:xfrm>
              <a:off x="3647" y="2148"/>
              <a:ext cx="37" cy="45"/>
            </a:xfrm>
            <a:custGeom>
              <a:avLst/>
              <a:gdLst>
                <a:gd name="T0" fmla="*/ 0 w 37"/>
                <a:gd name="T1" fmla="*/ 0 h 90"/>
                <a:gd name="T2" fmla="*/ 1 w 37"/>
                <a:gd name="T3" fmla="*/ 0 h 90"/>
                <a:gd name="T4" fmla="*/ 4 w 37"/>
                <a:gd name="T5" fmla="*/ 2 h 90"/>
                <a:gd name="T6" fmla="*/ 5 w 37"/>
                <a:gd name="T7" fmla="*/ 3 h 90"/>
                <a:gd name="T8" fmla="*/ 6 w 37"/>
                <a:gd name="T9" fmla="*/ 5 h 90"/>
                <a:gd name="T10" fmla="*/ 7 w 37"/>
                <a:gd name="T11" fmla="*/ 6 h 90"/>
                <a:gd name="T12" fmla="*/ 9 w 37"/>
                <a:gd name="T13" fmla="*/ 9 h 90"/>
                <a:gd name="T14" fmla="*/ 10 w 37"/>
                <a:gd name="T15" fmla="*/ 12 h 90"/>
                <a:gd name="T16" fmla="*/ 11 w 37"/>
                <a:gd name="T17" fmla="*/ 15 h 90"/>
                <a:gd name="T18" fmla="*/ 12 w 37"/>
                <a:gd name="T19" fmla="*/ 20 h 90"/>
                <a:gd name="T20" fmla="*/ 13 w 37"/>
                <a:gd name="T21" fmla="*/ 24 h 90"/>
                <a:gd name="T22" fmla="*/ 16 w 37"/>
                <a:gd name="T23" fmla="*/ 35 h 90"/>
                <a:gd name="T24" fmla="*/ 18 w 37"/>
                <a:gd name="T25" fmla="*/ 45 h 90"/>
                <a:gd name="T26" fmla="*/ 18 w 37"/>
                <a:gd name="T27" fmla="*/ 90 h 90"/>
                <a:gd name="T28" fmla="*/ 18 w 37"/>
                <a:gd name="T29" fmla="*/ 45 h 90"/>
                <a:gd name="T30" fmla="*/ 20 w 37"/>
                <a:gd name="T31" fmla="*/ 35 h 90"/>
                <a:gd name="T32" fmla="*/ 22 w 37"/>
                <a:gd name="T33" fmla="*/ 24 h 90"/>
                <a:gd name="T34" fmla="*/ 23 w 37"/>
                <a:gd name="T35" fmla="*/ 20 h 90"/>
                <a:gd name="T36" fmla="*/ 24 w 37"/>
                <a:gd name="T37" fmla="*/ 15 h 90"/>
                <a:gd name="T38" fmla="*/ 26 w 37"/>
                <a:gd name="T39" fmla="*/ 12 h 90"/>
                <a:gd name="T40" fmla="*/ 27 w 37"/>
                <a:gd name="T41" fmla="*/ 9 h 90"/>
                <a:gd name="T42" fmla="*/ 28 w 37"/>
                <a:gd name="T43" fmla="*/ 6 h 90"/>
                <a:gd name="T44" fmla="*/ 29 w 37"/>
                <a:gd name="T45" fmla="*/ 5 h 90"/>
                <a:gd name="T46" fmla="*/ 31 w 37"/>
                <a:gd name="T47" fmla="*/ 3 h 90"/>
                <a:gd name="T48" fmla="*/ 32 w 37"/>
                <a:gd name="T49" fmla="*/ 2 h 90"/>
                <a:gd name="T50" fmla="*/ 34 w 37"/>
                <a:gd name="T51" fmla="*/ 0 h 90"/>
                <a:gd name="T52" fmla="*/ 37 w 37"/>
                <a:gd name="T5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90">
                  <a:moveTo>
                    <a:pt x="0" y="0"/>
                  </a:moveTo>
                  <a:lnTo>
                    <a:pt x="1" y="0"/>
                  </a:lnTo>
                  <a:lnTo>
                    <a:pt x="4" y="2"/>
                  </a:lnTo>
                  <a:lnTo>
                    <a:pt x="5" y="3"/>
                  </a:lnTo>
                  <a:lnTo>
                    <a:pt x="6" y="5"/>
                  </a:lnTo>
                  <a:lnTo>
                    <a:pt x="7" y="6"/>
                  </a:lnTo>
                  <a:lnTo>
                    <a:pt x="9" y="9"/>
                  </a:lnTo>
                  <a:lnTo>
                    <a:pt x="10" y="12"/>
                  </a:lnTo>
                  <a:lnTo>
                    <a:pt x="11" y="15"/>
                  </a:lnTo>
                  <a:lnTo>
                    <a:pt x="12" y="20"/>
                  </a:lnTo>
                  <a:lnTo>
                    <a:pt x="13" y="24"/>
                  </a:lnTo>
                  <a:lnTo>
                    <a:pt x="16" y="35"/>
                  </a:lnTo>
                  <a:lnTo>
                    <a:pt x="18" y="45"/>
                  </a:lnTo>
                  <a:lnTo>
                    <a:pt x="18" y="90"/>
                  </a:lnTo>
                  <a:lnTo>
                    <a:pt x="18" y="45"/>
                  </a:lnTo>
                  <a:lnTo>
                    <a:pt x="20" y="35"/>
                  </a:lnTo>
                  <a:lnTo>
                    <a:pt x="22" y="24"/>
                  </a:lnTo>
                  <a:lnTo>
                    <a:pt x="23" y="20"/>
                  </a:lnTo>
                  <a:lnTo>
                    <a:pt x="24" y="15"/>
                  </a:lnTo>
                  <a:lnTo>
                    <a:pt x="26" y="12"/>
                  </a:lnTo>
                  <a:lnTo>
                    <a:pt x="27" y="9"/>
                  </a:lnTo>
                  <a:lnTo>
                    <a:pt x="28" y="6"/>
                  </a:lnTo>
                  <a:lnTo>
                    <a:pt x="29" y="5"/>
                  </a:lnTo>
                  <a:lnTo>
                    <a:pt x="31" y="3"/>
                  </a:lnTo>
                  <a:lnTo>
                    <a:pt x="32" y="2"/>
                  </a:lnTo>
                  <a:lnTo>
                    <a:pt x="34" y="0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65" name="Freeform 33"/>
            <p:cNvSpPr>
              <a:spLocks/>
            </p:cNvSpPr>
            <p:nvPr/>
          </p:nvSpPr>
          <p:spPr bwMode="auto">
            <a:xfrm>
              <a:off x="3757" y="2104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2 w 37"/>
                <a:gd name="T3" fmla="*/ 88 h 89"/>
                <a:gd name="T4" fmla="*/ 4 w 37"/>
                <a:gd name="T5" fmla="*/ 87 h 89"/>
                <a:gd name="T6" fmla="*/ 5 w 37"/>
                <a:gd name="T7" fmla="*/ 85 h 89"/>
                <a:gd name="T8" fmla="*/ 6 w 37"/>
                <a:gd name="T9" fmla="*/ 84 h 89"/>
                <a:gd name="T10" fmla="*/ 8 w 37"/>
                <a:gd name="T11" fmla="*/ 82 h 89"/>
                <a:gd name="T12" fmla="*/ 9 w 37"/>
                <a:gd name="T13" fmla="*/ 81 h 89"/>
                <a:gd name="T14" fmla="*/ 10 w 37"/>
                <a:gd name="T15" fmla="*/ 76 h 89"/>
                <a:gd name="T16" fmla="*/ 11 w 37"/>
                <a:gd name="T17" fmla="*/ 73 h 89"/>
                <a:gd name="T18" fmla="*/ 13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9 w 37"/>
                <a:gd name="T25" fmla="*/ 45 h 89"/>
                <a:gd name="T26" fmla="*/ 19 w 37"/>
                <a:gd name="T27" fmla="*/ 0 h 89"/>
                <a:gd name="T28" fmla="*/ 19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4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1 h 89"/>
                <a:gd name="T42" fmla="*/ 28 w 37"/>
                <a:gd name="T43" fmla="*/ 82 h 89"/>
                <a:gd name="T44" fmla="*/ 30 w 37"/>
                <a:gd name="T45" fmla="*/ 84 h 89"/>
                <a:gd name="T46" fmla="*/ 31 w 37"/>
                <a:gd name="T47" fmla="*/ 85 h 89"/>
                <a:gd name="T48" fmla="*/ 32 w 37"/>
                <a:gd name="T49" fmla="*/ 87 h 89"/>
                <a:gd name="T50" fmla="*/ 35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2" y="88"/>
                  </a:lnTo>
                  <a:lnTo>
                    <a:pt x="4" y="87"/>
                  </a:lnTo>
                  <a:lnTo>
                    <a:pt x="5" y="85"/>
                  </a:lnTo>
                  <a:lnTo>
                    <a:pt x="6" y="84"/>
                  </a:lnTo>
                  <a:lnTo>
                    <a:pt x="8" y="82"/>
                  </a:lnTo>
                  <a:lnTo>
                    <a:pt x="9" y="81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3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9" y="45"/>
                  </a:lnTo>
                  <a:lnTo>
                    <a:pt x="19" y="0"/>
                  </a:lnTo>
                  <a:lnTo>
                    <a:pt x="19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4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1"/>
                  </a:lnTo>
                  <a:lnTo>
                    <a:pt x="28" y="82"/>
                  </a:lnTo>
                  <a:lnTo>
                    <a:pt x="30" y="84"/>
                  </a:lnTo>
                  <a:lnTo>
                    <a:pt x="31" y="85"/>
                  </a:lnTo>
                  <a:lnTo>
                    <a:pt x="32" y="87"/>
                  </a:lnTo>
                  <a:lnTo>
                    <a:pt x="35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66" name="Freeform 34"/>
            <p:cNvSpPr>
              <a:spLocks/>
            </p:cNvSpPr>
            <p:nvPr/>
          </p:nvSpPr>
          <p:spPr bwMode="auto">
            <a:xfrm>
              <a:off x="3721" y="2148"/>
              <a:ext cx="36" cy="45"/>
            </a:xfrm>
            <a:custGeom>
              <a:avLst/>
              <a:gdLst>
                <a:gd name="T0" fmla="*/ 0 w 36"/>
                <a:gd name="T1" fmla="*/ 0 h 90"/>
                <a:gd name="T2" fmla="*/ 1 w 36"/>
                <a:gd name="T3" fmla="*/ 0 h 90"/>
                <a:gd name="T4" fmla="*/ 3 w 36"/>
                <a:gd name="T5" fmla="*/ 2 h 90"/>
                <a:gd name="T6" fmla="*/ 4 w 36"/>
                <a:gd name="T7" fmla="*/ 3 h 90"/>
                <a:gd name="T8" fmla="*/ 6 w 36"/>
                <a:gd name="T9" fmla="*/ 5 h 90"/>
                <a:gd name="T10" fmla="*/ 7 w 36"/>
                <a:gd name="T11" fmla="*/ 6 h 90"/>
                <a:gd name="T12" fmla="*/ 8 w 36"/>
                <a:gd name="T13" fmla="*/ 9 h 90"/>
                <a:gd name="T14" fmla="*/ 9 w 36"/>
                <a:gd name="T15" fmla="*/ 12 h 90"/>
                <a:gd name="T16" fmla="*/ 11 w 36"/>
                <a:gd name="T17" fmla="*/ 15 h 90"/>
                <a:gd name="T18" fmla="*/ 12 w 36"/>
                <a:gd name="T19" fmla="*/ 20 h 90"/>
                <a:gd name="T20" fmla="*/ 13 w 36"/>
                <a:gd name="T21" fmla="*/ 24 h 90"/>
                <a:gd name="T22" fmla="*/ 15 w 36"/>
                <a:gd name="T23" fmla="*/ 35 h 90"/>
                <a:gd name="T24" fmla="*/ 18 w 36"/>
                <a:gd name="T25" fmla="*/ 45 h 90"/>
                <a:gd name="T26" fmla="*/ 18 w 36"/>
                <a:gd name="T27" fmla="*/ 90 h 90"/>
                <a:gd name="T28" fmla="*/ 18 w 36"/>
                <a:gd name="T29" fmla="*/ 45 h 90"/>
                <a:gd name="T30" fmla="*/ 19 w 36"/>
                <a:gd name="T31" fmla="*/ 35 h 90"/>
                <a:gd name="T32" fmla="*/ 22 w 36"/>
                <a:gd name="T33" fmla="*/ 24 h 90"/>
                <a:gd name="T34" fmla="*/ 23 w 36"/>
                <a:gd name="T35" fmla="*/ 20 h 90"/>
                <a:gd name="T36" fmla="*/ 24 w 36"/>
                <a:gd name="T37" fmla="*/ 15 h 90"/>
                <a:gd name="T38" fmla="*/ 25 w 36"/>
                <a:gd name="T39" fmla="*/ 12 h 90"/>
                <a:gd name="T40" fmla="*/ 26 w 36"/>
                <a:gd name="T41" fmla="*/ 9 h 90"/>
                <a:gd name="T42" fmla="*/ 28 w 36"/>
                <a:gd name="T43" fmla="*/ 6 h 90"/>
                <a:gd name="T44" fmla="*/ 29 w 36"/>
                <a:gd name="T45" fmla="*/ 5 h 90"/>
                <a:gd name="T46" fmla="*/ 30 w 36"/>
                <a:gd name="T47" fmla="*/ 3 h 90"/>
                <a:gd name="T48" fmla="*/ 31 w 36"/>
                <a:gd name="T49" fmla="*/ 2 h 90"/>
                <a:gd name="T50" fmla="*/ 34 w 36"/>
                <a:gd name="T51" fmla="*/ 0 h 90"/>
                <a:gd name="T52" fmla="*/ 36 w 36"/>
                <a:gd name="T5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6" h="90">
                  <a:moveTo>
                    <a:pt x="0" y="0"/>
                  </a:moveTo>
                  <a:lnTo>
                    <a:pt x="1" y="0"/>
                  </a:lnTo>
                  <a:lnTo>
                    <a:pt x="3" y="2"/>
                  </a:lnTo>
                  <a:lnTo>
                    <a:pt x="4" y="3"/>
                  </a:lnTo>
                  <a:lnTo>
                    <a:pt x="6" y="5"/>
                  </a:lnTo>
                  <a:lnTo>
                    <a:pt x="7" y="6"/>
                  </a:lnTo>
                  <a:lnTo>
                    <a:pt x="8" y="9"/>
                  </a:lnTo>
                  <a:lnTo>
                    <a:pt x="9" y="12"/>
                  </a:lnTo>
                  <a:lnTo>
                    <a:pt x="11" y="15"/>
                  </a:lnTo>
                  <a:lnTo>
                    <a:pt x="12" y="20"/>
                  </a:lnTo>
                  <a:lnTo>
                    <a:pt x="13" y="24"/>
                  </a:lnTo>
                  <a:lnTo>
                    <a:pt x="15" y="35"/>
                  </a:lnTo>
                  <a:lnTo>
                    <a:pt x="18" y="45"/>
                  </a:lnTo>
                  <a:lnTo>
                    <a:pt x="18" y="90"/>
                  </a:lnTo>
                  <a:lnTo>
                    <a:pt x="18" y="45"/>
                  </a:lnTo>
                  <a:lnTo>
                    <a:pt x="19" y="35"/>
                  </a:lnTo>
                  <a:lnTo>
                    <a:pt x="22" y="24"/>
                  </a:lnTo>
                  <a:lnTo>
                    <a:pt x="23" y="20"/>
                  </a:lnTo>
                  <a:lnTo>
                    <a:pt x="24" y="15"/>
                  </a:lnTo>
                  <a:lnTo>
                    <a:pt x="25" y="12"/>
                  </a:lnTo>
                  <a:lnTo>
                    <a:pt x="26" y="9"/>
                  </a:lnTo>
                  <a:lnTo>
                    <a:pt x="28" y="6"/>
                  </a:lnTo>
                  <a:lnTo>
                    <a:pt x="29" y="5"/>
                  </a:lnTo>
                  <a:lnTo>
                    <a:pt x="30" y="3"/>
                  </a:lnTo>
                  <a:lnTo>
                    <a:pt x="31" y="2"/>
                  </a:lnTo>
                  <a:lnTo>
                    <a:pt x="34" y="0"/>
                  </a:lnTo>
                  <a:lnTo>
                    <a:pt x="36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67" name="Freeform 35"/>
            <p:cNvSpPr>
              <a:spLocks/>
            </p:cNvSpPr>
            <p:nvPr/>
          </p:nvSpPr>
          <p:spPr bwMode="auto">
            <a:xfrm>
              <a:off x="3794" y="2148"/>
              <a:ext cx="18" cy="45"/>
            </a:xfrm>
            <a:custGeom>
              <a:avLst/>
              <a:gdLst>
                <a:gd name="T0" fmla="*/ 18 w 18"/>
                <a:gd name="T1" fmla="*/ 90 h 90"/>
                <a:gd name="T2" fmla="*/ 18 w 18"/>
                <a:gd name="T3" fmla="*/ 45 h 90"/>
                <a:gd name="T4" fmla="*/ 16 w 18"/>
                <a:gd name="T5" fmla="*/ 35 h 90"/>
                <a:gd name="T6" fmla="*/ 14 w 18"/>
                <a:gd name="T7" fmla="*/ 24 h 90"/>
                <a:gd name="T8" fmla="*/ 12 w 18"/>
                <a:gd name="T9" fmla="*/ 20 h 90"/>
                <a:gd name="T10" fmla="*/ 11 w 18"/>
                <a:gd name="T11" fmla="*/ 15 h 90"/>
                <a:gd name="T12" fmla="*/ 10 w 18"/>
                <a:gd name="T13" fmla="*/ 11 h 90"/>
                <a:gd name="T14" fmla="*/ 9 w 18"/>
                <a:gd name="T15" fmla="*/ 8 h 90"/>
                <a:gd name="T16" fmla="*/ 7 w 18"/>
                <a:gd name="T17" fmla="*/ 6 h 90"/>
                <a:gd name="T18" fmla="*/ 6 w 18"/>
                <a:gd name="T19" fmla="*/ 3 h 90"/>
                <a:gd name="T20" fmla="*/ 5 w 18"/>
                <a:gd name="T21" fmla="*/ 2 h 90"/>
                <a:gd name="T22" fmla="*/ 4 w 18"/>
                <a:gd name="T23" fmla="*/ 2 h 90"/>
                <a:gd name="T24" fmla="*/ 1 w 18"/>
                <a:gd name="T25" fmla="*/ 0 h 90"/>
                <a:gd name="T26" fmla="*/ 0 w 18"/>
                <a:gd name="T27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90">
                  <a:moveTo>
                    <a:pt x="18" y="90"/>
                  </a:moveTo>
                  <a:lnTo>
                    <a:pt x="18" y="45"/>
                  </a:lnTo>
                  <a:lnTo>
                    <a:pt x="16" y="35"/>
                  </a:lnTo>
                  <a:lnTo>
                    <a:pt x="14" y="24"/>
                  </a:lnTo>
                  <a:lnTo>
                    <a:pt x="12" y="20"/>
                  </a:lnTo>
                  <a:lnTo>
                    <a:pt x="11" y="15"/>
                  </a:lnTo>
                  <a:lnTo>
                    <a:pt x="10" y="11"/>
                  </a:lnTo>
                  <a:lnTo>
                    <a:pt x="9" y="8"/>
                  </a:lnTo>
                  <a:lnTo>
                    <a:pt x="7" y="6"/>
                  </a:lnTo>
                  <a:lnTo>
                    <a:pt x="6" y="3"/>
                  </a:lnTo>
                  <a:lnTo>
                    <a:pt x="5" y="2"/>
                  </a:lnTo>
                  <a:lnTo>
                    <a:pt x="4" y="2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68" name="Line 36"/>
            <p:cNvSpPr>
              <a:spLocks noChangeShapeType="1"/>
            </p:cNvSpPr>
            <p:nvPr/>
          </p:nvSpPr>
          <p:spPr bwMode="auto">
            <a:xfrm flipV="1">
              <a:off x="3408" y="1947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69" name="Line 37"/>
            <p:cNvSpPr>
              <a:spLocks noChangeShapeType="1"/>
            </p:cNvSpPr>
            <p:nvPr/>
          </p:nvSpPr>
          <p:spPr bwMode="auto">
            <a:xfrm flipV="1">
              <a:off x="3481" y="1947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70" name="Line 38"/>
            <p:cNvSpPr>
              <a:spLocks noChangeShapeType="1"/>
            </p:cNvSpPr>
            <p:nvPr/>
          </p:nvSpPr>
          <p:spPr bwMode="auto">
            <a:xfrm flipV="1">
              <a:off x="3555" y="1947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71" name="Line 39"/>
            <p:cNvSpPr>
              <a:spLocks noChangeShapeType="1"/>
            </p:cNvSpPr>
            <p:nvPr/>
          </p:nvSpPr>
          <p:spPr bwMode="auto">
            <a:xfrm flipV="1">
              <a:off x="3629" y="1947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72" name="Line 40"/>
            <p:cNvSpPr>
              <a:spLocks noChangeShapeType="1"/>
            </p:cNvSpPr>
            <p:nvPr/>
          </p:nvSpPr>
          <p:spPr bwMode="auto">
            <a:xfrm flipV="1">
              <a:off x="3702" y="1947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73" name="Line 41"/>
            <p:cNvSpPr>
              <a:spLocks noChangeShapeType="1"/>
            </p:cNvSpPr>
            <p:nvPr/>
          </p:nvSpPr>
          <p:spPr bwMode="auto">
            <a:xfrm flipV="1">
              <a:off x="3776" y="1947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74" name="Line 42"/>
            <p:cNvSpPr>
              <a:spLocks noChangeShapeType="1"/>
            </p:cNvSpPr>
            <p:nvPr/>
          </p:nvSpPr>
          <p:spPr bwMode="auto">
            <a:xfrm flipV="1">
              <a:off x="3371" y="2193"/>
              <a:ext cx="1" cy="156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75" name="Line 43"/>
            <p:cNvSpPr>
              <a:spLocks noChangeShapeType="1"/>
            </p:cNvSpPr>
            <p:nvPr/>
          </p:nvSpPr>
          <p:spPr bwMode="auto">
            <a:xfrm flipV="1">
              <a:off x="3445" y="2193"/>
              <a:ext cx="1" cy="156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76" name="Line 44"/>
            <p:cNvSpPr>
              <a:spLocks noChangeShapeType="1"/>
            </p:cNvSpPr>
            <p:nvPr/>
          </p:nvSpPr>
          <p:spPr bwMode="auto">
            <a:xfrm flipV="1">
              <a:off x="3518" y="2193"/>
              <a:ext cx="1" cy="156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77" name="Line 45"/>
            <p:cNvSpPr>
              <a:spLocks noChangeShapeType="1"/>
            </p:cNvSpPr>
            <p:nvPr/>
          </p:nvSpPr>
          <p:spPr bwMode="auto">
            <a:xfrm flipV="1">
              <a:off x="3592" y="2193"/>
              <a:ext cx="1" cy="156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78" name="Line 46"/>
            <p:cNvSpPr>
              <a:spLocks noChangeShapeType="1"/>
            </p:cNvSpPr>
            <p:nvPr/>
          </p:nvSpPr>
          <p:spPr bwMode="auto">
            <a:xfrm flipV="1">
              <a:off x="3665" y="2193"/>
              <a:ext cx="1" cy="156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79" name="Line 47"/>
            <p:cNvSpPr>
              <a:spLocks noChangeShapeType="1"/>
            </p:cNvSpPr>
            <p:nvPr/>
          </p:nvSpPr>
          <p:spPr bwMode="auto">
            <a:xfrm flipV="1">
              <a:off x="3739" y="2145"/>
              <a:ext cx="2" cy="204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80" name="Freeform 48"/>
            <p:cNvSpPr>
              <a:spLocks/>
            </p:cNvSpPr>
            <p:nvPr/>
          </p:nvSpPr>
          <p:spPr bwMode="auto">
            <a:xfrm>
              <a:off x="2819" y="2863"/>
              <a:ext cx="111" cy="202"/>
            </a:xfrm>
            <a:custGeom>
              <a:avLst/>
              <a:gdLst>
                <a:gd name="T0" fmla="*/ 0 w 111"/>
                <a:gd name="T1" fmla="*/ 403 h 403"/>
                <a:gd name="T2" fmla="*/ 0 w 111"/>
                <a:gd name="T3" fmla="*/ 390 h 403"/>
                <a:gd name="T4" fmla="*/ 0 w 111"/>
                <a:gd name="T5" fmla="*/ 0 h 403"/>
                <a:gd name="T6" fmla="*/ 19 w 111"/>
                <a:gd name="T7" fmla="*/ 0 h 403"/>
                <a:gd name="T8" fmla="*/ 19 w 111"/>
                <a:gd name="T9" fmla="*/ 402 h 403"/>
                <a:gd name="T10" fmla="*/ 37 w 111"/>
                <a:gd name="T11" fmla="*/ 402 h 403"/>
                <a:gd name="T12" fmla="*/ 37 w 111"/>
                <a:gd name="T13" fmla="*/ 0 h 403"/>
                <a:gd name="T14" fmla="*/ 56 w 111"/>
                <a:gd name="T15" fmla="*/ 0 h 403"/>
                <a:gd name="T16" fmla="*/ 56 w 111"/>
                <a:gd name="T17" fmla="*/ 402 h 403"/>
                <a:gd name="T18" fmla="*/ 74 w 111"/>
                <a:gd name="T19" fmla="*/ 402 h 403"/>
                <a:gd name="T20" fmla="*/ 74 w 111"/>
                <a:gd name="T21" fmla="*/ 0 h 403"/>
                <a:gd name="T22" fmla="*/ 92 w 111"/>
                <a:gd name="T23" fmla="*/ 0 h 403"/>
                <a:gd name="T24" fmla="*/ 92 w 111"/>
                <a:gd name="T25" fmla="*/ 402 h 403"/>
                <a:gd name="T26" fmla="*/ 111 w 111"/>
                <a:gd name="T27" fmla="*/ 402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1" h="403">
                  <a:moveTo>
                    <a:pt x="0" y="403"/>
                  </a:moveTo>
                  <a:lnTo>
                    <a:pt x="0" y="390"/>
                  </a:lnTo>
                  <a:lnTo>
                    <a:pt x="0" y="0"/>
                  </a:lnTo>
                  <a:lnTo>
                    <a:pt x="19" y="0"/>
                  </a:lnTo>
                  <a:lnTo>
                    <a:pt x="19" y="402"/>
                  </a:lnTo>
                  <a:lnTo>
                    <a:pt x="37" y="402"/>
                  </a:lnTo>
                  <a:lnTo>
                    <a:pt x="37" y="0"/>
                  </a:lnTo>
                  <a:lnTo>
                    <a:pt x="56" y="0"/>
                  </a:lnTo>
                  <a:lnTo>
                    <a:pt x="56" y="402"/>
                  </a:lnTo>
                  <a:lnTo>
                    <a:pt x="74" y="402"/>
                  </a:lnTo>
                  <a:lnTo>
                    <a:pt x="74" y="0"/>
                  </a:lnTo>
                  <a:lnTo>
                    <a:pt x="92" y="0"/>
                  </a:lnTo>
                  <a:lnTo>
                    <a:pt x="92" y="402"/>
                  </a:lnTo>
                  <a:lnTo>
                    <a:pt x="111" y="402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81" name="Freeform 49"/>
            <p:cNvSpPr>
              <a:spLocks/>
            </p:cNvSpPr>
            <p:nvPr/>
          </p:nvSpPr>
          <p:spPr bwMode="auto">
            <a:xfrm>
              <a:off x="3371" y="2863"/>
              <a:ext cx="110" cy="202"/>
            </a:xfrm>
            <a:custGeom>
              <a:avLst/>
              <a:gdLst>
                <a:gd name="T0" fmla="*/ 0 w 110"/>
                <a:gd name="T1" fmla="*/ 403 h 403"/>
                <a:gd name="T2" fmla="*/ 0 w 110"/>
                <a:gd name="T3" fmla="*/ 390 h 403"/>
                <a:gd name="T4" fmla="*/ 0 w 110"/>
                <a:gd name="T5" fmla="*/ 0 h 403"/>
                <a:gd name="T6" fmla="*/ 19 w 110"/>
                <a:gd name="T7" fmla="*/ 0 h 403"/>
                <a:gd name="T8" fmla="*/ 19 w 110"/>
                <a:gd name="T9" fmla="*/ 402 h 403"/>
                <a:gd name="T10" fmla="*/ 37 w 110"/>
                <a:gd name="T11" fmla="*/ 402 h 403"/>
                <a:gd name="T12" fmla="*/ 37 w 110"/>
                <a:gd name="T13" fmla="*/ 0 h 403"/>
                <a:gd name="T14" fmla="*/ 55 w 110"/>
                <a:gd name="T15" fmla="*/ 0 h 403"/>
                <a:gd name="T16" fmla="*/ 55 w 110"/>
                <a:gd name="T17" fmla="*/ 402 h 403"/>
                <a:gd name="T18" fmla="*/ 74 w 110"/>
                <a:gd name="T19" fmla="*/ 402 h 403"/>
                <a:gd name="T20" fmla="*/ 74 w 110"/>
                <a:gd name="T21" fmla="*/ 0 h 403"/>
                <a:gd name="T22" fmla="*/ 92 w 110"/>
                <a:gd name="T23" fmla="*/ 0 h 403"/>
                <a:gd name="T24" fmla="*/ 92 w 110"/>
                <a:gd name="T25" fmla="*/ 402 h 403"/>
                <a:gd name="T26" fmla="*/ 110 w 110"/>
                <a:gd name="T27" fmla="*/ 402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0" h="403">
                  <a:moveTo>
                    <a:pt x="0" y="403"/>
                  </a:moveTo>
                  <a:lnTo>
                    <a:pt x="0" y="390"/>
                  </a:lnTo>
                  <a:lnTo>
                    <a:pt x="0" y="0"/>
                  </a:lnTo>
                  <a:lnTo>
                    <a:pt x="19" y="0"/>
                  </a:lnTo>
                  <a:lnTo>
                    <a:pt x="19" y="402"/>
                  </a:lnTo>
                  <a:lnTo>
                    <a:pt x="37" y="402"/>
                  </a:lnTo>
                  <a:lnTo>
                    <a:pt x="37" y="0"/>
                  </a:lnTo>
                  <a:lnTo>
                    <a:pt x="55" y="0"/>
                  </a:lnTo>
                  <a:lnTo>
                    <a:pt x="55" y="402"/>
                  </a:lnTo>
                  <a:lnTo>
                    <a:pt x="74" y="402"/>
                  </a:lnTo>
                  <a:lnTo>
                    <a:pt x="74" y="0"/>
                  </a:lnTo>
                  <a:lnTo>
                    <a:pt x="92" y="0"/>
                  </a:lnTo>
                  <a:lnTo>
                    <a:pt x="92" y="402"/>
                  </a:lnTo>
                  <a:lnTo>
                    <a:pt x="110" y="402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82" name="Freeform 50"/>
            <p:cNvSpPr>
              <a:spLocks/>
            </p:cNvSpPr>
            <p:nvPr/>
          </p:nvSpPr>
          <p:spPr bwMode="auto">
            <a:xfrm>
              <a:off x="3481" y="2863"/>
              <a:ext cx="111" cy="202"/>
            </a:xfrm>
            <a:custGeom>
              <a:avLst/>
              <a:gdLst>
                <a:gd name="T0" fmla="*/ 0 w 111"/>
                <a:gd name="T1" fmla="*/ 403 h 403"/>
                <a:gd name="T2" fmla="*/ 0 w 111"/>
                <a:gd name="T3" fmla="*/ 390 h 403"/>
                <a:gd name="T4" fmla="*/ 0 w 111"/>
                <a:gd name="T5" fmla="*/ 0 h 403"/>
                <a:gd name="T6" fmla="*/ 19 w 111"/>
                <a:gd name="T7" fmla="*/ 0 h 403"/>
                <a:gd name="T8" fmla="*/ 19 w 111"/>
                <a:gd name="T9" fmla="*/ 402 h 403"/>
                <a:gd name="T10" fmla="*/ 37 w 111"/>
                <a:gd name="T11" fmla="*/ 402 h 403"/>
                <a:gd name="T12" fmla="*/ 37 w 111"/>
                <a:gd name="T13" fmla="*/ 0 h 403"/>
                <a:gd name="T14" fmla="*/ 56 w 111"/>
                <a:gd name="T15" fmla="*/ 0 h 403"/>
                <a:gd name="T16" fmla="*/ 56 w 111"/>
                <a:gd name="T17" fmla="*/ 402 h 403"/>
                <a:gd name="T18" fmla="*/ 74 w 111"/>
                <a:gd name="T19" fmla="*/ 402 h 403"/>
                <a:gd name="T20" fmla="*/ 74 w 111"/>
                <a:gd name="T21" fmla="*/ 0 h 403"/>
                <a:gd name="T22" fmla="*/ 92 w 111"/>
                <a:gd name="T23" fmla="*/ 0 h 403"/>
                <a:gd name="T24" fmla="*/ 92 w 111"/>
                <a:gd name="T25" fmla="*/ 402 h 403"/>
                <a:gd name="T26" fmla="*/ 111 w 111"/>
                <a:gd name="T27" fmla="*/ 402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1" h="403">
                  <a:moveTo>
                    <a:pt x="0" y="403"/>
                  </a:moveTo>
                  <a:lnTo>
                    <a:pt x="0" y="390"/>
                  </a:lnTo>
                  <a:lnTo>
                    <a:pt x="0" y="0"/>
                  </a:lnTo>
                  <a:lnTo>
                    <a:pt x="19" y="0"/>
                  </a:lnTo>
                  <a:lnTo>
                    <a:pt x="19" y="402"/>
                  </a:lnTo>
                  <a:lnTo>
                    <a:pt x="37" y="402"/>
                  </a:lnTo>
                  <a:lnTo>
                    <a:pt x="37" y="0"/>
                  </a:lnTo>
                  <a:lnTo>
                    <a:pt x="56" y="0"/>
                  </a:lnTo>
                  <a:lnTo>
                    <a:pt x="56" y="402"/>
                  </a:lnTo>
                  <a:lnTo>
                    <a:pt x="74" y="402"/>
                  </a:lnTo>
                  <a:lnTo>
                    <a:pt x="74" y="0"/>
                  </a:lnTo>
                  <a:lnTo>
                    <a:pt x="92" y="0"/>
                  </a:lnTo>
                  <a:lnTo>
                    <a:pt x="92" y="402"/>
                  </a:lnTo>
                  <a:lnTo>
                    <a:pt x="111" y="402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83" name="Freeform 51"/>
            <p:cNvSpPr>
              <a:spLocks/>
            </p:cNvSpPr>
            <p:nvPr/>
          </p:nvSpPr>
          <p:spPr bwMode="auto">
            <a:xfrm>
              <a:off x="3592" y="2863"/>
              <a:ext cx="110" cy="202"/>
            </a:xfrm>
            <a:custGeom>
              <a:avLst/>
              <a:gdLst>
                <a:gd name="T0" fmla="*/ 0 w 110"/>
                <a:gd name="T1" fmla="*/ 403 h 403"/>
                <a:gd name="T2" fmla="*/ 0 w 110"/>
                <a:gd name="T3" fmla="*/ 390 h 403"/>
                <a:gd name="T4" fmla="*/ 0 w 110"/>
                <a:gd name="T5" fmla="*/ 0 h 403"/>
                <a:gd name="T6" fmla="*/ 18 w 110"/>
                <a:gd name="T7" fmla="*/ 0 h 403"/>
                <a:gd name="T8" fmla="*/ 18 w 110"/>
                <a:gd name="T9" fmla="*/ 402 h 403"/>
                <a:gd name="T10" fmla="*/ 37 w 110"/>
                <a:gd name="T11" fmla="*/ 402 h 403"/>
                <a:gd name="T12" fmla="*/ 37 w 110"/>
                <a:gd name="T13" fmla="*/ 0 h 403"/>
                <a:gd name="T14" fmla="*/ 55 w 110"/>
                <a:gd name="T15" fmla="*/ 0 h 403"/>
                <a:gd name="T16" fmla="*/ 55 w 110"/>
                <a:gd name="T17" fmla="*/ 402 h 403"/>
                <a:gd name="T18" fmla="*/ 73 w 110"/>
                <a:gd name="T19" fmla="*/ 402 h 403"/>
                <a:gd name="T20" fmla="*/ 73 w 110"/>
                <a:gd name="T21" fmla="*/ 0 h 403"/>
                <a:gd name="T22" fmla="*/ 92 w 110"/>
                <a:gd name="T23" fmla="*/ 0 h 403"/>
                <a:gd name="T24" fmla="*/ 92 w 110"/>
                <a:gd name="T25" fmla="*/ 402 h 403"/>
                <a:gd name="T26" fmla="*/ 110 w 110"/>
                <a:gd name="T27" fmla="*/ 402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0" h="403">
                  <a:moveTo>
                    <a:pt x="0" y="403"/>
                  </a:moveTo>
                  <a:lnTo>
                    <a:pt x="0" y="39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402"/>
                  </a:lnTo>
                  <a:lnTo>
                    <a:pt x="37" y="402"/>
                  </a:lnTo>
                  <a:lnTo>
                    <a:pt x="37" y="0"/>
                  </a:lnTo>
                  <a:lnTo>
                    <a:pt x="55" y="0"/>
                  </a:lnTo>
                  <a:lnTo>
                    <a:pt x="55" y="402"/>
                  </a:lnTo>
                  <a:lnTo>
                    <a:pt x="73" y="402"/>
                  </a:lnTo>
                  <a:lnTo>
                    <a:pt x="73" y="0"/>
                  </a:lnTo>
                  <a:lnTo>
                    <a:pt x="92" y="0"/>
                  </a:lnTo>
                  <a:lnTo>
                    <a:pt x="92" y="402"/>
                  </a:lnTo>
                  <a:lnTo>
                    <a:pt x="110" y="402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84" name="Freeform 52"/>
            <p:cNvSpPr>
              <a:spLocks/>
            </p:cNvSpPr>
            <p:nvPr/>
          </p:nvSpPr>
          <p:spPr bwMode="auto">
            <a:xfrm>
              <a:off x="3702" y="2863"/>
              <a:ext cx="110" cy="202"/>
            </a:xfrm>
            <a:custGeom>
              <a:avLst/>
              <a:gdLst>
                <a:gd name="T0" fmla="*/ 0 w 110"/>
                <a:gd name="T1" fmla="*/ 403 h 403"/>
                <a:gd name="T2" fmla="*/ 0 w 110"/>
                <a:gd name="T3" fmla="*/ 390 h 403"/>
                <a:gd name="T4" fmla="*/ 0 w 110"/>
                <a:gd name="T5" fmla="*/ 0 h 403"/>
                <a:gd name="T6" fmla="*/ 19 w 110"/>
                <a:gd name="T7" fmla="*/ 0 h 403"/>
                <a:gd name="T8" fmla="*/ 19 w 110"/>
                <a:gd name="T9" fmla="*/ 402 h 403"/>
                <a:gd name="T10" fmla="*/ 37 w 110"/>
                <a:gd name="T11" fmla="*/ 402 h 403"/>
                <a:gd name="T12" fmla="*/ 37 w 110"/>
                <a:gd name="T13" fmla="*/ 0 h 403"/>
                <a:gd name="T14" fmla="*/ 55 w 110"/>
                <a:gd name="T15" fmla="*/ 0 h 403"/>
                <a:gd name="T16" fmla="*/ 55 w 110"/>
                <a:gd name="T17" fmla="*/ 402 h 403"/>
                <a:gd name="T18" fmla="*/ 74 w 110"/>
                <a:gd name="T19" fmla="*/ 402 h 403"/>
                <a:gd name="T20" fmla="*/ 74 w 110"/>
                <a:gd name="T21" fmla="*/ 0 h 403"/>
                <a:gd name="T22" fmla="*/ 92 w 110"/>
                <a:gd name="T23" fmla="*/ 0 h 403"/>
                <a:gd name="T24" fmla="*/ 92 w 110"/>
                <a:gd name="T25" fmla="*/ 402 h 403"/>
                <a:gd name="T26" fmla="*/ 110 w 110"/>
                <a:gd name="T27" fmla="*/ 402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0" h="403">
                  <a:moveTo>
                    <a:pt x="0" y="403"/>
                  </a:moveTo>
                  <a:lnTo>
                    <a:pt x="0" y="390"/>
                  </a:lnTo>
                  <a:lnTo>
                    <a:pt x="0" y="0"/>
                  </a:lnTo>
                  <a:lnTo>
                    <a:pt x="19" y="0"/>
                  </a:lnTo>
                  <a:lnTo>
                    <a:pt x="19" y="402"/>
                  </a:lnTo>
                  <a:lnTo>
                    <a:pt x="37" y="402"/>
                  </a:lnTo>
                  <a:lnTo>
                    <a:pt x="37" y="0"/>
                  </a:lnTo>
                  <a:lnTo>
                    <a:pt x="55" y="0"/>
                  </a:lnTo>
                  <a:lnTo>
                    <a:pt x="55" y="402"/>
                  </a:lnTo>
                  <a:lnTo>
                    <a:pt x="74" y="402"/>
                  </a:lnTo>
                  <a:lnTo>
                    <a:pt x="74" y="0"/>
                  </a:lnTo>
                  <a:lnTo>
                    <a:pt x="92" y="0"/>
                  </a:lnTo>
                  <a:lnTo>
                    <a:pt x="92" y="402"/>
                  </a:lnTo>
                  <a:lnTo>
                    <a:pt x="110" y="402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85" name="Freeform 53"/>
            <p:cNvSpPr>
              <a:spLocks/>
            </p:cNvSpPr>
            <p:nvPr/>
          </p:nvSpPr>
          <p:spPr bwMode="auto">
            <a:xfrm>
              <a:off x="4254" y="2864"/>
              <a:ext cx="110" cy="201"/>
            </a:xfrm>
            <a:custGeom>
              <a:avLst/>
              <a:gdLst>
                <a:gd name="T0" fmla="*/ 0 w 110"/>
                <a:gd name="T1" fmla="*/ 404 h 404"/>
                <a:gd name="T2" fmla="*/ 0 w 110"/>
                <a:gd name="T3" fmla="*/ 390 h 404"/>
                <a:gd name="T4" fmla="*/ 0 w 110"/>
                <a:gd name="T5" fmla="*/ 0 h 404"/>
                <a:gd name="T6" fmla="*/ 18 w 110"/>
                <a:gd name="T7" fmla="*/ 0 h 404"/>
                <a:gd name="T8" fmla="*/ 18 w 110"/>
                <a:gd name="T9" fmla="*/ 402 h 404"/>
                <a:gd name="T10" fmla="*/ 37 w 110"/>
                <a:gd name="T11" fmla="*/ 402 h 404"/>
                <a:gd name="T12" fmla="*/ 37 w 110"/>
                <a:gd name="T13" fmla="*/ 0 h 404"/>
                <a:gd name="T14" fmla="*/ 55 w 110"/>
                <a:gd name="T15" fmla="*/ 0 h 404"/>
                <a:gd name="T16" fmla="*/ 55 w 110"/>
                <a:gd name="T17" fmla="*/ 402 h 404"/>
                <a:gd name="T18" fmla="*/ 73 w 110"/>
                <a:gd name="T19" fmla="*/ 402 h 404"/>
                <a:gd name="T20" fmla="*/ 73 w 110"/>
                <a:gd name="T21" fmla="*/ 0 h 404"/>
                <a:gd name="T22" fmla="*/ 92 w 110"/>
                <a:gd name="T23" fmla="*/ 0 h 404"/>
                <a:gd name="T24" fmla="*/ 92 w 110"/>
                <a:gd name="T25" fmla="*/ 402 h 404"/>
                <a:gd name="T26" fmla="*/ 110 w 110"/>
                <a:gd name="T27" fmla="*/ 402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0" h="404">
                  <a:moveTo>
                    <a:pt x="0" y="404"/>
                  </a:moveTo>
                  <a:lnTo>
                    <a:pt x="0" y="39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402"/>
                  </a:lnTo>
                  <a:lnTo>
                    <a:pt x="37" y="402"/>
                  </a:lnTo>
                  <a:lnTo>
                    <a:pt x="37" y="0"/>
                  </a:lnTo>
                  <a:lnTo>
                    <a:pt x="55" y="0"/>
                  </a:lnTo>
                  <a:lnTo>
                    <a:pt x="55" y="402"/>
                  </a:lnTo>
                  <a:lnTo>
                    <a:pt x="73" y="402"/>
                  </a:lnTo>
                  <a:lnTo>
                    <a:pt x="73" y="0"/>
                  </a:lnTo>
                  <a:lnTo>
                    <a:pt x="92" y="0"/>
                  </a:lnTo>
                  <a:lnTo>
                    <a:pt x="92" y="402"/>
                  </a:lnTo>
                  <a:lnTo>
                    <a:pt x="110" y="402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86" name="Freeform 54"/>
            <p:cNvSpPr>
              <a:spLocks/>
            </p:cNvSpPr>
            <p:nvPr/>
          </p:nvSpPr>
          <p:spPr bwMode="auto">
            <a:xfrm>
              <a:off x="4364" y="2864"/>
              <a:ext cx="110" cy="201"/>
            </a:xfrm>
            <a:custGeom>
              <a:avLst/>
              <a:gdLst>
                <a:gd name="T0" fmla="*/ 0 w 110"/>
                <a:gd name="T1" fmla="*/ 404 h 404"/>
                <a:gd name="T2" fmla="*/ 0 w 110"/>
                <a:gd name="T3" fmla="*/ 390 h 404"/>
                <a:gd name="T4" fmla="*/ 0 w 110"/>
                <a:gd name="T5" fmla="*/ 0 h 404"/>
                <a:gd name="T6" fmla="*/ 19 w 110"/>
                <a:gd name="T7" fmla="*/ 0 h 404"/>
                <a:gd name="T8" fmla="*/ 19 w 110"/>
                <a:gd name="T9" fmla="*/ 402 h 404"/>
                <a:gd name="T10" fmla="*/ 37 w 110"/>
                <a:gd name="T11" fmla="*/ 402 h 404"/>
                <a:gd name="T12" fmla="*/ 37 w 110"/>
                <a:gd name="T13" fmla="*/ 0 h 404"/>
                <a:gd name="T14" fmla="*/ 55 w 110"/>
                <a:gd name="T15" fmla="*/ 0 h 404"/>
                <a:gd name="T16" fmla="*/ 55 w 110"/>
                <a:gd name="T17" fmla="*/ 402 h 404"/>
                <a:gd name="T18" fmla="*/ 74 w 110"/>
                <a:gd name="T19" fmla="*/ 402 h 404"/>
                <a:gd name="T20" fmla="*/ 74 w 110"/>
                <a:gd name="T21" fmla="*/ 0 h 404"/>
                <a:gd name="T22" fmla="*/ 92 w 110"/>
                <a:gd name="T23" fmla="*/ 0 h 404"/>
                <a:gd name="T24" fmla="*/ 92 w 110"/>
                <a:gd name="T25" fmla="*/ 402 h 404"/>
                <a:gd name="T26" fmla="*/ 110 w 110"/>
                <a:gd name="T27" fmla="*/ 402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0" h="404">
                  <a:moveTo>
                    <a:pt x="0" y="404"/>
                  </a:moveTo>
                  <a:lnTo>
                    <a:pt x="0" y="390"/>
                  </a:lnTo>
                  <a:lnTo>
                    <a:pt x="0" y="0"/>
                  </a:lnTo>
                  <a:lnTo>
                    <a:pt x="19" y="0"/>
                  </a:lnTo>
                  <a:lnTo>
                    <a:pt x="19" y="402"/>
                  </a:lnTo>
                  <a:lnTo>
                    <a:pt x="37" y="402"/>
                  </a:lnTo>
                  <a:lnTo>
                    <a:pt x="37" y="0"/>
                  </a:lnTo>
                  <a:lnTo>
                    <a:pt x="55" y="0"/>
                  </a:lnTo>
                  <a:lnTo>
                    <a:pt x="55" y="402"/>
                  </a:lnTo>
                  <a:lnTo>
                    <a:pt x="74" y="402"/>
                  </a:lnTo>
                  <a:lnTo>
                    <a:pt x="74" y="0"/>
                  </a:lnTo>
                  <a:lnTo>
                    <a:pt x="92" y="0"/>
                  </a:lnTo>
                  <a:lnTo>
                    <a:pt x="92" y="402"/>
                  </a:lnTo>
                  <a:lnTo>
                    <a:pt x="110" y="402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87" name="Freeform 55"/>
            <p:cNvSpPr>
              <a:spLocks/>
            </p:cNvSpPr>
            <p:nvPr/>
          </p:nvSpPr>
          <p:spPr bwMode="auto">
            <a:xfrm>
              <a:off x="4474" y="2864"/>
              <a:ext cx="111" cy="201"/>
            </a:xfrm>
            <a:custGeom>
              <a:avLst/>
              <a:gdLst>
                <a:gd name="T0" fmla="*/ 0 w 111"/>
                <a:gd name="T1" fmla="*/ 404 h 404"/>
                <a:gd name="T2" fmla="*/ 0 w 111"/>
                <a:gd name="T3" fmla="*/ 390 h 404"/>
                <a:gd name="T4" fmla="*/ 0 w 111"/>
                <a:gd name="T5" fmla="*/ 0 h 404"/>
                <a:gd name="T6" fmla="*/ 19 w 111"/>
                <a:gd name="T7" fmla="*/ 0 h 404"/>
                <a:gd name="T8" fmla="*/ 19 w 111"/>
                <a:gd name="T9" fmla="*/ 402 h 404"/>
                <a:gd name="T10" fmla="*/ 37 w 111"/>
                <a:gd name="T11" fmla="*/ 402 h 404"/>
                <a:gd name="T12" fmla="*/ 37 w 111"/>
                <a:gd name="T13" fmla="*/ 0 h 404"/>
                <a:gd name="T14" fmla="*/ 56 w 111"/>
                <a:gd name="T15" fmla="*/ 0 h 404"/>
                <a:gd name="T16" fmla="*/ 56 w 111"/>
                <a:gd name="T17" fmla="*/ 402 h 404"/>
                <a:gd name="T18" fmla="*/ 74 w 111"/>
                <a:gd name="T19" fmla="*/ 402 h 404"/>
                <a:gd name="T20" fmla="*/ 74 w 111"/>
                <a:gd name="T21" fmla="*/ 0 h 404"/>
                <a:gd name="T22" fmla="*/ 92 w 111"/>
                <a:gd name="T23" fmla="*/ 0 h 404"/>
                <a:gd name="T24" fmla="*/ 92 w 111"/>
                <a:gd name="T25" fmla="*/ 402 h 404"/>
                <a:gd name="T26" fmla="*/ 111 w 111"/>
                <a:gd name="T27" fmla="*/ 402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1" h="404">
                  <a:moveTo>
                    <a:pt x="0" y="404"/>
                  </a:moveTo>
                  <a:lnTo>
                    <a:pt x="0" y="390"/>
                  </a:lnTo>
                  <a:lnTo>
                    <a:pt x="0" y="0"/>
                  </a:lnTo>
                  <a:lnTo>
                    <a:pt x="19" y="0"/>
                  </a:lnTo>
                  <a:lnTo>
                    <a:pt x="19" y="402"/>
                  </a:lnTo>
                  <a:lnTo>
                    <a:pt x="37" y="402"/>
                  </a:lnTo>
                  <a:lnTo>
                    <a:pt x="37" y="0"/>
                  </a:lnTo>
                  <a:lnTo>
                    <a:pt x="56" y="0"/>
                  </a:lnTo>
                  <a:lnTo>
                    <a:pt x="56" y="402"/>
                  </a:lnTo>
                  <a:lnTo>
                    <a:pt x="74" y="402"/>
                  </a:lnTo>
                  <a:lnTo>
                    <a:pt x="74" y="0"/>
                  </a:lnTo>
                  <a:lnTo>
                    <a:pt x="92" y="0"/>
                  </a:lnTo>
                  <a:lnTo>
                    <a:pt x="92" y="402"/>
                  </a:lnTo>
                  <a:lnTo>
                    <a:pt x="111" y="402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88" name="Freeform 56"/>
            <p:cNvSpPr>
              <a:spLocks/>
            </p:cNvSpPr>
            <p:nvPr/>
          </p:nvSpPr>
          <p:spPr bwMode="auto">
            <a:xfrm>
              <a:off x="4585" y="2864"/>
              <a:ext cx="110" cy="201"/>
            </a:xfrm>
            <a:custGeom>
              <a:avLst/>
              <a:gdLst>
                <a:gd name="T0" fmla="*/ 0 w 110"/>
                <a:gd name="T1" fmla="*/ 404 h 404"/>
                <a:gd name="T2" fmla="*/ 0 w 110"/>
                <a:gd name="T3" fmla="*/ 390 h 404"/>
                <a:gd name="T4" fmla="*/ 0 w 110"/>
                <a:gd name="T5" fmla="*/ 0 h 404"/>
                <a:gd name="T6" fmla="*/ 18 w 110"/>
                <a:gd name="T7" fmla="*/ 0 h 404"/>
                <a:gd name="T8" fmla="*/ 18 w 110"/>
                <a:gd name="T9" fmla="*/ 402 h 404"/>
                <a:gd name="T10" fmla="*/ 37 w 110"/>
                <a:gd name="T11" fmla="*/ 402 h 404"/>
                <a:gd name="T12" fmla="*/ 37 w 110"/>
                <a:gd name="T13" fmla="*/ 0 h 404"/>
                <a:gd name="T14" fmla="*/ 55 w 110"/>
                <a:gd name="T15" fmla="*/ 0 h 404"/>
                <a:gd name="T16" fmla="*/ 55 w 110"/>
                <a:gd name="T17" fmla="*/ 402 h 404"/>
                <a:gd name="T18" fmla="*/ 73 w 110"/>
                <a:gd name="T19" fmla="*/ 402 h 404"/>
                <a:gd name="T20" fmla="*/ 73 w 110"/>
                <a:gd name="T21" fmla="*/ 0 h 404"/>
                <a:gd name="T22" fmla="*/ 92 w 110"/>
                <a:gd name="T23" fmla="*/ 0 h 404"/>
                <a:gd name="T24" fmla="*/ 92 w 110"/>
                <a:gd name="T25" fmla="*/ 402 h 404"/>
                <a:gd name="T26" fmla="*/ 110 w 110"/>
                <a:gd name="T27" fmla="*/ 402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0" h="404">
                  <a:moveTo>
                    <a:pt x="0" y="404"/>
                  </a:moveTo>
                  <a:lnTo>
                    <a:pt x="0" y="39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402"/>
                  </a:lnTo>
                  <a:lnTo>
                    <a:pt x="37" y="402"/>
                  </a:lnTo>
                  <a:lnTo>
                    <a:pt x="37" y="0"/>
                  </a:lnTo>
                  <a:lnTo>
                    <a:pt x="55" y="0"/>
                  </a:lnTo>
                  <a:lnTo>
                    <a:pt x="55" y="402"/>
                  </a:lnTo>
                  <a:lnTo>
                    <a:pt x="73" y="402"/>
                  </a:lnTo>
                  <a:lnTo>
                    <a:pt x="73" y="0"/>
                  </a:lnTo>
                  <a:lnTo>
                    <a:pt x="92" y="0"/>
                  </a:lnTo>
                  <a:lnTo>
                    <a:pt x="92" y="402"/>
                  </a:lnTo>
                  <a:lnTo>
                    <a:pt x="110" y="402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89" name="Freeform 57"/>
            <p:cNvSpPr>
              <a:spLocks/>
            </p:cNvSpPr>
            <p:nvPr/>
          </p:nvSpPr>
          <p:spPr bwMode="auto">
            <a:xfrm>
              <a:off x="2709" y="2864"/>
              <a:ext cx="110" cy="201"/>
            </a:xfrm>
            <a:custGeom>
              <a:avLst/>
              <a:gdLst>
                <a:gd name="T0" fmla="*/ 0 w 110"/>
                <a:gd name="T1" fmla="*/ 402 h 402"/>
                <a:gd name="T2" fmla="*/ 0 w 110"/>
                <a:gd name="T3" fmla="*/ 0 h 402"/>
                <a:gd name="T4" fmla="*/ 18 w 110"/>
                <a:gd name="T5" fmla="*/ 0 h 402"/>
                <a:gd name="T6" fmla="*/ 18 w 110"/>
                <a:gd name="T7" fmla="*/ 402 h 402"/>
                <a:gd name="T8" fmla="*/ 37 w 110"/>
                <a:gd name="T9" fmla="*/ 402 h 402"/>
                <a:gd name="T10" fmla="*/ 37 w 110"/>
                <a:gd name="T11" fmla="*/ 0 h 402"/>
                <a:gd name="T12" fmla="*/ 55 w 110"/>
                <a:gd name="T13" fmla="*/ 0 h 402"/>
                <a:gd name="T14" fmla="*/ 55 w 110"/>
                <a:gd name="T15" fmla="*/ 402 h 402"/>
                <a:gd name="T16" fmla="*/ 74 w 110"/>
                <a:gd name="T17" fmla="*/ 402 h 402"/>
                <a:gd name="T18" fmla="*/ 74 w 110"/>
                <a:gd name="T19" fmla="*/ 0 h 402"/>
                <a:gd name="T20" fmla="*/ 92 w 110"/>
                <a:gd name="T21" fmla="*/ 0 h 402"/>
                <a:gd name="T22" fmla="*/ 92 w 110"/>
                <a:gd name="T23" fmla="*/ 402 h 402"/>
                <a:gd name="T24" fmla="*/ 110 w 110"/>
                <a:gd name="T25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0" h="402">
                  <a:moveTo>
                    <a:pt x="0" y="402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18" y="402"/>
                  </a:lnTo>
                  <a:lnTo>
                    <a:pt x="37" y="402"/>
                  </a:lnTo>
                  <a:lnTo>
                    <a:pt x="37" y="0"/>
                  </a:lnTo>
                  <a:lnTo>
                    <a:pt x="55" y="0"/>
                  </a:lnTo>
                  <a:lnTo>
                    <a:pt x="55" y="402"/>
                  </a:lnTo>
                  <a:lnTo>
                    <a:pt x="74" y="402"/>
                  </a:lnTo>
                  <a:lnTo>
                    <a:pt x="74" y="0"/>
                  </a:lnTo>
                  <a:lnTo>
                    <a:pt x="92" y="0"/>
                  </a:lnTo>
                  <a:lnTo>
                    <a:pt x="92" y="402"/>
                  </a:lnTo>
                  <a:lnTo>
                    <a:pt x="110" y="402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90" name="Freeform 58"/>
            <p:cNvSpPr>
              <a:spLocks/>
            </p:cNvSpPr>
            <p:nvPr/>
          </p:nvSpPr>
          <p:spPr bwMode="auto">
            <a:xfrm>
              <a:off x="5357" y="2864"/>
              <a:ext cx="15" cy="201"/>
            </a:xfrm>
            <a:custGeom>
              <a:avLst/>
              <a:gdLst>
                <a:gd name="T0" fmla="*/ 0 w 15"/>
                <a:gd name="T1" fmla="*/ 402 h 402"/>
                <a:gd name="T2" fmla="*/ 0 w 15"/>
                <a:gd name="T3" fmla="*/ 0 h 402"/>
                <a:gd name="T4" fmla="*/ 15 w 15"/>
                <a:gd name="T5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" h="402">
                  <a:moveTo>
                    <a:pt x="0" y="402"/>
                  </a:moveTo>
                  <a:lnTo>
                    <a:pt x="0" y="0"/>
                  </a:lnTo>
                  <a:lnTo>
                    <a:pt x="15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91" name="Freeform 59"/>
            <p:cNvSpPr>
              <a:spLocks/>
            </p:cNvSpPr>
            <p:nvPr/>
          </p:nvSpPr>
          <p:spPr bwMode="auto">
            <a:xfrm>
              <a:off x="2985" y="674"/>
              <a:ext cx="55" cy="291"/>
            </a:xfrm>
            <a:custGeom>
              <a:avLst/>
              <a:gdLst>
                <a:gd name="T0" fmla="*/ 0 w 55"/>
                <a:gd name="T1" fmla="*/ 574 h 580"/>
                <a:gd name="T2" fmla="*/ 0 w 55"/>
                <a:gd name="T3" fmla="*/ 564 h 580"/>
                <a:gd name="T4" fmla="*/ 0 w 55"/>
                <a:gd name="T5" fmla="*/ 549 h 580"/>
                <a:gd name="T6" fmla="*/ 1 w 55"/>
                <a:gd name="T7" fmla="*/ 534 h 580"/>
                <a:gd name="T8" fmla="*/ 1 w 55"/>
                <a:gd name="T9" fmla="*/ 516 h 580"/>
                <a:gd name="T10" fmla="*/ 2 w 55"/>
                <a:gd name="T11" fmla="*/ 488 h 580"/>
                <a:gd name="T12" fmla="*/ 4 w 55"/>
                <a:gd name="T13" fmla="*/ 448 h 580"/>
                <a:gd name="T14" fmla="*/ 5 w 55"/>
                <a:gd name="T15" fmla="*/ 405 h 580"/>
                <a:gd name="T16" fmla="*/ 6 w 55"/>
                <a:gd name="T17" fmla="*/ 363 h 580"/>
                <a:gd name="T18" fmla="*/ 7 w 55"/>
                <a:gd name="T19" fmla="*/ 324 h 580"/>
                <a:gd name="T20" fmla="*/ 9 w 55"/>
                <a:gd name="T21" fmla="*/ 306 h 580"/>
                <a:gd name="T22" fmla="*/ 9 w 55"/>
                <a:gd name="T23" fmla="*/ 290 h 580"/>
                <a:gd name="T24" fmla="*/ 11 w 55"/>
                <a:gd name="T25" fmla="*/ 229 h 580"/>
                <a:gd name="T26" fmla="*/ 12 w 55"/>
                <a:gd name="T27" fmla="*/ 186 h 580"/>
                <a:gd name="T28" fmla="*/ 13 w 55"/>
                <a:gd name="T29" fmla="*/ 160 h 580"/>
                <a:gd name="T30" fmla="*/ 15 w 55"/>
                <a:gd name="T31" fmla="*/ 135 h 580"/>
                <a:gd name="T32" fmla="*/ 16 w 55"/>
                <a:gd name="T33" fmla="*/ 111 h 580"/>
                <a:gd name="T34" fmla="*/ 17 w 55"/>
                <a:gd name="T35" fmla="*/ 90 h 580"/>
                <a:gd name="T36" fmla="*/ 18 w 55"/>
                <a:gd name="T37" fmla="*/ 73 h 580"/>
                <a:gd name="T38" fmla="*/ 20 w 55"/>
                <a:gd name="T39" fmla="*/ 56 h 580"/>
                <a:gd name="T40" fmla="*/ 21 w 55"/>
                <a:gd name="T41" fmla="*/ 41 h 580"/>
                <a:gd name="T42" fmla="*/ 22 w 55"/>
                <a:gd name="T43" fmla="*/ 28 h 580"/>
                <a:gd name="T44" fmla="*/ 23 w 55"/>
                <a:gd name="T45" fmla="*/ 18 h 580"/>
                <a:gd name="T46" fmla="*/ 24 w 55"/>
                <a:gd name="T47" fmla="*/ 9 h 580"/>
                <a:gd name="T48" fmla="*/ 26 w 55"/>
                <a:gd name="T49" fmla="*/ 3 h 580"/>
                <a:gd name="T50" fmla="*/ 27 w 55"/>
                <a:gd name="T51" fmla="*/ 0 h 580"/>
                <a:gd name="T52" fmla="*/ 27 w 55"/>
                <a:gd name="T53" fmla="*/ 0 h 580"/>
                <a:gd name="T54" fmla="*/ 28 w 55"/>
                <a:gd name="T55" fmla="*/ 3 h 580"/>
                <a:gd name="T56" fmla="*/ 29 w 55"/>
                <a:gd name="T57" fmla="*/ 9 h 580"/>
                <a:gd name="T58" fmla="*/ 31 w 55"/>
                <a:gd name="T59" fmla="*/ 18 h 580"/>
                <a:gd name="T60" fmla="*/ 32 w 55"/>
                <a:gd name="T61" fmla="*/ 28 h 580"/>
                <a:gd name="T62" fmla="*/ 33 w 55"/>
                <a:gd name="T63" fmla="*/ 41 h 580"/>
                <a:gd name="T64" fmla="*/ 34 w 55"/>
                <a:gd name="T65" fmla="*/ 56 h 580"/>
                <a:gd name="T66" fmla="*/ 35 w 55"/>
                <a:gd name="T67" fmla="*/ 73 h 580"/>
                <a:gd name="T68" fmla="*/ 37 w 55"/>
                <a:gd name="T69" fmla="*/ 90 h 580"/>
                <a:gd name="T70" fmla="*/ 38 w 55"/>
                <a:gd name="T71" fmla="*/ 111 h 580"/>
                <a:gd name="T72" fmla="*/ 39 w 55"/>
                <a:gd name="T73" fmla="*/ 135 h 580"/>
                <a:gd name="T74" fmla="*/ 42 w 55"/>
                <a:gd name="T75" fmla="*/ 159 h 580"/>
                <a:gd name="T76" fmla="*/ 43 w 55"/>
                <a:gd name="T77" fmla="*/ 186 h 580"/>
                <a:gd name="T78" fmla="*/ 45 w 55"/>
                <a:gd name="T79" fmla="*/ 229 h 580"/>
                <a:gd name="T80" fmla="*/ 48 w 55"/>
                <a:gd name="T81" fmla="*/ 290 h 580"/>
                <a:gd name="T82" fmla="*/ 48 w 55"/>
                <a:gd name="T83" fmla="*/ 305 h 580"/>
                <a:gd name="T84" fmla="*/ 49 w 55"/>
                <a:gd name="T85" fmla="*/ 342 h 580"/>
                <a:gd name="T86" fmla="*/ 50 w 55"/>
                <a:gd name="T87" fmla="*/ 381 h 580"/>
                <a:gd name="T88" fmla="*/ 51 w 55"/>
                <a:gd name="T89" fmla="*/ 443 h 580"/>
                <a:gd name="T90" fmla="*/ 53 w 55"/>
                <a:gd name="T91" fmla="*/ 484 h 580"/>
                <a:gd name="T92" fmla="*/ 53 w 55"/>
                <a:gd name="T93" fmla="*/ 521 h 580"/>
                <a:gd name="T94" fmla="*/ 54 w 55"/>
                <a:gd name="T95" fmla="*/ 546 h 580"/>
                <a:gd name="T96" fmla="*/ 54 w 55"/>
                <a:gd name="T97" fmla="*/ 561 h 580"/>
                <a:gd name="T98" fmla="*/ 54 w 55"/>
                <a:gd name="T99" fmla="*/ 574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5" h="580">
                  <a:moveTo>
                    <a:pt x="0" y="580"/>
                  </a:moveTo>
                  <a:lnTo>
                    <a:pt x="0" y="574"/>
                  </a:lnTo>
                  <a:lnTo>
                    <a:pt x="0" y="570"/>
                  </a:lnTo>
                  <a:lnTo>
                    <a:pt x="0" y="564"/>
                  </a:lnTo>
                  <a:lnTo>
                    <a:pt x="0" y="556"/>
                  </a:lnTo>
                  <a:lnTo>
                    <a:pt x="0" y="549"/>
                  </a:lnTo>
                  <a:lnTo>
                    <a:pt x="0" y="542"/>
                  </a:lnTo>
                  <a:lnTo>
                    <a:pt x="1" y="534"/>
                  </a:lnTo>
                  <a:lnTo>
                    <a:pt x="1" y="525"/>
                  </a:lnTo>
                  <a:lnTo>
                    <a:pt x="1" y="516"/>
                  </a:lnTo>
                  <a:lnTo>
                    <a:pt x="1" y="507"/>
                  </a:lnTo>
                  <a:lnTo>
                    <a:pt x="2" y="488"/>
                  </a:lnTo>
                  <a:lnTo>
                    <a:pt x="2" y="469"/>
                  </a:lnTo>
                  <a:lnTo>
                    <a:pt x="4" y="448"/>
                  </a:lnTo>
                  <a:lnTo>
                    <a:pt x="4" y="427"/>
                  </a:lnTo>
                  <a:lnTo>
                    <a:pt x="5" y="405"/>
                  </a:lnTo>
                  <a:lnTo>
                    <a:pt x="5" y="384"/>
                  </a:lnTo>
                  <a:lnTo>
                    <a:pt x="6" y="363"/>
                  </a:lnTo>
                  <a:lnTo>
                    <a:pt x="7" y="344"/>
                  </a:lnTo>
                  <a:lnTo>
                    <a:pt x="7" y="324"/>
                  </a:lnTo>
                  <a:lnTo>
                    <a:pt x="7" y="315"/>
                  </a:lnTo>
                  <a:lnTo>
                    <a:pt x="9" y="306"/>
                  </a:lnTo>
                  <a:lnTo>
                    <a:pt x="9" y="297"/>
                  </a:lnTo>
                  <a:lnTo>
                    <a:pt x="9" y="290"/>
                  </a:lnTo>
                  <a:lnTo>
                    <a:pt x="10" y="259"/>
                  </a:lnTo>
                  <a:lnTo>
                    <a:pt x="11" y="229"/>
                  </a:lnTo>
                  <a:lnTo>
                    <a:pt x="12" y="201"/>
                  </a:lnTo>
                  <a:lnTo>
                    <a:pt x="12" y="186"/>
                  </a:lnTo>
                  <a:lnTo>
                    <a:pt x="13" y="172"/>
                  </a:lnTo>
                  <a:lnTo>
                    <a:pt x="13" y="160"/>
                  </a:lnTo>
                  <a:lnTo>
                    <a:pt x="15" y="147"/>
                  </a:lnTo>
                  <a:lnTo>
                    <a:pt x="15" y="135"/>
                  </a:lnTo>
                  <a:lnTo>
                    <a:pt x="16" y="123"/>
                  </a:lnTo>
                  <a:lnTo>
                    <a:pt x="16" y="111"/>
                  </a:lnTo>
                  <a:lnTo>
                    <a:pt x="17" y="101"/>
                  </a:lnTo>
                  <a:lnTo>
                    <a:pt x="17" y="90"/>
                  </a:lnTo>
                  <a:lnTo>
                    <a:pt x="18" y="82"/>
                  </a:lnTo>
                  <a:lnTo>
                    <a:pt x="18" y="73"/>
                  </a:lnTo>
                  <a:lnTo>
                    <a:pt x="18" y="64"/>
                  </a:lnTo>
                  <a:lnTo>
                    <a:pt x="20" y="56"/>
                  </a:lnTo>
                  <a:lnTo>
                    <a:pt x="20" y="49"/>
                  </a:lnTo>
                  <a:lnTo>
                    <a:pt x="21" y="41"/>
                  </a:lnTo>
                  <a:lnTo>
                    <a:pt x="21" y="34"/>
                  </a:lnTo>
                  <a:lnTo>
                    <a:pt x="22" y="28"/>
                  </a:lnTo>
                  <a:lnTo>
                    <a:pt x="22" y="22"/>
                  </a:lnTo>
                  <a:lnTo>
                    <a:pt x="23" y="18"/>
                  </a:lnTo>
                  <a:lnTo>
                    <a:pt x="23" y="12"/>
                  </a:lnTo>
                  <a:lnTo>
                    <a:pt x="24" y="9"/>
                  </a:lnTo>
                  <a:lnTo>
                    <a:pt x="24" y="6"/>
                  </a:lnTo>
                  <a:lnTo>
                    <a:pt x="26" y="3"/>
                  </a:lnTo>
                  <a:lnTo>
                    <a:pt x="26" y="1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28" y="3"/>
                  </a:lnTo>
                  <a:lnTo>
                    <a:pt x="29" y="6"/>
                  </a:lnTo>
                  <a:lnTo>
                    <a:pt x="29" y="9"/>
                  </a:lnTo>
                  <a:lnTo>
                    <a:pt x="31" y="13"/>
                  </a:lnTo>
                  <a:lnTo>
                    <a:pt x="31" y="18"/>
                  </a:lnTo>
                  <a:lnTo>
                    <a:pt x="32" y="22"/>
                  </a:lnTo>
                  <a:lnTo>
                    <a:pt x="32" y="28"/>
                  </a:lnTo>
                  <a:lnTo>
                    <a:pt x="33" y="34"/>
                  </a:lnTo>
                  <a:lnTo>
                    <a:pt x="33" y="41"/>
                  </a:lnTo>
                  <a:lnTo>
                    <a:pt x="34" y="49"/>
                  </a:lnTo>
                  <a:lnTo>
                    <a:pt x="34" y="56"/>
                  </a:lnTo>
                  <a:lnTo>
                    <a:pt x="35" y="64"/>
                  </a:lnTo>
                  <a:lnTo>
                    <a:pt x="35" y="73"/>
                  </a:lnTo>
                  <a:lnTo>
                    <a:pt x="37" y="82"/>
                  </a:lnTo>
                  <a:lnTo>
                    <a:pt x="37" y="90"/>
                  </a:lnTo>
                  <a:lnTo>
                    <a:pt x="38" y="101"/>
                  </a:lnTo>
                  <a:lnTo>
                    <a:pt x="38" y="111"/>
                  </a:lnTo>
                  <a:lnTo>
                    <a:pt x="39" y="123"/>
                  </a:lnTo>
                  <a:lnTo>
                    <a:pt x="39" y="135"/>
                  </a:lnTo>
                  <a:lnTo>
                    <a:pt x="40" y="147"/>
                  </a:lnTo>
                  <a:lnTo>
                    <a:pt x="42" y="159"/>
                  </a:lnTo>
                  <a:lnTo>
                    <a:pt x="42" y="172"/>
                  </a:lnTo>
                  <a:lnTo>
                    <a:pt x="43" y="186"/>
                  </a:lnTo>
                  <a:lnTo>
                    <a:pt x="43" y="201"/>
                  </a:lnTo>
                  <a:lnTo>
                    <a:pt x="45" y="229"/>
                  </a:lnTo>
                  <a:lnTo>
                    <a:pt x="47" y="259"/>
                  </a:lnTo>
                  <a:lnTo>
                    <a:pt x="48" y="290"/>
                  </a:lnTo>
                  <a:lnTo>
                    <a:pt x="48" y="297"/>
                  </a:lnTo>
                  <a:lnTo>
                    <a:pt x="48" y="305"/>
                  </a:lnTo>
                  <a:lnTo>
                    <a:pt x="49" y="323"/>
                  </a:lnTo>
                  <a:lnTo>
                    <a:pt x="49" y="342"/>
                  </a:lnTo>
                  <a:lnTo>
                    <a:pt x="50" y="361"/>
                  </a:lnTo>
                  <a:lnTo>
                    <a:pt x="50" y="381"/>
                  </a:lnTo>
                  <a:lnTo>
                    <a:pt x="50" y="402"/>
                  </a:lnTo>
                  <a:lnTo>
                    <a:pt x="51" y="443"/>
                  </a:lnTo>
                  <a:lnTo>
                    <a:pt x="53" y="463"/>
                  </a:lnTo>
                  <a:lnTo>
                    <a:pt x="53" y="484"/>
                  </a:lnTo>
                  <a:lnTo>
                    <a:pt x="53" y="503"/>
                  </a:lnTo>
                  <a:lnTo>
                    <a:pt x="53" y="521"/>
                  </a:lnTo>
                  <a:lnTo>
                    <a:pt x="54" y="537"/>
                  </a:lnTo>
                  <a:lnTo>
                    <a:pt x="54" y="546"/>
                  </a:lnTo>
                  <a:lnTo>
                    <a:pt x="54" y="553"/>
                  </a:lnTo>
                  <a:lnTo>
                    <a:pt x="54" y="561"/>
                  </a:lnTo>
                  <a:lnTo>
                    <a:pt x="54" y="567"/>
                  </a:lnTo>
                  <a:lnTo>
                    <a:pt x="54" y="574"/>
                  </a:lnTo>
                  <a:lnTo>
                    <a:pt x="55" y="58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92" name="Freeform 60"/>
            <p:cNvSpPr>
              <a:spLocks/>
            </p:cNvSpPr>
            <p:nvPr/>
          </p:nvSpPr>
          <p:spPr bwMode="auto">
            <a:xfrm>
              <a:off x="3095" y="630"/>
              <a:ext cx="55" cy="335"/>
            </a:xfrm>
            <a:custGeom>
              <a:avLst/>
              <a:gdLst>
                <a:gd name="T0" fmla="*/ 0 w 55"/>
                <a:gd name="T1" fmla="*/ 664 h 670"/>
                <a:gd name="T2" fmla="*/ 0 w 55"/>
                <a:gd name="T3" fmla="*/ 651 h 670"/>
                <a:gd name="T4" fmla="*/ 0 w 55"/>
                <a:gd name="T5" fmla="*/ 635 h 670"/>
                <a:gd name="T6" fmla="*/ 1 w 55"/>
                <a:gd name="T7" fmla="*/ 617 h 670"/>
                <a:gd name="T8" fmla="*/ 1 w 55"/>
                <a:gd name="T9" fmla="*/ 597 h 670"/>
                <a:gd name="T10" fmla="*/ 3 w 55"/>
                <a:gd name="T11" fmla="*/ 565 h 670"/>
                <a:gd name="T12" fmla="*/ 4 w 55"/>
                <a:gd name="T13" fmla="*/ 517 h 670"/>
                <a:gd name="T14" fmla="*/ 5 w 55"/>
                <a:gd name="T15" fmla="*/ 468 h 670"/>
                <a:gd name="T16" fmla="*/ 6 w 55"/>
                <a:gd name="T17" fmla="*/ 420 h 670"/>
                <a:gd name="T18" fmla="*/ 8 w 55"/>
                <a:gd name="T19" fmla="*/ 376 h 670"/>
                <a:gd name="T20" fmla="*/ 9 w 55"/>
                <a:gd name="T21" fmla="*/ 355 h 670"/>
                <a:gd name="T22" fmla="*/ 9 w 55"/>
                <a:gd name="T23" fmla="*/ 335 h 670"/>
                <a:gd name="T24" fmla="*/ 11 w 55"/>
                <a:gd name="T25" fmla="*/ 265 h 670"/>
                <a:gd name="T26" fmla="*/ 13 w 55"/>
                <a:gd name="T27" fmla="*/ 233 h 670"/>
                <a:gd name="T28" fmla="*/ 14 w 55"/>
                <a:gd name="T29" fmla="*/ 200 h 670"/>
                <a:gd name="T30" fmla="*/ 15 w 55"/>
                <a:gd name="T31" fmla="*/ 170 h 670"/>
                <a:gd name="T32" fmla="*/ 16 w 55"/>
                <a:gd name="T33" fmla="*/ 143 h 670"/>
                <a:gd name="T34" fmla="*/ 17 w 55"/>
                <a:gd name="T35" fmla="*/ 118 h 670"/>
                <a:gd name="T36" fmla="*/ 19 w 55"/>
                <a:gd name="T37" fmla="*/ 96 h 670"/>
                <a:gd name="T38" fmla="*/ 19 w 55"/>
                <a:gd name="T39" fmla="*/ 75 h 670"/>
                <a:gd name="T40" fmla="*/ 20 w 55"/>
                <a:gd name="T41" fmla="*/ 57 h 670"/>
                <a:gd name="T42" fmla="*/ 21 w 55"/>
                <a:gd name="T43" fmla="*/ 41 h 670"/>
                <a:gd name="T44" fmla="*/ 22 w 55"/>
                <a:gd name="T45" fmla="*/ 26 h 670"/>
                <a:gd name="T46" fmla="*/ 24 w 55"/>
                <a:gd name="T47" fmla="*/ 15 h 670"/>
                <a:gd name="T48" fmla="*/ 25 w 55"/>
                <a:gd name="T49" fmla="*/ 6 h 670"/>
                <a:gd name="T50" fmla="*/ 26 w 55"/>
                <a:gd name="T51" fmla="*/ 2 h 670"/>
                <a:gd name="T52" fmla="*/ 27 w 55"/>
                <a:gd name="T53" fmla="*/ 0 h 670"/>
                <a:gd name="T54" fmla="*/ 28 w 55"/>
                <a:gd name="T55" fmla="*/ 2 h 670"/>
                <a:gd name="T56" fmla="*/ 30 w 55"/>
                <a:gd name="T57" fmla="*/ 6 h 670"/>
                <a:gd name="T58" fmla="*/ 31 w 55"/>
                <a:gd name="T59" fmla="*/ 15 h 670"/>
                <a:gd name="T60" fmla="*/ 32 w 55"/>
                <a:gd name="T61" fmla="*/ 27 h 670"/>
                <a:gd name="T62" fmla="*/ 33 w 55"/>
                <a:gd name="T63" fmla="*/ 41 h 670"/>
                <a:gd name="T64" fmla="*/ 35 w 55"/>
                <a:gd name="T65" fmla="*/ 57 h 670"/>
                <a:gd name="T66" fmla="*/ 36 w 55"/>
                <a:gd name="T67" fmla="*/ 75 h 670"/>
                <a:gd name="T68" fmla="*/ 37 w 55"/>
                <a:gd name="T69" fmla="*/ 96 h 670"/>
                <a:gd name="T70" fmla="*/ 38 w 55"/>
                <a:gd name="T71" fmla="*/ 118 h 670"/>
                <a:gd name="T72" fmla="*/ 39 w 55"/>
                <a:gd name="T73" fmla="*/ 143 h 670"/>
                <a:gd name="T74" fmla="*/ 41 w 55"/>
                <a:gd name="T75" fmla="*/ 170 h 670"/>
                <a:gd name="T76" fmla="*/ 42 w 55"/>
                <a:gd name="T77" fmla="*/ 200 h 670"/>
                <a:gd name="T78" fmla="*/ 43 w 55"/>
                <a:gd name="T79" fmla="*/ 231 h 670"/>
                <a:gd name="T80" fmla="*/ 46 w 55"/>
                <a:gd name="T81" fmla="*/ 265 h 670"/>
                <a:gd name="T82" fmla="*/ 48 w 55"/>
                <a:gd name="T83" fmla="*/ 335 h 670"/>
                <a:gd name="T84" fmla="*/ 48 w 55"/>
                <a:gd name="T85" fmla="*/ 353 h 670"/>
                <a:gd name="T86" fmla="*/ 49 w 55"/>
                <a:gd name="T87" fmla="*/ 395 h 670"/>
                <a:gd name="T88" fmla="*/ 51 w 55"/>
                <a:gd name="T89" fmla="*/ 441 h 670"/>
                <a:gd name="T90" fmla="*/ 52 w 55"/>
                <a:gd name="T91" fmla="*/ 512 h 670"/>
                <a:gd name="T92" fmla="*/ 53 w 55"/>
                <a:gd name="T93" fmla="*/ 559 h 670"/>
                <a:gd name="T94" fmla="*/ 53 w 55"/>
                <a:gd name="T95" fmla="*/ 602 h 670"/>
                <a:gd name="T96" fmla="*/ 54 w 55"/>
                <a:gd name="T97" fmla="*/ 621 h 670"/>
                <a:gd name="T98" fmla="*/ 54 w 55"/>
                <a:gd name="T99" fmla="*/ 639 h 670"/>
                <a:gd name="T100" fmla="*/ 54 w 55"/>
                <a:gd name="T101" fmla="*/ 655 h 670"/>
                <a:gd name="T102" fmla="*/ 55 w 55"/>
                <a:gd name="T103" fmla="*/ 67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5" h="670">
                  <a:moveTo>
                    <a:pt x="0" y="670"/>
                  </a:moveTo>
                  <a:lnTo>
                    <a:pt x="0" y="664"/>
                  </a:lnTo>
                  <a:lnTo>
                    <a:pt x="0" y="658"/>
                  </a:lnTo>
                  <a:lnTo>
                    <a:pt x="0" y="651"/>
                  </a:lnTo>
                  <a:lnTo>
                    <a:pt x="0" y="643"/>
                  </a:lnTo>
                  <a:lnTo>
                    <a:pt x="0" y="635"/>
                  </a:lnTo>
                  <a:lnTo>
                    <a:pt x="0" y="627"/>
                  </a:lnTo>
                  <a:lnTo>
                    <a:pt x="1" y="617"/>
                  </a:lnTo>
                  <a:lnTo>
                    <a:pt x="1" y="608"/>
                  </a:lnTo>
                  <a:lnTo>
                    <a:pt x="1" y="597"/>
                  </a:lnTo>
                  <a:lnTo>
                    <a:pt x="1" y="587"/>
                  </a:lnTo>
                  <a:lnTo>
                    <a:pt x="3" y="565"/>
                  </a:lnTo>
                  <a:lnTo>
                    <a:pt x="3" y="542"/>
                  </a:lnTo>
                  <a:lnTo>
                    <a:pt x="4" y="517"/>
                  </a:lnTo>
                  <a:lnTo>
                    <a:pt x="4" y="493"/>
                  </a:lnTo>
                  <a:lnTo>
                    <a:pt x="5" y="468"/>
                  </a:lnTo>
                  <a:lnTo>
                    <a:pt x="5" y="444"/>
                  </a:lnTo>
                  <a:lnTo>
                    <a:pt x="6" y="420"/>
                  </a:lnTo>
                  <a:lnTo>
                    <a:pt x="8" y="396"/>
                  </a:lnTo>
                  <a:lnTo>
                    <a:pt x="8" y="376"/>
                  </a:lnTo>
                  <a:lnTo>
                    <a:pt x="8" y="364"/>
                  </a:lnTo>
                  <a:lnTo>
                    <a:pt x="9" y="355"/>
                  </a:lnTo>
                  <a:lnTo>
                    <a:pt x="9" y="344"/>
                  </a:lnTo>
                  <a:lnTo>
                    <a:pt x="9" y="335"/>
                  </a:lnTo>
                  <a:lnTo>
                    <a:pt x="10" y="300"/>
                  </a:lnTo>
                  <a:lnTo>
                    <a:pt x="11" y="265"/>
                  </a:lnTo>
                  <a:lnTo>
                    <a:pt x="11" y="249"/>
                  </a:lnTo>
                  <a:lnTo>
                    <a:pt x="13" y="233"/>
                  </a:lnTo>
                  <a:lnTo>
                    <a:pt x="13" y="216"/>
                  </a:lnTo>
                  <a:lnTo>
                    <a:pt x="14" y="200"/>
                  </a:lnTo>
                  <a:lnTo>
                    <a:pt x="14" y="185"/>
                  </a:lnTo>
                  <a:lnTo>
                    <a:pt x="15" y="170"/>
                  </a:lnTo>
                  <a:lnTo>
                    <a:pt x="15" y="157"/>
                  </a:lnTo>
                  <a:lnTo>
                    <a:pt x="16" y="143"/>
                  </a:lnTo>
                  <a:lnTo>
                    <a:pt x="16" y="130"/>
                  </a:lnTo>
                  <a:lnTo>
                    <a:pt x="17" y="118"/>
                  </a:lnTo>
                  <a:lnTo>
                    <a:pt x="17" y="106"/>
                  </a:lnTo>
                  <a:lnTo>
                    <a:pt x="19" y="96"/>
                  </a:lnTo>
                  <a:lnTo>
                    <a:pt x="19" y="85"/>
                  </a:lnTo>
                  <a:lnTo>
                    <a:pt x="19" y="75"/>
                  </a:lnTo>
                  <a:lnTo>
                    <a:pt x="20" y="66"/>
                  </a:lnTo>
                  <a:lnTo>
                    <a:pt x="20" y="57"/>
                  </a:lnTo>
                  <a:lnTo>
                    <a:pt x="21" y="48"/>
                  </a:lnTo>
                  <a:lnTo>
                    <a:pt x="21" y="41"/>
                  </a:lnTo>
                  <a:lnTo>
                    <a:pt x="22" y="33"/>
                  </a:lnTo>
                  <a:lnTo>
                    <a:pt x="22" y="26"/>
                  </a:lnTo>
                  <a:lnTo>
                    <a:pt x="24" y="20"/>
                  </a:lnTo>
                  <a:lnTo>
                    <a:pt x="24" y="15"/>
                  </a:lnTo>
                  <a:lnTo>
                    <a:pt x="25" y="11"/>
                  </a:lnTo>
                  <a:lnTo>
                    <a:pt x="25" y="6"/>
                  </a:lnTo>
                  <a:lnTo>
                    <a:pt x="26" y="3"/>
                  </a:lnTo>
                  <a:lnTo>
                    <a:pt x="26" y="2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8" y="2"/>
                  </a:lnTo>
                  <a:lnTo>
                    <a:pt x="28" y="3"/>
                  </a:lnTo>
                  <a:lnTo>
                    <a:pt x="30" y="6"/>
                  </a:lnTo>
                  <a:lnTo>
                    <a:pt x="30" y="11"/>
                  </a:lnTo>
                  <a:lnTo>
                    <a:pt x="31" y="15"/>
                  </a:lnTo>
                  <a:lnTo>
                    <a:pt x="31" y="21"/>
                  </a:lnTo>
                  <a:lnTo>
                    <a:pt x="32" y="27"/>
                  </a:lnTo>
                  <a:lnTo>
                    <a:pt x="32" y="33"/>
                  </a:lnTo>
                  <a:lnTo>
                    <a:pt x="33" y="41"/>
                  </a:lnTo>
                  <a:lnTo>
                    <a:pt x="33" y="48"/>
                  </a:lnTo>
                  <a:lnTo>
                    <a:pt x="35" y="57"/>
                  </a:lnTo>
                  <a:lnTo>
                    <a:pt x="35" y="66"/>
                  </a:lnTo>
                  <a:lnTo>
                    <a:pt x="36" y="75"/>
                  </a:lnTo>
                  <a:lnTo>
                    <a:pt x="36" y="85"/>
                  </a:lnTo>
                  <a:lnTo>
                    <a:pt x="37" y="96"/>
                  </a:lnTo>
                  <a:lnTo>
                    <a:pt x="37" y="106"/>
                  </a:lnTo>
                  <a:lnTo>
                    <a:pt x="38" y="118"/>
                  </a:lnTo>
                  <a:lnTo>
                    <a:pt x="38" y="130"/>
                  </a:lnTo>
                  <a:lnTo>
                    <a:pt x="39" y="143"/>
                  </a:lnTo>
                  <a:lnTo>
                    <a:pt x="39" y="157"/>
                  </a:lnTo>
                  <a:lnTo>
                    <a:pt x="41" y="170"/>
                  </a:lnTo>
                  <a:lnTo>
                    <a:pt x="42" y="185"/>
                  </a:lnTo>
                  <a:lnTo>
                    <a:pt x="42" y="200"/>
                  </a:lnTo>
                  <a:lnTo>
                    <a:pt x="43" y="216"/>
                  </a:lnTo>
                  <a:lnTo>
                    <a:pt x="43" y="231"/>
                  </a:lnTo>
                  <a:lnTo>
                    <a:pt x="44" y="247"/>
                  </a:lnTo>
                  <a:lnTo>
                    <a:pt x="46" y="265"/>
                  </a:lnTo>
                  <a:lnTo>
                    <a:pt x="47" y="300"/>
                  </a:lnTo>
                  <a:lnTo>
                    <a:pt x="48" y="335"/>
                  </a:lnTo>
                  <a:lnTo>
                    <a:pt x="48" y="344"/>
                  </a:lnTo>
                  <a:lnTo>
                    <a:pt x="48" y="353"/>
                  </a:lnTo>
                  <a:lnTo>
                    <a:pt x="49" y="374"/>
                  </a:lnTo>
                  <a:lnTo>
                    <a:pt x="49" y="395"/>
                  </a:lnTo>
                  <a:lnTo>
                    <a:pt x="51" y="417"/>
                  </a:lnTo>
                  <a:lnTo>
                    <a:pt x="51" y="441"/>
                  </a:lnTo>
                  <a:lnTo>
                    <a:pt x="51" y="465"/>
                  </a:lnTo>
                  <a:lnTo>
                    <a:pt x="52" y="512"/>
                  </a:lnTo>
                  <a:lnTo>
                    <a:pt x="53" y="535"/>
                  </a:lnTo>
                  <a:lnTo>
                    <a:pt x="53" y="559"/>
                  </a:lnTo>
                  <a:lnTo>
                    <a:pt x="53" y="581"/>
                  </a:lnTo>
                  <a:lnTo>
                    <a:pt x="53" y="602"/>
                  </a:lnTo>
                  <a:lnTo>
                    <a:pt x="54" y="611"/>
                  </a:lnTo>
                  <a:lnTo>
                    <a:pt x="54" y="621"/>
                  </a:lnTo>
                  <a:lnTo>
                    <a:pt x="54" y="630"/>
                  </a:lnTo>
                  <a:lnTo>
                    <a:pt x="54" y="639"/>
                  </a:lnTo>
                  <a:lnTo>
                    <a:pt x="54" y="648"/>
                  </a:lnTo>
                  <a:lnTo>
                    <a:pt x="54" y="655"/>
                  </a:lnTo>
                  <a:lnTo>
                    <a:pt x="54" y="663"/>
                  </a:lnTo>
                  <a:lnTo>
                    <a:pt x="55" y="67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93" name="Freeform 61"/>
            <p:cNvSpPr>
              <a:spLocks/>
            </p:cNvSpPr>
            <p:nvPr/>
          </p:nvSpPr>
          <p:spPr bwMode="auto">
            <a:xfrm>
              <a:off x="3206" y="674"/>
              <a:ext cx="55" cy="291"/>
            </a:xfrm>
            <a:custGeom>
              <a:avLst/>
              <a:gdLst>
                <a:gd name="T0" fmla="*/ 0 w 55"/>
                <a:gd name="T1" fmla="*/ 574 h 580"/>
                <a:gd name="T2" fmla="*/ 0 w 55"/>
                <a:gd name="T3" fmla="*/ 564 h 580"/>
                <a:gd name="T4" fmla="*/ 0 w 55"/>
                <a:gd name="T5" fmla="*/ 549 h 580"/>
                <a:gd name="T6" fmla="*/ 1 w 55"/>
                <a:gd name="T7" fmla="*/ 534 h 580"/>
                <a:gd name="T8" fmla="*/ 1 w 55"/>
                <a:gd name="T9" fmla="*/ 516 h 580"/>
                <a:gd name="T10" fmla="*/ 2 w 55"/>
                <a:gd name="T11" fmla="*/ 488 h 580"/>
                <a:gd name="T12" fmla="*/ 3 w 55"/>
                <a:gd name="T13" fmla="*/ 448 h 580"/>
                <a:gd name="T14" fmla="*/ 5 w 55"/>
                <a:gd name="T15" fmla="*/ 405 h 580"/>
                <a:gd name="T16" fmla="*/ 6 w 55"/>
                <a:gd name="T17" fmla="*/ 363 h 580"/>
                <a:gd name="T18" fmla="*/ 7 w 55"/>
                <a:gd name="T19" fmla="*/ 324 h 580"/>
                <a:gd name="T20" fmla="*/ 8 w 55"/>
                <a:gd name="T21" fmla="*/ 306 h 580"/>
                <a:gd name="T22" fmla="*/ 8 w 55"/>
                <a:gd name="T23" fmla="*/ 290 h 580"/>
                <a:gd name="T24" fmla="*/ 11 w 55"/>
                <a:gd name="T25" fmla="*/ 229 h 580"/>
                <a:gd name="T26" fmla="*/ 12 w 55"/>
                <a:gd name="T27" fmla="*/ 186 h 580"/>
                <a:gd name="T28" fmla="*/ 13 w 55"/>
                <a:gd name="T29" fmla="*/ 160 h 580"/>
                <a:gd name="T30" fmla="*/ 14 w 55"/>
                <a:gd name="T31" fmla="*/ 135 h 580"/>
                <a:gd name="T32" fmla="*/ 16 w 55"/>
                <a:gd name="T33" fmla="*/ 111 h 580"/>
                <a:gd name="T34" fmla="*/ 17 w 55"/>
                <a:gd name="T35" fmla="*/ 90 h 580"/>
                <a:gd name="T36" fmla="*/ 18 w 55"/>
                <a:gd name="T37" fmla="*/ 73 h 580"/>
                <a:gd name="T38" fmla="*/ 19 w 55"/>
                <a:gd name="T39" fmla="*/ 56 h 580"/>
                <a:gd name="T40" fmla="*/ 20 w 55"/>
                <a:gd name="T41" fmla="*/ 41 h 580"/>
                <a:gd name="T42" fmla="*/ 22 w 55"/>
                <a:gd name="T43" fmla="*/ 28 h 580"/>
                <a:gd name="T44" fmla="*/ 23 w 55"/>
                <a:gd name="T45" fmla="*/ 18 h 580"/>
                <a:gd name="T46" fmla="*/ 24 w 55"/>
                <a:gd name="T47" fmla="*/ 9 h 580"/>
                <a:gd name="T48" fmla="*/ 25 w 55"/>
                <a:gd name="T49" fmla="*/ 3 h 580"/>
                <a:gd name="T50" fmla="*/ 27 w 55"/>
                <a:gd name="T51" fmla="*/ 0 h 580"/>
                <a:gd name="T52" fmla="*/ 27 w 55"/>
                <a:gd name="T53" fmla="*/ 0 h 580"/>
                <a:gd name="T54" fmla="*/ 28 w 55"/>
                <a:gd name="T55" fmla="*/ 3 h 580"/>
                <a:gd name="T56" fmla="*/ 29 w 55"/>
                <a:gd name="T57" fmla="*/ 9 h 580"/>
                <a:gd name="T58" fmla="*/ 30 w 55"/>
                <a:gd name="T59" fmla="*/ 18 h 580"/>
                <a:gd name="T60" fmla="*/ 31 w 55"/>
                <a:gd name="T61" fmla="*/ 28 h 580"/>
                <a:gd name="T62" fmla="*/ 33 w 55"/>
                <a:gd name="T63" fmla="*/ 41 h 580"/>
                <a:gd name="T64" fmla="*/ 34 w 55"/>
                <a:gd name="T65" fmla="*/ 56 h 580"/>
                <a:gd name="T66" fmla="*/ 35 w 55"/>
                <a:gd name="T67" fmla="*/ 73 h 580"/>
                <a:gd name="T68" fmla="*/ 36 w 55"/>
                <a:gd name="T69" fmla="*/ 90 h 580"/>
                <a:gd name="T70" fmla="*/ 38 w 55"/>
                <a:gd name="T71" fmla="*/ 111 h 580"/>
                <a:gd name="T72" fmla="*/ 39 w 55"/>
                <a:gd name="T73" fmla="*/ 135 h 580"/>
                <a:gd name="T74" fmla="*/ 41 w 55"/>
                <a:gd name="T75" fmla="*/ 159 h 580"/>
                <a:gd name="T76" fmla="*/ 43 w 55"/>
                <a:gd name="T77" fmla="*/ 186 h 580"/>
                <a:gd name="T78" fmla="*/ 45 w 55"/>
                <a:gd name="T79" fmla="*/ 229 h 580"/>
                <a:gd name="T80" fmla="*/ 47 w 55"/>
                <a:gd name="T81" fmla="*/ 290 h 580"/>
                <a:gd name="T82" fmla="*/ 47 w 55"/>
                <a:gd name="T83" fmla="*/ 305 h 580"/>
                <a:gd name="T84" fmla="*/ 49 w 55"/>
                <a:gd name="T85" fmla="*/ 342 h 580"/>
                <a:gd name="T86" fmla="*/ 50 w 55"/>
                <a:gd name="T87" fmla="*/ 381 h 580"/>
                <a:gd name="T88" fmla="*/ 51 w 55"/>
                <a:gd name="T89" fmla="*/ 443 h 580"/>
                <a:gd name="T90" fmla="*/ 52 w 55"/>
                <a:gd name="T91" fmla="*/ 484 h 580"/>
                <a:gd name="T92" fmla="*/ 52 w 55"/>
                <a:gd name="T93" fmla="*/ 521 h 580"/>
                <a:gd name="T94" fmla="*/ 54 w 55"/>
                <a:gd name="T95" fmla="*/ 546 h 580"/>
                <a:gd name="T96" fmla="*/ 54 w 55"/>
                <a:gd name="T97" fmla="*/ 561 h 580"/>
                <a:gd name="T98" fmla="*/ 54 w 55"/>
                <a:gd name="T99" fmla="*/ 574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5" h="580">
                  <a:moveTo>
                    <a:pt x="0" y="580"/>
                  </a:moveTo>
                  <a:lnTo>
                    <a:pt x="0" y="574"/>
                  </a:lnTo>
                  <a:lnTo>
                    <a:pt x="0" y="570"/>
                  </a:lnTo>
                  <a:lnTo>
                    <a:pt x="0" y="564"/>
                  </a:lnTo>
                  <a:lnTo>
                    <a:pt x="0" y="556"/>
                  </a:lnTo>
                  <a:lnTo>
                    <a:pt x="0" y="549"/>
                  </a:lnTo>
                  <a:lnTo>
                    <a:pt x="0" y="542"/>
                  </a:lnTo>
                  <a:lnTo>
                    <a:pt x="1" y="534"/>
                  </a:lnTo>
                  <a:lnTo>
                    <a:pt x="1" y="525"/>
                  </a:lnTo>
                  <a:lnTo>
                    <a:pt x="1" y="516"/>
                  </a:lnTo>
                  <a:lnTo>
                    <a:pt x="1" y="507"/>
                  </a:lnTo>
                  <a:lnTo>
                    <a:pt x="2" y="488"/>
                  </a:lnTo>
                  <a:lnTo>
                    <a:pt x="2" y="469"/>
                  </a:lnTo>
                  <a:lnTo>
                    <a:pt x="3" y="448"/>
                  </a:lnTo>
                  <a:lnTo>
                    <a:pt x="3" y="427"/>
                  </a:lnTo>
                  <a:lnTo>
                    <a:pt x="5" y="405"/>
                  </a:lnTo>
                  <a:lnTo>
                    <a:pt x="5" y="384"/>
                  </a:lnTo>
                  <a:lnTo>
                    <a:pt x="6" y="363"/>
                  </a:lnTo>
                  <a:lnTo>
                    <a:pt x="7" y="344"/>
                  </a:lnTo>
                  <a:lnTo>
                    <a:pt x="7" y="324"/>
                  </a:lnTo>
                  <a:lnTo>
                    <a:pt x="7" y="315"/>
                  </a:lnTo>
                  <a:lnTo>
                    <a:pt x="8" y="306"/>
                  </a:lnTo>
                  <a:lnTo>
                    <a:pt x="8" y="297"/>
                  </a:lnTo>
                  <a:lnTo>
                    <a:pt x="8" y="290"/>
                  </a:lnTo>
                  <a:lnTo>
                    <a:pt x="9" y="259"/>
                  </a:lnTo>
                  <a:lnTo>
                    <a:pt x="11" y="229"/>
                  </a:lnTo>
                  <a:lnTo>
                    <a:pt x="12" y="201"/>
                  </a:lnTo>
                  <a:lnTo>
                    <a:pt x="12" y="186"/>
                  </a:lnTo>
                  <a:lnTo>
                    <a:pt x="13" y="172"/>
                  </a:lnTo>
                  <a:lnTo>
                    <a:pt x="13" y="160"/>
                  </a:lnTo>
                  <a:lnTo>
                    <a:pt x="14" y="147"/>
                  </a:lnTo>
                  <a:lnTo>
                    <a:pt x="14" y="135"/>
                  </a:lnTo>
                  <a:lnTo>
                    <a:pt x="16" y="123"/>
                  </a:lnTo>
                  <a:lnTo>
                    <a:pt x="16" y="111"/>
                  </a:lnTo>
                  <a:lnTo>
                    <a:pt x="17" y="101"/>
                  </a:lnTo>
                  <a:lnTo>
                    <a:pt x="17" y="90"/>
                  </a:lnTo>
                  <a:lnTo>
                    <a:pt x="18" y="82"/>
                  </a:lnTo>
                  <a:lnTo>
                    <a:pt x="18" y="73"/>
                  </a:lnTo>
                  <a:lnTo>
                    <a:pt x="18" y="64"/>
                  </a:lnTo>
                  <a:lnTo>
                    <a:pt x="19" y="56"/>
                  </a:lnTo>
                  <a:lnTo>
                    <a:pt x="19" y="49"/>
                  </a:lnTo>
                  <a:lnTo>
                    <a:pt x="20" y="41"/>
                  </a:lnTo>
                  <a:lnTo>
                    <a:pt x="20" y="34"/>
                  </a:lnTo>
                  <a:lnTo>
                    <a:pt x="22" y="28"/>
                  </a:lnTo>
                  <a:lnTo>
                    <a:pt x="22" y="22"/>
                  </a:lnTo>
                  <a:lnTo>
                    <a:pt x="23" y="18"/>
                  </a:lnTo>
                  <a:lnTo>
                    <a:pt x="23" y="12"/>
                  </a:lnTo>
                  <a:lnTo>
                    <a:pt x="24" y="9"/>
                  </a:lnTo>
                  <a:lnTo>
                    <a:pt x="24" y="6"/>
                  </a:lnTo>
                  <a:lnTo>
                    <a:pt x="25" y="3"/>
                  </a:lnTo>
                  <a:lnTo>
                    <a:pt x="25" y="1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28" y="3"/>
                  </a:lnTo>
                  <a:lnTo>
                    <a:pt x="29" y="6"/>
                  </a:lnTo>
                  <a:lnTo>
                    <a:pt x="29" y="9"/>
                  </a:lnTo>
                  <a:lnTo>
                    <a:pt x="30" y="13"/>
                  </a:lnTo>
                  <a:lnTo>
                    <a:pt x="30" y="18"/>
                  </a:lnTo>
                  <a:lnTo>
                    <a:pt x="31" y="22"/>
                  </a:lnTo>
                  <a:lnTo>
                    <a:pt x="31" y="28"/>
                  </a:lnTo>
                  <a:lnTo>
                    <a:pt x="33" y="34"/>
                  </a:lnTo>
                  <a:lnTo>
                    <a:pt x="33" y="41"/>
                  </a:lnTo>
                  <a:lnTo>
                    <a:pt x="34" y="49"/>
                  </a:lnTo>
                  <a:lnTo>
                    <a:pt x="34" y="56"/>
                  </a:lnTo>
                  <a:lnTo>
                    <a:pt x="35" y="64"/>
                  </a:lnTo>
                  <a:lnTo>
                    <a:pt x="35" y="73"/>
                  </a:lnTo>
                  <a:lnTo>
                    <a:pt x="36" y="82"/>
                  </a:lnTo>
                  <a:lnTo>
                    <a:pt x="36" y="90"/>
                  </a:lnTo>
                  <a:lnTo>
                    <a:pt x="38" y="101"/>
                  </a:lnTo>
                  <a:lnTo>
                    <a:pt x="38" y="111"/>
                  </a:lnTo>
                  <a:lnTo>
                    <a:pt x="39" y="123"/>
                  </a:lnTo>
                  <a:lnTo>
                    <a:pt x="39" y="135"/>
                  </a:lnTo>
                  <a:lnTo>
                    <a:pt x="40" y="147"/>
                  </a:lnTo>
                  <a:lnTo>
                    <a:pt x="41" y="159"/>
                  </a:lnTo>
                  <a:lnTo>
                    <a:pt x="41" y="172"/>
                  </a:lnTo>
                  <a:lnTo>
                    <a:pt x="43" y="186"/>
                  </a:lnTo>
                  <a:lnTo>
                    <a:pt x="43" y="201"/>
                  </a:lnTo>
                  <a:lnTo>
                    <a:pt x="45" y="229"/>
                  </a:lnTo>
                  <a:lnTo>
                    <a:pt x="46" y="259"/>
                  </a:lnTo>
                  <a:lnTo>
                    <a:pt x="47" y="290"/>
                  </a:lnTo>
                  <a:lnTo>
                    <a:pt x="47" y="297"/>
                  </a:lnTo>
                  <a:lnTo>
                    <a:pt x="47" y="305"/>
                  </a:lnTo>
                  <a:lnTo>
                    <a:pt x="49" y="323"/>
                  </a:lnTo>
                  <a:lnTo>
                    <a:pt x="49" y="342"/>
                  </a:lnTo>
                  <a:lnTo>
                    <a:pt x="50" y="361"/>
                  </a:lnTo>
                  <a:lnTo>
                    <a:pt x="50" y="381"/>
                  </a:lnTo>
                  <a:lnTo>
                    <a:pt x="50" y="402"/>
                  </a:lnTo>
                  <a:lnTo>
                    <a:pt x="51" y="443"/>
                  </a:lnTo>
                  <a:lnTo>
                    <a:pt x="52" y="463"/>
                  </a:lnTo>
                  <a:lnTo>
                    <a:pt x="52" y="484"/>
                  </a:lnTo>
                  <a:lnTo>
                    <a:pt x="52" y="503"/>
                  </a:lnTo>
                  <a:lnTo>
                    <a:pt x="52" y="521"/>
                  </a:lnTo>
                  <a:lnTo>
                    <a:pt x="54" y="537"/>
                  </a:lnTo>
                  <a:lnTo>
                    <a:pt x="54" y="546"/>
                  </a:lnTo>
                  <a:lnTo>
                    <a:pt x="54" y="553"/>
                  </a:lnTo>
                  <a:lnTo>
                    <a:pt x="54" y="561"/>
                  </a:lnTo>
                  <a:lnTo>
                    <a:pt x="54" y="567"/>
                  </a:lnTo>
                  <a:lnTo>
                    <a:pt x="54" y="574"/>
                  </a:lnTo>
                  <a:lnTo>
                    <a:pt x="55" y="58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94" name="Freeform 62"/>
            <p:cNvSpPr>
              <a:spLocks/>
            </p:cNvSpPr>
            <p:nvPr/>
          </p:nvSpPr>
          <p:spPr bwMode="auto">
            <a:xfrm>
              <a:off x="3316" y="652"/>
              <a:ext cx="55" cy="313"/>
            </a:xfrm>
            <a:custGeom>
              <a:avLst/>
              <a:gdLst>
                <a:gd name="T0" fmla="*/ 0 w 55"/>
                <a:gd name="T1" fmla="*/ 619 h 625"/>
                <a:gd name="T2" fmla="*/ 0 w 55"/>
                <a:gd name="T3" fmla="*/ 607 h 625"/>
                <a:gd name="T4" fmla="*/ 0 w 55"/>
                <a:gd name="T5" fmla="*/ 593 h 625"/>
                <a:gd name="T6" fmla="*/ 1 w 55"/>
                <a:gd name="T7" fmla="*/ 576 h 625"/>
                <a:gd name="T8" fmla="*/ 1 w 55"/>
                <a:gd name="T9" fmla="*/ 557 h 625"/>
                <a:gd name="T10" fmla="*/ 2 w 55"/>
                <a:gd name="T11" fmla="*/ 527 h 625"/>
                <a:gd name="T12" fmla="*/ 4 w 55"/>
                <a:gd name="T13" fmla="*/ 482 h 625"/>
                <a:gd name="T14" fmla="*/ 5 w 55"/>
                <a:gd name="T15" fmla="*/ 436 h 625"/>
                <a:gd name="T16" fmla="*/ 6 w 55"/>
                <a:gd name="T17" fmla="*/ 392 h 625"/>
                <a:gd name="T18" fmla="*/ 7 w 55"/>
                <a:gd name="T19" fmla="*/ 350 h 625"/>
                <a:gd name="T20" fmla="*/ 9 w 55"/>
                <a:gd name="T21" fmla="*/ 331 h 625"/>
                <a:gd name="T22" fmla="*/ 9 w 55"/>
                <a:gd name="T23" fmla="*/ 313 h 625"/>
                <a:gd name="T24" fmla="*/ 11 w 55"/>
                <a:gd name="T25" fmla="*/ 247 h 625"/>
                <a:gd name="T26" fmla="*/ 12 w 55"/>
                <a:gd name="T27" fmla="*/ 201 h 625"/>
                <a:gd name="T28" fmla="*/ 13 w 55"/>
                <a:gd name="T29" fmla="*/ 173 h 625"/>
                <a:gd name="T30" fmla="*/ 15 w 55"/>
                <a:gd name="T31" fmla="*/ 146 h 625"/>
                <a:gd name="T32" fmla="*/ 16 w 55"/>
                <a:gd name="T33" fmla="*/ 121 h 625"/>
                <a:gd name="T34" fmla="*/ 17 w 55"/>
                <a:gd name="T35" fmla="*/ 98 h 625"/>
                <a:gd name="T36" fmla="*/ 18 w 55"/>
                <a:gd name="T37" fmla="*/ 79 h 625"/>
                <a:gd name="T38" fmla="*/ 20 w 55"/>
                <a:gd name="T39" fmla="*/ 61 h 625"/>
                <a:gd name="T40" fmla="*/ 21 w 55"/>
                <a:gd name="T41" fmla="*/ 45 h 625"/>
                <a:gd name="T42" fmla="*/ 22 w 55"/>
                <a:gd name="T43" fmla="*/ 30 h 625"/>
                <a:gd name="T44" fmla="*/ 23 w 55"/>
                <a:gd name="T45" fmla="*/ 18 h 625"/>
                <a:gd name="T46" fmla="*/ 24 w 55"/>
                <a:gd name="T47" fmla="*/ 9 h 625"/>
                <a:gd name="T48" fmla="*/ 26 w 55"/>
                <a:gd name="T49" fmla="*/ 3 h 625"/>
                <a:gd name="T50" fmla="*/ 27 w 55"/>
                <a:gd name="T51" fmla="*/ 0 h 625"/>
                <a:gd name="T52" fmla="*/ 27 w 55"/>
                <a:gd name="T53" fmla="*/ 0 h 625"/>
                <a:gd name="T54" fmla="*/ 28 w 55"/>
                <a:gd name="T55" fmla="*/ 3 h 625"/>
                <a:gd name="T56" fmla="*/ 29 w 55"/>
                <a:gd name="T57" fmla="*/ 9 h 625"/>
                <a:gd name="T58" fmla="*/ 31 w 55"/>
                <a:gd name="T59" fmla="*/ 19 h 625"/>
                <a:gd name="T60" fmla="*/ 32 w 55"/>
                <a:gd name="T61" fmla="*/ 31 h 625"/>
                <a:gd name="T62" fmla="*/ 33 w 55"/>
                <a:gd name="T63" fmla="*/ 45 h 625"/>
                <a:gd name="T64" fmla="*/ 34 w 55"/>
                <a:gd name="T65" fmla="*/ 61 h 625"/>
                <a:gd name="T66" fmla="*/ 35 w 55"/>
                <a:gd name="T67" fmla="*/ 79 h 625"/>
                <a:gd name="T68" fmla="*/ 37 w 55"/>
                <a:gd name="T69" fmla="*/ 98 h 625"/>
                <a:gd name="T70" fmla="*/ 38 w 55"/>
                <a:gd name="T71" fmla="*/ 121 h 625"/>
                <a:gd name="T72" fmla="*/ 39 w 55"/>
                <a:gd name="T73" fmla="*/ 146 h 625"/>
                <a:gd name="T74" fmla="*/ 42 w 55"/>
                <a:gd name="T75" fmla="*/ 173 h 625"/>
                <a:gd name="T76" fmla="*/ 43 w 55"/>
                <a:gd name="T77" fmla="*/ 201 h 625"/>
                <a:gd name="T78" fmla="*/ 45 w 55"/>
                <a:gd name="T79" fmla="*/ 247 h 625"/>
                <a:gd name="T80" fmla="*/ 48 w 55"/>
                <a:gd name="T81" fmla="*/ 313 h 625"/>
                <a:gd name="T82" fmla="*/ 48 w 55"/>
                <a:gd name="T83" fmla="*/ 329 h 625"/>
                <a:gd name="T84" fmla="*/ 49 w 55"/>
                <a:gd name="T85" fmla="*/ 368 h 625"/>
                <a:gd name="T86" fmla="*/ 50 w 55"/>
                <a:gd name="T87" fmla="*/ 411 h 625"/>
                <a:gd name="T88" fmla="*/ 51 w 55"/>
                <a:gd name="T89" fmla="*/ 478 h 625"/>
                <a:gd name="T90" fmla="*/ 53 w 55"/>
                <a:gd name="T91" fmla="*/ 521 h 625"/>
                <a:gd name="T92" fmla="*/ 53 w 55"/>
                <a:gd name="T93" fmla="*/ 561 h 625"/>
                <a:gd name="T94" fmla="*/ 54 w 55"/>
                <a:gd name="T95" fmla="*/ 588 h 625"/>
                <a:gd name="T96" fmla="*/ 54 w 55"/>
                <a:gd name="T97" fmla="*/ 604 h 625"/>
                <a:gd name="T98" fmla="*/ 54 w 55"/>
                <a:gd name="T99" fmla="*/ 618 h 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5" h="625">
                  <a:moveTo>
                    <a:pt x="0" y="625"/>
                  </a:moveTo>
                  <a:lnTo>
                    <a:pt x="0" y="619"/>
                  </a:lnTo>
                  <a:lnTo>
                    <a:pt x="0" y="613"/>
                  </a:lnTo>
                  <a:lnTo>
                    <a:pt x="0" y="607"/>
                  </a:lnTo>
                  <a:lnTo>
                    <a:pt x="0" y="600"/>
                  </a:lnTo>
                  <a:lnTo>
                    <a:pt x="0" y="593"/>
                  </a:lnTo>
                  <a:lnTo>
                    <a:pt x="0" y="584"/>
                  </a:lnTo>
                  <a:lnTo>
                    <a:pt x="1" y="576"/>
                  </a:lnTo>
                  <a:lnTo>
                    <a:pt x="1" y="567"/>
                  </a:lnTo>
                  <a:lnTo>
                    <a:pt x="1" y="557"/>
                  </a:lnTo>
                  <a:lnTo>
                    <a:pt x="1" y="548"/>
                  </a:lnTo>
                  <a:lnTo>
                    <a:pt x="2" y="527"/>
                  </a:lnTo>
                  <a:lnTo>
                    <a:pt x="2" y="505"/>
                  </a:lnTo>
                  <a:lnTo>
                    <a:pt x="4" y="482"/>
                  </a:lnTo>
                  <a:lnTo>
                    <a:pt x="4" y="460"/>
                  </a:lnTo>
                  <a:lnTo>
                    <a:pt x="5" y="436"/>
                  </a:lnTo>
                  <a:lnTo>
                    <a:pt x="5" y="414"/>
                  </a:lnTo>
                  <a:lnTo>
                    <a:pt x="6" y="392"/>
                  </a:lnTo>
                  <a:lnTo>
                    <a:pt x="7" y="371"/>
                  </a:lnTo>
                  <a:lnTo>
                    <a:pt x="7" y="350"/>
                  </a:lnTo>
                  <a:lnTo>
                    <a:pt x="7" y="339"/>
                  </a:lnTo>
                  <a:lnTo>
                    <a:pt x="9" y="331"/>
                  </a:lnTo>
                  <a:lnTo>
                    <a:pt x="9" y="322"/>
                  </a:lnTo>
                  <a:lnTo>
                    <a:pt x="9" y="313"/>
                  </a:lnTo>
                  <a:lnTo>
                    <a:pt x="10" y="280"/>
                  </a:lnTo>
                  <a:lnTo>
                    <a:pt x="11" y="247"/>
                  </a:lnTo>
                  <a:lnTo>
                    <a:pt x="12" y="216"/>
                  </a:lnTo>
                  <a:lnTo>
                    <a:pt x="12" y="201"/>
                  </a:lnTo>
                  <a:lnTo>
                    <a:pt x="13" y="186"/>
                  </a:lnTo>
                  <a:lnTo>
                    <a:pt x="13" y="173"/>
                  </a:lnTo>
                  <a:lnTo>
                    <a:pt x="15" y="159"/>
                  </a:lnTo>
                  <a:lnTo>
                    <a:pt x="15" y="146"/>
                  </a:lnTo>
                  <a:lnTo>
                    <a:pt x="16" y="132"/>
                  </a:lnTo>
                  <a:lnTo>
                    <a:pt x="16" y="121"/>
                  </a:lnTo>
                  <a:lnTo>
                    <a:pt x="17" y="110"/>
                  </a:lnTo>
                  <a:lnTo>
                    <a:pt x="17" y="98"/>
                  </a:lnTo>
                  <a:lnTo>
                    <a:pt x="18" y="88"/>
                  </a:lnTo>
                  <a:lnTo>
                    <a:pt x="18" y="79"/>
                  </a:lnTo>
                  <a:lnTo>
                    <a:pt x="18" y="70"/>
                  </a:lnTo>
                  <a:lnTo>
                    <a:pt x="20" y="61"/>
                  </a:lnTo>
                  <a:lnTo>
                    <a:pt x="20" y="52"/>
                  </a:lnTo>
                  <a:lnTo>
                    <a:pt x="21" y="45"/>
                  </a:lnTo>
                  <a:lnTo>
                    <a:pt x="21" y="37"/>
                  </a:lnTo>
                  <a:lnTo>
                    <a:pt x="22" y="30"/>
                  </a:lnTo>
                  <a:lnTo>
                    <a:pt x="22" y="24"/>
                  </a:lnTo>
                  <a:lnTo>
                    <a:pt x="23" y="18"/>
                  </a:lnTo>
                  <a:lnTo>
                    <a:pt x="23" y="13"/>
                  </a:lnTo>
                  <a:lnTo>
                    <a:pt x="24" y="9"/>
                  </a:lnTo>
                  <a:lnTo>
                    <a:pt x="24" y="6"/>
                  </a:lnTo>
                  <a:lnTo>
                    <a:pt x="26" y="3"/>
                  </a:lnTo>
                  <a:lnTo>
                    <a:pt x="26" y="1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28" y="3"/>
                  </a:lnTo>
                  <a:lnTo>
                    <a:pt x="29" y="6"/>
                  </a:lnTo>
                  <a:lnTo>
                    <a:pt x="29" y="9"/>
                  </a:lnTo>
                  <a:lnTo>
                    <a:pt x="31" y="13"/>
                  </a:lnTo>
                  <a:lnTo>
                    <a:pt x="31" y="19"/>
                  </a:lnTo>
                  <a:lnTo>
                    <a:pt x="32" y="24"/>
                  </a:lnTo>
                  <a:lnTo>
                    <a:pt x="32" y="31"/>
                  </a:lnTo>
                  <a:lnTo>
                    <a:pt x="33" y="37"/>
                  </a:lnTo>
                  <a:lnTo>
                    <a:pt x="33" y="45"/>
                  </a:lnTo>
                  <a:lnTo>
                    <a:pt x="34" y="52"/>
                  </a:lnTo>
                  <a:lnTo>
                    <a:pt x="34" y="61"/>
                  </a:lnTo>
                  <a:lnTo>
                    <a:pt x="35" y="70"/>
                  </a:lnTo>
                  <a:lnTo>
                    <a:pt x="35" y="79"/>
                  </a:lnTo>
                  <a:lnTo>
                    <a:pt x="37" y="88"/>
                  </a:lnTo>
                  <a:lnTo>
                    <a:pt x="37" y="98"/>
                  </a:lnTo>
                  <a:lnTo>
                    <a:pt x="38" y="110"/>
                  </a:lnTo>
                  <a:lnTo>
                    <a:pt x="38" y="121"/>
                  </a:lnTo>
                  <a:lnTo>
                    <a:pt x="39" y="132"/>
                  </a:lnTo>
                  <a:lnTo>
                    <a:pt x="39" y="146"/>
                  </a:lnTo>
                  <a:lnTo>
                    <a:pt x="40" y="159"/>
                  </a:lnTo>
                  <a:lnTo>
                    <a:pt x="42" y="173"/>
                  </a:lnTo>
                  <a:lnTo>
                    <a:pt x="42" y="186"/>
                  </a:lnTo>
                  <a:lnTo>
                    <a:pt x="43" y="201"/>
                  </a:lnTo>
                  <a:lnTo>
                    <a:pt x="43" y="216"/>
                  </a:lnTo>
                  <a:lnTo>
                    <a:pt x="45" y="247"/>
                  </a:lnTo>
                  <a:lnTo>
                    <a:pt x="47" y="278"/>
                  </a:lnTo>
                  <a:lnTo>
                    <a:pt x="48" y="313"/>
                  </a:lnTo>
                  <a:lnTo>
                    <a:pt x="48" y="320"/>
                  </a:lnTo>
                  <a:lnTo>
                    <a:pt x="48" y="329"/>
                  </a:lnTo>
                  <a:lnTo>
                    <a:pt x="49" y="348"/>
                  </a:lnTo>
                  <a:lnTo>
                    <a:pt x="49" y="368"/>
                  </a:lnTo>
                  <a:lnTo>
                    <a:pt x="50" y="390"/>
                  </a:lnTo>
                  <a:lnTo>
                    <a:pt x="50" y="411"/>
                  </a:lnTo>
                  <a:lnTo>
                    <a:pt x="50" y="433"/>
                  </a:lnTo>
                  <a:lnTo>
                    <a:pt x="51" y="478"/>
                  </a:lnTo>
                  <a:lnTo>
                    <a:pt x="53" y="499"/>
                  </a:lnTo>
                  <a:lnTo>
                    <a:pt x="53" y="521"/>
                  </a:lnTo>
                  <a:lnTo>
                    <a:pt x="53" y="542"/>
                  </a:lnTo>
                  <a:lnTo>
                    <a:pt x="53" y="561"/>
                  </a:lnTo>
                  <a:lnTo>
                    <a:pt x="54" y="579"/>
                  </a:lnTo>
                  <a:lnTo>
                    <a:pt x="54" y="588"/>
                  </a:lnTo>
                  <a:lnTo>
                    <a:pt x="54" y="596"/>
                  </a:lnTo>
                  <a:lnTo>
                    <a:pt x="54" y="604"/>
                  </a:lnTo>
                  <a:lnTo>
                    <a:pt x="54" y="612"/>
                  </a:lnTo>
                  <a:lnTo>
                    <a:pt x="54" y="618"/>
                  </a:lnTo>
                  <a:lnTo>
                    <a:pt x="55" y="625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95" name="Freeform 63"/>
            <p:cNvSpPr>
              <a:spLocks/>
            </p:cNvSpPr>
            <p:nvPr/>
          </p:nvSpPr>
          <p:spPr bwMode="auto">
            <a:xfrm>
              <a:off x="2930" y="965"/>
              <a:ext cx="55" cy="268"/>
            </a:xfrm>
            <a:custGeom>
              <a:avLst/>
              <a:gdLst>
                <a:gd name="T0" fmla="*/ 0 w 55"/>
                <a:gd name="T1" fmla="*/ 5 h 536"/>
                <a:gd name="T2" fmla="*/ 0 w 55"/>
                <a:gd name="T3" fmla="*/ 15 h 536"/>
                <a:gd name="T4" fmla="*/ 0 w 55"/>
                <a:gd name="T5" fmla="*/ 27 h 536"/>
                <a:gd name="T6" fmla="*/ 1 w 55"/>
                <a:gd name="T7" fmla="*/ 42 h 536"/>
                <a:gd name="T8" fmla="*/ 1 w 55"/>
                <a:gd name="T9" fmla="*/ 66 h 536"/>
                <a:gd name="T10" fmla="*/ 2 w 55"/>
                <a:gd name="T11" fmla="*/ 102 h 536"/>
                <a:gd name="T12" fmla="*/ 3 w 55"/>
                <a:gd name="T13" fmla="*/ 140 h 536"/>
                <a:gd name="T14" fmla="*/ 5 w 55"/>
                <a:gd name="T15" fmla="*/ 180 h 536"/>
                <a:gd name="T16" fmla="*/ 7 w 55"/>
                <a:gd name="T17" fmla="*/ 218 h 536"/>
                <a:gd name="T18" fmla="*/ 8 w 55"/>
                <a:gd name="T19" fmla="*/ 252 h 536"/>
                <a:gd name="T20" fmla="*/ 8 w 55"/>
                <a:gd name="T21" fmla="*/ 267 h 536"/>
                <a:gd name="T22" fmla="*/ 11 w 55"/>
                <a:gd name="T23" fmla="*/ 323 h 536"/>
                <a:gd name="T24" fmla="*/ 13 w 55"/>
                <a:gd name="T25" fmla="*/ 375 h 536"/>
                <a:gd name="T26" fmla="*/ 14 w 55"/>
                <a:gd name="T27" fmla="*/ 399 h 536"/>
                <a:gd name="T28" fmla="*/ 16 w 55"/>
                <a:gd name="T29" fmla="*/ 422 h 536"/>
                <a:gd name="T30" fmla="*/ 17 w 55"/>
                <a:gd name="T31" fmla="*/ 441 h 536"/>
                <a:gd name="T32" fmla="*/ 18 w 55"/>
                <a:gd name="T33" fmla="*/ 459 h 536"/>
                <a:gd name="T34" fmla="*/ 18 w 55"/>
                <a:gd name="T35" fmla="*/ 475 h 536"/>
                <a:gd name="T36" fmla="*/ 19 w 55"/>
                <a:gd name="T37" fmla="*/ 490 h 536"/>
                <a:gd name="T38" fmla="*/ 21 w 55"/>
                <a:gd name="T39" fmla="*/ 504 h 536"/>
                <a:gd name="T40" fmla="*/ 22 w 55"/>
                <a:gd name="T41" fmla="*/ 514 h 536"/>
                <a:gd name="T42" fmla="*/ 23 w 55"/>
                <a:gd name="T43" fmla="*/ 523 h 536"/>
                <a:gd name="T44" fmla="*/ 24 w 55"/>
                <a:gd name="T45" fmla="*/ 530 h 536"/>
                <a:gd name="T46" fmla="*/ 26 w 55"/>
                <a:gd name="T47" fmla="*/ 535 h 536"/>
                <a:gd name="T48" fmla="*/ 27 w 55"/>
                <a:gd name="T49" fmla="*/ 536 h 536"/>
                <a:gd name="T50" fmla="*/ 28 w 55"/>
                <a:gd name="T51" fmla="*/ 535 h 536"/>
                <a:gd name="T52" fmla="*/ 29 w 55"/>
                <a:gd name="T53" fmla="*/ 530 h 536"/>
                <a:gd name="T54" fmla="*/ 30 w 55"/>
                <a:gd name="T55" fmla="*/ 523 h 536"/>
                <a:gd name="T56" fmla="*/ 32 w 55"/>
                <a:gd name="T57" fmla="*/ 514 h 536"/>
                <a:gd name="T58" fmla="*/ 33 w 55"/>
                <a:gd name="T59" fmla="*/ 504 h 536"/>
                <a:gd name="T60" fmla="*/ 34 w 55"/>
                <a:gd name="T61" fmla="*/ 490 h 536"/>
                <a:gd name="T62" fmla="*/ 35 w 55"/>
                <a:gd name="T63" fmla="*/ 475 h 536"/>
                <a:gd name="T64" fmla="*/ 37 w 55"/>
                <a:gd name="T65" fmla="*/ 450 h 536"/>
                <a:gd name="T66" fmla="*/ 38 w 55"/>
                <a:gd name="T67" fmla="*/ 432 h 536"/>
                <a:gd name="T68" fmla="*/ 39 w 55"/>
                <a:gd name="T69" fmla="*/ 410 h 536"/>
                <a:gd name="T70" fmla="*/ 41 w 55"/>
                <a:gd name="T71" fmla="*/ 387 h 536"/>
                <a:gd name="T72" fmla="*/ 43 w 55"/>
                <a:gd name="T73" fmla="*/ 364 h 536"/>
                <a:gd name="T74" fmla="*/ 45 w 55"/>
                <a:gd name="T75" fmla="*/ 323 h 536"/>
                <a:gd name="T76" fmla="*/ 48 w 55"/>
                <a:gd name="T77" fmla="*/ 268 h 536"/>
                <a:gd name="T78" fmla="*/ 49 w 55"/>
                <a:gd name="T79" fmla="*/ 237 h 536"/>
                <a:gd name="T80" fmla="*/ 50 w 55"/>
                <a:gd name="T81" fmla="*/ 201 h 536"/>
                <a:gd name="T82" fmla="*/ 50 w 55"/>
                <a:gd name="T83" fmla="*/ 164 h 536"/>
                <a:gd name="T84" fmla="*/ 52 w 55"/>
                <a:gd name="T85" fmla="*/ 107 h 536"/>
                <a:gd name="T86" fmla="*/ 52 w 55"/>
                <a:gd name="T87" fmla="*/ 70 h 536"/>
                <a:gd name="T88" fmla="*/ 54 w 55"/>
                <a:gd name="T89" fmla="*/ 39 h 536"/>
                <a:gd name="T90" fmla="*/ 54 w 55"/>
                <a:gd name="T91" fmla="*/ 17 h 536"/>
                <a:gd name="T92" fmla="*/ 54 w 55"/>
                <a:gd name="T93" fmla="*/ 5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5" h="536">
                  <a:moveTo>
                    <a:pt x="0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21"/>
                  </a:lnTo>
                  <a:lnTo>
                    <a:pt x="0" y="27"/>
                  </a:lnTo>
                  <a:lnTo>
                    <a:pt x="0" y="35"/>
                  </a:lnTo>
                  <a:lnTo>
                    <a:pt x="1" y="42"/>
                  </a:lnTo>
                  <a:lnTo>
                    <a:pt x="1" y="49"/>
                  </a:lnTo>
                  <a:lnTo>
                    <a:pt x="1" y="66"/>
                  </a:lnTo>
                  <a:lnTo>
                    <a:pt x="2" y="84"/>
                  </a:lnTo>
                  <a:lnTo>
                    <a:pt x="2" y="102"/>
                  </a:lnTo>
                  <a:lnTo>
                    <a:pt x="3" y="121"/>
                  </a:lnTo>
                  <a:lnTo>
                    <a:pt x="3" y="140"/>
                  </a:lnTo>
                  <a:lnTo>
                    <a:pt x="5" y="161"/>
                  </a:lnTo>
                  <a:lnTo>
                    <a:pt x="5" y="180"/>
                  </a:lnTo>
                  <a:lnTo>
                    <a:pt x="6" y="200"/>
                  </a:lnTo>
                  <a:lnTo>
                    <a:pt x="7" y="218"/>
                  </a:lnTo>
                  <a:lnTo>
                    <a:pt x="7" y="236"/>
                  </a:lnTo>
                  <a:lnTo>
                    <a:pt x="8" y="252"/>
                  </a:lnTo>
                  <a:lnTo>
                    <a:pt x="8" y="259"/>
                  </a:lnTo>
                  <a:lnTo>
                    <a:pt x="8" y="267"/>
                  </a:lnTo>
                  <a:lnTo>
                    <a:pt x="10" y="295"/>
                  </a:lnTo>
                  <a:lnTo>
                    <a:pt x="11" y="323"/>
                  </a:lnTo>
                  <a:lnTo>
                    <a:pt x="12" y="350"/>
                  </a:lnTo>
                  <a:lnTo>
                    <a:pt x="13" y="375"/>
                  </a:lnTo>
                  <a:lnTo>
                    <a:pt x="13" y="387"/>
                  </a:lnTo>
                  <a:lnTo>
                    <a:pt x="14" y="399"/>
                  </a:lnTo>
                  <a:lnTo>
                    <a:pt x="14" y="410"/>
                  </a:lnTo>
                  <a:lnTo>
                    <a:pt x="16" y="422"/>
                  </a:lnTo>
                  <a:lnTo>
                    <a:pt x="16" y="432"/>
                  </a:lnTo>
                  <a:lnTo>
                    <a:pt x="17" y="441"/>
                  </a:lnTo>
                  <a:lnTo>
                    <a:pt x="17" y="450"/>
                  </a:lnTo>
                  <a:lnTo>
                    <a:pt x="18" y="459"/>
                  </a:lnTo>
                  <a:lnTo>
                    <a:pt x="18" y="468"/>
                  </a:lnTo>
                  <a:lnTo>
                    <a:pt x="18" y="475"/>
                  </a:lnTo>
                  <a:lnTo>
                    <a:pt x="19" y="483"/>
                  </a:lnTo>
                  <a:lnTo>
                    <a:pt x="19" y="490"/>
                  </a:lnTo>
                  <a:lnTo>
                    <a:pt x="21" y="498"/>
                  </a:lnTo>
                  <a:lnTo>
                    <a:pt x="21" y="504"/>
                  </a:lnTo>
                  <a:lnTo>
                    <a:pt x="22" y="509"/>
                  </a:lnTo>
                  <a:lnTo>
                    <a:pt x="22" y="514"/>
                  </a:lnTo>
                  <a:lnTo>
                    <a:pt x="23" y="518"/>
                  </a:lnTo>
                  <a:lnTo>
                    <a:pt x="23" y="523"/>
                  </a:lnTo>
                  <a:lnTo>
                    <a:pt x="24" y="527"/>
                  </a:lnTo>
                  <a:lnTo>
                    <a:pt x="24" y="530"/>
                  </a:lnTo>
                  <a:lnTo>
                    <a:pt x="26" y="532"/>
                  </a:lnTo>
                  <a:lnTo>
                    <a:pt x="26" y="535"/>
                  </a:lnTo>
                  <a:lnTo>
                    <a:pt x="27" y="535"/>
                  </a:lnTo>
                  <a:lnTo>
                    <a:pt x="27" y="536"/>
                  </a:lnTo>
                  <a:lnTo>
                    <a:pt x="27" y="535"/>
                  </a:lnTo>
                  <a:lnTo>
                    <a:pt x="28" y="535"/>
                  </a:lnTo>
                  <a:lnTo>
                    <a:pt x="28" y="532"/>
                  </a:lnTo>
                  <a:lnTo>
                    <a:pt x="29" y="530"/>
                  </a:lnTo>
                  <a:lnTo>
                    <a:pt x="29" y="527"/>
                  </a:lnTo>
                  <a:lnTo>
                    <a:pt x="30" y="523"/>
                  </a:lnTo>
                  <a:lnTo>
                    <a:pt x="30" y="518"/>
                  </a:lnTo>
                  <a:lnTo>
                    <a:pt x="32" y="514"/>
                  </a:lnTo>
                  <a:lnTo>
                    <a:pt x="32" y="509"/>
                  </a:lnTo>
                  <a:lnTo>
                    <a:pt x="33" y="504"/>
                  </a:lnTo>
                  <a:lnTo>
                    <a:pt x="33" y="496"/>
                  </a:lnTo>
                  <a:lnTo>
                    <a:pt x="34" y="490"/>
                  </a:lnTo>
                  <a:lnTo>
                    <a:pt x="34" y="483"/>
                  </a:lnTo>
                  <a:lnTo>
                    <a:pt x="35" y="475"/>
                  </a:lnTo>
                  <a:lnTo>
                    <a:pt x="37" y="459"/>
                  </a:lnTo>
                  <a:lnTo>
                    <a:pt x="37" y="450"/>
                  </a:lnTo>
                  <a:lnTo>
                    <a:pt x="38" y="441"/>
                  </a:lnTo>
                  <a:lnTo>
                    <a:pt x="38" y="432"/>
                  </a:lnTo>
                  <a:lnTo>
                    <a:pt x="39" y="422"/>
                  </a:lnTo>
                  <a:lnTo>
                    <a:pt x="39" y="410"/>
                  </a:lnTo>
                  <a:lnTo>
                    <a:pt x="40" y="399"/>
                  </a:lnTo>
                  <a:lnTo>
                    <a:pt x="41" y="387"/>
                  </a:lnTo>
                  <a:lnTo>
                    <a:pt x="41" y="375"/>
                  </a:lnTo>
                  <a:lnTo>
                    <a:pt x="43" y="364"/>
                  </a:lnTo>
                  <a:lnTo>
                    <a:pt x="43" y="350"/>
                  </a:lnTo>
                  <a:lnTo>
                    <a:pt x="45" y="323"/>
                  </a:lnTo>
                  <a:lnTo>
                    <a:pt x="46" y="297"/>
                  </a:lnTo>
                  <a:lnTo>
                    <a:pt x="48" y="268"/>
                  </a:lnTo>
                  <a:lnTo>
                    <a:pt x="48" y="252"/>
                  </a:lnTo>
                  <a:lnTo>
                    <a:pt x="49" y="237"/>
                  </a:lnTo>
                  <a:lnTo>
                    <a:pt x="49" y="219"/>
                  </a:lnTo>
                  <a:lnTo>
                    <a:pt x="50" y="201"/>
                  </a:lnTo>
                  <a:lnTo>
                    <a:pt x="50" y="183"/>
                  </a:lnTo>
                  <a:lnTo>
                    <a:pt x="50" y="164"/>
                  </a:lnTo>
                  <a:lnTo>
                    <a:pt x="51" y="125"/>
                  </a:lnTo>
                  <a:lnTo>
                    <a:pt x="52" y="107"/>
                  </a:lnTo>
                  <a:lnTo>
                    <a:pt x="52" y="88"/>
                  </a:lnTo>
                  <a:lnTo>
                    <a:pt x="52" y="70"/>
                  </a:lnTo>
                  <a:lnTo>
                    <a:pt x="52" y="54"/>
                  </a:lnTo>
                  <a:lnTo>
                    <a:pt x="54" y="39"/>
                  </a:lnTo>
                  <a:lnTo>
                    <a:pt x="54" y="24"/>
                  </a:lnTo>
                  <a:lnTo>
                    <a:pt x="54" y="17"/>
                  </a:lnTo>
                  <a:lnTo>
                    <a:pt x="54" y="11"/>
                  </a:lnTo>
                  <a:lnTo>
                    <a:pt x="54" y="5"/>
                  </a:lnTo>
                  <a:lnTo>
                    <a:pt x="55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96" name="Freeform 64"/>
            <p:cNvSpPr>
              <a:spLocks/>
            </p:cNvSpPr>
            <p:nvPr/>
          </p:nvSpPr>
          <p:spPr bwMode="auto">
            <a:xfrm>
              <a:off x="3040" y="965"/>
              <a:ext cx="55" cy="312"/>
            </a:xfrm>
            <a:custGeom>
              <a:avLst/>
              <a:gdLst>
                <a:gd name="T0" fmla="*/ 0 w 55"/>
                <a:gd name="T1" fmla="*/ 5 h 626"/>
                <a:gd name="T2" fmla="*/ 0 w 55"/>
                <a:gd name="T3" fmla="*/ 17 h 626"/>
                <a:gd name="T4" fmla="*/ 0 w 55"/>
                <a:gd name="T5" fmla="*/ 32 h 626"/>
                <a:gd name="T6" fmla="*/ 1 w 55"/>
                <a:gd name="T7" fmla="*/ 48 h 626"/>
                <a:gd name="T8" fmla="*/ 1 w 55"/>
                <a:gd name="T9" fmla="*/ 67 h 626"/>
                <a:gd name="T10" fmla="*/ 3 w 55"/>
                <a:gd name="T11" fmla="*/ 97 h 626"/>
                <a:gd name="T12" fmla="*/ 4 w 55"/>
                <a:gd name="T13" fmla="*/ 142 h 626"/>
                <a:gd name="T14" fmla="*/ 5 w 55"/>
                <a:gd name="T15" fmla="*/ 188 h 626"/>
                <a:gd name="T16" fmla="*/ 6 w 55"/>
                <a:gd name="T17" fmla="*/ 233 h 626"/>
                <a:gd name="T18" fmla="*/ 7 w 55"/>
                <a:gd name="T19" fmla="*/ 274 h 626"/>
                <a:gd name="T20" fmla="*/ 9 w 55"/>
                <a:gd name="T21" fmla="*/ 294 h 626"/>
                <a:gd name="T22" fmla="*/ 9 w 55"/>
                <a:gd name="T23" fmla="*/ 311 h 626"/>
                <a:gd name="T24" fmla="*/ 11 w 55"/>
                <a:gd name="T25" fmla="*/ 377 h 626"/>
                <a:gd name="T26" fmla="*/ 12 w 55"/>
                <a:gd name="T27" fmla="*/ 423 h 626"/>
                <a:gd name="T28" fmla="*/ 14 w 55"/>
                <a:gd name="T29" fmla="*/ 451 h 626"/>
                <a:gd name="T30" fmla="*/ 15 w 55"/>
                <a:gd name="T31" fmla="*/ 478 h 626"/>
                <a:gd name="T32" fmla="*/ 16 w 55"/>
                <a:gd name="T33" fmla="*/ 504 h 626"/>
                <a:gd name="T34" fmla="*/ 17 w 55"/>
                <a:gd name="T35" fmla="*/ 526 h 626"/>
                <a:gd name="T36" fmla="*/ 18 w 55"/>
                <a:gd name="T37" fmla="*/ 545 h 626"/>
                <a:gd name="T38" fmla="*/ 20 w 55"/>
                <a:gd name="T39" fmla="*/ 563 h 626"/>
                <a:gd name="T40" fmla="*/ 21 w 55"/>
                <a:gd name="T41" fmla="*/ 579 h 626"/>
                <a:gd name="T42" fmla="*/ 22 w 55"/>
                <a:gd name="T43" fmla="*/ 594 h 626"/>
                <a:gd name="T44" fmla="*/ 23 w 55"/>
                <a:gd name="T45" fmla="*/ 606 h 626"/>
                <a:gd name="T46" fmla="*/ 25 w 55"/>
                <a:gd name="T47" fmla="*/ 615 h 626"/>
                <a:gd name="T48" fmla="*/ 26 w 55"/>
                <a:gd name="T49" fmla="*/ 621 h 626"/>
                <a:gd name="T50" fmla="*/ 27 w 55"/>
                <a:gd name="T51" fmla="*/ 624 h 626"/>
                <a:gd name="T52" fmla="*/ 27 w 55"/>
                <a:gd name="T53" fmla="*/ 624 h 626"/>
                <a:gd name="T54" fmla="*/ 28 w 55"/>
                <a:gd name="T55" fmla="*/ 621 h 626"/>
                <a:gd name="T56" fmla="*/ 30 w 55"/>
                <a:gd name="T57" fmla="*/ 615 h 626"/>
                <a:gd name="T58" fmla="*/ 31 w 55"/>
                <a:gd name="T59" fmla="*/ 605 h 626"/>
                <a:gd name="T60" fmla="*/ 32 w 55"/>
                <a:gd name="T61" fmla="*/ 594 h 626"/>
                <a:gd name="T62" fmla="*/ 33 w 55"/>
                <a:gd name="T63" fmla="*/ 579 h 626"/>
                <a:gd name="T64" fmla="*/ 34 w 55"/>
                <a:gd name="T65" fmla="*/ 563 h 626"/>
                <a:gd name="T66" fmla="*/ 36 w 55"/>
                <a:gd name="T67" fmla="*/ 545 h 626"/>
                <a:gd name="T68" fmla="*/ 37 w 55"/>
                <a:gd name="T69" fmla="*/ 526 h 626"/>
                <a:gd name="T70" fmla="*/ 38 w 55"/>
                <a:gd name="T71" fmla="*/ 504 h 626"/>
                <a:gd name="T72" fmla="*/ 39 w 55"/>
                <a:gd name="T73" fmla="*/ 478 h 626"/>
                <a:gd name="T74" fmla="*/ 42 w 55"/>
                <a:gd name="T75" fmla="*/ 451 h 626"/>
                <a:gd name="T76" fmla="*/ 43 w 55"/>
                <a:gd name="T77" fmla="*/ 423 h 626"/>
                <a:gd name="T78" fmla="*/ 45 w 55"/>
                <a:gd name="T79" fmla="*/ 377 h 626"/>
                <a:gd name="T80" fmla="*/ 48 w 55"/>
                <a:gd name="T81" fmla="*/ 313 h 626"/>
                <a:gd name="T82" fmla="*/ 48 w 55"/>
                <a:gd name="T83" fmla="*/ 295 h 626"/>
                <a:gd name="T84" fmla="*/ 49 w 55"/>
                <a:gd name="T85" fmla="*/ 256 h 626"/>
                <a:gd name="T86" fmla="*/ 50 w 55"/>
                <a:gd name="T87" fmla="*/ 213 h 626"/>
                <a:gd name="T88" fmla="*/ 52 w 55"/>
                <a:gd name="T89" fmla="*/ 146 h 626"/>
                <a:gd name="T90" fmla="*/ 53 w 55"/>
                <a:gd name="T91" fmla="*/ 103 h 626"/>
                <a:gd name="T92" fmla="*/ 53 w 55"/>
                <a:gd name="T93" fmla="*/ 63 h 626"/>
                <a:gd name="T94" fmla="*/ 54 w 55"/>
                <a:gd name="T95" fmla="*/ 36 h 626"/>
                <a:gd name="T96" fmla="*/ 54 w 55"/>
                <a:gd name="T97" fmla="*/ 20 h 626"/>
                <a:gd name="T98" fmla="*/ 54 w 55"/>
                <a:gd name="T99" fmla="*/ 6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5" h="626">
                  <a:moveTo>
                    <a:pt x="0" y="0"/>
                  </a:moveTo>
                  <a:lnTo>
                    <a:pt x="0" y="5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1" y="48"/>
                  </a:lnTo>
                  <a:lnTo>
                    <a:pt x="1" y="57"/>
                  </a:lnTo>
                  <a:lnTo>
                    <a:pt x="1" y="67"/>
                  </a:lnTo>
                  <a:lnTo>
                    <a:pt x="1" y="76"/>
                  </a:lnTo>
                  <a:lnTo>
                    <a:pt x="3" y="97"/>
                  </a:lnTo>
                  <a:lnTo>
                    <a:pt x="3" y="119"/>
                  </a:lnTo>
                  <a:lnTo>
                    <a:pt x="4" y="142"/>
                  </a:lnTo>
                  <a:lnTo>
                    <a:pt x="4" y="164"/>
                  </a:lnTo>
                  <a:lnTo>
                    <a:pt x="5" y="188"/>
                  </a:lnTo>
                  <a:lnTo>
                    <a:pt x="5" y="210"/>
                  </a:lnTo>
                  <a:lnTo>
                    <a:pt x="6" y="233"/>
                  </a:lnTo>
                  <a:lnTo>
                    <a:pt x="7" y="255"/>
                  </a:lnTo>
                  <a:lnTo>
                    <a:pt x="7" y="274"/>
                  </a:lnTo>
                  <a:lnTo>
                    <a:pt x="7" y="285"/>
                  </a:lnTo>
                  <a:lnTo>
                    <a:pt x="9" y="294"/>
                  </a:lnTo>
                  <a:lnTo>
                    <a:pt x="9" y="303"/>
                  </a:lnTo>
                  <a:lnTo>
                    <a:pt x="9" y="311"/>
                  </a:lnTo>
                  <a:lnTo>
                    <a:pt x="10" y="344"/>
                  </a:lnTo>
                  <a:lnTo>
                    <a:pt x="11" y="377"/>
                  </a:lnTo>
                  <a:lnTo>
                    <a:pt x="12" y="408"/>
                  </a:lnTo>
                  <a:lnTo>
                    <a:pt x="12" y="423"/>
                  </a:lnTo>
                  <a:lnTo>
                    <a:pt x="14" y="438"/>
                  </a:lnTo>
                  <a:lnTo>
                    <a:pt x="14" y="451"/>
                  </a:lnTo>
                  <a:lnTo>
                    <a:pt x="15" y="465"/>
                  </a:lnTo>
                  <a:lnTo>
                    <a:pt x="15" y="478"/>
                  </a:lnTo>
                  <a:lnTo>
                    <a:pt x="16" y="492"/>
                  </a:lnTo>
                  <a:lnTo>
                    <a:pt x="16" y="504"/>
                  </a:lnTo>
                  <a:lnTo>
                    <a:pt x="17" y="515"/>
                  </a:lnTo>
                  <a:lnTo>
                    <a:pt x="17" y="526"/>
                  </a:lnTo>
                  <a:lnTo>
                    <a:pt x="18" y="536"/>
                  </a:lnTo>
                  <a:lnTo>
                    <a:pt x="18" y="545"/>
                  </a:lnTo>
                  <a:lnTo>
                    <a:pt x="18" y="554"/>
                  </a:lnTo>
                  <a:lnTo>
                    <a:pt x="20" y="563"/>
                  </a:lnTo>
                  <a:lnTo>
                    <a:pt x="20" y="572"/>
                  </a:lnTo>
                  <a:lnTo>
                    <a:pt x="21" y="579"/>
                  </a:lnTo>
                  <a:lnTo>
                    <a:pt x="21" y="587"/>
                  </a:lnTo>
                  <a:lnTo>
                    <a:pt x="22" y="594"/>
                  </a:lnTo>
                  <a:lnTo>
                    <a:pt x="22" y="600"/>
                  </a:lnTo>
                  <a:lnTo>
                    <a:pt x="23" y="606"/>
                  </a:lnTo>
                  <a:lnTo>
                    <a:pt x="23" y="611"/>
                  </a:lnTo>
                  <a:lnTo>
                    <a:pt x="25" y="615"/>
                  </a:lnTo>
                  <a:lnTo>
                    <a:pt x="25" y="618"/>
                  </a:lnTo>
                  <a:lnTo>
                    <a:pt x="26" y="621"/>
                  </a:lnTo>
                  <a:lnTo>
                    <a:pt x="26" y="623"/>
                  </a:lnTo>
                  <a:lnTo>
                    <a:pt x="27" y="624"/>
                  </a:lnTo>
                  <a:lnTo>
                    <a:pt x="27" y="626"/>
                  </a:lnTo>
                  <a:lnTo>
                    <a:pt x="27" y="624"/>
                  </a:lnTo>
                  <a:lnTo>
                    <a:pt x="28" y="623"/>
                  </a:lnTo>
                  <a:lnTo>
                    <a:pt x="28" y="621"/>
                  </a:lnTo>
                  <a:lnTo>
                    <a:pt x="30" y="618"/>
                  </a:lnTo>
                  <a:lnTo>
                    <a:pt x="30" y="615"/>
                  </a:lnTo>
                  <a:lnTo>
                    <a:pt x="31" y="611"/>
                  </a:lnTo>
                  <a:lnTo>
                    <a:pt x="31" y="605"/>
                  </a:lnTo>
                  <a:lnTo>
                    <a:pt x="32" y="600"/>
                  </a:lnTo>
                  <a:lnTo>
                    <a:pt x="32" y="594"/>
                  </a:lnTo>
                  <a:lnTo>
                    <a:pt x="33" y="587"/>
                  </a:lnTo>
                  <a:lnTo>
                    <a:pt x="33" y="579"/>
                  </a:lnTo>
                  <a:lnTo>
                    <a:pt x="34" y="572"/>
                  </a:lnTo>
                  <a:lnTo>
                    <a:pt x="34" y="563"/>
                  </a:lnTo>
                  <a:lnTo>
                    <a:pt x="36" y="554"/>
                  </a:lnTo>
                  <a:lnTo>
                    <a:pt x="36" y="545"/>
                  </a:lnTo>
                  <a:lnTo>
                    <a:pt x="37" y="536"/>
                  </a:lnTo>
                  <a:lnTo>
                    <a:pt x="37" y="526"/>
                  </a:lnTo>
                  <a:lnTo>
                    <a:pt x="38" y="515"/>
                  </a:lnTo>
                  <a:lnTo>
                    <a:pt x="38" y="504"/>
                  </a:lnTo>
                  <a:lnTo>
                    <a:pt x="39" y="492"/>
                  </a:lnTo>
                  <a:lnTo>
                    <a:pt x="39" y="478"/>
                  </a:lnTo>
                  <a:lnTo>
                    <a:pt x="41" y="466"/>
                  </a:lnTo>
                  <a:lnTo>
                    <a:pt x="42" y="451"/>
                  </a:lnTo>
                  <a:lnTo>
                    <a:pt x="42" y="438"/>
                  </a:lnTo>
                  <a:lnTo>
                    <a:pt x="43" y="423"/>
                  </a:lnTo>
                  <a:lnTo>
                    <a:pt x="43" y="408"/>
                  </a:lnTo>
                  <a:lnTo>
                    <a:pt x="45" y="377"/>
                  </a:lnTo>
                  <a:lnTo>
                    <a:pt x="47" y="346"/>
                  </a:lnTo>
                  <a:lnTo>
                    <a:pt x="48" y="313"/>
                  </a:lnTo>
                  <a:lnTo>
                    <a:pt x="48" y="304"/>
                  </a:lnTo>
                  <a:lnTo>
                    <a:pt x="48" y="295"/>
                  </a:lnTo>
                  <a:lnTo>
                    <a:pt x="49" y="276"/>
                  </a:lnTo>
                  <a:lnTo>
                    <a:pt x="49" y="256"/>
                  </a:lnTo>
                  <a:lnTo>
                    <a:pt x="50" y="236"/>
                  </a:lnTo>
                  <a:lnTo>
                    <a:pt x="50" y="213"/>
                  </a:lnTo>
                  <a:lnTo>
                    <a:pt x="50" y="191"/>
                  </a:lnTo>
                  <a:lnTo>
                    <a:pt x="52" y="146"/>
                  </a:lnTo>
                  <a:lnTo>
                    <a:pt x="53" y="125"/>
                  </a:lnTo>
                  <a:lnTo>
                    <a:pt x="53" y="103"/>
                  </a:lnTo>
                  <a:lnTo>
                    <a:pt x="53" y="82"/>
                  </a:lnTo>
                  <a:lnTo>
                    <a:pt x="53" y="63"/>
                  </a:lnTo>
                  <a:lnTo>
                    <a:pt x="54" y="45"/>
                  </a:lnTo>
                  <a:lnTo>
                    <a:pt x="54" y="36"/>
                  </a:lnTo>
                  <a:lnTo>
                    <a:pt x="54" y="29"/>
                  </a:lnTo>
                  <a:lnTo>
                    <a:pt x="54" y="20"/>
                  </a:lnTo>
                  <a:lnTo>
                    <a:pt x="54" y="12"/>
                  </a:lnTo>
                  <a:lnTo>
                    <a:pt x="54" y="6"/>
                  </a:lnTo>
                  <a:lnTo>
                    <a:pt x="55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97" name="Freeform 65"/>
            <p:cNvSpPr>
              <a:spLocks/>
            </p:cNvSpPr>
            <p:nvPr/>
          </p:nvSpPr>
          <p:spPr bwMode="auto">
            <a:xfrm>
              <a:off x="3150" y="965"/>
              <a:ext cx="56" cy="335"/>
            </a:xfrm>
            <a:custGeom>
              <a:avLst/>
              <a:gdLst>
                <a:gd name="T0" fmla="*/ 0 w 56"/>
                <a:gd name="T1" fmla="*/ 5 h 670"/>
                <a:gd name="T2" fmla="*/ 0 w 56"/>
                <a:gd name="T3" fmla="*/ 18 h 670"/>
                <a:gd name="T4" fmla="*/ 0 w 56"/>
                <a:gd name="T5" fmla="*/ 35 h 670"/>
                <a:gd name="T6" fmla="*/ 2 w 56"/>
                <a:gd name="T7" fmla="*/ 52 h 670"/>
                <a:gd name="T8" fmla="*/ 2 w 56"/>
                <a:gd name="T9" fmla="*/ 72 h 670"/>
                <a:gd name="T10" fmla="*/ 3 w 56"/>
                <a:gd name="T11" fmla="*/ 105 h 670"/>
                <a:gd name="T12" fmla="*/ 4 w 56"/>
                <a:gd name="T13" fmla="*/ 152 h 670"/>
                <a:gd name="T14" fmla="*/ 5 w 56"/>
                <a:gd name="T15" fmla="*/ 201 h 670"/>
                <a:gd name="T16" fmla="*/ 7 w 56"/>
                <a:gd name="T17" fmla="*/ 249 h 670"/>
                <a:gd name="T18" fmla="*/ 8 w 56"/>
                <a:gd name="T19" fmla="*/ 295 h 670"/>
                <a:gd name="T20" fmla="*/ 9 w 56"/>
                <a:gd name="T21" fmla="*/ 314 h 670"/>
                <a:gd name="T22" fmla="*/ 9 w 56"/>
                <a:gd name="T23" fmla="*/ 334 h 670"/>
                <a:gd name="T24" fmla="*/ 11 w 56"/>
                <a:gd name="T25" fmla="*/ 404 h 670"/>
                <a:gd name="T26" fmla="*/ 13 w 56"/>
                <a:gd name="T27" fmla="*/ 437 h 670"/>
                <a:gd name="T28" fmla="*/ 14 w 56"/>
                <a:gd name="T29" fmla="*/ 469 h 670"/>
                <a:gd name="T30" fmla="*/ 15 w 56"/>
                <a:gd name="T31" fmla="*/ 499 h 670"/>
                <a:gd name="T32" fmla="*/ 16 w 56"/>
                <a:gd name="T33" fmla="*/ 526 h 670"/>
                <a:gd name="T34" fmla="*/ 18 w 56"/>
                <a:gd name="T35" fmla="*/ 551 h 670"/>
                <a:gd name="T36" fmla="*/ 19 w 56"/>
                <a:gd name="T37" fmla="*/ 573 h 670"/>
                <a:gd name="T38" fmla="*/ 19 w 56"/>
                <a:gd name="T39" fmla="*/ 594 h 670"/>
                <a:gd name="T40" fmla="*/ 20 w 56"/>
                <a:gd name="T41" fmla="*/ 612 h 670"/>
                <a:gd name="T42" fmla="*/ 21 w 56"/>
                <a:gd name="T43" fmla="*/ 629 h 670"/>
                <a:gd name="T44" fmla="*/ 23 w 56"/>
                <a:gd name="T45" fmla="*/ 643 h 670"/>
                <a:gd name="T46" fmla="*/ 24 w 56"/>
                <a:gd name="T47" fmla="*/ 654 h 670"/>
                <a:gd name="T48" fmla="*/ 25 w 56"/>
                <a:gd name="T49" fmla="*/ 663 h 670"/>
                <a:gd name="T50" fmla="*/ 26 w 56"/>
                <a:gd name="T51" fmla="*/ 667 h 670"/>
                <a:gd name="T52" fmla="*/ 27 w 56"/>
                <a:gd name="T53" fmla="*/ 670 h 670"/>
                <a:gd name="T54" fmla="*/ 29 w 56"/>
                <a:gd name="T55" fmla="*/ 667 h 670"/>
                <a:gd name="T56" fmla="*/ 30 w 56"/>
                <a:gd name="T57" fmla="*/ 663 h 670"/>
                <a:gd name="T58" fmla="*/ 31 w 56"/>
                <a:gd name="T59" fmla="*/ 654 h 670"/>
                <a:gd name="T60" fmla="*/ 32 w 56"/>
                <a:gd name="T61" fmla="*/ 643 h 670"/>
                <a:gd name="T62" fmla="*/ 34 w 56"/>
                <a:gd name="T63" fmla="*/ 629 h 670"/>
                <a:gd name="T64" fmla="*/ 35 w 56"/>
                <a:gd name="T65" fmla="*/ 612 h 670"/>
                <a:gd name="T66" fmla="*/ 36 w 56"/>
                <a:gd name="T67" fmla="*/ 594 h 670"/>
                <a:gd name="T68" fmla="*/ 37 w 56"/>
                <a:gd name="T69" fmla="*/ 573 h 670"/>
                <a:gd name="T70" fmla="*/ 38 w 56"/>
                <a:gd name="T71" fmla="*/ 551 h 670"/>
                <a:gd name="T72" fmla="*/ 40 w 56"/>
                <a:gd name="T73" fmla="*/ 526 h 670"/>
                <a:gd name="T74" fmla="*/ 41 w 56"/>
                <a:gd name="T75" fmla="*/ 499 h 670"/>
                <a:gd name="T76" fmla="*/ 42 w 56"/>
                <a:gd name="T77" fmla="*/ 469 h 670"/>
                <a:gd name="T78" fmla="*/ 43 w 56"/>
                <a:gd name="T79" fmla="*/ 438 h 670"/>
                <a:gd name="T80" fmla="*/ 46 w 56"/>
                <a:gd name="T81" fmla="*/ 404 h 670"/>
                <a:gd name="T82" fmla="*/ 48 w 56"/>
                <a:gd name="T83" fmla="*/ 335 h 670"/>
                <a:gd name="T84" fmla="*/ 48 w 56"/>
                <a:gd name="T85" fmla="*/ 316 h 670"/>
                <a:gd name="T86" fmla="*/ 49 w 56"/>
                <a:gd name="T87" fmla="*/ 295 h 670"/>
                <a:gd name="T88" fmla="*/ 51 w 56"/>
                <a:gd name="T89" fmla="*/ 252 h 670"/>
                <a:gd name="T90" fmla="*/ 51 w 56"/>
                <a:gd name="T91" fmla="*/ 204 h 670"/>
                <a:gd name="T92" fmla="*/ 53 w 56"/>
                <a:gd name="T93" fmla="*/ 134 h 670"/>
                <a:gd name="T94" fmla="*/ 53 w 56"/>
                <a:gd name="T95" fmla="*/ 88 h 670"/>
                <a:gd name="T96" fmla="*/ 54 w 56"/>
                <a:gd name="T97" fmla="*/ 58 h 670"/>
                <a:gd name="T98" fmla="*/ 54 w 56"/>
                <a:gd name="T99" fmla="*/ 39 h 670"/>
                <a:gd name="T100" fmla="*/ 54 w 56"/>
                <a:gd name="T101" fmla="*/ 21 h 670"/>
                <a:gd name="T102" fmla="*/ 54 w 56"/>
                <a:gd name="T103" fmla="*/ 6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6" h="670">
                  <a:moveTo>
                    <a:pt x="0" y="0"/>
                  </a:moveTo>
                  <a:lnTo>
                    <a:pt x="0" y="5"/>
                  </a:lnTo>
                  <a:lnTo>
                    <a:pt x="0" y="11"/>
                  </a:lnTo>
                  <a:lnTo>
                    <a:pt x="0" y="18"/>
                  </a:lnTo>
                  <a:lnTo>
                    <a:pt x="0" y="26"/>
                  </a:lnTo>
                  <a:lnTo>
                    <a:pt x="0" y="35"/>
                  </a:lnTo>
                  <a:lnTo>
                    <a:pt x="0" y="43"/>
                  </a:lnTo>
                  <a:lnTo>
                    <a:pt x="2" y="52"/>
                  </a:lnTo>
                  <a:lnTo>
                    <a:pt x="2" y="61"/>
                  </a:lnTo>
                  <a:lnTo>
                    <a:pt x="2" y="72"/>
                  </a:lnTo>
                  <a:lnTo>
                    <a:pt x="2" y="82"/>
                  </a:lnTo>
                  <a:lnTo>
                    <a:pt x="3" y="105"/>
                  </a:lnTo>
                  <a:lnTo>
                    <a:pt x="3" y="128"/>
                  </a:lnTo>
                  <a:lnTo>
                    <a:pt x="4" y="152"/>
                  </a:lnTo>
                  <a:lnTo>
                    <a:pt x="4" y="176"/>
                  </a:lnTo>
                  <a:lnTo>
                    <a:pt x="5" y="201"/>
                  </a:lnTo>
                  <a:lnTo>
                    <a:pt x="5" y="225"/>
                  </a:lnTo>
                  <a:lnTo>
                    <a:pt x="7" y="249"/>
                  </a:lnTo>
                  <a:lnTo>
                    <a:pt x="8" y="273"/>
                  </a:lnTo>
                  <a:lnTo>
                    <a:pt x="8" y="295"/>
                  </a:lnTo>
                  <a:lnTo>
                    <a:pt x="8" y="305"/>
                  </a:lnTo>
                  <a:lnTo>
                    <a:pt x="9" y="314"/>
                  </a:lnTo>
                  <a:lnTo>
                    <a:pt x="9" y="325"/>
                  </a:lnTo>
                  <a:lnTo>
                    <a:pt x="9" y="334"/>
                  </a:lnTo>
                  <a:lnTo>
                    <a:pt x="10" y="370"/>
                  </a:lnTo>
                  <a:lnTo>
                    <a:pt x="11" y="404"/>
                  </a:lnTo>
                  <a:lnTo>
                    <a:pt x="11" y="420"/>
                  </a:lnTo>
                  <a:lnTo>
                    <a:pt x="13" y="437"/>
                  </a:lnTo>
                  <a:lnTo>
                    <a:pt x="13" y="453"/>
                  </a:lnTo>
                  <a:lnTo>
                    <a:pt x="14" y="469"/>
                  </a:lnTo>
                  <a:lnTo>
                    <a:pt x="14" y="484"/>
                  </a:lnTo>
                  <a:lnTo>
                    <a:pt x="15" y="499"/>
                  </a:lnTo>
                  <a:lnTo>
                    <a:pt x="15" y="512"/>
                  </a:lnTo>
                  <a:lnTo>
                    <a:pt x="16" y="526"/>
                  </a:lnTo>
                  <a:lnTo>
                    <a:pt x="16" y="539"/>
                  </a:lnTo>
                  <a:lnTo>
                    <a:pt x="18" y="551"/>
                  </a:lnTo>
                  <a:lnTo>
                    <a:pt x="18" y="563"/>
                  </a:lnTo>
                  <a:lnTo>
                    <a:pt x="19" y="573"/>
                  </a:lnTo>
                  <a:lnTo>
                    <a:pt x="19" y="584"/>
                  </a:lnTo>
                  <a:lnTo>
                    <a:pt x="19" y="594"/>
                  </a:lnTo>
                  <a:lnTo>
                    <a:pt x="20" y="603"/>
                  </a:lnTo>
                  <a:lnTo>
                    <a:pt x="20" y="612"/>
                  </a:lnTo>
                  <a:lnTo>
                    <a:pt x="21" y="621"/>
                  </a:lnTo>
                  <a:lnTo>
                    <a:pt x="21" y="629"/>
                  </a:lnTo>
                  <a:lnTo>
                    <a:pt x="23" y="636"/>
                  </a:lnTo>
                  <a:lnTo>
                    <a:pt x="23" y="643"/>
                  </a:lnTo>
                  <a:lnTo>
                    <a:pt x="24" y="649"/>
                  </a:lnTo>
                  <a:lnTo>
                    <a:pt x="24" y="654"/>
                  </a:lnTo>
                  <a:lnTo>
                    <a:pt x="25" y="658"/>
                  </a:lnTo>
                  <a:lnTo>
                    <a:pt x="25" y="663"/>
                  </a:lnTo>
                  <a:lnTo>
                    <a:pt x="26" y="666"/>
                  </a:lnTo>
                  <a:lnTo>
                    <a:pt x="26" y="667"/>
                  </a:lnTo>
                  <a:lnTo>
                    <a:pt x="27" y="669"/>
                  </a:lnTo>
                  <a:lnTo>
                    <a:pt x="27" y="670"/>
                  </a:lnTo>
                  <a:lnTo>
                    <a:pt x="27" y="669"/>
                  </a:lnTo>
                  <a:lnTo>
                    <a:pt x="29" y="667"/>
                  </a:lnTo>
                  <a:lnTo>
                    <a:pt x="29" y="666"/>
                  </a:lnTo>
                  <a:lnTo>
                    <a:pt x="30" y="663"/>
                  </a:lnTo>
                  <a:lnTo>
                    <a:pt x="30" y="658"/>
                  </a:lnTo>
                  <a:lnTo>
                    <a:pt x="31" y="654"/>
                  </a:lnTo>
                  <a:lnTo>
                    <a:pt x="31" y="649"/>
                  </a:lnTo>
                  <a:lnTo>
                    <a:pt x="32" y="643"/>
                  </a:lnTo>
                  <a:lnTo>
                    <a:pt x="32" y="636"/>
                  </a:lnTo>
                  <a:lnTo>
                    <a:pt x="34" y="629"/>
                  </a:lnTo>
                  <a:lnTo>
                    <a:pt x="34" y="621"/>
                  </a:lnTo>
                  <a:lnTo>
                    <a:pt x="35" y="612"/>
                  </a:lnTo>
                  <a:lnTo>
                    <a:pt x="35" y="603"/>
                  </a:lnTo>
                  <a:lnTo>
                    <a:pt x="36" y="594"/>
                  </a:lnTo>
                  <a:lnTo>
                    <a:pt x="36" y="584"/>
                  </a:lnTo>
                  <a:lnTo>
                    <a:pt x="37" y="573"/>
                  </a:lnTo>
                  <a:lnTo>
                    <a:pt x="37" y="563"/>
                  </a:lnTo>
                  <a:lnTo>
                    <a:pt x="38" y="551"/>
                  </a:lnTo>
                  <a:lnTo>
                    <a:pt x="38" y="539"/>
                  </a:lnTo>
                  <a:lnTo>
                    <a:pt x="40" y="526"/>
                  </a:lnTo>
                  <a:lnTo>
                    <a:pt x="40" y="512"/>
                  </a:lnTo>
                  <a:lnTo>
                    <a:pt x="41" y="499"/>
                  </a:lnTo>
                  <a:lnTo>
                    <a:pt x="42" y="484"/>
                  </a:lnTo>
                  <a:lnTo>
                    <a:pt x="42" y="469"/>
                  </a:lnTo>
                  <a:lnTo>
                    <a:pt x="43" y="454"/>
                  </a:lnTo>
                  <a:lnTo>
                    <a:pt x="43" y="438"/>
                  </a:lnTo>
                  <a:lnTo>
                    <a:pt x="45" y="422"/>
                  </a:lnTo>
                  <a:lnTo>
                    <a:pt x="46" y="404"/>
                  </a:lnTo>
                  <a:lnTo>
                    <a:pt x="47" y="370"/>
                  </a:lnTo>
                  <a:lnTo>
                    <a:pt x="48" y="335"/>
                  </a:lnTo>
                  <a:lnTo>
                    <a:pt x="48" y="325"/>
                  </a:lnTo>
                  <a:lnTo>
                    <a:pt x="48" y="316"/>
                  </a:lnTo>
                  <a:lnTo>
                    <a:pt x="49" y="305"/>
                  </a:lnTo>
                  <a:lnTo>
                    <a:pt x="49" y="295"/>
                  </a:lnTo>
                  <a:lnTo>
                    <a:pt x="49" y="274"/>
                  </a:lnTo>
                  <a:lnTo>
                    <a:pt x="51" y="252"/>
                  </a:lnTo>
                  <a:lnTo>
                    <a:pt x="51" y="228"/>
                  </a:lnTo>
                  <a:lnTo>
                    <a:pt x="51" y="204"/>
                  </a:lnTo>
                  <a:lnTo>
                    <a:pt x="52" y="157"/>
                  </a:lnTo>
                  <a:lnTo>
                    <a:pt x="53" y="134"/>
                  </a:lnTo>
                  <a:lnTo>
                    <a:pt x="53" y="110"/>
                  </a:lnTo>
                  <a:lnTo>
                    <a:pt x="53" y="88"/>
                  </a:lnTo>
                  <a:lnTo>
                    <a:pt x="53" y="67"/>
                  </a:lnTo>
                  <a:lnTo>
                    <a:pt x="54" y="58"/>
                  </a:lnTo>
                  <a:lnTo>
                    <a:pt x="54" y="48"/>
                  </a:lnTo>
                  <a:lnTo>
                    <a:pt x="54" y="39"/>
                  </a:lnTo>
                  <a:lnTo>
                    <a:pt x="54" y="30"/>
                  </a:lnTo>
                  <a:lnTo>
                    <a:pt x="54" y="21"/>
                  </a:lnTo>
                  <a:lnTo>
                    <a:pt x="54" y="14"/>
                  </a:lnTo>
                  <a:lnTo>
                    <a:pt x="54" y="6"/>
                  </a:lnTo>
                  <a:lnTo>
                    <a:pt x="56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98" name="Freeform 66"/>
            <p:cNvSpPr>
              <a:spLocks/>
            </p:cNvSpPr>
            <p:nvPr/>
          </p:nvSpPr>
          <p:spPr bwMode="auto">
            <a:xfrm>
              <a:off x="3261" y="965"/>
              <a:ext cx="55" cy="290"/>
            </a:xfrm>
            <a:custGeom>
              <a:avLst/>
              <a:gdLst>
                <a:gd name="T0" fmla="*/ 0 w 55"/>
                <a:gd name="T1" fmla="*/ 5 h 581"/>
                <a:gd name="T2" fmla="*/ 0 w 55"/>
                <a:gd name="T3" fmla="*/ 15 h 581"/>
                <a:gd name="T4" fmla="*/ 0 w 55"/>
                <a:gd name="T5" fmla="*/ 30 h 581"/>
                <a:gd name="T6" fmla="*/ 1 w 55"/>
                <a:gd name="T7" fmla="*/ 45 h 581"/>
                <a:gd name="T8" fmla="*/ 1 w 55"/>
                <a:gd name="T9" fmla="*/ 63 h 581"/>
                <a:gd name="T10" fmla="*/ 2 w 55"/>
                <a:gd name="T11" fmla="*/ 91 h 581"/>
                <a:gd name="T12" fmla="*/ 3 w 55"/>
                <a:gd name="T13" fmla="*/ 131 h 581"/>
                <a:gd name="T14" fmla="*/ 5 w 55"/>
                <a:gd name="T15" fmla="*/ 174 h 581"/>
                <a:gd name="T16" fmla="*/ 6 w 55"/>
                <a:gd name="T17" fmla="*/ 216 h 581"/>
                <a:gd name="T18" fmla="*/ 7 w 55"/>
                <a:gd name="T19" fmla="*/ 255 h 581"/>
                <a:gd name="T20" fmla="*/ 8 w 55"/>
                <a:gd name="T21" fmla="*/ 273 h 581"/>
                <a:gd name="T22" fmla="*/ 8 w 55"/>
                <a:gd name="T23" fmla="*/ 289 h 581"/>
                <a:gd name="T24" fmla="*/ 11 w 55"/>
                <a:gd name="T25" fmla="*/ 350 h 581"/>
                <a:gd name="T26" fmla="*/ 12 w 55"/>
                <a:gd name="T27" fmla="*/ 393 h 581"/>
                <a:gd name="T28" fmla="*/ 13 w 55"/>
                <a:gd name="T29" fmla="*/ 420 h 581"/>
                <a:gd name="T30" fmla="*/ 14 w 55"/>
                <a:gd name="T31" fmla="*/ 444 h 581"/>
                <a:gd name="T32" fmla="*/ 16 w 55"/>
                <a:gd name="T33" fmla="*/ 468 h 581"/>
                <a:gd name="T34" fmla="*/ 17 w 55"/>
                <a:gd name="T35" fmla="*/ 489 h 581"/>
                <a:gd name="T36" fmla="*/ 18 w 55"/>
                <a:gd name="T37" fmla="*/ 506 h 581"/>
                <a:gd name="T38" fmla="*/ 19 w 55"/>
                <a:gd name="T39" fmla="*/ 523 h 581"/>
                <a:gd name="T40" fmla="*/ 21 w 55"/>
                <a:gd name="T41" fmla="*/ 538 h 581"/>
                <a:gd name="T42" fmla="*/ 22 w 55"/>
                <a:gd name="T43" fmla="*/ 551 h 581"/>
                <a:gd name="T44" fmla="*/ 23 w 55"/>
                <a:gd name="T45" fmla="*/ 563 h 581"/>
                <a:gd name="T46" fmla="*/ 24 w 55"/>
                <a:gd name="T47" fmla="*/ 570 h 581"/>
                <a:gd name="T48" fmla="*/ 26 w 55"/>
                <a:gd name="T49" fmla="*/ 576 h 581"/>
                <a:gd name="T50" fmla="*/ 27 w 55"/>
                <a:gd name="T51" fmla="*/ 579 h 581"/>
                <a:gd name="T52" fmla="*/ 27 w 55"/>
                <a:gd name="T53" fmla="*/ 579 h 581"/>
                <a:gd name="T54" fmla="*/ 28 w 55"/>
                <a:gd name="T55" fmla="*/ 576 h 581"/>
                <a:gd name="T56" fmla="*/ 29 w 55"/>
                <a:gd name="T57" fmla="*/ 570 h 581"/>
                <a:gd name="T58" fmla="*/ 30 w 55"/>
                <a:gd name="T59" fmla="*/ 562 h 581"/>
                <a:gd name="T60" fmla="*/ 32 w 55"/>
                <a:gd name="T61" fmla="*/ 551 h 581"/>
                <a:gd name="T62" fmla="*/ 33 w 55"/>
                <a:gd name="T63" fmla="*/ 538 h 581"/>
                <a:gd name="T64" fmla="*/ 34 w 55"/>
                <a:gd name="T65" fmla="*/ 523 h 581"/>
                <a:gd name="T66" fmla="*/ 35 w 55"/>
                <a:gd name="T67" fmla="*/ 506 h 581"/>
                <a:gd name="T68" fmla="*/ 37 w 55"/>
                <a:gd name="T69" fmla="*/ 489 h 581"/>
                <a:gd name="T70" fmla="*/ 38 w 55"/>
                <a:gd name="T71" fmla="*/ 468 h 581"/>
                <a:gd name="T72" fmla="*/ 39 w 55"/>
                <a:gd name="T73" fmla="*/ 444 h 581"/>
                <a:gd name="T74" fmla="*/ 41 w 55"/>
                <a:gd name="T75" fmla="*/ 420 h 581"/>
                <a:gd name="T76" fmla="*/ 43 w 55"/>
                <a:gd name="T77" fmla="*/ 393 h 581"/>
                <a:gd name="T78" fmla="*/ 45 w 55"/>
                <a:gd name="T79" fmla="*/ 350 h 581"/>
                <a:gd name="T80" fmla="*/ 48 w 55"/>
                <a:gd name="T81" fmla="*/ 291 h 581"/>
                <a:gd name="T82" fmla="*/ 48 w 55"/>
                <a:gd name="T83" fmla="*/ 274 h 581"/>
                <a:gd name="T84" fmla="*/ 49 w 55"/>
                <a:gd name="T85" fmla="*/ 237 h 581"/>
                <a:gd name="T86" fmla="*/ 50 w 55"/>
                <a:gd name="T87" fmla="*/ 198 h 581"/>
                <a:gd name="T88" fmla="*/ 51 w 55"/>
                <a:gd name="T89" fmla="*/ 136 h 581"/>
                <a:gd name="T90" fmla="*/ 52 w 55"/>
                <a:gd name="T91" fmla="*/ 96 h 581"/>
                <a:gd name="T92" fmla="*/ 52 w 55"/>
                <a:gd name="T93" fmla="*/ 58 h 581"/>
                <a:gd name="T94" fmla="*/ 54 w 55"/>
                <a:gd name="T95" fmla="*/ 33 h 581"/>
                <a:gd name="T96" fmla="*/ 54 w 55"/>
                <a:gd name="T97" fmla="*/ 18 h 581"/>
                <a:gd name="T98" fmla="*/ 54 w 55"/>
                <a:gd name="T99" fmla="*/ 5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5" h="581">
                  <a:moveTo>
                    <a:pt x="0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23"/>
                  </a:lnTo>
                  <a:lnTo>
                    <a:pt x="0" y="30"/>
                  </a:lnTo>
                  <a:lnTo>
                    <a:pt x="0" y="38"/>
                  </a:lnTo>
                  <a:lnTo>
                    <a:pt x="1" y="45"/>
                  </a:lnTo>
                  <a:lnTo>
                    <a:pt x="1" y="54"/>
                  </a:lnTo>
                  <a:lnTo>
                    <a:pt x="1" y="63"/>
                  </a:lnTo>
                  <a:lnTo>
                    <a:pt x="1" y="72"/>
                  </a:lnTo>
                  <a:lnTo>
                    <a:pt x="2" y="91"/>
                  </a:lnTo>
                  <a:lnTo>
                    <a:pt x="2" y="110"/>
                  </a:lnTo>
                  <a:lnTo>
                    <a:pt x="3" y="131"/>
                  </a:lnTo>
                  <a:lnTo>
                    <a:pt x="3" y="152"/>
                  </a:lnTo>
                  <a:lnTo>
                    <a:pt x="5" y="174"/>
                  </a:lnTo>
                  <a:lnTo>
                    <a:pt x="5" y="195"/>
                  </a:lnTo>
                  <a:lnTo>
                    <a:pt x="6" y="216"/>
                  </a:lnTo>
                  <a:lnTo>
                    <a:pt x="7" y="236"/>
                  </a:lnTo>
                  <a:lnTo>
                    <a:pt x="7" y="255"/>
                  </a:lnTo>
                  <a:lnTo>
                    <a:pt x="7" y="264"/>
                  </a:lnTo>
                  <a:lnTo>
                    <a:pt x="8" y="273"/>
                  </a:lnTo>
                  <a:lnTo>
                    <a:pt x="8" y="282"/>
                  </a:lnTo>
                  <a:lnTo>
                    <a:pt x="8" y="289"/>
                  </a:lnTo>
                  <a:lnTo>
                    <a:pt x="10" y="320"/>
                  </a:lnTo>
                  <a:lnTo>
                    <a:pt x="11" y="350"/>
                  </a:lnTo>
                  <a:lnTo>
                    <a:pt x="12" y="378"/>
                  </a:lnTo>
                  <a:lnTo>
                    <a:pt x="12" y="393"/>
                  </a:lnTo>
                  <a:lnTo>
                    <a:pt x="13" y="407"/>
                  </a:lnTo>
                  <a:lnTo>
                    <a:pt x="13" y="420"/>
                  </a:lnTo>
                  <a:lnTo>
                    <a:pt x="14" y="432"/>
                  </a:lnTo>
                  <a:lnTo>
                    <a:pt x="14" y="444"/>
                  </a:lnTo>
                  <a:lnTo>
                    <a:pt x="16" y="456"/>
                  </a:lnTo>
                  <a:lnTo>
                    <a:pt x="16" y="468"/>
                  </a:lnTo>
                  <a:lnTo>
                    <a:pt x="17" y="478"/>
                  </a:lnTo>
                  <a:lnTo>
                    <a:pt x="17" y="489"/>
                  </a:lnTo>
                  <a:lnTo>
                    <a:pt x="18" y="498"/>
                  </a:lnTo>
                  <a:lnTo>
                    <a:pt x="18" y="506"/>
                  </a:lnTo>
                  <a:lnTo>
                    <a:pt x="18" y="515"/>
                  </a:lnTo>
                  <a:lnTo>
                    <a:pt x="19" y="523"/>
                  </a:lnTo>
                  <a:lnTo>
                    <a:pt x="19" y="530"/>
                  </a:lnTo>
                  <a:lnTo>
                    <a:pt x="21" y="538"/>
                  </a:lnTo>
                  <a:lnTo>
                    <a:pt x="21" y="545"/>
                  </a:lnTo>
                  <a:lnTo>
                    <a:pt x="22" y="551"/>
                  </a:lnTo>
                  <a:lnTo>
                    <a:pt x="22" y="557"/>
                  </a:lnTo>
                  <a:lnTo>
                    <a:pt x="23" y="563"/>
                  </a:lnTo>
                  <a:lnTo>
                    <a:pt x="23" y="568"/>
                  </a:lnTo>
                  <a:lnTo>
                    <a:pt x="24" y="570"/>
                  </a:lnTo>
                  <a:lnTo>
                    <a:pt x="24" y="573"/>
                  </a:lnTo>
                  <a:lnTo>
                    <a:pt x="26" y="576"/>
                  </a:lnTo>
                  <a:lnTo>
                    <a:pt x="26" y="578"/>
                  </a:lnTo>
                  <a:lnTo>
                    <a:pt x="27" y="579"/>
                  </a:lnTo>
                  <a:lnTo>
                    <a:pt x="27" y="581"/>
                  </a:lnTo>
                  <a:lnTo>
                    <a:pt x="27" y="579"/>
                  </a:lnTo>
                  <a:lnTo>
                    <a:pt x="28" y="578"/>
                  </a:lnTo>
                  <a:lnTo>
                    <a:pt x="28" y="576"/>
                  </a:lnTo>
                  <a:lnTo>
                    <a:pt x="29" y="573"/>
                  </a:lnTo>
                  <a:lnTo>
                    <a:pt x="29" y="570"/>
                  </a:lnTo>
                  <a:lnTo>
                    <a:pt x="30" y="568"/>
                  </a:lnTo>
                  <a:lnTo>
                    <a:pt x="30" y="562"/>
                  </a:lnTo>
                  <a:lnTo>
                    <a:pt x="32" y="557"/>
                  </a:lnTo>
                  <a:lnTo>
                    <a:pt x="32" y="551"/>
                  </a:lnTo>
                  <a:lnTo>
                    <a:pt x="33" y="545"/>
                  </a:lnTo>
                  <a:lnTo>
                    <a:pt x="33" y="538"/>
                  </a:lnTo>
                  <a:lnTo>
                    <a:pt x="34" y="530"/>
                  </a:lnTo>
                  <a:lnTo>
                    <a:pt x="34" y="523"/>
                  </a:lnTo>
                  <a:lnTo>
                    <a:pt x="35" y="515"/>
                  </a:lnTo>
                  <a:lnTo>
                    <a:pt x="35" y="506"/>
                  </a:lnTo>
                  <a:lnTo>
                    <a:pt x="37" y="498"/>
                  </a:lnTo>
                  <a:lnTo>
                    <a:pt x="37" y="489"/>
                  </a:lnTo>
                  <a:lnTo>
                    <a:pt x="38" y="478"/>
                  </a:lnTo>
                  <a:lnTo>
                    <a:pt x="38" y="468"/>
                  </a:lnTo>
                  <a:lnTo>
                    <a:pt x="39" y="456"/>
                  </a:lnTo>
                  <a:lnTo>
                    <a:pt x="39" y="444"/>
                  </a:lnTo>
                  <a:lnTo>
                    <a:pt x="40" y="432"/>
                  </a:lnTo>
                  <a:lnTo>
                    <a:pt x="41" y="420"/>
                  </a:lnTo>
                  <a:lnTo>
                    <a:pt x="41" y="407"/>
                  </a:lnTo>
                  <a:lnTo>
                    <a:pt x="43" y="393"/>
                  </a:lnTo>
                  <a:lnTo>
                    <a:pt x="43" y="380"/>
                  </a:lnTo>
                  <a:lnTo>
                    <a:pt x="45" y="350"/>
                  </a:lnTo>
                  <a:lnTo>
                    <a:pt x="46" y="320"/>
                  </a:lnTo>
                  <a:lnTo>
                    <a:pt x="48" y="291"/>
                  </a:lnTo>
                  <a:lnTo>
                    <a:pt x="48" y="282"/>
                  </a:lnTo>
                  <a:lnTo>
                    <a:pt x="48" y="274"/>
                  </a:lnTo>
                  <a:lnTo>
                    <a:pt x="49" y="256"/>
                  </a:lnTo>
                  <a:lnTo>
                    <a:pt x="49" y="237"/>
                  </a:lnTo>
                  <a:lnTo>
                    <a:pt x="50" y="218"/>
                  </a:lnTo>
                  <a:lnTo>
                    <a:pt x="50" y="198"/>
                  </a:lnTo>
                  <a:lnTo>
                    <a:pt x="50" y="177"/>
                  </a:lnTo>
                  <a:lnTo>
                    <a:pt x="51" y="136"/>
                  </a:lnTo>
                  <a:lnTo>
                    <a:pt x="52" y="116"/>
                  </a:lnTo>
                  <a:lnTo>
                    <a:pt x="52" y="96"/>
                  </a:lnTo>
                  <a:lnTo>
                    <a:pt x="52" y="78"/>
                  </a:lnTo>
                  <a:lnTo>
                    <a:pt x="52" y="58"/>
                  </a:lnTo>
                  <a:lnTo>
                    <a:pt x="54" y="42"/>
                  </a:lnTo>
                  <a:lnTo>
                    <a:pt x="54" y="33"/>
                  </a:lnTo>
                  <a:lnTo>
                    <a:pt x="54" y="26"/>
                  </a:lnTo>
                  <a:lnTo>
                    <a:pt x="54" y="18"/>
                  </a:lnTo>
                  <a:lnTo>
                    <a:pt x="54" y="12"/>
                  </a:lnTo>
                  <a:lnTo>
                    <a:pt x="54" y="5"/>
                  </a:lnTo>
                  <a:lnTo>
                    <a:pt x="55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699" name="Freeform 67"/>
            <p:cNvSpPr>
              <a:spLocks/>
            </p:cNvSpPr>
            <p:nvPr/>
          </p:nvSpPr>
          <p:spPr bwMode="auto">
            <a:xfrm>
              <a:off x="2746" y="674"/>
              <a:ext cx="37" cy="291"/>
            </a:xfrm>
            <a:custGeom>
              <a:avLst/>
              <a:gdLst>
                <a:gd name="T0" fmla="*/ 0 w 37"/>
                <a:gd name="T1" fmla="*/ 574 h 580"/>
                <a:gd name="T2" fmla="*/ 0 w 37"/>
                <a:gd name="T3" fmla="*/ 564 h 580"/>
                <a:gd name="T4" fmla="*/ 0 w 37"/>
                <a:gd name="T5" fmla="*/ 549 h 580"/>
                <a:gd name="T6" fmla="*/ 0 w 37"/>
                <a:gd name="T7" fmla="*/ 534 h 580"/>
                <a:gd name="T8" fmla="*/ 1 w 37"/>
                <a:gd name="T9" fmla="*/ 516 h 580"/>
                <a:gd name="T10" fmla="*/ 1 w 37"/>
                <a:gd name="T11" fmla="*/ 488 h 580"/>
                <a:gd name="T12" fmla="*/ 2 w 37"/>
                <a:gd name="T13" fmla="*/ 448 h 580"/>
                <a:gd name="T14" fmla="*/ 2 w 37"/>
                <a:gd name="T15" fmla="*/ 405 h 580"/>
                <a:gd name="T16" fmla="*/ 4 w 37"/>
                <a:gd name="T17" fmla="*/ 363 h 580"/>
                <a:gd name="T18" fmla="*/ 5 w 37"/>
                <a:gd name="T19" fmla="*/ 324 h 580"/>
                <a:gd name="T20" fmla="*/ 5 w 37"/>
                <a:gd name="T21" fmla="*/ 306 h 580"/>
                <a:gd name="T22" fmla="*/ 6 w 37"/>
                <a:gd name="T23" fmla="*/ 290 h 580"/>
                <a:gd name="T24" fmla="*/ 7 w 37"/>
                <a:gd name="T25" fmla="*/ 229 h 580"/>
                <a:gd name="T26" fmla="*/ 8 w 37"/>
                <a:gd name="T27" fmla="*/ 186 h 580"/>
                <a:gd name="T28" fmla="*/ 8 w 37"/>
                <a:gd name="T29" fmla="*/ 160 h 580"/>
                <a:gd name="T30" fmla="*/ 10 w 37"/>
                <a:gd name="T31" fmla="*/ 135 h 580"/>
                <a:gd name="T32" fmla="*/ 11 w 37"/>
                <a:gd name="T33" fmla="*/ 111 h 580"/>
                <a:gd name="T34" fmla="*/ 11 w 37"/>
                <a:gd name="T35" fmla="*/ 90 h 580"/>
                <a:gd name="T36" fmla="*/ 12 w 37"/>
                <a:gd name="T37" fmla="*/ 73 h 580"/>
                <a:gd name="T38" fmla="*/ 12 w 37"/>
                <a:gd name="T39" fmla="*/ 56 h 580"/>
                <a:gd name="T40" fmla="*/ 13 w 37"/>
                <a:gd name="T41" fmla="*/ 41 h 580"/>
                <a:gd name="T42" fmla="*/ 15 w 37"/>
                <a:gd name="T43" fmla="*/ 28 h 580"/>
                <a:gd name="T44" fmla="*/ 15 w 37"/>
                <a:gd name="T45" fmla="*/ 18 h 580"/>
                <a:gd name="T46" fmla="*/ 16 w 37"/>
                <a:gd name="T47" fmla="*/ 9 h 580"/>
                <a:gd name="T48" fmla="*/ 17 w 37"/>
                <a:gd name="T49" fmla="*/ 3 h 580"/>
                <a:gd name="T50" fmla="*/ 17 w 37"/>
                <a:gd name="T51" fmla="*/ 0 h 580"/>
                <a:gd name="T52" fmla="*/ 18 w 37"/>
                <a:gd name="T53" fmla="*/ 0 h 580"/>
                <a:gd name="T54" fmla="*/ 18 w 37"/>
                <a:gd name="T55" fmla="*/ 3 h 580"/>
                <a:gd name="T56" fmla="*/ 19 w 37"/>
                <a:gd name="T57" fmla="*/ 9 h 580"/>
                <a:gd name="T58" fmla="*/ 21 w 37"/>
                <a:gd name="T59" fmla="*/ 18 h 580"/>
                <a:gd name="T60" fmla="*/ 21 w 37"/>
                <a:gd name="T61" fmla="*/ 28 h 580"/>
                <a:gd name="T62" fmla="*/ 22 w 37"/>
                <a:gd name="T63" fmla="*/ 41 h 580"/>
                <a:gd name="T64" fmla="*/ 23 w 37"/>
                <a:gd name="T65" fmla="*/ 56 h 580"/>
                <a:gd name="T66" fmla="*/ 23 w 37"/>
                <a:gd name="T67" fmla="*/ 73 h 580"/>
                <a:gd name="T68" fmla="*/ 24 w 37"/>
                <a:gd name="T69" fmla="*/ 90 h 580"/>
                <a:gd name="T70" fmla="*/ 26 w 37"/>
                <a:gd name="T71" fmla="*/ 111 h 580"/>
                <a:gd name="T72" fmla="*/ 26 w 37"/>
                <a:gd name="T73" fmla="*/ 135 h 580"/>
                <a:gd name="T74" fmla="*/ 27 w 37"/>
                <a:gd name="T75" fmla="*/ 159 h 580"/>
                <a:gd name="T76" fmla="*/ 28 w 37"/>
                <a:gd name="T77" fmla="*/ 186 h 580"/>
                <a:gd name="T78" fmla="*/ 29 w 37"/>
                <a:gd name="T79" fmla="*/ 229 h 580"/>
                <a:gd name="T80" fmla="*/ 32 w 37"/>
                <a:gd name="T81" fmla="*/ 290 h 580"/>
                <a:gd name="T82" fmla="*/ 32 w 37"/>
                <a:gd name="T83" fmla="*/ 305 h 580"/>
                <a:gd name="T84" fmla="*/ 33 w 37"/>
                <a:gd name="T85" fmla="*/ 342 h 580"/>
                <a:gd name="T86" fmla="*/ 33 w 37"/>
                <a:gd name="T87" fmla="*/ 381 h 580"/>
                <a:gd name="T88" fmla="*/ 34 w 37"/>
                <a:gd name="T89" fmla="*/ 443 h 580"/>
                <a:gd name="T90" fmla="*/ 34 w 37"/>
                <a:gd name="T91" fmla="*/ 484 h 580"/>
                <a:gd name="T92" fmla="*/ 35 w 37"/>
                <a:gd name="T93" fmla="*/ 521 h 580"/>
                <a:gd name="T94" fmla="*/ 35 w 37"/>
                <a:gd name="T95" fmla="*/ 546 h 580"/>
                <a:gd name="T96" fmla="*/ 35 w 37"/>
                <a:gd name="T97" fmla="*/ 561 h 580"/>
                <a:gd name="T98" fmla="*/ 35 w 37"/>
                <a:gd name="T99" fmla="*/ 574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7" h="580">
                  <a:moveTo>
                    <a:pt x="0" y="580"/>
                  </a:moveTo>
                  <a:lnTo>
                    <a:pt x="0" y="574"/>
                  </a:lnTo>
                  <a:lnTo>
                    <a:pt x="0" y="570"/>
                  </a:lnTo>
                  <a:lnTo>
                    <a:pt x="0" y="564"/>
                  </a:lnTo>
                  <a:lnTo>
                    <a:pt x="0" y="556"/>
                  </a:lnTo>
                  <a:lnTo>
                    <a:pt x="0" y="549"/>
                  </a:lnTo>
                  <a:lnTo>
                    <a:pt x="0" y="542"/>
                  </a:lnTo>
                  <a:lnTo>
                    <a:pt x="0" y="534"/>
                  </a:lnTo>
                  <a:lnTo>
                    <a:pt x="0" y="525"/>
                  </a:lnTo>
                  <a:lnTo>
                    <a:pt x="1" y="516"/>
                  </a:lnTo>
                  <a:lnTo>
                    <a:pt x="1" y="507"/>
                  </a:lnTo>
                  <a:lnTo>
                    <a:pt x="1" y="488"/>
                  </a:lnTo>
                  <a:lnTo>
                    <a:pt x="1" y="469"/>
                  </a:lnTo>
                  <a:lnTo>
                    <a:pt x="2" y="448"/>
                  </a:lnTo>
                  <a:lnTo>
                    <a:pt x="2" y="427"/>
                  </a:lnTo>
                  <a:lnTo>
                    <a:pt x="2" y="405"/>
                  </a:lnTo>
                  <a:lnTo>
                    <a:pt x="4" y="384"/>
                  </a:lnTo>
                  <a:lnTo>
                    <a:pt x="4" y="363"/>
                  </a:lnTo>
                  <a:lnTo>
                    <a:pt x="5" y="344"/>
                  </a:lnTo>
                  <a:lnTo>
                    <a:pt x="5" y="324"/>
                  </a:lnTo>
                  <a:lnTo>
                    <a:pt x="5" y="315"/>
                  </a:lnTo>
                  <a:lnTo>
                    <a:pt x="5" y="306"/>
                  </a:lnTo>
                  <a:lnTo>
                    <a:pt x="5" y="297"/>
                  </a:lnTo>
                  <a:lnTo>
                    <a:pt x="6" y="290"/>
                  </a:lnTo>
                  <a:lnTo>
                    <a:pt x="6" y="259"/>
                  </a:lnTo>
                  <a:lnTo>
                    <a:pt x="7" y="229"/>
                  </a:lnTo>
                  <a:lnTo>
                    <a:pt x="7" y="201"/>
                  </a:lnTo>
                  <a:lnTo>
                    <a:pt x="8" y="186"/>
                  </a:lnTo>
                  <a:lnTo>
                    <a:pt x="8" y="172"/>
                  </a:lnTo>
                  <a:lnTo>
                    <a:pt x="8" y="160"/>
                  </a:lnTo>
                  <a:lnTo>
                    <a:pt x="10" y="147"/>
                  </a:lnTo>
                  <a:lnTo>
                    <a:pt x="10" y="135"/>
                  </a:lnTo>
                  <a:lnTo>
                    <a:pt x="10" y="123"/>
                  </a:lnTo>
                  <a:lnTo>
                    <a:pt x="11" y="111"/>
                  </a:lnTo>
                  <a:lnTo>
                    <a:pt x="11" y="101"/>
                  </a:lnTo>
                  <a:lnTo>
                    <a:pt x="11" y="90"/>
                  </a:lnTo>
                  <a:lnTo>
                    <a:pt x="12" y="82"/>
                  </a:lnTo>
                  <a:lnTo>
                    <a:pt x="12" y="73"/>
                  </a:lnTo>
                  <a:lnTo>
                    <a:pt x="12" y="64"/>
                  </a:lnTo>
                  <a:lnTo>
                    <a:pt x="12" y="56"/>
                  </a:lnTo>
                  <a:lnTo>
                    <a:pt x="13" y="49"/>
                  </a:lnTo>
                  <a:lnTo>
                    <a:pt x="13" y="41"/>
                  </a:lnTo>
                  <a:lnTo>
                    <a:pt x="13" y="34"/>
                  </a:lnTo>
                  <a:lnTo>
                    <a:pt x="15" y="28"/>
                  </a:lnTo>
                  <a:lnTo>
                    <a:pt x="15" y="22"/>
                  </a:lnTo>
                  <a:lnTo>
                    <a:pt x="15" y="18"/>
                  </a:lnTo>
                  <a:lnTo>
                    <a:pt x="16" y="12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7" y="3"/>
                  </a:lnTo>
                  <a:lnTo>
                    <a:pt x="17" y="1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1"/>
                  </a:lnTo>
                  <a:lnTo>
                    <a:pt x="18" y="3"/>
                  </a:lnTo>
                  <a:lnTo>
                    <a:pt x="19" y="6"/>
                  </a:lnTo>
                  <a:lnTo>
                    <a:pt x="19" y="9"/>
                  </a:lnTo>
                  <a:lnTo>
                    <a:pt x="19" y="13"/>
                  </a:lnTo>
                  <a:lnTo>
                    <a:pt x="21" y="18"/>
                  </a:lnTo>
                  <a:lnTo>
                    <a:pt x="21" y="22"/>
                  </a:lnTo>
                  <a:lnTo>
                    <a:pt x="21" y="28"/>
                  </a:lnTo>
                  <a:lnTo>
                    <a:pt x="22" y="34"/>
                  </a:lnTo>
                  <a:lnTo>
                    <a:pt x="22" y="41"/>
                  </a:lnTo>
                  <a:lnTo>
                    <a:pt x="22" y="49"/>
                  </a:lnTo>
                  <a:lnTo>
                    <a:pt x="23" y="56"/>
                  </a:lnTo>
                  <a:lnTo>
                    <a:pt x="23" y="64"/>
                  </a:lnTo>
                  <a:lnTo>
                    <a:pt x="23" y="73"/>
                  </a:lnTo>
                  <a:lnTo>
                    <a:pt x="24" y="82"/>
                  </a:lnTo>
                  <a:lnTo>
                    <a:pt x="24" y="90"/>
                  </a:lnTo>
                  <a:lnTo>
                    <a:pt x="24" y="101"/>
                  </a:lnTo>
                  <a:lnTo>
                    <a:pt x="26" y="111"/>
                  </a:lnTo>
                  <a:lnTo>
                    <a:pt x="26" y="123"/>
                  </a:lnTo>
                  <a:lnTo>
                    <a:pt x="26" y="135"/>
                  </a:lnTo>
                  <a:lnTo>
                    <a:pt x="27" y="147"/>
                  </a:lnTo>
                  <a:lnTo>
                    <a:pt x="27" y="159"/>
                  </a:lnTo>
                  <a:lnTo>
                    <a:pt x="28" y="172"/>
                  </a:lnTo>
                  <a:lnTo>
                    <a:pt x="28" y="186"/>
                  </a:lnTo>
                  <a:lnTo>
                    <a:pt x="29" y="201"/>
                  </a:lnTo>
                  <a:lnTo>
                    <a:pt x="29" y="229"/>
                  </a:lnTo>
                  <a:lnTo>
                    <a:pt x="31" y="259"/>
                  </a:lnTo>
                  <a:lnTo>
                    <a:pt x="32" y="290"/>
                  </a:lnTo>
                  <a:lnTo>
                    <a:pt x="32" y="297"/>
                  </a:lnTo>
                  <a:lnTo>
                    <a:pt x="32" y="305"/>
                  </a:lnTo>
                  <a:lnTo>
                    <a:pt x="32" y="323"/>
                  </a:lnTo>
                  <a:lnTo>
                    <a:pt x="33" y="342"/>
                  </a:lnTo>
                  <a:lnTo>
                    <a:pt x="33" y="361"/>
                  </a:lnTo>
                  <a:lnTo>
                    <a:pt x="33" y="381"/>
                  </a:lnTo>
                  <a:lnTo>
                    <a:pt x="33" y="402"/>
                  </a:lnTo>
                  <a:lnTo>
                    <a:pt x="34" y="443"/>
                  </a:lnTo>
                  <a:lnTo>
                    <a:pt x="34" y="463"/>
                  </a:lnTo>
                  <a:lnTo>
                    <a:pt x="34" y="484"/>
                  </a:lnTo>
                  <a:lnTo>
                    <a:pt x="35" y="503"/>
                  </a:lnTo>
                  <a:lnTo>
                    <a:pt x="35" y="521"/>
                  </a:lnTo>
                  <a:lnTo>
                    <a:pt x="35" y="537"/>
                  </a:lnTo>
                  <a:lnTo>
                    <a:pt x="35" y="546"/>
                  </a:lnTo>
                  <a:lnTo>
                    <a:pt x="35" y="553"/>
                  </a:lnTo>
                  <a:lnTo>
                    <a:pt x="35" y="561"/>
                  </a:lnTo>
                  <a:lnTo>
                    <a:pt x="35" y="567"/>
                  </a:lnTo>
                  <a:lnTo>
                    <a:pt x="35" y="574"/>
                  </a:lnTo>
                  <a:lnTo>
                    <a:pt x="37" y="58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00" name="Freeform 68"/>
            <p:cNvSpPr>
              <a:spLocks/>
            </p:cNvSpPr>
            <p:nvPr/>
          </p:nvSpPr>
          <p:spPr bwMode="auto">
            <a:xfrm>
              <a:off x="2819" y="652"/>
              <a:ext cx="37" cy="313"/>
            </a:xfrm>
            <a:custGeom>
              <a:avLst/>
              <a:gdLst>
                <a:gd name="T0" fmla="*/ 0 w 37"/>
                <a:gd name="T1" fmla="*/ 619 h 625"/>
                <a:gd name="T2" fmla="*/ 0 w 37"/>
                <a:gd name="T3" fmla="*/ 607 h 625"/>
                <a:gd name="T4" fmla="*/ 0 w 37"/>
                <a:gd name="T5" fmla="*/ 593 h 625"/>
                <a:gd name="T6" fmla="*/ 0 w 37"/>
                <a:gd name="T7" fmla="*/ 576 h 625"/>
                <a:gd name="T8" fmla="*/ 2 w 37"/>
                <a:gd name="T9" fmla="*/ 557 h 625"/>
                <a:gd name="T10" fmla="*/ 2 w 37"/>
                <a:gd name="T11" fmla="*/ 527 h 625"/>
                <a:gd name="T12" fmla="*/ 3 w 37"/>
                <a:gd name="T13" fmla="*/ 482 h 625"/>
                <a:gd name="T14" fmla="*/ 3 w 37"/>
                <a:gd name="T15" fmla="*/ 436 h 625"/>
                <a:gd name="T16" fmla="*/ 4 w 37"/>
                <a:gd name="T17" fmla="*/ 392 h 625"/>
                <a:gd name="T18" fmla="*/ 5 w 37"/>
                <a:gd name="T19" fmla="*/ 350 h 625"/>
                <a:gd name="T20" fmla="*/ 5 w 37"/>
                <a:gd name="T21" fmla="*/ 331 h 625"/>
                <a:gd name="T22" fmla="*/ 7 w 37"/>
                <a:gd name="T23" fmla="*/ 313 h 625"/>
                <a:gd name="T24" fmla="*/ 8 w 37"/>
                <a:gd name="T25" fmla="*/ 247 h 625"/>
                <a:gd name="T26" fmla="*/ 9 w 37"/>
                <a:gd name="T27" fmla="*/ 201 h 625"/>
                <a:gd name="T28" fmla="*/ 9 w 37"/>
                <a:gd name="T29" fmla="*/ 173 h 625"/>
                <a:gd name="T30" fmla="*/ 10 w 37"/>
                <a:gd name="T31" fmla="*/ 146 h 625"/>
                <a:gd name="T32" fmla="*/ 11 w 37"/>
                <a:gd name="T33" fmla="*/ 121 h 625"/>
                <a:gd name="T34" fmla="*/ 11 w 37"/>
                <a:gd name="T35" fmla="*/ 98 h 625"/>
                <a:gd name="T36" fmla="*/ 13 w 37"/>
                <a:gd name="T37" fmla="*/ 79 h 625"/>
                <a:gd name="T38" fmla="*/ 13 w 37"/>
                <a:gd name="T39" fmla="*/ 61 h 625"/>
                <a:gd name="T40" fmla="*/ 14 w 37"/>
                <a:gd name="T41" fmla="*/ 45 h 625"/>
                <a:gd name="T42" fmla="*/ 15 w 37"/>
                <a:gd name="T43" fmla="*/ 30 h 625"/>
                <a:gd name="T44" fmla="*/ 15 w 37"/>
                <a:gd name="T45" fmla="*/ 18 h 625"/>
                <a:gd name="T46" fmla="*/ 16 w 37"/>
                <a:gd name="T47" fmla="*/ 9 h 625"/>
                <a:gd name="T48" fmla="*/ 18 w 37"/>
                <a:gd name="T49" fmla="*/ 3 h 625"/>
                <a:gd name="T50" fmla="*/ 18 w 37"/>
                <a:gd name="T51" fmla="*/ 0 h 625"/>
                <a:gd name="T52" fmla="*/ 19 w 37"/>
                <a:gd name="T53" fmla="*/ 0 h 625"/>
                <a:gd name="T54" fmla="*/ 19 w 37"/>
                <a:gd name="T55" fmla="*/ 3 h 625"/>
                <a:gd name="T56" fmla="*/ 20 w 37"/>
                <a:gd name="T57" fmla="*/ 9 h 625"/>
                <a:gd name="T58" fmla="*/ 21 w 37"/>
                <a:gd name="T59" fmla="*/ 19 h 625"/>
                <a:gd name="T60" fmla="*/ 21 w 37"/>
                <a:gd name="T61" fmla="*/ 31 h 625"/>
                <a:gd name="T62" fmla="*/ 22 w 37"/>
                <a:gd name="T63" fmla="*/ 45 h 625"/>
                <a:gd name="T64" fmla="*/ 24 w 37"/>
                <a:gd name="T65" fmla="*/ 61 h 625"/>
                <a:gd name="T66" fmla="*/ 24 w 37"/>
                <a:gd name="T67" fmla="*/ 79 h 625"/>
                <a:gd name="T68" fmla="*/ 25 w 37"/>
                <a:gd name="T69" fmla="*/ 98 h 625"/>
                <a:gd name="T70" fmla="*/ 26 w 37"/>
                <a:gd name="T71" fmla="*/ 121 h 625"/>
                <a:gd name="T72" fmla="*/ 26 w 37"/>
                <a:gd name="T73" fmla="*/ 146 h 625"/>
                <a:gd name="T74" fmla="*/ 27 w 37"/>
                <a:gd name="T75" fmla="*/ 173 h 625"/>
                <a:gd name="T76" fmla="*/ 29 w 37"/>
                <a:gd name="T77" fmla="*/ 201 h 625"/>
                <a:gd name="T78" fmla="*/ 30 w 37"/>
                <a:gd name="T79" fmla="*/ 247 h 625"/>
                <a:gd name="T80" fmla="*/ 32 w 37"/>
                <a:gd name="T81" fmla="*/ 313 h 625"/>
                <a:gd name="T82" fmla="*/ 32 w 37"/>
                <a:gd name="T83" fmla="*/ 329 h 625"/>
                <a:gd name="T84" fmla="*/ 34 w 37"/>
                <a:gd name="T85" fmla="*/ 368 h 625"/>
                <a:gd name="T86" fmla="*/ 34 w 37"/>
                <a:gd name="T87" fmla="*/ 411 h 625"/>
                <a:gd name="T88" fmla="*/ 35 w 37"/>
                <a:gd name="T89" fmla="*/ 478 h 625"/>
                <a:gd name="T90" fmla="*/ 35 w 37"/>
                <a:gd name="T91" fmla="*/ 521 h 625"/>
                <a:gd name="T92" fmla="*/ 36 w 37"/>
                <a:gd name="T93" fmla="*/ 561 h 625"/>
                <a:gd name="T94" fmla="*/ 36 w 37"/>
                <a:gd name="T95" fmla="*/ 588 h 625"/>
                <a:gd name="T96" fmla="*/ 36 w 37"/>
                <a:gd name="T97" fmla="*/ 604 h 625"/>
                <a:gd name="T98" fmla="*/ 36 w 37"/>
                <a:gd name="T99" fmla="*/ 618 h 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7" h="625">
                  <a:moveTo>
                    <a:pt x="0" y="625"/>
                  </a:moveTo>
                  <a:lnTo>
                    <a:pt x="0" y="619"/>
                  </a:lnTo>
                  <a:lnTo>
                    <a:pt x="0" y="613"/>
                  </a:lnTo>
                  <a:lnTo>
                    <a:pt x="0" y="607"/>
                  </a:lnTo>
                  <a:lnTo>
                    <a:pt x="0" y="600"/>
                  </a:lnTo>
                  <a:lnTo>
                    <a:pt x="0" y="593"/>
                  </a:lnTo>
                  <a:lnTo>
                    <a:pt x="0" y="584"/>
                  </a:lnTo>
                  <a:lnTo>
                    <a:pt x="0" y="576"/>
                  </a:lnTo>
                  <a:lnTo>
                    <a:pt x="0" y="567"/>
                  </a:lnTo>
                  <a:lnTo>
                    <a:pt x="2" y="557"/>
                  </a:lnTo>
                  <a:lnTo>
                    <a:pt x="2" y="548"/>
                  </a:lnTo>
                  <a:lnTo>
                    <a:pt x="2" y="527"/>
                  </a:lnTo>
                  <a:lnTo>
                    <a:pt x="2" y="505"/>
                  </a:lnTo>
                  <a:lnTo>
                    <a:pt x="3" y="482"/>
                  </a:lnTo>
                  <a:lnTo>
                    <a:pt x="3" y="460"/>
                  </a:lnTo>
                  <a:lnTo>
                    <a:pt x="3" y="436"/>
                  </a:lnTo>
                  <a:lnTo>
                    <a:pt x="4" y="414"/>
                  </a:lnTo>
                  <a:lnTo>
                    <a:pt x="4" y="392"/>
                  </a:lnTo>
                  <a:lnTo>
                    <a:pt x="5" y="371"/>
                  </a:lnTo>
                  <a:lnTo>
                    <a:pt x="5" y="350"/>
                  </a:lnTo>
                  <a:lnTo>
                    <a:pt x="5" y="339"/>
                  </a:lnTo>
                  <a:lnTo>
                    <a:pt x="5" y="331"/>
                  </a:lnTo>
                  <a:lnTo>
                    <a:pt x="5" y="322"/>
                  </a:lnTo>
                  <a:lnTo>
                    <a:pt x="7" y="313"/>
                  </a:lnTo>
                  <a:lnTo>
                    <a:pt x="7" y="280"/>
                  </a:lnTo>
                  <a:lnTo>
                    <a:pt x="8" y="247"/>
                  </a:lnTo>
                  <a:lnTo>
                    <a:pt x="8" y="216"/>
                  </a:lnTo>
                  <a:lnTo>
                    <a:pt x="9" y="201"/>
                  </a:lnTo>
                  <a:lnTo>
                    <a:pt x="9" y="186"/>
                  </a:lnTo>
                  <a:lnTo>
                    <a:pt x="9" y="173"/>
                  </a:lnTo>
                  <a:lnTo>
                    <a:pt x="10" y="159"/>
                  </a:lnTo>
                  <a:lnTo>
                    <a:pt x="10" y="146"/>
                  </a:lnTo>
                  <a:lnTo>
                    <a:pt x="10" y="132"/>
                  </a:lnTo>
                  <a:lnTo>
                    <a:pt x="11" y="121"/>
                  </a:lnTo>
                  <a:lnTo>
                    <a:pt x="11" y="110"/>
                  </a:lnTo>
                  <a:lnTo>
                    <a:pt x="11" y="98"/>
                  </a:lnTo>
                  <a:lnTo>
                    <a:pt x="13" y="88"/>
                  </a:lnTo>
                  <a:lnTo>
                    <a:pt x="13" y="79"/>
                  </a:lnTo>
                  <a:lnTo>
                    <a:pt x="13" y="70"/>
                  </a:lnTo>
                  <a:lnTo>
                    <a:pt x="13" y="61"/>
                  </a:lnTo>
                  <a:lnTo>
                    <a:pt x="14" y="52"/>
                  </a:lnTo>
                  <a:lnTo>
                    <a:pt x="14" y="45"/>
                  </a:lnTo>
                  <a:lnTo>
                    <a:pt x="14" y="37"/>
                  </a:lnTo>
                  <a:lnTo>
                    <a:pt x="15" y="30"/>
                  </a:lnTo>
                  <a:lnTo>
                    <a:pt x="15" y="24"/>
                  </a:lnTo>
                  <a:lnTo>
                    <a:pt x="15" y="18"/>
                  </a:lnTo>
                  <a:lnTo>
                    <a:pt x="16" y="13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8" y="3"/>
                  </a:lnTo>
                  <a:lnTo>
                    <a:pt x="18" y="1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1"/>
                  </a:lnTo>
                  <a:lnTo>
                    <a:pt x="19" y="3"/>
                  </a:lnTo>
                  <a:lnTo>
                    <a:pt x="20" y="6"/>
                  </a:lnTo>
                  <a:lnTo>
                    <a:pt x="20" y="9"/>
                  </a:lnTo>
                  <a:lnTo>
                    <a:pt x="20" y="13"/>
                  </a:lnTo>
                  <a:lnTo>
                    <a:pt x="21" y="19"/>
                  </a:lnTo>
                  <a:lnTo>
                    <a:pt x="21" y="24"/>
                  </a:lnTo>
                  <a:lnTo>
                    <a:pt x="21" y="31"/>
                  </a:lnTo>
                  <a:lnTo>
                    <a:pt x="22" y="37"/>
                  </a:lnTo>
                  <a:lnTo>
                    <a:pt x="22" y="45"/>
                  </a:lnTo>
                  <a:lnTo>
                    <a:pt x="22" y="52"/>
                  </a:lnTo>
                  <a:lnTo>
                    <a:pt x="24" y="61"/>
                  </a:lnTo>
                  <a:lnTo>
                    <a:pt x="24" y="70"/>
                  </a:lnTo>
                  <a:lnTo>
                    <a:pt x="24" y="79"/>
                  </a:lnTo>
                  <a:lnTo>
                    <a:pt x="25" y="88"/>
                  </a:lnTo>
                  <a:lnTo>
                    <a:pt x="25" y="98"/>
                  </a:lnTo>
                  <a:lnTo>
                    <a:pt x="25" y="110"/>
                  </a:lnTo>
                  <a:lnTo>
                    <a:pt x="26" y="121"/>
                  </a:lnTo>
                  <a:lnTo>
                    <a:pt x="26" y="132"/>
                  </a:lnTo>
                  <a:lnTo>
                    <a:pt x="26" y="146"/>
                  </a:lnTo>
                  <a:lnTo>
                    <a:pt x="27" y="159"/>
                  </a:lnTo>
                  <a:lnTo>
                    <a:pt x="27" y="173"/>
                  </a:lnTo>
                  <a:lnTo>
                    <a:pt x="29" y="186"/>
                  </a:lnTo>
                  <a:lnTo>
                    <a:pt x="29" y="201"/>
                  </a:lnTo>
                  <a:lnTo>
                    <a:pt x="30" y="216"/>
                  </a:lnTo>
                  <a:lnTo>
                    <a:pt x="30" y="247"/>
                  </a:lnTo>
                  <a:lnTo>
                    <a:pt x="31" y="278"/>
                  </a:lnTo>
                  <a:lnTo>
                    <a:pt x="32" y="313"/>
                  </a:lnTo>
                  <a:lnTo>
                    <a:pt x="32" y="320"/>
                  </a:lnTo>
                  <a:lnTo>
                    <a:pt x="32" y="329"/>
                  </a:lnTo>
                  <a:lnTo>
                    <a:pt x="32" y="348"/>
                  </a:lnTo>
                  <a:lnTo>
                    <a:pt x="34" y="368"/>
                  </a:lnTo>
                  <a:lnTo>
                    <a:pt x="34" y="390"/>
                  </a:lnTo>
                  <a:lnTo>
                    <a:pt x="34" y="411"/>
                  </a:lnTo>
                  <a:lnTo>
                    <a:pt x="34" y="433"/>
                  </a:lnTo>
                  <a:lnTo>
                    <a:pt x="35" y="478"/>
                  </a:lnTo>
                  <a:lnTo>
                    <a:pt x="35" y="499"/>
                  </a:lnTo>
                  <a:lnTo>
                    <a:pt x="35" y="521"/>
                  </a:lnTo>
                  <a:lnTo>
                    <a:pt x="36" y="542"/>
                  </a:lnTo>
                  <a:lnTo>
                    <a:pt x="36" y="561"/>
                  </a:lnTo>
                  <a:lnTo>
                    <a:pt x="36" y="579"/>
                  </a:lnTo>
                  <a:lnTo>
                    <a:pt x="36" y="588"/>
                  </a:lnTo>
                  <a:lnTo>
                    <a:pt x="36" y="596"/>
                  </a:lnTo>
                  <a:lnTo>
                    <a:pt x="36" y="604"/>
                  </a:lnTo>
                  <a:lnTo>
                    <a:pt x="36" y="612"/>
                  </a:lnTo>
                  <a:lnTo>
                    <a:pt x="36" y="618"/>
                  </a:lnTo>
                  <a:lnTo>
                    <a:pt x="37" y="625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01" name="Freeform 69"/>
            <p:cNvSpPr>
              <a:spLocks/>
            </p:cNvSpPr>
            <p:nvPr/>
          </p:nvSpPr>
          <p:spPr bwMode="auto">
            <a:xfrm>
              <a:off x="2893" y="674"/>
              <a:ext cx="37" cy="291"/>
            </a:xfrm>
            <a:custGeom>
              <a:avLst/>
              <a:gdLst>
                <a:gd name="T0" fmla="*/ 0 w 37"/>
                <a:gd name="T1" fmla="*/ 574 h 580"/>
                <a:gd name="T2" fmla="*/ 0 w 37"/>
                <a:gd name="T3" fmla="*/ 564 h 580"/>
                <a:gd name="T4" fmla="*/ 0 w 37"/>
                <a:gd name="T5" fmla="*/ 549 h 580"/>
                <a:gd name="T6" fmla="*/ 0 w 37"/>
                <a:gd name="T7" fmla="*/ 534 h 580"/>
                <a:gd name="T8" fmla="*/ 1 w 37"/>
                <a:gd name="T9" fmla="*/ 516 h 580"/>
                <a:gd name="T10" fmla="*/ 1 w 37"/>
                <a:gd name="T11" fmla="*/ 488 h 580"/>
                <a:gd name="T12" fmla="*/ 2 w 37"/>
                <a:gd name="T13" fmla="*/ 448 h 580"/>
                <a:gd name="T14" fmla="*/ 2 w 37"/>
                <a:gd name="T15" fmla="*/ 405 h 580"/>
                <a:gd name="T16" fmla="*/ 4 w 37"/>
                <a:gd name="T17" fmla="*/ 363 h 580"/>
                <a:gd name="T18" fmla="*/ 5 w 37"/>
                <a:gd name="T19" fmla="*/ 324 h 580"/>
                <a:gd name="T20" fmla="*/ 5 w 37"/>
                <a:gd name="T21" fmla="*/ 306 h 580"/>
                <a:gd name="T22" fmla="*/ 6 w 37"/>
                <a:gd name="T23" fmla="*/ 290 h 580"/>
                <a:gd name="T24" fmla="*/ 7 w 37"/>
                <a:gd name="T25" fmla="*/ 229 h 580"/>
                <a:gd name="T26" fmla="*/ 9 w 37"/>
                <a:gd name="T27" fmla="*/ 186 h 580"/>
                <a:gd name="T28" fmla="*/ 9 w 37"/>
                <a:gd name="T29" fmla="*/ 160 h 580"/>
                <a:gd name="T30" fmla="*/ 10 w 37"/>
                <a:gd name="T31" fmla="*/ 135 h 580"/>
                <a:gd name="T32" fmla="*/ 11 w 37"/>
                <a:gd name="T33" fmla="*/ 111 h 580"/>
                <a:gd name="T34" fmla="*/ 11 w 37"/>
                <a:gd name="T35" fmla="*/ 90 h 580"/>
                <a:gd name="T36" fmla="*/ 12 w 37"/>
                <a:gd name="T37" fmla="*/ 73 h 580"/>
                <a:gd name="T38" fmla="*/ 12 w 37"/>
                <a:gd name="T39" fmla="*/ 56 h 580"/>
                <a:gd name="T40" fmla="*/ 13 w 37"/>
                <a:gd name="T41" fmla="*/ 41 h 580"/>
                <a:gd name="T42" fmla="*/ 15 w 37"/>
                <a:gd name="T43" fmla="*/ 28 h 580"/>
                <a:gd name="T44" fmla="*/ 15 w 37"/>
                <a:gd name="T45" fmla="*/ 18 h 580"/>
                <a:gd name="T46" fmla="*/ 16 w 37"/>
                <a:gd name="T47" fmla="*/ 9 h 580"/>
                <a:gd name="T48" fmla="*/ 17 w 37"/>
                <a:gd name="T49" fmla="*/ 3 h 580"/>
                <a:gd name="T50" fmla="*/ 17 w 37"/>
                <a:gd name="T51" fmla="*/ 0 h 580"/>
                <a:gd name="T52" fmla="*/ 18 w 37"/>
                <a:gd name="T53" fmla="*/ 0 h 580"/>
                <a:gd name="T54" fmla="*/ 18 w 37"/>
                <a:gd name="T55" fmla="*/ 3 h 580"/>
                <a:gd name="T56" fmla="*/ 20 w 37"/>
                <a:gd name="T57" fmla="*/ 9 h 580"/>
                <a:gd name="T58" fmla="*/ 21 w 37"/>
                <a:gd name="T59" fmla="*/ 18 h 580"/>
                <a:gd name="T60" fmla="*/ 21 w 37"/>
                <a:gd name="T61" fmla="*/ 28 h 580"/>
                <a:gd name="T62" fmla="*/ 22 w 37"/>
                <a:gd name="T63" fmla="*/ 41 h 580"/>
                <a:gd name="T64" fmla="*/ 23 w 37"/>
                <a:gd name="T65" fmla="*/ 56 h 580"/>
                <a:gd name="T66" fmla="*/ 23 w 37"/>
                <a:gd name="T67" fmla="*/ 73 h 580"/>
                <a:gd name="T68" fmla="*/ 24 w 37"/>
                <a:gd name="T69" fmla="*/ 90 h 580"/>
                <a:gd name="T70" fmla="*/ 26 w 37"/>
                <a:gd name="T71" fmla="*/ 111 h 580"/>
                <a:gd name="T72" fmla="*/ 26 w 37"/>
                <a:gd name="T73" fmla="*/ 135 h 580"/>
                <a:gd name="T74" fmla="*/ 27 w 37"/>
                <a:gd name="T75" fmla="*/ 159 h 580"/>
                <a:gd name="T76" fmla="*/ 28 w 37"/>
                <a:gd name="T77" fmla="*/ 186 h 580"/>
                <a:gd name="T78" fmla="*/ 29 w 37"/>
                <a:gd name="T79" fmla="*/ 229 h 580"/>
                <a:gd name="T80" fmla="*/ 32 w 37"/>
                <a:gd name="T81" fmla="*/ 290 h 580"/>
                <a:gd name="T82" fmla="*/ 32 w 37"/>
                <a:gd name="T83" fmla="*/ 305 h 580"/>
                <a:gd name="T84" fmla="*/ 33 w 37"/>
                <a:gd name="T85" fmla="*/ 342 h 580"/>
                <a:gd name="T86" fmla="*/ 33 w 37"/>
                <a:gd name="T87" fmla="*/ 381 h 580"/>
                <a:gd name="T88" fmla="*/ 34 w 37"/>
                <a:gd name="T89" fmla="*/ 443 h 580"/>
                <a:gd name="T90" fmla="*/ 34 w 37"/>
                <a:gd name="T91" fmla="*/ 484 h 580"/>
                <a:gd name="T92" fmla="*/ 36 w 37"/>
                <a:gd name="T93" fmla="*/ 521 h 580"/>
                <a:gd name="T94" fmla="*/ 36 w 37"/>
                <a:gd name="T95" fmla="*/ 546 h 580"/>
                <a:gd name="T96" fmla="*/ 36 w 37"/>
                <a:gd name="T97" fmla="*/ 561 h 580"/>
                <a:gd name="T98" fmla="*/ 36 w 37"/>
                <a:gd name="T99" fmla="*/ 574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7" h="580">
                  <a:moveTo>
                    <a:pt x="0" y="580"/>
                  </a:moveTo>
                  <a:lnTo>
                    <a:pt x="0" y="574"/>
                  </a:lnTo>
                  <a:lnTo>
                    <a:pt x="0" y="570"/>
                  </a:lnTo>
                  <a:lnTo>
                    <a:pt x="0" y="564"/>
                  </a:lnTo>
                  <a:lnTo>
                    <a:pt x="0" y="556"/>
                  </a:lnTo>
                  <a:lnTo>
                    <a:pt x="0" y="549"/>
                  </a:lnTo>
                  <a:lnTo>
                    <a:pt x="0" y="542"/>
                  </a:lnTo>
                  <a:lnTo>
                    <a:pt x="0" y="534"/>
                  </a:lnTo>
                  <a:lnTo>
                    <a:pt x="0" y="525"/>
                  </a:lnTo>
                  <a:lnTo>
                    <a:pt x="1" y="516"/>
                  </a:lnTo>
                  <a:lnTo>
                    <a:pt x="1" y="507"/>
                  </a:lnTo>
                  <a:lnTo>
                    <a:pt x="1" y="488"/>
                  </a:lnTo>
                  <a:lnTo>
                    <a:pt x="1" y="469"/>
                  </a:lnTo>
                  <a:lnTo>
                    <a:pt x="2" y="448"/>
                  </a:lnTo>
                  <a:lnTo>
                    <a:pt x="2" y="427"/>
                  </a:lnTo>
                  <a:lnTo>
                    <a:pt x="2" y="405"/>
                  </a:lnTo>
                  <a:lnTo>
                    <a:pt x="4" y="384"/>
                  </a:lnTo>
                  <a:lnTo>
                    <a:pt x="4" y="363"/>
                  </a:lnTo>
                  <a:lnTo>
                    <a:pt x="5" y="344"/>
                  </a:lnTo>
                  <a:lnTo>
                    <a:pt x="5" y="324"/>
                  </a:lnTo>
                  <a:lnTo>
                    <a:pt x="5" y="315"/>
                  </a:lnTo>
                  <a:lnTo>
                    <a:pt x="5" y="306"/>
                  </a:lnTo>
                  <a:lnTo>
                    <a:pt x="5" y="297"/>
                  </a:lnTo>
                  <a:lnTo>
                    <a:pt x="6" y="290"/>
                  </a:lnTo>
                  <a:lnTo>
                    <a:pt x="6" y="259"/>
                  </a:lnTo>
                  <a:lnTo>
                    <a:pt x="7" y="229"/>
                  </a:lnTo>
                  <a:lnTo>
                    <a:pt x="7" y="201"/>
                  </a:lnTo>
                  <a:lnTo>
                    <a:pt x="9" y="186"/>
                  </a:lnTo>
                  <a:lnTo>
                    <a:pt x="9" y="172"/>
                  </a:lnTo>
                  <a:lnTo>
                    <a:pt x="9" y="160"/>
                  </a:lnTo>
                  <a:lnTo>
                    <a:pt x="10" y="147"/>
                  </a:lnTo>
                  <a:lnTo>
                    <a:pt x="10" y="135"/>
                  </a:lnTo>
                  <a:lnTo>
                    <a:pt x="10" y="123"/>
                  </a:lnTo>
                  <a:lnTo>
                    <a:pt x="11" y="111"/>
                  </a:lnTo>
                  <a:lnTo>
                    <a:pt x="11" y="101"/>
                  </a:lnTo>
                  <a:lnTo>
                    <a:pt x="11" y="90"/>
                  </a:lnTo>
                  <a:lnTo>
                    <a:pt x="12" y="82"/>
                  </a:lnTo>
                  <a:lnTo>
                    <a:pt x="12" y="73"/>
                  </a:lnTo>
                  <a:lnTo>
                    <a:pt x="12" y="64"/>
                  </a:lnTo>
                  <a:lnTo>
                    <a:pt x="12" y="56"/>
                  </a:lnTo>
                  <a:lnTo>
                    <a:pt x="13" y="49"/>
                  </a:lnTo>
                  <a:lnTo>
                    <a:pt x="13" y="41"/>
                  </a:lnTo>
                  <a:lnTo>
                    <a:pt x="13" y="34"/>
                  </a:lnTo>
                  <a:lnTo>
                    <a:pt x="15" y="28"/>
                  </a:lnTo>
                  <a:lnTo>
                    <a:pt x="15" y="22"/>
                  </a:lnTo>
                  <a:lnTo>
                    <a:pt x="15" y="18"/>
                  </a:lnTo>
                  <a:lnTo>
                    <a:pt x="16" y="12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7" y="3"/>
                  </a:lnTo>
                  <a:lnTo>
                    <a:pt x="17" y="1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1"/>
                  </a:lnTo>
                  <a:lnTo>
                    <a:pt x="18" y="3"/>
                  </a:lnTo>
                  <a:lnTo>
                    <a:pt x="20" y="6"/>
                  </a:lnTo>
                  <a:lnTo>
                    <a:pt x="20" y="9"/>
                  </a:lnTo>
                  <a:lnTo>
                    <a:pt x="20" y="13"/>
                  </a:lnTo>
                  <a:lnTo>
                    <a:pt x="21" y="18"/>
                  </a:lnTo>
                  <a:lnTo>
                    <a:pt x="21" y="22"/>
                  </a:lnTo>
                  <a:lnTo>
                    <a:pt x="21" y="28"/>
                  </a:lnTo>
                  <a:lnTo>
                    <a:pt x="22" y="34"/>
                  </a:lnTo>
                  <a:lnTo>
                    <a:pt x="22" y="41"/>
                  </a:lnTo>
                  <a:lnTo>
                    <a:pt x="22" y="49"/>
                  </a:lnTo>
                  <a:lnTo>
                    <a:pt x="23" y="56"/>
                  </a:lnTo>
                  <a:lnTo>
                    <a:pt x="23" y="64"/>
                  </a:lnTo>
                  <a:lnTo>
                    <a:pt x="23" y="73"/>
                  </a:lnTo>
                  <a:lnTo>
                    <a:pt x="24" y="82"/>
                  </a:lnTo>
                  <a:lnTo>
                    <a:pt x="24" y="90"/>
                  </a:lnTo>
                  <a:lnTo>
                    <a:pt x="24" y="101"/>
                  </a:lnTo>
                  <a:lnTo>
                    <a:pt x="26" y="111"/>
                  </a:lnTo>
                  <a:lnTo>
                    <a:pt x="26" y="123"/>
                  </a:lnTo>
                  <a:lnTo>
                    <a:pt x="26" y="135"/>
                  </a:lnTo>
                  <a:lnTo>
                    <a:pt x="27" y="147"/>
                  </a:lnTo>
                  <a:lnTo>
                    <a:pt x="27" y="159"/>
                  </a:lnTo>
                  <a:lnTo>
                    <a:pt x="28" y="172"/>
                  </a:lnTo>
                  <a:lnTo>
                    <a:pt x="28" y="186"/>
                  </a:lnTo>
                  <a:lnTo>
                    <a:pt x="29" y="201"/>
                  </a:lnTo>
                  <a:lnTo>
                    <a:pt x="29" y="229"/>
                  </a:lnTo>
                  <a:lnTo>
                    <a:pt x="31" y="259"/>
                  </a:lnTo>
                  <a:lnTo>
                    <a:pt x="32" y="290"/>
                  </a:lnTo>
                  <a:lnTo>
                    <a:pt x="32" y="297"/>
                  </a:lnTo>
                  <a:lnTo>
                    <a:pt x="32" y="305"/>
                  </a:lnTo>
                  <a:lnTo>
                    <a:pt x="32" y="323"/>
                  </a:lnTo>
                  <a:lnTo>
                    <a:pt x="33" y="342"/>
                  </a:lnTo>
                  <a:lnTo>
                    <a:pt x="33" y="361"/>
                  </a:lnTo>
                  <a:lnTo>
                    <a:pt x="33" y="381"/>
                  </a:lnTo>
                  <a:lnTo>
                    <a:pt x="33" y="402"/>
                  </a:lnTo>
                  <a:lnTo>
                    <a:pt x="34" y="443"/>
                  </a:lnTo>
                  <a:lnTo>
                    <a:pt x="34" y="463"/>
                  </a:lnTo>
                  <a:lnTo>
                    <a:pt x="34" y="484"/>
                  </a:lnTo>
                  <a:lnTo>
                    <a:pt x="36" y="503"/>
                  </a:lnTo>
                  <a:lnTo>
                    <a:pt x="36" y="521"/>
                  </a:lnTo>
                  <a:lnTo>
                    <a:pt x="36" y="537"/>
                  </a:lnTo>
                  <a:lnTo>
                    <a:pt x="36" y="546"/>
                  </a:lnTo>
                  <a:lnTo>
                    <a:pt x="36" y="553"/>
                  </a:lnTo>
                  <a:lnTo>
                    <a:pt x="36" y="561"/>
                  </a:lnTo>
                  <a:lnTo>
                    <a:pt x="36" y="567"/>
                  </a:lnTo>
                  <a:lnTo>
                    <a:pt x="36" y="574"/>
                  </a:lnTo>
                  <a:lnTo>
                    <a:pt x="37" y="58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02" name="Freeform 70"/>
            <p:cNvSpPr>
              <a:spLocks/>
            </p:cNvSpPr>
            <p:nvPr/>
          </p:nvSpPr>
          <p:spPr bwMode="auto">
            <a:xfrm>
              <a:off x="2709" y="965"/>
              <a:ext cx="37" cy="290"/>
            </a:xfrm>
            <a:custGeom>
              <a:avLst/>
              <a:gdLst>
                <a:gd name="T0" fmla="*/ 0 w 37"/>
                <a:gd name="T1" fmla="*/ 5 h 581"/>
                <a:gd name="T2" fmla="*/ 0 w 37"/>
                <a:gd name="T3" fmla="*/ 15 h 581"/>
                <a:gd name="T4" fmla="*/ 0 w 37"/>
                <a:gd name="T5" fmla="*/ 30 h 581"/>
                <a:gd name="T6" fmla="*/ 0 w 37"/>
                <a:gd name="T7" fmla="*/ 45 h 581"/>
                <a:gd name="T8" fmla="*/ 1 w 37"/>
                <a:gd name="T9" fmla="*/ 63 h 581"/>
                <a:gd name="T10" fmla="*/ 1 w 37"/>
                <a:gd name="T11" fmla="*/ 91 h 581"/>
                <a:gd name="T12" fmla="*/ 3 w 37"/>
                <a:gd name="T13" fmla="*/ 131 h 581"/>
                <a:gd name="T14" fmla="*/ 3 w 37"/>
                <a:gd name="T15" fmla="*/ 174 h 581"/>
                <a:gd name="T16" fmla="*/ 4 w 37"/>
                <a:gd name="T17" fmla="*/ 216 h 581"/>
                <a:gd name="T18" fmla="*/ 5 w 37"/>
                <a:gd name="T19" fmla="*/ 255 h 581"/>
                <a:gd name="T20" fmla="*/ 5 w 37"/>
                <a:gd name="T21" fmla="*/ 273 h 581"/>
                <a:gd name="T22" fmla="*/ 6 w 37"/>
                <a:gd name="T23" fmla="*/ 289 h 581"/>
                <a:gd name="T24" fmla="*/ 7 w 37"/>
                <a:gd name="T25" fmla="*/ 350 h 581"/>
                <a:gd name="T26" fmla="*/ 9 w 37"/>
                <a:gd name="T27" fmla="*/ 393 h 581"/>
                <a:gd name="T28" fmla="*/ 9 w 37"/>
                <a:gd name="T29" fmla="*/ 420 h 581"/>
                <a:gd name="T30" fmla="*/ 10 w 37"/>
                <a:gd name="T31" fmla="*/ 444 h 581"/>
                <a:gd name="T32" fmla="*/ 11 w 37"/>
                <a:gd name="T33" fmla="*/ 468 h 581"/>
                <a:gd name="T34" fmla="*/ 11 w 37"/>
                <a:gd name="T35" fmla="*/ 489 h 581"/>
                <a:gd name="T36" fmla="*/ 12 w 37"/>
                <a:gd name="T37" fmla="*/ 506 h 581"/>
                <a:gd name="T38" fmla="*/ 12 w 37"/>
                <a:gd name="T39" fmla="*/ 523 h 581"/>
                <a:gd name="T40" fmla="*/ 14 w 37"/>
                <a:gd name="T41" fmla="*/ 538 h 581"/>
                <a:gd name="T42" fmla="*/ 15 w 37"/>
                <a:gd name="T43" fmla="*/ 551 h 581"/>
                <a:gd name="T44" fmla="*/ 15 w 37"/>
                <a:gd name="T45" fmla="*/ 563 h 581"/>
                <a:gd name="T46" fmla="*/ 16 w 37"/>
                <a:gd name="T47" fmla="*/ 570 h 581"/>
                <a:gd name="T48" fmla="*/ 17 w 37"/>
                <a:gd name="T49" fmla="*/ 576 h 581"/>
                <a:gd name="T50" fmla="*/ 17 w 37"/>
                <a:gd name="T51" fmla="*/ 579 h 581"/>
                <a:gd name="T52" fmla="*/ 18 w 37"/>
                <a:gd name="T53" fmla="*/ 579 h 581"/>
                <a:gd name="T54" fmla="*/ 18 w 37"/>
                <a:gd name="T55" fmla="*/ 576 h 581"/>
                <a:gd name="T56" fmla="*/ 20 w 37"/>
                <a:gd name="T57" fmla="*/ 570 h 581"/>
                <a:gd name="T58" fmla="*/ 21 w 37"/>
                <a:gd name="T59" fmla="*/ 562 h 581"/>
                <a:gd name="T60" fmla="*/ 21 w 37"/>
                <a:gd name="T61" fmla="*/ 551 h 581"/>
                <a:gd name="T62" fmla="*/ 22 w 37"/>
                <a:gd name="T63" fmla="*/ 538 h 581"/>
                <a:gd name="T64" fmla="*/ 23 w 37"/>
                <a:gd name="T65" fmla="*/ 523 h 581"/>
                <a:gd name="T66" fmla="*/ 23 w 37"/>
                <a:gd name="T67" fmla="*/ 506 h 581"/>
                <a:gd name="T68" fmla="*/ 25 w 37"/>
                <a:gd name="T69" fmla="*/ 489 h 581"/>
                <a:gd name="T70" fmla="*/ 26 w 37"/>
                <a:gd name="T71" fmla="*/ 468 h 581"/>
                <a:gd name="T72" fmla="*/ 26 w 37"/>
                <a:gd name="T73" fmla="*/ 444 h 581"/>
                <a:gd name="T74" fmla="*/ 27 w 37"/>
                <a:gd name="T75" fmla="*/ 420 h 581"/>
                <a:gd name="T76" fmla="*/ 28 w 37"/>
                <a:gd name="T77" fmla="*/ 393 h 581"/>
                <a:gd name="T78" fmla="*/ 30 w 37"/>
                <a:gd name="T79" fmla="*/ 350 h 581"/>
                <a:gd name="T80" fmla="*/ 32 w 37"/>
                <a:gd name="T81" fmla="*/ 291 h 581"/>
                <a:gd name="T82" fmla="*/ 32 w 37"/>
                <a:gd name="T83" fmla="*/ 274 h 581"/>
                <a:gd name="T84" fmla="*/ 33 w 37"/>
                <a:gd name="T85" fmla="*/ 237 h 581"/>
                <a:gd name="T86" fmla="*/ 33 w 37"/>
                <a:gd name="T87" fmla="*/ 198 h 581"/>
                <a:gd name="T88" fmla="*/ 34 w 37"/>
                <a:gd name="T89" fmla="*/ 136 h 581"/>
                <a:gd name="T90" fmla="*/ 34 w 37"/>
                <a:gd name="T91" fmla="*/ 96 h 581"/>
                <a:gd name="T92" fmla="*/ 36 w 37"/>
                <a:gd name="T93" fmla="*/ 58 h 581"/>
                <a:gd name="T94" fmla="*/ 36 w 37"/>
                <a:gd name="T95" fmla="*/ 33 h 581"/>
                <a:gd name="T96" fmla="*/ 36 w 37"/>
                <a:gd name="T97" fmla="*/ 18 h 581"/>
                <a:gd name="T98" fmla="*/ 36 w 37"/>
                <a:gd name="T99" fmla="*/ 5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7" h="581">
                  <a:moveTo>
                    <a:pt x="0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23"/>
                  </a:lnTo>
                  <a:lnTo>
                    <a:pt x="0" y="30"/>
                  </a:lnTo>
                  <a:lnTo>
                    <a:pt x="0" y="38"/>
                  </a:lnTo>
                  <a:lnTo>
                    <a:pt x="0" y="45"/>
                  </a:lnTo>
                  <a:lnTo>
                    <a:pt x="0" y="54"/>
                  </a:lnTo>
                  <a:lnTo>
                    <a:pt x="1" y="63"/>
                  </a:lnTo>
                  <a:lnTo>
                    <a:pt x="1" y="72"/>
                  </a:lnTo>
                  <a:lnTo>
                    <a:pt x="1" y="91"/>
                  </a:lnTo>
                  <a:lnTo>
                    <a:pt x="1" y="110"/>
                  </a:lnTo>
                  <a:lnTo>
                    <a:pt x="3" y="131"/>
                  </a:lnTo>
                  <a:lnTo>
                    <a:pt x="3" y="152"/>
                  </a:lnTo>
                  <a:lnTo>
                    <a:pt x="3" y="174"/>
                  </a:lnTo>
                  <a:lnTo>
                    <a:pt x="4" y="195"/>
                  </a:lnTo>
                  <a:lnTo>
                    <a:pt x="4" y="216"/>
                  </a:lnTo>
                  <a:lnTo>
                    <a:pt x="5" y="236"/>
                  </a:lnTo>
                  <a:lnTo>
                    <a:pt x="5" y="255"/>
                  </a:lnTo>
                  <a:lnTo>
                    <a:pt x="5" y="264"/>
                  </a:lnTo>
                  <a:lnTo>
                    <a:pt x="5" y="273"/>
                  </a:lnTo>
                  <a:lnTo>
                    <a:pt x="5" y="282"/>
                  </a:lnTo>
                  <a:lnTo>
                    <a:pt x="6" y="289"/>
                  </a:lnTo>
                  <a:lnTo>
                    <a:pt x="6" y="320"/>
                  </a:lnTo>
                  <a:lnTo>
                    <a:pt x="7" y="350"/>
                  </a:lnTo>
                  <a:lnTo>
                    <a:pt x="7" y="378"/>
                  </a:lnTo>
                  <a:lnTo>
                    <a:pt x="9" y="393"/>
                  </a:lnTo>
                  <a:lnTo>
                    <a:pt x="9" y="407"/>
                  </a:lnTo>
                  <a:lnTo>
                    <a:pt x="9" y="420"/>
                  </a:lnTo>
                  <a:lnTo>
                    <a:pt x="10" y="432"/>
                  </a:lnTo>
                  <a:lnTo>
                    <a:pt x="10" y="444"/>
                  </a:lnTo>
                  <a:lnTo>
                    <a:pt x="10" y="456"/>
                  </a:lnTo>
                  <a:lnTo>
                    <a:pt x="11" y="468"/>
                  </a:lnTo>
                  <a:lnTo>
                    <a:pt x="11" y="478"/>
                  </a:lnTo>
                  <a:lnTo>
                    <a:pt x="11" y="489"/>
                  </a:lnTo>
                  <a:lnTo>
                    <a:pt x="12" y="498"/>
                  </a:lnTo>
                  <a:lnTo>
                    <a:pt x="12" y="506"/>
                  </a:lnTo>
                  <a:lnTo>
                    <a:pt x="12" y="515"/>
                  </a:lnTo>
                  <a:lnTo>
                    <a:pt x="12" y="523"/>
                  </a:lnTo>
                  <a:lnTo>
                    <a:pt x="14" y="530"/>
                  </a:lnTo>
                  <a:lnTo>
                    <a:pt x="14" y="538"/>
                  </a:lnTo>
                  <a:lnTo>
                    <a:pt x="14" y="545"/>
                  </a:lnTo>
                  <a:lnTo>
                    <a:pt x="15" y="551"/>
                  </a:lnTo>
                  <a:lnTo>
                    <a:pt x="15" y="557"/>
                  </a:lnTo>
                  <a:lnTo>
                    <a:pt x="15" y="563"/>
                  </a:lnTo>
                  <a:lnTo>
                    <a:pt x="16" y="568"/>
                  </a:lnTo>
                  <a:lnTo>
                    <a:pt x="16" y="570"/>
                  </a:lnTo>
                  <a:lnTo>
                    <a:pt x="16" y="573"/>
                  </a:lnTo>
                  <a:lnTo>
                    <a:pt x="17" y="576"/>
                  </a:lnTo>
                  <a:lnTo>
                    <a:pt x="17" y="578"/>
                  </a:lnTo>
                  <a:lnTo>
                    <a:pt x="17" y="579"/>
                  </a:lnTo>
                  <a:lnTo>
                    <a:pt x="18" y="581"/>
                  </a:lnTo>
                  <a:lnTo>
                    <a:pt x="18" y="579"/>
                  </a:lnTo>
                  <a:lnTo>
                    <a:pt x="18" y="578"/>
                  </a:lnTo>
                  <a:lnTo>
                    <a:pt x="18" y="576"/>
                  </a:lnTo>
                  <a:lnTo>
                    <a:pt x="20" y="573"/>
                  </a:lnTo>
                  <a:lnTo>
                    <a:pt x="20" y="570"/>
                  </a:lnTo>
                  <a:lnTo>
                    <a:pt x="20" y="568"/>
                  </a:lnTo>
                  <a:lnTo>
                    <a:pt x="21" y="562"/>
                  </a:lnTo>
                  <a:lnTo>
                    <a:pt x="21" y="557"/>
                  </a:lnTo>
                  <a:lnTo>
                    <a:pt x="21" y="551"/>
                  </a:lnTo>
                  <a:lnTo>
                    <a:pt x="22" y="545"/>
                  </a:lnTo>
                  <a:lnTo>
                    <a:pt x="22" y="538"/>
                  </a:lnTo>
                  <a:lnTo>
                    <a:pt x="22" y="530"/>
                  </a:lnTo>
                  <a:lnTo>
                    <a:pt x="23" y="523"/>
                  </a:lnTo>
                  <a:lnTo>
                    <a:pt x="23" y="515"/>
                  </a:lnTo>
                  <a:lnTo>
                    <a:pt x="23" y="506"/>
                  </a:lnTo>
                  <a:lnTo>
                    <a:pt x="25" y="498"/>
                  </a:lnTo>
                  <a:lnTo>
                    <a:pt x="25" y="489"/>
                  </a:lnTo>
                  <a:lnTo>
                    <a:pt x="25" y="478"/>
                  </a:lnTo>
                  <a:lnTo>
                    <a:pt x="26" y="468"/>
                  </a:lnTo>
                  <a:lnTo>
                    <a:pt x="26" y="456"/>
                  </a:lnTo>
                  <a:lnTo>
                    <a:pt x="26" y="444"/>
                  </a:lnTo>
                  <a:lnTo>
                    <a:pt x="27" y="432"/>
                  </a:lnTo>
                  <a:lnTo>
                    <a:pt x="27" y="420"/>
                  </a:lnTo>
                  <a:lnTo>
                    <a:pt x="28" y="407"/>
                  </a:lnTo>
                  <a:lnTo>
                    <a:pt x="28" y="393"/>
                  </a:lnTo>
                  <a:lnTo>
                    <a:pt x="30" y="380"/>
                  </a:lnTo>
                  <a:lnTo>
                    <a:pt x="30" y="350"/>
                  </a:lnTo>
                  <a:lnTo>
                    <a:pt x="31" y="320"/>
                  </a:lnTo>
                  <a:lnTo>
                    <a:pt x="32" y="291"/>
                  </a:lnTo>
                  <a:lnTo>
                    <a:pt x="32" y="282"/>
                  </a:lnTo>
                  <a:lnTo>
                    <a:pt x="32" y="274"/>
                  </a:lnTo>
                  <a:lnTo>
                    <a:pt x="32" y="256"/>
                  </a:lnTo>
                  <a:lnTo>
                    <a:pt x="33" y="237"/>
                  </a:lnTo>
                  <a:lnTo>
                    <a:pt x="33" y="218"/>
                  </a:lnTo>
                  <a:lnTo>
                    <a:pt x="33" y="198"/>
                  </a:lnTo>
                  <a:lnTo>
                    <a:pt x="33" y="177"/>
                  </a:lnTo>
                  <a:lnTo>
                    <a:pt x="34" y="136"/>
                  </a:lnTo>
                  <a:lnTo>
                    <a:pt x="34" y="116"/>
                  </a:lnTo>
                  <a:lnTo>
                    <a:pt x="34" y="96"/>
                  </a:lnTo>
                  <a:lnTo>
                    <a:pt x="36" y="78"/>
                  </a:lnTo>
                  <a:lnTo>
                    <a:pt x="36" y="58"/>
                  </a:lnTo>
                  <a:lnTo>
                    <a:pt x="36" y="42"/>
                  </a:lnTo>
                  <a:lnTo>
                    <a:pt x="36" y="33"/>
                  </a:lnTo>
                  <a:lnTo>
                    <a:pt x="36" y="26"/>
                  </a:lnTo>
                  <a:lnTo>
                    <a:pt x="36" y="18"/>
                  </a:lnTo>
                  <a:lnTo>
                    <a:pt x="36" y="12"/>
                  </a:lnTo>
                  <a:lnTo>
                    <a:pt x="36" y="5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03" name="Freeform 71"/>
            <p:cNvSpPr>
              <a:spLocks/>
            </p:cNvSpPr>
            <p:nvPr/>
          </p:nvSpPr>
          <p:spPr bwMode="auto">
            <a:xfrm>
              <a:off x="2783" y="965"/>
              <a:ext cx="36" cy="290"/>
            </a:xfrm>
            <a:custGeom>
              <a:avLst/>
              <a:gdLst>
                <a:gd name="T0" fmla="*/ 0 w 36"/>
                <a:gd name="T1" fmla="*/ 5 h 581"/>
                <a:gd name="T2" fmla="*/ 0 w 36"/>
                <a:gd name="T3" fmla="*/ 15 h 581"/>
                <a:gd name="T4" fmla="*/ 0 w 36"/>
                <a:gd name="T5" fmla="*/ 30 h 581"/>
                <a:gd name="T6" fmla="*/ 0 w 36"/>
                <a:gd name="T7" fmla="*/ 45 h 581"/>
                <a:gd name="T8" fmla="*/ 1 w 36"/>
                <a:gd name="T9" fmla="*/ 63 h 581"/>
                <a:gd name="T10" fmla="*/ 1 w 36"/>
                <a:gd name="T11" fmla="*/ 91 h 581"/>
                <a:gd name="T12" fmla="*/ 2 w 36"/>
                <a:gd name="T13" fmla="*/ 131 h 581"/>
                <a:gd name="T14" fmla="*/ 2 w 36"/>
                <a:gd name="T15" fmla="*/ 174 h 581"/>
                <a:gd name="T16" fmla="*/ 3 w 36"/>
                <a:gd name="T17" fmla="*/ 216 h 581"/>
                <a:gd name="T18" fmla="*/ 5 w 36"/>
                <a:gd name="T19" fmla="*/ 255 h 581"/>
                <a:gd name="T20" fmla="*/ 5 w 36"/>
                <a:gd name="T21" fmla="*/ 273 h 581"/>
                <a:gd name="T22" fmla="*/ 6 w 36"/>
                <a:gd name="T23" fmla="*/ 289 h 581"/>
                <a:gd name="T24" fmla="*/ 7 w 36"/>
                <a:gd name="T25" fmla="*/ 350 h 581"/>
                <a:gd name="T26" fmla="*/ 8 w 36"/>
                <a:gd name="T27" fmla="*/ 393 h 581"/>
                <a:gd name="T28" fmla="*/ 8 w 36"/>
                <a:gd name="T29" fmla="*/ 420 h 581"/>
                <a:gd name="T30" fmla="*/ 9 w 36"/>
                <a:gd name="T31" fmla="*/ 444 h 581"/>
                <a:gd name="T32" fmla="*/ 11 w 36"/>
                <a:gd name="T33" fmla="*/ 468 h 581"/>
                <a:gd name="T34" fmla="*/ 11 w 36"/>
                <a:gd name="T35" fmla="*/ 489 h 581"/>
                <a:gd name="T36" fmla="*/ 12 w 36"/>
                <a:gd name="T37" fmla="*/ 506 h 581"/>
                <a:gd name="T38" fmla="*/ 12 w 36"/>
                <a:gd name="T39" fmla="*/ 523 h 581"/>
                <a:gd name="T40" fmla="*/ 13 w 36"/>
                <a:gd name="T41" fmla="*/ 538 h 581"/>
                <a:gd name="T42" fmla="*/ 14 w 36"/>
                <a:gd name="T43" fmla="*/ 551 h 581"/>
                <a:gd name="T44" fmla="*/ 14 w 36"/>
                <a:gd name="T45" fmla="*/ 563 h 581"/>
                <a:gd name="T46" fmla="*/ 16 w 36"/>
                <a:gd name="T47" fmla="*/ 570 h 581"/>
                <a:gd name="T48" fmla="*/ 17 w 36"/>
                <a:gd name="T49" fmla="*/ 576 h 581"/>
                <a:gd name="T50" fmla="*/ 17 w 36"/>
                <a:gd name="T51" fmla="*/ 579 h 581"/>
                <a:gd name="T52" fmla="*/ 18 w 36"/>
                <a:gd name="T53" fmla="*/ 579 h 581"/>
                <a:gd name="T54" fmla="*/ 18 w 36"/>
                <a:gd name="T55" fmla="*/ 576 h 581"/>
                <a:gd name="T56" fmla="*/ 19 w 36"/>
                <a:gd name="T57" fmla="*/ 570 h 581"/>
                <a:gd name="T58" fmla="*/ 20 w 36"/>
                <a:gd name="T59" fmla="*/ 562 h 581"/>
                <a:gd name="T60" fmla="*/ 20 w 36"/>
                <a:gd name="T61" fmla="*/ 551 h 581"/>
                <a:gd name="T62" fmla="*/ 22 w 36"/>
                <a:gd name="T63" fmla="*/ 538 h 581"/>
                <a:gd name="T64" fmla="*/ 23 w 36"/>
                <a:gd name="T65" fmla="*/ 523 h 581"/>
                <a:gd name="T66" fmla="*/ 23 w 36"/>
                <a:gd name="T67" fmla="*/ 506 h 581"/>
                <a:gd name="T68" fmla="*/ 24 w 36"/>
                <a:gd name="T69" fmla="*/ 489 h 581"/>
                <a:gd name="T70" fmla="*/ 25 w 36"/>
                <a:gd name="T71" fmla="*/ 468 h 581"/>
                <a:gd name="T72" fmla="*/ 25 w 36"/>
                <a:gd name="T73" fmla="*/ 444 h 581"/>
                <a:gd name="T74" fmla="*/ 27 w 36"/>
                <a:gd name="T75" fmla="*/ 420 h 581"/>
                <a:gd name="T76" fmla="*/ 28 w 36"/>
                <a:gd name="T77" fmla="*/ 393 h 581"/>
                <a:gd name="T78" fmla="*/ 29 w 36"/>
                <a:gd name="T79" fmla="*/ 350 h 581"/>
                <a:gd name="T80" fmla="*/ 32 w 36"/>
                <a:gd name="T81" fmla="*/ 291 h 581"/>
                <a:gd name="T82" fmla="*/ 32 w 36"/>
                <a:gd name="T83" fmla="*/ 274 h 581"/>
                <a:gd name="T84" fmla="*/ 33 w 36"/>
                <a:gd name="T85" fmla="*/ 237 h 581"/>
                <a:gd name="T86" fmla="*/ 33 w 36"/>
                <a:gd name="T87" fmla="*/ 198 h 581"/>
                <a:gd name="T88" fmla="*/ 34 w 36"/>
                <a:gd name="T89" fmla="*/ 136 h 581"/>
                <a:gd name="T90" fmla="*/ 34 w 36"/>
                <a:gd name="T91" fmla="*/ 96 h 581"/>
                <a:gd name="T92" fmla="*/ 35 w 36"/>
                <a:gd name="T93" fmla="*/ 58 h 581"/>
                <a:gd name="T94" fmla="*/ 35 w 36"/>
                <a:gd name="T95" fmla="*/ 33 h 581"/>
                <a:gd name="T96" fmla="*/ 35 w 36"/>
                <a:gd name="T97" fmla="*/ 18 h 581"/>
                <a:gd name="T98" fmla="*/ 35 w 36"/>
                <a:gd name="T99" fmla="*/ 5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" h="581">
                  <a:moveTo>
                    <a:pt x="0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23"/>
                  </a:lnTo>
                  <a:lnTo>
                    <a:pt x="0" y="30"/>
                  </a:lnTo>
                  <a:lnTo>
                    <a:pt x="0" y="38"/>
                  </a:lnTo>
                  <a:lnTo>
                    <a:pt x="0" y="45"/>
                  </a:lnTo>
                  <a:lnTo>
                    <a:pt x="0" y="54"/>
                  </a:lnTo>
                  <a:lnTo>
                    <a:pt x="1" y="63"/>
                  </a:lnTo>
                  <a:lnTo>
                    <a:pt x="1" y="72"/>
                  </a:lnTo>
                  <a:lnTo>
                    <a:pt x="1" y="91"/>
                  </a:lnTo>
                  <a:lnTo>
                    <a:pt x="1" y="110"/>
                  </a:lnTo>
                  <a:lnTo>
                    <a:pt x="2" y="131"/>
                  </a:lnTo>
                  <a:lnTo>
                    <a:pt x="2" y="152"/>
                  </a:lnTo>
                  <a:lnTo>
                    <a:pt x="2" y="174"/>
                  </a:lnTo>
                  <a:lnTo>
                    <a:pt x="3" y="195"/>
                  </a:lnTo>
                  <a:lnTo>
                    <a:pt x="3" y="216"/>
                  </a:lnTo>
                  <a:lnTo>
                    <a:pt x="5" y="236"/>
                  </a:lnTo>
                  <a:lnTo>
                    <a:pt x="5" y="255"/>
                  </a:lnTo>
                  <a:lnTo>
                    <a:pt x="5" y="264"/>
                  </a:lnTo>
                  <a:lnTo>
                    <a:pt x="5" y="273"/>
                  </a:lnTo>
                  <a:lnTo>
                    <a:pt x="5" y="282"/>
                  </a:lnTo>
                  <a:lnTo>
                    <a:pt x="6" y="289"/>
                  </a:lnTo>
                  <a:lnTo>
                    <a:pt x="6" y="320"/>
                  </a:lnTo>
                  <a:lnTo>
                    <a:pt x="7" y="350"/>
                  </a:lnTo>
                  <a:lnTo>
                    <a:pt x="7" y="378"/>
                  </a:lnTo>
                  <a:lnTo>
                    <a:pt x="8" y="393"/>
                  </a:lnTo>
                  <a:lnTo>
                    <a:pt x="8" y="407"/>
                  </a:lnTo>
                  <a:lnTo>
                    <a:pt x="8" y="420"/>
                  </a:lnTo>
                  <a:lnTo>
                    <a:pt x="9" y="432"/>
                  </a:lnTo>
                  <a:lnTo>
                    <a:pt x="9" y="444"/>
                  </a:lnTo>
                  <a:lnTo>
                    <a:pt x="9" y="456"/>
                  </a:lnTo>
                  <a:lnTo>
                    <a:pt x="11" y="468"/>
                  </a:lnTo>
                  <a:lnTo>
                    <a:pt x="11" y="478"/>
                  </a:lnTo>
                  <a:lnTo>
                    <a:pt x="11" y="489"/>
                  </a:lnTo>
                  <a:lnTo>
                    <a:pt x="12" y="498"/>
                  </a:lnTo>
                  <a:lnTo>
                    <a:pt x="12" y="506"/>
                  </a:lnTo>
                  <a:lnTo>
                    <a:pt x="12" y="515"/>
                  </a:lnTo>
                  <a:lnTo>
                    <a:pt x="12" y="523"/>
                  </a:lnTo>
                  <a:lnTo>
                    <a:pt x="13" y="530"/>
                  </a:lnTo>
                  <a:lnTo>
                    <a:pt x="13" y="538"/>
                  </a:lnTo>
                  <a:lnTo>
                    <a:pt x="13" y="545"/>
                  </a:lnTo>
                  <a:lnTo>
                    <a:pt x="14" y="551"/>
                  </a:lnTo>
                  <a:lnTo>
                    <a:pt x="14" y="557"/>
                  </a:lnTo>
                  <a:lnTo>
                    <a:pt x="14" y="563"/>
                  </a:lnTo>
                  <a:lnTo>
                    <a:pt x="16" y="568"/>
                  </a:lnTo>
                  <a:lnTo>
                    <a:pt x="16" y="570"/>
                  </a:lnTo>
                  <a:lnTo>
                    <a:pt x="16" y="573"/>
                  </a:lnTo>
                  <a:lnTo>
                    <a:pt x="17" y="576"/>
                  </a:lnTo>
                  <a:lnTo>
                    <a:pt x="17" y="578"/>
                  </a:lnTo>
                  <a:lnTo>
                    <a:pt x="17" y="579"/>
                  </a:lnTo>
                  <a:lnTo>
                    <a:pt x="18" y="581"/>
                  </a:lnTo>
                  <a:lnTo>
                    <a:pt x="18" y="579"/>
                  </a:lnTo>
                  <a:lnTo>
                    <a:pt x="18" y="578"/>
                  </a:lnTo>
                  <a:lnTo>
                    <a:pt x="18" y="576"/>
                  </a:lnTo>
                  <a:lnTo>
                    <a:pt x="19" y="573"/>
                  </a:lnTo>
                  <a:lnTo>
                    <a:pt x="19" y="570"/>
                  </a:lnTo>
                  <a:lnTo>
                    <a:pt x="19" y="568"/>
                  </a:lnTo>
                  <a:lnTo>
                    <a:pt x="20" y="562"/>
                  </a:lnTo>
                  <a:lnTo>
                    <a:pt x="20" y="557"/>
                  </a:lnTo>
                  <a:lnTo>
                    <a:pt x="20" y="551"/>
                  </a:lnTo>
                  <a:lnTo>
                    <a:pt x="22" y="545"/>
                  </a:lnTo>
                  <a:lnTo>
                    <a:pt x="22" y="538"/>
                  </a:lnTo>
                  <a:lnTo>
                    <a:pt x="22" y="530"/>
                  </a:lnTo>
                  <a:lnTo>
                    <a:pt x="23" y="523"/>
                  </a:lnTo>
                  <a:lnTo>
                    <a:pt x="23" y="515"/>
                  </a:lnTo>
                  <a:lnTo>
                    <a:pt x="23" y="506"/>
                  </a:lnTo>
                  <a:lnTo>
                    <a:pt x="24" y="498"/>
                  </a:lnTo>
                  <a:lnTo>
                    <a:pt x="24" y="489"/>
                  </a:lnTo>
                  <a:lnTo>
                    <a:pt x="24" y="478"/>
                  </a:lnTo>
                  <a:lnTo>
                    <a:pt x="25" y="468"/>
                  </a:lnTo>
                  <a:lnTo>
                    <a:pt x="25" y="456"/>
                  </a:lnTo>
                  <a:lnTo>
                    <a:pt x="25" y="444"/>
                  </a:lnTo>
                  <a:lnTo>
                    <a:pt x="27" y="432"/>
                  </a:lnTo>
                  <a:lnTo>
                    <a:pt x="27" y="420"/>
                  </a:lnTo>
                  <a:lnTo>
                    <a:pt x="28" y="407"/>
                  </a:lnTo>
                  <a:lnTo>
                    <a:pt x="28" y="393"/>
                  </a:lnTo>
                  <a:lnTo>
                    <a:pt x="29" y="380"/>
                  </a:lnTo>
                  <a:lnTo>
                    <a:pt x="29" y="350"/>
                  </a:lnTo>
                  <a:lnTo>
                    <a:pt x="30" y="320"/>
                  </a:lnTo>
                  <a:lnTo>
                    <a:pt x="32" y="291"/>
                  </a:lnTo>
                  <a:lnTo>
                    <a:pt x="32" y="282"/>
                  </a:lnTo>
                  <a:lnTo>
                    <a:pt x="32" y="274"/>
                  </a:lnTo>
                  <a:lnTo>
                    <a:pt x="32" y="256"/>
                  </a:lnTo>
                  <a:lnTo>
                    <a:pt x="33" y="237"/>
                  </a:lnTo>
                  <a:lnTo>
                    <a:pt x="33" y="218"/>
                  </a:lnTo>
                  <a:lnTo>
                    <a:pt x="33" y="198"/>
                  </a:lnTo>
                  <a:lnTo>
                    <a:pt x="33" y="177"/>
                  </a:lnTo>
                  <a:lnTo>
                    <a:pt x="34" y="136"/>
                  </a:lnTo>
                  <a:lnTo>
                    <a:pt x="34" y="116"/>
                  </a:lnTo>
                  <a:lnTo>
                    <a:pt x="34" y="96"/>
                  </a:lnTo>
                  <a:lnTo>
                    <a:pt x="35" y="78"/>
                  </a:lnTo>
                  <a:lnTo>
                    <a:pt x="35" y="58"/>
                  </a:lnTo>
                  <a:lnTo>
                    <a:pt x="35" y="42"/>
                  </a:lnTo>
                  <a:lnTo>
                    <a:pt x="35" y="33"/>
                  </a:lnTo>
                  <a:lnTo>
                    <a:pt x="35" y="26"/>
                  </a:lnTo>
                  <a:lnTo>
                    <a:pt x="35" y="18"/>
                  </a:lnTo>
                  <a:lnTo>
                    <a:pt x="35" y="12"/>
                  </a:lnTo>
                  <a:lnTo>
                    <a:pt x="35" y="5"/>
                  </a:lnTo>
                  <a:lnTo>
                    <a:pt x="36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04" name="Freeform 72"/>
            <p:cNvSpPr>
              <a:spLocks/>
            </p:cNvSpPr>
            <p:nvPr/>
          </p:nvSpPr>
          <p:spPr bwMode="auto">
            <a:xfrm>
              <a:off x="2856" y="965"/>
              <a:ext cx="37" cy="290"/>
            </a:xfrm>
            <a:custGeom>
              <a:avLst/>
              <a:gdLst>
                <a:gd name="T0" fmla="*/ 0 w 37"/>
                <a:gd name="T1" fmla="*/ 5 h 581"/>
                <a:gd name="T2" fmla="*/ 0 w 37"/>
                <a:gd name="T3" fmla="*/ 15 h 581"/>
                <a:gd name="T4" fmla="*/ 0 w 37"/>
                <a:gd name="T5" fmla="*/ 30 h 581"/>
                <a:gd name="T6" fmla="*/ 0 w 37"/>
                <a:gd name="T7" fmla="*/ 45 h 581"/>
                <a:gd name="T8" fmla="*/ 1 w 37"/>
                <a:gd name="T9" fmla="*/ 63 h 581"/>
                <a:gd name="T10" fmla="*/ 1 w 37"/>
                <a:gd name="T11" fmla="*/ 91 h 581"/>
                <a:gd name="T12" fmla="*/ 3 w 37"/>
                <a:gd name="T13" fmla="*/ 131 h 581"/>
                <a:gd name="T14" fmla="*/ 3 w 37"/>
                <a:gd name="T15" fmla="*/ 174 h 581"/>
                <a:gd name="T16" fmla="*/ 4 w 37"/>
                <a:gd name="T17" fmla="*/ 216 h 581"/>
                <a:gd name="T18" fmla="*/ 5 w 37"/>
                <a:gd name="T19" fmla="*/ 255 h 581"/>
                <a:gd name="T20" fmla="*/ 5 w 37"/>
                <a:gd name="T21" fmla="*/ 273 h 581"/>
                <a:gd name="T22" fmla="*/ 6 w 37"/>
                <a:gd name="T23" fmla="*/ 289 h 581"/>
                <a:gd name="T24" fmla="*/ 8 w 37"/>
                <a:gd name="T25" fmla="*/ 350 h 581"/>
                <a:gd name="T26" fmla="*/ 9 w 37"/>
                <a:gd name="T27" fmla="*/ 393 h 581"/>
                <a:gd name="T28" fmla="*/ 9 w 37"/>
                <a:gd name="T29" fmla="*/ 420 h 581"/>
                <a:gd name="T30" fmla="*/ 10 w 37"/>
                <a:gd name="T31" fmla="*/ 444 h 581"/>
                <a:gd name="T32" fmla="*/ 11 w 37"/>
                <a:gd name="T33" fmla="*/ 468 h 581"/>
                <a:gd name="T34" fmla="*/ 11 w 37"/>
                <a:gd name="T35" fmla="*/ 489 h 581"/>
                <a:gd name="T36" fmla="*/ 12 w 37"/>
                <a:gd name="T37" fmla="*/ 506 h 581"/>
                <a:gd name="T38" fmla="*/ 12 w 37"/>
                <a:gd name="T39" fmla="*/ 523 h 581"/>
                <a:gd name="T40" fmla="*/ 14 w 37"/>
                <a:gd name="T41" fmla="*/ 538 h 581"/>
                <a:gd name="T42" fmla="*/ 15 w 37"/>
                <a:gd name="T43" fmla="*/ 551 h 581"/>
                <a:gd name="T44" fmla="*/ 15 w 37"/>
                <a:gd name="T45" fmla="*/ 563 h 581"/>
                <a:gd name="T46" fmla="*/ 16 w 37"/>
                <a:gd name="T47" fmla="*/ 570 h 581"/>
                <a:gd name="T48" fmla="*/ 17 w 37"/>
                <a:gd name="T49" fmla="*/ 576 h 581"/>
                <a:gd name="T50" fmla="*/ 17 w 37"/>
                <a:gd name="T51" fmla="*/ 579 h 581"/>
                <a:gd name="T52" fmla="*/ 19 w 37"/>
                <a:gd name="T53" fmla="*/ 579 h 581"/>
                <a:gd name="T54" fmla="*/ 19 w 37"/>
                <a:gd name="T55" fmla="*/ 576 h 581"/>
                <a:gd name="T56" fmla="*/ 20 w 37"/>
                <a:gd name="T57" fmla="*/ 570 h 581"/>
                <a:gd name="T58" fmla="*/ 21 w 37"/>
                <a:gd name="T59" fmla="*/ 562 h 581"/>
                <a:gd name="T60" fmla="*/ 21 w 37"/>
                <a:gd name="T61" fmla="*/ 551 h 581"/>
                <a:gd name="T62" fmla="*/ 22 w 37"/>
                <a:gd name="T63" fmla="*/ 538 h 581"/>
                <a:gd name="T64" fmla="*/ 23 w 37"/>
                <a:gd name="T65" fmla="*/ 523 h 581"/>
                <a:gd name="T66" fmla="*/ 23 w 37"/>
                <a:gd name="T67" fmla="*/ 506 h 581"/>
                <a:gd name="T68" fmla="*/ 25 w 37"/>
                <a:gd name="T69" fmla="*/ 489 h 581"/>
                <a:gd name="T70" fmla="*/ 26 w 37"/>
                <a:gd name="T71" fmla="*/ 468 h 581"/>
                <a:gd name="T72" fmla="*/ 26 w 37"/>
                <a:gd name="T73" fmla="*/ 444 h 581"/>
                <a:gd name="T74" fmla="*/ 27 w 37"/>
                <a:gd name="T75" fmla="*/ 420 h 581"/>
                <a:gd name="T76" fmla="*/ 28 w 37"/>
                <a:gd name="T77" fmla="*/ 393 h 581"/>
                <a:gd name="T78" fmla="*/ 30 w 37"/>
                <a:gd name="T79" fmla="*/ 350 h 581"/>
                <a:gd name="T80" fmla="*/ 32 w 37"/>
                <a:gd name="T81" fmla="*/ 291 h 581"/>
                <a:gd name="T82" fmla="*/ 32 w 37"/>
                <a:gd name="T83" fmla="*/ 274 h 581"/>
                <a:gd name="T84" fmla="*/ 33 w 37"/>
                <a:gd name="T85" fmla="*/ 237 h 581"/>
                <a:gd name="T86" fmla="*/ 33 w 37"/>
                <a:gd name="T87" fmla="*/ 198 h 581"/>
                <a:gd name="T88" fmla="*/ 35 w 37"/>
                <a:gd name="T89" fmla="*/ 136 h 581"/>
                <a:gd name="T90" fmla="*/ 35 w 37"/>
                <a:gd name="T91" fmla="*/ 96 h 581"/>
                <a:gd name="T92" fmla="*/ 36 w 37"/>
                <a:gd name="T93" fmla="*/ 58 h 581"/>
                <a:gd name="T94" fmla="*/ 36 w 37"/>
                <a:gd name="T95" fmla="*/ 33 h 581"/>
                <a:gd name="T96" fmla="*/ 36 w 37"/>
                <a:gd name="T97" fmla="*/ 18 h 581"/>
                <a:gd name="T98" fmla="*/ 36 w 37"/>
                <a:gd name="T99" fmla="*/ 5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7" h="581">
                  <a:moveTo>
                    <a:pt x="0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23"/>
                  </a:lnTo>
                  <a:lnTo>
                    <a:pt x="0" y="30"/>
                  </a:lnTo>
                  <a:lnTo>
                    <a:pt x="0" y="38"/>
                  </a:lnTo>
                  <a:lnTo>
                    <a:pt x="0" y="45"/>
                  </a:lnTo>
                  <a:lnTo>
                    <a:pt x="0" y="54"/>
                  </a:lnTo>
                  <a:lnTo>
                    <a:pt x="1" y="63"/>
                  </a:lnTo>
                  <a:lnTo>
                    <a:pt x="1" y="72"/>
                  </a:lnTo>
                  <a:lnTo>
                    <a:pt x="1" y="91"/>
                  </a:lnTo>
                  <a:lnTo>
                    <a:pt x="1" y="110"/>
                  </a:lnTo>
                  <a:lnTo>
                    <a:pt x="3" y="131"/>
                  </a:lnTo>
                  <a:lnTo>
                    <a:pt x="3" y="152"/>
                  </a:lnTo>
                  <a:lnTo>
                    <a:pt x="3" y="174"/>
                  </a:lnTo>
                  <a:lnTo>
                    <a:pt x="4" y="195"/>
                  </a:lnTo>
                  <a:lnTo>
                    <a:pt x="4" y="216"/>
                  </a:lnTo>
                  <a:lnTo>
                    <a:pt x="5" y="236"/>
                  </a:lnTo>
                  <a:lnTo>
                    <a:pt x="5" y="255"/>
                  </a:lnTo>
                  <a:lnTo>
                    <a:pt x="5" y="264"/>
                  </a:lnTo>
                  <a:lnTo>
                    <a:pt x="5" y="273"/>
                  </a:lnTo>
                  <a:lnTo>
                    <a:pt x="5" y="282"/>
                  </a:lnTo>
                  <a:lnTo>
                    <a:pt x="6" y="289"/>
                  </a:lnTo>
                  <a:lnTo>
                    <a:pt x="6" y="320"/>
                  </a:lnTo>
                  <a:lnTo>
                    <a:pt x="8" y="350"/>
                  </a:lnTo>
                  <a:lnTo>
                    <a:pt x="8" y="378"/>
                  </a:lnTo>
                  <a:lnTo>
                    <a:pt x="9" y="393"/>
                  </a:lnTo>
                  <a:lnTo>
                    <a:pt x="9" y="407"/>
                  </a:lnTo>
                  <a:lnTo>
                    <a:pt x="9" y="420"/>
                  </a:lnTo>
                  <a:lnTo>
                    <a:pt x="10" y="432"/>
                  </a:lnTo>
                  <a:lnTo>
                    <a:pt x="10" y="444"/>
                  </a:lnTo>
                  <a:lnTo>
                    <a:pt x="10" y="456"/>
                  </a:lnTo>
                  <a:lnTo>
                    <a:pt x="11" y="468"/>
                  </a:lnTo>
                  <a:lnTo>
                    <a:pt x="11" y="478"/>
                  </a:lnTo>
                  <a:lnTo>
                    <a:pt x="11" y="489"/>
                  </a:lnTo>
                  <a:lnTo>
                    <a:pt x="12" y="498"/>
                  </a:lnTo>
                  <a:lnTo>
                    <a:pt x="12" y="506"/>
                  </a:lnTo>
                  <a:lnTo>
                    <a:pt x="12" y="515"/>
                  </a:lnTo>
                  <a:lnTo>
                    <a:pt x="12" y="523"/>
                  </a:lnTo>
                  <a:lnTo>
                    <a:pt x="14" y="530"/>
                  </a:lnTo>
                  <a:lnTo>
                    <a:pt x="14" y="538"/>
                  </a:lnTo>
                  <a:lnTo>
                    <a:pt x="14" y="545"/>
                  </a:lnTo>
                  <a:lnTo>
                    <a:pt x="15" y="551"/>
                  </a:lnTo>
                  <a:lnTo>
                    <a:pt x="15" y="557"/>
                  </a:lnTo>
                  <a:lnTo>
                    <a:pt x="15" y="563"/>
                  </a:lnTo>
                  <a:lnTo>
                    <a:pt x="16" y="568"/>
                  </a:lnTo>
                  <a:lnTo>
                    <a:pt x="16" y="570"/>
                  </a:lnTo>
                  <a:lnTo>
                    <a:pt x="16" y="573"/>
                  </a:lnTo>
                  <a:lnTo>
                    <a:pt x="17" y="576"/>
                  </a:lnTo>
                  <a:lnTo>
                    <a:pt x="17" y="578"/>
                  </a:lnTo>
                  <a:lnTo>
                    <a:pt x="17" y="579"/>
                  </a:lnTo>
                  <a:lnTo>
                    <a:pt x="19" y="581"/>
                  </a:lnTo>
                  <a:lnTo>
                    <a:pt x="19" y="579"/>
                  </a:lnTo>
                  <a:lnTo>
                    <a:pt x="19" y="578"/>
                  </a:lnTo>
                  <a:lnTo>
                    <a:pt x="19" y="576"/>
                  </a:lnTo>
                  <a:lnTo>
                    <a:pt x="20" y="573"/>
                  </a:lnTo>
                  <a:lnTo>
                    <a:pt x="20" y="570"/>
                  </a:lnTo>
                  <a:lnTo>
                    <a:pt x="20" y="568"/>
                  </a:lnTo>
                  <a:lnTo>
                    <a:pt x="21" y="562"/>
                  </a:lnTo>
                  <a:lnTo>
                    <a:pt x="21" y="557"/>
                  </a:lnTo>
                  <a:lnTo>
                    <a:pt x="21" y="551"/>
                  </a:lnTo>
                  <a:lnTo>
                    <a:pt x="22" y="545"/>
                  </a:lnTo>
                  <a:lnTo>
                    <a:pt x="22" y="538"/>
                  </a:lnTo>
                  <a:lnTo>
                    <a:pt x="22" y="530"/>
                  </a:lnTo>
                  <a:lnTo>
                    <a:pt x="23" y="523"/>
                  </a:lnTo>
                  <a:lnTo>
                    <a:pt x="23" y="515"/>
                  </a:lnTo>
                  <a:lnTo>
                    <a:pt x="23" y="506"/>
                  </a:lnTo>
                  <a:lnTo>
                    <a:pt x="25" y="498"/>
                  </a:lnTo>
                  <a:lnTo>
                    <a:pt x="25" y="489"/>
                  </a:lnTo>
                  <a:lnTo>
                    <a:pt x="25" y="478"/>
                  </a:lnTo>
                  <a:lnTo>
                    <a:pt x="26" y="468"/>
                  </a:lnTo>
                  <a:lnTo>
                    <a:pt x="26" y="456"/>
                  </a:lnTo>
                  <a:lnTo>
                    <a:pt x="26" y="444"/>
                  </a:lnTo>
                  <a:lnTo>
                    <a:pt x="27" y="432"/>
                  </a:lnTo>
                  <a:lnTo>
                    <a:pt x="27" y="420"/>
                  </a:lnTo>
                  <a:lnTo>
                    <a:pt x="28" y="407"/>
                  </a:lnTo>
                  <a:lnTo>
                    <a:pt x="28" y="393"/>
                  </a:lnTo>
                  <a:lnTo>
                    <a:pt x="30" y="380"/>
                  </a:lnTo>
                  <a:lnTo>
                    <a:pt x="30" y="350"/>
                  </a:lnTo>
                  <a:lnTo>
                    <a:pt x="31" y="320"/>
                  </a:lnTo>
                  <a:lnTo>
                    <a:pt x="32" y="291"/>
                  </a:lnTo>
                  <a:lnTo>
                    <a:pt x="32" y="282"/>
                  </a:lnTo>
                  <a:lnTo>
                    <a:pt x="32" y="274"/>
                  </a:lnTo>
                  <a:lnTo>
                    <a:pt x="32" y="256"/>
                  </a:lnTo>
                  <a:lnTo>
                    <a:pt x="33" y="237"/>
                  </a:lnTo>
                  <a:lnTo>
                    <a:pt x="33" y="218"/>
                  </a:lnTo>
                  <a:lnTo>
                    <a:pt x="33" y="198"/>
                  </a:lnTo>
                  <a:lnTo>
                    <a:pt x="33" y="177"/>
                  </a:lnTo>
                  <a:lnTo>
                    <a:pt x="35" y="136"/>
                  </a:lnTo>
                  <a:lnTo>
                    <a:pt x="35" y="116"/>
                  </a:lnTo>
                  <a:lnTo>
                    <a:pt x="35" y="96"/>
                  </a:lnTo>
                  <a:lnTo>
                    <a:pt x="36" y="78"/>
                  </a:lnTo>
                  <a:lnTo>
                    <a:pt x="36" y="58"/>
                  </a:lnTo>
                  <a:lnTo>
                    <a:pt x="36" y="42"/>
                  </a:lnTo>
                  <a:lnTo>
                    <a:pt x="36" y="33"/>
                  </a:lnTo>
                  <a:lnTo>
                    <a:pt x="36" y="26"/>
                  </a:lnTo>
                  <a:lnTo>
                    <a:pt x="36" y="18"/>
                  </a:lnTo>
                  <a:lnTo>
                    <a:pt x="36" y="12"/>
                  </a:lnTo>
                  <a:lnTo>
                    <a:pt x="36" y="5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05" name="Freeform 73"/>
            <p:cNvSpPr>
              <a:spLocks/>
            </p:cNvSpPr>
            <p:nvPr/>
          </p:nvSpPr>
          <p:spPr bwMode="auto">
            <a:xfrm>
              <a:off x="3868" y="652"/>
              <a:ext cx="55" cy="313"/>
            </a:xfrm>
            <a:custGeom>
              <a:avLst/>
              <a:gdLst>
                <a:gd name="T0" fmla="*/ 0 w 55"/>
                <a:gd name="T1" fmla="*/ 619 h 625"/>
                <a:gd name="T2" fmla="*/ 0 w 55"/>
                <a:gd name="T3" fmla="*/ 607 h 625"/>
                <a:gd name="T4" fmla="*/ 0 w 55"/>
                <a:gd name="T5" fmla="*/ 593 h 625"/>
                <a:gd name="T6" fmla="*/ 1 w 55"/>
                <a:gd name="T7" fmla="*/ 576 h 625"/>
                <a:gd name="T8" fmla="*/ 1 w 55"/>
                <a:gd name="T9" fmla="*/ 557 h 625"/>
                <a:gd name="T10" fmla="*/ 2 w 55"/>
                <a:gd name="T11" fmla="*/ 527 h 625"/>
                <a:gd name="T12" fmla="*/ 3 w 55"/>
                <a:gd name="T13" fmla="*/ 482 h 625"/>
                <a:gd name="T14" fmla="*/ 5 w 55"/>
                <a:gd name="T15" fmla="*/ 438 h 625"/>
                <a:gd name="T16" fmla="*/ 6 w 55"/>
                <a:gd name="T17" fmla="*/ 392 h 625"/>
                <a:gd name="T18" fmla="*/ 7 w 55"/>
                <a:gd name="T19" fmla="*/ 350 h 625"/>
                <a:gd name="T20" fmla="*/ 8 w 55"/>
                <a:gd name="T21" fmla="*/ 331 h 625"/>
                <a:gd name="T22" fmla="*/ 8 w 55"/>
                <a:gd name="T23" fmla="*/ 313 h 625"/>
                <a:gd name="T24" fmla="*/ 11 w 55"/>
                <a:gd name="T25" fmla="*/ 247 h 625"/>
                <a:gd name="T26" fmla="*/ 12 w 55"/>
                <a:gd name="T27" fmla="*/ 201 h 625"/>
                <a:gd name="T28" fmla="*/ 13 w 55"/>
                <a:gd name="T29" fmla="*/ 173 h 625"/>
                <a:gd name="T30" fmla="*/ 14 w 55"/>
                <a:gd name="T31" fmla="*/ 146 h 625"/>
                <a:gd name="T32" fmla="*/ 16 w 55"/>
                <a:gd name="T33" fmla="*/ 121 h 625"/>
                <a:gd name="T34" fmla="*/ 17 w 55"/>
                <a:gd name="T35" fmla="*/ 98 h 625"/>
                <a:gd name="T36" fmla="*/ 18 w 55"/>
                <a:gd name="T37" fmla="*/ 79 h 625"/>
                <a:gd name="T38" fmla="*/ 19 w 55"/>
                <a:gd name="T39" fmla="*/ 61 h 625"/>
                <a:gd name="T40" fmla="*/ 20 w 55"/>
                <a:gd name="T41" fmla="*/ 45 h 625"/>
                <a:gd name="T42" fmla="*/ 22 w 55"/>
                <a:gd name="T43" fmla="*/ 30 h 625"/>
                <a:gd name="T44" fmla="*/ 23 w 55"/>
                <a:gd name="T45" fmla="*/ 18 h 625"/>
                <a:gd name="T46" fmla="*/ 24 w 55"/>
                <a:gd name="T47" fmla="*/ 9 h 625"/>
                <a:gd name="T48" fmla="*/ 25 w 55"/>
                <a:gd name="T49" fmla="*/ 3 h 625"/>
                <a:gd name="T50" fmla="*/ 27 w 55"/>
                <a:gd name="T51" fmla="*/ 0 h 625"/>
                <a:gd name="T52" fmla="*/ 27 w 55"/>
                <a:gd name="T53" fmla="*/ 0 h 625"/>
                <a:gd name="T54" fmla="*/ 28 w 55"/>
                <a:gd name="T55" fmla="*/ 3 h 625"/>
                <a:gd name="T56" fmla="*/ 29 w 55"/>
                <a:gd name="T57" fmla="*/ 9 h 625"/>
                <a:gd name="T58" fmla="*/ 30 w 55"/>
                <a:gd name="T59" fmla="*/ 19 h 625"/>
                <a:gd name="T60" fmla="*/ 32 w 55"/>
                <a:gd name="T61" fmla="*/ 31 h 625"/>
                <a:gd name="T62" fmla="*/ 33 w 55"/>
                <a:gd name="T63" fmla="*/ 45 h 625"/>
                <a:gd name="T64" fmla="*/ 34 w 55"/>
                <a:gd name="T65" fmla="*/ 61 h 625"/>
                <a:gd name="T66" fmla="*/ 35 w 55"/>
                <a:gd name="T67" fmla="*/ 79 h 625"/>
                <a:gd name="T68" fmla="*/ 36 w 55"/>
                <a:gd name="T69" fmla="*/ 98 h 625"/>
                <a:gd name="T70" fmla="*/ 38 w 55"/>
                <a:gd name="T71" fmla="*/ 121 h 625"/>
                <a:gd name="T72" fmla="*/ 39 w 55"/>
                <a:gd name="T73" fmla="*/ 146 h 625"/>
                <a:gd name="T74" fmla="*/ 41 w 55"/>
                <a:gd name="T75" fmla="*/ 173 h 625"/>
                <a:gd name="T76" fmla="*/ 43 w 55"/>
                <a:gd name="T77" fmla="*/ 201 h 625"/>
                <a:gd name="T78" fmla="*/ 45 w 55"/>
                <a:gd name="T79" fmla="*/ 247 h 625"/>
                <a:gd name="T80" fmla="*/ 47 w 55"/>
                <a:gd name="T81" fmla="*/ 313 h 625"/>
                <a:gd name="T82" fmla="*/ 47 w 55"/>
                <a:gd name="T83" fmla="*/ 329 h 625"/>
                <a:gd name="T84" fmla="*/ 49 w 55"/>
                <a:gd name="T85" fmla="*/ 368 h 625"/>
                <a:gd name="T86" fmla="*/ 50 w 55"/>
                <a:gd name="T87" fmla="*/ 411 h 625"/>
                <a:gd name="T88" fmla="*/ 51 w 55"/>
                <a:gd name="T89" fmla="*/ 478 h 625"/>
                <a:gd name="T90" fmla="*/ 52 w 55"/>
                <a:gd name="T91" fmla="*/ 521 h 625"/>
                <a:gd name="T92" fmla="*/ 52 w 55"/>
                <a:gd name="T93" fmla="*/ 561 h 625"/>
                <a:gd name="T94" fmla="*/ 54 w 55"/>
                <a:gd name="T95" fmla="*/ 588 h 625"/>
                <a:gd name="T96" fmla="*/ 54 w 55"/>
                <a:gd name="T97" fmla="*/ 604 h 625"/>
                <a:gd name="T98" fmla="*/ 54 w 55"/>
                <a:gd name="T99" fmla="*/ 618 h 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5" h="625">
                  <a:moveTo>
                    <a:pt x="0" y="625"/>
                  </a:moveTo>
                  <a:lnTo>
                    <a:pt x="0" y="619"/>
                  </a:lnTo>
                  <a:lnTo>
                    <a:pt x="0" y="613"/>
                  </a:lnTo>
                  <a:lnTo>
                    <a:pt x="0" y="607"/>
                  </a:lnTo>
                  <a:lnTo>
                    <a:pt x="0" y="600"/>
                  </a:lnTo>
                  <a:lnTo>
                    <a:pt x="0" y="593"/>
                  </a:lnTo>
                  <a:lnTo>
                    <a:pt x="0" y="585"/>
                  </a:lnTo>
                  <a:lnTo>
                    <a:pt x="1" y="576"/>
                  </a:lnTo>
                  <a:lnTo>
                    <a:pt x="1" y="567"/>
                  </a:lnTo>
                  <a:lnTo>
                    <a:pt x="1" y="557"/>
                  </a:lnTo>
                  <a:lnTo>
                    <a:pt x="1" y="548"/>
                  </a:lnTo>
                  <a:lnTo>
                    <a:pt x="2" y="527"/>
                  </a:lnTo>
                  <a:lnTo>
                    <a:pt x="2" y="505"/>
                  </a:lnTo>
                  <a:lnTo>
                    <a:pt x="3" y="482"/>
                  </a:lnTo>
                  <a:lnTo>
                    <a:pt x="3" y="460"/>
                  </a:lnTo>
                  <a:lnTo>
                    <a:pt x="5" y="438"/>
                  </a:lnTo>
                  <a:lnTo>
                    <a:pt x="5" y="414"/>
                  </a:lnTo>
                  <a:lnTo>
                    <a:pt x="6" y="392"/>
                  </a:lnTo>
                  <a:lnTo>
                    <a:pt x="7" y="371"/>
                  </a:lnTo>
                  <a:lnTo>
                    <a:pt x="7" y="350"/>
                  </a:lnTo>
                  <a:lnTo>
                    <a:pt x="7" y="339"/>
                  </a:lnTo>
                  <a:lnTo>
                    <a:pt x="8" y="331"/>
                  </a:lnTo>
                  <a:lnTo>
                    <a:pt x="8" y="322"/>
                  </a:lnTo>
                  <a:lnTo>
                    <a:pt x="8" y="313"/>
                  </a:lnTo>
                  <a:lnTo>
                    <a:pt x="9" y="280"/>
                  </a:lnTo>
                  <a:lnTo>
                    <a:pt x="11" y="247"/>
                  </a:lnTo>
                  <a:lnTo>
                    <a:pt x="12" y="216"/>
                  </a:lnTo>
                  <a:lnTo>
                    <a:pt x="12" y="201"/>
                  </a:lnTo>
                  <a:lnTo>
                    <a:pt x="13" y="186"/>
                  </a:lnTo>
                  <a:lnTo>
                    <a:pt x="13" y="173"/>
                  </a:lnTo>
                  <a:lnTo>
                    <a:pt x="14" y="159"/>
                  </a:lnTo>
                  <a:lnTo>
                    <a:pt x="14" y="146"/>
                  </a:lnTo>
                  <a:lnTo>
                    <a:pt x="16" y="132"/>
                  </a:lnTo>
                  <a:lnTo>
                    <a:pt x="16" y="121"/>
                  </a:lnTo>
                  <a:lnTo>
                    <a:pt x="17" y="110"/>
                  </a:lnTo>
                  <a:lnTo>
                    <a:pt x="17" y="98"/>
                  </a:lnTo>
                  <a:lnTo>
                    <a:pt x="18" y="89"/>
                  </a:lnTo>
                  <a:lnTo>
                    <a:pt x="18" y="79"/>
                  </a:lnTo>
                  <a:lnTo>
                    <a:pt x="18" y="70"/>
                  </a:lnTo>
                  <a:lnTo>
                    <a:pt x="19" y="61"/>
                  </a:lnTo>
                  <a:lnTo>
                    <a:pt x="19" y="52"/>
                  </a:lnTo>
                  <a:lnTo>
                    <a:pt x="20" y="45"/>
                  </a:lnTo>
                  <a:lnTo>
                    <a:pt x="20" y="37"/>
                  </a:lnTo>
                  <a:lnTo>
                    <a:pt x="22" y="30"/>
                  </a:lnTo>
                  <a:lnTo>
                    <a:pt x="22" y="24"/>
                  </a:lnTo>
                  <a:lnTo>
                    <a:pt x="23" y="18"/>
                  </a:lnTo>
                  <a:lnTo>
                    <a:pt x="23" y="13"/>
                  </a:lnTo>
                  <a:lnTo>
                    <a:pt x="24" y="9"/>
                  </a:lnTo>
                  <a:lnTo>
                    <a:pt x="24" y="6"/>
                  </a:lnTo>
                  <a:lnTo>
                    <a:pt x="25" y="3"/>
                  </a:lnTo>
                  <a:lnTo>
                    <a:pt x="25" y="1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28" y="3"/>
                  </a:lnTo>
                  <a:lnTo>
                    <a:pt x="29" y="6"/>
                  </a:lnTo>
                  <a:lnTo>
                    <a:pt x="29" y="9"/>
                  </a:lnTo>
                  <a:lnTo>
                    <a:pt x="30" y="13"/>
                  </a:lnTo>
                  <a:lnTo>
                    <a:pt x="30" y="19"/>
                  </a:lnTo>
                  <a:lnTo>
                    <a:pt x="32" y="24"/>
                  </a:lnTo>
                  <a:lnTo>
                    <a:pt x="32" y="31"/>
                  </a:lnTo>
                  <a:lnTo>
                    <a:pt x="33" y="37"/>
                  </a:lnTo>
                  <a:lnTo>
                    <a:pt x="33" y="45"/>
                  </a:lnTo>
                  <a:lnTo>
                    <a:pt x="34" y="52"/>
                  </a:lnTo>
                  <a:lnTo>
                    <a:pt x="34" y="61"/>
                  </a:lnTo>
                  <a:lnTo>
                    <a:pt x="35" y="70"/>
                  </a:lnTo>
                  <a:lnTo>
                    <a:pt x="35" y="79"/>
                  </a:lnTo>
                  <a:lnTo>
                    <a:pt x="36" y="89"/>
                  </a:lnTo>
                  <a:lnTo>
                    <a:pt x="36" y="98"/>
                  </a:lnTo>
                  <a:lnTo>
                    <a:pt x="38" y="110"/>
                  </a:lnTo>
                  <a:lnTo>
                    <a:pt x="38" y="121"/>
                  </a:lnTo>
                  <a:lnTo>
                    <a:pt x="39" y="132"/>
                  </a:lnTo>
                  <a:lnTo>
                    <a:pt x="39" y="146"/>
                  </a:lnTo>
                  <a:lnTo>
                    <a:pt x="40" y="159"/>
                  </a:lnTo>
                  <a:lnTo>
                    <a:pt x="41" y="173"/>
                  </a:lnTo>
                  <a:lnTo>
                    <a:pt x="41" y="186"/>
                  </a:lnTo>
                  <a:lnTo>
                    <a:pt x="43" y="201"/>
                  </a:lnTo>
                  <a:lnTo>
                    <a:pt x="43" y="216"/>
                  </a:lnTo>
                  <a:lnTo>
                    <a:pt x="45" y="247"/>
                  </a:lnTo>
                  <a:lnTo>
                    <a:pt x="46" y="278"/>
                  </a:lnTo>
                  <a:lnTo>
                    <a:pt x="47" y="313"/>
                  </a:lnTo>
                  <a:lnTo>
                    <a:pt x="47" y="320"/>
                  </a:lnTo>
                  <a:lnTo>
                    <a:pt x="47" y="329"/>
                  </a:lnTo>
                  <a:lnTo>
                    <a:pt x="49" y="348"/>
                  </a:lnTo>
                  <a:lnTo>
                    <a:pt x="49" y="368"/>
                  </a:lnTo>
                  <a:lnTo>
                    <a:pt x="50" y="390"/>
                  </a:lnTo>
                  <a:lnTo>
                    <a:pt x="50" y="411"/>
                  </a:lnTo>
                  <a:lnTo>
                    <a:pt x="50" y="433"/>
                  </a:lnTo>
                  <a:lnTo>
                    <a:pt x="51" y="478"/>
                  </a:lnTo>
                  <a:lnTo>
                    <a:pt x="52" y="499"/>
                  </a:lnTo>
                  <a:lnTo>
                    <a:pt x="52" y="521"/>
                  </a:lnTo>
                  <a:lnTo>
                    <a:pt x="52" y="542"/>
                  </a:lnTo>
                  <a:lnTo>
                    <a:pt x="52" y="561"/>
                  </a:lnTo>
                  <a:lnTo>
                    <a:pt x="54" y="579"/>
                  </a:lnTo>
                  <a:lnTo>
                    <a:pt x="54" y="588"/>
                  </a:lnTo>
                  <a:lnTo>
                    <a:pt x="54" y="596"/>
                  </a:lnTo>
                  <a:lnTo>
                    <a:pt x="54" y="604"/>
                  </a:lnTo>
                  <a:lnTo>
                    <a:pt x="54" y="612"/>
                  </a:lnTo>
                  <a:lnTo>
                    <a:pt x="54" y="618"/>
                  </a:lnTo>
                  <a:lnTo>
                    <a:pt x="55" y="625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06" name="Freeform 74"/>
            <p:cNvSpPr>
              <a:spLocks/>
            </p:cNvSpPr>
            <p:nvPr/>
          </p:nvSpPr>
          <p:spPr bwMode="auto">
            <a:xfrm>
              <a:off x="3978" y="674"/>
              <a:ext cx="55" cy="291"/>
            </a:xfrm>
            <a:custGeom>
              <a:avLst/>
              <a:gdLst>
                <a:gd name="T0" fmla="*/ 0 w 55"/>
                <a:gd name="T1" fmla="*/ 574 h 580"/>
                <a:gd name="T2" fmla="*/ 0 w 55"/>
                <a:gd name="T3" fmla="*/ 564 h 580"/>
                <a:gd name="T4" fmla="*/ 0 w 55"/>
                <a:gd name="T5" fmla="*/ 549 h 580"/>
                <a:gd name="T6" fmla="*/ 1 w 55"/>
                <a:gd name="T7" fmla="*/ 534 h 580"/>
                <a:gd name="T8" fmla="*/ 1 w 55"/>
                <a:gd name="T9" fmla="*/ 516 h 580"/>
                <a:gd name="T10" fmla="*/ 2 w 55"/>
                <a:gd name="T11" fmla="*/ 488 h 580"/>
                <a:gd name="T12" fmla="*/ 4 w 55"/>
                <a:gd name="T13" fmla="*/ 448 h 580"/>
                <a:gd name="T14" fmla="*/ 5 w 55"/>
                <a:gd name="T15" fmla="*/ 405 h 580"/>
                <a:gd name="T16" fmla="*/ 6 w 55"/>
                <a:gd name="T17" fmla="*/ 363 h 580"/>
                <a:gd name="T18" fmla="*/ 7 w 55"/>
                <a:gd name="T19" fmla="*/ 324 h 580"/>
                <a:gd name="T20" fmla="*/ 9 w 55"/>
                <a:gd name="T21" fmla="*/ 306 h 580"/>
                <a:gd name="T22" fmla="*/ 9 w 55"/>
                <a:gd name="T23" fmla="*/ 290 h 580"/>
                <a:gd name="T24" fmla="*/ 11 w 55"/>
                <a:gd name="T25" fmla="*/ 229 h 580"/>
                <a:gd name="T26" fmla="*/ 12 w 55"/>
                <a:gd name="T27" fmla="*/ 186 h 580"/>
                <a:gd name="T28" fmla="*/ 13 w 55"/>
                <a:gd name="T29" fmla="*/ 160 h 580"/>
                <a:gd name="T30" fmla="*/ 15 w 55"/>
                <a:gd name="T31" fmla="*/ 135 h 580"/>
                <a:gd name="T32" fmla="*/ 16 w 55"/>
                <a:gd name="T33" fmla="*/ 111 h 580"/>
                <a:gd name="T34" fmla="*/ 17 w 55"/>
                <a:gd name="T35" fmla="*/ 90 h 580"/>
                <a:gd name="T36" fmla="*/ 18 w 55"/>
                <a:gd name="T37" fmla="*/ 73 h 580"/>
                <a:gd name="T38" fmla="*/ 20 w 55"/>
                <a:gd name="T39" fmla="*/ 56 h 580"/>
                <a:gd name="T40" fmla="*/ 21 w 55"/>
                <a:gd name="T41" fmla="*/ 41 h 580"/>
                <a:gd name="T42" fmla="*/ 22 w 55"/>
                <a:gd name="T43" fmla="*/ 28 h 580"/>
                <a:gd name="T44" fmla="*/ 23 w 55"/>
                <a:gd name="T45" fmla="*/ 18 h 580"/>
                <a:gd name="T46" fmla="*/ 24 w 55"/>
                <a:gd name="T47" fmla="*/ 9 h 580"/>
                <a:gd name="T48" fmla="*/ 26 w 55"/>
                <a:gd name="T49" fmla="*/ 3 h 580"/>
                <a:gd name="T50" fmla="*/ 27 w 55"/>
                <a:gd name="T51" fmla="*/ 0 h 580"/>
                <a:gd name="T52" fmla="*/ 27 w 55"/>
                <a:gd name="T53" fmla="*/ 0 h 580"/>
                <a:gd name="T54" fmla="*/ 28 w 55"/>
                <a:gd name="T55" fmla="*/ 3 h 580"/>
                <a:gd name="T56" fmla="*/ 29 w 55"/>
                <a:gd name="T57" fmla="*/ 9 h 580"/>
                <a:gd name="T58" fmla="*/ 31 w 55"/>
                <a:gd name="T59" fmla="*/ 18 h 580"/>
                <a:gd name="T60" fmla="*/ 32 w 55"/>
                <a:gd name="T61" fmla="*/ 28 h 580"/>
                <a:gd name="T62" fmla="*/ 33 w 55"/>
                <a:gd name="T63" fmla="*/ 41 h 580"/>
                <a:gd name="T64" fmla="*/ 34 w 55"/>
                <a:gd name="T65" fmla="*/ 56 h 580"/>
                <a:gd name="T66" fmla="*/ 36 w 55"/>
                <a:gd name="T67" fmla="*/ 73 h 580"/>
                <a:gd name="T68" fmla="*/ 37 w 55"/>
                <a:gd name="T69" fmla="*/ 90 h 580"/>
                <a:gd name="T70" fmla="*/ 38 w 55"/>
                <a:gd name="T71" fmla="*/ 111 h 580"/>
                <a:gd name="T72" fmla="*/ 39 w 55"/>
                <a:gd name="T73" fmla="*/ 135 h 580"/>
                <a:gd name="T74" fmla="*/ 42 w 55"/>
                <a:gd name="T75" fmla="*/ 159 h 580"/>
                <a:gd name="T76" fmla="*/ 43 w 55"/>
                <a:gd name="T77" fmla="*/ 186 h 580"/>
                <a:gd name="T78" fmla="*/ 45 w 55"/>
                <a:gd name="T79" fmla="*/ 229 h 580"/>
                <a:gd name="T80" fmla="*/ 48 w 55"/>
                <a:gd name="T81" fmla="*/ 290 h 580"/>
                <a:gd name="T82" fmla="*/ 48 w 55"/>
                <a:gd name="T83" fmla="*/ 305 h 580"/>
                <a:gd name="T84" fmla="*/ 49 w 55"/>
                <a:gd name="T85" fmla="*/ 342 h 580"/>
                <a:gd name="T86" fmla="*/ 50 w 55"/>
                <a:gd name="T87" fmla="*/ 381 h 580"/>
                <a:gd name="T88" fmla="*/ 51 w 55"/>
                <a:gd name="T89" fmla="*/ 443 h 580"/>
                <a:gd name="T90" fmla="*/ 53 w 55"/>
                <a:gd name="T91" fmla="*/ 484 h 580"/>
                <a:gd name="T92" fmla="*/ 53 w 55"/>
                <a:gd name="T93" fmla="*/ 521 h 580"/>
                <a:gd name="T94" fmla="*/ 54 w 55"/>
                <a:gd name="T95" fmla="*/ 546 h 580"/>
                <a:gd name="T96" fmla="*/ 54 w 55"/>
                <a:gd name="T97" fmla="*/ 561 h 580"/>
                <a:gd name="T98" fmla="*/ 54 w 55"/>
                <a:gd name="T99" fmla="*/ 574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5" h="580">
                  <a:moveTo>
                    <a:pt x="0" y="580"/>
                  </a:moveTo>
                  <a:lnTo>
                    <a:pt x="0" y="574"/>
                  </a:lnTo>
                  <a:lnTo>
                    <a:pt x="0" y="570"/>
                  </a:lnTo>
                  <a:lnTo>
                    <a:pt x="0" y="564"/>
                  </a:lnTo>
                  <a:lnTo>
                    <a:pt x="0" y="556"/>
                  </a:lnTo>
                  <a:lnTo>
                    <a:pt x="0" y="549"/>
                  </a:lnTo>
                  <a:lnTo>
                    <a:pt x="0" y="542"/>
                  </a:lnTo>
                  <a:lnTo>
                    <a:pt x="1" y="534"/>
                  </a:lnTo>
                  <a:lnTo>
                    <a:pt x="1" y="525"/>
                  </a:lnTo>
                  <a:lnTo>
                    <a:pt x="1" y="516"/>
                  </a:lnTo>
                  <a:lnTo>
                    <a:pt x="1" y="507"/>
                  </a:lnTo>
                  <a:lnTo>
                    <a:pt x="2" y="488"/>
                  </a:lnTo>
                  <a:lnTo>
                    <a:pt x="2" y="469"/>
                  </a:lnTo>
                  <a:lnTo>
                    <a:pt x="4" y="448"/>
                  </a:lnTo>
                  <a:lnTo>
                    <a:pt x="4" y="427"/>
                  </a:lnTo>
                  <a:lnTo>
                    <a:pt x="5" y="405"/>
                  </a:lnTo>
                  <a:lnTo>
                    <a:pt x="5" y="384"/>
                  </a:lnTo>
                  <a:lnTo>
                    <a:pt x="6" y="363"/>
                  </a:lnTo>
                  <a:lnTo>
                    <a:pt x="7" y="344"/>
                  </a:lnTo>
                  <a:lnTo>
                    <a:pt x="7" y="324"/>
                  </a:lnTo>
                  <a:lnTo>
                    <a:pt x="7" y="315"/>
                  </a:lnTo>
                  <a:lnTo>
                    <a:pt x="9" y="306"/>
                  </a:lnTo>
                  <a:lnTo>
                    <a:pt x="9" y="297"/>
                  </a:lnTo>
                  <a:lnTo>
                    <a:pt x="9" y="290"/>
                  </a:lnTo>
                  <a:lnTo>
                    <a:pt x="10" y="259"/>
                  </a:lnTo>
                  <a:lnTo>
                    <a:pt x="11" y="229"/>
                  </a:lnTo>
                  <a:lnTo>
                    <a:pt x="12" y="201"/>
                  </a:lnTo>
                  <a:lnTo>
                    <a:pt x="12" y="186"/>
                  </a:lnTo>
                  <a:lnTo>
                    <a:pt x="13" y="172"/>
                  </a:lnTo>
                  <a:lnTo>
                    <a:pt x="13" y="160"/>
                  </a:lnTo>
                  <a:lnTo>
                    <a:pt x="15" y="147"/>
                  </a:lnTo>
                  <a:lnTo>
                    <a:pt x="15" y="135"/>
                  </a:lnTo>
                  <a:lnTo>
                    <a:pt x="16" y="123"/>
                  </a:lnTo>
                  <a:lnTo>
                    <a:pt x="16" y="111"/>
                  </a:lnTo>
                  <a:lnTo>
                    <a:pt x="17" y="101"/>
                  </a:lnTo>
                  <a:lnTo>
                    <a:pt x="17" y="90"/>
                  </a:lnTo>
                  <a:lnTo>
                    <a:pt x="18" y="82"/>
                  </a:lnTo>
                  <a:lnTo>
                    <a:pt x="18" y="73"/>
                  </a:lnTo>
                  <a:lnTo>
                    <a:pt x="18" y="64"/>
                  </a:lnTo>
                  <a:lnTo>
                    <a:pt x="20" y="56"/>
                  </a:lnTo>
                  <a:lnTo>
                    <a:pt x="20" y="49"/>
                  </a:lnTo>
                  <a:lnTo>
                    <a:pt x="21" y="41"/>
                  </a:lnTo>
                  <a:lnTo>
                    <a:pt x="21" y="34"/>
                  </a:lnTo>
                  <a:lnTo>
                    <a:pt x="22" y="28"/>
                  </a:lnTo>
                  <a:lnTo>
                    <a:pt x="22" y="22"/>
                  </a:lnTo>
                  <a:lnTo>
                    <a:pt x="23" y="18"/>
                  </a:lnTo>
                  <a:lnTo>
                    <a:pt x="23" y="12"/>
                  </a:lnTo>
                  <a:lnTo>
                    <a:pt x="24" y="9"/>
                  </a:lnTo>
                  <a:lnTo>
                    <a:pt x="24" y="6"/>
                  </a:lnTo>
                  <a:lnTo>
                    <a:pt x="26" y="3"/>
                  </a:lnTo>
                  <a:lnTo>
                    <a:pt x="26" y="1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28" y="3"/>
                  </a:lnTo>
                  <a:lnTo>
                    <a:pt x="29" y="6"/>
                  </a:lnTo>
                  <a:lnTo>
                    <a:pt x="29" y="9"/>
                  </a:lnTo>
                  <a:lnTo>
                    <a:pt x="31" y="13"/>
                  </a:lnTo>
                  <a:lnTo>
                    <a:pt x="31" y="18"/>
                  </a:lnTo>
                  <a:lnTo>
                    <a:pt x="32" y="22"/>
                  </a:lnTo>
                  <a:lnTo>
                    <a:pt x="32" y="28"/>
                  </a:lnTo>
                  <a:lnTo>
                    <a:pt x="33" y="34"/>
                  </a:lnTo>
                  <a:lnTo>
                    <a:pt x="33" y="41"/>
                  </a:lnTo>
                  <a:lnTo>
                    <a:pt x="34" y="49"/>
                  </a:lnTo>
                  <a:lnTo>
                    <a:pt x="34" y="56"/>
                  </a:lnTo>
                  <a:lnTo>
                    <a:pt x="36" y="64"/>
                  </a:lnTo>
                  <a:lnTo>
                    <a:pt x="36" y="73"/>
                  </a:lnTo>
                  <a:lnTo>
                    <a:pt x="37" y="82"/>
                  </a:lnTo>
                  <a:lnTo>
                    <a:pt x="37" y="90"/>
                  </a:lnTo>
                  <a:lnTo>
                    <a:pt x="38" y="101"/>
                  </a:lnTo>
                  <a:lnTo>
                    <a:pt x="38" y="111"/>
                  </a:lnTo>
                  <a:lnTo>
                    <a:pt x="39" y="123"/>
                  </a:lnTo>
                  <a:lnTo>
                    <a:pt x="39" y="135"/>
                  </a:lnTo>
                  <a:lnTo>
                    <a:pt x="40" y="147"/>
                  </a:lnTo>
                  <a:lnTo>
                    <a:pt x="42" y="159"/>
                  </a:lnTo>
                  <a:lnTo>
                    <a:pt x="42" y="172"/>
                  </a:lnTo>
                  <a:lnTo>
                    <a:pt x="43" y="186"/>
                  </a:lnTo>
                  <a:lnTo>
                    <a:pt x="43" y="201"/>
                  </a:lnTo>
                  <a:lnTo>
                    <a:pt x="45" y="229"/>
                  </a:lnTo>
                  <a:lnTo>
                    <a:pt x="47" y="259"/>
                  </a:lnTo>
                  <a:lnTo>
                    <a:pt x="48" y="290"/>
                  </a:lnTo>
                  <a:lnTo>
                    <a:pt x="48" y="297"/>
                  </a:lnTo>
                  <a:lnTo>
                    <a:pt x="48" y="305"/>
                  </a:lnTo>
                  <a:lnTo>
                    <a:pt x="49" y="323"/>
                  </a:lnTo>
                  <a:lnTo>
                    <a:pt x="49" y="342"/>
                  </a:lnTo>
                  <a:lnTo>
                    <a:pt x="50" y="361"/>
                  </a:lnTo>
                  <a:lnTo>
                    <a:pt x="50" y="381"/>
                  </a:lnTo>
                  <a:lnTo>
                    <a:pt x="50" y="402"/>
                  </a:lnTo>
                  <a:lnTo>
                    <a:pt x="51" y="443"/>
                  </a:lnTo>
                  <a:lnTo>
                    <a:pt x="53" y="463"/>
                  </a:lnTo>
                  <a:lnTo>
                    <a:pt x="53" y="484"/>
                  </a:lnTo>
                  <a:lnTo>
                    <a:pt x="53" y="503"/>
                  </a:lnTo>
                  <a:lnTo>
                    <a:pt x="53" y="521"/>
                  </a:lnTo>
                  <a:lnTo>
                    <a:pt x="54" y="537"/>
                  </a:lnTo>
                  <a:lnTo>
                    <a:pt x="54" y="546"/>
                  </a:lnTo>
                  <a:lnTo>
                    <a:pt x="54" y="553"/>
                  </a:lnTo>
                  <a:lnTo>
                    <a:pt x="54" y="561"/>
                  </a:lnTo>
                  <a:lnTo>
                    <a:pt x="54" y="567"/>
                  </a:lnTo>
                  <a:lnTo>
                    <a:pt x="54" y="574"/>
                  </a:lnTo>
                  <a:lnTo>
                    <a:pt x="55" y="58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07" name="Freeform 75"/>
            <p:cNvSpPr>
              <a:spLocks/>
            </p:cNvSpPr>
            <p:nvPr/>
          </p:nvSpPr>
          <p:spPr bwMode="auto">
            <a:xfrm>
              <a:off x="4088" y="630"/>
              <a:ext cx="55" cy="335"/>
            </a:xfrm>
            <a:custGeom>
              <a:avLst/>
              <a:gdLst>
                <a:gd name="T0" fmla="*/ 0 w 55"/>
                <a:gd name="T1" fmla="*/ 664 h 670"/>
                <a:gd name="T2" fmla="*/ 0 w 55"/>
                <a:gd name="T3" fmla="*/ 651 h 670"/>
                <a:gd name="T4" fmla="*/ 0 w 55"/>
                <a:gd name="T5" fmla="*/ 635 h 670"/>
                <a:gd name="T6" fmla="*/ 2 w 55"/>
                <a:gd name="T7" fmla="*/ 617 h 670"/>
                <a:gd name="T8" fmla="*/ 2 w 55"/>
                <a:gd name="T9" fmla="*/ 597 h 670"/>
                <a:gd name="T10" fmla="*/ 3 w 55"/>
                <a:gd name="T11" fmla="*/ 565 h 670"/>
                <a:gd name="T12" fmla="*/ 4 w 55"/>
                <a:gd name="T13" fmla="*/ 517 h 670"/>
                <a:gd name="T14" fmla="*/ 5 w 55"/>
                <a:gd name="T15" fmla="*/ 468 h 670"/>
                <a:gd name="T16" fmla="*/ 6 w 55"/>
                <a:gd name="T17" fmla="*/ 420 h 670"/>
                <a:gd name="T18" fmla="*/ 8 w 55"/>
                <a:gd name="T19" fmla="*/ 376 h 670"/>
                <a:gd name="T20" fmla="*/ 9 w 55"/>
                <a:gd name="T21" fmla="*/ 355 h 670"/>
                <a:gd name="T22" fmla="*/ 9 w 55"/>
                <a:gd name="T23" fmla="*/ 335 h 670"/>
                <a:gd name="T24" fmla="*/ 11 w 55"/>
                <a:gd name="T25" fmla="*/ 265 h 670"/>
                <a:gd name="T26" fmla="*/ 13 w 55"/>
                <a:gd name="T27" fmla="*/ 233 h 670"/>
                <a:gd name="T28" fmla="*/ 14 w 55"/>
                <a:gd name="T29" fmla="*/ 200 h 670"/>
                <a:gd name="T30" fmla="*/ 15 w 55"/>
                <a:gd name="T31" fmla="*/ 170 h 670"/>
                <a:gd name="T32" fmla="*/ 16 w 55"/>
                <a:gd name="T33" fmla="*/ 143 h 670"/>
                <a:gd name="T34" fmla="*/ 17 w 55"/>
                <a:gd name="T35" fmla="*/ 118 h 670"/>
                <a:gd name="T36" fmla="*/ 19 w 55"/>
                <a:gd name="T37" fmla="*/ 96 h 670"/>
                <a:gd name="T38" fmla="*/ 19 w 55"/>
                <a:gd name="T39" fmla="*/ 75 h 670"/>
                <a:gd name="T40" fmla="*/ 20 w 55"/>
                <a:gd name="T41" fmla="*/ 57 h 670"/>
                <a:gd name="T42" fmla="*/ 21 w 55"/>
                <a:gd name="T43" fmla="*/ 41 h 670"/>
                <a:gd name="T44" fmla="*/ 22 w 55"/>
                <a:gd name="T45" fmla="*/ 26 h 670"/>
                <a:gd name="T46" fmla="*/ 24 w 55"/>
                <a:gd name="T47" fmla="*/ 15 h 670"/>
                <a:gd name="T48" fmla="*/ 25 w 55"/>
                <a:gd name="T49" fmla="*/ 6 h 670"/>
                <a:gd name="T50" fmla="*/ 26 w 55"/>
                <a:gd name="T51" fmla="*/ 2 h 670"/>
                <a:gd name="T52" fmla="*/ 27 w 55"/>
                <a:gd name="T53" fmla="*/ 0 h 670"/>
                <a:gd name="T54" fmla="*/ 29 w 55"/>
                <a:gd name="T55" fmla="*/ 2 h 670"/>
                <a:gd name="T56" fmla="*/ 30 w 55"/>
                <a:gd name="T57" fmla="*/ 6 h 670"/>
                <a:gd name="T58" fmla="*/ 31 w 55"/>
                <a:gd name="T59" fmla="*/ 15 h 670"/>
                <a:gd name="T60" fmla="*/ 32 w 55"/>
                <a:gd name="T61" fmla="*/ 27 h 670"/>
                <a:gd name="T62" fmla="*/ 33 w 55"/>
                <a:gd name="T63" fmla="*/ 41 h 670"/>
                <a:gd name="T64" fmla="*/ 35 w 55"/>
                <a:gd name="T65" fmla="*/ 57 h 670"/>
                <a:gd name="T66" fmla="*/ 36 w 55"/>
                <a:gd name="T67" fmla="*/ 75 h 670"/>
                <a:gd name="T68" fmla="*/ 37 w 55"/>
                <a:gd name="T69" fmla="*/ 96 h 670"/>
                <a:gd name="T70" fmla="*/ 38 w 55"/>
                <a:gd name="T71" fmla="*/ 118 h 670"/>
                <a:gd name="T72" fmla="*/ 40 w 55"/>
                <a:gd name="T73" fmla="*/ 143 h 670"/>
                <a:gd name="T74" fmla="*/ 41 w 55"/>
                <a:gd name="T75" fmla="*/ 170 h 670"/>
                <a:gd name="T76" fmla="*/ 42 w 55"/>
                <a:gd name="T77" fmla="*/ 200 h 670"/>
                <a:gd name="T78" fmla="*/ 43 w 55"/>
                <a:gd name="T79" fmla="*/ 231 h 670"/>
                <a:gd name="T80" fmla="*/ 46 w 55"/>
                <a:gd name="T81" fmla="*/ 265 h 670"/>
                <a:gd name="T82" fmla="*/ 48 w 55"/>
                <a:gd name="T83" fmla="*/ 335 h 670"/>
                <a:gd name="T84" fmla="*/ 48 w 55"/>
                <a:gd name="T85" fmla="*/ 353 h 670"/>
                <a:gd name="T86" fmla="*/ 49 w 55"/>
                <a:gd name="T87" fmla="*/ 395 h 670"/>
                <a:gd name="T88" fmla="*/ 51 w 55"/>
                <a:gd name="T89" fmla="*/ 441 h 670"/>
                <a:gd name="T90" fmla="*/ 52 w 55"/>
                <a:gd name="T91" fmla="*/ 512 h 670"/>
                <a:gd name="T92" fmla="*/ 53 w 55"/>
                <a:gd name="T93" fmla="*/ 559 h 670"/>
                <a:gd name="T94" fmla="*/ 53 w 55"/>
                <a:gd name="T95" fmla="*/ 602 h 670"/>
                <a:gd name="T96" fmla="*/ 54 w 55"/>
                <a:gd name="T97" fmla="*/ 621 h 670"/>
                <a:gd name="T98" fmla="*/ 54 w 55"/>
                <a:gd name="T99" fmla="*/ 639 h 670"/>
                <a:gd name="T100" fmla="*/ 54 w 55"/>
                <a:gd name="T101" fmla="*/ 655 h 670"/>
                <a:gd name="T102" fmla="*/ 55 w 55"/>
                <a:gd name="T103" fmla="*/ 67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5" h="670">
                  <a:moveTo>
                    <a:pt x="0" y="670"/>
                  </a:moveTo>
                  <a:lnTo>
                    <a:pt x="0" y="664"/>
                  </a:lnTo>
                  <a:lnTo>
                    <a:pt x="0" y="658"/>
                  </a:lnTo>
                  <a:lnTo>
                    <a:pt x="0" y="651"/>
                  </a:lnTo>
                  <a:lnTo>
                    <a:pt x="0" y="643"/>
                  </a:lnTo>
                  <a:lnTo>
                    <a:pt x="0" y="635"/>
                  </a:lnTo>
                  <a:lnTo>
                    <a:pt x="0" y="627"/>
                  </a:lnTo>
                  <a:lnTo>
                    <a:pt x="2" y="617"/>
                  </a:lnTo>
                  <a:lnTo>
                    <a:pt x="2" y="608"/>
                  </a:lnTo>
                  <a:lnTo>
                    <a:pt x="2" y="597"/>
                  </a:lnTo>
                  <a:lnTo>
                    <a:pt x="2" y="587"/>
                  </a:lnTo>
                  <a:lnTo>
                    <a:pt x="3" y="565"/>
                  </a:lnTo>
                  <a:lnTo>
                    <a:pt x="3" y="542"/>
                  </a:lnTo>
                  <a:lnTo>
                    <a:pt x="4" y="517"/>
                  </a:lnTo>
                  <a:lnTo>
                    <a:pt x="4" y="493"/>
                  </a:lnTo>
                  <a:lnTo>
                    <a:pt x="5" y="468"/>
                  </a:lnTo>
                  <a:lnTo>
                    <a:pt x="5" y="444"/>
                  </a:lnTo>
                  <a:lnTo>
                    <a:pt x="6" y="420"/>
                  </a:lnTo>
                  <a:lnTo>
                    <a:pt x="8" y="396"/>
                  </a:lnTo>
                  <a:lnTo>
                    <a:pt x="8" y="376"/>
                  </a:lnTo>
                  <a:lnTo>
                    <a:pt x="8" y="364"/>
                  </a:lnTo>
                  <a:lnTo>
                    <a:pt x="9" y="355"/>
                  </a:lnTo>
                  <a:lnTo>
                    <a:pt x="9" y="344"/>
                  </a:lnTo>
                  <a:lnTo>
                    <a:pt x="9" y="335"/>
                  </a:lnTo>
                  <a:lnTo>
                    <a:pt x="10" y="300"/>
                  </a:lnTo>
                  <a:lnTo>
                    <a:pt x="11" y="265"/>
                  </a:lnTo>
                  <a:lnTo>
                    <a:pt x="11" y="249"/>
                  </a:lnTo>
                  <a:lnTo>
                    <a:pt x="13" y="233"/>
                  </a:lnTo>
                  <a:lnTo>
                    <a:pt x="13" y="216"/>
                  </a:lnTo>
                  <a:lnTo>
                    <a:pt x="14" y="200"/>
                  </a:lnTo>
                  <a:lnTo>
                    <a:pt x="14" y="185"/>
                  </a:lnTo>
                  <a:lnTo>
                    <a:pt x="15" y="170"/>
                  </a:lnTo>
                  <a:lnTo>
                    <a:pt x="15" y="157"/>
                  </a:lnTo>
                  <a:lnTo>
                    <a:pt x="16" y="143"/>
                  </a:lnTo>
                  <a:lnTo>
                    <a:pt x="16" y="130"/>
                  </a:lnTo>
                  <a:lnTo>
                    <a:pt x="17" y="118"/>
                  </a:lnTo>
                  <a:lnTo>
                    <a:pt x="17" y="106"/>
                  </a:lnTo>
                  <a:lnTo>
                    <a:pt x="19" y="96"/>
                  </a:lnTo>
                  <a:lnTo>
                    <a:pt x="19" y="85"/>
                  </a:lnTo>
                  <a:lnTo>
                    <a:pt x="19" y="75"/>
                  </a:lnTo>
                  <a:lnTo>
                    <a:pt x="20" y="66"/>
                  </a:lnTo>
                  <a:lnTo>
                    <a:pt x="20" y="57"/>
                  </a:lnTo>
                  <a:lnTo>
                    <a:pt x="21" y="48"/>
                  </a:lnTo>
                  <a:lnTo>
                    <a:pt x="21" y="41"/>
                  </a:lnTo>
                  <a:lnTo>
                    <a:pt x="22" y="33"/>
                  </a:lnTo>
                  <a:lnTo>
                    <a:pt x="22" y="26"/>
                  </a:lnTo>
                  <a:lnTo>
                    <a:pt x="24" y="20"/>
                  </a:lnTo>
                  <a:lnTo>
                    <a:pt x="24" y="15"/>
                  </a:lnTo>
                  <a:lnTo>
                    <a:pt x="25" y="11"/>
                  </a:lnTo>
                  <a:lnTo>
                    <a:pt x="25" y="6"/>
                  </a:lnTo>
                  <a:lnTo>
                    <a:pt x="26" y="3"/>
                  </a:lnTo>
                  <a:lnTo>
                    <a:pt x="26" y="2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9" y="2"/>
                  </a:lnTo>
                  <a:lnTo>
                    <a:pt x="29" y="3"/>
                  </a:lnTo>
                  <a:lnTo>
                    <a:pt x="30" y="6"/>
                  </a:lnTo>
                  <a:lnTo>
                    <a:pt x="30" y="11"/>
                  </a:lnTo>
                  <a:lnTo>
                    <a:pt x="31" y="15"/>
                  </a:lnTo>
                  <a:lnTo>
                    <a:pt x="31" y="21"/>
                  </a:lnTo>
                  <a:lnTo>
                    <a:pt x="32" y="27"/>
                  </a:lnTo>
                  <a:lnTo>
                    <a:pt x="32" y="33"/>
                  </a:lnTo>
                  <a:lnTo>
                    <a:pt x="33" y="41"/>
                  </a:lnTo>
                  <a:lnTo>
                    <a:pt x="33" y="48"/>
                  </a:lnTo>
                  <a:lnTo>
                    <a:pt x="35" y="57"/>
                  </a:lnTo>
                  <a:lnTo>
                    <a:pt x="35" y="66"/>
                  </a:lnTo>
                  <a:lnTo>
                    <a:pt x="36" y="75"/>
                  </a:lnTo>
                  <a:lnTo>
                    <a:pt x="36" y="85"/>
                  </a:lnTo>
                  <a:lnTo>
                    <a:pt x="37" y="96"/>
                  </a:lnTo>
                  <a:lnTo>
                    <a:pt x="37" y="106"/>
                  </a:lnTo>
                  <a:lnTo>
                    <a:pt x="38" y="118"/>
                  </a:lnTo>
                  <a:lnTo>
                    <a:pt x="38" y="130"/>
                  </a:lnTo>
                  <a:lnTo>
                    <a:pt x="40" y="143"/>
                  </a:lnTo>
                  <a:lnTo>
                    <a:pt x="40" y="157"/>
                  </a:lnTo>
                  <a:lnTo>
                    <a:pt x="41" y="170"/>
                  </a:lnTo>
                  <a:lnTo>
                    <a:pt x="42" y="185"/>
                  </a:lnTo>
                  <a:lnTo>
                    <a:pt x="42" y="200"/>
                  </a:lnTo>
                  <a:lnTo>
                    <a:pt x="43" y="216"/>
                  </a:lnTo>
                  <a:lnTo>
                    <a:pt x="43" y="231"/>
                  </a:lnTo>
                  <a:lnTo>
                    <a:pt x="44" y="247"/>
                  </a:lnTo>
                  <a:lnTo>
                    <a:pt x="46" y="265"/>
                  </a:lnTo>
                  <a:lnTo>
                    <a:pt x="47" y="300"/>
                  </a:lnTo>
                  <a:lnTo>
                    <a:pt x="48" y="335"/>
                  </a:lnTo>
                  <a:lnTo>
                    <a:pt x="48" y="344"/>
                  </a:lnTo>
                  <a:lnTo>
                    <a:pt x="48" y="353"/>
                  </a:lnTo>
                  <a:lnTo>
                    <a:pt x="49" y="374"/>
                  </a:lnTo>
                  <a:lnTo>
                    <a:pt x="49" y="395"/>
                  </a:lnTo>
                  <a:lnTo>
                    <a:pt x="51" y="417"/>
                  </a:lnTo>
                  <a:lnTo>
                    <a:pt x="51" y="441"/>
                  </a:lnTo>
                  <a:lnTo>
                    <a:pt x="51" y="465"/>
                  </a:lnTo>
                  <a:lnTo>
                    <a:pt x="52" y="512"/>
                  </a:lnTo>
                  <a:lnTo>
                    <a:pt x="53" y="535"/>
                  </a:lnTo>
                  <a:lnTo>
                    <a:pt x="53" y="559"/>
                  </a:lnTo>
                  <a:lnTo>
                    <a:pt x="53" y="581"/>
                  </a:lnTo>
                  <a:lnTo>
                    <a:pt x="53" y="602"/>
                  </a:lnTo>
                  <a:lnTo>
                    <a:pt x="54" y="611"/>
                  </a:lnTo>
                  <a:lnTo>
                    <a:pt x="54" y="621"/>
                  </a:lnTo>
                  <a:lnTo>
                    <a:pt x="54" y="630"/>
                  </a:lnTo>
                  <a:lnTo>
                    <a:pt x="54" y="639"/>
                  </a:lnTo>
                  <a:lnTo>
                    <a:pt x="54" y="648"/>
                  </a:lnTo>
                  <a:lnTo>
                    <a:pt x="54" y="655"/>
                  </a:lnTo>
                  <a:lnTo>
                    <a:pt x="54" y="663"/>
                  </a:lnTo>
                  <a:lnTo>
                    <a:pt x="55" y="67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08" name="Freeform 76"/>
            <p:cNvSpPr>
              <a:spLocks/>
            </p:cNvSpPr>
            <p:nvPr/>
          </p:nvSpPr>
          <p:spPr bwMode="auto">
            <a:xfrm>
              <a:off x="4199" y="674"/>
              <a:ext cx="55" cy="291"/>
            </a:xfrm>
            <a:custGeom>
              <a:avLst/>
              <a:gdLst>
                <a:gd name="T0" fmla="*/ 0 w 55"/>
                <a:gd name="T1" fmla="*/ 574 h 580"/>
                <a:gd name="T2" fmla="*/ 0 w 55"/>
                <a:gd name="T3" fmla="*/ 564 h 580"/>
                <a:gd name="T4" fmla="*/ 0 w 55"/>
                <a:gd name="T5" fmla="*/ 549 h 580"/>
                <a:gd name="T6" fmla="*/ 1 w 55"/>
                <a:gd name="T7" fmla="*/ 534 h 580"/>
                <a:gd name="T8" fmla="*/ 1 w 55"/>
                <a:gd name="T9" fmla="*/ 516 h 580"/>
                <a:gd name="T10" fmla="*/ 2 w 55"/>
                <a:gd name="T11" fmla="*/ 488 h 580"/>
                <a:gd name="T12" fmla="*/ 3 w 55"/>
                <a:gd name="T13" fmla="*/ 448 h 580"/>
                <a:gd name="T14" fmla="*/ 5 w 55"/>
                <a:gd name="T15" fmla="*/ 405 h 580"/>
                <a:gd name="T16" fmla="*/ 6 w 55"/>
                <a:gd name="T17" fmla="*/ 363 h 580"/>
                <a:gd name="T18" fmla="*/ 7 w 55"/>
                <a:gd name="T19" fmla="*/ 324 h 580"/>
                <a:gd name="T20" fmla="*/ 8 w 55"/>
                <a:gd name="T21" fmla="*/ 306 h 580"/>
                <a:gd name="T22" fmla="*/ 8 w 55"/>
                <a:gd name="T23" fmla="*/ 290 h 580"/>
                <a:gd name="T24" fmla="*/ 11 w 55"/>
                <a:gd name="T25" fmla="*/ 229 h 580"/>
                <a:gd name="T26" fmla="*/ 12 w 55"/>
                <a:gd name="T27" fmla="*/ 186 h 580"/>
                <a:gd name="T28" fmla="*/ 13 w 55"/>
                <a:gd name="T29" fmla="*/ 160 h 580"/>
                <a:gd name="T30" fmla="*/ 14 w 55"/>
                <a:gd name="T31" fmla="*/ 135 h 580"/>
                <a:gd name="T32" fmla="*/ 16 w 55"/>
                <a:gd name="T33" fmla="*/ 111 h 580"/>
                <a:gd name="T34" fmla="*/ 17 w 55"/>
                <a:gd name="T35" fmla="*/ 90 h 580"/>
                <a:gd name="T36" fmla="*/ 18 w 55"/>
                <a:gd name="T37" fmla="*/ 73 h 580"/>
                <a:gd name="T38" fmla="*/ 19 w 55"/>
                <a:gd name="T39" fmla="*/ 56 h 580"/>
                <a:gd name="T40" fmla="*/ 20 w 55"/>
                <a:gd name="T41" fmla="*/ 41 h 580"/>
                <a:gd name="T42" fmla="*/ 22 w 55"/>
                <a:gd name="T43" fmla="*/ 28 h 580"/>
                <a:gd name="T44" fmla="*/ 23 w 55"/>
                <a:gd name="T45" fmla="*/ 18 h 580"/>
                <a:gd name="T46" fmla="*/ 24 w 55"/>
                <a:gd name="T47" fmla="*/ 9 h 580"/>
                <a:gd name="T48" fmla="*/ 25 w 55"/>
                <a:gd name="T49" fmla="*/ 3 h 580"/>
                <a:gd name="T50" fmla="*/ 27 w 55"/>
                <a:gd name="T51" fmla="*/ 0 h 580"/>
                <a:gd name="T52" fmla="*/ 27 w 55"/>
                <a:gd name="T53" fmla="*/ 0 h 580"/>
                <a:gd name="T54" fmla="*/ 28 w 55"/>
                <a:gd name="T55" fmla="*/ 3 h 580"/>
                <a:gd name="T56" fmla="*/ 29 w 55"/>
                <a:gd name="T57" fmla="*/ 9 h 580"/>
                <a:gd name="T58" fmla="*/ 30 w 55"/>
                <a:gd name="T59" fmla="*/ 18 h 580"/>
                <a:gd name="T60" fmla="*/ 32 w 55"/>
                <a:gd name="T61" fmla="*/ 28 h 580"/>
                <a:gd name="T62" fmla="*/ 33 w 55"/>
                <a:gd name="T63" fmla="*/ 41 h 580"/>
                <a:gd name="T64" fmla="*/ 34 w 55"/>
                <a:gd name="T65" fmla="*/ 56 h 580"/>
                <a:gd name="T66" fmla="*/ 35 w 55"/>
                <a:gd name="T67" fmla="*/ 73 h 580"/>
                <a:gd name="T68" fmla="*/ 36 w 55"/>
                <a:gd name="T69" fmla="*/ 90 h 580"/>
                <a:gd name="T70" fmla="*/ 38 w 55"/>
                <a:gd name="T71" fmla="*/ 111 h 580"/>
                <a:gd name="T72" fmla="*/ 39 w 55"/>
                <a:gd name="T73" fmla="*/ 135 h 580"/>
                <a:gd name="T74" fmla="*/ 41 w 55"/>
                <a:gd name="T75" fmla="*/ 159 h 580"/>
                <a:gd name="T76" fmla="*/ 43 w 55"/>
                <a:gd name="T77" fmla="*/ 186 h 580"/>
                <a:gd name="T78" fmla="*/ 45 w 55"/>
                <a:gd name="T79" fmla="*/ 229 h 580"/>
                <a:gd name="T80" fmla="*/ 47 w 55"/>
                <a:gd name="T81" fmla="*/ 290 h 580"/>
                <a:gd name="T82" fmla="*/ 47 w 55"/>
                <a:gd name="T83" fmla="*/ 305 h 580"/>
                <a:gd name="T84" fmla="*/ 49 w 55"/>
                <a:gd name="T85" fmla="*/ 342 h 580"/>
                <a:gd name="T86" fmla="*/ 50 w 55"/>
                <a:gd name="T87" fmla="*/ 381 h 580"/>
                <a:gd name="T88" fmla="*/ 51 w 55"/>
                <a:gd name="T89" fmla="*/ 443 h 580"/>
                <a:gd name="T90" fmla="*/ 52 w 55"/>
                <a:gd name="T91" fmla="*/ 484 h 580"/>
                <a:gd name="T92" fmla="*/ 52 w 55"/>
                <a:gd name="T93" fmla="*/ 521 h 580"/>
                <a:gd name="T94" fmla="*/ 54 w 55"/>
                <a:gd name="T95" fmla="*/ 546 h 580"/>
                <a:gd name="T96" fmla="*/ 54 w 55"/>
                <a:gd name="T97" fmla="*/ 561 h 580"/>
                <a:gd name="T98" fmla="*/ 54 w 55"/>
                <a:gd name="T99" fmla="*/ 574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5" h="580">
                  <a:moveTo>
                    <a:pt x="0" y="580"/>
                  </a:moveTo>
                  <a:lnTo>
                    <a:pt x="0" y="574"/>
                  </a:lnTo>
                  <a:lnTo>
                    <a:pt x="0" y="570"/>
                  </a:lnTo>
                  <a:lnTo>
                    <a:pt x="0" y="564"/>
                  </a:lnTo>
                  <a:lnTo>
                    <a:pt x="0" y="556"/>
                  </a:lnTo>
                  <a:lnTo>
                    <a:pt x="0" y="549"/>
                  </a:lnTo>
                  <a:lnTo>
                    <a:pt x="0" y="542"/>
                  </a:lnTo>
                  <a:lnTo>
                    <a:pt x="1" y="534"/>
                  </a:lnTo>
                  <a:lnTo>
                    <a:pt x="1" y="525"/>
                  </a:lnTo>
                  <a:lnTo>
                    <a:pt x="1" y="516"/>
                  </a:lnTo>
                  <a:lnTo>
                    <a:pt x="1" y="507"/>
                  </a:lnTo>
                  <a:lnTo>
                    <a:pt x="2" y="488"/>
                  </a:lnTo>
                  <a:lnTo>
                    <a:pt x="2" y="469"/>
                  </a:lnTo>
                  <a:lnTo>
                    <a:pt x="3" y="448"/>
                  </a:lnTo>
                  <a:lnTo>
                    <a:pt x="3" y="427"/>
                  </a:lnTo>
                  <a:lnTo>
                    <a:pt x="5" y="405"/>
                  </a:lnTo>
                  <a:lnTo>
                    <a:pt x="5" y="384"/>
                  </a:lnTo>
                  <a:lnTo>
                    <a:pt x="6" y="363"/>
                  </a:lnTo>
                  <a:lnTo>
                    <a:pt x="7" y="344"/>
                  </a:lnTo>
                  <a:lnTo>
                    <a:pt x="7" y="324"/>
                  </a:lnTo>
                  <a:lnTo>
                    <a:pt x="7" y="315"/>
                  </a:lnTo>
                  <a:lnTo>
                    <a:pt x="8" y="306"/>
                  </a:lnTo>
                  <a:lnTo>
                    <a:pt x="8" y="297"/>
                  </a:lnTo>
                  <a:lnTo>
                    <a:pt x="8" y="290"/>
                  </a:lnTo>
                  <a:lnTo>
                    <a:pt x="9" y="259"/>
                  </a:lnTo>
                  <a:lnTo>
                    <a:pt x="11" y="229"/>
                  </a:lnTo>
                  <a:lnTo>
                    <a:pt x="12" y="201"/>
                  </a:lnTo>
                  <a:lnTo>
                    <a:pt x="12" y="186"/>
                  </a:lnTo>
                  <a:lnTo>
                    <a:pt x="13" y="172"/>
                  </a:lnTo>
                  <a:lnTo>
                    <a:pt x="13" y="160"/>
                  </a:lnTo>
                  <a:lnTo>
                    <a:pt x="14" y="147"/>
                  </a:lnTo>
                  <a:lnTo>
                    <a:pt x="14" y="135"/>
                  </a:lnTo>
                  <a:lnTo>
                    <a:pt x="16" y="123"/>
                  </a:lnTo>
                  <a:lnTo>
                    <a:pt x="16" y="111"/>
                  </a:lnTo>
                  <a:lnTo>
                    <a:pt x="17" y="101"/>
                  </a:lnTo>
                  <a:lnTo>
                    <a:pt x="17" y="90"/>
                  </a:lnTo>
                  <a:lnTo>
                    <a:pt x="18" y="82"/>
                  </a:lnTo>
                  <a:lnTo>
                    <a:pt x="18" y="73"/>
                  </a:lnTo>
                  <a:lnTo>
                    <a:pt x="18" y="64"/>
                  </a:lnTo>
                  <a:lnTo>
                    <a:pt x="19" y="56"/>
                  </a:lnTo>
                  <a:lnTo>
                    <a:pt x="19" y="49"/>
                  </a:lnTo>
                  <a:lnTo>
                    <a:pt x="20" y="41"/>
                  </a:lnTo>
                  <a:lnTo>
                    <a:pt x="20" y="34"/>
                  </a:lnTo>
                  <a:lnTo>
                    <a:pt x="22" y="28"/>
                  </a:lnTo>
                  <a:lnTo>
                    <a:pt x="22" y="22"/>
                  </a:lnTo>
                  <a:lnTo>
                    <a:pt x="23" y="18"/>
                  </a:lnTo>
                  <a:lnTo>
                    <a:pt x="23" y="12"/>
                  </a:lnTo>
                  <a:lnTo>
                    <a:pt x="24" y="9"/>
                  </a:lnTo>
                  <a:lnTo>
                    <a:pt x="24" y="6"/>
                  </a:lnTo>
                  <a:lnTo>
                    <a:pt x="25" y="3"/>
                  </a:lnTo>
                  <a:lnTo>
                    <a:pt x="25" y="1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28" y="3"/>
                  </a:lnTo>
                  <a:lnTo>
                    <a:pt x="29" y="6"/>
                  </a:lnTo>
                  <a:lnTo>
                    <a:pt x="29" y="9"/>
                  </a:lnTo>
                  <a:lnTo>
                    <a:pt x="30" y="13"/>
                  </a:lnTo>
                  <a:lnTo>
                    <a:pt x="30" y="18"/>
                  </a:lnTo>
                  <a:lnTo>
                    <a:pt x="32" y="22"/>
                  </a:lnTo>
                  <a:lnTo>
                    <a:pt x="32" y="28"/>
                  </a:lnTo>
                  <a:lnTo>
                    <a:pt x="33" y="34"/>
                  </a:lnTo>
                  <a:lnTo>
                    <a:pt x="33" y="41"/>
                  </a:lnTo>
                  <a:lnTo>
                    <a:pt x="34" y="49"/>
                  </a:lnTo>
                  <a:lnTo>
                    <a:pt x="34" y="56"/>
                  </a:lnTo>
                  <a:lnTo>
                    <a:pt x="35" y="64"/>
                  </a:lnTo>
                  <a:lnTo>
                    <a:pt x="35" y="73"/>
                  </a:lnTo>
                  <a:lnTo>
                    <a:pt x="36" y="82"/>
                  </a:lnTo>
                  <a:lnTo>
                    <a:pt x="36" y="90"/>
                  </a:lnTo>
                  <a:lnTo>
                    <a:pt x="38" y="101"/>
                  </a:lnTo>
                  <a:lnTo>
                    <a:pt x="38" y="111"/>
                  </a:lnTo>
                  <a:lnTo>
                    <a:pt x="39" y="123"/>
                  </a:lnTo>
                  <a:lnTo>
                    <a:pt x="39" y="135"/>
                  </a:lnTo>
                  <a:lnTo>
                    <a:pt x="40" y="147"/>
                  </a:lnTo>
                  <a:lnTo>
                    <a:pt x="41" y="159"/>
                  </a:lnTo>
                  <a:lnTo>
                    <a:pt x="41" y="172"/>
                  </a:lnTo>
                  <a:lnTo>
                    <a:pt x="43" y="186"/>
                  </a:lnTo>
                  <a:lnTo>
                    <a:pt x="43" y="201"/>
                  </a:lnTo>
                  <a:lnTo>
                    <a:pt x="45" y="229"/>
                  </a:lnTo>
                  <a:lnTo>
                    <a:pt x="46" y="259"/>
                  </a:lnTo>
                  <a:lnTo>
                    <a:pt x="47" y="290"/>
                  </a:lnTo>
                  <a:lnTo>
                    <a:pt x="47" y="297"/>
                  </a:lnTo>
                  <a:lnTo>
                    <a:pt x="47" y="305"/>
                  </a:lnTo>
                  <a:lnTo>
                    <a:pt x="49" y="323"/>
                  </a:lnTo>
                  <a:lnTo>
                    <a:pt x="49" y="342"/>
                  </a:lnTo>
                  <a:lnTo>
                    <a:pt x="50" y="361"/>
                  </a:lnTo>
                  <a:lnTo>
                    <a:pt x="50" y="381"/>
                  </a:lnTo>
                  <a:lnTo>
                    <a:pt x="50" y="402"/>
                  </a:lnTo>
                  <a:lnTo>
                    <a:pt x="51" y="443"/>
                  </a:lnTo>
                  <a:lnTo>
                    <a:pt x="52" y="463"/>
                  </a:lnTo>
                  <a:lnTo>
                    <a:pt x="52" y="484"/>
                  </a:lnTo>
                  <a:lnTo>
                    <a:pt x="52" y="503"/>
                  </a:lnTo>
                  <a:lnTo>
                    <a:pt x="52" y="521"/>
                  </a:lnTo>
                  <a:lnTo>
                    <a:pt x="54" y="537"/>
                  </a:lnTo>
                  <a:lnTo>
                    <a:pt x="54" y="546"/>
                  </a:lnTo>
                  <a:lnTo>
                    <a:pt x="54" y="553"/>
                  </a:lnTo>
                  <a:lnTo>
                    <a:pt x="54" y="561"/>
                  </a:lnTo>
                  <a:lnTo>
                    <a:pt x="54" y="567"/>
                  </a:lnTo>
                  <a:lnTo>
                    <a:pt x="54" y="574"/>
                  </a:lnTo>
                  <a:lnTo>
                    <a:pt x="55" y="58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09" name="Freeform 77"/>
            <p:cNvSpPr>
              <a:spLocks/>
            </p:cNvSpPr>
            <p:nvPr/>
          </p:nvSpPr>
          <p:spPr bwMode="auto">
            <a:xfrm>
              <a:off x="3812" y="965"/>
              <a:ext cx="56" cy="335"/>
            </a:xfrm>
            <a:custGeom>
              <a:avLst/>
              <a:gdLst>
                <a:gd name="T0" fmla="*/ 0 w 56"/>
                <a:gd name="T1" fmla="*/ 5 h 670"/>
                <a:gd name="T2" fmla="*/ 0 w 56"/>
                <a:gd name="T3" fmla="*/ 18 h 670"/>
                <a:gd name="T4" fmla="*/ 0 w 56"/>
                <a:gd name="T5" fmla="*/ 35 h 670"/>
                <a:gd name="T6" fmla="*/ 2 w 56"/>
                <a:gd name="T7" fmla="*/ 52 h 670"/>
                <a:gd name="T8" fmla="*/ 2 w 56"/>
                <a:gd name="T9" fmla="*/ 72 h 670"/>
                <a:gd name="T10" fmla="*/ 3 w 56"/>
                <a:gd name="T11" fmla="*/ 105 h 670"/>
                <a:gd name="T12" fmla="*/ 4 w 56"/>
                <a:gd name="T13" fmla="*/ 152 h 670"/>
                <a:gd name="T14" fmla="*/ 5 w 56"/>
                <a:gd name="T15" fmla="*/ 201 h 670"/>
                <a:gd name="T16" fmla="*/ 7 w 56"/>
                <a:gd name="T17" fmla="*/ 249 h 670"/>
                <a:gd name="T18" fmla="*/ 8 w 56"/>
                <a:gd name="T19" fmla="*/ 295 h 670"/>
                <a:gd name="T20" fmla="*/ 9 w 56"/>
                <a:gd name="T21" fmla="*/ 314 h 670"/>
                <a:gd name="T22" fmla="*/ 9 w 56"/>
                <a:gd name="T23" fmla="*/ 334 h 670"/>
                <a:gd name="T24" fmla="*/ 12 w 56"/>
                <a:gd name="T25" fmla="*/ 404 h 670"/>
                <a:gd name="T26" fmla="*/ 13 w 56"/>
                <a:gd name="T27" fmla="*/ 437 h 670"/>
                <a:gd name="T28" fmla="*/ 14 w 56"/>
                <a:gd name="T29" fmla="*/ 469 h 670"/>
                <a:gd name="T30" fmla="*/ 15 w 56"/>
                <a:gd name="T31" fmla="*/ 499 h 670"/>
                <a:gd name="T32" fmla="*/ 16 w 56"/>
                <a:gd name="T33" fmla="*/ 526 h 670"/>
                <a:gd name="T34" fmla="*/ 18 w 56"/>
                <a:gd name="T35" fmla="*/ 551 h 670"/>
                <a:gd name="T36" fmla="*/ 19 w 56"/>
                <a:gd name="T37" fmla="*/ 573 h 670"/>
                <a:gd name="T38" fmla="*/ 19 w 56"/>
                <a:gd name="T39" fmla="*/ 594 h 670"/>
                <a:gd name="T40" fmla="*/ 20 w 56"/>
                <a:gd name="T41" fmla="*/ 612 h 670"/>
                <a:gd name="T42" fmla="*/ 21 w 56"/>
                <a:gd name="T43" fmla="*/ 629 h 670"/>
                <a:gd name="T44" fmla="*/ 23 w 56"/>
                <a:gd name="T45" fmla="*/ 643 h 670"/>
                <a:gd name="T46" fmla="*/ 24 w 56"/>
                <a:gd name="T47" fmla="*/ 654 h 670"/>
                <a:gd name="T48" fmla="*/ 25 w 56"/>
                <a:gd name="T49" fmla="*/ 663 h 670"/>
                <a:gd name="T50" fmla="*/ 26 w 56"/>
                <a:gd name="T51" fmla="*/ 667 h 670"/>
                <a:gd name="T52" fmla="*/ 27 w 56"/>
                <a:gd name="T53" fmla="*/ 670 h 670"/>
                <a:gd name="T54" fmla="*/ 29 w 56"/>
                <a:gd name="T55" fmla="*/ 667 h 670"/>
                <a:gd name="T56" fmla="*/ 30 w 56"/>
                <a:gd name="T57" fmla="*/ 663 h 670"/>
                <a:gd name="T58" fmla="*/ 31 w 56"/>
                <a:gd name="T59" fmla="*/ 654 h 670"/>
                <a:gd name="T60" fmla="*/ 32 w 56"/>
                <a:gd name="T61" fmla="*/ 643 h 670"/>
                <a:gd name="T62" fmla="*/ 34 w 56"/>
                <a:gd name="T63" fmla="*/ 629 h 670"/>
                <a:gd name="T64" fmla="*/ 35 w 56"/>
                <a:gd name="T65" fmla="*/ 612 h 670"/>
                <a:gd name="T66" fmla="*/ 36 w 56"/>
                <a:gd name="T67" fmla="*/ 594 h 670"/>
                <a:gd name="T68" fmla="*/ 37 w 56"/>
                <a:gd name="T69" fmla="*/ 573 h 670"/>
                <a:gd name="T70" fmla="*/ 38 w 56"/>
                <a:gd name="T71" fmla="*/ 551 h 670"/>
                <a:gd name="T72" fmla="*/ 40 w 56"/>
                <a:gd name="T73" fmla="*/ 526 h 670"/>
                <a:gd name="T74" fmla="*/ 41 w 56"/>
                <a:gd name="T75" fmla="*/ 499 h 670"/>
                <a:gd name="T76" fmla="*/ 42 w 56"/>
                <a:gd name="T77" fmla="*/ 469 h 670"/>
                <a:gd name="T78" fmla="*/ 43 w 56"/>
                <a:gd name="T79" fmla="*/ 438 h 670"/>
                <a:gd name="T80" fmla="*/ 46 w 56"/>
                <a:gd name="T81" fmla="*/ 404 h 670"/>
                <a:gd name="T82" fmla="*/ 48 w 56"/>
                <a:gd name="T83" fmla="*/ 335 h 670"/>
                <a:gd name="T84" fmla="*/ 48 w 56"/>
                <a:gd name="T85" fmla="*/ 316 h 670"/>
                <a:gd name="T86" fmla="*/ 50 w 56"/>
                <a:gd name="T87" fmla="*/ 274 h 670"/>
                <a:gd name="T88" fmla="*/ 51 w 56"/>
                <a:gd name="T89" fmla="*/ 228 h 670"/>
                <a:gd name="T90" fmla="*/ 52 w 56"/>
                <a:gd name="T91" fmla="*/ 158 h 670"/>
                <a:gd name="T92" fmla="*/ 53 w 56"/>
                <a:gd name="T93" fmla="*/ 110 h 670"/>
                <a:gd name="T94" fmla="*/ 53 w 56"/>
                <a:gd name="T95" fmla="*/ 67 h 670"/>
                <a:gd name="T96" fmla="*/ 54 w 56"/>
                <a:gd name="T97" fmla="*/ 48 h 670"/>
                <a:gd name="T98" fmla="*/ 54 w 56"/>
                <a:gd name="T99" fmla="*/ 30 h 670"/>
                <a:gd name="T100" fmla="*/ 54 w 56"/>
                <a:gd name="T101" fmla="*/ 14 h 670"/>
                <a:gd name="T102" fmla="*/ 56 w 56"/>
                <a:gd name="T103" fmla="*/ 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6" h="670">
                  <a:moveTo>
                    <a:pt x="0" y="0"/>
                  </a:moveTo>
                  <a:lnTo>
                    <a:pt x="0" y="5"/>
                  </a:lnTo>
                  <a:lnTo>
                    <a:pt x="0" y="11"/>
                  </a:lnTo>
                  <a:lnTo>
                    <a:pt x="0" y="18"/>
                  </a:lnTo>
                  <a:lnTo>
                    <a:pt x="0" y="26"/>
                  </a:lnTo>
                  <a:lnTo>
                    <a:pt x="0" y="35"/>
                  </a:lnTo>
                  <a:lnTo>
                    <a:pt x="0" y="43"/>
                  </a:lnTo>
                  <a:lnTo>
                    <a:pt x="2" y="52"/>
                  </a:lnTo>
                  <a:lnTo>
                    <a:pt x="2" y="61"/>
                  </a:lnTo>
                  <a:lnTo>
                    <a:pt x="2" y="72"/>
                  </a:lnTo>
                  <a:lnTo>
                    <a:pt x="2" y="82"/>
                  </a:lnTo>
                  <a:lnTo>
                    <a:pt x="3" y="105"/>
                  </a:lnTo>
                  <a:lnTo>
                    <a:pt x="3" y="128"/>
                  </a:lnTo>
                  <a:lnTo>
                    <a:pt x="4" y="152"/>
                  </a:lnTo>
                  <a:lnTo>
                    <a:pt x="4" y="176"/>
                  </a:lnTo>
                  <a:lnTo>
                    <a:pt x="5" y="201"/>
                  </a:lnTo>
                  <a:lnTo>
                    <a:pt x="5" y="225"/>
                  </a:lnTo>
                  <a:lnTo>
                    <a:pt x="7" y="249"/>
                  </a:lnTo>
                  <a:lnTo>
                    <a:pt x="8" y="273"/>
                  </a:lnTo>
                  <a:lnTo>
                    <a:pt x="8" y="295"/>
                  </a:lnTo>
                  <a:lnTo>
                    <a:pt x="8" y="305"/>
                  </a:lnTo>
                  <a:lnTo>
                    <a:pt x="9" y="314"/>
                  </a:lnTo>
                  <a:lnTo>
                    <a:pt x="9" y="325"/>
                  </a:lnTo>
                  <a:lnTo>
                    <a:pt x="9" y="334"/>
                  </a:lnTo>
                  <a:lnTo>
                    <a:pt x="10" y="370"/>
                  </a:lnTo>
                  <a:lnTo>
                    <a:pt x="12" y="404"/>
                  </a:lnTo>
                  <a:lnTo>
                    <a:pt x="12" y="420"/>
                  </a:lnTo>
                  <a:lnTo>
                    <a:pt x="13" y="437"/>
                  </a:lnTo>
                  <a:lnTo>
                    <a:pt x="13" y="453"/>
                  </a:lnTo>
                  <a:lnTo>
                    <a:pt x="14" y="469"/>
                  </a:lnTo>
                  <a:lnTo>
                    <a:pt x="14" y="484"/>
                  </a:lnTo>
                  <a:lnTo>
                    <a:pt x="15" y="499"/>
                  </a:lnTo>
                  <a:lnTo>
                    <a:pt x="15" y="512"/>
                  </a:lnTo>
                  <a:lnTo>
                    <a:pt x="16" y="526"/>
                  </a:lnTo>
                  <a:lnTo>
                    <a:pt x="16" y="539"/>
                  </a:lnTo>
                  <a:lnTo>
                    <a:pt x="18" y="551"/>
                  </a:lnTo>
                  <a:lnTo>
                    <a:pt x="18" y="563"/>
                  </a:lnTo>
                  <a:lnTo>
                    <a:pt x="19" y="573"/>
                  </a:lnTo>
                  <a:lnTo>
                    <a:pt x="19" y="584"/>
                  </a:lnTo>
                  <a:lnTo>
                    <a:pt x="19" y="594"/>
                  </a:lnTo>
                  <a:lnTo>
                    <a:pt x="20" y="603"/>
                  </a:lnTo>
                  <a:lnTo>
                    <a:pt x="20" y="612"/>
                  </a:lnTo>
                  <a:lnTo>
                    <a:pt x="21" y="621"/>
                  </a:lnTo>
                  <a:lnTo>
                    <a:pt x="21" y="629"/>
                  </a:lnTo>
                  <a:lnTo>
                    <a:pt x="23" y="636"/>
                  </a:lnTo>
                  <a:lnTo>
                    <a:pt x="23" y="643"/>
                  </a:lnTo>
                  <a:lnTo>
                    <a:pt x="24" y="649"/>
                  </a:lnTo>
                  <a:lnTo>
                    <a:pt x="24" y="654"/>
                  </a:lnTo>
                  <a:lnTo>
                    <a:pt x="25" y="658"/>
                  </a:lnTo>
                  <a:lnTo>
                    <a:pt x="25" y="663"/>
                  </a:lnTo>
                  <a:lnTo>
                    <a:pt x="26" y="666"/>
                  </a:lnTo>
                  <a:lnTo>
                    <a:pt x="26" y="667"/>
                  </a:lnTo>
                  <a:lnTo>
                    <a:pt x="27" y="669"/>
                  </a:lnTo>
                  <a:lnTo>
                    <a:pt x="27" y="670"/>
                  </a:lnTo>
                  <a:lnTo>
                    <a:pt x="27" y="669"/>
                  </a:lnTo>
                  <a:lnTo>
                    <a:pt x="29" y="667"/>
                  </a:lnTo>
                  <a:lnTo>
                    <a:pt x="29" y="666"/>
                  </a:lnTo>
                  <a:lnTo>
                    <a:pt x="30" y="663"/>
                  </a:lnTo>
                  <a:lnTo>
                    <a:pt x="30" y="658"/>
                  </a:lnTo>
                  <a:lnTo>
                    <a:pt x="31" y="654"/>
                  </a:lnTo>
                  <a:lnTo>
                    <a:pt x="31" y="649"/>
                  </a:lnTo>
                  <a:lnTo>
                    <a:pt x="32" y="643"/>
                  </a:lnTo>
                  <a:lnTo>
                    <a:pt x="32" y="636"/>
                  </a:lnTo>
                  <a:lnTo>
                    <a:pt x="34" y="629"/>
                  </a:lnTo>
                  <a:lnTo>
                    <a:pt x="34" y="621"/>
                  </a:lnTo>
                  <a:lnTo>
                    <a:pt x="35" y="612"/>
                  </a:lnTo>
                  <a:lnTo>
                    <a:pt x="35" y="603"/>
                  </a:lnTo>
                  <a:lnTo>
                    <a:pt x="36" y="594"/>
                  </a:lnTo>
                  <a:lnTo>
                    <a:pt x="36" y="584"/>
                  </a:lnTo>
                  <a:lnTo>
                    <a:pt x="37" y="573"/>
                  </a:lnTo>
                  <a:lnTo>
                    <a:pt x="37" y="563"/>
                  </a:lnTo>
                  <a:lnTo>
                    <a:pt x="38" y="551"/>
                  </a:lnTo>
                  <a:lnTo>
                    <a:pt x="38" y="539"/>
                  </a:lnTo>
                  <a:lnTo>
                    <a:pt x="40" y="526"/>
                  </a:lnTo>
                  <a:lnTo>
                    <a:pt x="40" y="512"/>
                  </a:lnTo>
                  <a:lnTo>
                    <a:pt x="41" y="499"/>
                  </a:lnTo>
                  <a:lnTo>
                    <a:pt x="42" y="484"/>
                  </a:lnTo>
                  <a:lnTo>
                    <a:pt x="42" y="469"/>
                  </a:lnTo>
                  <a:lnTo>
                    <a:pt x="43" y="454"/>
                  </a:lnTo>
                  <a:lnTo>
                    <a:pt x="43" y="438"/>
                  </a:lnTo>
                  <a:lnTo>
                    <a:pt x="45" y="422"/>
                  </a:lnTo>
                  <a:lnTo>
                    <a:pt x="46" y="404"/>
                  </a:lnTo>
                  <a:lnTo>
                    <a:pt x="47" y="370"/>
                  </a:lnTo>
                  <a:lnTo>
                    <a:pt x="48" y="335"/>
                  </a:lnTo>
                  <a:lnTo>
                    <a:pt x="48" y="325"/>
                  </a:lnTo>
                  <a:lnTo>
                    <a:pt x="48" y="316"/>
                  </a:lnTo>
                  <a:lnTo>
                    <a:pt x="50" y="295"/>
                  </a:lnTo>
                  <a:lnTo>
                    <a:pt x="50" y="274"/>
                  </a:lnTo>
                  <a:lnTo>
                    <a:pt x="51" y="252"/>
                  </a:lnTo>
                  <a:lnTo>
                    <a:pt x="51" y="228"/>
                  </a:lnTo>
                  <a:lnTo>
                    <a:pt x="51" y="204"/>
                  </a:lnTo>
                  <a:lnTo>
                    <a:pt x="52" y="158"/>
                  </a:lnTo>
                  <a:lnTo>
                    <a:pt x="53" y="134"/>
                  </a:lnTo>
                  <a:lnTo>
                    <a:pt x="53" y="110"/>
                  </a:lnTo>
                  <a:lnTo>
                    <a:pt x="53" y="90"/>
                  </a:lnTo>
                  <a:lnTo>
                    <a:pt x="53" y="67"/>
                  </a:lnTo>
                  <a:lnTo>
                    <a:pt x="54" y="58"/>
                  </a:lnTo>
                  <a:lnTo>
                    <a:pt x="54" y="48"/>
                  </a:lnTo>
                  <a:lnTo>
                    <a:pt x="54" y="39"/>
                  </a:lnTo>
                  <a:lnTo>
                    <a:pt x="54" y="30"/>
                  </a:lnTo>
                  <a:lnTo>
                    <a:pt x="54" y="21"/>
                  </a:lnTo>
                  <a:lnTo>
                    <a:pt x="54" y="14"/>
                  </a:lnTo>
                  <a:lnTo>
                    <a:pt x="54" y="6"/>
                  </a:lnTo>
                  <a:lnTo>
                    <a:pt x="56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10" name="Freeform 78"/>
            <p:cNvSpPr>
              <a:spLocks/>
            </p:cNvSpPr>
            <p:nvPr/>
          </p:nvSpPr>
          <p:spPr bwMode="auto">
            <a:xfrm>
              <a:off x="3923" y="965"/>
              <a:ext cx="55" cy="290"/>
            </a:xfrm>
            <a:custGeom>
              <a:avLst/>
              <a:gdLst>
                <a:gd name="T0" fmla="*/ 0 w 55"/>
                <a:gd name="T1" fmla="*/ 5 h 581"/>
                <a:gd name="T2" fmla="*/ 0 w 55"/>
                <a:gd name="T3" fmla="*/ 15 h 581"/>
                <a:gd name="T4" fmla="*/ 0 w 55"/>
                <a:gd name="T5" fmla="*/ 30 h 581"/>
                <a:gd name="T6" fmla="*/ 1 w 55"/>
                <a:gd name="T7" fmla="*/ 45 h 581"/>
                <a:gd name="T8" fmla="*/ 1 w 55"/>
                <a:gd name="T9" fmla="*/ 63 h 581"/>
                <a:gd name="T10" fmla="*/ 2 w 55"/>
                <a:gd name="T11" fmla="*/ 91 h 581"/>
                <a:gd name="T12" fmla="*/ 3 w 55"/>
                <a:gd name="T13" fmla="*/ 131 h 581"/>
                <a:gd name="T14" fmla="*/ 5 w 55"/>
                <a:gd name="T15" fmla="*/ 174 h 581"/>
                <a:gd name="T16" fmla="*/ 6 w 55"/>
                <a:gd name="T17" fmla="*/ 216 h 581"/>
                <a:gd name="T18" fmla="*/ 7 w 55"/>
                <a:gd name="T19" fmla="*/ 255 h 581"/>
                <a:gd name="T20" fmla="*/ 8 w 55"/>
                <a:gd name="T21" fmla="*/ 273 h 581"/>
                <a:gd name="T22" fmla="*/ 8 w 55"/>
                <a:gd name="T23" fmla="*/ 289 h 581"/>
                <a:gd name="T24" fmla="*/ 11 w 55"/>
                <a:gd name="T25" fmla="*/ 350 h 581"/>
                <a:gd name="T26" fmla="*/ 12 w 55"/>
                <a:gd name="T27" fmla="*/ 393 h 581"/>
                <a:gd name="T28" fmla="*/ 13 w 55"/>
                <a:gd name="T29" fmla="*/ 420 h 581"/>
                <a:gd name="T30" fmla="*/ 15 w 55"/>
                <a:gd name="T31" fmla="*/ 444 h 581"/>
                <a:gd name="T32" fmla="*/ 16 w 55"/>
                <a:gd name="T33" fmla="*/ 468 h 581"/>
                <a:gd name="T34" fmla="*/ 17 w 55"/>
                <a:gd name="T35" fmla="*/ 489 h 581"/>
                <a:gd name="T36" fmla="*/ 18 w 55"/>
                <a:gd name="T37" fmla="*/ 506 h 581"/>
                <a:gd name="T38" fmla="*/ 19 w 55"/>
                <a:gd name="T39" fmla="*/ 523 h 581"/>
                <a:gd name="T40" fmla="*/ 21 w 55"/>
                <a:gd name="T41" fmla="*/ 538 h 581"/>
                <a:gd name="T42" fmla="*/ 22 w 55"/>
                <a:gd name="T43" fmla="*/ 551 h 581"/>
                <a:gd name="T44" fmla="*/ 23 w 55"/>
                <a:gd name="T45" fmla="*/ 563 h 581"/>
                <a:gd name="T46" fmla="*/ 24 w 55"/>
                <a:gd name="T47" fmla="*/ 570 h 581"/>
                <a:gd name="T48" fmla="*/ 26 w 55"/>
                <a:gd name="T49" fmla="*/ 576 h 581"/>
                <a:gd name="T50" fmla="*/ 27 w 55"/>
                <a:gd name="T51" fmla="*/ 579 h 581"/>
                <a:gd name="T52" fmla="*/ 27 w 55"/>
                <a:gd name="T53" fmla="*/ 579 h 581"/>
                <a:gd name="T54" fmla="*/ 28 w 55"/>
                <a:gd name="T55" fmla="*/ 576 h 581"/>
                <a:gd name="T56" fmla="*/ 29 w 55"/>
                <a:gd name="T57" fmla="*/ 570 h 581"/>
                <a:gd name="T58" fmla="*/ 30 w 55"/>
                <a:gd name="T59" fmla="*/ 562 h 581"/>
                <a:gd name="T60" fmla="*/ 32 w 55"/>
                <a:gd name="T61" fmla="*/ 551 h 581"/>
                <a:gd name="T62" fmla="*/ 33 w 55"/>
                <a:gd name="T63" fmla="*/ 538 h 581"/>
                <a:gd name="T64" fmla="*/ 34 w 55"/>
                <a:gd name="T65" fmla="*/ 523 h 581"/>
                <a:gd name="T66" fmla="*/ 35 w 55"/>
                <a:gd name="T67" fmla="*/ 506 h 581"/>
                <a:gd name="T68" fmla="*/ 37 w 55"/>
                <a:gd name="T69" fmla="*/ 489 h 581"/>
                <a:gd name="T70" fmla="*/ 38 w 55"/>
                <a:gd name="T71" fmla="*/ 468 h 581"/>
                <a:gd name="T72" fmla="*/ 39 w 55"/>
                <a:gd name="T73" fmla="*/ 444 h 581"/>
                <a:gd name="T74" fmla="*/ 41 w 55"/>
                <a:gd name="T75" fmla="*/ 420 h 581"/>
                <a:gd name="T76" fmla="*/ 43 w 55"/>
                <a:gd name="T77" fmla="*/ 393 h 581"/>
                <a:gd name="T78" fmla="*/ 45 w 55"/>
                <a:gd name="T79" fmla="*/ 350 h 581"/>
                <a:gd name="T80" fmla="*/ 48 w 55"/>
                <a:gd name="T81" fmla="*/ 291 h 581"/>
                <a:gd name="T82" fmla="*/ 48 w 55"/>
                <a:gd name="T83" fmla="*/ 274 h 581"/>
                <a:gd name="T84" fmla="*/ 49 w 55"/>
                <a:gd name="T85" fmla="*/ 237 h 581"/>
                <a:gd name="T86" fmla="*/ 50 w 55"/>
                <a:gd name="T87" fmla="*/ 198 h 581"/>
                <a:gd name="T88" fmla="*/ 51 w 55"/>
                <a:gd name="T89" fmla="*/ 136 h 581"/>
                <a:gd name="T90" fmla="*/ 53 w 55"/>
                <a:gd name="T91" fmla="*/ 96 h 581"/>
                <a:gd name="T92" fmla="*/ 53 w 55"/>
                <a:gd name="T93" fmla="*/ 58 h 581"/>
                <a:gd name="T94" fmla="*/ 54 w 55"/>
                <a:gd name="T95" fmla="*/ 33 h 581"/>
                <a:gd name="T96" fmla="*/ 54 w 55"/>
                <a:gd name="T97" fmla="*/ 18 h 581"/>
                <a:gd name="T98" fmla="*/ 54 w 55"/>
                <a:gd name="T99" fmla="*/ 5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5" h="581">
                  <a:moveTo>
                    <a:pt x="0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23"/>
                  </a:lnTo>
                  <a:lnTo>
                    <a:pt x="0" y="30"/>
                  </a:lnTo>
                  <a:lnTo>
                    <a:pt x="0" y="38"/>
                  </a:lnTo>
                  <a:lnTo>
                    <a:pt x="1" y="45"/>
                  </a:lnTo>
                  <a:lnTo>
                    <a:pt x="1" y="54"/>
                  </a:lnTo>
                  <a:lnTo>
                    <a:pt x="1" y="63"/>
                  </a:lnTo>
                  <a:lnTo>
                    <a:pt x="1" y="72"/>
                  </a:lnTo>
                  <a:lnTo>
                    <a:pt x="2" y="91"/>
                  </a:lnTo>
                  <a:lnTo>
                    <a:pt x="2" y="110"/>
                  </a:lnTo>
                  <a:lnTo>
                    <a:pt x="3" y="131"/>
                  </a:lnTo>
                  <a:lnTo>
                    <a:pt x="3" y="152"/>
                  </a:lnTo>
                  <a:lnTo>
                    <a:pt x="5" y="174"/>
                  </a:lnTo>
                  <a:lnTo>
                    <a:pt x="5" y="195"/>
                  </a:lnTo>
                  <a:lnTo>
                    <a:pt x="6" y="216"/>
                  </a:lnTo>
                  <a:lnTo>
                    <a:pt x="7" y="236"/>
                  </a:lnTo>
                  <a:lnTo>
                    <a:pt x="7" y="255"/>
                  </a:lnTo>
                  <a:lnTo>
                    <a:pt x="7" y="264"/>
                  </a:lnTo>
                  <a:lnTo>
                    <a:pt x="8" y="273"/>
                  </a:lnTo>
                  <a:lnTo>
                    <a:pt x="8" y="282"/>
                  </a:lnTo>
                  <a:lnTo>
                    <a:pt x="8" y="289"/>
                  </a:lnTo>
                  <a:lnTo>
                    <a:pt x="10" y="320"/>
                  </a:lnTo>
                  <a:lnTo>
                    <a:pt x="11" y="350"/>
                  </a:lnTo>
                  <a:lnTo>
                    <a:pt x="12" y="378"/>
                  </a:lnTo>
                  <a:lnTo>
                    <a:pt x="12" y="393"/>
                  </a:lnTo>
                  <a:lnTo>
                    <a:pt x="13" y="407"/>
                  </a:lnTo>
                  <a:lnTo>
                    <a:pt x="13" y="420"/>
                  </a:lnTo>
                  <a:lnTo>
                    <a:pt x="15" y="432"/>
                  </a:lnTo>
                  <a:lnTo>
                    <a:pt x="15" y="444"/>
                  </a:lnTo>
                  <a:lnTo>
                    <a:pt x="16" y="456"/>
                  </a:lnTo>
                  <a:lnTo>
                    <a:pt x="16" y="468"/>
                  </a:lnTo>
                  <a:lnTo>
                    <a:pt x="17" y="478"/>
                  </a:lnTo>
                  <a:lnTo>
                    <a:pt x="17" y="489"/>
                  </a:lnTo>
                  <a:lnTo>
                    <a:pt x="18" y="498"/>
                  </a:lnTo>
                  <a:lnTo>
                    <a:pt x="18" y="506"/>
                  </a:lnTo>
                  <a:lnTo>
                    <a:pt x="18" y="515"/>
                  </a:lnTo>
                  <a:lnTo>
                    <a:pt x="19" y="523"/>
                  </a:lnTo>
                  <a:lnTo>
                    <a:pt x="19" y="532"/>
                  </a:lnTo>
                  <a:lnTo>
                    <a:pt x="21" y="538"/>
                  </a:lnTo>
                  <a:lnTo>
                    <a:pt x="21" y="545"/>
                  </a:lnTo>
                  <a:lnTo>
                    <a:pt x="22" y="551"/>
                  </a:lnTo>
                  <a:lnTo>
                    <a:pt x="22" y="557"/>
                  </a:lnTo>
                  <a:lnTo>
                    <a:pt x="23" y="563"/>
                  </a:lnTo>
                  <a:lnTo>
                    <a:pt x="23" y="568"/>
                  </a:lnTo>
                  <a:lnTo>
                    <a:pt x="24" y="570"/>
                  </a:lnTo>
                  <a:lnTo>
                    <a:pt x="24" y="573"/>
                  </a:lnTo>
                  <a:lnTo>
                    <a:pt x="26" y="576"/>
                  </a:lnTo>
                  <a:lnTo>
                    <a:pt x="26" y="578"/>
                  </a:lnTo>
                  <a:lnTo>
                    <a:pt x="27" y="579"/>
                  </a:lnTo>
                  <a:lnTo>
                    <a:pt x="27" y="581"/>
                  </a:lnTo>
                  <a:lnTo>
                    <a:pt x="27" y="579"/>
                  </a:lnTo>
                  <a:lnTo>
                    <a:pt x="28" y="578"/>
                  </a:lnTo>
                  <a:lnTo>
                    <a:pt x="28" y="576"/>
                  </a:lnTo>
                  <a:lnTo>
                    <a:pt x="29" y="573"/>
                  </a:lnTo>
                  <a:lnTo>
                    <a:pt x="29" y="570"/>
                  </a:lnTo>
                  <a:lnTo>
                    <a:pt x="30" y="568"/>
                  </a:lnTo>
                  <a:lnTo>
                    <a:pt x="30" y="562"/>
                  </a:lnTo>
                  <a:lnTo>
                    <a:pt x="32" y="557"/>
                  </a:lnTo>
                  <a:lnTo>
                    <a:pt x="32" y="551"/>
                  </a:lnTo>
                  <a:lnTo>
                    <a:pt x="33" y="545"/>
                  </a:lnTo>
                  <a:lnTo>
                    <a:pt x="33" y="538"/>
                  </a:lnTo>
                  <a:lnTo>
                    <a:pt x="34" y="530"/>
                  </a:lnTo>
                  <a:lnTo>
                    <a:pt x="34" y="523"/>
                  </a:lnTo>
                  <a:lnTo>
                    <a:pt x="35" y="515"/>
                  </a:lnTo>
                  <a:lnTo>
                    <a:pt x="35" y="506"/>
                  </a:lnTo>
                  <a:lnTo>
                    <a:pt x="37" y="498"/>
                  </a:lnTo>
                  <a:lnTo>
                    <a:pt x="37" y="489"/>
                  </a:lnTo>
                  <a:lnTo>
                    <a:pt x="38" y="478"/>
                  </a:lnTo>
                  <a:lnTo>
                    <a:pt x="38" y="468"/>
                  </a:lnTo>
                  <a:lnTo>
                    <a:pt x="39" y="456"/>
                  </a:lnTo>
                  <a:lnTo>
                    <a:pt x="39" y="444"/>
                  </a:lnTo>
                  <a:lnTo>
                    <a:pt x="40" y="432"/>
                  </a:lnTo>
                  <a:lnTo>
                    <a:pt x="41" y="420"/>
                  </a:lnTo>
                  <a:lnTo>
                    <a:pt x="41" y="407"/>
                  </a:lnTo>
                  <a:lnTo>
                    <a:pt x="43" y="393"/>
                  </a:lnTo>
                  <a:lnTo>
                    <a:pt x="43" y="380"/>
                  </a:lnTo>
                  <a:lnTo>
                    <a:pt x="45" y="350"/>
                  </a:lnTo>
                  <a:lnTo>
                    <a:pt x="46" y="320"/>
                  </a:lnTo>
                  <a:lnTo>
                    <a:pt x="48" y="291"/>
                  </a:lnTo>
                  <a:lnTo>
                    <a:pt x="48" y="282"/>
                  </a:lnTo>
                  <a:lnTo>
                    <a:pt x="48" y="274"/>
                  </a:lnTo>
                  <a:lnTo>
                    <a:pt x="49" y="256"/>
                  </a:lnTo>
                  <a:lnTo>
                    <a:pt x="49" y="237"/>
                  </a:lnTo>
                  <a:lnTo>
                    <a:pt x="50" y="218"/>
                  </a:lnTo>
                  <a:lnTo>
                    <a:pt x="50" y="198"/>
                  </a:lnTo>
                  <a:lnTo>
                    <a:pt x="50" y="177"/>
                  </a:lnTo>
                  <a:lnTo>
                    <a:pt x="51" y="136"/>
                  </a:lnTo>
                  <a:lnTo>
                    <a:pt x="53" y="116"/>
                  </a:lnTo>
                  <a:lnTo>
                    <a:pt x="53" y="96"/>
                  </a:lnTo>
                  <a:lnTo>
                    <a:pt x="53" y="78"/>
                  </a:lnTo>
                  <a:lnTo>
                    <a:pt x="53" y="58"/>
                  </a:lnTo>
                  <a:lnTo>
                    <a:pt x="54" y="42"/>
                  </a:lnTo>
                  <a:lnTo>
                    <a:pt x="54" y="33"/>
                  </a:lnTo>
                  <a:lnTo>
                    <a:pt x="54" y="26"/>
                  </a:lnTo>
                  <a:lnTo>
                    <a:pt x="54" y="18"/>
                  </a:lnTo>
                  <a:lnTo>
                    <a:pt x="54" y="12"/>
                  </a:lnTo>
                  <a:lnTo>
                    <a:pt x="54" y="5"/>
                  </a:lnTo>
                  <a:lnTo>
                    <a:pt x="55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11" name="Freeform 79"/>
            <p:cNvSpPr>
              <a:spLocks/>
            </p:cNvSpPr>
            <p:nvPr/>
          </p:nvSpPr>
          <p:spPr bwMode="auto">
            <a:xfrm>
              <a:off x="4033" y="965"/>
              <a:ext cx="55" cy="312"/>
            </a:xfrm>
            <a:custGeom>
              <a:avLst/>
              <a:gdLst>
                <a:gd name="T0" fmla="*/ 0 w 55"/>
                <a:gd name="T1" fmla="*/ 5 h 626"/>
                <a:gd name="T2" fmla="*/ 0 w 55"/>
                <a:gd name="T3" fmla="*/ 17 h 626"/>
                <a:gd name="T4" fmla="*/ 0 w 55"/>
                <a:gd name="T5" fmla="*/ 32 h 626"/>
                <a:gd name="T6" fmla="*/ 1 w 55"/>
                <a:gd name="T7" fmla="*/ 48 h 626"/>
                <a:gd name="T8" fmla="*/ 1 w 55"/>
                <a:gd name="T9" fmla="*/ 67 h 626"/>
                <a:gd name="T10" fmla="*/ 3 w 55"/>
                <a:gd name="T11" fmla="*/ 97 h 626"/>
                <a:gd name="T12" fmla="*/ 4 w 55"/>
                <a:gd name="T13" fmla="*/ 142 h 626"/>
                <a:gd name="T14" fmla="*/ 5 w 55"/>
                <a:gd name="T15" fmla="*/ 188 h 626"/>
                <a:gd name="T16" fmla="*/ 6 w 55"/>
                <a:gd name="T17" fmla="*/ 233 h 626"/>
                <a:gd name="T18" fmla="*/ 8 w 55"/>
                <a:gd name="T19" fmla="*/ 274 h 626"/>
                <a:gd name="T20" fmla="*/ 9 w 55"/>
                <a:gd name="T21" fmla="*/ 294 h 626"/>
                <a:gd name="T22" fmla="*/ 9 w 55"/>
                <a:gd name="T23" fmla="*/ 311 h 626"/>
                <a:gd name="T24" fmla="*/ 11 w 55"/>
                <a:gd name="T25" fmla="*/ 377 h 626"/>
                <a:gd name="T26" fmla="*/ 12 w 55"/>
                <a:gd name="T27" fmla="*/ 423 h 626"/>
                <a:gd name="T28" fmla="*/ 14 w 55"/>
                <a:gd name="T29" fmla="*/ 451 h 626"/>
                <a:gd name="T30" fmla="*/ 15 w 55"/>
                <a:gd name="T31" fmla="*/ 478 h 626"/>
                <a:gd name="T32" fmla="*/ 16 w 55"/>
                <a:gd name="T33" fmla="*/ 504 h 626"/>
                <a:gd name="T34" fmla="*/ 17 w 55"/>
                <a:gd name="T35" fmla="*/ 526 h 626"/>
                <a:gd name="T36" fmla="*/ 19 w 55"/>
                <a:gd name="T37" fmla="*/ 545 h 626"/>
                <a:gd name="T38" fmla="*/ 20 w 55"/>
                <a:gd name="T39" fmla="*/ 563 h 626"/>
                <a:gd name="T40" fmla="*/ 21 w 55"/>
                <a:gd name="T41" fmla="*/ 579 h 626"/>
                <a:gd name="T42" fmla="*/ 22 w 55"/>
                <a:gd name="T43" fmla="*/ 594 h 626"/>
                <a:gd name="T44" fmla="*/ 23 w 55"/>
                <a:gd name="T45" fmla="*/ 606 h 626"/>
                <a:gd name="T46" fmla="*/ 25 w 55"/>
                <a:gd name="T47" fmla="*/ 615 h 626"/>
                <a:gd name="T48" fmla="*/ 26 w 55"/>
                <a:gd name="T49" fmla="*/ 621 h 626"/>
                <a:gd name="T50" fmla="*/ 27 w 55"/>
                <a:gd name="T51" fmla="*/ 624 h 626"/>
                <a:gd name="T52" fmla="*/ 27 w 55"/>
                <a:gd name="T53" fmla="*/ 624 h 626"/>
                <a:gd name="T54" fmla="*/ 28 w 55"/>
                <a:gd name="T55" fmla="*/ 621 h 626"/>
                <a:gd name="T56" fmla="*/ 30 w 55"/>
                <a:gd name="T57" fmla="*/ 615 h 626"/>
                <a:gd name="T58" fmla="*/ 31 w 55"/>
                <a:gd name="T59" fmla="*/ 605 h 626"/>
                <a:gd name="T60" fmla="*/ 32 w 55"/>
                <a:gd name="T61" fmla="*/ 594 h 626"/>
                <a:gd name="T62" fmla="*/ 33 w 55"/>
                <a:gd name="T63" fmla="*/ 579 h 626"/>
                <a:gd name="T64" fmla="*/ 34 w 55"/>
                <a:gd name="T65" fmla="*/ 563 h 626"/>
                <a:gd name="T66" fmla="*/ 36 w 55"/>
                <a:gd name="T67" fmla="*/ 545 h 626"/>
                <a:gd name="T68" fmla="*/ 37 w 55"/>
                <a:gd name="T69" fmla="*/ 526 h 626"/>
                <a:gd name="T70" fmla="*/ 38 w 55"/>
                <a:gd name="T71" fmla="*/ 504 h 626"/>
                <a:gd name="T72" fmla="*/ 39 w 55"/>
                <a:gd name="T73" fmla="*/ 478 h 626"/>
                <a:gd name="T74" fmla="*/ 42 w 55"/>
                <a:gd name="T75" fmla="*/ 451 h 626"/>
                <a:gd name="T76" fmla="*/ 43 w 55"/>
                <a:gd name="T77" fmla="*/ 423 h 626"/>
                <a:gd name="T78" fmla="*/ 46 w 55"/>
                <a:gd name="T79" fmla="*/ 377 h 626"/>
                <a:gd name="T80" fmla="*/ 48 w 55"/>
                <a:gd name="T81" fmla="*/ 313 h 626"/>
                <a:gd name="T82" fmla="*/ 48 w 55"/>
                <a:gd name="T83" fmla="*/ 295 h 626"/>
                <a:gd name="T84" fmla="*/ 49 w 55"/>
                <a:gd name="T85" fmla="*/ 256 h 626"/>
                <a:gd name="T86" fmla="*/ 50 w 55"/>
                <a:gd name="T87" fmla="*/ 213 h 626"/>
                <a:gd name="T88" fmla="*/ 52 w 55"/>
                <a:gd name="T89" fmla="*/ 146 h 626"/>
                <a:gd name="T90" fmla="*/ 53 w 55"/>
                <a:gd name="T91" fmla="*/ 103 h 626"/>
                <a:gd name="T92" fmla="*/ 53 w 55"/>
                <a:gd name="T93" fmla="*/ 63 h 626"/>
                <a:gd name="T94" fmla="*/ 54 w 55"/>
                <a:gd name="T95" fmla="*/ 36 h 626"/>
                <a:gd name="T96" fmla="*/ 54 w 55"/>
                <a:gd name="T97" fmla="*/ 20 h 626"/>
                <a:gd name="T98" fmla="*/ 54 w 55"/>
                <a:gd name="T99" fmla="*/ 6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5" h="626">
                  <a:moveTo>
                    <a:pt x="0" y="0"/>
                  </a:moveTo>
                  <a:lnTo>
                    <a:pt x="0" y="5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1" y="48"/>
                  </a:lnTo>
                  <a:lnTo>
                    <a:pt x="1" y="57"/>
                  </a:lnTo>
                  <a:lnTo>
                    <a:pt x="1" y="67"/>
                  </a:lnTo>
                  <a:lnTo>
                    <a:pt x="1" y="76"/>
                  </a:lnTo>
                  <a:lnTo>
                    <a:pt x="3" y="97"/>
                  </a:lnTo>
                  <a:lnTo>
                    <a:pt x="3" y="119"/>
                  </a:lnTo>
                  <a:lnTo>
                    <a:pt x="4" y="142"/>
                  </a:lnTo>
                  <a:lnTo>
                    <a:pt x="4" y="164"/>
                  </a:lnTo>
                  <a:lnTo>
                    <a:pt x="5" y="188"/>
                  </a:lnTo>
                  <a:lnTo>
                    <a:pt x="5" y="210"/>
                  </a:lnTo>
                  <a:lnTo>
                    <a:pt x="6" y="233"/>
                  </a:lnTo>
                  <a:lnTo>
                    <a:pt x="8" y="255"/>
                  </a:lnTo>
                  <a:lnTo>
                    <a:pt x="8" y="274"/>
                  </a:lnTo>
                  <a:lnTo>
                    <a:pt x="8" y="285"/>
                  </a:lnTo>
                  <a:lnTo>
                    <a:pt x="9" y="294"/>
                  </a:lnTo>
                  <a:lnTo>
                    <a:pt x="9" y="303"/>
                  </a:lnTo>
                  <a:lnTo>
                    <a:pt x="9" y="311"/>
                  </a:lnTo>
                  <a:lnTo>
                    <a:pt x="10" y="344"/>
                  </a:lnTo>
                  <a:lnTo>
                    <a:pt x="11" y="377"/>
                  </a:lnTo>
                  <a:lnTo>
                    <a:pt x="12" y="408"/>
                  </a:lnTo>
                  <a:lnTo>
                    <a:pt x="12" y="423"/>
                  </a:lnTo>
                  <a:lnTo>
                    <a:pt x="14" y="438"/>
                  </a:lnTo>
                  <a:lnTo>
                    <a:pt x="14" y="451"/>
                  </a:lnTo>
                  <a:lnTo>
                    <a:pt x="15" y="465"/>
                  </a:lnTo>
                  <a:lnTo>
                    <a:pt x="15" y="478"/>
                  </a:lnTo>
                  <a:lnTo>
                    <a:pt x="16" y="492"/>
                  </a:lnTo>
                  <a:lnTo>
                    <a:pt x="16" y="504"/>
                  </a:lnTo>
                  <a:lnTo>
                    <a:pt x="17" y="515"/>
                  </a:lnTo>
                  <a:lnTo>
                    <a:pt x="17" y="526"/>
                  </a:lnTo>
                  <a:lnTo>
                    <a:pt x="19" y="536"/>
                  </a:lnTo>
                  <a:lnTo>
                    <a:pt x="19" y="545"/>
                  </a:lnTo>
                  <a:lnTo>
                    <a:pt x="19" y="554"/>
                  </a:lnTo>
                  <a:lnTo>
                    <a:pt x="20" y="563"/>
                  </a:lnTo>
                  <a:lnTo>
                    <a:pt x="20" y="572"/>
                  </a:lnTo>
                  <a:lnTo>
                    <a:pt x="21" y="579"/>
                  </a:lnTo>
                  <a:lnTo>
                    <a:pt x="21" y="587"/>
                  </a:lnTo>
                  <a:lnTo>
                    <a:pt x="22" y="594"/>
                  </a:lnTo>
                  <a:lnTo>
                    <a:pt x="22" y="600"/>
                  </a:lnTo>
                  <a:lnTo>
                    <a:pt x="23" y="606"/>
                  </a:lnTo>
                  <a:lnTo>
                    <a:pt x="23" y="611"/>
                  </a:lnTo>
                  <a:lnTo>
                    <a:pt x="25" y="615"/>
                  </a:lnTo>
                  <a:lnTo>
                    <a:pt x="25" y="618"/>
                  </a:lnTo>
                  <a:lnTo>
                    <a:pt x="26" y="621"/>
                  </a:lnTo>
                  <a:lnTo>
                    <a:pt x="26" y="623"/>
                  </a:lnTo>
                  <a:lnTo>
                    <a:pt x="27" y="624"/>
                  </a:lnTo>
                  <a:lnTo>
                    <a:pt x="27" y="626"/>
                  </a:lnTo>
                  <a:lnTo>
                    <a:pt x="27" y="624"/>
                  </a:lnTo>
                  <a:lnTo>
                    <a:pt x="28" y="623"/>
                  </a:lnTo>
                  <a:lnTo>
                    <a:pt x="28" y="621"/>
                  </a:lnTo>
                  <a:lnTo>
                    <a:pt x="30" y="618"/>
                  </a:lnTo>
                  <a:lnTo>
                    <a:pt x="30" y="615"/>
                  </a:lnTo>
                  <a:lnTo>
                    <a:pt x="31" y="611"/>
                  </a:lnTo>
                  <a:lnTo>
                    <a:pt x="31" y="605"/>
                  </a:lnTo>
                  <a:lnTo>
                    <a:pt x="32" y="600"/>
                  </a:lnTo>
                  <a:lnTo>
                    <a:pt x="32" y="594"/>
                  </a:lnTo>
                  <a:lnTo>
                    <a:pt x="33" y="587"/>
                  </a:lnTo>
                  <a:lnTo>
                    <a:pt x="33" y="579"/>
                  </a:lnTo>
                  <a:lnTo>
                    <a:pt x="34" y="572"/>
                  </a:lnTo>
                  <a:lnTo>
                    <a:pt x="34" y="563"/>
                  </a:lnTo>
                  <a:lnTo>
                    <a:pt x="36" y="554"/>
                  </a:lnTo>
                  <a:lnTo>
                    <a:pt x="36" y="545"/>
                  </a:lnTo>
                  <a:lnTo>
                    <a:pt x="37" y="536"/>
                  </a:lnTo>
                  <a:lnTo>
                    <a:pt x="37" y="526"/>
                  </a:lnTo>
                  <a:lnTo>
                    <a:pt x="38" y="515"/>
                  </a:lnTo>
                  <a:lnTo>
                    <a:pt x="38" y="504"/>
                  </a:lnTo>
                  <a:lnTo>
                    <a:pt x="39" y="492"/>
                  </a:lnTo>
                  <a:lnTo>
                    <a:pt x="39" y="478"/>
                  </a:lnTo>
                  <a:lnTo>
                    <a:pt x="41" y="466"/>
                  </a:lnTo>
                  <a:lnTo>
                    <a:pt x="42" y="451"/>
                  </a:lnTo>
                  <a:lnTo>
                    <a:pt x="42" y="438"/>
                  </a:lnTo>
                  <a:lnTo>
                    <a:pt x="43" y="423"/>
                  </a:lnTo>
                  <a:lnTo>
                    <a:pt x="43" y="408"/>
                  </a:lnTo>
                  <a:lnTo>
                    <a:pt x="46" y="377"/>
                  </a:lnTo>
                  <a:lnTo>
                    <a:pt x="47" y="346"/>
                  </a:lnTo>
                  <a:lnTo>
                    <a:pt x="48" y="313"/>
                  </a:lnTo>
                  <a:lnTo>
                    <a:pt x="48" y="304"/>
                  </a:lnTo>
                  <a:lnTo>
                    <a:pt x="48" y="295"/>
                  </a:lnTo>
                  <a:lnTo>
                    <a:pt x="49" y="276"/>
                  </a:lnTo>
                  <a:lnTo>
                    <a:pt x="49" y="256"/>
                  </a:lnTo>
                  <a:lnTo>
                    <a:pt x="50" y="236"/>
                  </a:lnTo>
                  <a:lnTo>
                    <a:pt x="50" y="213"/>
                  </a:lnTo>
                  <a:lnTo>
                    <a:pt x="50" y="191"/>
                  </a:lnTo>
                  <a:lnTo>
                    <a:pt x="52" y="146"/>
                  </a:lnTo>
                  <a:lnTo>
                    <a:pt x="53" y="125"/>
                  </a:lnTo>
                  <a:lnTo>
                    <a:pt x="53" y="103"/>
                  </a:lnTo>
                  <a:lnTo>
                    <a:pt x="53" y="82"/>
                  </a:lnTo>
                  <a:lnTo>
                    <a:pt x="53" y="63"/>
                  </a:lnTo>
                  <a:lnTo>
                    <a:pt x="54" y="45"/>
                  </a:lnTo>
                  <a:lnTo>
                    <a:pt x="54" y="36"/>
                  </a:lnTo>
                  <a:lnTo>
                    <a:pt x="54" y="29"/>
                  </a:lnTo>
                  <a:lnTo>
                    <a:pt x="54" y="20"/>
                  </a:lnTo>
                  <a:lnTo>
                    <a:pt x="54" y="12"/>
                  </a:lnTo>
                  <a:lnTo>
                    <a:pt x="54" y="6"/>
                  </a:lnTo>
                  <a:lnTo>
                    <a:pt x="55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12" name="Freeform 80"/>
            <p:cNvSpPr>
              <a:spLocks/>
            </p:cNvSpPr>
            <p:nvPr/>
          </p:nvSpPr>
          <p:spPr bwMode="auto">
            <a:xfrm>
              <a:off x="4143" y="965"/>
              <a:ext cx="56" cy="268"/>
            </a:xfrm>
            <a:custGeom>
              <a:avLst/>
              <a:gdLst>
                <a:gd name="T0" fmla="*/ 0 w 56"/>
                <a:gd name="T1" fmla="*/ 5 h 536"/>
                <a:gd name="T2" fmla="*/ 0 w 56"/>
                <a:gd name="T3" fmla="*/ 15 h 536"/>
                <a:gd name="T4" fmla="*/ 0 w 56"/>
                <a:gd name="T5" fmla="*/ 27 h 536"/>
                <a:gd name="T6" fmla="*/ 2 w 56"/>
                <a:gd name="T7" fmla="*/ 42 h 536"/>
                <a:gd name="T8" fmla="*/ 2 w 56"/>
                <a:gd name="T9" fmla="*/ 66 h 536"/>
                <a:gd name="T10" fmla="*/ 3 w 56"/>
                <a:gd name="T11" fmla="*/ 102 h 536"/>
                <a:gd name="T12" fmla="*/ 4 w 56"/>
                <a:gd name="T13" fmla="*/ 140 h 536"/>
                <a:gd name="T14" fmla="*/ 5 w 56"/>
                <a:gd name="T15" fmla="*/ 180 h 536"/>
                <a:gd name="T16" fmla="*/ 8 w 56"/>
                <a:gd name="T17" fmla="*/ 218 h 536"/>
                <a:gd name="T18" fmla="*/ 9 w 56"/>
                <a:gd name="T19" fmla="*/ 252 h 536"/>
                <a:gd name="T20" fmla="*/ 9 w 56"/>
                <a:gd name="T21" fmla="*/ 267 h 536"/>
                <a:gd name="T22" fmla="*/ 12 w 56"/>
                <a:gd name="T23" fmla="*/ 323 h 536"/>
                <a:gd name="T24" fmla="*/ 14 w 56"/>
                <a:gd name="T25" fmla="*/ 375 h 536"/>
                <a:gd name="T26" fmla="*/ 15 w 56"/>
                <a:gd name="T27" fmla="*/ 399 h 536"/>
                <a:gd name="T28" fmla="*/ 16 w 56"/>
                <a:gd name="T29" fmla="*/ 422 h 536"/>
                <a:gd name="T30" fmla="*/ 18 w 56"/>
                <a:gd name="T31" fmla="*/ 441 h 536"/>
                <a:gd name="T32" fmla="*/ 19 w 56"/>
                <a:gd name="T33" fmla="*/ 459 h 536"/>
                <a:gd name="T34" fmla="*/ 19 w 56"/>
                <a:gd name="T35" fmla="*/ 475 h 536"/>
                <a:gd name="T36" fmla="*/ 20 w 56"/>
                <a:gd name="T37" fmla="*/ 490 h 536"/>
                <a:gd name="T38" fmla="*/ 21 w 56"/>
                <a:gd name="T39" fmla="*/ 504 h 536"/>
                <a:gd name="T40" fmla="*/ 23 w 56"/>
                <a:gd name="T41" fmla="*/ 514 h 536"/>
                <a:gd name="T42" fmla="*/ 24 w 56"/>
                <a:gd name="T43" fmla="*/ 523 h 536"/>
                <a:gd name="T44" fmla="*/ 25 w 56"/>
                <a:gd name="T45" fmla="*/ 530 h 536"/>
                <a:gd name="T46" fmla="*/ 26 w 56"/>
                <a:gd name="T47" fmla="*/ 535 h 536"/>
                <a:gd name="T48" fmla="*/ 27 w 56"/>
                <a:gd name="T49" fmla="*/ 536 h 536"/>
                <a:gd name="T50" fmla="*/ 29 w 56"/>
                <a:gd name="T51" fmla="*/ 535 h 536"/>
                <a:gd name="T52" fmla="*/ 30 w 56"/>
                <a:gd name="T53" fmla="*/ 530 h 536"/>
                <a:gd name="T54" fmla="*/ 31 w 56"/>
                <a:gd name="T55" fmla="*/ 523 h 536"/>
                <a:gd name="T56" fmla="*/ 32 w 56"/>
                <a:gd name="T57" fmla="*/ 514 h 536"/>
                <a:gd name="T58" fmla="*/ 34 w 56"/>
                <a:gd name="T59" fmla="*/ 504 h 536"/>
                <a:gd name="T60" fmla="*/ 35 w 56"/>
                <a:gd name="T61" fmla="*/ 490 h 536"/>
                <a:gd name="T62" fmla="*/ 36 w 56"/>
                <a:gd name="T63" fmla="*/ 475 h 536"/>
                <a:gd name="T64" fmla="*/ 37 w 56"/>
                <a:gd name="T65" fmla="*/ 450 h 536"/>
                <a:gd name="T66" fmla="*/ 38 w 56"/>
                <a:gd name="T67" fmla="*/ 432 h 536"/>
                <a:gd name="T68" fmla="*/ 40 w 56"/>
                <a:gd name="T69" fmla="*/ 410 h 536"/>
                <a:gd name="T70" fmla="*/ 42 w 56"/>
                <a:gd name="T71" fmla="*/ 387 h 536"/>
                <a:gd name="T72" fmla="*/ 43 w 56"/>
                <a:gd name="T73" fmla="*/ 364 h 536"/>
                <a:gd name="T74" fmla="*/ 46 w 56"/>
                <a:gd name="T75" fmla="*/ 323 h 536"/>
                <a:gd name="T76" fmla="*/ 48 w 56"/>
                <a:gd name="T77" fmla="*/ 268 h 536"/>
                <a:gd name="T78" fmla="*/ 50 w 56"/>
                <a:gd name="T79" fmla="*/ 237 h 536"/>
                <a:gd name="T80" fmla="*/ 51 w 56"/>
                <a:gd name="T81" fmla="*/ 201 h 536"/>
                <a:gd name="T82" fmla="*/ 51 w 56"/>
                <a:gd name="T83" fmla="*/ 164 h 536"/>
                <a:gd name="T84" fmla="*/ 53 w 56"/>
                <a:gd name="T85" fmla="*/ 107 h 536"/>
                <a:gd name="T86" fmla="*/ 53 w 56"/>
                <a:gd name="T87" fmla="*/ 72 h 536"/>
                <a:gd name="T88" fmla="*/ 54 w 56"/>
                <a:gd name="T89" fmla="*/ 39 h 536"/>
                <a:gd name="T90" fmla="*/ 54 w 56"/>
                <a:gd name="T91" fmla="*/ 17 h 536"/>
                <a:gd name="T92" fmla="*/ 54 w 56"/>
                <a:gd name="T93" fmla="*/ 5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6" h="536">
                  <a:moveTo>
                    <a:pt x="0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21"/>
                  </a:lnTo>
                  <a:lnTo>
                    <a:pt x="0" y="27"/>
                  </a:lnTo>
                  <a:lnTo>
                    <a:pt x="0" y="35"/>
                  </a:lnTo>
                  <a:lnTo>
                    <a:pt x="2" y="42"/>
                  </a:lnTo>
                  <a:lnTo>
                    <a:pt x="2" y="49"/>
                  </a:lnTo>
                  <a:lnTo>
                    <a:pt x="2" y="66"/>
                  </a:lnTo>
                  <a:lnTo>
                    <a:pt x="3" y="84"/>
                  </a:lnTo>
                  <a:lnTo>
                    <a:pt x="3" y="102"/>
                  </a:lnTo>
                  <a:lnTo>
                    <a:pt x="4" y="121"/>
                  </a:lnTo>
                  <a:lnTo>
                    <a:pt x="4" y="140"/>
                  </a:lnTo>
                  <a:lnTo>
                    <a:pt x="5" y="161"/>
                  </a:lnTo>
                  <a:lnTo>
                    <a:pt x="5" y="180"/>
                  </a:lnTo>
                  <a:lnTo>
                    <a:pt x="7" y="200"/>
                  </a:lnTo>
                  <a:lnTo>
                    <a:pt x="8" y="218"/>
                  </a:lnTo>
                  <a:lnTo>
                    <a:pt x="8" y="236"/>
                  </a:lnTo>
                  <a:lnTo>
                    <a:pt x="9" y="252"/>
                  </a:lnTo>
                  <a:lnTo>
                    <a:pt x="9" y="259"/>
                  </a:lnTo>
                  <a:lnTo>
                    <a:pt x="9" y="267"/>
                  </a:lnTo>
                  <a:lnTo>
                    <a:pt x="10" y="295"/>
                  </a:lnTo>
                  <a:lnTo>
                    <a:pt x="12" y="323"/>
                  </a:lnTo>
                  <a:lnTo>
                    <a:pt x="13" y="350"/>
                  </a:lnTo>
                  <a:lnTo>
                    <a:pt x="14" y="375"/>
                  </a:lnTo>
                  <a:lnTo>
                    <a:pt x="14" y="387"/>
                  </a:lnTo>
                  <a:lnTo>
                    <a:pt x="15" y="399"/>
                  </a:lnTo>
                  <a:lnTo>
                    <a:pt x="15" y="410"/>
                  </a:lnTo>
                  <a:lnTo>
                    <a:pt x="16" y="422"/>
                  </a:lnTo>
                  <a:lnTo>
                    <a:pt x="16" y="432"/>
                  </a:lnTo>
                  <a:lnTo>
                    <a:pt x="18" y="441"/>
                  </a:lnTo>
                  <a:lnTo>
                    <a:pt x="18" y="450"/>
                  </a:lnTo>
                  <a:lnTo>
                    <a:pt x="19" y="459"/>
                  </a:lnTo>
                  <a:lnTo>
                    <a:pt x="19" y="468"/>
                  </a:lnTo>
                  <a:lnTo>
                    <a:pt x="19" y="475"/>
                  </a:lnTo>
                  <a:lnTo>
                    <a:pt x="20" y="483"/>
                  </a:lnTo>
                  <a:lnTo>
                    <a:pt x="20" y="490"/>
                  </a:lnTo>
                  <a:lnTo>
                    <a:pt x="21" y="498"/>
                  </a:lnTo>
                  <a:lnTo>
                    <a:pt x="21" y="504"/>
                  </a:lnTo>
                  <a:lnTo>
                    <a:pt x="23" y="509"/>
                  </a:lnTo>
                  <a:lnTo>
                    <a:pt x="23" y="514"/>
                  </a:lnTo>
                  <a:lnTo>
                    <a:pt x="24" y="518"/>
                  </a:lnTo>
                  <a:lnTo>
                    <a:pt x="24" y="523"/>
                  </a:lnTo>
                  <a:lnTo>
                    <a:pt x="25" y="527"/>
                  </a:lnTo>
                  <a:lnTo>
                    <a:pt x="25" y="530"/>
                  </a:lnTo>
                  <a:lnTo>
                    <a:pt x="26" y="532"/>
                  </a:lnTo>
                  <a:lnTo>
                    <a:pt x="26" y="535"/>
                  </a:lnTo>
                  <a:lnTo>
                    <a:pt x="27" y="535"/>
                  </a:lnTo>
                  <a:lnTo>
                    <a:pt x="27" y="536"/>
                  </a:lnTo>
                  <a:lnTo>
                    <a:pt x="27" y="535"/>
                  </a:lnTo>
                  <a:lnTo>
                    <a:pt x="29" y="535"/>
                  </a:lnTo>
                  <a:lnTo>
                    <a:pt x="29" y="532"/>
                  </a:lnTo>
                  <a:lnTo>
                    <a:pt x="30" y="530"/>
                  </a:lnTo>
                  <a:lnTo>
                    <a:pt x="30" y="527"/>
                  </a:lnTo>
                  <a:lnTo>
                    <a:pt x="31" y="523"/>
                  </a:lnTo>
                  <a:lnTo>
                    <a:pt x="31" y="518"/>
                  </a:lnTo>
                  <a:lnTo>
                    <a:pt x="32" y="514"/>
                  </a:lnTo>
                  <a:lnTo>
                    <a:pt x="32" y="509"/>
                  </a:lnTo>
                  <a:lnTo>
                    <a:pt x="34" y="504"/>
                  </a:lnTo>
                  <a:lnTo>
                    <a:pt x="34" y="496"/>
                  </a:lnTo>
                  <a:lnTo>
                    <a:pt x="35" y="490"/>
                  </a:lnTo>
                  <a:lnTo>
                    <a:pt x="35" y="483"/>
                  </a:lnTo>
                  <a:lnTo>
                    <a:pt x="36" y="475"/>
                  </a:lnTo>
                  <a:lnTo>
                    <a:pt x="37" y="459"/>
                  </a:lnTo>
                  <a:lnTo>
                    <a:pt x="37" y="450"/>
                  </a:lnTo>
                  <a:lnTo>
                    <a:pt x="38" y="441"/>
                  </a:lnTo>
                  <a:lnTo>
                    <a:pt x="38" y="432"/>
                  </a:lnTo>
                  <a:lnTo>
                    <a:pt x="40" y="422"/>
                  </a:lnTo>
                  <a:lnTo>
                    <a:pt x="40" y="410"/>
                  </a:lnTo>
                  <a:lnTo>
                    <a:pt x="41" y="399"/>
                  </a:lnTo>
                  <a:lnTo>
                    <a:pt x="42" y="387"/>
                  </a:lnTo>
                  <a:lnTo>
                    <a:pt x="42" y="375"/>
                  </a:lnTo>
                  <a:lnTo>
                    <a:pt x="43" y="364"/>
                  </a:lnTo>
                  <a:lnTo>
                    <a:pt x="43" y="350"/>
                  </a:lnTo>
                  <a:lnTo>
                    <a:pt x="46" y="323"/>
                  </a:lnTo>
                  <a:lnTo>
                    <a:pt x="47" y="297"/>
                  </a:lnTo>
                  <a:lnTo>
                    <a:pt x="48" y="268"/>
                  </a:lnTo>
                  <a:lnTo>
                    <a:pt x="48" y="252"/>
                  </a:lnTo>
                  <a:lnTo>
                    <a:pt x="50" y="237"/>
                  </a:lnTo>
                  <a:lnTo>
                    <a:pt x="50" y="219"/>
                  </a:lnTo>
                  <a:lnTo>
                    <a:pt x="51" y="201"/>
                  </a:lnTo>
                  <a:lnTo>
                    <a:pt x="51" y="183"/>
                  </a:lnTo>
                  <a:lnTo>
                    <a:pt x="51" y="164"/>
                  </a:lnTo>
                  <a:lnTo>
                    <a:pt x="52" y="125"/>
                  </a:lnTo>
                  <a:lnTo>
                    <a:pt x="53" y="107"/>
                  </a:lnTo>
                  <a:lnTo>
                    <a:pt x="53" y="88"/>
                  </a:lnTo>
                  <a:lnTo>
                    <a:pt x="53" y="72"/>
                  </a:lnTo>
                  <a:lnTo>
                    <a:pt x="53" y="54"/>
                  </a:lnTo>
                  <a:lnTo>
                    <a:pt x="54" y="39"/>
                  </a:lnTo>
                  <a:lnTo>
                    <a:pt x="54" y="24"/>
                  </a:lnTo>
                  <a:lnTo>
                    <a:pt x="54" y="17"/>
                  </a:lnTo>
                  <a:lnTo>
                    <a:pt x="54" y="11"/>
                  </a:lnTo>
                  <a:lnTo>
                    <a:pt x="54" y="5"/>
                  </a:lnTo>
                  <a:lnTo>
                    <a:pt x="56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13" name="Freeform 81"/>
            <p:cNvSpPr>
              <a:spLocks/>
            </p:cNvSpPr>
            <p:nvPr/>
          </p:nvSpPr>
          <p:spPr bwMode="auto">
            <a:xfrm>
              <a:off x="4291" y="719"/>
              <a:ext cx="36" cy="246"/>
            </a:xfrm>
            <a:custGeom>
              <a:avLst/>
              <a:gdLst>
                <a:gd name="T0" fmla="*/ 0 w 36"/>
                <a:gd name="T1" fmla="*/ 487 h 491"/>
                <a:gd name="T2" fmla="*/ 0 w 36"/>
                <a:gd name="T3" fmla="*/ 476 h 491"/>
                <a:gd name="T4" fmla="*/ 0 w 36"/>
                <a:gd name="T5" fmla="*/ 466 h 491"/>
                <a:gd name="T6" fmla="*/ 0 w 36"/>
                <a:gd name="T7" fmla="*/ 453 h 491"/>
                <a:gd name="T8" fmla="*/ 1 w 36"/>
                <a:gd name="T9" fmla="*/ 430 h 491"/>
                <a:gd name="T10" fmla="*/ 1 w 36"/>
                <a:gd name="T11" fmla="*/ 396 h 491"/>
                <a:gd name="T12" fmla="*/ 2 w 36"/>
                <a:gd name="T13" fmla="*/ 342 h 491"/>
                <a:gd name="T14" fmla="*/ 3 w 36"/>
                <a:gd name="T15" fmla="*/ 308 h 491"/>
                <a:gd name="T16" fmla="*/ 5 w 36"/>
                <a:gd name="T17" fmla="*/ 274 h 491"/>
                <a:gd name="T18" fmla="*/ 5 w 36"/>
                <a:gd name="T19" fmla="*/ 252 h 491"/>
                <a:gd name="T20" fmla="*/ 6 w 36"/>
                <a:gd name="T21" fmla="*/ 219 h 491"/>
                <a:gd name="T22" fmla="*/ 7 w 36"/>
                <a:gd name="T23" fmla="*/ 170 h 491"/>
                <a:gd name="T24" fmla="*/ 8 w 36"/>
                <a:gd name="T25" fmla="*/ 135 h 491"/>
                <a:gd name="T26" fmla="*/ 9 w 36"/>
                <a:gd name="T27" fmla="*/ 115 h 491"/>
                <a:gd name="T28" fmla="*/ 11 w 36"/>
                <a:gd name="T29" fmla="*/ 95 h 491"/>
                <a:gd name="T30" fmla="*/ 11 w 36"/>
                <a:gd name="T31" fmla="*/ 77 h 491"/>
                <a:gd name="T32" fmla="*/ 12 w 36"/>
                <a:gd name="T33" fmla="*/ 55 h 491"/>
                <a:gd name="T34" fmla="*/ 13 w 36"/>
                <a:gd name="T35" fmla="*/ 42 h 491"/>
                <a:gd name="T36" fmla="*/ 13 w 36"/>
                <a:gd name="T37" fmla="*/ 28 h 491"/>
                <a:gd name="T38" fmla="*/ 14 w 36"/>
                <a:gd name="T39" fmla="*/ 19 h 491"/>
                <a:gd name="T40" fmla="*/ 16 w 36"/>
                <a:gd name="T41" fmla="*/ 10 h 491"/>
                <a:gd name="T42" fmla="*/ 16 w 36"/>
                <a:gd name="T43" fmla="*/ 4 h 491"/>
                <a:gd name="T44" fmla="*/ 17 w 36"/>
                <a:gd name="T45" fmla="*/ 0 h 491"/>
                <a:gd name="T46" fmla="*/ 18 w 36"/>
                <a:gd name="T47" fmla="*/ 0 h 491"/>
                <a:gd name="T48" fmla="*/ 18 w 36"/>
                <a:gd name="T49" fmla="*/ 0 h 491"/>
                <a:gd name="T50" fmla="*/ 19 w 36"/>
                <a:gd name="T51" fmla="*/ 4 h 491"/>
                <a:gd name="T52" fmla="*/ 19 w 36"/>
                <a:gd name="T53" fmla="*/ 10 h 491"/>
                <a:gd name="T54" fmla="*/ 20 w 36"/>
                <a:gd name="T55" fmla="*/ 19 h 491"/>
                <a:gd name="T56" fmla="*/ 22 w 36"/>
                <a:gd name="T57" fmla="*/ 30 h 491"/>
                <a:gd name="T58" fmla="*/ 22 w 36"/>
                <a:gd name="T59" fmla="*/ 42 h 491"/>
                <a:gd name="T60" fmla="*/ 23 w 36"/>
                <a:gd name="T61" fmla="*/ 55 h 491"/>
                <a:gd name="T62" fmla="*/ 24 w 36"/>
                <a:gd name="T63" fmla="*/ 77 h 491"/>
                <a:gd name="T64" fmla="*/ 25 w 36"/>
                <a:gd name="T65" fmla="*/ 95 h 491"/>
                <a:gd name="T66" fmla="*/ 25 w 36"/>
                <a:gd name="T67" fmla="*/ 115 h 491"/>
                <a:gd name="T68" fmla="*/ 27 w 36"/>
                <a:gd name="T69" fmla="*/ 135 h 491"/>
                <a:gd name="T70" fmla="*/ 29 w 36"/>
                <a:gd name="T71" fmla="*/ 170 h 491"/>
                <a:gd name="T72" fmla="*/ 30 w 36"/>
                <a:gd name="T73" fmla="*/ 219 h 491"/>
                <a:gd name="T74" fmla="*/ 31 w 36"/>
                <a:gd name="T75" fmla="*/ 259 h 491"/>
                <a:gd name="T76" fmla="*/ 33 w 36"/>
                <a:gd name="T77" fmla="*/ 289 h 491"/>
                <a:gd name="T78" fmla="*/ 33 w 36"/>
                <a:gd name="T79" fmla="*/ 323 h 491"/>
                <a:gd name="T80" fmla="*/ 34 w 36"/>
                <a:gd name="T81" fmla="*/ 375 h 491"/>
                <a:gd name="T82" fmla="*/ 34 w 36"/>
                <a:gd name="T83" fmla="*/ 409 h 491"/>
                <a:gd name="T84" fmla="*/ 35 w 36"/>
                <a:gd name="T85" fmla="*/ 441 h 491"/>
                <a:gd name="T86" fmla="*/ 35 w 36"/>
                <a:gd name="T87" fmla="*/ 469 h 491"/>
                <a:gd name="T88" fmla="*/ 35 w 36"/>
                <a:gd name="T89" fmla="*/ 481 h 491"/>
                <a:gd name="T90" fmla="*/ 36 w 36"/>
                <a:gd name="T91" fmla="*/ 491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6" h="491">
                  <a:moveTo>
                    <a:pt x="0" y="491"/>
                  </a:moveTo>
                  <a:lnTo>
                    <a:pt x="0" y="487"/>
                  </a:lnTo>
                  <a:lnTo>
                    <a:pt x="0" y="482"/>
                  </a:lnTo>
                  <a:lnTo>
                    <a:pt x="0" y="476"/>
                  </a:lnTo>
                  <a:lnTo>
                    <a:pt x="0" y="472"/>
                  </a:lnTo>
                  <a:lnTo>
                    <a:pt x="0" y="466"/>
                  </a:lnTo>
                  <a:lnTo>
                    <a:pt x="0" y="459"/>
                  </a:lnTo>
                  <a:lnTo>
                    <a:pt x="0" y="453"/>
                  </a:lnTo>
                  <a:lnTo>
                    <a:pt x="0" y="445"/>
                  </a:lnTo>
                  <a:lnTo>
                    <a:pt x="1" y="430"/>
                  </a:lnTo>
                  <a:lnTo>
                    <a:pt x="1" y="414"/>
                  </a:lnTo>
                  <a:lnTo>
                    <a:pt x="1" y="396"/>
                  </a:lnTo>
                  <a:lnTo>
                    <a:pt x="2" y="380"/>
                  </a:lnTo>
                  <a:lnTo>
                    <a:pt x="2" y="342"/>
                  </a:lnTo>
                  <a:lnTo>
                    <a:pt x="3" y="325"/>
                  </a:lnTo>
                  <a:lnTo>
                    <a:pt x="3" y="308"/>
                  </a:lnTo>
                  <a:lnTo>
                    <a:pt x="5" y="290"/>
                  </a:lnTo>
                  <a:lnTo>
                    <a:pt x="5" y="274"/>
                  </a:lnTo>
                  <a:lnTo>
                    <a:pt x="5" y="259"/>
                  </a:lnTo>
                  <a:lnTo>
                    <a:pt x="5" y="252"/>
                  </a:lnTo>
                  <a:lnTo>
                    <a:pt x="6" y="246"/>
                  </a:lnTo>
                  <a:lnTo>
                    <a:pt x="6" y="219"/>
                  </a:lnTo>
                  <a:lnTo>
                    <a:pt x="7" y="194"/>
                  </a:lnTo>
                  <a:lnTo>
                    <a:pt x="7" y="170"/>
                  </a:lnTo>
                  <a:lnTo>
                    <a:pt x="8" y="146"/>
                  </a:lnTo>
                  <a:lnTo>
                    <a:pt x="8" y="135"/>
                  </a:lnTo>
                  <a:lnTo>
                    <a:pt x="9" y="125"/>
                  </a:lnTo>
                  <a:lnTo>
                    <a:pt x="9" y="115"/>
                  </a:lnTo>
                  <a:lnTo>
                    <a:pt x="9" y="104"/>
                  </a:lnTo>
                  <a:lnTo>
                    <a:pt x="11" y="95"/>
                  </a:lnTo>
                  <a:lnTo>
                    <a:pt x="11" y="86"/>
                  </a:lnTo>
                  <a:lnTo>
                    <a:pt x="11" y="77"/>
                  </a:lnTo>
                  <a:lnTo>
                    <a:pt x="12" y="70"/>
                  </a:lnTo>
                  <a:lnTo>
                    <a:pt x="12" y="55"/>
                  </a:lnTo>
                  <a:lnTo>
                    <a:pt x="12" y="48"/>
                  </a:lnTo>
                  <a:lnTo>
                    <a:pt x="13" y="42"/>
                  </a:lnTo>
                  <a:lnTo>
                    <a:pt x="13" y="34"/>
                  </a:lnTo>
                  <a:lnTo>
                    <a:pt x="13" y="28"/>
                  </a:lnTo>
                  <a:lnTo>
                    <a:pt x="14" y="24"/>
                  </a:lnTo>
                  <a:lnTo>
                    <a:pt x="14" y="19"/>
                  </a:lnTo>
                  <a:lnTo>
                    <a:pt x="14" y="15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6" y="4"/>
                  </a:lnTo>
                  <a:lnTo>
                    <a:pt x="17" y="1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3"/>
                  </a:lnTo>
                  <a:lnTo>
                    <a:pt x="19" y="4"/>
                  </a:lnTo>
                  <a:lnTo>
                    <a:pt x="19" y="7"/>
                  </a:lnTo>
                  <a:lnTo>
                    <a:pt x="19" y="10"/>
                  </a:lnTo>
                  <a:lnTo>
                    <a:pt x="20" y="15"/>
                  </a:lnTo>
                  <a:lnTo>
                    <a:pt x="20" y="19"/>
                  </a:lnTo>
                  <a:lnTo>
                    <a:pt x="20" y="24"/>
                  </a:lnTo>
                  <a:lnTo>
                    <a:pt x="22" y="30"/>
                  </a:lnTo>
                  <a:lnTo>
                    <a:pt x="22" y="36"/>
                  </a:lnTo>
                  <a:lnTo>
                    <a:pt x="22" y="42"/>
                  </a:lnTo>
                  <a:lnTo>
                    <a:pt x="23" y="48"/>
                  </a:lnTo>
                  <a:lnTo>
                    <a:pt x="23" y="55"/>
                  </a:lnTo>
                  <a:lnTo>
                    <a:pt x="24" y="70"/>
                  </a:lnTo>
                  <a:lnTo>
                    <a:pt x="24" y="77"/>
                  </a:lnTo>
                  <a:lnTo>
                    <a:pt x="24" y="86"/>
                  </a:lnTo>
                  <a:lnTo>
                    <a:pt x="25" y="95"/>
                  </a:lnTo>
                  <a:lnTo>
                    <a:pt x="25" y="104"/>
                  </a:lnTo>
                  <a:lnTo>
                    <a:pt x="25" y="115"/>
                  </a:lnTo>
                  <a:lnTo>
                    <a:pt x="27" y="125"/>
                  </a:lnTo>
                  <a:lnTo>
                    <a:pt x="27" y="135"/>
                  </a:lnTo>
                  <a:lnTo>
                    <a:pt x="28" y="146"/>
                  </a:lnTo>
                  <a:lnTo>
                    <a:pt x="29" y="170"/>
                  </a:lnTo>
                  <a:lnTo>
                    <a:pt x="29" y="194"/>
                  </a:lnTo>
                  <a:lnTo>
                    <a:pt x="30" y="219"/>
                  </a:lnTo>
                  <a:lnTo>
                    <a:pt x="31" y="246"/>
                  </a:lnTo>
                  <a:lnTo>
                    <a:pt x="31" y="259"/>
                  </a:lnTo>
                  <a:lnTo>
                    <a:pt x="31" y="274"/>
                  </a:lnTo>
                  <a:lnTo>
                    <a:pt x="33" y="289"/>
                  </a:lnTo>
                  <a:lnTo>
                    <a:pt x="33" y="305"/>
                  </a:lnTo>
                  <a:lnTo>
                    <a:pt x="33" y="323"/>
                  </a:lnTo>
                  <a:lnTo>
                    <a:pt x="34" y="339"/>
                  </a:lnTo>
                  <a:lnTo>
                    <a:pt x="34" y="375"/>
                  </a:lnTo>
                  <a:lnTo>
                    <a:pt x="34" y="392"/>
                  </a:lnTo>
                  <a:lnTo>
                    <a:pt x="34" y="409"/>
                  </a:lnTo>
                  <a:lnTo>
                    <a:pt x="35" y="426"/>
                  </a:lnTo>
                  <a:lnTo>
                    <a:pt x="35" y="441"/>
                  </a:lnTo>
                  <a:lnTo>
                    <a:pt x="35" y="456"/>
                  </a:lnTo>
                  <a:lnTo>
                    <a:pt x="35" y="469"/>
                  </a:lnTo>
                  <a:lnTo>
                    <a:pt x="35" y="475"/>
                  </a:lnTo>
                  <a:lnTo>
                    <a:pt x="35" y="481"/>
                  </a:lnTo>
                  <a:lnTo>
                    <a:pt x="35" y="485"/>
                  </a:lnTo>
                  <a:lnTo>
                    <a:pt x="36" y="491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14" name="Freeform 82"/>
            <p:cNvSpPr>
              <a:spLocks/>
            </p:cNvSpPr>
            <p:nvPr/>
          </p:nvSpPr>
          <p:spPr bwMode="auto">
            <a:xfrm>
              <a:off x="4364" y="697"/>
              <a:ext cx="37" cy="268"/>
            </a:xfrm>
            <a:custGeom>
              <a:avLst/>
              <a:gdLst>
                <a:gd name="T0" fmla="*/ 0 w 37"/>
                <a:gd name="T1" fmla="*/ 532 h 536"/>
                <a:gd name="T2" fmla="*/ 0 w 37"/>
                <a:gd name="T3" fmla="*/ 520 h 536"/>
                <a:gd name="T4" fmla="*/ 0 w 37"/>
                <a:gd name="T5" fmla="*/ 508 h 536"/>
                <a:gd name="T6" fmla="*/ 0 w 37"/>
                <a:gd name="T7" fmla="*/ 493 h 536"/>
                <a:gd name="T8" fmla="*/ 1 w 37"/>
                <a:gd name="T9" fmla="*/ 469 h 536"/>
                <a:gd name="T10" fmla="*/ 1 w 37"/>
                <a:gd name="T11" fmla="*/ 434 h 536"/>
                <a:gd name="T12" fmla="*/ 3 w 37"/>
                <a:gd name="T13" fmla="*/ 395 h 536"/>
                <a:gd name="T14" fmla="*/ 4 w 37"/>
                <a:gd name="T15" fmla="*/ 355 h 536"/>
                <a:gd name="T16" fmla="*/ 5 w 37"/>
                <a:gd name="T17" fmla="*/ 317 h 536"/>
                <a:gd name="T18" fmla="*/ 5 w 37"/>
                <a:gd name="T19" fmla="*/ 283 h 536"/>
                <a:gd name="T20" fmla="*/ 6 w 37"/>
                <a:gd name="T21" fmla="*/ 268 h 536"/>
                <a:gd name="T22" fmla="*/ 8 w 37"/>
                <a:gd name="T23" fmla="*/ 212 h 536"/>
                <a:gd name="T24" fmla="*/ 9 w 37"/>
                <a:gd name="T25" fmla="*/ 173 h 536"/>
                <a:gd name="T26" fmla="*/ 9 w 37"/>
                <a:gd name="T27" fmla="*/ 148 h 536"/>
                <a:gd name="T28" fmla="*/ 10 w 37"/>
                <a:gd name="T29" fmla="*/ 125 h 536"/>
                <a:gd name="T30" fmla="*/ 11 w 37"/>
                <a:gd name="T31" fmla="*/ 105 h 536"/>
                <a:gd name="T32" fmla="*/ 11 w 37"/>
                <a:gd name="T33" fmla="*/ 85 h 536"/>
                <a:gd name="T34" fmla="*/ 12 w 37"/>
                <a:gd name="T35" fmla="*/ 67 h 536"/>
                <a:gd name="T36" fmla="*/ 12 w 37"/>
                <a:gd name="T37" fmla="*/ 52 h 536"/>
                <a:gd name="T38" fmla="*/ 14 w 37"/>
                <a:gd name="T39" fmla="*/ 39 h 536"/>
                <a:gd name="T40" fmla="*/ 15 w 37"/>
                <a:gd name="T41" fmla="*/ 26 h 536"/>
                <a:gd name="T42" fmla="*/ 15 w 37"/>
                <a:gd name="T43" fmla="*/ 17 h 536"/>
                <a:gd name="T44" fmla="*/ 16 w 37"/>
                <a:gd name="T45" fmla="*/ 8 h 536"/>
                <a:gd name="T46" fmla="*/ 17 w 37"/>
                <a:gd name="T47" fmla="*/ 3 h 536"/>
                <a:gd name="T48" fmla="*/ 17 w 37"/>
                <a:gd name="T49" fmla="*/ 0 h 536"/>
                <a:gd name="T50" fmla="*/ 19 w 37"/>
                <a:gd name="T51" fmla="*/ 0 h 536"/>
                <a:gd name="T52" fmla="*/ 19 w 37"/>
                <a:gd name="T53" fmla="*/ 3 h 536"/>
                <a:gd name="T54" fmla="*/ 20 w 37"/>
                <a:gd name="T55" fmla="*/ 8 h 536"/>
                <a:gd name="T56" fmla="*/ 21 w 37"/>
                <a:gd name="T57" fmla="*/ 17 h 536"/>
                <a:gd name="T58" fmla="*/ 21 w 37"/>
                <a:gd name="T59" fmla="*/ 27 h 536"/>
                <a:gd name="T60" fmla="*/ 22 w 37"/>
                <a:gd name="T61" fmla="*/ 39 h 536"/>
                <a:gd name="T62" fmla="*/ 23 w 37"/>
                <a:gd name="T63" fmla="*/ 52 h 536"/>
                <a:gd name="T64" fmla="*/ 25 w 37"/>
                <a:gd name="T65" fmla="*/ 76 h 536"/>
                <a:gd name="T66" fmla="*/ 25 w 37"/>
                <a:gd name="T67" fmla="*/ 94 h 536"/>
                <a:gd name="T68" fmla="*/ 26 w 37"/>
                <a:gd name="T69" fmla="*/ 113 h 536"/>
                <a:gd name="T70" fmla="*/ 27 w 37"/>
                <a:gd name="T71" fmla="*/ 136 h 536"/>
                <a:gd name="T72" fmla="*/ 28 w 37"/>
                <a:gd name="T73" fmla="*/ 160 h 536"/>
                <a:gd name="T74" fmla="*/ 30 w 37"/>
                <a:gd name="T75" fmla="*/ 212 h 536"/>
                <a:gd name="T76" fmla="*/ 32 w 37"/>
                <a:gd name="T77" fmla="*/ 268 h 536"/>
                <a:gd name="T78" fmla="*/ 32 w 37"/>
                <a:gd name="T79" fmla="*/ 298 h 536"/>
                <a:gd name="T80" fmla="*/ 33 w 37"/>
                <a:gd name="T81" fmla="*/ 334 h 536"/>
                <a:gd name="T82" fmla="*/ 34 w 37"/>
                <a:gd name="T83" fmla="*/ 371 h 536"/>
                <a:gd name="T84" fmla="*/ 34 w 37"/>
                <a:gd name="T85" fmla="*/ 428 h 536"/>
                <a:gd name="T86" fmla="*/ 36 w 37"/>
                <a:gd name="T87" fmla="*/ 465 h 536"/>
                <a:gd name="T88" fmla="*/ 36 w 37"/>
                <a:gd name="T89" fmla="*/ 496 h 536"/>
                <a:gd name="T90" fmla="*/ 36 w 37"/>
                <a:gd name="T91" fmla="*/ 518 h 536"/>
                <a:gd name="T92" fmla="*/ 36 w 37"/>
                <a:gd name="T93" fmla="*/ 53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7" h="536">
                  <a:moveTo>
                    <a:pt x="0" y="536"/>
                  </a:moveTo>
                  <a:lnTo>
                    <a:pt x="0" y="532"/>
                  </a:lnTo>
                  <a:lnTo>
                    <a:pt x="0" y="526"/>
                  </a:lnTo>
                  <a:lnTo>
                    <a:pt x="0" y="520"/>
                  </a:lnTo>
                  <a:lnTo>
                    <a:pt x="0" y="514"/>
                  </a:lnTo>
                  <a:lnTo>
                    <a:pt x="0" y="508"/>
                  </a:lnTo>
                  <a:lnTo>
                    <a:pt x="0" y="501"/>
                  </a:lnTo>
                  <a:lnTo>
                    <a:pt x="0" y="493"/>
                  </a:lnTo>
                  <a:lnTo>
                    <a:pt x="0" y="486"/>
                  </a:lnTo>
                  <a:lnTo>
                    <a:pt x="1" y="469"/>
                  </a:lnTo>
                  <a:lnTo>
                    <a:pt x="1" y="451"/>
                  </a:lnTo>
                  <a:lnTo>
                    <a:pt x="1" y="434"/>
                  </a:lnTo>
                  <a:lnTo>
                    <a:pt x="3" y="414"/>
                  </a:lnTo>
                  <a:lnTo>
                    <a:pt x="3" y="395"/>
                  </a:lnTo>
                  <a:lnTo>
                    <a:pt x="3" y="374"/>
                  </a:lnTo>
                  <a:lnTo>
                    <a:pt x="4" y="355"/>
                  </a:lnTo>
                  <a:lnTo>
                    <a:pt x="4" y="335"/>
                  </a:lnTo>
                  <a:lnTo>
                    <a:pt x="5" y="317"/>
                  </a:lnTo>
                  <a:lnTo>
                    <a:pt x="5" y="300"/>
                  </a:lnTo>
                  <a:lnTo>
                    <a:pt x="5" y="283"/>
                  </a:lnTo>
                  <a:lnTo>
                    <a:pt x="5" y="276"/>
                  </a:lnTo>
                  <a:lnTo>
                    <a:pt x="6" y="268"/>
                  </a:lnTo>
                  <a:lnTo>
                    <a:pt x="6" y="240"/>
                  </a:lnTo>
                  <a:lnTo>
                    <a:pt x="8" y="212"/>
                  </a:lnTo>
                  <a:lnTo>
                    <a:pt x="8" y="185"/>
                  </a:lnTo>
                  <a:lnTo>
                    <a:pt x="9" y="173"/>
                  </a:lnTo>
                  <a:lnTo>
                    <a:pt x="9" y="160"/>
                  </a:lnTo>
                  <a:lnTo>
                    <a:pt x="9" y="148"/>
                  </a:lnTo>
                  <a:lnTo>
                    <a:pt x="10" y="136"/>
                  </a:lnTo>
                  <a:lnTo>
                    <a:pt x="10" y="125"/>
                  </a:lnTo>
                  <a:lnTo>
                    <a:pt x="10" y="113"/>
                  </a:lnTo>
                  <a:lnTo>
                    <a:pt x="11" y="105"/>
                  </a:lnTo>
                  <a:lnTo>
                    <a:pt x="11" y="94"/>
                  </a:lnTo>
                  <a:lnTo>
                    <a:pt x="11" y="85"/>
                  </a:lnTo>
                  <a:lnTo>
                    <a:pt x="12" y="76"/>
                  </a:lnTo>
                  <a:lnTo>
                    <a:pt x="12" y="67"/>
                  </a:lnTo>
                  <a:lnTo>
                    <a:pt x="12" y="60"/>
                  </a:lnTo>
                  <a:lnTo>
                    <a:pt x="12" y="52"/>
                  </a:lnTo>
                  <a:lnTo>
                    <a:pt x="14" y="45"/>
                  </a:lnTo>
                  <a:lnTo>
                    <a:pt x="14" y="39"/>
                  </a:lnTo>
                  <a:lnTo>
                    <a:pt x="14" y="32"/>
                  </a:lnTo>
                  <a:lnTo>
                    <a:pt x="15" y="26"/>
                  </a:lnTo>
                  <a:lnTo>
                    <a:pt x="15" y="21"/>
                  </a:lnTo>
                  <a:lnTo>
                    <a:pt x="15" y="17"/>
                  </a:lnTo>
                  <a:lnTo>
                    <a:pt x="16" y="12"/>
                  </a:lnTo>
                  <a:lnTo>
                    <a:pt x="16" y="8"/>
                  </a:lnTo>
                  <a:lnTo>
                    <a:pt x="16" y="5"/>
                  </a:lnTo>
                  <a:lnTo>
                    <a:pt x="17" y="3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3"/>
                  </a:lnTo>
                  <a:lnTo>
                    <a:pt x="20" y="5"/>
                  </a:lnTo>
                  <a:lnTo>
                    <a:pt x="20" y="8"/>
                  </a:lnTo>
                  <a:lnTo>
                    <a:pt x="20" y="12"/>
                  </a:lnTo>
                  <a:lnTo>
                    <a:pt x="21" y="17"/>
                  </a:lnTo>
                  <a:lnTo>
                    <a:pt x="21" y="21"/>
                  </a:lnTo>
                  <a:lnTo>
                    <a:pt x="21" y="27"/>
                  </a:lnTo>
                  <a:lnTo>
                    <a:pt x="22" y="32"/>
                  </a:lnTo>
                  <a:lnTo>
                    <a:pt x="22" y="39"/>
                  </a:lnTo>
                  <a:lnTo>
                    <a:pt x="22" y="45"/>
                  </a:lnTo>
                  <a:lnTo>
                    <a:pt x="23" y="52"/>
                  </a:lnTo>
                  <a:lnTo>
                    <a:pt x="23" y="60"/>
                  </a:lnTo>
                  <a:lnTo>
                    <a:pt x="25" y="76"/>
                  </a:lnTo>
                  <a:lnTo>
                    <a:pt x="25" y="85"/>
                  </a:lnTo>
                  <a:lnTo>
                    <a:pt x="25" y="94"/>
                  </a:lnTo>
                  <a:lnTo>
                    <a:pt x="26" y="105"/>
                  </a:lnTo>
                  <a:lnTo>
                    <a:pt x="26" y="113"/>
                  </a:lnTo>
                  <a:lnTo>
                    <a:pt x="26" y="125"/>
                  </a:lnTo>
                  <a:lnTo>
                    <a:pt x="27" y="136"/>
                  </a:lnTo>
                  <a:lnTo>
                    <a:pt x="27" y="148"/>
                  </a:lnTo>
                  <a:lnTo>
                    <a:pt x="28" y="160"/>
                  </a:lnTo>
                  <a:lnTo>
                    <a:pt x="30" y="185"/>
                  </a:lnTo>
                  <a:lnTo>
                    <a:pt x="30" y="212"/>
                  </a:lnTo>
                  <a:lnTo>
                    <a:pt x="31" y="240"/>
                  </a:lnTo>
                  <a:lnTo>
                    <a:pt x="32" y="268"/>
                  </a:lnTo>
                  <a:lnTo>
                    <a:pt x="32" y="283"/>
                  </a:lnTo>
                  <a:lnTo>
                    <a:pt x="32" y="298"/>
                  </a:lnTo>
                  <a:lnTo>
                    <a:pt x="33" y="316"/>
                  </a:lnTo>
                  <a:lnTo>
                    <a:pt x="33" y="334"/>
                  </a:lnTo>
                  <a:lnTo>
                    <a:pt x="33" y="353"/>
                  </a:lnTo>
                  <a:lnTo>
                    <a:pt x="34" y="371"/>
                  </a:lnTo>
                  <a:lnTo>
                    <a:pt x="34" y="410"/>
                  </a:lnTo>
                  <a:lnTo>
                    <a:pt x="34" y="428"/>
                  </a:lnTo>
                  <a:lnTo>
                    <a:pt x="34" y="447"/>
                  </a:lnTo>
                  <a:lnTo>
                    <a:pt x="36" y="465"/>
                  </a:lnTo>
                  <a:lnTo>
                    <a:pt x="36" y="481"/>
                  </a:lnTo>
                  <a:lnTo>
                    <a:pt x="36" y="496"/>
                  </a:lnTo>
                  <a:lnTo>
                    <a:pt x="36" y="511"/>
                  </a:lnTo>
                  <a:lnTo>
                    <a:pt x="36" y="518"/>
                  </a:lnTo>
                  <a:lnTo>
                    <a:pt x="36" y="524"/>
                  </a:lnTo>
                  <a:lnTo>
                    <a:pt x="36" y="530"/>
                  </a:lnTo>
                  <a:lnTo>
                    <a:pt x="37" y="536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15" name="Freeform 83"/>
            <p:cNvSpPr>
              <a:spLocks/>
            </p:cNvSpPr>
            <p:nvPr/>
          </p:nvSpPr>
          <p:spPr bwMode="auto">
            <a:xfrm>
              <a:off x="4438" y="652"/>
              <a:ext cx="36" cy="313"/>
            </a:xfrm>
            <a:custGeom>
              <a:avLst/>
              <a:gdLst>
                <a:gd name="T0" fmla="*/ 0 w 36"/>
                <a:gd name="T1" fmla="*/ 619 h 625"/>
                <a:gd name="T2" fmla="*/ 0 w 36"/>
                <a:gd name="T3" fmla="*/ 607 h 625"/>
                <a:gd name="T4" fmla="*/ 0 w 36"/>
                <a:gd name="T5" fmla="*/ 593 h 625"/>
                <a:gd name="T6" fmla="*/ 0 w 36"/>
                <a:gd name="T7" fmla="*/ 576 h 625"/>
                <a:gd name="T8" fmla="*/ 1 w 36"/>
                <a:gd name="T9" fmla="*/ 557 h 625"/>
                <a:gd name="T10" fmla="*/ 1 w 36"/>
                <a:gd name="T11" fmla="*/ 527 h 625"/>
                <a:gd name="T12" fmla="*/ 2 w 36"/>
                <a:gd name="T13" fmla="*/ 482 h 625"/>
                <a:gd name="T14" fmla="*/ 2 w 36"/>
                <a:gd name="T15" fmla="*/ 438 h 625"/>
                <a:gd name="T16" fmla="*/ 3 w 36"/>
                <a:gd name="T17" fmla="*/ 392 h 625"/>
                <a:gd name="T18" fmla="*/ 5 w 36"/>
                <a:gd name="T19" fmla="*/ 350 h 625"/>
                <a:gd name="T20" fmla="*/ 5 w 36"/>
                <a:gd name="T21" fmla="*/ 331 h 625"/>
                <a:gd name="T22" fmla="*/ 6 w 36"/>
                <a:gd name="T23" fmla="*/ 313 h 625"/>
                <a:gd name="T24" fmla="*/ 7 w 36"/>
                <a:gd name="T25" fmla="*/ 247 h 625"/>
                <a:gd name="T26" fmla="*/ 8 w 36"/>
                <a:gd name="T27" fmla="*/ 201 h 625"/>
                <a:gd name="T28" fmla="*/ 8 w 36"/>
                <a:gd name="T29" fmla="*/ 173 h 625"/>
                <a:gd name="T30" fmla="*/ 10 w 36"/>
                <a:gd name="T31" fmla="*/ 146 h 625"/>
                <a:gd name="T32" fmla="*/ 11 w 36"/>
                <a:gd name="T33" fmla="*/ 121 h 625"/>
                <a:gd name="T34" fmla="*/ 11 w 36"/>
                <a:gd name="T35" fmla="*/ 98 h 625"/>
                <a:gd name="T36" fmla="*/ 12 w 36"/>
                <a:gd name="T37" fmla="*/ 79 h 625"/>
                <a:gd name="T38" fmla="*/ 12 w 36"/>
                <a:gd name="T39" fmla="*/ 61 h 625"/>
                <a:gd name="T40" fmla="*/ 13 w 36"/>
                <a:gd name="T41" fmla="*/ 45 h 625"/>
                <a:gd name="T42" fmla="*/ 14 w 36"/>
                <a:gd name="T43" fmla="*/ 30 h 625"/>
                <a:gd name="T44" fmla="*/ 14 w 36"/>
                <a:gd name="T45" fmla="*/ 18 h 625"/>
                <a:gd name="T46" fmla="*/ 16 w 36"/>
                <a:gd name="T47" fmla="*/ 9 h 625"/>
                <a:gd name="T48" fmla="*/ 17 w 36"/>
                <a:gd name="T49" fmla="*/ 3 h 625"/>
                <a:gd name="T50" fmla="*/ 17 w 36"/>
                <a:gd name="T51" fmla="*/ 0 h 625"/>
                <a:gd name="T52" fmla="*/ 18 w 36"/>
                <a:gd name="T53" fmla="*/ 0 h 625"/>
                <a:gd name="T54" fmla="*/ 18 w 36"/>
                <a:gd name="T55" fmla="*/ 3 h 625"/>
                <a:gd name="T56" fmla="*/ 19 w 36"/>
                <a:gd name="T57" fmla="*/ 9 h 625"/>
                <a:gd name="T58" fmla="*/ 21 w 36"/>
                <a:gd name="T59" fmla="*/ 19 h 625"/>
                <a:gd name="T60" fmla="*/ 21 w 36"/>
                <a:gd name="T61" fmla="*/ 31 h 625"/>
                <a:gd name="T62" fmla="*/ 22 w 36"/>
                <a:gd name="T63" fmla="*/ 45 h 625"/>
                <a:gd name="T64" fmla="*/ 23 w 36"/>
                <a:gd name="T65" fmla="*/ 61 h 625"/>
                <a:gd name="T66" fmla="*/ 23 w 36"/>
                <a:gd name="T67" fmla="*/ 79 h 625"/>
                <a:gd name="T68" fmla="*/ 24 w 36"/>
                <a:gd name="T69" fmla="*/ 98 h 625"/>
                <a:gd name="T70" fmla="*/ 25 w 36"/>
                <a:gd name="T71" fmla="*/ 121 h 625"/>
                <a:gd name="T72" fmla="*/ 25 w 36"/>
                <a:gd name="T73" fmla="*/ 146 h 625"/>
                <a:gd name="T74" fmla="*/ 27 w 36"/>
                <a:gd name="T75" fmla="*/ 173 h 625"/>
                <a:gd name="T76" fmla="*/ 28 w 36"/>
                <a:gd name="T77" fmla="*/ 201 h 625"/>
                <a:gd name="T78" fmla="*/ 29 w 36"/>
                <a:gd name="T79" fmla="*/ 247 h 625"/>
                <a:gd name="T80" fmla="*/ 32 w 36"/>
                <a:gd name="T81" fmla="*/ 313 h 625"/>
                <a:gd name="T82" fmla="*/ 32 w 36"/>
                <a:gd name="T83" fmla="*/ 329 h 625"/>
                <a:gd name="T84" fmla="*/ 33 w 36"/>
                <a:gd name="T85" fmla="*/ 368 h 625"/>
                <a:gd name="T86" fmla="*/ 33 w 36"/>
                <a:gd name="T87" fmla="*/ 411 h 625"/>
                <a:gd name="T88" fmla="*/ 34 w 36"/>
                <a:gd name="T89" fmla="*/ 478 h 625"/>
                <a:gd name="T90" fmla="*/ 34 w 36"/>
                <a:gd name="T91" fmla="*/ 521 h 625"/>
                <a:gd name="T92" fmla="*/ 35 w 36"/>
                <a:gd name="T93" fmla="*/ 561 h 625"/>
                <a:gd name="T94" fmla="*/ 35 w 36"/>
                <a:gd name="T95" fmla="*/ 588 h 625"/>
                <a:gd name="T96" fmla="*/ 35 w 36"/>
                <a:gd name="T97" fmla="*/ 604 h 625"/>
                <a:gd name="T98" fmla="*/ 35 w 36"/>
                <a:gd name="T99" fmla="*/ 618 h 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" h="625">
                  <a:moveTo>
                    <a:pt x="0" y="625"/>
                  </a:moveTo>
                  <a:lnTo>
                    <a:pt x="0" y="619"/>
                  </a:lnTo>
                  <a:lnTo>
                    <a:pt x="0" y="613"/>
                  </a:lnTo>
                  <a:lnTo>
                    <a:pt x="0" y="607"/>
                  </a:lnTo>
                  <a:lnTo>
                    <a:pt x="0" y="600"/>
                  </a:lnTo>
                  <a:lnTo>
                    <a:pt x="0" y="593"/>
                  </a:lnTo>
                  <a:lnTo>
                    <a:pt x="0" y="585"/>
                  </a:lnTo>
                  <a:lnTo>
                    <a:pt x="0" y="576"/>
                  </a:lnTo>
                  <a:lnTo>
                    <a:pt x="0" y="567"/>
                  </a:lnTo>
                  <a:lnTo>
                    <a:pt x="1" y="557"/>
                  </a:lnTo>
                  <a:lnTo>
                    <a:pt x="1" y="548"/>
                  </a:lnTo>
                  <a:lnTo>
                    <a:pt x="1" y="527"/>
                  </a:lnTo>
                  <a:lnTo>
                    <a:pt x="1" y="505"/>
                  </a:lnTo>
                  <a:lnTo>
                    <a:pt x="2" y="482"/>
                  </a:lnTo>
                  <a:lnTo>
                    <a:pt x="2" y="460"/>
                  </a:lnTo>
                  <a:lnTo>
                    <a:pt x="2" y="438"/>
                  </a:lnTo>
                  <a:lnTo>
                    <a:pt x="3" y="414"/>
                  </a:lnTo>
                  <a:lnTo>
                    <a:pt x="3" y="392"/>
                  </a:lnTo>
                  <a:lnTo>
                    <a:pt x="5" y="371"/>
                  </a:lnTo>
                  <a:lnTo>
                    <a:pt x="5" y="350"/>
                  </a:lnTo>
                  <a:lnTo>
                    <a:pt x="5" y="339"/>
                  </a:lnTo>
                  <a:lnTo>
                    <a:pt x="5" y="331"/>
                  </a:lnTo>
                  <a:lnTo>
                    <a:pt x="5" y="322"/>
                  </a:lnTo>
                  <a:lnTo>
                    <a:pt x="6" y="313"/>
                  </a:lnTo>
                  <a:lnTo>
                    <a:pt x="6" y="280"/>
                  </a:lnTo>
                  <a:lnTo>
                    <a:pt x="7" y="247"/>
                  </a:lnTo>
                  <a:lnTo>
                    <a:pt x="7" y="216"/>
                  </a:lnTo>
                  <a:lnTo>
                    <a:pt x="8" y="201"/>
                  </a:lnTo>
                  <a:lnTo>
                    <a:pt x="8" y="186"/>
                  </a:lnTo>
                  <a:lnTo>
                    <a:pt x="8" y="173"/>
                  </a:lnTo>
                  <a:lnTo>
                    <a:pt x="10" y="159"/>
                  </a:lnTo>
                  <a:lnTo>
                    <a:pt x="10" y="146"/>
                  </a:lnTo>
                  <a:lnTo>
                    <a:pt x="10" y="132"/>
                  </a:lnTo>
                  <a:lnTo>
                    <a:pt x="11" y="121"/>
                  </a:lnTo>
                  <a:lnTo>
                    <a:pt x="11" y="110"/>
                  </a:lnTo>
                  <a:lnTo>
                    <a:pt x="11" y="98"/>
                  </a:lnTo>
                  <a:lnTo>
                    <a:pt x="12" y="89"/>
                  </a:lnTo>
                  <a:lnTo>
                    <a:pt x="12" y="79"/>
                  </a:lnTo>
                  <a:lnTo>
                    <a:pt x="12" y="70"/>
                  </a:lnTo>
                  <a:lnTo>
                    <a:pt x="12" y="61"/>
                  </a:lnTo>
                  <a:lnTo>
                    <a:pt x="13" y="52"/>
                  </a:lnTo>
                  <a:lnTo>
                    <a:pt x="13" y="45"/>
                  </a:lnTo>
                  <a:lnTo>
                    <a:pt x="13" y="37"/>
                  </a:lnTo>
                  <a:lnTo>
                    <a:pt x="14" y="30"/>
                  </a:lnTo>
                  <a:lnTo>
                    <a:pt x="14" y="24"/>
                  </a:lnTo>
                  <a:lnTo>
                    <a:pt x="14" y="18"/>
                  </a:lnTo>
                  <a:lnTo>
                    <a:pt x="16" y="13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7" y="3"/>
                  </a:lnTo>
                  <a:lnTo>
                    <a:pt x="17" y="1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1"/>
                  </a:lnTo>
                  <a:lnTo>
                    <a:pt x="18" y="3"/>
                  </a:lnTo>
                  <a:lnTo>
                    <a:pt x="19" y="6"/>
                  </a:lnTo>
                  <a:lnTo>
                    <a:pt x="19" y="9"/>
                  </a:lnTo>
                  <a:lnTo>
                    <a:pt x="19" y="13"/>
                  </a:lnTo>
                  <a:lnTo>
                    <a:pt x="21" y="19"/>
                  </a:lnTo>
                  <a:lnTo>
                    <a:pt x="21" y="24"/>
                  </a:lnTo>
                  <a:lnTo>
                    <a:pt x="21" y="31"/>
                  </a:lnTo>
                  <a:lnTo>
                    <a:pt x="22" y="37"/>
                  </a:lnTo>
                  <a:lnTo>
                    <a:pt x="22" y="45"/>
                  </a:lnTo>
                  <a:lnTo>
                    <a:pt x="22" y="52"/>
                  </a:lnTo>
                  <a:lnTo>
                    <a:pt x="23" y="61"/>
                  </a:lnTo>
                  <a:lnTo>
                    <a:pt x="23" y="70"/>
                  </a:lnTo>
                  <a:lnTo>
                    <a:pt x="23" y="79"/>
                  </a:lnTo>
                  <a:lnTo>
                    <a:pt x="24" y="89"/>
                  </a:lnTo>
                  <a:lnTo>
                    <a:pt x="24" y="98"/>
                  </a:lnTo>
                  <a:lnTo>
                    <a:pt x="24" y="110"/>
                  </a:lnTo>
                  <a:lnTo>
                    <a:pt x="25" y="121"/>
                  </a:lnTo>
                  <a:lnTo>
                    <a:pt x="25" y="132"/>
                  </a:lnTo>
                  <a:lnTo>
                    <a:pt x="25" y="146"/>
                  </a:lnTo>
                  <a:lnTo>
                    <a:pt x="27" y="159"/>
                  </a:lnTo>
                  <a:lnTo>
                    <a:pt x="27" y="173"/>
                  </a:lnTo>
                  <a:lnTo>
                    <a:pt x="28" y="186"/>
                  </a:lnTo>
                  <a:lnTo>
                    <a:pt x="28" y="201"/>
                  </a:lnTo>
                  <a:lnTo>
                    <a:pt x="29" y="216"/>
                  </a:lnTo>
                  <a:lnTo>
                    <a:pt x="29" y="247"/>
                  </a:lnTo>
                  <a:lnTo>
                    <a:pt x="30" y="278"/>
                  </a:lnTo>
                  <a:lnTo>
                    <a:pt x="32" y="313"/>
                  </a:lnTo>
                  <a:lnTo>
                    <a:pt x="32" y="320"/>
                  </a:lnTo>
                  <a:lnTo>
                    <a:pt x="32" y="329"/>
                  </a:lnTo>
                  <a:lnTo>
                    <a:pt x="32" y="348"/>
                  </a:lnTo>
                  <a:lnTo>
                    <a:pt x="33" y="368"/>
                  </a:lnTo>
                  <a:lnTo>
                    <a:pt x="33" y="390"/>
                  </a:lnTo>
                  <a:lnTo>
                    <a:pt x="33" y="411"/>
                  </a:lnTo>
                  <a:lnTo>
                    <a:pt x="34" y="433"/>
                  </a:lnTo>
                  <a:lnTo>
                    <a:pt x="34" y="478"/>
                  </a:lnTo>
                  <a:lnTo>
                    <a:pt x="34" y="499"/>
                  </a:lnTo>
                  <a:lnTo>
                    <a:pt x="34" y="521"/>
                  </a:lnTo>
                  <a:lnTo>
                    <a:pt x="35" y="542"/>
                  </a:lnTo>
                  <a:lnTo>
                    <a:pt x="35" y="561"/>
                  </a:lnTo>
                  <a:lnTo>
                    <a:pt x="35" y="579"/>
                  </a:lnTo>
                  <a:lnTo>
                    <a:pt x="35" y="588"/>
                  </a:lnTo>
                  <a:lnTo>
                    <a:pt x="35" y="596"/>
                  </a:lnTo>
                  <a:lnTo>
                    <a:pt x="35" y="604"/>
                  </a:lnTo>
                  <a:lnTo>
                    <a:pt x="35" y="612"/>
                  </a:lnTo>
                  <a:lnTo>
                    <a:pt x="35" y="618"/>
                  </a:lnTo>
                  <a:lnTo>
                    <a:pt x="36" y="625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16" name="Freeform 84"/>
            <p:cNvSpPr>
              <a:spLocks/>
            </p:cNvSpPr>
            <p:nvPr/>
          </p:nvSpPr>
          <p:spPr bwMode="auto">
            <a:xfrm>
              <a:off x="4511" y="652"/>
              <a:ext cx="37" cy="313"/>
            </a:xfrm>
            <a:custGeom>
              <a:avLst/>
              <a:gdLst>
                <a:gd name="T0" fmla="*/ 0 w 37"/>
                <a:gd name="T1" fmla="*/ 619 h 625"/>
                <a:gd name="T2" fmla="*/ 0 w 37"/>
                <a:gd name="T3" fmla="*/ 607 h 625"/>
                <a:gd name="T4" fmla="*/ 0 w 37"/>
                <a:gd name="T5" fmla="*/ 593 h 625"/>
                <a:gd name="T6" fmla="*/ 0 w 37"/>
                <a:gd name="T7" fmla="*/ 576 h 625"/>
                <a:gd name="T8" fmla="*/ 2 w 37"/>
                <a:gd name="T9" fmla="*/ 557 h 625"/>
                <a:gd name="T10" fmla="*/ 2 w 37"/>
                <a:gd name="T11" fmla="*/ 527 h 625"/>
                <a:gd name="T12" fmla="*/ 3 w 37"/>
                <a:gd name="T13" fmla="*/ 482 h 625"/>
                <a:gd name="T14" fmla="*/ 3 w 37"/>
                <a:gd name="T15" fmla="*/ 438 h 625"/>
                <a:gd name="T16" fmla="*/ 4 w 37"/>
                <a:gd name="T17" fmla="*/ 392 h 625"/>
                <a:gd name="T18" fmla="*/ 5 w 37"/>
                <a:gd name="T19" fmla="*/ 350 h 625"/>
                <a:gd name="T20" fmla="*/ 5 w 37"/>
                <a:gd name="T21" fmla="*/ 331 h 625"/>
                <a:gd name="T22" fmla="*/ 6 w 37"/>
                <a:gd name="T23" fmla="*/ 313 h 625"/>
                <a:gd name="T24" fmla="*/ 8 w 37"/>
                <a:gd name="T25" fmla="*/ 247 h 625"/>
                <a:gd name="T26" fmla="*/ 9 w 37"/>
                <a:gd name="T27" fmla="*/ 201 h 625"/>
                <a:gd name="T28" fmla="*/ 9 w 37"/>
                <a:gd name="T29" fmla="*/ 173 h 625"/>
                <a:gd name="T30" fmla="*/ 10 w 37"/>
                <a:gd name="T31" fmla="*/ 146 h 625"/>
                <a:gd name="T32" fmla="*/ 11 w 37"/>
                <a:gd name="T33" fmla="*/ 121 h 625"/>
                <a:gd name="T34" fmla="*/ 11 w 37"/>
                <a:gd name="T35" fmla="*/ 98 h 625"/>
                <a:gd name="T36" fmla="*/ 13 w 37"/>
                <a:gd name="T37" fmla="*/ 79 h 625"/>
                <a:gd name="T38" fmla="*/ 13 w 37"/>
                <a:gd name="T39" fmla="*/ 61 h 625"/>
                <a:gd name="T40" fmla="*/ 14 w 37"/>
                <a:gd name="T41" fmla="*/ 45 h 625"/>
                <a:gd name="T42" fmla="*/ 15 w 37"/>
                <a:gd name="T43" fmla="*/ 30 h 625"/>
                <a:gd name="T44" fmla="*/ 15 w 37"/>
                <a:gd name="T45" fmla="*/ 18 h 625"/>
                <a:gd name="T46" fmla="*/ 16 w 37"/>
                <a:gd name="T47" fmla="*/ 9 h 625"/>
                <a:gd name="T48" fmla="*/ 17 w 37"/>
                <a:gd name="T49" fmla="*/ 3 h 625"/>
                <a:gd name="T50" fmla="*/ 17 w 37"/>
                <a:gd name="T51" fmla="*/ 0 h 625"/>
                <a:gd name="T52" fmla="*/ 19 w 37"/>
                <a:gd name="T53" fmla="*/ 0 h 625"/>
                <a:gd name="T54" fmla="*/ 19 w 37"/>
                <a:gd name="T55" fmla="*/ 3 h 625"/>
                <a:gd name="T56" fmla="*/ 20 w 37"/>
                <a:gd name="T57" fmla="*/ 9 h 625"/>
                <a:gd name="T58" fmla="*/ 21 w 37"/>
                <a:gd name="T59" fmla="*/ 19 h 625"/>
                <a:gd name="T60" fmla="*/ 21 w 37"/>
                <a:gd name="T61" fmla="*/ 31 h 625"/>
                <a:gd name="T62" fmla="*/ 22 w 37"/>
                <a:gd name="T63" fmla="*/ 45 h 625"/>
                <a:gd name="T64" fmla="*/ 24 w 37"/>
                <a:gd name="T65" fmla="*/ 61 h 625"/>
                <a:gd name="T66" fmla="*/ 24 w 37"/>
                <a:gd name="T67" fmla="*/ 79 h 625"/>
                <a:gd name="T68" fmla="*/ 25 w 37"/>
                <a:gd name="T69" fmla="*/ 98 h 625"/>
                <a:gd name="T70" fmla="*/ 26 w 37"/>
                <a:gd name="T71" fmla="*/ 121 h 625"/>
                <a:gd name="T72" fmla="*/ 26 w 37"/>
                <a:gd name="T73" fmla="*/ 146 h 625"/>
                <a:gd name="T74" fmla="*/ 27 w 37"/>
                <a:gd name="T75" fmla="*/ 173 h 625"/>
                <a:gd name="T76" fmla="*/ 28 w 37"/>
                <a:gd name="T77" fmla="*/ 201 h 625"/>
                <a:gd name="T78" fmla="*/ 30 w 37"/>
                <a:gd name="T79" fmla="*/ 247 h 625"/>
                <a:gd name="T80" fmla="*/ 32 w 37"/>
                <a:gd name="T81" fmla="*/ 313 h 625"/>
                <a:gd name="T82" fmla="*/ 32 w 37"/>
                <a:gd name="T83" fmla="*/ 329 h 625"/>
                <a:gd name="T84" fmla="*/ 33 w 37"/>
                <a:gd name="T85" fmla="*/ 368 h 625"/>
                <a:gd name="T86" fmla="*/ 33 w 37"/>
                <a:gd name="T87" fmla="*/ 411 h 625"/>
                <a:gd name="T88" fmla="*/ 35 w 37"/>
                <a:gd name="T89" fmla="*/ 478 h 625"/>
                <a:gd name="T90" fmla="*/ 35 w 37"/>
                <a:gd name="T91" fmla="*/ 521 h 625"/>
                <a:gd name="T92" fmla="*/ 36 w 37"/>
                <a:gd name="T93" fmla="*/ 561 h 625"/>
                <a:gd name="T94" fmla="*/ 36 w 37"/>
                <a:gd name="T95" fmla="*/ 588 h 625"/>
                <a:gd name="T96" fmla="*/ 36 w 37"/>
                <a:gd name="T97" fmla="*/ 604 h 625"/>
                <a:gd name="T98" fmla="*/ 36 w 37"/>
                <a:gd name="T99" fmla="*/ 618 h 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7" h="625">
                  <a:moveTo>
                    <a:pt x="0" y="625"/>
                  </a:moveTo>
                  <a:lnTo>
                    <a:pt x="0" y="619"/>
                  </a:lnTo>
                  <a:lnTo>
                    <a:pt x="0" y="613"/>
                  </a:lnTo>
                  <a:lnTo>
                    <a:pt x="0" y="607"/>
                  </a:lnTo>
                  <a:lnTo>
                    <a:pt x="0" y="600"/>
                  </a:lnTo>
                  <a:lnTo>
                    <a:pt x="0" y="593"/>
                  </a:lnTo>
                  <a:lnTo>
                    <a:pt x="0" y="585"/>
                  </a:lnTo>
                  <a:lnTo>
                    <a:pt x="0" y="576"/>
                  </a:lnTo>
                  <a:lnTo>
                    <a:pt x="0" y="567"/>
                  </a:lnTo>
                  <a:lnTo>
                    <a:pt x="2" y="557"/>
                  </a:lnTo>
                  <a:lnTo>
                    <a:pt x="2" y="548"/>
                  </a:lnTo>
                  <a:lnTo>
                    <a:pt x="2" y="527"/>
                  </a:lnTo>
                  <a:lnTo>
                    <a:pt x="2" y="505"/>
                  </a:lnTo>
                  <a:lnTo>
                    <a:pt x="3" y="482"/>
                  </a:lnTo>
                  <a:lnTo>
                    <a:pt x="3" y="460"/>
                  </a:lnTo>
                  <a:lnTo>
                    <a:pt x="3" y="438"/>
                  </a:lnTo>
                  <a:lnTo>
                    <a:pt x="4" y="414"/>
                  </a:lnTo>
                  <a:lnTo>
                    <a:pt x="4" y="392"/>
                  </a:lnTo>
                  <a:lnTo>
                    <a:pt x="5" y="371"/>
                  </a:lnTo>
                  <a:lnTo>
                    <a:pt x="5" y="350"/>
                  </a:lnTo>
                  <a:lnTo>
                    <a:pt x="5" y="339"/>
                  </a:lnTo>
                  <a:lnTo>
                    <a:pt x="5" y="331"/>
                  </a:lnTo>
                  <a:lnTo>
                    <a:pt x="5" y="322"/>
                  </a:lnTo>
                  <a:lnTo>
                    <a:pt x="6" y="313"/>
                  </a:lnTo>
                  <a:lnTo>
                    <a:pt x="6" y="280"/>
                  </a:lnTo>
                  <a:lnTo>
                    <a:pt x="8" y="247"/>
                  </a:lnTo>
                  <a:lnTo>
                    <a:pt x="8" y="216"/>
                  </a:lnTo>
                  <a:lnTo>
                    <a:pt x="9" y="201"/>
                  </a:lnTo>
                  <a:lnTo>
                    <a:pt x="9" y="186"/>
                  </a:lnTo>
                  <a:lnTo>
                    <a:pt x="9" y="173"/>
                  </a:lnTo>
                  <a:lnTo>
                    <a:pt x="10" y="159"/>
                  </a:lnTo>
                  <a:lnTo>
                    <a:pt x="10" y="146"/>
                  </a:lnTo>
                  <a:lnTo>
                    <a:pt x="10" y="132"/>
                  </a:lnTo>
                  <a:lnTo>
                    <a:pt x="11" y="121"/>
                  </a:lnTo>
                  <a:lnTo>
                    <a:pt x="11" y="110"/>
                  </a:lnTo>
                  <a:lnTo>
                    <a:pt x="11" y="98"/>
                  </a:lnTo>
                  <a:lnTo>
                    <a:pt x="13" y="89"/>
                  </a:lnTo>
                  <a:lnTo>
                    <a:pt x="13" y="79"/>
                  </a:lnTo>
                  <a:lnTo>
                    <a:pt x="13" y="70"/>
                  </a:lnTo>
                  <a:lnTo>
                    <a:pt x="13" y="61"/>
                  </a:lnTo>
                  <a:lnTo>
                    <a:pt x="14" y="52"/>
                  </a:lnTo>
                  <a:lnTo>
                    <a:pt x="14" y="45"/>
                  </a:lnTo>
                  <a:lnTo>
                    <a:pt x="14" y="37"/>
                  </a:lnTo>
                  <a:lnTo>
                    <a:pt x="15" y="30"/>
                  </a:lnTo>
                  <a:lnTo>
                    <a:pt x="15" y="24"/>
                  </a:lnTo>
                  <a:lnTo>
                    <a:pt x="15" y="18"/>
                  </a:lnTo>
                  <a:lnTo>
                    <a:pt x="16" y="13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7" y="3"/>
                  </a:lnTo>
                  <a:lnTo>
                    <a:pt x="17" y="1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1"/>
                  </a:lnTo>
                  <a:lnTo>
                    <a:pt x="19" y="3"/>
                  </a:lnTo>
                  <a:lnTo>
                    <a:pt x="20" y="6"/>
                  </a:lnTo>
                  <a:lnTo>
                    <a:pt x="20" y="9"/>
                  </a:lnTo>
                  <a:lnTo>
                    <a:pt x="20" y="13"/>
                  </a:lnTo>
                  <a:lnTo>
                    <a:pt x="21" y="19"/>
                  </a:lnTo>
                  <a:lnTo>
                    <a:pt x="21" y="24"/>
                  </a:lnTo>
                  <a:lnTo>
                    <a:pt x="21" y="31"/>
                  </a:lnTo>
                  <a:lnTo>
                    <a:pt x="22" y="37"/>
                  </a:lnTo>
                  <a:lnTo>
                    <a:pt x="22" y="45"/>
                  </a:lnTo>
                  <a:lnTo>
                    <a:pt x="22" y="52"/>
                  </a:lnTo>
                  <a:lnTo>
                    <a:pt x="24" y="61"/>
                  </a:lnTo>
                  <a:lnTo>
                    <a:pt x="24" y="70"/>
                  </a:lnTo>
                  <a:lnTo>
                    <a:pt x="24" y="79"/>
                  </a:lnTo>
                  <a:lnTo>
                    <a:pt x="25" y="89"/>
                  </a:lnTo>
                  <a:lnTo>
                    <a:pt x="25" y="98"/>
                  </a:lnTo>
                  <a:lnTo>
                    <a:pt x="25" y="110"/>
                  </a:lnTo>
                  <a:lnTo>
                    <a:pt x="26" y="121"/>
                  </a:lnTo>
                  <a:lnTo>
                    <a:pt x="26" y="132"/>
                  </a:lnTo>
                  <a:lnTo>
                    <a:pt x="26" y="146"/>
                  </a:lnTo>
                  <a:lnTo>
                    <a:pt x="27" y="159"/>
                  </a:lnTo>
                  <a:lnTo>
                    <a:pt x="27" y="173"/>
                  </a:lnTo>
                  <a:lnTo>
                    <a:pt x="28" y="186"/>
                  </a:lnTo>
                  <a:lnTo>
                    <a:pt x="28" y="201"/>
                  </a:lnTo>
                  <a:lnTo>
                    <a:pt x="30" y="216"/>
                  </a:lnTo>
                  <a:lnTo>
                    <a:pt x="30" y="247"/>
                  </a:lnTo>
                  <a:lnTo>
                    <a:pt x="31" y="278"/>
                  </a:lnTo>
                  <a:lnTo>
                    <a:pt x="32" y="313"/>
                  </a:lnTo>
                  <a:lnTo>
                    <a:pt x="32" y="320"/>
                  </a:lnTo>
                  <a:lnTo>
                    <a:pt x="32" y="329"/>
                  </a:lnTo>
                  <a:lnTo>
                    <a:pt x="32" y="348"/>
                  </a:lnTo>
                  <a:lnTo>
                    <a:pt x="33" y="368"/>
                  </a:lnTo>
                  <a:lnTo>
                    <a:pt x="33" y="390"/>
                  </a:lnTo>
                  <a:lnTo>
                    <a:pt x="33" y="411"/>
                  </a:lnTo>
                  <a:lnTo>
                    <a:pt x="35" y="433"/>
                  </a:lnTo>
                  <a:lnTo>
                    <a:pt x="35" y="478"/>
                  </a:lnTo>
                  <a:lnTo>
                    <a:pt x="35" y="499"/>
                  </a:lnTo>
                  <a:lnTo>
                    <a:pt x="35" y="521"/>
                  </a:lnTo>
                  <a:lnTo>
                    <a:pt x="36" y="542"/>
                  </a:lnTo>
                  <a:lnTo>
                    <a:pt x="36" y="561"/>
                  </a:lnTo>
                  <a:lnTo>
                    <a:pt x="36" y="579"/>
                  </a:lnTo>
                  <a:lnTo>
                    <a:pt x="36" y="588"/>
                  </a:lnTo>
                  <a:lnTo>
                    <a:pt x="36" y="596"/>
                  </a:lnTo>
                  <a:lnTo>
                    <a:pt x="36" y="604"/>
                  </a:lnTo>
                  <a:lnTo>
                    <a:pt x="36" y="612"/>
                  </a:lnTo>
                  <a:lnTo>
                    <a:pt x="36" y="618"/>
                  </a:lnTo>
                  <a:lnTo>
                    <a:pt x="37" y="625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17" name="Freeform 85"/>
            <p:cNvSpPr>
              <a:spLocks/>
            </p:cNvSpPr>
            <p:nvPr/>
          </p:nvSpPr>
          <p:spPr bwMode="auto">
            <a:xfrm>
              <a:off x="4585" y="674"/>
              <a:ext cx="37" cy="291"/>
            </a:xfrm>
            <a:custGeom>
              <a:avLst/>
              <a:gdLst>
                <a:gd name="T0" fmla="*/ 0 w 37"/>
                <a:gd name="T1" fmla="*/ 574 h 580"/>
                <a:gd name="T2" fmla="*/ 0 w 37"/>
                <a:gd name="T3" fmla="*/ 564 h 580"/>
                <a:gd name="T4" fmla="*/ 0 w 37"/>
                <a:gd name="T5" fmla="*/ 549 h 580"/>
                <a:gd name="T6" fmla="*/ 0 w 37"/>
                <a:gd name="T7" fmla="*/ 534 h 580"/>
                <a:gd name="T8" fmla="*/ 1 w 37"/>
                <a:gd name="T9" fmla="*/ 516 h 580"/>
                <a:gd name="T10" fmla="*/ 1 w 37"/>
                <a:gd name="T11" fmla="*/ 488 h 580"/>
                <a:gd name="T12" fmla="*/ 2 w 37"/>
                <a:gd name="T13" fmla="*/ 448 h 580"/>
                <a:gd name="T14" fmla="*/ 2 w 37"/>
                <a:gd name="T15" fmla="*/ 405 h 580"/>
                <a:gd name="T16" fmla="*/ 4 w 37"/>
                <a:gd name="T17" fmla="*/ 363 h 580"/>
                <a:gd name="T18" fmla="*/ 5 w 37"/>
                <a:gd name="T19" fmla="*/ 324 h 580"/>
                <a:gd name="T20" fmla="*/ 5 w 37"/>
                <a:gd name="T21" fmla="*/ 306 h 580"/>
                <a:gd name="T22" fmla="*/ 6 w 37"/>
                <a:gd name="T23" fmla="*/ 290 h 580"/>
                <a:gd name="T24" fmla="*/ 7 w 37"/>
                <a:gd name="T25" fmla="*/ 229 h 580"/>
                <a:gd name="T26" fmla="*/ 8 w 37"/>
                <a:gd name="T27" fmla="*/ 186 h 580"/>
                <a:gd name="T28" fmla="*/ 8 w 37"/>
                <a:gd name="T29" fmla="*/ 160 h 580"/>
                <a:gd name="T30" fmla="*/ 10 w 37"/>
                <a:gd name="T31" fmla="*/ 135 h 580"/>
                <a:gd name="T32" fmla="*/ 11 w 37"/>
                <a:gd name="T33" fmla="*/ 111 h 580"/>
                <a:gd name="T34" fmla="*/ 11 w 37"/>
                <a:gd name="T35" fmla="*/ 90 h 580"/>
                <a:gd name="T36" fmla="*/ 12 w 37"/>
                <a:gd name="T37" fmla="*/ 73 h 580"/>
                <a:gd name="T38" fmla="*/ 12 w 37"/>
                <a:gd name="T39" fmla="*/ 56 h 580"/>
                <a:gd name="T40" fmla="*/ 13 w 37"/>
                <a:gd name="T41" fmla="*/ 41 h 580"/>
                <a:gd name="T42" fmla="*/ 15 w 37"/>
                <a:gd name="T43" fmla="*/ 28 h 580"/>
                <a:gd name="T44" fmla="*/ 15 w 37"/>
                <a:gd name="T45" fmla="*/ 18 h 580"/>
                <a:gd name="T46" fmla="*/ 16 w 37"/>
                <a:gd name="T47" fmla="*/ 9 h 580"/>
                <a:gd name="T48" fmla="*/ 17 w 37"/>
                <a:gd name="T49" fmla="*/ 3 h 580"/>
                <a:gd name="T50" fmla="*/ 17 w 37"/>
                <a:gd name="T51" fmla="*/ 0 h 580"/>
                <a:gd name="T52" fmla="*/ 18 w 37"/>
                <a:gd name="T53" fmla="*/ 0 h 580"/>
                <a:gd name="T54" fmla="*/ 18 w 37"/>
                <a:gd name="T55" fmla="*/ 3 h 580"/>
                <a:gd name="T56" fmla="*/ 19 w 37"/>
                <a:gd name="T57" fmla="*/ 9 h 580"/>
                <a:gd name="T58" fmla="*/ 21 w 37"/>
                <a:gd name="T59" fmla="*/ 18 h 580"/>
                <a:gd name="T60" fmla="*/ 21 w 37"/>
                <a:gd name="T61" fmla="*/ 28 h 580"/>
                <a:gd name="T62" fmla="*/ 22 w 37"/>
                <a:gd name="T63" fmla="*/ 41 h 580"/>
                <a:gd name="T64" fmla="*/ 23 w 37"/>
                <a:gd name="T65" fmla="*/ 56 h 580"/>
                <a:gd name="T66" fmla="*/ 23 w 37"/>
                <a:gd name="T67" fmla="*/ 73 h 580"/>
                <a:gd name="T68" fmla="*/ 24 w 37"/>
                <a:gd name="T69" fmla="*/ 90 h 580"/>
                <a:gd name="T70" fmla="*/ 26 w 37"/>
                <a:gd name="T71" fmla="*/ 111 h 580"/>
                <a:gd name="T72" fmla="*/ 26 w 37"/>
                <a:gd name="T73" fmla="*/ 135 h 580"/>
                <a:gd name="T74" fmla="*/ 27 w 37"/>
                <a:gd name="T75" fmla="*/ 159 h 580"/>
                <a:gd name="T76" fmla="*/ 28 w 37"/>
                <a:gd name="T77" fmla="*/ 186 h 580"/>
                <a:gd name="T78" fmla="*/ 29 w 37"/>
                <a:gd name="T79" fmla="*/ 229 h 580"/>
                <a:gd name="T80" fmla="*/ 32 w 37"/>
                <a:gd name="T81" fmla="*/ 290 h 580"/>
                <a:gd name="T82" fmla="*/ 32 w 37"/>
                <a:gd name="T83" fmla="*/ 305 h 580"/>
                <a:gd name="T84" fmla="*/ 33 w 37"/>
                <a:gd name="T85" fmla="*/ 342 h 580"/>
                <a:gd name="T86" fmla="*/ 33 w 37"/>
                <a:gd name="T87" fmla="*/ 381 h 580"/>
                <a:gd name="T88" fmla="*/ 34 w 37"/>
                <a:gd name="T89" fmla="*/ 443 h 580"/>
                <a:gd name="T90" fmla="*/ 34 w 37"/>
                <a:gd name="T91" fmla="*/ 484 h 580"/>
                <a:gd name="T92" fmla="*/ 35 w 37"/>
                <a:gd name="T93" fmla="*/ 521 h 580"/>
                <a:gd name="T94" fmla="*/ 35 w 37"/>
                <a:gd name="T95" fmla="*/ 546 h 580"/>
                <a:gd name="T96" fmla="*/ 35 w 37"/>
                <a:gd name="T97" fmla="*/ 561 h 580"/>
                <a:gd name="T98" fmla="*/ 35 w 37"/>
                <a:gd name="T99" fmla="*/ 574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7" h="580">
                  <a:moveTo>
                    <a:pt x="0" y="580"/>
                  </a:moveTo>
                  <a:lnTo>
                    <a:pt x="0" y="574"/>
                  </a:lnTo>
                  <a:lnTo>
                    <a:pt x="0" y="570"/>
                  </a:lnTo>
                  <a:lnTo>
                    <a:pt x="0" y="564"/>
                  </a:lnTo>
                  <a:lnTo>
                    <a:pt x="0" y="556"/>
                  </a:lnTo>
                  <a:lnTo>
                    <a:pt x="0" y="549"/>
                  </a:lnTo>
                  <a:lnTo>
                    <a:pt x="0" y="542"/>
                  </a:lnTo>
                  <a:lnTo>
                    <a:pt x="0" y="534"/>
                  </a:lnTo>
                  <a:lnTo>
                    <a:pt x="0" y="525"/>
                  </a:lnTo>
                  <a:lnTo>
                    <a:pt x="1" y="516"/>
                  </a:lnTo>
                  <a:lnTo>
                    <a:pt x="1" y="507"/>
                  </a:lnTo>
                  <a:lnTo>
                    <a:pt x="1" y="488"/>
                  </a:lnTo>
                  <a:lnTo>
                    <a:pt x="1" y="469"/>
                  </a:lnTo>
                  <a:lnTo>
                    <a:pt x="2" y="448"/>
                  </a:lnTo>
                  <a:lnTo>
                    <a:pt x="2" y="427"/>
                  </a:lnTo>
                  <a:lnTo>
                    <a:pt x="2" y="405"/>
                  </a:lnTo>
                  <a:lnTo>
                    <a:pt x="4" y="384"/>
                  </a:lnTo>
                  <a:lnTo>
                    <a:pt x="4" y="363"/>
                  </a:lnTo>
                  <a:lnTo>
                    <a:pt x="5" y="344"/>
                  </a:lnTo>
                  <a:lnTo>
                    <a:pt x="5" y="324"/>
                  </a:lnTo>
                  <a:lnTo>
                    <a:pt x="5" y="315"/>
                  </a:lnTo>
                  <a:lnTo>
                    <a:pt x="5" y="306"/>
                  </a:lnTo>
                  <a:lnTo>
                    <a:pt x="5" y="297"/>
                  </a:lnTo>
                  <a:lnTo>
                    <a:pt x="6" y="290"/>
                  </a:lnTo>
                  <a:lnTo>
                    <a:pt x="6" y="259"/>
                  </a:lnTo>
                  <a:lnTo>
                    <a:pt x="7" y="229"/>
                  </a:lnTo>
                  <a:lnTo>
                    <a:pt x="7" y="201"/>
                  </a:lnTo>
                  <a:lnTo>
                    <a:pt x="8" y="186"/>
                  </a:lnTo>
                  <a:lnTo>
                    <a:pt x="8" y="172"/>
                  </a:lnTo>
                  <a:lnTo>
                    <a:pt x="8" y="160"/>
                  </a:lnTo>
                  <a:lnTo>
                    <a:pt x="10" y="147"/>
                  </a:lnTo>
                  <a:lnTo>
                    <a:pt x="10" y="135"/>
                  </a:lnTo>
                  <a:lnTo>
                    <a:pt x="10" y="123"/>
                  </a:lnTo>
                  <a:lnTo>
                    <a:pt x="11" y="111"/>
                  </a:lnTo>
                  <a:lnTo>
                    <a:pt x="11" y="101"/>
                  </a:lnTo>
                  <a:lnTo>
                    <a:pt x="11" y="90"/>
                  </a:lnTo>
                  <a:lnTo>
                    <a:pt x="12" y="82"/>
                  </a:lnTo>
                  <a:lnTo>
                    <a:pt x="12" y="73"/>
                  </a:lnTo>
                  <a:lnTo>
                    <a:pt x="12" y="64"/>
                  </a:lnTo>
                  <a:lnTo>
                    <a:pt x="12" y="56"/>
                  </a:lnTo>
                  <a:lnTo>
                    <a:pt x="13" y="49"/>
                  </a:lnTo>
                  <a:lnTo>
                    <a:pt x="13" y="41"/>
                  </a:lnTo>
                  <a:lnTo>
                    <a:pt x="13" y="34"/>
                  </a:lnTo>
                  <a:lnTo>
                    <a:pt x="15" y="28"/>
                  </a:lnTo>
                  <a:lnTo>
                    <a:pt x="15" y="22"/>
                  </a:lnTo>
                  <a:lnTo>
                    <a:pt x="15" y="18"/>
                  </a:lnTo>
                  <a:lnTo>
                    <a:pt x="16" y="12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7" y="3"/>
                  </a:lnTo>
                  <a:lnTo>
                    <a:pt x="17" y="1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1"/>
                  </a:lnTo>
                  <a:lnTo>
                    <a:pt x="18" y="3"/>
                  </a:lnTo>
                  <a:lnTo>
                    <a:pt x="19" y="6"/>
                  </a:lnTo>
                  <a:lnTo>
                    <a:pt x="19" y="9"/>
                  </a:lnTo>
                  <a:lnTo>
                    <a:pt x="19" y="13"/>
                  </a:lnTo>
                  <a:lnTo>
                    <a:pt x="21" y="18"/>
                  </a:lnTo>
                  <a:lnTo>
                    <a:pt x="21" y="22"/>
                  </a:lnTo>
                  <a:lnTo>
                    <a:pt x="21" y="28"/>
                  </a:lnTo>
                  <a:lnTo>
                    <a:pt x="22" y="34"/>
                  </a:lnTo>
                  <a:lnTo>
                    <a:pt x="22" y="41"/>
                  </a:lnTo>
                  <a:lnTo>
                    <a:pt x="22" y="49"/>
                  </a:lnTo>
                  <a:lnTo>
                    <a:pt x="23" y="56"/>
                  </a:lnTo>
                  <a:lnTo>
                    <a:pt x="23" y="64"/>
                  </a:lnTo>
                  <a:lnTo>
                    <a:pt x="23" y="73"/>
                  </a:lnTo>
                  <a:lnTo>
                    <a:pt x="24" y="82"/>
                  </a:lnTo>
                  <a:lnTo>
                    <a:pt x="24" y="90"/>
                  </a:lnTo>
                  <a:lnTo>
                    <a:pt x="24" y="101"/>
                  </a:lnTo>
                  <a:lnTo>
                    <a:pt x="26" y="111"/>
                  </a:lnTo>
                  <a:lnTo>
                    <a:pt x="26" y="123"/>
                  </a:lnTo>
                  <a:lnTo>
                    <a:pt x="26" y="135"/>
                  </a:lnTo>
                  <a:lnTo>
                    <a:pt x="27" y="147"/>
                  </a:lnTo>
                  <a:lnTo>
                    <a:pt x="27" y="159"/>
                  </a:lnTo>
                  <a:lnTo>
                    <a:pt x="28" y="172"/>
                  </a:lnTo>
                  <a:lnTo>
                    <a:pt x="28" y="186"/>
                  </a:lnTo>
                  <a:lnTo>
                    <a:pt x="29" y="201"/>
                  </a:lnTo>
                  <a:lnTo>
                    <a:pt x="29" y="229"/>
                  </a:lnTo>
                  <a:lnTo>
                    <a:pt x="30" y="259"/>
                  </a:lnTo>
                  <a:lnTo>
                    <a:pt x="32" y="290"/>
                  </a:lnTo>
                  <a:lnTo>
                    <a:pt x="32" y="297"/>
                  </a:lnTo>
                  <a:lnTo>
                    <a:pt x="32" y="305"/>
                  </a:lnTo>
                  <a:lnTo>
                    <a:pt x="32" y="323"/>
                  </a:lnTo>
                  <a:lnTo>
                    <a:pt x="33" y="342"/>
                  </a:lnTo>
                  <a:lnTo>
                    <a:pt x="33" y="361"/>
                  </a:lnTo>
                  <a:lnTo>
                    <a:pt x="33" y="381"/>
                  </a:lnTo>
                  <a:lnTo>
                    <a:pt x="34" y="402"/>
                  </a:lnTo>
                  <a:lnTo>
                    <a:pt x="34" y="443"/>
                  </a:lnTo>
                  <a:lnTo>
                    <a:pt x="34" y="463"/>
                  </a:lnTo>
                  <a:lnTo>
                    <a:pt x="34" y="484"/>
                  </a:lnTo>
                  <a:lnTo>
                    <a:pt x="35" y="503"/>
                  </a:lnTo>
                  <a:lnTo>
                    <a:pt x="35" y="521"/>
                  </a:lnTo>
                  <a:lnTo>
                    <a:pt x="35" y="537"/>
                  </a:lnTo>
                  <a:lnTo>
                    <a:pt x="35" y="546"/>
                  </a:lnTo>
                  <a:lnTo>
                    <a:pt x="35" y="553"/>
                  </a:lnTo>
                  <a:lnTo>
                    <a:pt x="35" y="561"/>
                  </a:lnTo>
                  <a:lnTo>
                    <a:pt x="35" y="567"/>
                  </a:lnTo>
                  <a:lnTo>
                    <a:pt x="35" y="574"/>
                  </a:lnTo>
                  <a:lnTo>
                    <a:pt x="37" y="58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18" name="Freeform 86"/>
            <p:cNvSpPr>
              <a:spLocks/>
            </p:cNvSpPr>
            <p:nvPr/>
          </p:nvSpPr>
          <p:spPr bwMode="auto">
            <a:xfrm>
              <a:off x="4658" y="652"/>
              <a:ext cx="37" cy="313"/>
            </a:xfrm>
            <a:custGeom>
              <a:avLst/>
              <a:gdLst>
                <a:gd name="T0" fmla="*/ 0 w 37"/>
                <a:gd name="T1" fmla="*/ 619 h 625"/>
                <a:gd name="T2" fmla="*/ 0 w 37"/>
                <a:gd name="T3" fmla="*/ 607 h 625"/>
                <a:gd name="T4" fmla="*/ 0 w 37"/>
                <a:gd name="T5" fmla="*/ 593 h 625"/>
                <a:gd name="T6" fmla="*/ 0 w 37"/>
                <a:gd name="T7" fmla="*/ 576 h 625"/>
                <a:gd name="T8" fmla="*/ 2 w 37"/>
                <a:gd name="T9" fmla="*/ 557 h 625"/>
                <a:gd name="T10" fmla="*/ 2 w 37"/>
                <a:gd name="T11" fmla="*/ 527 h 625"/>
                <a:gd name="T12" fmla="*/ 3 w 37"/>
                <a:gd name="T13" fmla="*/ 482 h 625"/>
                <a:gd name="T14" fmla="*/ 3 w 37"/>
                <a:gd name="T15" fmla="*/ 438 h 625"/>
                <a:gd name="T16" fmla="*/ 4 w 37"/>
                <a:gd name="T17" fmla="*/ 392 h 625"/>
                <a:gd name="T18" fmla="*/ 5 w 37"/>
                <a:gd name="T19" fmla="*/ 350 h 625"/>
                <a:gd name="T20" fmla="*/ 5 w 37"/>
                <a:gd name="T21" fmla="*/ 331 h 625"/>
                <a:gd name="T22" fmla="*/ 7 w 37"/>
                <a:gd name="T23" fmla="*/ 313 h 625"/>
                <a:gd name="T24" fmla="*/ 8 w 37"/>
                <a:gd name="T25" fmla="*/ 247 h 625"/>
                <a:gd name="T26" fmla="*/ 9 w 37"/>
                <a:gd name="T27" fmla="*/ 201 h 625"/>
                <a:gd name="T28" fmla="*/ 9 w 37"/>
                <a:gd name="T29" fmla="*/ 173 h 625"/>
                <a:gd name="T30" fmla="*/ 10 w 37"/>
                <a:gd name="T31" fmla="*/ 146 h 625"/>
                <a:gd name="T32" fmla="*/ 11 w 37"/>
                <a:gd name="T33" fmla="*/ 121 h 625"/>
                <a:gd name="T34" fmla="*/ 11 w 37"/>
                <a:gd name="T35" fmla="*/ 98 h 625"/>
                <a:gd name="T36" fmla="*/ 13 w 37"/>
                <a:gd name="T37" fmla="*/ 79 h 625"/>
                <a:gd name="T38" fmla="*/ 13 w 37"/>
                <a:gd name="T39" fmla="*/ 61 h 625"/>
                <a:gd name="T40" fmla="*/ 14 w 37"/>
                <a:gd name="T41" fmla="*/ 45 h 625"/>
                <a:gd name="T42" fmla="*/ 15 w 37"/>
                <a:gd name="T43" fmla="*/ 30 h 625"/>
                <a:gd name="T44" fmla="*/ 15 w 37"/>
                <a:gd name="T45" fmla="*/ 18 h 625"/>
                <a:gd name="T46" fmla="*/ 16 w 37"/>
                <a:gd name="T47" fmla="*/ 9 h 625"/>
                <a:gd name="T48" fmla="*/ 18 w 37"/>
                <a:gd name="T49" fmla="*/ 3 h 625"/>
                <a:gd name="T50" fmla="*/ 18 w 37"/>
                <a:gd name="T51" fmla="*/ 0 h 625"/>
                <a:gd name="T52" fmla="*/ 19 w 37"/>
                <a:gd name="T53" fmla="*/ 0 h 625"/>
                <a:gd name="T54" fmla="*/ 19 w 37"/>
                <a:gd name="T55" fmla="*/ 3 h 625"/>
                <a:gd name="T56" fmla="*/ 20 w 37"/>
                <a:gd name="T57" fmla="*/ 9 h 625"/>
                <a:gd name="T58" fmla="*/ 21 w 37"/>
                <a:gd name="T59" fmla="*/ 19 h 625"/>
                <a:gd name="T60" fmla="*/ 21 w 37"/>
                <a:gd name="T61" fmla="*/ 31 h 625"/>
                <a:gd name="T62" fmla="*/ 22 w 37"/>
                <a:gd name="T63" fmla="*/ 45 h 625"/>
                <a:gd name="T64" fmla="*/ 24 w 37"/>
                <a:gd name="T65" fmla="*/ 61 h 625"/>
                <a:gd name="T66" fmla="*/ 24 w 37"/>
                <a:gd name="T67" fmla="*/ 79 h 625"/>
                <a:gd name="T68" fmla="*/ 25 w 37"/>
                <a:gd name="T69" fmla="*/ 98 h 625"/>
                <a:gd name="T70" fmla="*/ 26 w 37"/>
                <a:gd name="T71" fmla="*/ 121 h 625"/>
                <a:gd name="T72" fmla="*/ 26 w 37"/>
                <a:gd name="T73" fmla="*/ 146 h 625"/>
                <a:gd name="T74" fmla="*/ 27 w 37"/>
                <a:gd name="T75" fmla="*/ 173 h 625"/>
                <a:gd name="T76" fmla="*/ 29 w 37"/>
                <a:gd name="T77" fmla="*/ 201 h 625"/>
                <a:gd name="T78" fmla="*/ 30 w 37"/>
                <a:gd name="T79" fmla="*/ 247 h 625"/>
                <a:gd name="T80" fmla="*/ 32 w 37"/>
                <a:gd name="T81" fmla="*/ 313 h 625"/>
                <a:gd name="T82" fmla="*/ 32 w 37"/>
                <a:gd name="T83" fmla="*/ 329 h 625"/>
                <a:gd name="T84" fmla="*/ 33 w 37"/>
                <a:gd name="T85" fmla="*/ 368 h 625"/>
                <a:gd name="T86" fmla="*/ 33 w 37"/>
                <a:gd name="T87" fmla="*/ 411 h 625"/>
                <a:gd name="T88" fmla="*/ 35 w 37"/>
                <a:gd name="T89" fmla="*/ 478 h 625"/>
                <a:gd name="T90" fmla="*/ 35 w 37"/>
                <a:gd name="T91" fmla="*/ 521 h 625"/>
                <a:gd name="T92" fmla="*/ 36 w 37"/>
                <a:gd name="T93" fmla="*/ 561 h 625"/>
                <a:gd name="T94" fmla="*/ 36 w 37"/>
                <a:gd name="T95" fmla="*/ 588 h 625"/>
                <a:gd name="T96" fmla="*/ 36 w 37"/>
                <a:gd name="T97" fmla="*/ 604 h 625"/>
                <a:gd name="T98" fmla="*/ 36 w 37"/>
                <a:gd name="T99" fmla="*/ 618 h 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7" h="625">
                  <a:moveTo>
                    <a:pt x="0" y="625"/>
                  </a:moveTo>
                  <a:lnTo>
                    <a:pt x="0" y="619"/>
                  </a:lnTo>
                  <a:lnTo>
                    <a:pt x="0" y="613"/>
                  </a:lnTo>
                  <a:lnTo>
                    <a:pt x="0" y="607"/>
                  </a:lnTo>
                  <a:lnTo>
                    <a:pt x="0" y="600"/>
                  </a:lnTo>
                  <a:lnTo>
                    <a:pt x="0" y="593"/>
                  </a:lnTo>
                  <a:lnTo>
                    <a:pt x="0" y="585"/>
                  </a:lnTo>
                  <a:lnTo>
                    <a:pt x="0" y="576"/>
                  </a:lnTo>
                  <a:lnTo>
                    <a:pt x="0" y="567"/>
                  </a:lnTo>
                  <a:lnTo>
                    <a:pt x="2" y="557"/>
                  </a:lnTo>
                  <a:lnTo>
                    <a:pt x="2" y="548"/>
                  </a:lnTo>
                  <a:lnTo>
                    <a:pt x="2" y="527"/>
                  </a:lnTo>
                  <a:lnTo>
                    <a:pt x="2" y="505"/>
                  </a:lnTo>
                  <a:lnTo>
                    <a:pt x="3" y="482"/>
                  </a:lnTo>
                  <a:lnTo>
                    <a:pt x="3" y="460"/>
                  </a:lnTo>
                  <a:lnTo>
                    <a:pt x="3" y="438"/>
                  </a:lnTo>
                  <a:lnTo>
                    <a:pt x="4" y="414"/>
                  </a:lnTo>
                  <a:lnTo>
                    <a:pt x="4" y="392"/>
                  </a:lnTo>
                  <a:lnTo>
                    <a:pt x="5" y="371"/>
                  </a:lnTo>
                  <a:lnTo>
                    <a:pt x="5" y="350"/>
                  </a:lnTo>
                  <a:lnTo>
                    <a:pt x="5" y="339"/>
                  </a:lnTo>
                  <a:lnTo>
                    <a:pt x="5" y="331"/>
                  </a:lnTo>
                  <a:lnTo>
                    <a:pt x="5" y="322"/>
                  </a:lnTo>
                  <a:lnTo>
                    <a:pt x="7" y="313"/>
                  </a:lnTo>
                  <a:lnTo>
                    <a:pt x="7" y="280"/>
                  </a:lnTo>
                  <a:lnTo>
                    <a:pt x="8" y="247"/>
                  </a:lnTo>
                  <a:lnTo>
                    <a:pt x="8" y="216"/>
                  </a:lnTo>
                  <a:lnTo>
                    <a:pt x="9" y="201"/>
                  </a:lnTo>
                  <a:lnTo>
                    <a:pt x="9" y="186"/>
                  </a:lnTo>
                  <a:lnTo>
                    <a:pt x="9" y="173"/>
                  </a:lnTo>
                  <a:lnTo>
                    <a:pt x="10" y="159"/>
                  </a:lnTo>
                  <a:lnTo>
                    <a:pt x="10" y="146"/>
                  </a:lnTo>
                  <a:lnTo>
                    <a:pt x="10" y="132"/>
                  </a:lnTo>
                  <a:lnTo>
                    <a:pt x="11" y="121"/>
                  </a:lnTo>
                  <a:lnTo>
                    <a:pt x="11" y="110"/>
                  </a:lnTo>
                  <a:lnTo>
                    <a:pt x="11" y="98"/>
                  </a:lnTo>
                  <a:lnTo>
                    <a:pt x="13" y="89"/>
                  </a:lnTo>
                  <a:lnTo>
                    <a:pt x="13" y="79"/>
                  </a:lnTo>
                  <a:lnTo>
                    <a:pt x="13" y="70"/>
                  </a:lnTo>
                  <a:lnTo>
                    <a:pt x="13" y="61"/>
                  </a:lnTo>
                  <a:lnTo>
                    <a:pt x="14" y="52"/>
                  </a:lnTo>
                  <a:lnTo>
                    <a:pt x="14" y="45"/>
                  </a:lnTo>
                  <a:lnTo>
                    <a:pt x="14" y="37"/>
                  </a:lnTo>
                  <a:lnTo>
                    <a:pt x="15" y="30"/>
                  </a:lnTo>
                  <a:lnTo>
                    <a:pt x="15" y="24"/>
                  </a:lnTo>
                  <a:lnTo>
                    <a:pt x="15" y="18"/>
                  </a:lnTo>
                  <a:lnTo>
                    <a:pt x="16" y="13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8" y="3"/>
                  </a:lnTo>
                  <a:lnTo>
                    <a:pt x="18" y="1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1"/>
                  </a:lnTo>
                  <a:lnTo>
                    <a:pt x="19" y="3"/>
                  </a:lnTo>
                  <a:lnTo>
                    <a:pt x="20" y="6"/>
                  </a:lnTo>
                  <a:lnTo>
                    <a:pt x="20" y="9"/>
                  </a:lnTo>
                  <a:lnTo>
                    <a:pt x="20" y="13"/>
                  </a:lnTo>
                  <a:lnTo>
                    <a:pt x="21" y="19"/>
                  </a:lnTo>
                  <a:lnTo>
                    <a:pt x="21" y="24"/>
                  </a:lnTo>
                  <a:lnTo>
                    <a:pt x="21" y="31"/>
                  </a:lnTo>
                  <a:lnTo>
                    <a:pt x="22" y="37"/>
                  </a:lnTo>
                  <a:lnTo>
                    <a:pt x="22" y="45"/>
                  </a:lnTo>
                  <a:lnTo>
                    <a:pt x="22" y="52"/>
                  </a:lnTo>
                  <a:lnTo>
                    <a:pt x="24" y="61"/>
                  </a:lnTo>
                  <a:lnTo>
                    <a:pt x="24" y="70"/>
                  </a:lnTo>
                  <a:lnTo>
                    <a:pt x="24" y="79"/>
                  </a:lnTo>
                  <a:lnTo>
                    <a:pt x="25" y="89"/>
                  </a:lnTo>
                  <a:lnTo>
                    <a:pt x="25" y="98"/>
                  </a:lnTo>
                  <a:lnTo>
                    <a:pt x="25" y="110"/>
                  </a:lnTo>
                  <a:lnTo>
                    <a:pt x="26" y="121"/>
                  </a:lnTo>
                  <a:lnTo>
                    <a:pt x="26" y="132"/>
                  </a:lnTo>
                  <a:lnTo>
                    <a:pt x="26" y="146"/>
                  </a:lnTo>
                  <a:lnTo>
                    <a:pt x="27" y="159"/>
                  </a:lnTo>
                  <a:lnTo>
                    <a:pt x="27" y="173"/>
                  </a:lnTo>
                  <a:lnTo>
                    <a:pt x="29" y="186"/>
                  </a:lnTo>
                  <a:lnTo>
                    <a:pt x="29" y="201"/>
                  </a:lnTo>
                  <a:lnTo>
                    <a:pt x="30" y="216"/>
                  </a:lnTo>
                  <a:lnTo>
                    <a:pt x="30" y="247"/>
                  </a:lnTo>
                  <a:lnTo>
                    <a:pt x="31" y="278"/>
                  </a:lnTo>
                  <a:lnTo>
                    <a:pt x="32" y="313"/>
                  </a:lnTo>
                  <a:lnTo>
                    <a:pt x="32" y="320"/>
                  </a:lnTo>
                  <a:lnTo>
                    <a:pt x="32" y="329"/>
                  </a:lnTo>
                  <a:lnTo>
                    <a:pt x="32" y="348"/>
                  </a:lnTo>
                  <a:lnTo>
                    <a:pt x="33" y="368"/>
                  </a:lnTo>
                  <a:lnTo>
                    <a:pt x="33" y="390"/>
                  </a:lnTo>
                  <a:lnTo>
                    <a:pt x="33" y="411"/>
                  </a:lnTo>
                  <a:lnTo>
                    <a:pt x="35" y="433"/>
                  </a:lnTo>
                  <a:lnTo>
                    <a:pt x="35" y="478"/>
                  </a:lnTo>
                  <a:lnTo>
                    <a:pt x="35" y="499"/>
                  </a:lnTo>
                  <a:lnTo>
                    <a:pt x="35" y="521"/>
                  </a:lnTo>
                  <a:lnTo>
                    <a:pt x="36" y="542"/>
                  </a:lnTo>
                  <a:lnTo>
                    <a:pt x="36" y="561"/>
                  </a:lnTo>
                  <a:lnTo>
                    <a:pt x="36" y="579"/>
                  </a:lnTo>
                  <a:lnTo>
                    <a:pt x="36" y="588"/>
                  </a:lnTo>
                  <a:lnTo>
                    <a:pt x="36" y="596"/>
                  </a:lnTo>
                  <a:lnTo>
                    <a:pt x="36" y="604"/>
                  </a:lnTo>
                  <a:lnTo>
                    <a:pt x="36" y="612"/>
                  </a:lnTo>
                  <a:lnTo>
                    <a:pt x="36" y="618"/>
                  </a:lnTo>
                  <a:lnTo>
                    <a:pt x="37" y="625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19" name="Freeform 87"/>
            <p:cNvSpPr>
              <a:spLocks/>
            </p:cNvSpPr>
            <p:nvPr/>
          </p:nvSpPr>
          <p:spPr bwMode="auto">
            <a:xfrm>
              <a:off x="4254" y="965"/>
              <a:ext cx="37" cy="290"/>
            </a:xfrm>
            <a:custGeom>
              <a:avLst/>
              <a:gdLst>
                <a:gd name="T0" fmla="*/ 0 w 37"/>
                <a:gd name="T1" fmla="*/ 5 h 581"/>
                <a:gd name="T2" fmla="*/ 0 w 37"/>
                <a:gd name="T3" fmla="*/ 15 h 581"/>
                <a:gd name="T4" fmla="*/ 0 w 37"/>
                <a:gd name="T5" fmla="*/ 30 h 581"/>
                <a:gd name="T6" fmla="*/ 0 w 37"/>
                <a:gd name="T7" fmla="*/ 45 h 581"/>
                <a:gd name="T8" fmla="*/ 1 w 37"/>
                <a:gd name="T9" fmla="*/ 63 h 581"/>
                <a:gd name="T10" fmla="*/ 1 w 37"/>
                <a:gd name="T11" fmla="*/ 91 h 581"/>
                <a:gd name="T12" fmla="*/ 2 w 37"/>
                <a:gd name="T13" fmla="*/ 131 h 581"/>
                <a:gd name="T14" fmla="*/ 2 w 37"/>
                <a:gd name="T15" fmla="*/ 174 h 581"/>
                <a:gd name="T16" fmla="*/ 4 w 37"/>
                <a:gd name="T17" fmla="*/ 216 h 581"/>
                <a:gd name="T18" fmla="*/ 5 w 37"/>
                <a:gd name="T19" fmla="*/ 255 h 581"/>
                <a:gd name="T20" fmla="*/ 5 w 37"/>
                <a:gd name="T21" fmla="*/ 273 h 581"/>
                <a:gd name="T22" fmla="*/ 6 w 37"/>
                <a:gd name="T23" fmla="*/ 289 h 581"/>
                <a:gd name="T24" fmla="*/ 7 w 37"/>
                <a:gd name="T25" fmla="*/ 350 h 581"/>
                <a:gd name="T26" fmla="*/ 8 w 37"/>
                <a:gd name="T27" fmla="*/ 393 h 581"/>
                <a:gd name="T28" fmla="*/ 8 w 37"/>
                <a:gd name="T29" fmla="*/ 420 h 581"/>
                <a:gd name="T30" fmla="*/ 10 w 37"/>
                <a:gd name="T31" fmla="*/ 444 h 581"/>
                <a:gd name="T32" fmla="*/ 11 w 37"/>
                <a:gd name="T33" fmla="*/ 468 h 581"/>
                <a:gd name="T34" fmla="*/ 11 w 37"/>
                <a:gd name="T35" fmla="*/ 489 h 581"/>
                <a:gd name="T36" fmla="*/ 12 w 37"/>
                <a:gd name="T37" fmla="*/ 506 h 581"/>
                <a:gd name="T38" fmla="*/ 12 w 37"/>
                <a:gd name="T39" fmla="*/ 523 h 581"/>
                <a:gd name="T40" fmla="*/ 13 w 37"/>
                <a:gd name="T41" fmla="*/ 538 h 581"/>
                <a:gd name="T42" fmla="*/ 15 w 37"/>
                <a:gd name="T43" fmla="*/ 551 h 581"/>
                <a:gd name="T44" fmla="*/ 15 w 37"/>
                <a:gd name="T45" fmla="*/ 563 h 581"/>
                <a:gd name="T46" fmla="*/ 16 w 37"/>
                <a:gd name="T47" fmla="*/ 570 h 581"/>
                <a:gd name="T48" fmla="*/ 17 w 37"/>
                <a:gd name="T49" fmla="*/ 576 h 581"/>
                <a:gd name="T50" fmla="*/ 17 w 37"/>
                <a:gd name="T51" fmla="*/ 579 h 581"/>
                <a:gd name="T52" fmla="*/ 18 w 37"/>
                <a:gd name="T53" fmla="*/ 579 h 581"/>
                <a:gd name="T54" fmla="*/ 18 w 37"/>
                <a:gd name="T55" fmla="*/ 576 h 581"/>
                <a:gd name="T56" fmla="*/ 19 w 37"/>
                <a:gd name="T57" fmla="*/ 570 h 581"/>
                <a:gd name="T58" fmla="*/ 21 w 37"/>
                <a:gd name="T59" fmla="*/ 562 h 581"/>
                <a:gd name="T60" fmla="*/ 21 w 37"/>
                <a:gd name="T61" fmla="*/ 551 h 581"/>
                <a:gd name="T62" fmla="*/ 22 w 37"/>
                <a:gd name="T63" fmla="*/ 538 h 581"/>
                <a:gd name="T64" fmla="*/ 23 w 37"/>
                <a:gd name="T65" fmla="*/ 523 h 581"/>
                <a:gd name="T66" fmla="*/ 23 w 37"/>
                <a:gd name="T67" fmla="*/ 506 h 581"/>
                <a:gd name="T68" fmla="*/ 24 w 37"/>
                <a:gd name="T69" fmla="*/ 489 h 581"/>
                <a:gd name="T70" fmla="*/ 26 w 37"/>
                <a:gd name="T71" fmla="*/ 468 h 581"/>
                <a:gd name="T72" fmla="*/ 26 w 37"/>
                <a:gd name="T73" fmla="*/ 444 h 581"/>
                <a:gd name="T74" fmla="*/ 27 w 37"/>
                <a:gd name="T75" fmla="*/ 420 h 581"/>
                <a:gd name="T76" fmla="*/ 28 w 37"/>
                <a:gd name="T77" fmla="*/ 393 h 581"/>
                <a:gd name="T78" fmla="*/ 29 w 37"/>
                <a:gd name="T79" fmla="*/ 350 h 581"/>
                <a:gd name="T80" fmla="*/ 32 w 37"/>
                <a:gd name="T81" fmla="*/ 291 h 581"/>
                <a:gd name="T82" fmla="*/ 32 w 37"/>
                <a:gd name="T83" fmla="*/ 274 h 581"/>
                <a:gd name="T84" fmla="*/ 33 w 37"/>
                <a:gd name="T85" fmla="*/ 237 h 581"/>
                <a:gd name="T86" fmla="*/ 33 w 37"/>
                <a:gd name="T87" fmla="*/ 198 h 581"/>
                <a:gd name="T88" fmla="*/ 34 w 37"/>
                <a:gd name="T89" fmla="*/ 136 h 581"/>
                <a:gd name="T90" fmla="*/ 34 w 37"/>
                <a:gd name="T91" fmla="*/ 96 h 581"/>
                <a:gd name="T92" fmla="*/ 35 w 37"/>
                <a:gd name="T93" fmla="*/ 58 h 581"/>
                <a:gd name="T94" fmla="*/ 35 w 37"/>
                <a:gd name="T95" fmla="*/ 33 h 581"/>
                <a:gd name="T96" fmla="*/ 35 w 37"/>
                <a:gd name="T97" fmla="*/ 18 h 581"/>
                <a:gd name="T98" fmla="*/ 35 w 37"/>
                <a:gd name="T99" fmla="*/ 5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7" h="581">
                  <a:moveTo>
                    <a:pt x="0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23"/>
                  </a:lnTo>
                  <a:lnTo>
                    <a:pt x="0" y="30"/>
                  </a:lnTo>
                  <a:lnTo>
                    <a:pt x="0" y="38"/>
                  </a:lnTo>
                  <a:lnTo>
                    <a:pt x="0" y="45"/>
                  </a:lnTo>
                  <a:lnTo>
                    <a:pt x="0" y="54"/>
                  </a:lnTo>
                  <a:lnTo>
                    <a:pt x="1" y="63"/>
                  </a:lnTo>
                  <a:lnTo>
                    <a:pt x="1" y="72"/>
                  </a:lnTo>
                  <a:lnTo>
                    <a:pt x="1" y="91"/>
                  </a:lnTo>
                  <a:lnTo>
                    <a:pt x="1" y="110"/>
                  </a:lnTo>
                  <a:lnTo>
                    <a:pt x="2" y="131"/>
                  </a:lnTo>
                  <a:lnTo>
                    <a:pt x="2" y="152"/>
                  </a:lnTo>
                  <a:lnTo>
                    <a:pt x="2" y="174"/>
                  </a:lnTo>
                  <a:lnTo>
                    <a:pt x="4" y="195"/>
                  </a:lnTo>
                  <a:lnTo>
                    <a:pt x="4" y="216"/>
                  </a:lnTo>
                  <a:lnTo>
                    <a:pt x="5" y="236"/>
                  </a:lnTo>
                  <a:lnTo>
                    <a:pt x="5" y="255"/>
                  </a:lnTo>
                  <a:lnTo>
                    <a:pt x="5" y="264"/>
                  </a:lnTo>
                  <a:lnTo>
                    <a:pt x="5" y="273"/>
                  </a:lnTo>
                  <a:lnTo>
                    <a:pt x="5" y="282"/>
                  </a:lnTo>
                  <a:lnTo>
                    <a:pt x="6" y="289"/>
                  </a:lnTo>
                  <a:lnTo>
                    <a:pt x="6" y="320"/>
                  </a:lnTo>
                  <a:lnTo>
                    <a:pt x="7" y="350"/>
                  </a:lnTo>
                  <a:lnTo>
                    <a:pt x="7" y="378"/>
                  </a:lnTo>
                  <a:lnTo>
                    <a:pt x="8" y="393"/>
                  </a:lnTo>
                  <a:lnTo>
                    <a:pt x="8" y="407"/>
                  </a:lnTo>
                  <a:lnTo>
                    <a:pt x="8" y="420"/>
                  </a:lnTo>
                  <a:lnTo>
                    <a:pt x="10" y="432"/>
                  </a:lnTo>
                  <a:lnTo>
                    <a:pt x="10" y="444"/>
                  </a:lnTo>
                  <a:lnTo>
                    <a:pt x="10" y="456"/>
                  </a:lnTo>
                  <a:lnTo>
                    <a:pt x="11" y="468"/>
                  </a:lnTo>
                  <a:lnTo>
                    <a:pt x="11" y="478"/>
                  </a:lnTo>
                  <a:lnTo>
                    <a:pt x="11" y="489"/>
                  </a:lnTo>
                  <a:lnTo>
                    <a:pt x="12" y="498"/>
                  </a:lnTo>
                  <a:lnTo>
                    <a:pt x="12" y="506"/>
                  </a:lnTo>
                  <a:lnTo>
                    <a:pt x="12" y="515"/>
                  </a:lnTo>
                  <a:lnTo>
                    <a:pt x="12" y="523"/>
                  </a:lnTo>
                  <a:lnTo>
                    <a:pt x="13" y="532"/>
                  </a:lnTo>
                  <a:lnTo>
                    <a:pt x="13" y="538"/>
                  </a:lnTo>
                  <a:lnTo>
                    <a:pt x="13" y="545"/>
                  </a:lnTo>
                  <a:lnTo>
                    <a:pt x="15" y="551"/>
                  </a:lnTo>
                  <a:lnTo>
                    <a:pt x="15" y="557"/>
                  </a:lnTo>
                  <a:lnTo>
                    <a:pt x="15" y="563"/>
                  </a:lnTo>
                  <a:lnTo>
                    <a:pt x="16" y="568"/>
                  </a:lnTo>
                  <a:lnTo>
                    <a:pt x="16" y="570"/>
                  </a:lnTo>
                  <a:lnTo>
                    <a:pt x="16" y="573"/>
                  </a:lnTo>
                  <a:lnTo>
                    <a:pt x="17" y="576"/>
                  </a:lnTo>
                  <a:lnTo>
                    <a:pt x="17" y="578"/>
                  </a:lnTo>
                  <a:lnTo>
                    <a:pt x="17" y="579"/>
                  </a:lnTo>
                  <a:lnTo>
                    <a:pt x="18" y="581"/>
                  </a:lnTo>
                  <a:lnTo>
                    <a:pt x="18" y="579"/>
                  </a:lnTo>
                  <a:lnTo>
                    <a:pt x="18" y="578"/>
                  </a:lnTo>
                  <a:lnTo>
                    <a:pt x="18" y="576"/>
                  </a:lnTo>
                  <a:lnTo>
                    <a:pt x="19" y="573"/>
                  </a:lnTo>
                  <a:lnTo>
                    <a:pt x="19" y="570"/>
                  </a:lnTo>
                  <a:lnTo>
                    <a:pt x="19" y="568"/>
                  </a:lnTo>
                  <a:lnTo>
                    <a:pt x="21" y="562"/>
                  </a:lnTo>
                  <a:lnTo>
                    <a:pt x="21" y="557"/>
                  </a:lnTo>
                  <a:lnTo>
                    <a:pt x="21" y="551"/>
                  </a:lnTo>
                  <a:lnTo>
                    <a:pt x="22" y="545"/>
                  </a:lnTo>
                  <a:lnTo>
                    <a:pt x="22" y="538"/>
                  </a:lnTo>
                  <a:lnTo>
                    <a:pt x="22" y="530"/>
                  </a:lnTo>
                  <a:lnTo>
                    <a:pt x="23" y="523"/>
                  </a:lnTo>
                  <a:lnTo>
                    <a:pt x="23" y="515"/>
                  </a:lnTo>
                  <a:lnTo>
                    <a:pt x="23" y="506"/>
                  </a:lnTo>
                  <a:lnTo>
                    <a:pt x="24" y="498"/>
                  </a:lnTo>
                  <a:lnTo>
                    <a:pt x="24" y="489"/>
                  </a:lnTo>
                  <a:lnTo>
                    <a:pt x="24" y="478"/>
                  </a:lnTo>
                  <a:lnTo>
                    <a:pt x="26" y="468"/>
                  </a:lnTo>
                  <a:lnTo>
                    <a:pt x="26" y="456"/>
                  </a:lnTo>
                  <a:lnTo>
                    <a:pt x="26" y="444"/>
                  </a:lnTo>
                  <a:lnTo>
                    <a:pt x="27" y="432"/>
                  </a:lnTo>
                  <a:lnTo>
                    <a:pt x="27" y="420"/>
                  </a:lnTo>
                  <a:lnTo>
                    <a:pt x="28" y="407"/>
                  </a:lnTo>
                  <a:lnTo>
                    <a:pt x="28" y="393"/>
                  </a:lnTo>
                  <a:lnTo>
                    <a:pt x="29" y="380"/>
                  </a:lnTo>
                  <a:lnTo>
                    <a:pt x="29" y="350"/>
                  </a:lnTo>
                  <a:lnTo>
                    <a:pt x="30" y="320"/>
                  </a:lnTo>
                  <a:lnTo>
                    <a:pt x="32" y="291"/>
                  </a:lnTo>
                  <a:lnTo>
                    <a:pt x="32" y="282"/>
                  </a:lnTo>
                  <a:lnTo>
                    <a:pt x="32" y="274"/>
                  </a:lnTo>
                  <a:lnTo>
                    <a:pt x="32" y="256"/>
                  </a:lnTo>
                  <a:lnTo>
                    <a:pt x="33" y="237"/>
                  </a:lnTo>
                  <a:lnTo>
                    <a:pt x="33" y="218"/>
                  </a:lnTo>
                  <a:lnTo>
                    <a:pt x="33" y="198"/>
                  </a:lnTo>
                  <a:lnTo>
                    <a:pt x="34" y="177"/>
                  </a:lnTo>
                  <a:lnTo>
                    <a:pt x="34" y="136"/>
                  </a:lnTo>
                  <a:lnTo>
                    <a:pt x="34" y="116"/>
                  </a:lnTo>
                  <a:lnTo>
                    <a:pt x="34" y="96"/>
                  </a:lnTo>
                  <a:lnTo>
                    <a:pt x="35" y="78"/>
                  </a:lnTo>
                  <a:lnTo>
                    <a:pt x="35" y="58"/>
                  </a:lnTo>
                  <a:lnTo>
                    <a:pt x="35" y="42"/>
                  </a:lnTo>
                  <a:lnTo>
                    <a:pt x="35" y="33"/>
                  </a:lnTo>
                  <a:lnTo>
                    <a:pt x="35" y="26"/>
                  </a:lnTo>
                  <a:lnTo>
                    <a:pt x="35" y="18"/>
                  </a:lnTo>
                  <a:lnTo>
                    <a:pt x="35" y="12"/>
                  </a:lnTo>
                  <a:lnTo>
                    <a:pt x="35" y="5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20" name="Freeform 88"/>
            <p:cNvSpPr>
              <a:spLocks/>
            </p:cNvSpPr>
            <p:nvPr/>
          </p:nvSpPr>
          <p:spPr bwMode="auto">
            <a:xfrm>
              <a:off x="4327" y="965"/>
              <a:ext cx="37" cy="312"/>
            </a:xfrm>
            <a:custGeom>
              <a:avLst/>
              <a:gdLst>
                <a:gd name="T0" fmla="*/ 0 w 37"/>
                <a:gd name="T1" fmla="*/ 5 h 626"/>
                <a:gd name="T2" fmla="*/ 0 w 37"/>
                <a:gd name="T3" fmla="*/ 17 h 626"/>
                <a:gd name="T4" fmla="*/ 0 w 37"/>
                <a:gd name="T5" fmla="*/ 32 h 626"/>
                <a:gd name="T6" fmla="*/ 0 w 37"/>
                <a:gd name="T7" fmla="*/ 48 h 626"/>
                <a:gd name="T8" fmla="*/ 2 w 37"/>
                <a:gd name="T9" fmla="*/ 67 h 626"/>
                <a:gd name="T10" fmla="*/ 2 w 37"/>
                <a:gd name="T11" fmla="*/ 97 h 626"/>
                <a:gd name="T12" fmla="*/ 3 w 37"/>
                <a:gd name="T13" fmla="*/ 142 h 626"/>
                <a:gd name="T14" fmla="*/ 3 w 37"/>
                <a:gd name="T15" fmla="*/ 188 h 626"/>
                <a:gd name="T16" fmla="*/ 4 w 37"/>
                <a:gd name="T17" fmla="*/ 233 h 626"/>
                <a:gd name="T18" fmla="*/ 5 w 37"/>
                <a:gd name="T19" fmla="*/ 274 h 626"/>
                <a:gd name="T20" fmla="*/ 5 w 37"/>
                <a:gd name="T21" fmla="*/ 294 h 626"/>
                <a:gd name="T22" fmla="*/ 7 w 37"/>
                <a:gd name="T23" fmla="*/ 311 h 626"/>
                <a:gd name="T24" fmla="*/ 8 w 37"/>
                <a:gd name="T25" fmla="*/ 377 h 626"/>
                <a:gd name="T26" fmla="*/ 9 w 37"/>
                <a:gd name="T27" fmla="*/ 423 h 626"/>
                <a:gd name="T28" fmla="*/ 9 w 37"/>
                <a:gd name="T29" fmla="*/ 451 h 626"/>
                <a:gd name="T30" fmla="*/ 10 w 37"/>
                <a:gd name="T31" fmla="*/ 478 h 626"/>
                <a:gd name="T32" fmla="*/ 11 w 37"/>
                <a:gd name="T33" fmla="*/ 504 h 626"/>
                <a:gd name="T34" fmla="*/ 11 w 37"/>
                <a:gd name="T35" fmla="*/ 526 h 626"/>
                <a:gd name="T36" fmla="*/ 13 w 37"/>
                <a:gd name="T37" fmla="*/ 545 h 626"/>
                <a:gd name="T38" fmla="*/ 13 w 37"/>
                <a:gd name="T39" fmla="*/ 563 h 626"/>
                <a:gd name="T40" fmla="*/ 14 w 37"/>
                <a:gd name="T41" fmla="*/ 579 h 626"/>
                <a:gd name="T42" fmla="*/ 15 w 37"/>
                <a:gd name="T43" fmla="*/ 594 h 626"/>
                <a:gd name="T44" fmla="*/ 15 w 37"/>
                <a:gd name="T45" fmla="*/ 606 h 626"/>
                <a:gd name="T46" fmla="*/ 16 w 37"/>
                <a:gd name="T47" fmla="*/ 615 h 626"/>
                <a:gd name="T48" fmla="*/ 18 w 37"/>
                <a:gd name="T49" fmla="*/ 621 h 626"/>
                <a:gd name="T50" fmla="*/ 18 w 37"/>
                <a:gd name="T51" fmla="*/ 624 h 626"/>
                <a:gd name="T52" fmla="*/ 19 w 37"/>
                <a:gd name="T53" fmla="*/ 624 h 626"/>
                <a:gd name="T54" fmla="*/ 19 w 37"/>
                <a:gd name="T55" fmla="*/ 621 h 626"/>
                <a:gd name="T56" fmla="*/ 20 w 37"/>
                <a:gd name="T57" fmla="*/ 615 h 626"/>
                <a:gd name="T58" fmla="*/ 21 w 37"/>
                <a:gd name="T59" fmla="*/ 605 h 626"/>
                <a:gd name="T60" fmla="*/ 21 w 37"/>
                <a:gd name="T61" fmla="*/ 594 h 626"/>
                <a:gd name="T62" fmla="*/ 22 w 37"/>
                <a:gd name="T63" fmla="*/ 579 h 626"/>
                <a:gd name="T64" fmla="*/ 24 w 37"/>
                <a:gd name="T65" fmla="*/ 563 h 626"/>
                <a:gd name="T66" fmla="*/ 24 w 37"/>
                <a:gd name="T67" fmla="*/ 545 h 626"/>
                <a:gd name="T68" fmla="*/ 25 w 37"/>
                <a:gd name="T69" fmla="*/ 526 h 626"/>
                <a:gd name="T70" fmla="*/ 26 w 37"/>
                <a:gd name="T71" fmla="*/ 504 h 626"/>
                <a:gd name="T72" fmla="*/ 26 w 37"/>
                <a:gd name="T73" fmla="*/ 478 h 626"/>
                <a:gd name="T74" fmla="*/ 27 w 37"/>
                <a:gd name="T75" fmla="*/ 451 h 626"/>
                <a:gd name="T76" fmla="*/ 29 w 37"/>
                <a:gd name="T77" fmla="*/ 423 h 626"/>
                <a:gd name="T78" fmla="*/ 30 w 37"/>
                <a:gd name="T79" fmla="*/ 377 h 626"/>
                <a:gd name="T80" fmla="*/ 32 w 37"/>
                <a:gd name="T81" fmla="*/ 313 h 626"/>
                <a:gd name="T82" fmla="*/ 32 w 37"/>
                <a:gd name="T83" fmla="*/ 295 h 626"/>
                <a:gd name="T84" fmla="*/ 33 w 37"/>
                <a:gd name="T85" fmla="*/ 256 h 626"/>
                <a:gd name="T86" fmla="*/ 33 w 37"/>
                <a:gd name="T87" fmla="*/ 213 h 626"/>
                <a:gd name="T88" fmla="*/ 35 w 37"/>
                <a:gd name="T89" fmla="*/ 146 h 626"/>
                <a:gd name="T90" fmla="*/ 35 w 37"/>
                <a:gd name="T91" fmla="*/ 103 h 626"/>
                <a:gd name="T92" fmla="*/ 36 w 37"/>
                <a:gd name="T93" fmla="*/ 63 h 626"/>
                <a:gd name="T94" fmla="*/ 36 w 37"/>
                <a:gd name="T95" fmla="*/ 36 h 626"/>
                <a:gd name="T96" fmla="*/ 36 w 37"/>
                <a:gd name="T97" fmla="*/ 20 h 626"/>
                <a:gd name="T98" fmla="*/ 36 w 37"/>
                <a:gd name="T99" fmla="*/ 6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7" h="626">
                  <a:moveTo>
                    <a:pt x="0" y="0"/>
                  </a:moveTo>
                  <a:lnTo>
                    <a:pt x="0" y="5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0" y="48"/>
                  </a:lnTo>
                  <a:lnTo>
                    <a:pt x="0" y="57"/>
                  </a:lnTo>
                  <a:lnTo>
                    <a:pt x="2" y="67"/>
                  </a:lnTo>
                  <a:lnTo>
                    <a:pt x="2" y="76"/>
                  </a:lnTo>
                  <a:lnTo>
                    <a:pt x="2" y="97"/>
                  </a:lnTo>
                  <a:lnTo>
                    <a:pt x="2" y="119"/>
                  </a:lnTo>
                  <a:lnTo>
                    <a:pt x="3" y="142"/>
                  </a:lnTo>
                  <a:lnTo>
                    <a:pt x="3" y="164"/>
                  </a:lnTo>
                  <a:lnTo>
                    <a:pt x="3" y="188"/>
                  </a:lnTo>
                  <a:lnTo>
                    <a:pt x="4" y="210"/>
                  </a:lnTo>
                  <a:lnTo>
                    <a:pt x="4" y="233"/>
                  </a:lnTo>
                  <a:lnTo>
                    <a:pt x="5" y="255"/>
                  </a:lnTo>
                  <a:lnTo>
                    <a:pt x="5" y="274"/>
                  </a:lnTo>
                  <a:lnTo>
                    <a:pt x="5" y="285"/>
                  </a:lnTo>
                  <a:lnTo>
                    <a:pt x="5" y="294"/>
                  </a:lnTo>
                  <a:lnTo>
                    <a:pt x="5" y="303"/>
                  </a:lnTo>
                  <a:lnTo>
                    <a:pt x="7" y="311"/>
                  </a:lnTo>
                  <a:lnTo>
                    <a:pt x="7" y="344"/>
                  </a:lnTo>
                  <a:lnTo>
                    <a:pt x="8" y="377"/>
                  </a:lnTo>
                  <a:lnTo>
                    <a:pt x="8" y="408"/>
                  </a:lnTo>
                  <a:lnTo>
                    <a:pt x="9" y="423"/>
                  </a:lnTo>
                  <a:lnTo>
                    <a:pt x="9" y="438"/>
                  </a:lnTo>
                  <a:lnTo>
                    <a:pt x="9" y="451"/>
                  </a:lnTo>
                  <a:lnTo>
                    <a:pt x="10" y="465"/>
                  </a:lnTo>
                  <a:lnTo>
                    <a:pt x="10" y="478"/>
                  </a:lnTo>
                  <a:lnTo>
                    <a:pt x="10" y="492"/>
                  </a:lnTo>
                  <a:lnTo>
                    <a:pt x="11" y="504"/>
                  </a:lnTo>
                  <a:lnTo>
                    <a:pt x="11" y="515"/>
                  </a:lnTo>
                  <a:lnTo>
                    <a:pt x="11" y="526"/>
                  </a:lnTo>
                  <a:lnTo>
                    <a:pt x="13" y="536"/>
                  </a:lnTo>
                  <a:lnTo>
                    <a:pt x="13" y="545"/>
                  </a:lnTo>
                  <a:lnTo>
                    <a:pt x="13" y="554"/>
                  </a:lnTo>
                  <a:lnTo>
                    <a:pt x="13" y="563"/>
                  </a:lnTo>
                  <a:lnTo>
                    <a:pt x="14" y="572"/>
                  </a:lnTo>
                  <a:lnTo>
                    <a:pt x="14" y="579"/>
                  </a:lnTo>
                  <a:lnTo>
                    <a:pt x="14" y="587"/>
                  </a:lnTo>
                  <a:lnTo>
                    <a:pt x="15" y="594"/>
                  </a:lnTo>
                  <a:lnTo>
                    <a:pt x="15" y="600"/>
                  </a:lnTo>
                  <a:lnTo>
                    <a:pt x="15" y="606"/>
                  </a:lnTo>
                  <a:lnTo>
                    <a:pt x="16" y="611"/>
                  </a:lnTo>
                  <a:lnTo>
                    <a:pt x="16" y="615"/>
                  </a:lnTo>
                  <a:lnTo>
                    <a:pt x="16" y="618"/>
                  </a:lnTo>
                  <a:lnTo>
                    <a:pt x="18" y="621"/>
                  </a:lnTo>
                  <a:lnTo>
                    <a:pt x="18" y="623"/>
                  </a:lnTo>
                  <a:lnTo>
                    <a:pt x="18" y="624"/>
                  </a:lnTo>
                  <a:lnTo>
                    <a:pt x="19" y="626"/>
                  </a:lnTo>
                  <a:lnTo>
                    <a:pt x="19" y="624"/>
                  </a:lnTo>
                  <a:lnTo>
                    <a:pt x="19" y="623"/>
                  </a:lnTo>
                  <a:lnTo>
                    <a:pt x="19" y="621"/>
                  </a:lnTo>
                  <a:lnTo>
                    <a:pt x="20" y="618"/>
                  </a:lnTo>
                  <a:lnTo>
                    <a:pt x="20" y="615"/>
                  </a:lnTo>
                  <a:lnTo>
                    <a:pt x="20" y="611"/>
                  </a:lnTo>
                  <a:lnTo>
                    <a:pt x="21" y="605"/>
                  </a:lnTo>
                  <a:lnTo>
                    <a:pt x="21" y="600"/>
                  </a:lnTo>
                  <a:lnTo>
                    <a:pt x="21" y="594"/>
                  </a:lnTo>
                  <a:lnTo>
                    <a:pt x="22" y="587"/>
                  </a:lnTo>
                  <a:lnTo>
                    <a:pt x="22" y="579"/>
                  </a:lnTo>
                  <a:lnTo>
                    <a:pt x="22" y="572"/>
                  </a:lnTo>
                  <a:lnTo>
                    <a:pt x="24" y="563"/>
                  </a:lnTo>
                  <a:lnTo>
                    <a:pt x="24" y="554"/>
                  </a:lnTo>
                  <a:lnTo>
                    <a:pt x="24" y="545"/>
                  </a:lnTo>
                  <a:lnTo>
                    <a:pt x="25" y="536"/>
                  </a:lnTo>
                  <a:lnTo>
                    <a:pt x="25" y="526"/>
                  </a:lnTo>
                  <a:lnTo>
                    <a:pt x="25" y="515"/>
                  </a:lnTo>
                  <a:lnTo>
                    <a:pt x="26" y="504"/>
                  </a:lnTo>
                  <a:lnTo>
                    <a:pt x="26" y="492"/>
                  </a:lnTo>
                  <a:lnTo>
                    <a:pt x="26" y="478"/>
                  </a:lnTo>
                  <a:lnTo>
                    <a:pt x="27" y="466"/>
                  </a:lnTo>
                  <a:lnTo>
                    <a:pt x="27" y="451"/>
                  </a:lnTo>
                  <a:lnTo>
                    <a:pt x="29" y="438"/>
                  </a:lnTo>
                  <a:lnTo>
                    <a:pt x="29" y="423"/>
                  </a:lnTo>
                  <a:lnTo>
                    <a:pt x="30" y="408"/>
                  </a:lnTo>
                  <a:lnTo>
                    <a:pt x="30" y="377"/>
                  </a:lnTo>
                  <a:lnTo>
                    <a:pt x="31" y="346"/>
                  </a:lnTo>
                  <a:lnTo>
                    <a:pt x="32" y="313"/>
                  </a:lnTo>
                  <a:lnTo>
                    <a:pt x="32" y="304"/>
                  </a:lnTo>
                  <a:lnTo>
                    <a:pt x="32" y="295"/>
                  </a:lnTo>
                  <a:lnTo>
                    <a:pt x="32" y="276"/>
                  </a:lnTo>
                  <a:lnTo>
                    <a:pt x="33" y="256"/>
                  </a:lnTo>
                  <a:lnTo>
                    <a:pt x="33" y="236"/>
                  </a:lnTo>
                  <a:lnTo>
                    <a:pt x="33" y="213"/>
                  </a:lnTo>
                  <a:lnTo>
                    <a:pt x="35" y="191"/>
                  </a:lnTo>
                  <a:lnTo>
                    <a:pt x="35" y="146"/>
                  </a:lnTo>
                  <a:lnTo>
                    <a:pt x="35" y="125"/>
                  </a:lnTo>
                  <a:lnTo>
                    <a:pt x="35" y="103"/>
                  </a:lnTo>
                  <a:lnTo>
                    <a:pt x="36" y="82"/>
                  </a:lnTo>
                  <a:lnTo>
                    <a:pt x="36" y="63"/>
                  </a:lnTo>
                  <a:lnTo>
                    <a:pt x="36" y="45"/>
                  </a:lnTo>
                  <a:lnTo>
                    <a:pt x="36" y="36"/>
                  </a:lnTo>
                  <a:lnTo>
                    <a:pt x="36" y="29"/>
                  </a:lnTo>
                  <a:lnTo>
                    <a:pt x="36" y="20"/>
                  </a:lnTo>
                  <a:lnTo>
                    <a:pt x="36" y="12"/>
                  </a:lnTo>
                  <a:lnTo>
                    <a:pt x="36" y="6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21" name="Freeform 89"/>
            <p:cNvSpPr>
              <a:spLocks/>
            </p:cNvSpPr>
            <p:nvPr/>
          </p:nvSpPr>
          <p:spPr bwMode="auto">
            <a:xfrm>
              <a:off x="4401" y="965"/>
              <a:ext cx="37" cy="290"/>
            </a:xfrm>
            <a:custGeom>
              <a:avLst/>
              <a:gdLst>
                <a:gd name="T0" fmla="*/ 0 w 37"/>
                <a:gd name="T1" fmla="*/ 5 h 581"/>
                <a:gd name="T2" fmla="*/ 0 w 37"/>
                <a:gd name="T3" fmla="*/ 15 h 581"/>
                <a:gd name="T4" fmla="*/ 0 w 37"/>
                <a:gd name="T5" fmla="*/ 30 h 581"/>
                <a:gd name="T6" fmla="*/ 0 w 37"/>
                <a:gd name="T7" fmla="*/ 45 h 581"/>
                <a:gd name="T8" fmla="*/ 1 w 37"/>
                <a:gd name="T9" fmla="*/ 63 h 581"/>
                <a:gd name="T10" fmla="*/ 1 w 37"/>
                <a:gd name="T11" fmla="*/ 91 h 581"/>
                <a:gd name="T12" fmla="*/ 2 w 37"/>
                <a:gd name="T13" fmla="*/ 131 h 581"/>
                <a:gd name="T14" fmla="*/ 2 w 37"/>
                <a:gd name="T15" fmla="*/ 174 h 581"/>
                <a:gd name="T16" fmla="*/ 4 w 37"/>
                <a:gd name="T17" fmla="*/ 216 h 581"/>
                <a:gd name="T18" fmla="*/ 5 w 37"/>
                <a:gd name="T19" fmla="*/ 255 h 581"/>
                <a:gd name="T20" fmla="*/ 5 w 37"/>
                <a:gd name="T21" fmla="*/ 273 h 581"/>
                <a:gd name="T22" fmla="*/ 6 w 37"/>
                <a:gd name="T23" fmla="*/ 289 h 581"/>
                <a:gd name="T24" fmla="*/ 7 w 37"/>
                <a:gd name="T25" fmla="*/ 350 h 581"/>
                <a:gd name="T26" fmla="*/ 9 w 37"/>
                <a:gd name="T27" fmla="*/ 393 h 581"/>
                <a:gd name="T28" fmla="*/ 9 w 37"/>
                <a:gd name="T29" fmla="*/ 420 h 581"/>
                <a:gd name="T30" fmla="*/ 10 w 37"/>
                <a:gd name="T31" fmla="*/ 444 h 581"/>
                <a:gd name="T32" fmla="*/ 11 w 37"/>
                <a:gd name="T33" fmla="*/ 468 h 581"/>
                <a:gd name="T34" fmla="*/ 11 w 37"/>
                <a:gd name="T35" fmla="*/ 489 h 581"/>
                <a:gd name="T36" fmla="*/ 12 w 37"/>
                <a:gd name="T37" fmla="*/ 506 h 581"/>
                <a:gd name="T38" fmla="*/ 12 w 37"/>
                <a:gd name="T39" fmla="*/ 523 h 581"/>
                <a:gd name="T40" fmla="*/ 13 w 37"/>
                <a:gd name="T41" fmla="*/ 538 h 581"/>
                <a:gd name="T42" fmla="*/ 15 w 37"/>
                <a:gd name="T43" fmla="*/ 551 h 581"/>
                <a:gd name="T44" fmla="*/ 15 w 37"/>
                <a:gd name="T45" fmla="*/ 563 h 581"/>
                <a:gd name="T46" fmla="*/ 16 w 37"/>
                <a:gd name="T47" fmla="*/ 570 h 581"/>
                <a:gd name="T48" fmla="*/ 17 w 37"/>
                <a:gd name="T49" fmla="*/ 576 h 581"/>
                <a:gd name="T50" fmla="*/ 17 w 37"/>
                <a:gd name="T51" fmla="*/ 579 h 581"/>
                <a:gd name="T52" fmla="*/ 18 w 37"/>
                <a:gd name="T53" fmla="*/ 579 h 581"/>
                <a:gd name="T54" fmla="*/ 18 w 37"/>
                <a:gd name="T55" fmla="*/ 576 h 581"/>
                <a:gd name="T56" fmla="*/ 20 w 37"/>
                <a:gd name="T57" fmla="*/ 570 h 581"/>
                <a:gd name="T58" fmla="*/ 21 w 37"/>
                <a:gd name="T59" fmla="*/ 562 h 581"/>
                <a:gd name="T60" fmla="*/ 21 w 37"/>
                <a:gd name="T61" fmla="*/ 551 h 581"/>
                <a:gd name="T62" fmla="*/ 22 w 37"/>
                <a:gd name="T63" fmla="*/ 538 h 581"/>
                <a:gd name="T64" fmla="*/ 23 w 37"/>
                <a:gd name="T65" fmla="*/ 523 h 581"/>
                <a:gd name="T66" fmla="*/ 23 w 37"/>
                <a:gd name="T67" fmla="*/ 506 h 581"/>
                <a:gd name="T68" fmla="*/ 24 w 37"/>
                <a:gd name="T69" fmla="*/ 489 h 581"/>
                <a:gd name="T70" fmla="*/ 26 w 37"/>
                <a:gd name="T71" fmla="*/ 468 h 581"/>
                <a:gd name="T72" fmla="*/ 26 w 37"/>
                <a:gd name="T73" fmla="*/ 444 h 581"/>
                <a:gd name="T74" fmla="*/ 27 w 37"/>
                <a:gd name="T75" fmla="*/ 420 h 581"/>
                <a:gd name="T76" fmla="*/ 28 w 37"/>
                <a:gd name="T77" fmla="*/ 393 h 581"/>
                <a:gd name="T78" fmla="*/ 29 w 37"/>
                <a:gd name="T79" fmla="*/ 350 h 581"/>
                <a:gd name="T80" fmla="*/ 32 w 37"/>
                <a:gd name="T81" fmla="*/ 291 h 581"/>
                <a:gd name="T82" fmla="*/ 32 w 37"/>
                <a:gd name="T83" fmla="*/ 274 h 581"/>
                <a:gd name="T84" fmla="*/ 33 w 37"/>
                <a:gd name="T85" fmla="*/ 237 h 581"/>
                <a:gd name="T86" fmla="*/ 33 w 37"/>
                <a:gd name="T87" fmla="*/ 198 h 581"/>
                <a:gd name="T88" fmla="*/ 34 w 37"/>
                <a:gd name="T89" fmla="*/ 136 h 581"/>
                <a:gd name="T90" fmla="*/ 34 w 37"/>
                <a:gd name="T91" fmla="*/ 96 h 581"/>
                <a:gd name="T92" fmla="*/ 35 w 37"/>
                <a:gd name="T93" fmla="*/ 58 h 581"/>
                <a:gd name="T94" fmla="*/ 35 w 37"/>
                <a:gd name="T95" fmla="*/ 33 h 581"/>
                <a:gd name="T96" fmla="*/ 35 w 37"/>
                <a:gd name="T97" fmla="*/ 18 h 581"/>
                <a:gd name="T98" fmla="*/ 35 w 37"/>
                <a:gd name="T99" fmla="*/ 5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7" h="581">
                  <a:moveTo>
                    <a:pt x="0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23"/>
                  </a:lnTo>
                  <a:lnTo>
                    <a:pt x="0" y="30"/>
                  </a:lnTo>
                  <a:lnTo>
                    <a:pt x="0" y="38"/>
                  </a:lnTo>
                  <a:lnTo>
                    <a:pt x="0" y="45"/>
                  </a:lnTo>
                  <a:lnTo>
                    <a:pt x="0" y="54"/>
                  </a:lnTo>
                  <a:lnTo>
                    <a:pt x="1" y="63"/>
                  </a:lnTo>
                  <a:lnTo>
                    <a:pt x="1" y="72"/>
                  </a:lnTo>
                  <a:lnTo>
                    <a:pt x="1" y="91"/>
                  </a:lnTo>
                  <a:lnTo>
                    <a:pt x="1" y="110"/>
                  </a:lnTo>
                  <a:lnTo>
                    <a:pt x="2" y="131"/>
                  </a:lnTo>
                  <a:lnTo>
                    <a:pt x="2" y="152"/>
                  </a:lnTo>
                  <a:lnTo>
                    <a:pt x="2" y="174"/>
                  </a:lnTo>
                  <a:lnTo>
                    <a:pt x="4" y="195"/>
                  </a:lnTo>
                  <a:lnTo>
                    <a:pt x="4" y="216"/>
                  </a:lnTo>
                  <a:lnTo>
                    <a:pt x="5" y="236"/>
                  </a:lnTo>
                  <a:lnTo>
                    <a:pt x="5" y="255"/>
                  </a:lnTo>
                  <a:lnTo>
                    <a:pt x="5" y="264"/>
                  </a:lnTo>
                  <a:lnTo>
                    <a:pt x="5" y="273"/>
                  </a:lnTo>
                  <a:lnTo>
                    <a:pt x="5" y="282"/>
                  </a:lnTo>
                  <a:lnTo>
                    <a:pt x="6" y="289"/>
                  </a:lnTo>
                  <a:lnTo>
                    <a:pt x="6" y="320"/>
                  </a:lnTo>
                  <a:lnTo>
                    <a:pt x="7" y="350"/>
                  </a:lnTo>
                  <a:lnTo>
                    <a:pt x="7" y="378"/>
                  </a:lnTo>
                  <a:lnTo>
                    <a:pt x="9" y="393"/>
                  </a:lnTo>
                  <a:lnTo>
                    <a:pt x="9" y="407"/>
                  </a:lnTo>
                  <a:lnTo>
                    <a:pt x="9" y="420"/>
                  </a:lnTo>
                  <a:lnTo>
                    <a:pt x="10" y="432"/>
                  </a:lnTo>
                  <a:lnTo>
                    <a:pt x="10" y="444"/>
                  </a:lnTo>
                  <a:lnTo>
                    <a:pt x="10" y="456"/>
                  </a:lnTo>
                  <a:lnTo>
                    <a:pt x="11" y="468"/>
                  </a:lnTo>
                  <a:lnTo>
                    <a:pt x="11" y="478"/>
                  </a:lnTo>
                  <a:lnTo>
                    <a:pt x="11" y="489"/>
                  </a:lnTo>
                  <a:lnTo>
                    <a:pt x="12" y="498"/>
                  </a:lnTo>
                  <a:lnTo>
                    <a:pt x="12" y="506"/>
                  </a:lnTo>
                  <a:lnTo>
                    <a:pt x="12" y="515"/>
                  </a:lnTo>
                  <a:lnTo>
                    <a:pt x="12" y="523"/>
                  </a:lnTo>
                  <a:lnTo>
                    <a:pt x="13" y="532"/>
                  </a:lnTo>
                  <a:lnTo>
                    <a:pt x="13" y="538"/>
                  </a:lnTo>
                  <a:lnTo>
                    <a:pt x="13" y="545"/>
                  </a:lnTo>
                  <a:lnTo>
                    <a:pt x="15" y="551"/>
                  </a:lnTo>
                  <a:lnTo>
                    <a:pt x="15" y="557"/>
                  </a:lnTo>
                  <a:lnTo>
                    <a:pt x="15" y="563"/>
                  </a:lnTo>
                  <a:lnTo>
                    <a:pt x="16" y="568"/>
                  </a:lnTo>
                  <a:lnTo>
                    <a:pt x="16" y="570"/>
                  </a:lnTo>
                  <a:lnTo>
                    <a:pt x="16" y="573"/>
                  </a:lnTo>
                  <a:lnTo>
                    <a:pt x="17" y="576"/>
                  </a:lnTo>
                  <a:lnTo>
                    <a:pt x="17" y="578"/>
                  </a:lnTo>
                  <a:lnTo>
                    <a:pt x="17" y="579"/>
                  </a:lnTo>
                  <a:lnTo>
                    <a:pt x="18" y="581"/>
                  </a:lnTo>
                  <a:lnTo>
                    <a:pt x="18" y="579"/>
                  </a:lnTo>
                  <a:lnTo>
                    <a:pt x="18" y="578"/>
                  </a:lnTo>
                  <a:lnTo>
                    <a:pt x="18" y="576"/>
                  </a:lnTo>
                  <a:lnTo>
                    <a:pt x="20" y="573"/>
                  </a:lnTo>
                  <a:lnTo>
                    <a:pt x="20" y="570"/>
                  </a:lnTo>
                  <a:lnTo>
                    <a:pt x="20" y="568"/>
                  </a:lnTo>
                  <a:lnTo>
                    <a:pt x="21" y="562"/>
                  </a:lnTo>
                  <a:lnTo>
                    <a:pt x="21" y="557"/>
                  </a:lnTo>
                  <a:lnTo>
                    <a:pt x="21" y="551"/>
                  </a:lnTo>
                  <a:lnTo>
                    <a:pt x="22" y="545"/>
                  </a:lnTo>
                  <a:lnTo>
                    <a:pt x="22" y="538"/>
                  </a:lnTo>
                  <a:lnTo>
                    <a:pt x="22" y="530"/>
                  </a:lnTo>
                  <a:lnTo>
                    <a:pt x="23" y="523"/>
                  </a:lnTo>
                  <a:lnTo>
                    <a:pt x="23" y="515"/>
                  </a:lnTo>
                  <a:lnTo>
                    <a:pt x="23" y="506"/>
                  </a:lnTo>
                  <a:lnTo>
                    <a:pt x="24" y="498"/>
                  </a:lnTo>
                  <a:lnTo>
                    <a:pt x="24" y="489"/>
                  </a:lnTo>
                  <a:lnTo>
                    <a:pt x="24" y="478"/>
                  </a:lnTo>
                  <a:lnTo>
                    <a:pt x="26" y="468"/>
                  </a:lnTo>
                  <a:lnTo>
                    <a:pt x="26" y="456"/>
                  </a:lnTo>
                  <a:lnTo>
                    <a:pt x="26" y="444"/>
                  </a:lnTo>
                  <a:lnTo>
                    <a:pt x="27" y="432"/>
                  </a:lnTo>
                  <a:lnTo>
                    <a:pt x="27" y="420"/>
                  </a:lnTo>
                  <a:lnTo>
                    <a:pt x="28" y="407"/>
                  </a:lnTo>
                  <a:lnTo>
                    <a:pt x="28" y="393"/>
                  </a:lnTo>
                  <a:lnTo>
                    <a:pt x="29" y="380"/>
                  </a:lnTo>
                  <a:lnTo>
                    <a:pt x="29" y="350"/>
                  </a:lnTo>
                  <a:lnTo>
                    <a:pt x="31" y="320"/>
                  </a:lnTo>
                  <a:lnTo>
                    <a:pt x="32" y="291"/>
                  </a:lnTo>
                  <a:lnTo>
                    <a:pt x="32" y="282"/>
                  </a:lnTo>
                  <a:lnTo>
                    <a:pt x="32" y="274"/>
                  </a:lnTo>
                  <a:lnTo>
                    <a:pt x="32" y="256"/>
                  </a:lnTo>
                  <a:lnTo>
                    <a:pt x="33" y="237"/>
                  </a:lnTo>
                  <a:lnTo>
                    <a:pt x="33" y="218"/>
                  </a:lnTo>
                  <a:lnTo>
                    <a:pt x="33" y="198"/>
                  </a:lnTo>
                  <a:lnTo>
                    <a:pt x="34" y="177"/>
                  </a:lnTo>
                  <a:lnTo>
                    <a:pt x="34" y="136"/>
                  </a:lnTo>
                  <a:lnTo>
                    <a:pt x="34" y="116"/>
                  </a:lnTo>
                  <a:lnTo>
                    <a:pt x="34" y="96"/>
                  </a:lnTo>
                  <a:lnTo>
                    <a:pt x="35" y="78"/>
                  </a:lnTo>
                  <a:lnTo>
                    <a:pt x="35" y="58"/>
                  </a:lnTo>
                  <a:lnTo>
                    <a:pt x="35" y="42"/>
                  </a:lnTo>
                  <a:lnTo>
                    <a:pt x="35" y="33"/>
                  </a:lnTo>
                  <a:lnTo>
                    <a:pt x="35" y="26"/>
                  </a:lnTo>
                  <a:lnTo>
                    <a:pt x="35" y="18"/>
                  </a:lnTo>
                  <a:lnTo>
                    <a:pt x="35" y="12"/>
                  </a:lnTo>
                  <a:lnTo>
                    <a:pt x="35" y="5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22" name="Freeform 90"/>
            <p:cNvSpPr>
              <a:spLocks/>
            </p:cNvSpPr>
            <p:nvPr/>
          </p:nvSpPr>
          <p:spPr bwMode="auto">
            <a:xfrm>
              <a:off x="4474" y="965"/>
              <a:ext cx="37" cy="312"/>
            </a:xfrm>
            <a:custGeom>
              <a:avLst/>
              <a:gdLst>
                <a:gd name="T0" fmla="*/ 0 w 37"/>
                <a:gd name="T1" fmla="*/ 5 h 626"/>
                <a:gd name="T2" fmla="*/ 0 w 37"/>
                <a:gd name="T3" fmla="*/ 17 h 626"/>
                <a:gd name="T4" fmla="*/ 0 w 37"/>
                <a:gd name="T5" fmla="*/ 32 h 626"/>
                <a:gd name="T6" fmla="*/ 0 w 37"/>
                <a:gd name="T7" fmla="*/ 48 h 626"/>
                <a:gd name="T8" fmla="*/ 2 w 37"/>
                <a:gd name="T9" fmla="*/ 67 h 626"/>
                <a:gd name="T10" fmla="*/ 2 w 37"/>
                <a:gd name="T11" fmla="*/ 97 h 626"/>
                <a:gd name="T12" fmla="*/ 3 w 37"/>
                <a:gd name="T13" fmla="*/ 142 h 626"/>
                <a:gd name="T14" fmla="*/ 3 w 37"/>
                <a:gd name="T15" fmla="*/ 188 h 626"/>
                <a:gd name="T16" fmla="*/ 4 w 37"/>
                <a:gd name="T17" fmla="*/ 233 h 626"/>
                <a:gd name="T18" fmla="*/ 5 w 37"/>
                <a:gd name="T19" fmla="*/ 274 h 626"/>
                <a:gd name="T20" fmla="*/ 5 w 37"/>
                <a:gd name="T21" fmla="*/ 294 h 626"/>
                <a:gd name="T22" fmla="*/ 7 w 37"/>
                <a:gd name="T23" fmla="*/ 311 h 626"/>
                <a:gd name="T24" fmla="*/ 8 w 37"/>
                <a:gd name="T25" fmla="*/ 377 h 626"/>
                <a:gd name="T26" fmla="*/ 9 w 37"/>
                <a:gd name="T27" fmla="*/ 423 h 626"/>
                <a:gd name="T28" fmla="*/ 9 w 37"/>
                <a:gd name="T29" fmla="*/ 451 h 626"/>
                <a:gd name="T30" fmla="*/ 10 w 37"/>
                <a:gd name="T31" fmla="*/ 478 h 626"/>
                <a:gd name="T32" fmla="*/ 12 w 37"/>
                <a:gd name="T33" fmla="*/ 504 h 626"/>
                <a:gd name="T34" fmla="*/ 12 w 37"/>
                <a:gd name="T35" fmla="*/ 526 h 626"/>
                <a:gd name="T36" fmla="*/ 13 w 37"/>
                <a:gd name="T37" fmla="*/ 545 h 626"/>
                <a:gd name="T38" fmla="*/ 13 w 37"/>
                <a:gd name="T39" fmla="*/ 563 h 626"/>
                <a:gd name="T40" fmla="*/ 14 w 37"/>
                <a:gd name="T41" fmla="*/ 579 h 626"/>
                <a:gd name="T42" fmla="*/ 15 w 37"/>
                <a:gd name="T43" fmla="*/ 594 h 626"/>
                <a:gd name="T44" fmla="*/ 15 w 37"/>
                <a:gd name="T45" fmla="*/ 606 h 626"/>
                <a:gd name="T46" fmla="*/ 16 w 37"/>
                <a:gd name="T47" fmla="*/ 615 h 626"/>
                <a:gd name="T48" fmla="*/ 18 w 37"/>
                <a:gd name="T49" fmla="*/ 621 h 626"/>
                <a:gd name="T50" fmla="*/ 18 w 37"/>
                <a:gd name="T51" fmla="*/ 624 h 626"/>
                <a:gd name="T52" fmla="*/ 19 w 37"/>
                <a:gd name="T53" fmla="*/ 624 h 626"/>
                <a:gd name="T54" fmla="*/ 19 w 37"/>
                <a:gd name="T55" fmla="*/ 621 h 626"/>
                <a:gd name="T56" fmla="*/ 20 w 37"/>
                <a:gd name="T57" fmla="*/ 615 h 626"/>
                <a:gd name="T58" fmla="*/ 21 w 37"/>
                <a:gd name="T59" fmla="*/ 605 h 626"/>
                <a:gd name="T60" fmla="*/ 21 w 37"/>
                <a:gd name="T61" fmla="*/ 594 h 626"/>
                <a:gd name="T62" fmla="*/ 23 w 37"/>
                <a:gd name="T63" fmla="*/ 579 h 626"/>
                <a:gd name="T64" fmla="*/ 24 w 37"/>
                <a:gd name="T65" fmla="*/ 563 h 626"/>
                <a:gd name="T66" fmla="*/ 24 w 37"/>
                <a:gd name="T67" fmla="*/ 545 h 626"/>
                <a:gd name="T68" fmla="*/ 25 w 37"/>
                <a:gd name="T69" fmla="*/ 526 h 626"/>
                <a:gd name="T70" fmla="*/ 26 w 37"/>
                <a:gd name="T71" fmla="*/ 504 h 626"/>
                <a:gd name="T72" fmla="*/ 26 w 37"/>
                <a:gd name="T73" fmla="*/ 478 h 626"/>
                <a:gd name="T74" fmla="*/ 27 w 37"/>
                <a:gd name="T75" fmla="*/ 451 h 626"/>
                <a:gd name="T76" fmla="*/ 29 w 37"/>
                <a:gd name="T77" fmla="*/ 423 h 626"/>
                <a:gd name="T78" fmla="*/ 30 w 37"/>
                <a:gd name="T79" fmla="*/ 377 h 626"/>
                <a:gd name="T80" fmla="*/ 32 w 37"/>
                <a:gd name="T81" fmla="*/ 313 h 626"/>
                <a:gd name="T82" fmla="*/ 32 w 37"/>
                <a:gd name="T83" fmla="*/ 295 h 626"/>
                <a:gd name="T84" fmla="*/ 34 w 37"/>
                <a:gd name="T85" fmla="*/ 256 h 626"/>
                <a:gd name="T86" fmla="*/ 34 w 37"/>
                <a:gd name="T87" fmla="*/ 213 h 626"/>
                <a:gd name="T88" fmla="*/ 35 w 37"/>
                <a:gd name="T89" fmla="*/ 146 h 626"/>
                <a:gd name="T90" fmla="*/ 35 w 37"/>
                <a:gd name="T91" fmla="*/ 103 h 626"/>
                <a:gd name="T92" fmla="*/ 36 w 37"/>
                <a:gd name="T93" fmla="*/ 63 h 626"/>
                <a:gd name="T94" fmla="*/ 36 w 37"/>
                <a:gd name="T95" fmla="*/ 36 h 626"/>
                <a:gd name="T96" fmla="*/ 36 w 37"/>
                <a:gd name="T97" fmla="*/ 20 h 626"/>
                <a:gd name="T98" fmla="*/ 36 w 37"/>
                <a:gd name="T99" fmla="*/ 6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7" h="626">
                  <a:moveTo>
                    <a:pt x="0" y="0"/>
                  </a:moveTo>
                  <a:lnTo>
                    <a:pt x="0" y="5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0" y="48"/>
                  </a:lnTo>
                  <a:lnTo>
                    <a:pt x="0" y="57"/>
                  </a:lnTo>
                  <a:lnTo>
                    <a:pt x="2" y="67"/>
                  </a:lnTo>
                  <a:lnTo>
                    <a:pt x="2" y="76"/>
                  </a:lnTo>
                  <a:lnTo>
                    <a:pt x="2" y="97"/>
                  </a:lnTo>
                  <a:lnTo>
                    <a:pt x="2" y="119"/>
                  </a:lnTo>
                  <a:lnTo>
                    <a:pt x="3" y="142"/>
                  </a:lnTo>
                  <a:lnTo>
                    <a:pt x="3" y="164"/>
                  </a:lnTo>
                  <a:lnTo>
                    <a:pt x="3" y="188"/>
                  </a:lnTo>
                  <a:lnTo>
                    <a:pt x="4" y="210"/>
                  </a:lnTo>
                  <a:lnTo>
                    <a:pt x="4" y="233"/>
                  </a:lnTo>
                  <a:lnTo>
                    <a:pt x="5" y="255"/>
                  </a:lnTo>
                  <a:lnTo>
                    <a:pt x="5" y="274"/>
                  </a:lnTo>
                  <a:lnTo>
                    <a:pt x="5" y="285"/>
                  </a:lnTo>
                  <a:lnTo>
                    <a:pt x="5" y="294"/>
                  </a:lnTo>
                  <a:lnTo>
                    <a:pt x="5" y="303"/>
                  </a:lnTo>
                  <a:lnTo>
                    <a:pt x="7" y="311"/>
                  </a:lnTo>
                  <a:lnTo>
                    <a:pt x="7" y="344"/>
                  </a:lnTo>
                  <a:lnTo>
                    <a:pt x="8" y="377"/>
                  </a:lnTo>
                  <a:lnTo>
                    <a:pt x="8" y="408"/>
                  </a:lnTo>
                  <a:lnTo>
                    <a:pt x="9" y="423"/>
                  </a:lnTo>
                  <a:lnTo>
                    <a:pt x="9" y="438"/>
                  </a:lnTo>
                  <a:lnTo>
                    <a:pt x="9" y="451"/>
                  </a:lnTo>
                  <a:lnTo>
                    <a:pt x="10" y="465"/>
                  </a:lnTo>
                  <a:lnTo>
                    <a:pt x="10" y="478"/>
                  </a:lnTo>
                  <a:lnTo>
                    <a:pt x="10" y="492"/>
                  </a:lnTo>
                  <a:lnTo>
                    <a:pt x="12" y="504"/>
                  </a:lnTo>
                  <a:lnTo>
                    <a:pt x="12" y="515"/>
                  </a:lnTo>
                  <a:lnTo>
                    <a:pt x="12" y="526"/>
                  </a:lnTo>
                  <a:lnTo>
                    <a:pt x="13" y="536"/>
                  </a:lnTo>
                  <a:lnTo>
                    <a:pt x="13" y="545"/>
                  </a:lnTo>
                  <a:lnTo>
                    <a:pt x="13" y="554"/>
                  </a:lnTo>
                  <a:lnTo>
                    <a:pt x="13" y="563"/>
                  </a:lnTo>
                  <a:lnTo>
                    <a:pt x="14" y="572"/>
                  </a:lnTo>
                  <a:lnTo>
                    <a:pt x="14" y="579"/>
                  </a:lnTo>
                  <a:lnTo>
                    <a:pt x="14" y="587"/>
                  </a:lnTo>
                  <a:lnTo>
                    <a:pt x="15" y="594"/>
                  </a:lnTo>
                  <a:lnTo>
                    <a:pt x="15" y="600"/>
                  </a:lnTo>
                  <a:lnTo>
                    <a:pt x="15" y="606"/>
                  </a:lnTo>
                  <a:lnTo>
                    <a:pt x="16" y="611"/>
                  </a:lnTo>
                  <a:lnTo>
                    <a:pt x="16" y="615"/>
                  </a:lnTo>
                  <a:lnTo>
                    <a:pt x="16" y="618"/>
                  </a:lnTo>
                  <a:lnTo>
                    <a:pt x="18" y="621"/>
                  </a:lnTo>
                  <a:lnTo>
                    <a:pt x="18" y="623"/>
                  </a:lnTo>
                  <a:lnTo>
                    <a:pt x="18" y="624"/>
                  </a:lnTo>
                  <a:lnTo>
                    <a:pt x="19" y="626"/>
                  </a:lnTo>
                  <a:lnTo>
                    <a:pt x="19" y="624"/>
                  </a:lnTo>
                  <a:lnTo>
                    <a:pt x="19" y="623"/>
                  </a:lnTo>
                  <a:lnTo>
                    <a:pt x="19" y="621"/>
                  </a:lnTo>
                  <a:lnTo>
                    <a:pt x="20" y="618"/>
                  </a:lnTo>
                  <a:lnTo>
                    <a:pt x="20" y="615"/>
                  </a:lnTo>
                  <a:lnTo>
                    <a:pt x="20" y="611"/>
                  </a:lnTo>
                  <a:lnTo>
                    <a:pt x="21" y="605"/>
                  </a:lnTo>
                  <a:lnTo>
                    <a:pt x="21" y="600"/>
                  </a:lnTo>
                  <a:lnTo>
                    <a:pt x="21" y="594"/>
                  </a:lnTo>
                  <a:lnTo>
                    <a:pt x="23" y="587"/>
                  </a:lnTo>
                  <a:lnTo>
                    <a:pt x="23" y="579"/>
                  </a:lnTo>
                  <a:lnTo>
                    <a:pt x="23" y="572"/>
                  </a:lnTo>
                  <a:lnTo>
                    <a:pt x="24" y="563"/>
                  </a:lnTo>
                  <a:lnTo>
                    <a:pt x="24" y="554"/>
                  </a:lnTo>
                  <a:lnTo>
                    <a:pt x="24" y="545"/>
                  </a:lnTo>
                  <a:lnTo>
                    <a:pt x="25" y="536"/>
                  </a:lnTo>
                  <a:lnTo>
                    <a:pt x="25" y="526"/>
                  </a:lnTo>
                  <a:lnTo>
                    <a:pt x="25" y="515"/>
                  </a:lnTo>
                  <a:lnTo>
                    <a:pt x="26" y="504"/>
                  </a:lnTo>
                  <a:lnTo>
                    <a:pt x="26" y="492"/>
                  </a:lnTo>
                  <a:lnTo>
                    <a:pt x="26" y="478"/>
                  </a:lnTo>
                  <a:lnTo>
                    <a:pt x="27" y="466"/>
                  </a:lnTo>
                  <a:lnTo>
                    <a:pt x="27" y="451"/>
                  </a:lnTo>
                  <a:lnTo>
                    <a:pt x="29" y="438"/>
                  </a:lnTo>
                  <a:lnTo>
                    <a:pt x="29" y="423"/>
                  </a:lnTo>
                  <a:lnTo>
                    <a:pt x="30" y="408"/>
                  </a:lnTo>
                  <a:lnTo>
                    <a:pt x="30" y="377"/>
                  </a:lnTo>
                  <a:lnTo>
                    <a:pt x="31" y="346"/>
                  </a:lnTo>
                  <a:lnTo>
                    <a:pt x="32" y="313"/>
                  </a:lnTo>
                  <a:lnTo>
                    <a:pt x="32" y="304"/>
                  </a:lnTo>
                  <a:lnTo>
                    <a:pt x="32" y="295"/>
                  </a:lnTo>
                  <a:lnTo>
                    <a:pt x="32" y="276"/>
                  </a:lnTo>
                  <a:lnTo>
                    <a:pt x="34" y="256"/>
                  </a:lnTo>
                  <a:lnTo>
                    <a:pt x="34" y="236"/>
                  </a:lnTo>
                  <a:lnTo>
                    <a:pt x="34" y="213"/>
                  </a:lnTo>
                  <a:lnTo>
                    <a:pt x="35" y="191"/>
                  </a:lnTo>
                  <a:lnTo>
                    <a:pt x="35" y="146"/>
                  </a:lnTo>
                  <a:lnTo>
                    <a:pt x="35" y="125"/>
                  </a:lnTo>
                  <a:lnTo>
                    <a:pt x="35" y="103"/>
                  </a:lnTo>
                  <a:lnTo>
                    <a:pt x="36" y="82"/>
                  </a:lnTo>
                  <a:lnTo>
                    <a:pt x="36" y="63"/>
                  </a:lnTo>
                  <a:lnTo>
                    <a:pt x="36" y="45"/>
                  </a:lnTo>
                  <a:lnTo>
                    <a:pt x="36" y="36"/>
                  </a:lnTo>
                  <a:lnTo>
                    <a:pt x="36" y="29"/>
                  </a:lnTo>
                  <a:lnTo>
                    <a:pt x="36" y="20"/>
                  </a:lnTo>
                  <a:lnTo>
                    <a:pt x="36" y="12"/>
                  </a:lnTo>
                  <a:lnTo>
                    <a:pt x="36" y="6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23" name="Freeform 91"/>
            <p:cNvSpPr>
              <a:spLocks/>
            </p:cNvSpPr>
            <p:nvPr/>
          </p:nvSpPr>
          <p:spPr bwMode="auto">
            <a:xfrm>
              <a:off x="4548" y="965"/>
              <a:ext cx="37" cy="312"/>
            </a:xfrm>
            <a:custGeom>
              <a:avLst/>
              <a:gdLst>
                <a:gd name="T0" fmla="*/ 0 w 37"/>
                <a:gd name="T1" fmla="*/ 5 h 626"/>
                <a:gd name="T2" fmla="*/ 0 w 37"/>
                <a:gd name="T3" fmla="*/ 17 h 626"/>
                <a:gd name="T4" fmla="*/ 0 w 37"/>
                <a:gd name="T5" fmla="*/ 32 h 626"/>
                <a:gd name="T6" fmla="*/ 0 w 37"/>
                <a:gd name="T7" fmla="*/ 48 h 626"/>
                <a:gd name="T8" fmla="*/ 1 w 37"/>
                <a:gd name="T9" fmla="*/ 67 h 626"/>
                <a:gd name="T10" fmla="*/ 1 w 37"/>
                <a:gd name="T11" fmla="*/ 97 h 626"/>
                <a:gd name="T12" fmla="*/ 3 w 37"/>
                <a:gd name="T13" fmla="*/ 142 h 626"/>
                <a:gd name="T14" fmla="*/ 3 w 37"/>
                <a:gd name="T15" fmla="*/ 188 h 626"/>
                <a:gd name="T16" fmla="*/ 4 w 37"/>
                <a:gd name="T17" fmla="*/ 233 h 626"/>
                <a:gd name="T18" fmla="*/ 5 w 37"/>
                <a:gd name="T19" fmla="*/ 274 h 626"/>
                <a:gd name="T20" fmla="*/ 5 w 37"/>
                <a:gd name="T21" fmla="*/ 294 h 626"/>
                <a:gd name="T22" fmla="*/ 6 w 37"/>
                <a:gd name="T23" fmla="*/ 311 h 626"/>
                <a:gd name="T24" fmla="*/ 7 w 37"/>
                <a:gd name="T25" fmla="*/ 377 h 626"/>
                <a:gd name="T26" fmla="*/ 9 w 37"/>
                <a:gd name="T27" fmla="*/ 423 h 626"/>
                <a:gd name="T28" fmla="*/ 9 w 37"/>
                <a:gd name="T29" fmla="*/ 451 h 626"/>
                <a:gd name="T30" fmla="*/ 10 w 37"/>
                <a:gd name="T31" fmla="*/ 478 h 626"/>
                <a:gd name="T32" fmla="*/ 11 w 37"/>
                <a:gd name="T33" fmla="*/ 504 h 626"/>
                <a:gd name="T34" fmla="*/ 11 w 37"/>
                <a:gd name="T35" fmla="*/ 526 h 626"/>
                <a:gd name="T36" fmla="*/ 12 w 37"/>
                <a:gd name="T37" fmla="*/ 545 h 626"/>
                <a:gd name="T38" fmla="*/ 12 w 37"/>
                <a:gd name="T39" fmla="*/ 563 h 626"/>
                <a:gd name="T40" fmla="*/ 14 w 37"/>
                <a:gd name="T41" fmla="*/ 579 h 626"/>
                <a:gd name="T42" fmla="*/ 15 w 37"/>
                <a:gd name="T43" fmla="*/ 594 h 626"/>
                <a:gd name="T44" fmla="*/ 15 w 37"/>
                <a:gd name="T45" fmla="*/ 606 h 626"/>
                <a:gd name="T46" fmla="*/ 16 w 37"/>
                <a:gd name="T47" fmla="*/ 615 h 626"/>
                <a:gd name="T48" fmla="*/ 17 w 37"/>
                <a:gd name="T49" fmla="*/ 621 h 626"/>
                <a:gd name="T50" fmla="*/ 17 w 37"/>
                <a:gd name="T51" fmla="*/ 624 h 626"/>
                <a:gd name="T52" fmla="*/ 18 w 37"/>
                <a:gd name="T53" fmla="*/ 624 h 626"/>
                <a:gd name="T54" fmla="*/ 18 w 37"/>
                <a:gd name="T55" fmla="*/ 621 h 626"/>
                <a:gd name="T56" fmla="*/ 20 w 37"/>
                <a:gd name="T57" fmla="*/ 615 h 626"/>
                <a:gd name="T58" fmla="*/ 21 w 37"/>
                <a:gd name="T59" fmla="*/ 605 h 626"/>
                <a:gd name="T60" fmla="*/ 21 w 37"/>
                <a:gd name="T61" fmla="*/ 594 h 626"/>
                <a:gd name="T62" fmla="*/ 22 w 37"/>
                <a:gd name="T63" fmla="*/ 579 h 626"/>
                <a:gd name="T64" fmla="*/ 23 w 37"/>
                <a:gd name="T65" fmla="*/ 563 h 626"/>
                <a:gd name="T66" fmla="*/ 23 w 37"/>
                <a:gd name="T67" fmla="*/ 545 h 626"/>
                <a:gd name="T68" fmla="*/ 25 w 37"/>
                <a:gd name="T69" fmla="*/ 526 h 626"/>
                <a:gd name="T70" fmla="*/ 26 w 37"/>
                <a:gd name="T71" fmla="*/ 504 h 626"/>
                <a:gd name="T72" fmla="*/ 26 w 37"/>
                <a:gd name="T73" fmla="*/ 478 h 626"/>
                <a:gd name="T74" fmla="*/ 27 w 37"/>
                <a:gd name="T75" fmla="*/ 451 h 626"/>
                <a:gd name="T76" fmla="*/ 28 w 37"/>
                <a:gd name="T77" fmla="*/ 423 h 626"/>
                <a:gd name="T78" fmla="*/ 29 w 37"/>
                <a:gd name="T79" fmla="*/ 377 h 626"/>
                <a:gd name="T80" fmla="*/ 32 w 37"/>
                <a:gd name="T81" fmla="*/ 313 h 626"/>
                <a:gd name="T82" fmla="*/ 32 w 37"/>
                <a:gd name="T83" fmla="*/ 295 h 626"/>
                <a:gd name="T84" fmla="*/ 33 w 37"/>
                <a:gd name="T85" fmla="*/ 256 h 626"/>
                <a:gd name="T86" fmla="*/ 33 w 37"/>
                <a:gd name="T87" fmla="*/ 213 h 626"/>
                <a:gd name="T88" fmla="*/ 34 w 37"/>
                <a:gd name="T89" fmla="*/ 146 h 626"/>
                <a:gd name="T90" fmla="*/ 34 w 37"/>
                <a:gd name="T91" fmla="*/ 103 h 626"/>
                <a:gd name="T92" fmla="*/ 36 w 37"/>
                <a:gd name="T93" fmla="*/ 63 h 626"/>
                <a:gd name="T94" fmla="*/ 36 w 37"/>
                <a:gd name="T95" fmla="*/ 36 h 626"/>
                <a:gd name="T96" fmla="*/ 36 w 37"/>
                <a:gd name="T97" fmla="*/ 20 h 626"/>
                <a:gd name="T98" fmla="*/ 36 w 37"/>
                <a:gd name="T99" fmla="*/ 6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7" h="626">
                  <a:moveTo>
                    <a:pt x="0" y="0"/>
                  </a:moveTo>
                  <a:lnTo>
                    <a:pt x="0" y="5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0" y="48"/>
                  </a:lnTo>
                  <a:lnTo>
                    <a:pt x="0" y="57"/>
                  </a:lnTo>
                  <a:lnTo>
                    <a:pt x="1" y="67"/>
                  </a:lnTo>
                  <a:lnTo>
                    <a:pt x="1" y="76"/>
                  </a:lnTo>
                  <a:lnTo>
                    <a:pt x="1" y="97"/>
                  </a:lnTo>
                  <a:lnTo>
                    <a:pt x="1" y="119"/>
                  </a:lnTo>
                  <a:lnTo>
                    <a:pt x="3" y="142"/>
                  </a:lnTo>
                  <a:lnTo>
                    <a:pt x="3" y="164"/>
                  </a:lnTo>
                  <a:lnTo>
                    <a:pt x="3" y="188"/>
                  </a:lnTo>
                  <a:lnTo>
                    <a:pt x="4" y="210"/>
                  </a:lnTo>
                  <a:lnTo>
                    <a:pt x="4" y="233"/>
                  </a:lnTo>
                  <a:lnTo>
                    <a:pt x="5" y="255"/>
                  </a:lnTo>
                  <a:lnTo>
                    <a:pt x="5" y="274"/>
                  </a:lnTo>
                  <a:lnTo>
                    <a:pt x="5" y="285"/>
                  </a:lnTo>
                  <a:lnTo>
                    <a:pt x="5" y="294"/>
                  </a:lnTo>
                  <a:lnTo>
                    <a:pt x="5" y="303"/>
                  </a:lnTo>
                  <a:lnTo>
                    <a:pt x="6" y="311"/>
                  </a:lnTo>
                  <a:lnTo>
                    <a:pt x="6" y="344"/>
                  </a:lnTo>
                  <a:lnTo>
                    <a:pt x="7" y="377"/>
                  </a:lnTo>
                  <a:lnTo>
                    <a:pt x="7" y="408"/>
                  </a:lnTo>
                  <a:lnTo>
                    <a:pt x="9" y="423"/>
                  </a:lnTo>
                  <a:lnTo>
                    <a:pt x="9" y="438"/>
                  </a:lnTo>
                  <a:lnTo>
                    <a:pt x="9" y="451"/>
                  </a:lnTo>
                  <a:lnTo>
                    <a:pt x="10" y="465"/>
                  </a:lnTo>
                  <a:lnTo>
                    <a:pt x="10" y="478"/>
                  </a:lnTo>
                  <a:lnTo>
                    <a:pt x="10" y="492"/>
                  </a:lnTo>
                  <a:lnTo>
                    <a:pt x="11" y="504"/>
                  </a:lnTo>
                  <a:lnTo>
                    <a:pt x="11" y="515"/>
                  </a:lnTo>
                  <a:lnTo>
                    <a:pt x="11" y="526"/>
                  </a:lnTo>
                  <a:lnTo>
                    <a:pt x="12" y="536"/>
                  </a:lnTo>
                  <a:lnTo>
                    <a:pt x="12" y="545"/>
                  </a:lnTo>
                  <a:lnTo>
                    <a:pt x="12" y="554"/>
                  </a:lnTo>
                  <a:lnTo>
                    <a:pt x="12" y="563"/>
                  </a:lnTo>
                  <a:lnTo>
                    <a:pt x="14" y="572"/>
                  </a:lnTo>
                  <a:lnTo>
                    <a:pt x="14" y="579"/>
                  </a:lnTo>
                  <a:lnTo>
                    <a:pt x="14" y="587"/>
                  </a:lnTo>
                  <a:lnTo>
                    <a:pt x="15" y="594"/>
                  </a:lnTo>
                  <a:lnTo>
                    <a:pt x="15" y="600"/>
                  </a:lnTo>
                  <a:lnTo>
                    <a:pt x="15" y="606"/>
                  </a:lnTo>
                  <a:lnTo>
                    <a:pt x="16" y="611"/>
                  </a:lnTo>
                  <a:lnTo>
                    <a:pt x="16" y="615"/>
                  </a:lnTo>
                  <a:lnTo>
                    <a:pt x="16" y="618"/>
                  </a:lnTo>
                  <a:lnTo>
                    <a:pt x="17" y="621"/>
                  </a:lnTo>
                  <a:lnTo>
                    <a:pt x="17" y="623"/>
                  </a:lnTo>
                  <a:lnTo>
                    <a:pt x="17" y="624"/>
                  </a:lnTo>
                  <a:lnTo>
                    <a:pt x="18" y="626"/>
                  </a:lnTo>
                  <a:lnTo>
                    <a:pt x="18" y="624"/>
                  </a:lnTo>
                  <a:lnTo>
                    <a:pt x="18" y="623"/>
                  </a:lnTo>
                  <a:lnTo>
                    <a:pt x="18" y="621"/>
                  </a:lnTo>
                  <a:lnTo>
                    <a:pt x="20" y="618"/>
                  </a:lnTo>
                  <a:lnTo>
                    <a:pt x="20" y="615"/>
                  </a:lnTo>
                  <a:lnTo>
                    <a:pt x="20" y="611"/>
                  </a:lnTo>
                  <a:lnTo>
                    <a:pt x="21" y="605"/>
                  </a:lnTo>
                  <a:lnTo>
                    <a:pt x="21" y="600"/>
                  </a:lnTo>
                  <a:lnTo>
                    <a:pt x="21" y="594"/>
                  </a:lnTo>
                  <a:lnTo>
                    <a:pt x="22" y="587"/>
                  </a:lnTo>
                  <a:lnTo>
                    <a:pt x="22" y="579"/>
                  </a:lnTo>
                  <a:lnTo>
                    <a:pt x="22" y="572"/>
                  </a:lnTo>
                  <a:lnTo>
                    <a:pt x="23" y="563"/>
                  </a:lnTo>
                  <a:lnTo>
                    <a:pt x="23" y="554"/>
                  </a:lnTo>
                  <a:lnTo>
                    <a:pt x="23" y="545"/>
                  </a:lnTo>
                  <a:lnTo>
                    <a:pt x="25" y="536"/>
                  </a:lnTo>
                  <a:lnTo>
                    <a:pt x="25" y="526"/>
                  </a:lnTo>
                  <a:lnTo>
                    <a:pt x="25" y="515"/>
                  </a:lnTo>
                  <a:lnTo>
                    <a:pt x="26" y="504"/>
                  </a:lnTo>
                  <a:lnTo>
                    <a:pt x="26" y="492"/>
                  </a:lnTo>
                  <a:lnTo>
                    <a:pt x="26" y="478"/>
                  </a:lnTo>
                  <a:lnTo>
                    <a:pt x="27" y="466"/>
                  </a:lnTo>
                  <a:lnTo>
                    <a:pt x="27" y="451"/>
                  </a:lnTo>
                  <a:lnTo>
                    <a:pt x="28" y="438"/>
                  </a:lnTo>
                  <a:lnTo>
                    <a:pt x="28" y="423"/>
                  </a:lnTo>
                  <a:lnTo>
                    <a:pt x="29" y="408"/>
                  </a:lnTo>
                  <a:lnTo>
                    <a:pt x="29" y="377"/>
                  </a:lnTo>
                  <a:lnTo>
                    <a:pt x="31" y="346"/>
                  </a:lnTo>
                  <a:lnTo>
                    <a:pt x="32" y="313"/>
                  </a:lnTo>
                  <a:lnTo>
                    <a:pt x="32" y="304"/>
                  </a:lnTo>
                  <a:lnTo>
                    <a:pt x="32" y="295"/>
                  </a:lnTo>
                  <a:lnTo>
                    <a:pt x="32" y="276"/>
                  </a:lnTo>
                  <a:lnTo>
                    <a:pt x="33" y="256"/>
                  </a:lnTo>
                  <a:lnTo>
                    <a:pt x="33" y="236"/>
                  </a:lnTo>
                  <a:lnTo>
                    <a:pt x="33" y="213"/>
                  </a:lnTo>
                  <a:lnTo>
                    <a:pt x="34" y="191"/>
                  </a:lnTo>
                  <a:lnTo>
                    <a:pt x="34" y="146"/>
                  </a:lnTo>
                  <a:lnTo>
                    <a:pt x="34" y="125"/>
                  </a:lnTo>
                  <a:lnTo>
                    <a:pt x="34" y="103"/>
                  </a:lnTo>
                  <a:lnTo>
                    <a:pt x="36" y="82"/>
                  </a:lnTo>
                  <a:lnTo>
                    <a:pt x="36" y="63"/>
                  </a:lnTo>
                  <a:lnTo>
                    <a:pt x="36" y="45"/>
                  </a:lnTo>
                  <a:lnTo>
                    <a:pt x="36" y="36"/>
                  </a:lnTo>
                  <a:lnTo>
                    <a:pt x="36" y="29"/>
                  </a:lnTo>
                  <a:lnTo>
                    <a:pt x="36" y="20"/>
                  </a:lnTo>
                  <a:lnTo>
                    <a:pt x="36" y="12"/>
                  </a:lnTo>
                  <a:lnTo>
                    <a:pt x="36" y="6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24" name="Freeform 92"/>
            <p:cNvSpPr>
              <a:spLocks/>
            </p:cNvSpPr>
            <p:nvPr/>
          </p:nvSpPr>
          <p:spPr bwMode="auto">
            <a:xfrm>
              <a:off x="4622" y="965"/>
              <a:ext cx="36" cy="290"/>
            </a:xfrm>
            <a:custGeom>
              <a:avLst/>
              <a:gdLst>
                <a:gd name="T0" fmla="*/ 0 w 36"/>
                <a:gd name="T1" fmla="*/ 5 h 581"/>
                <a:gd name="T2" fmla="*/ 0 w 36"/>
                <a:gd name="T3" fmla="*/ 15 h 581"/>
                <a:gd name="T4" fmla="*/ 0 w 36"/>
                <a:gd name="T5" fmla="*/ 30 h 581"/>
                <a:gd name="T6" fmla="*/ 0 w 36"/>
                <a:gd name="T7" fmla="*/ 45 h 581"/>
                <a:gd name="T8" fmla="*/ 1 w 36"/>
                <a:gd name="T9" fmla="*/ 63 h 581"/>
                <a:gd name="T10" fmla="*/ 1 w 36"/>
                <a:gd name="T11" fmla="*/ 91 h 581"/>
                <a:gd name="T12" fmla="*/ 2 w 36"/>
                <a:gd name="T13" fmla="*/ 131 h 581"/>
                <a:gd name="T14" fmla="*/ 2 w 36"/>
                <a:gd name="T15" fmla="*/ 174 h 581"/>
                <a:gd name="T16" fmla="*/ 3 w 36"/>
                <a:gd name="T17" fmla="*/ 216 h 581"/>
                <a:gd name="T18" fmla="*/ 5 w 36"/>
                <a:gd name="T19" fmla="*/ 255 h 581"/>
                <a:gd name="T20" fmla="*/ 5 w 36"/>
                <a:gd name="T21" fmla="*/ 273 h 581"/>
                <a:gd name="T22" fmla="*/ 6 w 36"/>
                <a:gd name="T23" fmla="*/ 289 h 581"/>
                <a:gd name="T24" fmla="*/ 7 w 36"/>
                <a:gd name="T25" fmla="*/ 350 h 581"/>
                <a:gd name="T26" fmla="*/ 8 w 36"/>
                <a:gd name="T27" fmla="*/ 393 h 581"/>
                <a:gd name="T28" fmla="*/ 8 w 36"/>
                <a:gd name="T29" fmla="*/ 420 h 581"/>
                <a:gd name="T30" fmla="*/ 9 w 36"/>
                <a:gd name="T31" fmla="*/ 444 h 581"/>
                <a:gd name="T32" fmla="*/ 11 w 36"/>
                <a:gd name="T33" fmla="*/ 468 h 581"/>
                <a:gd name="T34" fmla="*/ 11 w 36"/>
                <a:gd name="T35" fmla="*/ 489 h 581"/>
                <a:gd name="T36" fmla="*/ 12 w 36"/>
                <a:gd name="T37" fmla="*/ 506 h 581"/>
                <a:gd name="T38" fmla="*/ 12 w 36"/>
                <a:gd name="T39" fmla="*/ 523 h 581"/>
                <a:gd name="T40" fmla="*/ 13 w 36"/>
                <a:gd name="T41" fmla="*/ 538 h 581"/>
                <a:gd name="T42" fmla="*/ 14 w 36"/>
                <a:gd name="T43" fmla="*/ 551 h 581"/>
                <a:gd name="T44" fmla="*/ 14 w 36"/>
                <a:gd name="T45" fmla="*/ 563 h 581"/>
                <a:gd name="T46" fmla="*/ 16 w 36"/>
                <a:gd name="T47" fmla="*/ 570 h 581"/>
                <a:gd name="T48" fmla="*/ 17 w 36"/>
                <a:gd name="T49" fmla="*/ 576 h 581"/>
                <a:gd name="T50" fmla="*/ 17 w 36"/>
                <a:gd name="T51" fmla="*/ 579 h 581"/>
                <a:gd name="T52" fmla="*/ 18 w 36"/>
                <a:gd name="T53" fmla="*/ 579 h 581"/>
                <a:gd name="T54" fmla="*/ 18 w 36"/>
                <a:gd name="T55" fmla="*/ 576 h 581"/>
                <a:gd name="T56" fmla="*/ 19 w 36"/>
                <a:gd name="T57" fmla="*/ 570 h 581"/>
                <a:gd name="T58" fmla="*/ 20 w 36"/>
                <a:gd name="T59" fmla="*/ 562 h 581"/>
                <a:gd name="T60" fmla="*/ 20 w 36"/>
                <a:gd name="T61" fmla="*/ 551 h 581"/>
                <a:gd name="T62" fmla="*/ 22 w 36"/>
                <a:gd name="T63" fmla="*/ 538 h 581"/>
                <a:gd name="T64" fmla="*/ 23 w 36"/>
                <a:gd name="T65" fmla="*/ 523 h 581"/>
                <a:gd name="T66" fmla="*/ 23 w 36"/>
                <a:gd name="T67" fmla="*/ 506 h 581"/>
                <a:gd name="T68" fmla="*/ 24 w 36"/>
                <a:gd name="T69" fmla="*/ 489 h 581"/>
                <a:gd name="T70" fmla="*/ 25 w 36"/>
                <a:gd name="T71" fmla="*/ 468 h 581"/>
                <a:gd name="T72" fmla="*/ 25 w 36"/>
                <a:gd name="T73" fmla="*/ 444 h 581"/>
                <a:gd name="T74" fmla="*/ 27 w 36"/>
                <a:gd name="T75" fmla="*/ 420 h 581"/>
                <a:gd name="T76" fmla="*/ 28 w 36"/>
                <a:gd name="T77" fmla="*/ 393 h 581"/>
                <a:gd name="T78" fmla="*/ 29 w 36"/>
                <a:gd name="T79" fmla="*/ 350 h 581"/>
                <a:gd name="T80" fmla="*/ 31 w 36"/>
                <a:gd name="T81" fmla="*/ 291 h 581"/>
                <a:gd name="T82" fmla="*/ 31 w 36"/>
                <a:gd name="T83" fmla="*/ 274 h 581"/>
                <a:gd name="T84" fmla="*/ 33 w 36"/>
                <a:gd name="T85" fmla="*/ 237 h 581"/>
                <a:gd name="T86" fmla="*/ 33 w 36"/>
                <a:gd name="T87" fmla="*/ 198 h 581"/>
                <a:gd name="T88" fmla="*/ 34 w 36"/>
                <a:gd name="T89" fmla="*/ 136 h 581"/>
                <a:gd name="T90" fmla="*/ 34 w 36"/>
                <a:gd name="T91" fmla="*/ 96 h 581"/>
                <a:gd name="T92" fmla="*/ 35 w 36"/>
                <a:gd name="T93" fmla="*/ 58 h 581"/>
                <a:gd name="T94" fmla="*/ 35 w 36"/>
                <a:gd name="T95" fmla="*/ 33 h 581"/>
                <a:gd name="T96" fmla="*/ 35 w 36"/>
                <a:gd name="T97" fmla="*/ 18 h 581"/>
                <a:gd name="T98" fmla="*/ 35 w 36"/>
                <a:gd name="T99" fmla="*/ 5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" h="581">
                  <a:moveTo>
                    <a:pt x="0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23"/>
                  </a:lnTo>
                  <a:lnTo>
                    <a:pt x="0" y="30"/>
                  </a:lnTo>
                  <a:lnTo>
                    <a:pt x="0" y="38"/>
                  </a:lnTo>
                  <a:lnTo>
                    <a:pt x="0" y="45"/>
                  </a:lnTo>
                  <a:lnTo>
                    <a:pt x="0" y="54"/>
                  </a:lnTo>
                  <a:lnTo>
                    <a:pt x="1" y="63"/>
                  </a:lnTo>
                  <a:lnTo>
                    <a:pt x="1" y="72"/>
                  </a:lnTo>
                  <a:lnTo>
                    <a:pt x="1" y="91"/>
                  </a:lnTo>
                  <a:lnTo>
                    <a:pt x="1" y="110"/>
                  </a:lnTo>
                  <a:lnTo>
                    <a:pt x="2" y="131"/>
                  </a:lnTo>
                  <a:lnTo>
                    <a:pt x="2" y="152"/>
                  </a:lnTo>
                  <a:lnTo>
                    <a:pt x="2" y="174"/>
                  </a:lnTo>
                  <a:lnTo>
                    <a:pt x="3" y="195"/>
                  </a:lnTo>
                  <a:lnTo>
                    <a:pt x="3" y="216"/>
                  </a:lnTo>
                  <a:lnTo>
                    <a:pt x="5" y="236"/>
                  </a:lnTo>
                  <a:lnTo>
                    <a:pt x="5" y="255"/>
                  </a:lnTo>
                  <a:lnTo>
                    <a:pt x="5" y="264"/>
                  </a:lnTo>
                  <a:lnTo>
                    <a:pt x="5" y="273"/>
                  </a:lnTo>
                  <a:lnTo>
                    <a:pt x="5" y="282"/>
                  </a:lnTo>
                  <a:lnTo>
                    <a:pt x="6" y="289"/>
                  </a:lnTo>
                  <a:lnTo>
                    <a:pt x="6" y="320"/>
                  </a:lnTo>
                  <a:lnTo>
                    <a:pt x="7" y="350"/>
                  </a:lnTo>
                  <a:lnTo>
                    <a:pt x="7" y="378"/>
                  </a:lnTo>
                  <a:lnTo>
                    <a:pt x="8" y="393"/>
                  </a:lnTo>
                  <a:lnTo>
                    <a:pt x="8" y="407"/>
                  </a:lnTo>
                  <a:lnTo>
                    <a:pt x="8" y="420"/>
                  </a:lnTo>
                  <a:lnTo>
                    <a:pt x="9" y="432"/>
                  </a:lnTo>
                  <a:lnTo>
                    <a:pt x="9" y="444"/>
                  </a:lnTo>
                  <a:lnTo>
                    <a:pt x="9" y="456"/>
                  </a:lnTo>
                  <a:lnTo>
                    <a:pt x="11" y="468"/>
                  </a:lnTo>
                  <a:lnTo>
                    <a:pt x="11" y="478"/>
                  </a:lnTo>
                  <a:lnTo>
                    <a:pt x="11" y="489"/>
                  </a:lnTo>
                  <a:lnTo>
                    <a:pt x="12" y="498"/>
                  </a:lnTo>
                  <a:lnTo>
                    <a:pt x="12" y="506"/>
                  </a:lnTo>
                  <a:lnTo>
                    <a:pt x="12" y="515"/>
                  </a:lnTo>
                  <a:lnTo>
                    <a:pt x="12" y="523"/>
                  </a:lnTo>
                  <a:lnTo>
                    <a:pt x="13" y="532"/>
                  </a:lnTo>
                  <a:lnTo>
                    <a:pt x="13" y="538"/>
                  </a:lnTo>
                  <a:lnTo>
                    <a:pt x="13" y="545"/>
                  </a:lnTo>
                  <a:lnTo>
                    <a:pt x="14" y="551"/>
                  </a:lnTo>
                  <a:lnTo>
                    <a:pt x="14" y="557"/>
                  </a:lnTo>
                  <a:lnTo>
                    <a:pt x="14" y="563"/>
                  </a:lnTo>
                  <a:lnTo>
                    <a:pt x="16" y="568"/>
                  </a:lnTo>
                  <a:lnTo>
                    <a:pt x="16" y="570"/>
                  </a:lnTo>
                  <a:lnTo>
                    <a:pt x="16" y="573"/>
                  </a:lnTo>
                  <a:lnTo>
                    <a:pt x="17" y="576"/>
                  </a:lnTo>
                  <a:lnTo>
                    <a:pt x="17" y="578"/>
                  </a:lnTo>
                  <a:lnTo>
                    <a:pt x="17" y="579"/>
                  </a:lnTo>
                  <a:lnTo>
                    <a:pt x="18" y="581"/>
                  </a:lnTo>
                  <a:lnTo>
                    <a:pt x="18" y="579"/>
                  </a:lnTo>
                  <a:lnTo>
                    <a:pt x="18" y="578"/>
                  </a:lnTo>
                  <a:lnTo>
                    <a:pt x="18" y="576"/>
                  </a:lnTo>
                  <a:lnTo>
                    <a:pt x="19" y="573"/>
                  </a:lnTo>
                  <a:lnTo>
                    <a:pt x="19" y="570"/>
                  </a:lnTo>
                  <a:lnTo>
                    <a:pt x="19" y="568"/>
                  </a:lnTo>
                  <a:lnTo>
                    <a:pt x="20" y="562"/>
                  </a:lnTo>
                  <a:lnTo>
                    <a:pt x="20" y="557"/>
                  </a:lnTo>
                  <a:lnTo>
                    <a:pt x="20" y="551"/>
                  </a:lnTo>
                  <a:lnTo>
                    <a:pt x="22" y="545"/>
                  </a:lnTo>
                  <a:lnTo>
                    <a:pt x="22" y="538"/>
                  </a:lnTo>
                  <a:lnTo>
                    <a:pt x="22" y="530"/>
                  </a:lnTo>
                  <a:lnTo>
                    <a:pt x="23" y="523"/>
                  </a:lnTo>
                  <a:lnTo>
                    <a:pt x="23" y="515"/>
                  </a:lnTo>
                  <a:lnTo>
                    <a:pt x="23" y="506"/>
                  </a:lnTo>
                  <a:lnTo>
                    <a:pt x="24" y="498"/>
                  </a:lnTo>
                  <a:lnTo>
                    <a:pt x="24" y="489"/>
                  </a:lnTo>
                  <a:lnTo>
                    <a:pt x="24" y="478"/>
                  </a:lnTo>
                  <a:lnTo>
                    <a:pt x="25" y="468"/>
                  </a:lnTo>
                  <a:lnTo>
                    <a:pt x="25" y="456"/>
                  </a:lnTo>
                  <a:lnTo>
                    <a:pt x="25" y="444"/>
                  </a:lnTo>
                  <a:lnTo>
                    <a:pt x="27" y="432"/>
                  </a:lnTo>
                  <a:lnTo>
                    <a:pt x="27" y="420"/>
                  </a:lnTo>
                  <a:lnTo>
                    <a:pt x="28" y="407"/>
                  </a:lnTo>
                  <a:lnTo>
                    <a:pt x="28" y="393"/>
                  </a:lnTo>
                  <a:lnTo>
                    <a:pt x="29" y="380"/>
                  </a:lnTo>
                  <a:lnTo>
                    <a:pt x="29" y="350"/>
                  </a:lnTo>
                  <a:lnTo>
                    <a:pt x="30" y="320"/>
                  </a:lnTo>
                  <a:lnTo>
                    <a:pt x="31" y="291"/>
                  </a:lnTo>
                  <a:lnTo>
                    <a:pt x="31" y="282"/>
                  </a:lnTo>
                  <a:lnTo>
                    <a:pt x="31" y="274"/>
                  </a:lnTo>
                  <a:lnTo>
                    <a:pt x="31" y="256"/>
                  </a:lnTo>
                  <a:lnTo>
                    <a:pt x="33" y="237"/>
                  </a:lnTo>
                  <a:lnTo>
                    <a:pt x="33" y="218"/>
                  </a:lnTo>
                  <a:lnTo>
                    <a:pt x="33" y="198"/>
                  </a:lnTo>
                  <a:lnTo>
                    <a:pt x="34" y="177"/>
                  </a:lnTo>
                  <a:lnTo>
                    <a:pt x="34" y="136"/>
                  </a:lnTo>
                  <a:lnTo>
                    <a:pt x="34" y="116"/>
                  </a:lnTo>
                  <a:lnTo>
                    <a:pt x="34" y="96"/>
                  </a:lnTo>
                  <a:lnTo>
                    <a:pt x="35" y="78"/>
                  </a:lnTo>
                  <a:lnTo>
                    <a:pt x="35" y="58"/>
                  </a:lnTo>
                  <a:lnTo>
                    <a:pt x="35" y="42"/>
                  </a:lnTo>
                  <a:lnTo>
                    <a:pt x="35" y="33"/>
                  </a:lnTo>
                  <a:lnTo>
                    <a:pt x="35" y="26"/>
                  </a:lnTo>
                  <a:lnTo>
                    <a:pt x="35" y="18"/>
                  </a:lnTo>
                  <a:lnTo>
                    <a:pt x="35" y="12"/>
                  </a:lnTo>
                  <a:lnTo>
                    <a:pt x="35" y="5"/>
                  </a:lnTo>
                  <a:lnTo>
                    <a:pt x="36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25" name="Freeform 93"/>
            <p:cNvSpPr>
              <a:spLocks/>
            </p:cNvSpPr>
            <p:nvPr/>
          </p:nvSpPr>
          <p:spPr bwMode="auto">
            <a:xfrm>
              <a:off x="3408" y="697"/>
              <a:ext cx="37" cy="268"/>
            </a:xfrm>
            <a:custGeom>
              <a:avLst/>
              <a:gdLst>
                <a:gd name="T0" fmla="*/ 0 w 37"/>
                <a:gd name="T1" fmla="*/ 532 h 536"/>
                <a:gd name="T2" fmla="*/ 0 w 37"/>
                <a:gd name="T3" fmla="*/ 520 h 536"/>
                <a:gd name="T4" fmla="*/ 0 w 37"/>
                <a:gd name="T5" fmla="*/ 508 h 536"/>
                <a:gd name="T6" fmla="*/ 0 w 37"/>
                <a:gd name="T7" fmla="*/ 493 h 536"/>
                <a:gd name="T8" fmla="*/ 1 w 37"/>
                <a:gd name="T9" fmla="*/ 469 h 536"/>
                <a:gd name="T10" fmla="*/ 1 w 37"/>
                <a:gd name="T11" fmla="*/ 434 h 536"/>
                <a:gd name="T12" fmla="*/ 2 w 37"/>
                <a:gd name="T13" fmla="*/ 395 h 536"/>
                <a:gd name="T14" fmla="*/ 4 w 37"/>
                <a:gd name="T15" fmla="*/ 355 h 536"/>
                <a:gd name="T16" fmla="*/ 5 w 37"/>
                <a:gd name="T17" fmla="*/ 317 h 536"/>
                <a:gd name="T18" fmla="*/ 5 w 37"/>
                <a:gd name="T19" fmla="*/ 283 h 536"/>
                <a:gd name="T20" fmla="*/ 6 w 37"/>
                <a:gd name="T21" fmla="*/ 268 h 536"/>
                <a:gd name="T22" fmla="*/ 7 w 37"/>
                <a:gd name="T23" fmla="*/ 212 h 536"/>
                <a:gd name="T24" fmla="*/ 8 w 37"/>
                <a:gd name="T25" fmla="*/ 173 h 536"/>
                <a:gd name="T26" fmla="*/ 8 w 37"/>
                <a:gd name="T27" fmla="*/ 148 h 536"/>
                <a:gd name="T28" fmla="*/ 10 w 37"/>
                <a:gd name="T29" fmla="*/ 125 h 536"/>
                <a:gd name="T30" fmla="*/ 11 w 37"/>
                <a:gd name="T31" fmla="*/ 105 h 536"/>
                <a:gd name="T32" fmla="*/ 11 w 37"/>
                <a:gd name="T33" fmla="*/ 85 h 536"/>
                <a:gd name="T34" fmla="*/ 12 w 37"/>
                <a:gd name="T35" fmla="*/ 67 h 536"/>
                <a:gd name="T36" fmla="*/ 12 w 37"/>
                <a:gd name="T37" fmla="*/ 52 h 536"/>
                <a:gd name="T38" fmla="*/ 13 w 37"/>
                <a:gd name="T39" fmla="*/ 39 h 536"/>
                <a:gd name="T40" fmla="*/ 15 w 37"/>
                <a:gd name="T41" fmla="*/ 26 h 536"/>
                <a:gd name="T42" fmla="*/ 15 w 37"/>
                <a:gd name="T43" fmla="*/ 17 h 536"/>
                <a:gd name="T44" fmla="*/ 16 w 37"/>
                <a:gd name="T45" fmla="*/ 8 h 536"/>
                <a:gd name="T46" fmla="*/ 17 w 37"/>
                <a:gd name="T47" fmla="*/ 3 h 536"/>
                <a:gd name="T48" fmla="*/ 17 w 37"/>
                <a:gd name="T49" fmla="*/ 0 h 536"/>
                <a:gd name="T50" fmla="*/ 18 w 37"/>
                <a:gd name="T51" fmla="*/ 0 h 536"/>
                <a:gd name="T52" fmla="*/ 18 w 37"/>
                <a:gd name="T53" fmla="*/ 3 h 536"/>
                <a:gd name="T54" fmla="*/ 20 w 37"/>
                <a:gd name="T55" fmla="*/ 8 h 536"/>
                <a:gd name="T56" fmla="*/ 21 w 37"/>
                <a:gd name="T57" fmla="*/ 17 h 536"/>
                <a:gd name="T58" fmla="*/ 21 w 37"/>
                <a:gd name="T59" fmla="*/ 27 h 536"/>
                <a:gd name="T60" fmla="*/ 22 w 37"/>
                <a:gd name="T61" fmla="*/ 39 h 536"/>
                <a:gd name="T62" fmla="*/ 23 w 37"/>
                <a:gd name="T63" fmla="*/ 52 h 536"/>
                <a:gd name="T64" fmla="*/ 24 w 37"/>
                <a:gd name="T65" fmla="*/ 76 h 536"/>
                <a:gd name="T66" fmla="*/ 24 w 37"/>
                <a:gd name="T67" fmla="*/ 94 h 536"/>
                <a:gd name="T68" fmla="*/ 26 w 37"/>
                <a:gd name="T69" fmla="*/ 113 h 536"/>
                <a:gd name="T70" fmla="*/ 27 w 37"/>
                <a:gd name="T71" fmla="*/ 136 h 536"/>
                <a:gd name="T72" fmla="*/ 28 w 37"/>
                <a:gd name="T73" fmla="*/ 160 h 536"/>
                <a:gd name="T74" fmla="*/ 29 w 37"/>
                <a:gd name="T75" fmla="*/ 212 h 536"/>
                <a:gd name="T76" fmla="*/ 32 w 37"/>
                <a:gd name="T77" fmla="*/ 268 h 536"/>
                <a:gd name="T78" fmla="*/ 32 w 37"/>
                <a:gd name="T79" fmla="*/ 298 h 536"/>
                <a:gd name="T80" fmla="*/ 33 w 37"/>
                <a:gd name="T81" fmla="*/ 334 h 536"/>
                <a:gd name="T82" fmla="*/ 33 w 37"/>
                <a:gd name="T83" fmla="*/ 371 h 536"/>
                <a:gd name="T84" fmla="*/ 34 w 37"/>
                <a:gd name="T85" fmla="*/ 428 h 536"/>
                <a:gd name="T86" fmla="*/ 35 w 37"/>
                <a:gd name="T87" fmla="*/ 465 h 536"/>
                <a:gd name="T88" fmla="*/ 35 w 37"/>
                <a:gd name="T89" fmla="*/ 496 h 536"/>
                <a:gd name="T90" fmla="*/ 35 w 37"/>
                <a:gd name="T91" fmla="*/ 518 h 536"/>
                <a:gd name="T92" fmla="*/ 35 w 37"/>
                <a:gd name="T93" fmla="*/ 53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7" h="536">
                  <a:moveTo>
                    <a:pt x="0" y="536"/>
                  </a:moveTo>
                  <a:lnTo>
                    <a:pt x="0" y="532"/>
                  </a:lnTo>
                  <a:lnTo>
                    <a:pt x="0" y="526"/>
                  </a:lnTo>
                  <a:lnTo>
                    <a:pt x="0" y="520"/>
                  </a:lnTo>
                  <a:lnTo>
                    <a:pt x="0" y="514"/>
                  </a:lnTo>
                  <a:lnTo>
                    <a:pt x="0" y="508"/>
                  </a:lnTo>
                  <a:lnTo>
                    <a:pt x="0" y="501"/>
                  </a:lnTo>
                  <a:lnTo>
                    <a:pt x="0" y="493"/>
                  </a:lnTo>
                  <a:lnTo>
                    <a:pt x="0" y="486"/>
                  </a:lnTo>
                  <a:lnTo>
                    <a:pt x="1" y="469"/>
                  </a:lnTo>
                  <a:lnTo>
                    <a:pt x="1" y="451"/>
                  </a:lnTo>
                  <a:lnTo>
                    <a:pt x="1" y="434"/>
                  </a:lnTo>
                  <a:lnTo>
                    <a:pt x="2" y="414"/>
                  </a:lnTo>
                  <a:lnTo>
                    <a:pt x="2" y="395"/>
                  </a:lnTo>
                  <a:lnTo>
                    <a:pt x="2" y="374"/>
                  </a:lnTo>
                  <a:lnTo>
                    <a:pt x="4" y="355"/>
                  </a:lnTo>
                  <a:lnTo>
                    <a:pt x="4" y="335"/>
                  </a:lnTo>
                  <a:lnTo>
                    <a:pt x="5" y="317"/>
                  </a:lnTo>
                  <a:lnTo>
                    <a:pt x="5" y="300"/>
                  </a:lnTo>
                  <a:lnTo>
                    <a:pt x="5" y="283"/>
                  </a:lnTo>
                  <a:lnTo>
                    <a:pt x="5" y="276"/>
                  </a:lnTo>
                  <a:lnTo>
                    <a:pt x="6" y="268"/>
                  </a:lnTo>
                  <a:lnTo>
                    <a:pt x="6" y="240"/>
                  </a:lnTo>
                  <a:lnTo>
                    <a:pt x="7" y="212"/>
                  </a:lnTo>
                  <a:lnTo>
                    <a:pt x="7" y="185"/>
                  </a:lnTo>
                  <a:lnTo>
                    <a:pt x="8" y="173"/>
                  </a:lnTo>
                  <a:lnTo>
                    <a:pt x="8" y="160"/>
                  </a:lnTo>
                  <a:lnTo>
                    <a:pt x="8" y="148"/>
                  </a:lnTo>
                  <a:lnTo>
                    <a:pt x="10" y="136"/>
                  </a:lnTo>
                  <a:lnTo>
                    <a:pt x="10" y="125"/>
                  </a:lnTo>
                  <a:lnTo>
                    <a:pt x="10" y="113"/>
                  </a:lnTo>
                  <a:lnTo>
                    <a:pt x="11" y="105"/>
                  </a:lnTo>
                  <a:lnTo>
                    <a:pt x="11" y="94"/>
                  </a:lnTo>
                  <a:lnTo>
                    <a:pt x="11" y="85"/>
                  </a:lnTo>
                  <a:lnTo>
                    <a:pt x="12" y="76"/>
                  </a:lnTo>
                  <a:lnTo>
                    <a:pt x="12" y="67"/>
                  </a:lnTo>
                  <a:lnTo>
                    <a:pt x="12" y="60"/>
                  </a:lnTo>
                  <a:lnTo>
                    <a:pt x="12" y="52"/>
                  </a:lnTo>
                  <a:lnTo>
                    <a:pt x="13" y="45"/>
                  </a:lnTo>
                  <a:lnTo>
                    <a:pt x="13" y="39"/>
                  </a:lnTo>
                  <a:lnTo>
                    <a:pt x="13" y="32"/>
                  </a:lnTo>
                  <a:lnTo>
                    <a:pt x="15" y="26"/>
                  </a:lnTo>
                  <a:lnTo>
                    <a:pt x="15" y="21"/>
                  </a:lnTo>
                  <a:lnTo>
                    <a:pt x="15" y="17"/>
                  </a:lnTo>
                  <a:lnTo>
                    <a:pt x="16" y="12"/>
                  </a:lnTo>
                  <a:lnTo>
                    <a:pt x="16" y="8"/>
                  </a:lnTo>
                  <a:lnTo>
                    <a:pt x="16" y="5"/>
                  </a:lnTo>
                  <a:lnTo>
                    <a:pt x="17" y="3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3"/>
                  </a:lnTo>
                  <a:lnTo>
                    <a:pt x="20" y="5"/>
                  </a:lnTo>
                  <a:lnTo>
                    <a:pt x="20" y="8"/>
                  </a:lnTo>
                  <a:lnTo>
                    <a:pt x="20" y="12"/>
                  </a:lnTo>
                  <a:lnTo>
                    <a:pt x="21" y="17"/>
                  </a:lnTo>
                  <a:lnTo>
                    <a:pt x="21" y="21"/>
                  </a:lnTo>
                  <a:lnTo>
                    <a:pt x="21" y="27"/>
                  </a:lnTo>
                  <a:lnTo>
                    <a:pt x="22" y="32"/>
                  </a:lnTo>
                  <a:lnTo>
                    <a:pt x="22" y="39"/>
                  </a:lnTo>
                  <a:lnTo>
                    <a:pt x="22" y="45"/>
                  </a:lnTo>
                  <a:lnTo>
                    <a:pt x="23" y="52"/>
                  </a:lnTo>
                  <a:lnTo>
                    <a:pt x="23" y="60"/>
                  </a:lnTo>
                  <a:lnTo>
                    <a:pt x="24" y="76"/>
                  </a:lnTo>
                  <a:lnTo>
                    <a:pt x="24" y="85"/>
                  </a:lnTo>
                  <a:lnTo>
                    <a:pt x="24" y="94"/>
                  </a:lnTo>
                  <a:lnTo>
                    <a:pt x="26" y="105"/>
                  </a:lnTo>
                  <a:lnTo>
                    <a:pt x="26" y="113"/>
                  </a:lnTo>
                  <a:lnTo>
                    <a:pt x="26" y="125"/>
                  </a:lnTo>
                  <a:lnTo>
                    <a:pt x="27" y="136"/>
                  </a:lnTo>
                  <a:lnTo>
                    <a:pt x="27" y="148"/>
                  </a:lnTo>
                  <a:lnTo>
                    <a:pt x="28" y="160"/>
                  </a:lnTo>
                  <a:lnTo>
                    <a:pt x="29" y="185"/>
                  </a:lnTo>
                  <a:lnTo>
                    <a:pt x="29" y="212"/>
                  </a:lnTo>
                  <a:lnTo>
                    <a:pt x="31" y="239"/>
                  </a:lnTo>
                  <a:lnTo>
                    <a:pt x="32" y="268"/>
                  </a:lnTo>
                  <a:lnTo>
                    <a:pt x="32" y="283"/>
                  </a:lnTo>
                  <a:lnTo>
                    <a:pt x="32" y="298"/>
                  </a:lnTo>
                  <a:lnTo>
                    <a:pt x="33" y="316"/>
                  </a:lnTo>
                  <a:lnTo>
                    <a:pt x="33" y="334"/>
                  </a:lnTo>
                  <a:lnTo>
                    <a:pt x="33" y="353"/>
                  </a:lnTo>
                  <a:lnTo>
                    <a:pt x="33" y="371"/>
                  </a:lnTo>
                  <a:lnTo>
                    <a:pt x="34" y="410"/>
                  </a:lnTo>
                  <a:lnTo>
                    <a:pt x="34" y="428"/>
                  </a:lnTo>
                  <a:lnTo>
                    <a:pt x="34" y="447"/>
                  </a:lnTo>
                  <a:lnTo>
                    <a:pt x="35" y="465"/>
                  </a:lnTo>
                  <a:lnTo>
                    <a:pt x="35" y="481"/>
                  </a:lnTo>
                  <a:lnTo>
                    <a:pt x="35" y="496"/>
                  </a:lnTo>
                  <a:lnTo>
                    <a:pt x="35" y="511"/>
                  </a:lnTo>
                  <a:lnTo>
                    <a:pt x="35" y="518"/>
                  </a:lnTo>
                  <a:lnTo>
                    <a:pt x="35" y="524"/>
                  </a:lnTo>
                  <a:lnTo>
                    <a:pt x="35" y="530"/>
                  </a:lnTo>
                  <a:lnTo>
                    <a:pt x="37" y="536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26" name="Freeform 94"/>
            <p:cNvSpPr>
              <a:spLocks/>
            </p:cNvSpPr>
            <p:nvPr/>
          </p:nvSpPr>
          <p:spPr bwMode="auto">
            <a:xfrm>
              <a:off x="3481" y="652"/>
              <a:ext cx="37" cy="313"/>
            </a:xfrm>
            <a:custGeom>
              <a:avLst/>
              <a:gdLst>
                <a:gd name="T0" fmla="*/ 0 w 37"/>
                <a:gd name="T1" fmla="*/ 619 h 625"/>
                <a:gd name="T2" fmla="*/ 0 w 37"/>
                <a:gd name="T3" fmla="*/ 607 h 625"/>
                <a:gd name="T4" fmla="*/ 0 w 37"/>
                <a:gd name="T5" fmla="*/ 593 h 625"/>
                <a:gd name="T6" fmla="*/ 0 w 37"/>
                <a:gd name="T7" fmla="*/ 576 h 625"/>
                <a:gd name="T8" fmla="*/ 2 w 37"/>
                <a:gd name="T9" fmla="*/ 557 h 625"/>
                <a:gd name="T10" fmla="*/ 2 w 37"/>
                <a:gd name="T11" fmla="*/ 527 h 625"/>
                <a:gd name="T12" fmla="*/ 3 w 37"/>
                <a:gd name="T13" fmla="*/ 482 h 625"/>
                <a:gd name="T14" fmla="*/ 3 w 37"/>
                <a:gd name="T15" fmla="*/ 436 h 625"/>
                <a:gd name="T16" fmla="*/ 4 w 37"/>
                <a:gd name="T17" fmla="*/ 392 h 625"/>
                <a:gd name="T18" fmla="*/ 5 w 37"/>
                <a:gd name="T19" fmla="*/ 350 h 625"/>
                <a:gd name="T20" fmla="*/ 5 w 37"/>
                <a:gd name="T21" fmla="*/ 331 h 625"/>
                <a:gd name="T22" fmla="*/ 7 w 37"/>
                <a:gd name="T23" fmla="*/ 313 h 625"/>
                <a:gd name="T24" fmla="*/ 8 w 37"/>
                <a:gd name="T25" fmla="*/ 247 h 625"/>
                <a:gd name="T26" fmla="*/ 9 w 37"/>
                <a:gd name="T27" fmla="*/ 201 h 625"/>
                <a:gd name="T28" fmla="*/ 9 w 37"/>
                <a:gd name="T29" fmla="*/ 173 h 625"/>
                <a:gd name="T30" fmla="*/ 10 w 37"/>
                <a:gd name="T31" fmla="*/ 146 h 625"/>
                <a:gd name="T32" fmla="*/ 11 w 37"/>
                <a:gd name="T33" fmla="*/ 121 h 625"/>
                <a:gd name="T34" fmla="*/ 11 w 37"/>
                <a:gd name="T35" fmla="*/ 98 h 625"/>
                <a:gd name="T36" fmla="*/ 13 w 37"/>
                <a:gd name="T37" fmla="*/ 79 h 625"/>
                <a:gd name="T38" fmla="*/ 13 w 37"/>
                <a:gd name="T39" fmla="*/ 61 h 625"/>
                <a:gd name="T40" fmla="*/ 14 w 37"/>
                <a:gd name="T41" fmla="*/ 45 h 625"/>
                <a:gd name="T42" fmla="*/ 15 w 37"/>
                <a:gd name="T43" fmla="*/ 30 h 625"/>
                <a:gd name="T44" fmla="*/ 15 w 37"/>
                <a:gd name="T45" fmla="*/ 18 h 625"/>
                <a:gd name="T46" fmla="*/ 16 w 37"/>
                <a:gd name="T47" fmla="*/ 9 h 625"/>
                <a:gd name="T48" fmla="*/ 18 w 37"/>
                <a:gd name="T49" fmla="*/ 3 h 625"/>
                <a:gd name="T50" fmla="*/ 18 w 37"/>
                <a:gd name="T51" fmla="*/ 0 h 625"/>
                <a:gd name="T52" fmla="*/ 19 w 37"/>
                <a:gd name="T53" fmla="*/ 0 h 625"/>
                <a:gd name="T54" fmla="*/ 19 w 37"/>
                <a:gd name="T55" fmla="*/ 3 h 625"/>
                <a:gd name="T56" fmla="*/ 20 w 37"/>
                <a:gd name="T57" fmla="*/ 9 h 625"/>
                <a:gd name="T58" fmla="*/ 21 w 37"/>
                <a:gd name="T59" fmla="*/ 19 h 625"/>
                <a:gd name="T60" fmla="*/ 21 w 37"/>
                <a:gd name="T61" fmla="*/ 31 h 625"/>
                <a:gd name="T62" fmla="*/ 23 w 37"/>
                <a:gd name="T63" fmla="*/ 45 h 625"/>
                <a:gd name="T64" fmla="*/ 24 w 37"/>
                <a:gd name="T65" fmla="*/ 61 h 625"/>
                <a:gd name="T66" fmla="*/ 24 w 37"/>
                <a:gd name="T67" fmla="*/ 79 h 625"/>
                <a:gd name="T68" fmla="*/ 25 w 37"/>
                <a:gd name="T69" fmla="*/ 98 h 625"/>
                <a:gd name="T70" fmla="*/ 26 w 37"/>
                <a:gd name="T71" fmla="*/ 121 h 625"/>
                <a:gd name="T72" fmla="*/ 26 w 37"/>
                <a:gd name="T73" fmla="*/ 146 h 625"/>
                <a:gd name="T74" fmla="*/ 27 w 37"/>
                <a:gd name="T75" fmla="*/ 173 h 625"/>
                <a:gd name="T76" fmla="*/ 29 w 37"/>
                <a:gd name="T77" fmla="*/ 201 h 625"/>
                <a:gd name="T78" fmla="*/ 30 w 37"/>
                <a:gd name="T79" fmla="*/ 247 h 625"/>
                <a:gd name="T80" fmla="*/ 32 w 37"/>
                <a:gd name="T81" fmla="*/ 313 h 625"/>
                <a:gd name="T82" fmla="*/ 32 w 37"/>
                <a:gd name="T83" fmla="*/ 329 h 625"/>
                <a:gd name="T84" fmla="*/ 34 w 37"/>
                <a:gd name="T85" fmla="*/ 368 h 625"/>
                <a:gd name="T86" fmla="*/ 34 w 37"/>
                <a:gd name="T87" fmla="*/ 411 h 625"/>
                <a:gd name="T88" fmla="*/ 35 w 37"/>
                <a:gd name="T89" fmla="*/ 478 h 625"/>
                <a:gd name="T90" fmla="*/ 35 w 37"/>
                <a:gd name="T91" fmla="*/ 521 h 625"/>
                <a:gd name="T92" fmla="*/ 36 w 37"/>
                <a:gd name="T93" fmla="*/ 561 h 625"/>
                <a:gd name="T94" fmla="*/ 36 w 37"/>
                <a:gd name="T95" fmla="*/ 588 h 625"/>
                <a:gd name="T96" fmla="*/ 36 w 37"/>
                <a:gd name="T97" fmla="*/ 604 h 625"/>
                <a:gd name="T98" fmla="*/ 36 w 37"/>
                <a:gd name="T99" fmla="*/ 618 h 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7" h="625">
                  <a:moveTo>
                    <a:pt x="0" y="625"/>
                  </a:moveTo>
                  <a:lnTo>
                    <a:pt x="0" y="619"/>
                  </a:lnTo>
                  <a:lnTo>
                    <a:pt x="0" y="613"/>
                  </a:lnTo>
                  <a:lnTo>
                    <a:pt x="0" y="607"/>
                  </a:lnTo>
                  <a:lnTo>
                    <a:pt x="0" y="600"/>
                  </a:lnTo>
                  <a:lnTo>
                    <a:pt x="0" y="593"/>
                  </a:lnTo>
                  <a:lnTo>
                    <a:pt x="0" y="584"/>
                  </a:lnTo>
                  <a:lnTo>
                    <a:pt x="0" y="576"/>
                  </a:lnTo>
                  <a:lnTo>
                    <a:pt x="0" y="567"/>
                  </a:lnTo>
                  <a:lnTo>
                    <a:pt x="2" y="557"/>
                  </a:lnTo>
                  <a:lnTo>
                    <a:pt x="2" y="548"/>
                  </a:lnTo>
                  <a:lnTo>
                    <a:pt x="2" y="527"/>
                  </a:lnTo>
                  <a:lnTo>
                    <a:pt x="2" y="505"/>
                  </a:lnTo>
                  <a:lnTo>
                    <a:pt x="3" y="482"/>
                  </a:lnTo>
                  <a:lnTo>
                    <a:pt x="3" y="460"/>
                  </a:lnTo>
                  <a:lnTo>
                    <a:pt x="3" y="436"/>
                  </a:lnTo>
                  <a:lnTo>
                    <a:pt x="4" y="414"/>
                  </a:lnTo>
                  <a:lnTo>
                    <a:pt x="4" y="392"/>
                  </a:lnTo>
                  <a:lnTo>
                    <a:pt x="5" y="371"/>
                  </a:lnTo>
                  <a:lnTo>
                    <a:pt x="5" y="350"/>
                  </a:lnTo>
                  <a:lnTo>
                    <a:pt x="5" y="339"/>
                  </a:lnTo>
                  <a:lnTo>
                    <a:pt x="5" y="331"/>
                  </a:lnTo>
                  <a:lnTo>
                    <a:pt x="5" y="322"/>
                  </a:lnTo>
                  <a:lnTo>
                    <a:pt x="7" y="313"/>
                  </a:lnTo>
                  <a:lnTo>
                    <a:pt x="7" y="280"/>
                  </a:lnTo>
                  <a:lnTo>
                    <a:pt x="8" y="247"/>
                  </a:lnTo>
                  <a:lnTo>
                    <a:pt x="8" y="216"/>
                  </a:lnTo>
                  <a:lnTo>
                    <a:pt x="9" y="201"/>
                  </a:lnTo>
                  <a:lnTo>
                    <a:pt x="9" y="186"/>
                  </a:lnTo>
                  <a:lnTo>
                    <a:pt x="9" y="173"/>
                  </a:lnTo>
                  <a:lnTo>
                    <a:pt x="10" y="159"/>
                  </a:lnTo>
                  <a:lnTo>
                    <a:pt x="10" y="146"/>
                  </a:lnTo>
                  <a:lnTo>
                    <a:pt x="10" y="132"/>
                  </a:lnTo>
                  <a:lnTo>
                    <a:pt x="11" y="121"/>
                  </a:lnTo>
                  <a:lnTo>
                    <a:pt x="11" y="110"/>
                  </a:lnTo>
                  <a:lnTo>
                    <a:pt x="11" y="98"/>
                  </a:lnTo>
                  <a:lnTo>
                    <a:pt x="13" y="88"/>
                  </a:lnTo>
                  <a:lnTo>
                    <a:pt x="13" y="79"/>
                  </a:lnTo>
                  <a:lnTo>
                    <a:pt x="13" y="70"/>
                  </a:lnTo>
                  <a:lnTo>
                    <a:pt x="13" y="61"/>
                  </a:lnTo>
                  <a:lnTo>
                    <a:pt x="14" y="52"/>
                  </a:lnTo>
                  <a:lnTo>
                    <a:pt x="14" y="45"/>
                  </a:lnTo>
                  <a:lnTo>
                    <a:pt x="14" y="37"/>
                  </a:lnTo>
                  <a:lnTo>
                    <a:pt x="15" y="30"/>
                  </a:lnTo>
                  <a:lnTo>
                    <a:pt x="15" y="24"/>
                  </a:lnTo>
                  <a:lnTo>
                    <a:pt x="15" y="18"/>
                  </a:lnTo>
                  <a:lnTo>
                    <a:pt x="16" y="13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8" y="3"/>
                  </a:lnTo>
                  <a:lnTo>
                    <a:pt x="18" y="1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1"/>
                  </a:lnTo>
                  <a:lnTo>
                    <a:pt x="19" y="3"/>
                  </a:lnTo>
                  <a:lnTo>
                    <a:pt x="20" y="6"/>
                  </a:lnTo>
                  <a:lnTo>
                    <a:pt x="20" y="9"/>
                  </a:lnTo>
                  <a:lnTo>
                    <a:pt x="20" y="13"/>
                  </a:lnTo>
                  <a:lnTo>
                    <a:pt x="21" y="19"/>
                  </a:lnTo>
                  <a:lnTo>
                    <a:pt x="21" y="24"/>
                  </a:lnTo>
                  <a:lnTo>
                    <a:pt x="21" y="31"/>
                  </a:lnTo>
                  <a:lnTo>
                    <a:pt x="23" y="37"/>
                  </a:lnTo>
                  <a:lnTo>
                    <a:pt x="23" y="45"/>
                  </a:lnTo>
                  <a:lnTo>
                    <a:pt x="23" y="52"/>
                  </a:lnTo>
                  <a:lnTo>
                    <a:pt x="24" y="61"/>
                  </a:lnTo>
                  <a:lnTo>
                    <a:pt x="24" y="70"/>
                  </a:lnTo>
                  <a:lnTo>
                    <a:pt x="24" y="79"/>
                  </a:lnTo>
                  <a:lnTo>
                    <a:pt x="25" y="88"/>
                  </a:lnTo>
                  <a:lnTo>
                    <a:pt x="25" y="98"/>
                  </a:lnTo>
                  <a:lnTo>
                    <a:pt x="25" y="110"/>
                  </a:lnTo>
                  <a:lnTo>
                    <a:pt x="26" y="121"/>
                  </a:lnTo>
                  <a:lnTo>
                    <a:pt x="26" y="132"/>
                  </a:lnTo>
                  <a:lnTo>
                    <a:pt x="26" y="146"/>
                  </a:lnTo>
                  <a:lnTo>
                    <a:pt x="27" y="159"/>
                  </a:lnTo>
                  <a:lnTo>
                    <a:pt x="27" y="173"/>
                  </a:lnTo>
                  <a:lnTo>
                    <a:pt x="29" y="186"/>
                  </a:lnTo>
                  <a:lnTo>
                    <a:pt x="29" y="201"/>
                  </a:lnTo>
                  <a:lnTo>
                    <a:pt x="30" y="216"/>
                  </a:lnTo>
                  <a:lnTo>
                    <a:pt x="30" y="247"/>
                  </a:lnTo>
                  <a:lnTo>
                    <a:pt x="31" y="278"/>
                  </a:lnTo>
                  <a:lnTo>
                    <a:pt x="32" y="313"/>
                  </a:lnTo>
                  <a:lnTo>
                    <a:pt x="32" y="320"/>
                  </a:lnTo>
                  <a:lnTo>
                    <a:pt x="32" y="329"/>
                  </a:lnTo>
                  <a:lnTo>
                    <a:pt x="32" y="348"/>
                  </a:lnTo>
                  <a:lnTo>
                    <a:pt x="34" y="368"/>
                  </a:lnTo>
                  <a:lnTo>
                    <a:pt x="34" y="390"/>
                  </a:lnTo>
                  <a:lnTo>
                    <a:pt x="34" y="411"/>
                  </a:lnTo>
                  <a:lnTo>
                    <a:pt x="34" y="433"/>
                  </a:lnTo>
                  <a:lnTo>
                    <a:pt x="35" y="478"/>
                  </a:lnTo>
                  <a:lnTo>
                    <a:pt x="35" y="499"/>
                  </a:lnTo>
                  <a:lnTo>
                    <a:pt x="35" y="521"/>
                  </a:lnTo>
                  <a:lnTo>
                    <a:pt x="36" y="542"/>
                  </a:lnTo>
                  <a:lnTo>
                    <a:pt x="36" y="561"/>
                  </a:lnTo>
                  <a:lnTo>
                    <a:pt x="36" y="579"/>
                  </a:lnTo>
                  <a:lnTo>
                    <a:pt x="36" y="588"/>
                  </a:lnTo>
                  <a:lnTo>
                    <a:pt x="36" y="596"/>
                  </a:lnTo>
                  <a:lnTo>
                    <a:pt x="36" y="604"/>
                  </a:lnTo>
                  <a:lnTo>
                    <a:pt x="36" y="612"/>
                  </a:lnTo>
                  <a:lnTo>
                    <a:pt x="36" y="618"/>
                  </a:lnTo>
                  <a:lnTo>
                    <a:pt x="37" y="625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27" name="Freeform 95"/>
            <p:cNvSpPr>
              <a:spLocks/>
            </p:cNvSpPr>
            <p:nvPr/>
          </p:nvSpPr>
          <p:spPr bwMode="auto">
            <a:xfrm>
              <a:off x="3555" y="630"/>
              <a:ext cx="37" cy="335"/>
            </a:xfrm>
            <a:custGeom>
              <a:avLst/>
              <a:gdLst>
                <a:gd name="T0" fmla="*/ 0 w 37"/>
                <a:gd name="T1" fmla="*/ 664 h 670"/>
                <a:gd name="T2" fmla="*/ 0 w 37"/>
                <a:gd name="T3" fmla="*/ 651 h 670"/>
                <a:gd name="T4" fmla="*/ 0 w 37"/>
                <a:gd name="T5" fmla="*/ 635 h 670"/>
                <a:gd name="T6" fmla="*/ 0 w 37"/>
                <a:gd name="T7" fmla="*/ 617 h 670"/>
                <a:gd name="T8" fmla="*/ 1 w 37"/>
                <a:gd name="T9" fmla="*/ 597 h 670"/>
                <a:gd name="T10" fmla="*/ 1 w 37"/>
                <a:gd name="T11" fmla="*/ 565 h 670"/>
                <a:gd name="T12" fmla="*/ 2 w 37"/>
                <a:gd name="T13" fmla="*/ 517 h 670"/>
                <a:gd name="T14" fmla="*/ 2 w 37"/>
                <a:gd name="T15" fmla="*/ 468 h 670"/>
                <a:gd name="T16" fmla="*/ 4 w 37"/>
                <a:gd name="T17" fmla="*/ 420 h 670"/>
                <a:gd name="T18" fmla="*/ 5 w 37"/>
                <a:gd name="T19" fmla="*/ 376 h 670"/>
                <a:gd name="T20" fmla="*/ 5 w 37"/>
                <a:gd name="T21" fmla="*/ 355 h 670"/>
                <a:gd name="T22" fmla="*/ 6 w 37"/>
                <a:gd name="T23" fmla="*/ 335 h 670"/>
                <a:gd name="T24" fmla="*/ 7 w 37"/>
                <a:gd name="T25" fmla="*/ 265 h 670"/>
                <a:gd name="T26" fmla="*/ 7 w 37"/>
                <a:gd name="T27" fmla="*/ 233 h 670"/>
                <a:gd name="T28" fmla="*/ 9 w 37"/>
                <a:gd name="T29" fmla="*/ 200 h 670"/>
                <a:gd name="T30" fmla="*/ 10 w 37"/>
                <a:gd name="T31" fmla="*/ 170 h 670"/>
                <a:gd name="T32" fmla="*/ 10 w 37"/>
                <a:gd name="T33" fmla="*/ 143 h 670"/>
                <a:gd name="T34" fmla="*/ 11 w 37"/>
                <a:gd name="T35" fmla="*/ 118 h 670"/>
                <a:gd name="T36" fmla="*/ 12 w 37"/>
                <a:gd name="T37" fmla="*/ 96 h 670"/>
                <a:gd name="T38" fmla="*/ 12 w 37"/>
                <a:gd name="T39" fmla="*/ 75 h 670"/>
                <a:gd name="T40" fmla="*/ 13 w 37"/>
                <a:gd name="T41" fmla="*/ 57 h 670"/>
                <a:gd name="T42" fmla="*/ 13 w 37"/>
                <a:gd name="T43" fmla="*/ 41 h 670"/>
                <a:gd name="T44" fmla="*/ 15 w 37"/>
                <a:gd name="T45" fmla="*/ 26 h 670"/>
                <a:gd name="T46" fmla="*/ 16 w 37"/>
                <a:gd name="T47" fmla="*/ 15 h 670"/>
                <a:gd name="T48" fmla="*/ 16 w 37"/>
                <a:gd name="T49" fmla="*/ 6 h 670"/>
                <a:gd name="T50" fmla="*/ 17 w 37"/>
                <a:gd name="T51" fmla="*/ 2 h 670"/>
                <a:gd name="T52" fmla="*/ 18 w 37"/>
                <a:gd name="T53" fmla="*/ 0 h 670"/>
                <a:gd name="T54" fmla="*/ 18 w 37"/>
                <a:gd name="T55" fmla="*/ 2 h 670"/>
                <a:gd name="T56" fmla="*/ 20 w 37"/>
                <a:gd name="T57" fmla="*/ 6 h 670"/>
                <a:gd name="T58" fmla="*/ 20 w 37"/>
                <a:gd name="T59" fmla="*/ 15 h 670"/>
                <a:gd name="T60" fmla="*/ 21 w 37"/>
                <a:gd name="T61" fmla="*/ 27 h 670"/>
                <a:gd name="T62" fmla="*/ 22 w 37"/>
                <a:gd name="T63" fmla="*/ 41 h 670"/>
                <a:gd name="T64" fmla="*/ 22 w 37"/>
                <a:gd name="T65" fmla="*/ 57 h 670"/>
                <a:gd name="T66" fmla="*/ 23 w 37"/>
                <a:gd name="T67" fmla="*/ 75 h 670"/>
                <a:gd name="T68" fmla="*/ 25 w 37"/>
                <a:gd name="T69" fmla="*/ 96 h 670"/>
                <a:gd name="T70" fmla="*/ 25 w 37"/>
                <a:gd name="T71" fmla="*/ 118 h 670"/>
                <a:gd name="T72" fmla="*/ 26 w 37"/>
                <a:gd name="T73" fmla="*/ 143 h 670"/>
                <a:gd name="T74" fmla="*/ 27 w 37"/>
                <a:gd name="T75" fmla="*/ 170 h 670"/>
                <a:gd name="T76" fmla="*/ 28 w 37"/>
                <a:gd name="T77" fmla="*/ 200 h 670"/>
                <a:gd name="T78" fmla="*/ 29 w 37"/>
                <a:gd name="T79" fmla="*/ 231 h 670"/>
                <a:gd name="T80" fmla="*/ 29 w 37"/>
                <a:gd name="T81" fmla="*/ 265 h 670"/>
                <a:gd name="T82" fmla="*/ 32 w 37"/>
                <a:gd name="T83" fmla="*/ 335 h 670"/>
                <a:gd name="T84" fmla="*/ 32 w 37"/>
                <a:gd name="T85" fmla="*/ 353 h 670"/>
                <a:gd name="T86" fmla="*/ 33 w 37"/>
                <a:gd name="T87" fmla="*/ 395 h 670"/>
                <a:gd name="T88" fmla="*/ 33 w 37"/>
                <a:gd name="T89" fmla="*/ 441 h 670"/>
                <a:gd name="T90" fmla="*/ 34 w 37"/>
                <a:gd name="T91" fmla="*/ 512 h 670"/>
                <a:gd name="T92" fmla="*/ 34 w 37"/>
                <a:gd name="T93" fmla="*/ 559 h 670"/>
                <a:gd name="T94" fmla="*/ 36 w 37"/>
                <a:gd name="T95" fmla="*/ 602 h 670"/>
                <a:gd name="T96" fmla="*/ 36 w 37"/>
                <a:gd name="T97" fmla="*/ 621 h 670"/>
                <a:gd name="T98" fmla="*/ 36 w 37"/>
                <a:gd name="T99" fmla="*/ 639 h 670"/>
                <a:gd name="T100" fmla="*/ 36 w 37"/>
                <a:gd name="T101" fmla="*/ 655 h 670"/>
                <a:gd name="T102" fmla="*/ 37 w 37"/>
                <a:gd name="T103" fmla="*/ 67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7" h="670">
                  <a:moveTo>
                    <a:pt x="0" y="670"/>
                  </a:moveTo>
                  <a:lnTo>
                    <a:pt x="0" y="664"/>
                  </a:lnTo>
                  <a:lnTo>
                    <a:pt x="0" y="658"/>
                  </a:lnTo>
                  <a:lnTo>
                    <a:pt x="0" y="651"/>
                  </a:lnTo>
                  <a:lnTo>
                    <a:pt x="0" y="643"/>
                  </a:lnTo>
                  <a:lnTo>
                    <a:pt x="0" y="635"/>
                  </a:lnTo>
                  <a:lnTo>
                    <a:pt x="0" y="627"/>
                  </a:lnTo>
                  <a:lnTo>
                    <a:pt x="0" y="617"/>
                  </a:lnTo>
                  <a:lnTo>
                    <a:pt x="0" y="608"/>
                  </a:lnTo>
                  <a:lnTo>
                    <a:pt x="1" y="597"/>
                  </a:lnTo>
                  <a:lnTo>
                    <a:pt x="1" y="587"/>
                  </a:lnTo>
                  <a:lnTo>
                    <a:pt x="1" y="565"/>
                  </a:lnTo>
                  <a:lnTo>
                    <a:pt x="1" y="542"/>
                  </a:lnTo>
                  <a:lnTo>
                    <a:pt x="2" y="517"/>
                  </a:lnTo>
                  <a:lnTo>
                    <a:pt x="2" y="493"/>
                  </a:lnTo>
                  <a:lnTo>
                    <a:pt x="2" y="468"/>
                  </a:lnTo>
                  <a:lnTo>
                    <a:pt x="4" y="444"/>
                  </a:lnTo>
                  <a:lnTo>
                    <a:pt x="4" y="420"/>
                  </a:lnTo>
                  <a:lnTo>
                    <a:pt x="5" y="396"/>
                  </a:lnTo>
                  <a:lnTo>
                    <a:pt x="5" y="376"/>
                  </a:lnTo>
                  <a:lnTo>
                    <a:pt x="5" y="364"/>
                  </a:lnTo>
                  <a:lnTo>
                    <a:pt x="5" y="355"/>
                  </a:lnTo>
                  <a:lnTo>
                    <a:pt x="5" y="344"/>
                  </a:lnTo>
                  <a:lnTo>
                    <a:pt x="6" y="335"/>
                  </a:lnTo>
                  <a:lnTo>
                    <a:pt x="6" y="300"/>
                  </a:lnTo>
                  <a:lnTo>
                    <a:pt x="7" y="265"/>
                  </a:lnTo>
                  <a:lnTo>
                    <a:pt x="7" y="249"/>
                  </a:lnTo>
                  <a:lnTo>
                    <a:pt x="7" y="233"/>
                  </a:lnTo>
                  <a:lnTo>
                    <a:pt x="9" y="216"/>
                  </a:lnTo>
                  <a:lnTo>
                    <a:pt x="9" y="200"/>
                  </a:lnTo>
                  <a:lnTo>
                    <a:pt x="9" y="185"/>
                  </a:lnTo>
                  <a:lnTo>
                    <a:pt x="10" y="170"/>
                  </a:lnTo>
                  <a:lnTo>
                    <a:pt x="10" y="157"/>
                  </a:lnTo>
                  <a:lnTo>
                    <a:pt x="10" y="143"/>
                  </a:lnTo>
                  <a:lnTo>
                    <a:pt x="11" y="130"/>
                  </a:lnTo>
                  <a:lnTo>
                    <a:pt x="11" y="118"/>
                  </a:lnTo>
                  <a:lnTo>
                    <a:pt x="11" y="106"/>
                  </a:lnTo>
                  <a:lnTo>
                    <a:pt x="12" y="96"/>
                  </a:lnTo>
                  <a:lnTo>
                    <a:pt x="12" y="85"/>
                  </a:lnTo>
                  <a:lnTo>
                    <a:pt x="12" y="75"/>
                  </a:lnTo>
                  <a:lnTo>
                    <a:pt x="12" y="66"/>
                  </a:lnTo>
                  <a:lnTo>
                    <a:pt x="13" y="57"/>
                  </a:lnTo>
                  <a:lnTo>
                    <a:pt x="13" y="48"/>
                  </a:lnTo>
                  <a:lnTo>
                    <a:pt x="13" y="41"/>
                  </a:lnTo>
                  <a:lnTo>
                    <a:pt x="15" y="33"/>
                  </a:lnTo>
                  <a:lnTo>
                    <a:pt x="15" y="26"/>
                  </a:lnTo>
                  <a:lnTo>
                    <a:pt x="15" y="20"/>
                  </a:lnTo>
                  <a:lnTo>
                    <a:pt x="16" y="15"/>
                  </a:lnTo>
                  <a:lnTo>
                    <a:pt x="16" y="11"/>
                  </a:lnTo>
                  <a:lnTo>
                    <a:pt x="16" y="6"/>
                  </a:lnTo>
                  <a:lnTo>
                    <a:pt x="17" y="3"/>
                  </a:lnTo>
                  <a:lnTo>
                    <a:pt x="17" y="2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2"/>
                  </a:lnTo>
                  <a:lnTo>
                    <a:pt x="18" y="3"/>
                  </a:lnTo>
                  <a:lnTo>
                    <a:pt x="20" y="6"/>
                  </a:lnTo>
                  <a:lnTo>
                    <a:pt x="20" y="11"/>
                  </a:lnTo>
                  <a:lnTo>
                    <a:pt x="20" y="15"/>
                  </a:lnTo>
                  <a:lnTo>
                    <a:pt x="21" y="21"/>
                  </a:lnTo>
                  <a:lnTo>
                    <a:pt x="21" y="27"/>
                  </a:lnTo>
                  <a:lnTo>
                    <a:pt x="21" y="33"/>
                  </a:lnTo>
                  <a:lnTo>
                    <a:pt x="22" y="41"/>
                  </a:lnTo>
                  <a:lnTo>
                    <a:pt x="22" y="48"/>
                  </a:lnTo>
                  <a:lnTo>
                    <a:pt x="22" y="57"/>
                  </a:lnTo>
                  <a:lnTo>
                    <a:pt x="23" y="66"/>
                  </a:lnTo>
                  <a:lnTo>
                    <a:pt x="23" y="75"/>
                  </a:lnTo>
                  <a:lnTo>
                    <a:pt x="23" y="85"/>
                  </a:lnTo>
                  <a:lnTo>
                    <a:pt x="25" y="96"/>
                  </a:lnTo>
                  <a:lnTo>
                    <a:pt x="25" y="106"/>
                  </a:lnTo>
                  <a:lnTo>
                    <a:pt x="25" y="118"/>
                  </a:lnTo>
                  <a:lnTo>
                    <a:pt x="26" y="130"/>
                  </a:lnTo>
                  <a:lnTo>
                    <a:pt x="26" y="143"/>
                  </a:lnTo>
                  <a:lnTo>
                    <a:pt x="26" y="157"/>
                  </a:lnTo>
                  <a:lnTo>
                    <a:pt x="27" y="170"/>
                  </a:lnTo>
                  <a:lnTo>
                    <a:pt x="27" y="185"/>
                  </a:lnTo>
                  <a:lnTo>
                    <a:pt x="28" y="200"/>
                  </a:lnTo>
                  <a:lnTo>
                    <a:pt x="28" y="216"/>
                  </a:lnTo>
                  <a:lnTo>
                    <a:pt x="29" y="231"/>
                  </a:lnTo>
                  <a:lnTo>
                    <a:pt x="29" y="247"/>
                  </a:lnTo>
                  <a:lnTo>
                    <a:pt x="29" y="265"/>
                  </a:lnTo>
                  <a:lnTo>
                    <a:pt x="31" y="300"/>
                  </a:lnTo>
                  <a:lnTo>
                    <a:pt x="32" y="335"/>
                  </a:lnTo>
                  <a:lnTo>
                    <a:pt x="32" y="344"/>
                  </a:lnTo>
                  <a:lnTo>
                    <a:pt x="32" y="353"/>
                  </a:lnTo>
                  <a:lnTo>
                    <a:pt x="32" y="374"/>
                  </a:lnTo>
                  <a:lnTo>
                    <a:pt x="33" y="395"/>
                  </a:lnTo>
                  <a:lnTo>
                    <a:pt x="33" y="417"/>
                  </a:lnTo>
                  <a:lnTo>
                    <a:pt x="33" y="441"/>
                  </a:lnTo>
                  <a:lnTo>
                    <a:pt x="34" y="465"/>
                  </a:lnTo>
                  <a:lnTo>
                    <a:pt x="34" y="512"/>
                  </a:lnTo>
                  <a:lnTo>
                    <a:pt x="34" y="535"/>
                  </a:lnTo>
                  <a:lnTo>
                    <a:pt x="34" y="559"/>
                  </a:lnTo>
                  <a:lnTo>
                    <a:pt x="36" y="581"/>
                  </a:lnTo>
                  <a:lnTo>
                    <a:pt x="36" y="602"/>
                  </a:lnTo>
                  <a:lnTo>
                    <a:pt x="36" y="611"/>
                  </a:lnTo>
                  <a:lnTo>
                    <a:pt x="36" y="621"/>
                  </a:lnTo>
                  <a:lnTo>
                    <a:pt x="36" y="630"/>
                  </a:lnTo>
                  <a:lnTo>
                    <a:pt x="36" y="639"/>
                  </a:lnTo>
                  <a:lnTo>
                    <a:pt x="36" y="648"/>
                  </a:lnTo>
                  <a:lnTo>
                    <a:pt x="36" y="655"/>
                  </a:lnTo>
                  <a:lnTo>
                    <a:pt x="36" y="663"/>
                  </a:lnTo>
                  <a:lnTo>
                    <a:pt x="37" y="67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28" name="Freeform 96"/>
            <p:cNvSpPr>
              <a:spLocks/>
            </p:cNvSpPr>
            <p:nvPr/>
          </p:nvSpPr>
          <p:spPr bwMode="auto">
            <a:xfrm>
              <a:off x="3629" y="674"/>
              <a:ext cx="36" cy="291"/>
            </a:xfrm>
            <a:custGeom>
              <a:avLst/>
              <a:gdLst>
                <a:gd name="T0" fmla="*/ 0 w 36"/>
                <a:gd name="T1" fmla="*/ 574 h 580"/>
                <a:gd name="T2" fmla="*/ 0 w 36"/>
                <a:gd name="T3" fmla="*/ 564 h 580"/>
                <a:gd name="T4" fmla="*/ 0 w 36"/>
                <a:gd name="T5" fmla="*/ 549 h 580"/>
                <a:gd name="T6" fmla="*/ 0 w 36"/>
                <a:gd name="T7" fmla="*/ 534 h 580"/>
                <a:gd name="T8" fmla="*/ 1 w 36"/>
                <a:gd name="T9" fmla="*/ 516 h 580"/>
                <a:gd name="T10" fmla="*/ 1 w 36"/>
                <a:gd name="T11" fmla="*/ 488 h 580"/>
                <a:gd name="T12" fmla="*/ 2 w 36"/>
                <a:gd name="T13" fmla="*/ 448 h 580"/>
                <a:gd name="T14" fmla="*/ 2 w 36"/>
                <a:gd name="T15" fmla="*/ 405 h 580"/>
                <a:gd name="T16" fmla="*/ 3 w 36"/>
                <a:gd name="T17" fmla="*/ 363 h 580"/>
                <a:gd name="T18" fmla="*/ 4 w 36"/>
                <a:gd name="T19" fmla="*/ 324 h 580"/>
                <a:gd name="T20" fmla="*/ 4 w 36"/>
                <a:gd name="T21" fmla="*/ 306 h 580"/>
                <a:gd name="T22" fmla="*/ 6 w 36"/>
                <a:gd name="T23" fmla="*/ 290 h 580"/>
                <a:gd name="T24" fmla="*/ 7 w 36"/>
                <a:gd name="T25" fmla="*/ 229 h 580"/>
                <a:gd name="T26" fmla="*/ 8 w 36"/>
                <a:gd name="T27" fmla="*/ 186 h 580"/>
                <a:gd name="T28" fmla="*/ 8 w 36"/>
                <a:gd name="T29" fmla="*/ 160 h 580"/>
                <a:gd name="T30" fmla="*/ 9 w 36"/>
                <a:gd name="T31" fmla="*/ 135 h 580"/>
                <a:gd name="T32" fmla="*/ 11 w 36"/>
                <a:gd name="T33" fmla="*/ 111 h 580"/>
                <a:gd name="T34" fmla="*/ 11 w 36"/>
                <a:gd name="T35" fmla="*/ 90 h 580"/>
                <a:gd name="T36" fmla="*/ 12 w 36"/>
                <a:gd name="T37" fmla="*/ 73 h 580"/>
                <a:gd name="T38" fmla="*/ 12 w 36"/>
                <a:gd name="T39" fmla="*/ 56 h 580"/>
                <a:gd name="T40" fmla="*/ 13 w 36"/>
                <a:gd name="T41" fmla="*/ 41 h 580"/>
                <a:gd name="T42" fmla="*/ 14 w 36"/>
                <a:gd name="T43" fmla="*/ 28 h 580"/>
                <a:gd name="T44" fmla="*/ 14 w 36"/>
                <a:gd name="T45" fmla="*/ 18 h 580"/>
                <a:gd name="T46" fmla="*/ 16 w 36"/>
                <a:gd name="T47" fmla="*/ 9 h 580"/>
                <a:gd name="T48" fmla="*/ 17 w 36"/>
                <a:gd name="T49" fmla="*/ 3 h 580"/>
                <a:gd name="T50" fmla="*/ 17 w 36"/>
                <a:gd name="T51" fmla="*/ 0 h 580"/>
                <a:gd name="T52" fmla="*/ 18 w 36"/>
                <a:gd name="T53" fmla="*/ 0 h 580"/>
                <a:gd name="T54" fmla="*/ 18 w 36"/>
                <a:gd name="T55" fmla="*/ 3 h 580"/>
                <a:gd name="T56" fmla="*/ 19 w 36"/>
                <a:gd name="T57" fmla="*/ 9 h 580"/>
                <a:gd name="T58" fmla="*/ 20 w 36"/>
                <a:gd name="T59" fmla="*/ 18 h 580"/>
                <a:gd name="T60" fmla="*/ 20 w 36"/>
                <a:gd name="T61" fmla="*/ 28 h 580"/>
                <a:gd name="T62" fmla="*/ 22 w 36"/>
                <a:gd name="T63" fmla="*/ 41 h 580"/>
                <a:gd name="T64" fmla="*/ 23 w 36"/>
                <a:gd name="T65" fmla="*/ 56 h 580"/>
                <a:gd name="T66" fmla="*/ 23 w 36"/>
                <a:gd name="T67" fmla="*/ 73 h 580"/>
                <a:gd name="T68" fmla="*/ 24 w 36"/>
                <a:gd name="T69" fmla="*/ 90 h 580"/>
                <a:gd name="T70" fmla="*/ 25 w 36"/>
                <a:gd name="T71" fmla="*/ 111 h 580"/>
                <a:gd name="T72" fmla="*/ 25 w 36"/>
                <a:gd name="T73" fmla="*/ 135 h 580"/>
                <a:gd name="T74" fmla="*/ 27 w 36"/>
                <a:gd name="T75" fmla="*/ 159 h 580"/>
                <a:gd name="T76" fmla="*/ 28 w 36"/>
                <a:gd name="T77" fmla="*/ 186 h 580"/>
                <a:gd name="T78" fmla="*/ 29 w 36"/>
                <a:gd name="T79" fmla="*/ 229 h 580"/>
                <a:gd name="T80" fmla="*/ 31 w 36"/>
                <a:gd name="T81" fmla="*/ 290 h 580"/>
                <a:gd name="T82" fmla="*/ 31 w 36"/>
                <a:gd name="T83" fmla="*/ 305 h 580"/>
                <a:gd name="T84" fmla="*/ 33 w 36"/>
                <a:gd name="T85" fmla="*/ 342 h 580"/>
                <a:gd name="T86" fmla="*/ 33 w 36"/>
                <a:gd name="T87" fmla="*/ 381 h 580"/>
                <a:gd name="T88" fmla="*/ 34 w 36"/>
                <a:gd name="T89" fmla="*/ 443 h 580"/>
                <a:gd name="T90" fmla="*/ 34 w 36"/>
                <a:gd name="T91" fmla="*/ 484 h 580"/>
                <a:gd name="T92" fmla="*/ 35 w 36"/>
                <a:gd name="T93" fmla="*/ 521 h 580"/>
                <a:gd name="T94" fmla="*/ 35 w 36"/>
                <a:gd name="T95" fmla="*/ 546 h 580"/>
                <a:gd name="T96" fmla="*/ 35 w 36"/>
                <a:gd name="T97" fmla="*/ 561 h 580"/>
                <a:gd name="T98" fmla="*/ 35 w 36"/>
                <a:gd name="T99" fmla="*/ 574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" h="580">
                  <a:moveTo>
                    <a:pt x="0" y="580"/>
                  </a:moveTo>
                  <a:lnTo>
                    <a:pt x="0" y="574"/>
                  </a:lnTo>
                  <a:lnTo>
                    <a:pt x="0" y="570"/>
                  </a:lnTo>
                  <a:lnTo>
                    <a:pt x="0" y="564"/>
                  </a:lnTo>
                  <a:lnTo>
                    <a:pt x="0" y="556"/>
                  </a:lnTo>
                  <a:lnTo>
                    <a:pt x="0" y="549"/>
                  </a:lnTo>
                  <a:lnTo>
                    <a:pt x="0" y="542"/>
                  </a:lnTo>
                  <a:lnTo>
                    <a:pt x="0" y="534"/>
                  </a:lnTo>
                  <a:lnTo>
                    <a:pt x="0" y="525"/>
                  </a:lnTo>
                  <a:lnTo>
                    <a:pt x="1" y="516"/>
                  </a:lnTo>
                  <a:lnTo>
                    <a:pt x="1" y="507"/>
                  </a:lnTo>
                  <a:lnTo>
                    <a:pt x="1" y="488"/>
                  </a:lnTo>
                  <a:lnTo>
                    <a:pt x="1" y="469"/>
                  </a:lnTo>
                  <a:lnTo>
                    <a:pt x="2" y="448"/>
                  </a:lnTo>
                  <a:lnTo>
                    <a:pt x="2" y="427"/>
                  </a:lnTo>
                  <a:lnTo>
                    <a:pt x="2" y="405"/>
                  </a:lnTo>
                  <a:lnTo>
                    <a:pt x="3" y="384"/>
                  </a:lnTo>
                  <a:lnTo>
                    <a:pt x="3" y="363"/>
                  </a:lnTo>
                  <a:lnTo>
                    <a:pt x="4" y="344"/>
                  </a:lnTo>
                  <a:lnTo>
                    <a:pt x="4" y="324"/>
                  </a:lnTo>
                  <a:lnTo>
                    <a:pt x="4" y="315"/>
                  </a:lnTo>
                  <a:lnTo>
                    <a:pt x="4" y="306"/>
                  </a:lnTo>
                  <a:lnTo>
                    <a:pt x="4" y="297"/>
                  </a:lnTo>
                  <a:lnTo>
                    <a:pt x="6" y="290"/>
                  </a:lnTo>
                  <a:lnTo>
                    <a:pt x="6" y="259"/>
                  </a:lnTo>
                  <a:lnTo>
                    <a:pt x="7" y="229"/>
                  </a:lnTo>
                  <a:lnTo>
                    <a:pt x="7" y="201"/>
                  </a:lnTo>
                  <a:lnTo>
                    <a:pt x="8" y="186"/>
                  </a:lnTo>
                  <a:lnTo>
                    <a:pt x="8" y="172"/>
                  </a:lnTo>
                  <a:lnTo>
                    <a:pt x="8" y="160"/>
                  </a:lnTo>
                  <a:lnTo>
                    <a:pt x="9" y="147"/>
                  </a:lnTo>
                  <a:lnTo>
                    <a:pt x="9" y="135"/>
                  </a:lnTo>
                  <a:lnTo>
                    <a:pt x="9" y="123"/>
                  </a:lnTo>
                  <a:lnTo>
                    <a:pt x="11" y="111"/>
                  </a:lnTo>
                  <a:lnTo>
                    <a:pt x="11" y="101"/>
                  </a:lnTo>
                  <a:lnTo>
                    <a:pt x="11" y="90"/>
                  </a:lnTo>
                  <a:lnTo>
                    <a:pt x="12" y="82"/>
                  </a:lnTo>
                  <a:lnTo>
                    <a:pt x="12" y="73"/>
                  </a:lnTo>
                  <a:lnTo>
                    <a:pt x="12" y="64"/>
                  </a:lnTo>
                  <a:lnTo>
                    <a:pt x="12" y="56"/>
                  </a:lnTo>
                  <a:lnTo>
                    <a:pt x="13" y="49"/>
                  </a:lnTo>
                  <a:lnTo>
                    <a:pt x="13" y="41"/>
                  </a:lnTo>
                  <a:lnTo>
                    <a:pt x="13" y="34"/>
                  </a:lnTo>
                  <a:lnTo>
                    <a:pt x="14" y="28"/>
                  </a:lnTo>
                  <a:lnTo>
                    <a:pt x="14" y="22"/>
                  </a:lnTo>
                  <a:lnTo>
                    <a:pt x="14" y="18"/>
                  </a:lnTo>
                  <a:lnTo>
                    <a:pt x="16" y="12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7" y="3"/>
                  </a:lnTo>
                  <a:lnTo>
                    <a:pt x="17" y="1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1"/>
                  </a:lnTo>
                  <a:lnTo>
                    <a:pt x="18" y="3"/>
                  </a:lnTo>
                  <a:lnTo>
                    <a:pt x="19" y="6"/>
                  </a:lnTo>
                  <a:lnTo>
                    <a:pt x="19" y="9"/>
                  </a:lnTo>
                  <a:lnTo>
                    <a:pt x="19" y="13"/>
                  </a:lnTo>
                  <a:lnTo>
                    <a:pt x="20" y="18"/>
                  </a:lnTo>
                  <a:lnTo>
                    <a:pt x="20" y="22"/>
                  </a:lnTo>
                  <a:lnTo>
                    <a:pt x="20" y="28"/>
                  </a:lnTo>
                  <a:lnTo>
                    <a:pt x="22" y="34"/>
                  </a:lnTo>
                  <a:lnTo>
                    <a:pt x="22" y="41"/>
                  </a:lnTo>
                  <a:lnTo>
                    <a:pt x="22" y="49"/>
                  </a:lnTo>
                  <a:lnTo>
                    <a:pt x="23" y="56"/>
                  </a:lnTo>
                  <a:lnTo>
                    <a:pt x="23" y="64"/>
                  </a:lnTo>
                  <a:lnTo>
                    <a:pt x="23" y="73"/>
                  </a:lnTo>
                  <a:lnTo>
                    <a:pt x="24" y="82"/>
                  </a:lnTo>
                  <a:lnTo>
                    <a:pt x="24" y="90"/>
                  </a:lnTo>
                  <a:lnTo>
                    <a:pt x="24" y="101"/>
                  </a:lnTo>
                  <a:lnTo>
                    <a:pt x="25" y="111"/>
                  </a:lnTo>
                  <a:lnTo>
                    <a:pt x="25" y="123"/>
                  </a:lnTo>
                  <a:lnTo>
                    <a:pt x="25" y="135"/>
                  </a:lnTo>
                  <a:lnTo>
                    <a:pt x="27" y="147"/>
                  </a:lnTo>
                  <a:lnTo>
                    <a:pt x="27" y="159"/>
                  </a:lnTo>
                  <a:lnTo>
                    <a:pt x="28" y="172"/>
                  </a:lnTo>
                  <a:lnTo>
                    <a:pt x="28" y="186"/>
                  </a:lnTo>
                  <a:lnTo>
                    <a:pt x="29" y="201"/>
                  </a:lnTo>
                  <a:lnTo>
                    <a:pt x="29" y="229"/>
                  </a:lnTo>
                  <a:lnTo>
                    <a:pt x="30" y="259"/>
                  </a:lnTo>
                  <a:lnTo>
                    <a:pt x="31" y="290"/>
                  </a:lnTo>
                  <a:lnTo>
                    <a:pt x="31" y="297"/>
                  </a:lnTo>
                  <a:lnTo>
                    <a:pt x="31" y="305"/>
                  </a:lnTo>
                  <a:lnTo>
                    <a:pt x="31" y="323"/>
                  </a:lnTo>
                  <a:lnTo>
                    <a:pt x="33" y="342"/>
                  </a:lnTo>
                  <a:lnTo>
                    <a:pt x="33" y="361"/>
                  </a:lnTo>
                  <a:lnTo>
                    <a:pt x="33" y="381"/>
                  </a:lnTo>
                  <a:lnTo>
                    <a:pt x="34" y="402"/>
                  </a:lnTo>
                  <a:lnTo>
                    <a:pt x="34" y="443"/>
                  </a:lnTo>
                  <a:lnTo>
                    <a:pt x="34" y="463"/>
                  </a:lnTo>
                  <a:lnTo>
                    <a:pt x="34" y="484"/>
                  </a:lnTo>
                  <a:lnTo>
                    <a:pt x="35" y="503"/>
                  </a:lnTo>
                  <a:lnTo>
                    <a:pt x="35" y="521"/>
                  </a:lnTo>
                  <a:lnTo>
                    <a:pt x="35" y="537"/>
                  </a:lnTo>
                  <a:lnTo>
                    <a:pt x="35" y="546"/>
                  </a:lnTo>
                  <a:lnTo>
                    <a:pt x="35" y="553"/>
                  </a:lnTo>
                  <a:lnTo>
                    <a:pt x="35" y="561"/>
                  </a:lnTo>
                  <a:lnTo>
                    <a:pt x="35" y="567"/>
                  </a:lnTo>
                  <a:lnTo>
                    <a:pt x="35" y="574"/>
                  </a:lnTo>
                  <a:lnTo>
                    <a:pt x="36" y="58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29" name="Freeform 97"/>
            <p:cNvSpPr>
              <a:spLocks/>
            </p:cNvSpPr>
            <p:nvPr/>
          </p:nvSpPr>
          <p:spPr bwMode="auto">
            <a:xfrm>
              <a:off x="3702" y="652"/>
              <a:ext cx="37" cy="313"/>
            </a:xfrm>
            <a:custGeom>
              <a:avLst/>
              <a:gdLst>
                <a:gd name="T0" fmla="*/ 0 w 37"/>
                <a:gd name="T1" fmla="*/ 619 h 625"/>
                <a:gd name="T2" fmla="*/ 0 w 37"/>
                <a:gd name="T3" fmla="*/ 607 h 625"/>
                <a:gd name="T4" fmla="*/ 0 w 37"/>
                <a:gd name="T5" fmla="*/ 593 h 625"/>
                <a:gd name="T6" fmla="*/ 0 w 37"/>
                <a:gd name="T7" fmla="*/ 576 h 625"/>
                <a:gd name="T8" fmla="*/ 1 w 37"/>
                <a:gd name="T9" fmla="*/ 557 h 625"/>
                <a:gd name="T10" fmla="*/ 1 w 37"/>
                <a:gd name="T11" fmla="*/ 527 h 625"/>
                <a:gd name="T12" fmla="*/ 3 w 37"/>
                <a:gd name="T13" fmla="*/ 482 h 625"/>
                <a:gd name="T14" fmla="*/ 3 w 37"/>
                <a:gd name="T15" fmla="*/ 438 h 625"/>
                <a:gd name="T16" fmla="*/ 4 w 37"/>
                <a:gd name="T17" fmla="*/ 392 h 625"/>
                <a:gd name="T18" fmla="*/ 5 w 37"/>
                <a:gd name="T19" fmla="*/ 350 h 625"/>
                <a:gd name="T20" fmla="*/ 5 w 37"/>
                <a:gd name="T21" fmla="*/ 331 h 625"/>
                <a:gd name="T22" fmla="*/ 6 w 37"/>
                <a:gd name="T23" fmla="*/ 313 h 625"/>
                <a:gd name="T24" fmla="*/ 7 w 37"/>
                <a:gd name="T25" fmla="*/ 247 h 625"/>
                <a:gd name="T26" fmla="*/ 9 w 37"/>
                <a:gd name="T27" fmla="*/ 201 h 625"/>
                <a:gd name="T28" fmla="*/ 9 w 37"/>
                <a:gd name="T29" fmla="*/ 173 h 625"/>
                <a:gd name="T30" fmla="*/ 10 w 37"/>
                <a:gd name="T31" fmla="*/ 146 h 625"/>
                <a:gd name="T32" fmla="*/ 11 w 37"/>
                <a:gd name="T33" fmla="*/ 121 h 625"/>
                <a:gd name="T34" fmla="*/ 11 w 37"/>
                <a:gd name="T35" fmla="*/ 98 h 625"/>
                <a:gd name="T36" fmla="*/ 12 w 37"/>
                <a:gd name="T37" fmla="*/ 79 h 625"/>
                <a:gd name="T38" fmla="*/ 12 w 37"/>
                <a:gd name="T39" fmla="*/ 61 h 625"/>
                <a:gd name="T40" fmla="*/ 14 w 37"/>
                <a:gd name="T41" fmla="*/ 45 h 625"/>
                <a:gd name="T42" fmla="*/ 15 w 37"/>
                <a:gd name="T43" fmla="*/ 30 h 625"/>
                <a:gd name="T44" fmla="*/ 15 w 37"/>
                <a:gd name="T45" fmla="*/ 18 h 625"/>
                <a:gd name="T46" fmla="*/ 16 w 37"/>
                <a:gd name="T47" fmla="*/ 9 h 625"/>
                <a:gd name="T48" fmla="*/ 17 w 37"/>
                <a:gd name="T49" fmla="*/ 3 h 625"/>
                <a:gd name="T50" fmla="*/ 17 w 37"/>
                <a:gd name="T51" fmla="*/ 0 h 625"/>
                <a:gd name="T52" fmla="*/ 19 w 37"/>
                <a:gd name="T53" fmla="*/ 0 h 625"/>
                <a:gd name="T54" fmla="*/ 19 w 37"/>
                <a:gd name="T55" fmla="*/ 3 h 625"/>
                <a:gd name="T56" fmla="*/ 20 w 37"/>
                <a:gd name="T57" fmla="*/ 9 h 625"/>
                <a:gd name="T58" fmla="*/ 21 w 37"/>
                <a:gd name="T59" fmla="*/ 19 h 625"/>
                <a:gd name="T60" fmla="*/ 21 w 37"/>
                <a:gd name="T61" fmla="*/ 31 h 625"/>
                <a:gd name="T62" fmla="*/ 22 w 37"/>
                <a:gd name="T63" fmla="*/ 45 h 625"/>
                <a:gd name="T64" fmla="*/ 23 w 37"/>
                <a:gd name="T65" fmla="*/ 61 h 625"/>
                <a:gd name="T66" fmla="*/ 23 w 37"/>
                <a:gd name="T67" fmla="*/ 79 h 625"/>
                <a:gd name="T68" fmla="*/ 25 w 37"/>
                <a:gd name="T69" fmla="*/ 98 h 625"/>
                <a:gd name="T70" fmla="*/ 26 w 37"/>
                <a:gd name="T71" fmla="*/ 121 h 625"/>
                <a:gd name="T72" fmla="*/ 26 w 37"/>
                <a:gd name="T73" fmla="*/ 146 h 625"/>
                <a:gd name="T74" fmla="*/ 27 w 37"/>
                <a:gd name="T75" fmla="*/ 173 h 625"/>
                <a:gd name="T76" fmla="*/ 28 w 37"/>
                <a:gd name="T77" fmla="*/ 201 h 625"/>
                <a:gd name="T78" fmla="*/ 30 w 37"/>
                <a:gd name="T79" fmla="*/ 247 h 625"/>
                <a:gd name="T80" fmla="*/ 32 w 37"/>
                <a:gd name="T81" fmla="*/ 313 h 625"/>
                <a:gd name="T82" fmla="*/ 32 w 37"/>
                <a:gd name="T83" fmla="*/ 329 h 625"/>
                <a:gd name="T84" fmla="*/ 33 w 37"/>
                <a:gd name="T85" fmla="*/ 368 h 625"/>
                <a:gd name="T86" fmla="*/ 33 w 37"/>
                <a:gd name="T87" fmla="*/ 411 h 625"/>
                <a:gd name="T88" fmla="*/ 34 w 37"/>
                <a:gd name="T89" fmla="*/ 478 h 625"/>
                <a:gd name="T90" fmla="*/ 34 w 37"/>
                <a:gd name="T91" fmla="*/ 521 h 625"/>
                <a:gd name="T92" fmla="*/ 36 w 37"/>
                <a:gd name="T93" fmla="*/ 561 h 625"/>
                <a:gd name="T94" fmla="*/ 36 w 37"/>
                <a:gd name="T95" fmla="*/ 588 h 625"/>
                <a:gd name="T96" fmla="*/ 36 w 37"/>
                <a:gd name="T97" fmla="*/ 604 h 625"/>
                <a:gd name="T98" fmla="*/ 36 w 37"/>
                <a:gd name="T99" fmla="*/ 618 h 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7" h="625">
                  <a:moveTo>
                    <a:pt x="0" y="625"/>
                  </a:moveTo>
                  <a:lnTo>
                    <a:pt x="0" y="619"/>
                  </a:lnTo>
                  <a:lnTo>
                    <a:pt x="0" y="613"/>
                  </a:lnTo>
                  <a:lnTo>
                    <a:pt x="0" y="607"/>
                  </a:lnTo>
                  <a:lnTo>
                    <a:pt x="0" y="600"/>
                  </a:lnTo>
                  <a:lnTo>
                    <a:pt x="0" y="593"/>
                  </a:lnTo>
                  <a:lnTo>
                    <a:pt x="0" y="585"/>
                  </a:lnTo>
                  <a:lnTo>
                    <a:pt x="0" y="576"/>
                  </a:lnTo>
                  <a:lnTo>
                    <a:pt x="0" y="567"/>
                  </a:lnTo>
                  <a:lnTo>
                    <a:pt x="1" y="557"/>
                  </a:lnTo>
                  <a:lnTo>
                    <a:pt x="1" y="548"/>
                  </a:lnTo>
                  <a:lnTo>
                    <a:pt x="1" y="527"/>
                  </a:lnTo>
                  <a:lnTo>
                    <a:pt x="1" y="505"/>
                  </a:lnTo>
                  <a:lnTo>
                    <a:pt x="3" y="482"/>
                  </a:lnTo>
                  <a:lnTo>
                    <a:pt x="3" y="460"/>
                  </a:lnTo>
                  <a:lnTo>
                    <a:pt x="3" y="438"/>
                  </a:lnTo>
                  <a:lnTo>
                    <a:pt x="4" y="414"/>
                  </a:lnTo>
                  <a:lnTo>
                    <a:pt x="4" y="392"/>
                  </a:lnTo>
                  <a:lnTo>
                    <a:pt x="5" y="371"/>
                  </a:lnTo>
                  <a:lnTo>
                    <a:pt x="5" y="350"/>
                  </a:lnTo>
                  <a:lnTo>
                    <a:pt x="5" y="339"/>
                  </a:lnTo>
                  <a:lnTo>
                    <a:pt x="5" y="331"/>
                  </a:lnTo>
                  <a:lnTo>
                    <a:pt x="5" y="322"/>
                  </a:lnTo>
                  <a:lnTo>
                    <a:pt x="6" y="313"/>
                  </a:lnTo>
                  <a:lnTo>
                    <a:pt x="6" y="280"/>
                  </a:lnTo>
                  <a:lnTo>
                    <a:pt x="7" y="247"/>
                  </a:lnTo>
                  <a:lnTo>
                    <a:pt x="7" y="216"/>
                  </a:lnTo>
                  <a:lnTo>
                    <a:pt x="9" y="201"/>
                  </a:lnTo>
                  <a:lnTo>
                    <a:pt x="9" y="186"/>
                  </a:lnTo>
                  <a:lnTo>
                    <a:pt x="9" y="173"/>
                  </a:lnTo>
                  <a:lnTo>
                    <a:pt x="10" y="159"/>
                  </a:lnTo>
                  <a:lnTo>
                    <a:pt x="10" y="146"/>
                  </a:lnTo>
                  <a:lnTo>
                    <a:pt x="10" y="132"/>
                  </a:lnTo>
                  <a:lnTo>
                    <a:pt x="11" y="121"/>
                  </a:lnTo>
                  <a:lnTo>
                    <a:pt x="11" y="110"/>
                  </a:lnTo>
                  <a:lnTo>
                    <a:pt x="11" y="98"/>
                  </a:lnTo>
                  <a:lnTo>
                    <a:pt x="12" y="89"/>
                  </a:lnTo>
                  <a:lnTo>
                    <a:pt x="12" y="79"/>
                  </a:lnTo>
                  <a:lnTo>
                    <a:pt x="12" y="70"/>
                  </a:lnTo>
                  <a:lnTo>
                    <a:pt x="12" y="61"/>
                  </a:lnTo>
                  <a:lnTo>
                    <a:pt x="14" y="52"/>
                  </a:lnTo>
                  <a:lnTo>
                    <a:pt x="14" y="45"/>
                  </a:lnTo>
                  <a:lnTo>
                    <a:pt x="14" y="37"/>
                  </a:lnTo>
                  <a:lnTo>
                    <a:pt x="15" y="30"/>
                  </a:lnTo>
                  <a:lnTo>
                    <a:pt x="15" y="24"/>
                  </a:lnTo>
                  <a:lnTo>
                    <a:pt x="15" y="18"/>
                  </a:lnTo>
                  <a:lnTo>
                    <a:pt x="16" y="13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7" y="3"/>
                  </a:lnTo>
                  <a:lnTo>
                    <a:pt x="17" y="1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1"/>
                  </a:lnTo>
                  <a:lnTo>
                    <a:pt x="19" y="3"/>
                  </a:lnTo>
                  <a:lnTo>
                    <a:pt x="20" y="6"/>
                  </a:lnTo>
                  <a:lnTo>
                    <a:pt x="20" y="9"/>
                  </a:lnTo>
                  <a:lnTo>
                    <a:pt x="20" y="13"/>
                  </a:lnTo>
                  <a:lnTo>
                    <a:pt x="21" y="19"/>
                  </a:lnTo>
                  <a:lnTo>
                    <a:pt x="21" y="24"/>
                  </a:lnTo>
                  <a:lnTo>
                    <a:pt x="21" y="31"/>
                  </a:lnTo>
                  <a:lnTo>
                    <a:pt x="22" y="37"/>
                  </a:lnTo>
                  <a:lnTo>
                    <a:pt x="22" y="45"/>
                  </a:lnTo>
                  <a:lnTo>
                    <a:pt x="22" y="52"/>
                  </a:lnTo>
                  <a:lnTo>
                    <a:pt x="23" y="61"/>
                  </a:lnTo>
                  <a:lnTo>
                    <a:pt x="23" y="70"/>
                  </a:lnTo>
                  <a:lnTo>
                    <a:pt x="23" y="79"/>
                  </a:lnTo>
                  <a:lnTo>
                    <a:pt x="25" y="89"/>
                  </a:lnTo>
                  <a:lnTo>
                    <a:pt x="25" y="98"/>
                  </a:lnTo>
                  <a:lnTo>
                    <a:pt x="25" y="110"/>
                  </a:lnTo>
                  <a:lnTo>
                    <a:pt x="26" y="121"/>
                  </a:lnTo>
                  <a:lnTo>
                    <a:pt x="26" y="132"/>
                  </a:lnTo>
                  <a:lnTo>
                    <a:pt x="26" y="146"/>
                  </a:lnTo>
                  <a:lnTo>
                    <a:pt x="27" y="159"/>
                  </a:lnTo>
                  <a:lnTo>
                    <a:pt x="27" y="173"/>
                  </a:lnTo>
                  <a:lnTo>
                    <a:pt x="28" y="186"/>
                  </a:lnTo>
                  <a:lnTo>
                    <a:pt x="28" y="201"/>
                  </a:lnTo>
                  <a:lnTo>
                    <a:pt x="30" y="216"/>
                  </a:lnTo>
                  <a:lnTo>
                    <a:pt x="30" y="247"/>
                  </a:lnTo>
                  <a:lnTo>
                    <a:pt x="31" y="278"/>
                  </a:lnTo>
                  <a:lnTo>
                    <a:pt x="32" y="313"/>
                  </a:lnTo>
                  <a:lnTo>
                    <a:pt x="32" y="320"/>
                  </a:lnTo>
                  <a:lnTo>
                    <a:pt x="32" y="329"/>
                  </a:lnTo>
                  <a:lnTo>
                    <a:pt x="32" y="348"/>
                  </a:lnTo>
                  <a:lnTo>
                    <a:pt x="33" y="368"/>
                  </a:lnTo>
                  <a:lnTo>
                    <a:pt x="33" y="390"/>
                  </a:lnTo>
                  <a:lnTo>
                    <a:pt x="33" y="411"/>
                  </a:lnTo>
                  <a:lnTo>
                    <a:pt x="34" y="433"/>
                  </a:lnTo>
                  <a:lnTo>
                    <a:pt x="34" y="478"/>
                  </a:lnTo>
                  <a:lnTo>
                    <a:pt x="34" y="499"/>
                  </a:lnTo>
                  <a:lnTo>
                    <a:pt x="34" y="521"/>
                  </a:lnTo>
                  <a:lnTo>
                    <a:pt x="36" y="542"/>
                  </a:lnTo>
                  <a:lnTo>
                    <a:pt x="36" y="561"/>
                  </a:lnTo>
                  <a:lnTo>
                    <a:pt x="36" y="579"/>
                  </a:lnTo>
                  <a:lnTo>
                    <a:pt x="36" y="588"/>
                  </a:lnTo>
                  <a:lnTo>
                    <a:pt x="36" y="596"/>
                  </a:lnTo>
                  <a:lnTo>
                    <a:pt x="36" y="604"/>
                  </a:lnTo>
                  <a:lnTo>
                    <a:pt x="36" y="612"/>
                  </a:lnTo>
                  <a:lnTo>
                    <a:pt x="36" y="618"/>
                  </a:lnTo>
                  <a:lnTo>
                    <a:pt x="37" y="625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30" name="Freeform 98"/>
            <p:cNvSpPr>
              <a:spLocks/>
            </p:cNvSpPr>
            <p:nvPr/>
          </p:nvSpPr>
          <p:spPr bwMode="auto">
            <a:xfrm>
              <a:off x="3776" y="674"/>
              <a:ext cx="36" cy="291"/>
            </a:xfrm>
            <a:custGeom>
              <a:avLst/>
              <a:gdLst>
                <a:gd name="T0" fmla="*/ 0 w 36"/>
                <a:gd name="T1" fmla="*/ 574 h 580"/>
                <a:gd name="T2" fmla="*/ 0 w 36"/>
                <a:gd name="T3" fmla="*/ 564 h 580"/>
                <a:gd name="T4" fmla="*/ 0 w 36"/>
                <a:gd name="T5" fmla="*/ 549 h 580"/>
                <a:gd name="T6" fmla="*/ 0 w 36"/>
                <a:gd name="T7" fmla="*/ 534 h 580"/>
                <a:gd name="T8" fmla="*/ 1 w 36"/>
                <a:gd name="T9" fmla="*/ 516 h 580"/>
                <a:gd name="T10" fmla="*/ 1 w 36"/>
                <a:gd name="T11" fmla="*/ 488 h 580"/>
                <a:gd name="T12" fmla="*/ 2 w 36"/>
                <a:gd name="T13" fmla="*/ 448 h 580"/>
                <a:gd name="T14" fmla="*/ 2 w 36"/>
                <a:gd name="T15" fmla="*/ 405 h 580"/>
                <a:gd name="T16" fmla="*/ 3 w 36"/>
                <a:gd name="T17" fmla="*/ 363 h 580"/>
                <a:gd name="T18" fmla="*/ 5 w 36"/>
                <a:gd name="T19" fmla="*/ 324 h 580"/>
                <a:gd name="T20" fmla="*/ 5 w 36"/>
                <a:gd name="T21" fmla="*/ 306 h 580"/>
                <a:gd name="T22" fmla="*/ 6 w 36"/>
                <a:gd name="T23" fmla="*/ 290 h 580"/>
                <a:gd name="T24" fmla="*/ 7 w 36"/>
                <a:gd name="T25" fmla="*/ 229 h 580"/>
                <a:gd name="T26" fmla="*/ 8 w 36"/>
                <a:gd name="T27" fmla="*/ 186 h 580"/>
                <a:gd name="T28" fmla="*/ 8 w 36"/>
                <a:gd name="T29" fmla="*/ 160 h 580"/>
                <a:gd name="T30" fmla="*/ 9 w 36"/>
                <a:gd name="T31" fmla="*/ 135 h 580"/>
                <a:gd name="T32" fmla="*/ 11 w 36"/>
                <a:gd name="T33" fmla="*/ 111 h 580"/>
                <a:gd name="T34" fmla="*/ 11 w 36"/>
                <a:gd name="T35" fmla="*/ 90 h 580"/>
                <a:gd name="T36" fmla="*/ 12 w 36"/>
                <a:gd name="T37" fmla="*/ 73 h 580"/>
                <a:gd name="T38" fmla="*/ 12 w 36"/>
                <a:gd name="T39" fmla="*/ 56 h 580"/>
                <a:gd name="T40" fmla="*/ 13 w 36"/>
                <a:gd name="T41" fmla="*/ 41 h 580"/>
                <a:gd name="T42" fmla="*/ 14 w 36"/>
                <a:gd name="T43" fmla="*/ 28 h 580"/>
                <a:gd name="T44" fmla="*/ 14 w 36"/>
                <a:gd name="T45" fmla="*/ 18 h 580"/>
                <a:gd name="T46" fmla="*/ 16 w 36"/>
                <a:gd name="T47" fmla="*/ 9 h 580"/>
                <a:gd name="T48" fmla="*/ 17 w 36"/>
                <a:gd name="T49" fmla="*/ 3 h 580"/>
                <a:gd name="T50" fmla="*/ 17 w 36"/>
                <a:gd name="T51" fmla="*/ 0 h 580"/>
                <a:gd name="T52" fmla="*/ 18 w 36"/>
                <a:gd name="T53" fmla="*/ 0 h 580"/>
                <a:gd name="T54" fmla="*/ 18 w 36"/>
                <a:gd name="T55" fmla="*/ 3 h 580"/>
                <a:gd name="T56" fmla="*/ 19 w 36"/>
                <a:gd name="T57" fmla="*/ 9 h 580"/>
                <a:gd name="T58" fmla="*/ 21 w 36"/>
                <a:gd name="T59" fmla="*/ 18 h 580"/>
                <a:gd name="T60" fmla="*/ 21 w 36"/>
                <a:gd name="T61" fmla="*/ 28 h 580"/>
                <a:gd name="T62" fmla="*/ 22 w 36"/>
                <a:gd name="T63" fmla="*/ 41 h 580"/>
                <a:gd name="T64" fmla="*/ 23 w 36"/>
                <a:gd name="T65" fmla="*/ 56 h 580"/>
                <a:gd name="T66" fmla="*/ 23 w 36"/>
                <a:gd name="T67" fmla="*/ 73 h 580"/>
                <a:gd name="T68" fmla="*/ 24 w 36"/>
                <a:gd name="T69" fmla="*/ 90 h 580"/>
                <a:gd name="T70" fmla="*/ 25 w 36"/>
                <a:gd name="T71" fmla="*/ 111 h 580"/>
                <a:gd name="T72" fmla="*/ 25 w 36"/>
                <a:gd name="T73" fmla="*/ 135 h 580"/>
                <a:gd name="T74" fmla="*/ 27 w 36"/>
                <a:gd name="T75" fmla="*/ 159 h 580"/>
                <a:gd name="T76" fmla="*/ 28 w 36"/>
                <a:gd name="T77" fmla="*/ 186 h 580"/>
                <a:gd name="T78" fmla="*/ 29 w 36"/>
                <a:gd name="T79" fmla="*/ 229 h 580"/>
                <a:gd name="T80" fmla="*/ 32 w 36"/>
                <a:gd name="T81" fmla="*/ 290 h 580"/>
                <a:gd name="T82" fmla="*/ 32 w 36"/>
                <a:gd name="T83" fmla="*/ 305 h 580"/>
                <a:gd name="T84" fmla="*/ 33 w 36"/>
                <a:gd name="T85" fmla="*/ 342 h 580"/>
                <a:gd name="T86" fmla="*/ 33 w 36"/>
                <a:gd name="T87" fmla="*/ 381 h 580"/>
                <a:gd name="T88" fmla="*/ 34 w 36"/>
                <a:gd name="T89" fmla="*/ 443 h 580"/>
                <a:gd name="T90" fmla="*/ 34 w 36"/>
                <a:gd name="T91" fmla="*/ 484 h 580"/>
                <a:gd name="T92" fmla="*/ 35 w 36"/>
                <a:gd name="T93" fmla="*/ 521 h 580"/>
                <a:gd name="T94" fmla="*/ 35 w 36"/>
                <a:gd name="T95" fmla="*/ 546 h 580"/>
                <a:gd name="T96" fmla="*/ 35 w 36"/>
                <a:gd name="T97" fmla="*/ 561 h 580"/>
                <a:gd name="T98" fmla="*/ 35 w 36"/>
                <a:gd name="T99" fmla="*/ 574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" h="580">
                  <a:moveTo>
                    <a:pt x="0" y="580"/>
                  </a:moveTo>
                  <a:lnTo>
                    <a:pt x="0" y="574"/>
                  </a:lnTo>
                  <a:lnTo>
                    <a:pt x="0" y="570"/>
                  </a:lnTo>
                  <a:lnTo>
                    <a:pt x="0" y="564"/>
                  </a:lnTo>
                  <a:lnTo>
                    <a:pt x="0" y="556"/>
                  </a:lnTo>
                  <a:lnTo>
                    <a:pt x="0" y="549"/>
                  </a:lnTo>
                  <a:lnTo>
                    <a:pt x="0" y="542"/>
                  </a:lnTo>
                  <a:lnTo>
                    <a:pt x="0" y="534"/>
                  </a:lnTo>
                  <a:lnTo>
                    <a:pt x="0" y="525"/>
                  </a:lnTo>
                  <a:lnTo>
                    <a:pt x="1" y="516"/>
                  </a:lnTo>
                  <a:lnTo>
                    <a:pt x="1" y="507"/>
                  </a:lnTo>
                  <a:lnTo>
                    <a:pt x="1" y="488"/>
                  </a:lnTo>
                  <a:lnTo>
                    <a:pt x="1" y="469"/>
                  </a:lnTo>
                  <a:lnTo>
                    <a:pt x="2" y="448"/>
                  </a:lnTo>
                  <a:lnTo>
                    <a:pt x="2" y="427"/>
                  </a:lnTo>
                  <a:lnTo>
                    <a:pt x="2" y="405"/>
                  </a:lnTo>
                  <a:lnTo>
                    <a:pt x="3" y="384"/>
                  </a:lnTo>
                  <a:lnTo>
                    <a:pt x="3" y="363"/>
                  </a:lnTo>
                  <a:lnTo>
                    <a:pt x="5" y="344"/>
                  </a:lnTo>
                  <a:lnTo>
                    <a:pt x="5" y="324"/>
                  </a:lnTo>
                  <a:lnTo>
                    <a:pt x="5" y="315"/>
                  </a:lnTo>
                  <a:lnTo>
                    <a:pt x="5" y="306"/>
                  </a:lnTo>
                  <a:lnTo>
                    <a:pt x="5" y="297"/>
                  </a:lnTo>
                  <a:lnTo>
                    <a:pt x="6" y="290"/>
                  </a:lnTo>
                  <a:lnTo>
                    <a:pt x="6" y="259"/>
                  </a:lnTo>
                  <a:lnTo>
                    <a:pt x="7" y="229"/>
                  </a:lnTo>
                  <a:lnTo>
                    <a:pt x="7" y="201"/>
                  </a:lnTo>
                  <a:lnTo>
                    <a:pt x="8" y="186"/>
                  </a:lnTo>
                  <a:lnTo>
                    <a:pt x="8" y="172"/>
                  </a:lnTo>
                  <a:lnTo>
                    <a:pt x="8" y="160"/>
                  </a:lnTo>
                  <a:lnTo>
                    <a:pt x="9" y="147"/>
                  </a:lnTo>
                  <a:lnTo>
                    <a:pt x="9" y="135"/>
                  </a:lnTo>
                  <a:lnTo>
                    <a:pt x="9" y="123"/>
                  </a:lnTo>
                  <a:lnTo>
                    <a:pt x="11" y="111"/>
                  </a:lnTo>
                  <a:lnTo>
                    <a:pt x="11" y="101"/>
                  </a:lnTo>
                  <a:lnTo>
                    <a:pt x="11" y="90"/>
                  </a:lnTo>
                  <a:lnTo>
                    <a:pt x="12" y="82"/>
                  </a:lnTo>
                  <a:lnTo>
                    <a:pt x="12" y="73"/>
                  </a:lnTo>
                  <a:lnTo>
                    <a:pt x="12" y="64"/>
                  </a:lnTo>
                  <a:lnTo>
                    <a:pt x="12" y="56"/>
                  </a:lnTo>
                  <a:lnTo>
                    <a:pt x="13" y="49"/>
                  </a:lnTo>
                  <a:lnTo>
                    <a:pt x="13" y="41"/>
                  </a:lnTo>
                  <a:lnTo>
                    <a:pt x="13" y="34"/>
                  </a:lnTo>
                  <a:lnTo>
                    <a:pt x="14" y="28"/>
                  </a:lnTo>
                  <a:lnTo>
                    <a:pt x="14" y="22"/>
                  </a:lnTo>
                  <a:lnTo>
                    <a:pt x="14" y="18"/>
                  </a:lnTo>
                  <a:lnTo>
                    <a:pt x="16" y="12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7" y="3"/>
                  </a:lnTo>
                  <a:lnTo>
                    <a:pt x="17" y="1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1"/>
                  </a:lnTo>
                  <a:lnTo>
                    <a:pt x="18" y="3"/>
                  </a:lnTo>
                  <a:lnTo>
                    <a:pt x="19" y="6"/>
                  </a:lnTo>
                  <a:lnTo>
                    <a:pt x="19" y="9"/>
                  </a:lnTo>
                  <a:lnTo>
                    <a:pt x="19" y="13"/>
                  </a:lnTo>
                  <a:lnTo>
                    <a:pt x="21" y="18"/>
                  </a:lnTo>
                  <a:lnTo>
                    <a:pt x="21" y="22"/>
                  </a:lnTo>
                  <a:lnTo>
                    <a:pt x="21" y="28"/>
                  </a:lnTo>
                  <a:lnTo>
                    <a:pt x="22" y="34"/>
                  </a:lnTo>
                  <a:lnTo>
                    <a:pt x="22" y="41"/>
                  </a:lnTo>
                  <a:lnTo>
                    <a:pt x="22" y="49"/>
                  </a:lnTo>
                  <a:lnTo>
                    <a:pt x="23" y="56"/>
                  </a:lnTo>
                  <a:lnTo>
                    <a:pt x="23" y="64"/>
                  </a:lnTo>
                  <a:lnTo>
                    <a:pt x="23" y="73"/>
                  </a:lnTo>
                  <a:lnTo>
                    <a:pt x="24" y="82"/>
                  </a:lnTo>
                  <a:lnTo>
                    <a:pt x="24" y="90"/>
                  </a:lnTo>
                  <a:lnTo>
                    <a:pt x="24" y="101"/>
                  </a:lnTo>
                  <a:lnTo>
                    <a:pt x="25" y="111"/>
                  </a:lnTo>
                  <a:lnTo>
                    <a:pt x="25" y="123"/>
                  </a:lnTo>
                  <a:lnTo>
                    <a:pt x="25" y="135"/>
                  </a:lnTo>
                  <a:lnTo>
                    <a:pt x="27" y="147"/>
                  </a:lnTo>
                  <a:lnTo>
                    <a:pt x="27" y="159"/>
                  </a:lnTo>
                  <a:lnTo>
                    <a:pt x="28" y="172"/>
                  </a:lnTo>
                  <a:lnTo>
                    <a:pt x="28" y="186"/>
                  </a:lnTo>
                  <a:lnTo>
                    <a:pt x="29" y="201"/>
                  </a:lnTo>
                  <a:lnTo>
                    <a:pt x="29" y="229"/>
                  </a:lnTo>
                  <a:lnTo>
                    <a:pt x="30" y="259"/>
                  </a:lnTo>
                  <a:lnTo>
                    <a:pt x="32" y="290"/>
                  </a:lnTo>
                  <a:lnTo>
                    <a:pt x="32" y="297"/>
                  </a:lnTo>
                  <a:lnTo>
                    <a:pt x="32" y="305"/>
                  </a:lnTo>
                  <a:lnTo>
                    <a:pt x="32" y="323"/>
                  </a:lnTo>
                  <a:lnTo>
                    <a:pt x="33" y="342"/>
                  </a:lnTo>
                  <a:lnTo>
                    <a:pt x="33" y="361"/>
                  </a:lnTo>
                  <a:lnTo>
                    <a:pt x="33" y="381"/>
                  </a:lnTo>
                  <a:lnTo>
                    <a:pt x="34" y="402"/>
                  </a:lnTo>
                  <a:lnTo>
                    <a:pt x="34" y="443"/>
                  </a:lnTo>
                  <a:lnTo>
                    <a:pt x="34" y="463"/>
                  </a:lnTo>
                  <a:lnTo>
                    <a:pt x="34" y="484"/>
                  </a:lnTo>
                  <a:lnTo>
                    <a:pt x="35" y="503"/>
                  </a:lnTo>
                  <a:lnTo>
                    <a:pt x="35" y="521"/>
                  </a:lnTo>
                  <a:lnTo>
                    <a:pt x="35" y="537"/>
                  </a:lnTo>
                  <a:lnTo>
                    <a:pt x="35" y="546"/>
                  </a:lnTo>
                  <a:lnTo>
                    <a:pt x="35" y="553"/>
                  </a:lnTo>
                  <a:lnTo>
                    <a:pt x="35" y="561"/>
                  </a:lnTo>
                  <a:lnTo>
                    <a:pt x="35" y="567"/>
                  </a:lnTo>
                  <a:lnTo>
                    <a:pt x="35" y="574"/>
                  </a:lnTo>
                  <a:lnTo>
                    <a:pt x="36" y="58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31" name="Freeform 99"/>
            <p:cNvSpPr>
              <a:spLocks/>
            </p:cNvSpPr>
            <p:nvPr/>
          </p:nvSpPr>
          <p:spPr bwMode="auto">
            <a:xfrm>
              <a:off x="3371" y="965"/>
              <a:ext cx="37" cy="312"/>
            </a:xfrm>
            <a:custGeom>
              <a:avLst/>
              <a:gdLst>
                <a:gd name="T0" fmla="*/ 0 w 37"/>
                <a:gd name="T1" fmla="*/ 5 h 626"/>
                <a:gd name="T2" fmla="*/ 0 w 37"/>
                <a:gd name="T3" fmla="*/ 17 h 626"/>
                <a:gd name="T4" fmla="*/ 0 w 37"/>
                <a:gd name="T5" fmla="*/ 32 h 626"/>
                <a:gd name="T6" fmla="*/ 0 w 37"/>
                <a:gd name="T7" fmla="*/ 48 h 626"/>
                <a:gd name="T8" fmla="*/ 1 w 37"/>
                <a:gd name="T9" fmla="*/ 67 h 626"/>
                <a:gd name="T10" fmla="*/ 1 w 37"/>
                <a:gd name="T11" fmla="*/ 97 h 626"/>
                <a:gd name="T12" fmla="*/ 3 w 37"/>
                <a:gd name="T13" fmla="*/ 142 h 626"/>
                <a:gd name="T14" fmla="*/ 3 w 37"/>
                <a:gd name="T15" fmla="*/ 188 h 626"/>
                <a:gd name="T16" fmla="*/ 4 w 37"/>
                <a:gd name="T17" fmla="*/ 233 h 626"/>
                <a:gd name="T18" fmla="*/ 5 w 37"/>
                <a:gd name="T19" fmla="*/ 274 h 626"/>
                <a:gd name="T20" fmla="*/ 5 w 37"/>
                <a:gd name="T21" fmla="*/ 294 h 626"/>
                <a:gd name="T22" fmla="*/ 6 w 37"/>
                <a:gd name="T23" fmla="*/ 311 h 626"/>
                <a:gd name="T24" fmla="*/ 7 w 37"/>
                <a:gd name="T25" fmla="*/ 377 h 626"/>
                <a:gd name="T26" fmla="*/ 9 w 37"/>
                <a:gd name="T27" fmla="*/ 423 h 626"/>
                <a:gd name="T28" fmla="*/ 9 w 37"/>
                <a:gd name="T29" fmla="*/ 451 h 626"/>
                <a:gd name="T30" fmla="*/ 10 w 37"/>
                <a:gd name="T31" fmla="*/ 478 h 626"/>
                <a:gd name="T32" fmla="*/ 11 w 37"/>
                <a:gd name="T33" fmla="*/ 504 h 626"/>
                <a:gd name="T34" fmla="*/ 11 w 37"/>
                <a:gd name="T35" fmla="*/ 526 h 626"/>
                <a:gd name="T36" fmla="*/ 12 w 37"/>
                <a:gd name="T37" fmla="*/ 545 h 626"/>
                <a:gd name="T38" fmla="*/ 12 w 37"/>
                <a:gd name="T39" fmla="*/ 563 h 626"/>
                <a:gd name="T40" fmla="*/ 14 w 37"/>
                <a:gd name="T41" fmla="*/ 579 h 626"/>
                <a:gd name="T42" fmla="*/ 15 w 37"/>
                <a:gd name="T43" fmla="*/ 594 h 626"/>
                <a:gd name="T44" fmla="*/ 15 w 37"/>
                <a:gd name="T45" fmla="*/ 606 h 626"/>
                <a:gd name="T46" fmla="*/ 16 w 37"/>
                <a:gd name="T47" fmla="*/ 615 h 626"/>
                <a:gd name="T48" fmla="*/ 17 w 37"/>
                <a:gd name="T49" fmla="*/ 621 h 626"/>
                <a:gd name="T50" fmla="*/ 17 w 37"/>
                <a:gd name="T51" fmla="*/ 624 h 626"/>
                <a:gd name="T52" fmla="*/ 19 w 37"/>
                <a:gd name="T53" fmla="*/ 624 h 626"/>
                <a:gd name="T54" fmla="*/ 19 w 37"/>
                <a:gd name="T55" fmla="*/ 621 h 626"/>
                <a:gd name="T56" fmla="*/ 20 w 37"/>
                <a:gd name="T57" fmla="*/ 615 h 626"/>
                <a:gd name="T58" fmla="*/ 21 w 37"/>
                <a:gd name="T59" fmla="*/ 605 h 626"/>
                <a:gd name="T60" fmla="*/ 21 w 37"/>
                <a:gd name="T61" fmla="*/ 594 h 626"/>
                <a:gd name="T62" fmla="*/ 22 w 37"/>
                <a:gd name="T63" fmla="*/ 579 h 626"/>
                <a:gd name="T64" fmla="*/ 23 w 37"/>
                <a:gd name="T65" fmla="*/ 563 h 626"/>
                <a:gd name="T66" fmla="*/ 23 w 37"/>
                <a:gd name="T67" fmla="*/ 545 h 626"/>
                <a:gd name="T68" fmla="*/ 25 w 37"/>
                <a:gd name="T69" fmla="*/ 526 h 626"/>
                <a:gd name="T70" fmla="*/ 26 w 37"/>
                <a:gd name="T71" fmla="*/ 504 h 626"/>
                <a:gd name="T72" fmla="*/ 26 w 37"/>
                <a:gd name="T73" fmla="*/ 478 h 626"/>
                <a:gd name="T74" fmla="*/ 27 w 37"/>
                <a:gd name="T75" fmla="*/ 451 h 626"/>
                <a:gd name="T76" fmla="*/ 28 w 37"/>
                <a:gd name="T77" fmla="*/ 423 h 626"/>
                <a:gd name="T78" fmla="*/ 30 w 37"/>
                <a:gd name="T79" fmla="*/ 377 h 626"/>
                <a:gd name="T80" fmla="*/ 32 w 37"/>
                <a:gd name="T81" fmla="*/ 313 h 626"/>
                <a:gd name="T82" fmla="*/ 32 w 37"/>
                <a:gd name="T83" fmla="*/ 295 h 626"/>
                <a:gd name="T84" fmla="*/ 33 w 37"/>
                <a:gd name="T85" fmla="*/ 256 h 626"/>
                <a:gd name="T86" fmla="*/ 33 w 37"/>
                <a:gd name="T87" fmla="*/ 213 h 626"/>
                <a:gd name="T88" fmla="*/ 34 w 37"/>
                <a:gd name="T89" fmla="*/ 146 h 626"/>
                <a:gd name="T90" fmla="*/ 34 w 37"/>
                <a:gd name="T91" fmla="*/ 103 h 626"/>
                <a:gd name="T92" fmla="*/ 36 w 37"/>
                <a:gd name="T93" fmla="*/ 63 h 626"/>
                <a:gd name="T94" fmla="*/ 36 w 37"/>
                <a:gd name="T95" fmla="*/ 36 h 626"/>
                <a:gd name="T96" fmla="*/ 36 w 37"/>
                <a:gd name="T97" fmla="*/ 20 h 626"/>
                <a:gd name="T98" fmla="*/ 36 w 37"/>
                <a:gd name="T99" fmla="*/ 6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7" h="626">
                  <a:moveTo>
                    <a:pt x="0" y="0"/>
                  </a:moveTo>
                  <a:lnTo>
                    <a:pt x="0" y="5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0" y="48"/>
                  </a:lnTo>
                  <a:lnTo>
                    <a:pt x="0" y="57"/>
                  </a:lnTo>
                  <a:lnTo>
                    <a:pt x="1" y="67"/>
                  </a:lnTo>
                  <a:lnTo>
                    <a:pt x="1" y="76"/>
                  </a:lnTo>
                  <a:lnTo>
                    <a:pt x="1" y="97"/>
                  </a:lnTo>
                  <a:lnTo>
                    <a:pt x="1" y="119"/>
                  </a:lnTo>
                  <a:lnTo>
                    <a:pt x="3" y="142"/>
                  </a:lnTo>
                  <a:lnTo>
                    <a:pt x="3" y="164"/>
                  </a:lnTo>
                  <a:lnTo>
                    <a:pt x="3" y="188"/>
                  </a:lnTo>
                  <a:lnTo>
                    <a:pt x="4" y="210"/>
                  </a:lnTo>
                  <a:lnTo>
                    <a:pt x="4" y="233"/>
                  </a:lnTo>
                  <a:lnTo>
                    <a:pt x="5" y="255"/>
                  </a:lnTo>
                  <a:lnTo>
                    <a:pt x="5" y="274"/>
                  </a:lnTo>
                  <a:lnTo>
                    <a:pt x="5" y="285"/>
                  </a:lnTo>
                  <a:lnTo>
                    <a:pt x="5" y="294"/>
                  </a:lnTo>
                  <a:lnTo>
                    <a:pt x="5" y="303"/>
                  </a:lnTo>
                  <a:lnTo>
                    <a:pt x="6" y="311"/>
                  </a:lnTo>
                  <a:lnTo>
                    <a:pt x="6" y="344"/>
                  </a:lnTo>
                  <a:lnTo>
                    <a:pt x="7" y="377"/>
                  </a:lnTo>
                  <a:lnTo>
                    <a:pt x="7" y="408"/>
                  </a:lnTo>
                  <a:lnTo>
                    <a:pt x="9" y="423"/>
                  </a:lnTo>
                  <a:lnTo>
                    <a:pt x="9" y="438"/>
                  </a:lnTo>
                  <a:lnTo>
                    <a:pt x="9" y="451"/>
                  </a:lnTo>
                  <a:lnTo>
                    <a:pt x="10" y="465"/>
                  </a:lnTo>
                  <a:lnTo>
                    <a:pt x="10" y="478"/>
                  </a:lnTo>
                  <a:lnTo>
                    <a:pt x="10" y="492"/>
                  </a:lnTo>
                  <a:lnTo>
                    <a:pt x="11" y="504"/>
                  </a:lnTo>
                  <a:lnTo>
                    <a:pt x="11" y="515"/>
                  </a:lnTo>
                  <a:lnTo>
                    <a:pt x="11" y="526"/>
                  </a:lnTo>
                  <a:lnTo>
                    <a:pt x="12" y="536"/>
                  </a:lnTo>
                  <a:lnTo>
                    <a:pt x="12" y="545"/>
                  </a:lnTo>
                  <a:lnTo>
                    <a:pt x="12" y="554"/>
                  </a:lnTo>
                  <a:lnTo>
                    <a:pt x="12" y="563"/>
                  </a:lnTo>
                  <a:lnTo>
                    <a:pt x="14" y="572"/>
                  </a:lnTo>
                  <a:lnTo>
                    <a:pt x="14" y="579"/>
                  </a:lnTo>
                  <a:lnTo>
                    <a:pt x="14" y="587"/>
                  </a:lnTo>
                  <a:lnTo>
                    <a:pt x="15" y="594"/>
                  </a:lnTo>
                  <a:lnTo>
                    <a:pt x="15" y="600"/>
                  </a:lnTo>
                  <a:lnTo>
                    <a:pt x="15" y="606"/>
                  </a:lnTo>
                  <a:lnTo>
                    <a:pt x="16" y="611"/>
                  </a:lnTo>
                  <a:lnTo>
                    <a:pt x="16" y="615"/>
                  </a:lnTo>
                  <a:lnTo>
                    <a:pt x="16" y="618"/>
                  </a:lnTo>
                  <a:lnTo>
                    <a:pt x="17" y="621"/>
                  </a:lnTo>
                  <a:lnTo>
                    <a:pt x="17" y="623"/>
                  </a:lnTo>
                  <a:lnTo>
                    <a:pt x="17" y="624"/>
                  </a:lnTo>
                  <a:lnTo>
                    <a:pt x="19" y="626"/>
                  </a:lnTo>
                  <a:lnTo>
                    <a:pt x="19" y="624"/>
                  </a:lnTo>
                  <a:lnTo>
                    <a:pt x="19" y="623"/>
                  </a:lnTo>
                  <a:lnTo>
                    <a:pt x="19" y="621"/>
                  </a:lnTo>
                  <a:lnTo>
                    <a:pt x="20" y="618"/>
                  </a:lnTo>
                  <a:lnTo>
                    <a:pt x="20" y="615"/>
                  </a:lnTo>
                  <a:lnTo>
                    <a:pt x="20" y="611"/>
                  </a:lnTo>
                  <a:lnTo>
                    <a:pt x="21" y="605"/>
                  </a:lnTo>
                  <a:lnTo>
                    <a:pt x="21" y="600"/>
                  </a:lnTo>
                  <a:lnTo>
                    <a:pt x="21" y="594"/>
                  </a:lnTo>
                  <a:lnTo>
                    <a:pt x="22" y="587"/>
                  </a:lnTo>
                  <a:lnTo>
                    <a:pt x="22" y="579"/>
                  </a:lnTo>
                  <a:lnTo>
                    <a:pt x="22" y="572"/>
                  </a:lnTo>
                  <a:lnTo>
                    <a:pt x="23" y="563"/>
                  </a:lnTo>
                  <a:lnTo>
                    <a:pt x="23" y="554"/>
                  </a:lnTo>
                  <a:lnTo>
                    <a:pt x="23" y="545"/>
                  </a:lnTo>
                  <a:lnTo>
                    <a:pt x="25" y="536"/>
                  </a:lnTo>
                  <a:lnTo>
                    <a:pt x="25" y="526"/>
                  </a:lnTo>
                  <a:lnTo>
                    <a:pt x="25" y="515"/>
                  </a:lnTo>
                  <a:lnTo>
                    <a:pt x="26" y="504"/>
                  </a:lnTo>
                  <a:lnTo>
                    <a:pt x="26" y="492"/>
                  </a:lnTo>
                  <a:lnTo>
                    <a:pt x="26" y="478"/>
                  </a:lnTo>
                  <a:lnTo>
                    <a:pt x="27" y="466"/>
                  </a:lnTo>
                  <a:lnTo>
                    <a:pt x="27" y="451"/>
                  </a:lnTo>
                  <a:lnTo>
                    <a:pt x="28" y="438"/>
                  </a:lnTo>
                  <a:lnTo>
                    <a:pt x="28" y="423"/>
                  </a:lnTo>
                  <a:lnTo>
                    <a:pt x="30" y="408"/>
                  </a:lnTo>
                  <a:lnTo>
                    <a:pt x="30" y="377"/>
                  </a:lnTo>
                  <a:lnTo>
                    <a:pt x="31" y="346"/>
                  </a:lnTo>
                  <a:lnTo>
                    <a:pt x="32" y="313"/>
                  </a:lnTo>
                  <a:lnTo>
                    <a:pt x="32" y="304"/>
                  </a:lnTo>
                  <a:lnTo>
                    <a:pt x="32" y="295"/>
                  </a:lnTo>
                  <a:lnTo>
                    <a:pt x="32" y="276"/>
                  </a:lnTo>
                  <a:lnTo>
                    <a:pt x="33" y="256"/>
                  </a:lnTo>
                  <a:lnTo>
                    <a:pt x="33" y="236"/>
                  </a:lnTo>
                  <a:lnTo>
                    <a:pt x="33" y="213"/>
                  </a:lnTo>
                  <a:lnTo>
                    <a:pt x="33" y="191"/>
                  </a:lnTo>
                  <a:lnTo>
                    <a:pt x="34" y="146"/>
                  </a:lnTo>
                  <a:lnTo>
                    <a:pt x="34" y="125"/>
                  </a:lnTo>
                  <a:lnTo>
                    <a:pt x="34" y="103"/>
                  </a:lnTo>
                  <a:lnTo>
                    <a:pt x="36" y="82"/>
                  </a:lnTo>
                  <a:lnTo>
                    <a:pt x="36" y="63"/>
                  </a:lnTo>
                  <a:lnTo>
                    <a:pt x="36" y="45"/>
                  </a:lnTo>
                  <a:lnTo>
                    <a:pt x="36" y="36"/>
                  </a:lnTo>
                  <a:lnTo>
                    <a:pt x="36" y="29"/>
                  </a:lnTo>
                  <a:lnTo>
                    <a:pt x="36" y="20"/>
                  </a:lnTo>
                  <a:lnTo>
                    <a:pt x="36" y="12"/>
                  </a:lnTo>
                  <a:lnTo>
                    <a:pt x="36" y="6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32" name="Freeform 100"/>
            <p:cNvSpPr>
              <a:spLocks/>
            </p:cNvSpPr>
            <p:nvPr/>
          </p:nvSpPr>
          <p:spPr bwMode="auto">
            <a:xfrm>
              <a:off x="3445" y="965"/>
              <a:ext cx="36" cy="290"/>
            </a:xfrm>
            <a:custGeom>
              <a:avLst/>
              <a:gdLst>
                <a:gd name="T0" fmla="*/ 0 w 36"/>
                <a:gd name="T1" fmla="*/ 5 h 581"/>
                <a:gd name="T2" fmla="*/ 0 w 36"/>
                <a:gd name="T3" fmla="*/ 15 h 581"/>
                <a:gd name="T4" fmla="*/ 0 w 36"/>
                <a:gd name="T5" fmla="*/ 30 h 581"/>
                <a:gd name="T6" fmla="*/ 0 w 36"/>
                <a:gd name="T7" fmla="*/ 45 h 581"/>
                <a:gd name="T8" fmla="*/ 1 w 36"/>
                <a:gd name="T9" fmla="*/ 63 h 581"/>
                <a:gd name="T10" fmla="*/ 1 w 36"/>
                <a:gd name="T11" fmla="*/ 91 h 581"/>
                <a:gd name="T12" fmla="*/ 2 w 36"/>
                <a:gd name="T13" fmla="*/ 131 h 581"/>
                <a:gd name="T14" fmla="*/ 2 w 36"/>
                <a:gd name="T15" fmla="*/ 174 h 581"/>
                <a:gd name="T16" fmla="*/ 3 w 36"/>
                <a:gd name="T17" fmla="*/ 216 h 581"/>
                <a:gd name="T18" fmla="*/ 5 w 36"/>
                <a:gd name="T19" fmla="*/ 255 h 581"/>
                <a:gd name="T20" fmla="*/ 5 w 36"/>
                <a:gd name="T21" fmla="*/ 273 h 581"/>
                <a:gd name="T22" fmla="*/ 6 w 36"/>
                <a:gd name="T23" fmla="*/ 289 h 581"/>
                <a:gd name="T24" fmla="*/ 7 w 36"/>
                <a:gd name="T25" fmla="*/ 350 h 581"/>
                <a:gd name="T26" fmla="*/ 8 w 36"/>
                <a:gd name="T27" fmla="*/ 393 h 581"/>
                <a:gd name="T28" fmla="*/ 8 w 36"/>
                <a:gd name="T29" fmla="*/ 420 h 581"/>
                <a:gd name="T30" fmla="*/ 9 w 36"/>
                <a:gd name="T31" fmla="*/ 444 h 581"/>
                <a:gd name="T32" fmla="*/ 11 w 36"/>
                <a:gd name="T33" fmla="*/ 468 h 581"/>
                <a:gd name="T34" fmla="*/ 11 w 36"/>
                <a:gd name="T35" fmla="*/ 489 h 581"/>
                <a:gd name="T36" fmla="*/ 12 w 36"/>
                <a:gd name="T37" fmla="*/ 506 h 581"/>
                <a:gd name="T38" fmla="*/ 12 w 36"/>
                <a:gd name="T39" fmla="*/ 523 h 581"/>
                <a:gd name="T40" fmla="*/ 13 w 36"/>
                <a:gd name="T41" fmla="*/ 538 h 581"/>
                <a:gd name="T42" fmla="*/ 14 w 36"/>
                <a:gd name="T43" fmla="*/ 551 h 581"/>
                <a:gd name="T44" fmla="*/ 14 w 36"/>
                <a:gd name="T45" fmla="*/ 563 h 581"/>
                <a:gd name="T46" fmla="*/ 16 w 36"/>
                <a:gd name="T47" fmla="*/ 570 h 581"/>
                <a:gd name="T48" fmla="*/ 17 w 36"/>
                <a:gd name="T49" fmla="*/ 576 h 581"/>
                <a:gd name="T50" fmla="*/ 17 w 36"/>
                <a:gd name="T51" fmla="*/ 579 h 581"/>
                <a:gd name="T52" fmla="*/ 18 w 36"/>
                <a:gd name="T53" fmla="*/ 579 h 581"/>
                <a:gd name="T54" fmla="*/ 18 w 36"/>
                <a:gd name="T55" fmla="*/ 576 h 581"/>
                <a:gd name="T56" fmla="*/ 19 w 36"/>
                <a:gd name="T57" fmla="*/ 570 h 581"/>
                <a:gd name="T58" fmla="*/ 21 w 36"/>
                <a:gd name="T59" fmla="*/ 562 h 581"/>
                <a:gd name="T60" fmla="*/ 21 w 36"/>
                <a:gd name="T61" fmla="*/ 551 h 581"/>
                <a:gd name="T62" fmla="*/ 22 w 36"/>
                <a:gd name="T63" fmla="*/ 538 h 581"/>
                <a:gd name="T64" fmla="*/ 23 w 36"/>
                <a:gd name="T65" fmla="*/ 523 h 581"/>
                <a:gd name="T66" fmla="*/ 23 w 36"/>
                <a:gd name="T67" fmla="*/ 506 h 581"/>
                <a:gd name="T68" fmla="*/ 24 w 36"/>
                <a:gd name="T69" fmla="*/ 489 h 581"/>
                <a:gd name="T70" fmla="*/ 25 w 36"/>
                <a:gd name="T71" fmla="*/ 468 h 581"/>
                <a:gd name="T72" fmla="*/ 25 w 36"/>
                <a:gd name="T73" fmla="*/ 444 h 581"/>
                <a:gd name="T74" fmla="*/ 27 w 36"/>
                <a:gd name="T75" fmla="*/ 420 h 581"/>
                <a:gd name="T76" fmla="*/ 28 w 36"/>
                <a:gd name="T77" fmla="*/ 393 h 581"/>
                <a:gd name="T78" fmla="*/ 29 w 36"/>
                <a:gd name="T79" fmla="*/ 350 h 581"/>
                <a:gd name="T80" fmla="*/ 32 w 36"/>
                <a:gd name="T81" fmla="*/ 291 h 581"/>
                <a:gd name="T82" fmla="*/ 32 w 36"/>
                <a:gd name="T83" fmla="*/ 274 h 581"/>
                <a:gd name="T84" fmla="*/ 33 w 36"/>
                <a:gd name="T85" fmla="*/ 237 h 581"/>
                <a:gd name="T86" fmla="*/ 33 w 36"/>
                <a:gd name="T87" fmla="*/ 198 h 581"/>
                <a:gd name="T88" fmla="*/ 34 w 36"/>
                <a:gd name="T89" fmla="*/ 136 h 581"/>
                <a:gd name="T90" fmla="*/ 34 w 36"/>
                <a:gd name="T91" fmla="*/ 96 h 581"/>
                <a:gd name="T92" fmla="*/ 35 w 36"/>
                <a:gd name="T93" fmla="*/ 58 h 581"/>
                <a:gd name="T94" fmla="*/ 35 w 36"/>
                <a:gd name="T95" fmla="*/ 33 h 581"/>
                <a:gd name="T96" fmla="*/ 35 w 36"/>
                <a:gd name="T97" fmla="*/ 18 h 581"/>
                <a:gd name="T98" fmla="*/ 35 w 36"/>
                <a:gd name="T99" fmla="*/ 5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" h="581">
                  <a:moveTo>
                    <a:pt x="0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23"/>
                  </a:lnTo>
                  <a:lnTo>
                    <a:pt x="0" y="30"/>
                  </a:lnTo>
                  <a:lnTo>
                    <a:pt x="0" y="38"/>
                  </a:lnTo>
                  <a:lnTo>
                    <a:pt x="0" y="45"/>
                  </a:lnTo>
                  <a:lnTo>
                    <a:pt x="0" y="54"/>
                  </a:lnTo>
                  <a:lnTo>
                    <a:pt x="1" y="63"/>
                  </a:lnTo>
                  <a:lnTo>
                    <a:pt x="1" y="72"/>
                  </a:lnTo>
                  <a:lnTo>
                    <a:pt x="1" y="91"/>
                  </a:lnTo>
                  <a:lnTo>
                    <a:pt x="1" y="110"/>
                  </a:lnTo>
                  <a:lnTo>
                    <a:pt x="2" y="131"/>
                  </a:lnTo>
                  <a:lnTo>
                    <a:pt x="2" y="152"/>
                  </a:lnTo>
                  <a:lnTo>
                    <a:pt x="2" y="174"/>
                  </a:lnTo>
                  <a:lnTo>
                    <a:pt x="3" y="195"/>
                  </a:lnTo>
                  <a:lnTo>
                    <a:pt x="3" y="216"/>
                  </a:lnTo>
                  <a:lnTo>
                    <a:pt x="5" y="236"/>
                  </a:lnTo>
                  <a:lnTo>
                    <a:pt x="5" y="255"/>
                  </a:lnTo>
                  <a:lnTo>
                    <a:pt x="5" y="264"/>
                  </a:lnTo>
                  <a:lnTo>
                    <a:pt x="5" y="273"/>
                  </a:lnTo>
                  <a:lnTo>
                    <a:pt x="5" y="282"/>
                  </a:lnTo>
                  <a:lnTo>
                    <a:pt x="6" y="289"/>
                  </a:lnTo>
                  <a:lnTo>
                    <a:pt x="6" y="320"/>
                  </a:lnTo>
                  <a:lnTo>
                    <a:pt x="7" y="350"/>
                  </a:lnTo>
                  <a:lnTo>
                    <a:pt x="7" y="378"/>
                  </a:lnTo>
                  <a:lnTo>
                    <a:pt x="8" y="393"/>
                  </a:lnTo>
                  <a:lnTo>
                    <a:pt x="8" y="407"/>
                  </a:lnTo>
                  <a:lnTo>
                    <a:pt x="8" y="420"/>
                  </a:lnTo>
                  <a:lnTo>
                    <a:pt x="9" y="432"/>
                  </a:lnTo>
                  <a:lnTo>
                    <a:pt x="9" y="444"/>
                  </a:lnTo>
                  <a:lnTo>
                    <a:pt x="9" y="456"/>
                  </a:lnTo>
                  <a:lnTo>
                    <a:pt x="11" y="468"/>
                  </a:lnTo>
                  <a:lnTo>
                    <a:pt x="11" y="478"/>
                  </a:lnTo>
                  <a:lnTo>
                    <a:pt x="11" y="489"/>
                  </a:lnTo>
                  <a:lnTo>
                    <a:pt x="12" y="498"/>
                  </a:lnTo>
                  <a:lnTo>
                    <a:pt x="12" y="506"/>
                  </a:lnTo>
                  <a:lnTo>
                    <a:pt x="12" y="515"/>
                  </a:lnTo>
                  <a:lnTo>
                    <a:pt x="12" y="523"/>
                  </a:lnTo>
                  <a:lnTo>
                    <a:pt x="13" y="530"/>
                  </a:lnTo>
                  <a:lnTo>
                    <a:pt x="13" y="538"/>
                  </a:lnTo>
                  <a:lnTo>
                    <a:pt x="13" y="545"/>
                  </a:lnTo>
                  <a:lnTo>
                    <a:pt x="14" y="551"/>
                  </a:lnTo>
                  <a:lnTo>
                    <a:pt x="14" y="557"/>
                  </a:lnTo>
                  <a:lnTo>
                    <a:pt x="14" y="563"/>
                  </a:lnTo>
                  <a:lnTo>
                    <a:pt x="16" y="568"/>
                  </a:lnTo>
                  <a:lnTo>
                    <a:pt x="16" y="570"/>
                  </a:lnTo>
                  <a:lnTo>
                    <a:pt x="16" y="573"/>
                  </a:lnTo>
                  <a:lnTo>
                    <a:pt x="17" y="576"/>
                  </a:lnTo>
                  <a:lnTo>
                    <a:pt x="17" y="578"/>
                  </a:lnTo>
                  <a:lnTo>
                    <a:pt x="17" y="579"/>
                  </a:lnTo>
                  <a:lnTo>
                    <a:pt x="18" y="581"/>
                  </a:lnTo>
                  <a:lnTo>
                    <a:pt x="18" y="579"/>
                  </a:lnTo>
                  <a:lnTo>
                    <a:pt x="18" y="578"/>
                  </a:lnTo>
                  <a:lnTo>
                    <a:pt x="18" y="576"/>
                  </a:lnTo>
                  <a:lnTo>
                    <a:pt x="19" y="573"/>
                  </a:lnTo>
                  <a:lnTo>
                    <a:pt x="19" y="570"/>
                  </a:lnTo>
                  <a:lnTo>
                    <a:pt x="19" y="568"/>
                  </a:lnTo>
                  <a:lnTo>
                    <a:pt x="21" y="562"/>
                  </a:lnTo>
                  <a:lnTo>
                    <a:pt x="21" y="557"/>
                  </a:lnTo>
                  <a:lnTo>
                    <a:pt x="21" y="551"/>
                  </a:lnTo>
                  <a:lnTo>
                    <a:pt x="22" y="545"/>
                  </a:lnTo>
                  <a:lnTo>
                    <a:pt x="22" y="538"/>
                  </a:lnTo>
                  <a:lnTo>
                    <a:pt x="22" y="530"/>
                  </a:lnTo>
                  <a:lnTo>
                    <a:pt x="23" y="523"/>
                  </a:lnTo>
                  <a:lnTo>
                    <a:pt x="23" y="515"/>
                  </a:lnTo>
                  <a:lnTo>
                    <a:pt x="23" y="506"/>
                  </a:lnTo>
                  <a:lnTo>
                    <a:pt x="24" y="498"/>
                  </a:lnTo>
                  <a:lnTo>
                    <a:pt x="24" y="489"/>
                  </a:lnTo>
                  <a:lnTo>
                    <a:pt x="24" y="478"/>
                  </a:lnTo>
                  <a:lnTo>
                    <a:pt x="25" y="468"/>
                  </a:lnTo>
                  <a:lnTo>
                    <a:pt x="25" y="456"/>
                  </a:lnTo>
                  <a:lnTo>
                    <a:pt x="25" y="444"/>
                  </a:lnTo>
                  <a:lnTo>
                    <a:pt x="27" y="432"/>
                  </a:lnTo>
                  <a:lnTo>
                    <a:pt x="27" y="420"/>
                  </a:lnTo>
                  <a:lnTo>
                    <a:pt x="28" y="407"/>
                  </a:lnTo>
                  <a:lnTo>
                    <a:pt x="28" y="393"/>
                  </a:lnTo>
                  <a:lnTo>
                    <a:pt x="29" y="380"/>
                  </a:lnTo>
                  <a:lnTo>
                    <a:pt x="29" y="350"/>
                  </a:lnTo>
                  <a:lnTo>
                    <a:pt x="30" y="320"/>
                  </a:lnTo>
                  <a:lnTo>
                    <a:pt x="32" y="291"/>
                  </a:lnTo>
                  <a:lnTo>
                    <a:pt x="32" y="282"/>
                  </a:lnTo>
                  <a:lnTo>
                    <a:pt x="32" y="274"/>
                  </a:lnTo>
                  <a:lnTo>
                    <a:pt x="32" y="256"/>
                  </a:lnTo>
                  <a:lnTo>
                    <a:pt x="33" y="237"/>
                  </a:lnTo>
                  <a:lnTo>
                    <a:pt x="33" y="218"/>
                  </a:lnTo>
                  <a:lnTo>
                    <a:pt x="33" y="198"/>
                  </a:lnTo>
                  <a:lnTo>
                    <a:pt x="33" y="177"/>
                  </a:lnTo>
                  <a:lnTo>
                    <a:pt x="34" y="136"/>
                  </a:lnTo>
                  <a:lnTo>
                    <a:pt x="34" y="116"/>
                  </a:lnTo>
                  <a:lnTo>
                    <a:pt x="34" y="96"/>
                  </a:lnTo>
                  <a:lnTo>
                    <a:pt x="35" y="78"/>
                  </a:lnTo>
                  <a:lnTo>
                    <a:pt x="35" y="58"/>
                  </a:lnTo>
                  <a:lnTo>
                    <a:pt x="35" y="42"/>
                  </a:lnTo>
                  <a:lnTo>
                    <a:pt x="35" y="33"/>
                  </a:lnTo>
                  <a:lnTo>
                    <a:pt x="35" y="26"/>
                  </a:lnTo>
                  <a:lnTo>
                    <a:pt x="35" y="18"/>
                  </a:lnTo>
                  <a:lnTo>
                    <a:pt x="35" y="12"/>
                  </a:lnTo>
                  <a:lnTo>
                    <a:pt x="35" y="5"/>
                  </a:lnTo>
                  <a:lnTo>
                    <a:pt x="36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33" name="Freeform 101"/>
            <p:cNvSpPr>
              <a:spLocks/>
            </p:cNvSpPr>
            <p:nvPr/>
          </p:nvSpPr>
          <p:spPr bwMode="auto">
            <a:xfrm>
              <a:off x="3518" y="965"/>
              <a:ext cx="37" cy="312"/>
            </a:xfrm>
            <a:custGeom>
              <a:avLst/>
              <a:gdLst>
                <a:gd name="T0" fmla="*/ 0 w 37"/>
                <a:gd name="T1" fmla="*/ 5 h 626"/>
                <a:gd name="T2" fmla="*/ 0 w 37"/>
                <a:gd name="T3" fmla="*/ 17 h 626"/>
                <a:gd name="T4" fmla="*/ 0 w 37"/>
                <a:gd name="T5" fmla="*/ 32 h 626"/>
                <a:gd name="T6" fmla="*/ 0 w 37"/>
                <a:gd name="T7" fmla="*/ 48 h 626"/>
                <a:gd name="T8" fmla="*/ 1 w 37"/>
                <a:gd name="T9" fmla="*/ 67 h 626"/>
                <a:gd name="T10" fmla="*/ 1 w 37"/>
                <a:gd name="T11" fmla="*/ 97 h 626"/>
                <a:gd name="T12" fmla="*/ 3 w 37"/>
                <a:gd name="T13" fmla="*/ 142 h 626"/>
                <a:gd name="T14" fmla="*/ 3 w 37"/>
                <a:gd name="T15" fmla="*/ 188 h 626"/>
                <a:gd name="T16" fmla="*/ 4 w 37"/>
                <a:gd name="T17" fmla="*/ 233 h 626"/>
                <a:gd name="T18" fmla="*/ 5 w 37"/>
                <a:gd name="T19" fmla="*/ 274 h 626"/>
                <a:gd name="T20" fmla="*/ 5 w 37"/>
                <a:gd name="T21" fmla="*/ 294 h 626"/>
                <a:gd name="T22" fmla="*/ 6 w 37"/>
                <a:gd name="T23" fmla="*/ 311 h 626"/>
                <a:gd name="T24" fmla="*/ 8 w 37"/>
                <a:gd name="T25" fmla="*/ 377 h 626"/>
                <a:gd name="T26" fmla="*/ 9 w 37"/>
                <a:gd name="T27" fmla="*/ 423 h 626"/>
                <a:gd name="T28" fmla="*/ 9 w 37"/>
                <a:gd name="T29" fmla="*/ 451 h 626"/>
                <a:gd name="T30" fmla="*/ 10 w 37"/>
                <a:gd name="T31" fmla="*/ 478 h 626"/>
                <a:gd name="T32" fmla="*/ 11 w 37"/>
                <a:gd name="T33" fmla="*/ 504 h 626"/>
                <a:gd name="T34" fmla="*/ 11 w 37"/>
                <a:gd name="T35" fmla="*/ 526 h 626"/>
                <a:gd name="T36" fmla="*/ 12 w 37"/>
                <a:gd name="T37" fmla="*/ 545 h 626"/>
                <a:gd name="T38" fmla="*/ 12 w 37"/>
                <a:gd name="T39" fmla="*/ 563 h 626"/>
                <a:gd name="T40" fmla="*/ 14 w 37"/>
                <a:gd name="T41" fmla="*/ 579 h 626"/>
                <a:gd name="T42" fmla="*/ 15 w 37"/>
                <a:gd name="T43" fmla="*/ 594 h 626"/>
                <a:gd name="T44" fmla="*/ 15 w 37"/>
                <a:gd name="T45" fmla="*/ 606 h 626"/>
                <a:gd name="T46" fmla="*/ 16 w 37"/>
                <a:gd name="T47" fmla="*/ 615 h 626"/>
                <a:gd name="T48" fmla="*/ 17 w 37"/>
                <a:gd name="T49" fmla="*/ 621 h 626"/>
                <a:gd name="T50" fmla="*/ 17 w 37"/>
                <a:gd name="T51" fmla="*/ 624 h 626"/>
                <a:gd name="T52" fmla="*/ 19 w 37"/>
                <a:gd name="T53" fmla="*/ 624 h 626"/>
                <a:gd name="T54" fmla="*/ 19 w 37"/>
                <a:gd name="T55" fmla="*/ 621 h 626"/>
                <a:gd name="T56" fmla="*/ 20 w 37"/>
                <a:gd name="T57" fmla="*/ 615 h 626"/>
                <a:gd name="T58" fmla="*/ 21 w 37"/>
                <a:gd name="T59" fmla="*/ 605 h 626"/>
                <a:gd name="T60" fmla="*/ 21 w 37"/>
                <a:gd name="T61" fmla="*/ 594 h 626"/>
                <a:gd name="T62" fmla="*/ 22 w 37"/>
                <a:gd name="T63" fmla="*/ 579 h 626"/>
                <a:gd name="T64" fmla="*/ 24 w 37"/>
                <a:gd name="T65" fmla="*/ 563 h 626"/>
                <a:gd name="T66" fmla="*/ 24 w 37"/>
                <a:gd name="T67" fmla="*/ 545 h 626"/>
                <a:gd name="T68" fmla="*/ 25 w 37"/>
                <a:gd name="T69" fmla="*/ 526 h 626"/>
                <a:gd name="T70" fmla="*/ 26 w 37"/>
                <a:gd name="T71" fmla="*/ 504 h 626"/>
                <a:gd name="T72" fmla="*/ 26 w 37"/>
                <a:gd name="T73" fmla="*/ 478 h 626"/>
                <a:gd name="T74" fmla="*/ 27 w 37"/>
                <a:gd name="T75" fmla="*/ 451 h 626"/>
                <a:gd name="T76" fmla="*/ 28 w 37"/>
                <a:gd name="T77" fmla="*/ 423 h 626"/>
                <a:gd name="T78" fmla="*/ 30 w 37"/>
                <a:gd name="T79" fmla="*/ 377 h 626"/>
                <a:gd name="T80" fmla="*/ 32 w 37"/>
                <a:gd name="T81" fmla="*/ 313 h 626"/>
                <a:gd name="T82" fmla="*/ 32 w 37"/>
                <a:gd name="T83" fmla="*/ 295 h 626"/>
                <a:gd name="T84" fmla="*/ 33 w 37"/>
                <a:gd name="T85" fmla="*/ 256 h 626"/>
                <a:gd name="T86" fmla="*/ 33 w 37"/>
                <a:gd name="T87" fmla="*/ 213 h 626"/>
                <a:gd name="T88" fmla="*/ 35 w 37"/>
                <a:gd name="T89" fmla="*/ 146 h 626"/>
                <a:gd name="T90" fmla="*/ 35 w 37"/>
                <a:gd name="T91" fmla="*/ 103 h 626"/>
                <a:gd name="T92" fmla="*/ 36 w 37"/>
                <a:gd name="T93" fmla="*/ 63 h 626"/>
                <a:gd name="T94" fmla="*/ 36 w 37"/>
                <a:gd name="T95" fmla="*/ 36 h 626"/>
                <a:gd name="T96" fmla="*/ 36 w 37"/>
                <a:gd name="T97" fmla="*/ 20 h 626"/>
                <a:gd name="T98" fmla="*/ 36 w 37"/>
                <a:gd name="T99" fmla="*/ 6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7" h="626">
                  <a:moveTo>
                    <a:pt x="0" y="0"/>
                  </a:moveTo>
                  <a:lnTo>
                    <a:pt x="0" y="5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0" y="48"/>
                  </a:lnTo>
                  <a:lnTo>
                    <a:pt x="0" y="57"/>
                  </a:lnTo>
                  <a:lnTo>
                    <a:pt x="1" y="67"/>
                  </a:lnTo>
                  <a:lnTo>
                    <a:pt x="1" y="76"/>
                  </a:lnTo>
                  <a:lnTo>
                    <a:pt x="1" y="97"/>
                  </a:lnTo>
                  <a:lnTo>
                    <a:pt x="1" y="119"/>
                  </a:lnTo>
                  <a:lnTo>
                    <a:pt x="3" y="142"/>
                  </a:lnTo>
                  <a:lnTo>
                    <a:pt x="3" y="164"/>
                  </a:lnTo>
                  <a:lnTo>
                    <a:pt x="3" y="188"/>
                  </a:lnTo>
                  <a:lnTo>
                    <a:pt x="4" y="210"/>
                  </a:lnTo>
                  <a:lnTo>
                    <a:pt x="4" y="233"/>
                  </a:lnTo>
                  <a:lnTo>
                    <a:pt x="5" y="255"/>
                  </a:lnTo>
                  <a:lnTo>
                    <a:pt x="5" y="274"/>
                  </a:lnTo>
                  <a:lnTo>
                    <a:pt x="5" y="285"/>
                  </a:lnTo>
                  <a:lnTo>
                    <a:pt x="5" y="294"/>
                  </a:lnTo>
                  <a:lnTo>
                    <a:pt x="5" y="303"/>
                  </a:lnTo>
                  <a:lnTo>
                    <a:pt x="6" y="311"/>
                  </a:lnTo>
                  <a:lnTo>
                    <a:pt x="6" y="344"/>
                  </a:lnTo>
                  <a:lnTo>
                    <a:pt x="8" y="377"/>
                  </a:lnTo>
                  <a:lnTo>
                    <a:pt x="8" y="408"/>
                  </a:lnTo>
                  <a:lnTo>
                    <a:pt x="9" y="423"/>
                  </a:lnTo>
                  <a:lnTo>
                    <a:pt x="9" y="438"/>
                  </a:lnTo>
                  <a:lnTo>
                    <a:pt x="9" y="451"/>
                  </a:lnTo>
                  <a:lnTo>
                    <a:pt x="10" y="465"/>
                  </a:lnTo>
                  <a:lnTo>
                    <a:pt x="10" y="478"/>
                  </a:lnTo>
                  <a:lnTo>
                    <a:pt x="10" y="492"/>
                  </a:lnTo>
                  <a:lnTo>
                    <a:pt x="11" y="504"/>
                  </a:lnTo>
                  <a:lnTo>
                    <a:pt x="11" y="515"/>
                  </a:lnTo>
                  <a:lnTo>
                    <a:pt x="11" y="526"/>
                  </a:lnTo>
                  <a:lnTo>
                    <a:pt x="12" y="536"/>
                  </a:lnTo>
                  <a:lnTo>
                    <a:pt x="12" y="545"/>
                  </a:lnTo>
                  <a:lnTo>
                    <a:pt x="12" y="554"/>
                  </a:lnTo>
                  <a:lnTo>
                    <a:pt x="12" y="563"/>
                  </a:lnTo>
                  <a:lnTo>
                    <a:pt x="14" y="572"/>
                  </a:lnTo>
                  <a:lnTo>
                    <a:pt x="14" y="579"/>
                  </a:lnTo>
                  <a:lnTo>
                    <a:pt x="14" y="587"/>
                  </a:lnTo>
                  <a:lnTo>
                    <a:pt x="15" y="594"/>
                  </a:lnTo>
                  <a:lnTo>
                    <a:pt x="15" y="600"/>
                  </a:lnTo>
                  <a:lnTo>
                    <a:pt x="15" y="606"/>
                  </a:lnTo>
                  <a:lnTo>
                    <a:pt x="16" y="611"/>
                  </a:lnTo>
                  <a:lnTo>
                    <a:pt x="16" y="615"/>
                  </a:lnTo>
                  <a:lnTo>
                    <a:pt x="16" y="618"/>
                  </a:lnTo>
                  <a:lnTo>
                    <a:pt x="17" y="621"/>
                  </a:lnTo>
                  <a:lnTo>
                    <a:pt x="17" y="623"/>
                  </a:lnTo>
                  <a:lnTo>
                    <a:pt x="17" y="624"/>
                  </a:lnTo>
                  <a:lnTo>
                    <a:pt x="19" y="626"/>
                  </a:lnTo>
                  <a:lnTo>
                    <a:pt x="19" y="624"/>
                  </a:lnTo>
                  <a:lnTo>
                    <a:pt x="19" y="623"/>
                  </a:lnTo>
                  <a:lnTo>
                    <a:pt x="19" y="621"/>
                  </a:lnTo>
                  <a:lnTo>
                    <a:pt x="20" y="618"/>
                  </a:lnTo>
                  <a:lnTo>
                    <a:pt x="20" y="615"/>
                  </a:lnTo>
                  <a:lnTo>
                    <a:pt x="20" y="611"/>
                  </a:lnTo>
                  <a:lnTo>
                    <a:pt x="21" y="605"/>
                  </a:lnTo>
                  <a:lnTo>
                    <a:pt x="21" y="600"/>
                  </a:lnTo>
                  <a:lnTo>
                    <a:pt x="21" y="594"/>
                  </a:lnTo>
                  <a:lnTo>
                    <a:pt x="22" y="587"/>
                  </a:lnTo>
                  <a:lnTo>
                    <a:pt x="22" y="579"/>
                  </a:lnTo>
                  <a:lnTo>
                    <a:pt x="22" y="572"/>
                  </a:lnTo>
                  <a:lnTo>
                    <a:pt x="24" y="563"/>
                  </a:lnTo>
                  <a:lnTo>
                    <a:pt x="24" y="554"/>
                  </a:lnTo>
                  <a:lnTo>
                    <a:pt x="24" y="545"/>
                  </a:lnTo>
                  <a:lnTo>
                    <a:pt x="25" y="536"/>
                  </a:lnTo>
                  <a:lnTo>
                    <a:pt x="25" y="526"/>
                  </a:lnTo>
                  <a:lnTo>
                    <a:pt x="25" y="515"/>
                  </a:lnTo>
                  <a:lnTo>
                    <a:pt x="26" y="504"/>
                  </a:lnTo>
                  <a:lnTo>
                    <a:pt x="26" y="492"/>
                  </a:lnTo>
                  <a:lnTo>
                    <a:pt x="26" y="478"/>
                  </a:lnTo>
                  <a:lnTo>
                    <a:pt x="27" y="466"/>
                  </a:lnTo>
                  <a:lnTo>
                    <a:pt x="27" y="451"/>
                  </a:lnTo>
                  <a:lnTo>
                    <a:pt x="28" y="438"/>
                  </a:lnTo>
                  <a:lnTo>
                    <a:pt x="28" y="423"/>
                  </a:lnTo>
                  <a:lnTo>
                    <a:pt x="30" y="408"/>
                  </a:lnTo>
                  <a:lnTo>
                    <a:pt x="30" y="377"/>
                  </a:lnTo>
                  <a:lnTo>
                    <a:pt x="31" y="346"/>
                  </a:lnTo>
                  <a:lnTo>
                    <a:pt x="32" y="313"/>
                  </a:lnTo>
                  <a:lnTo>
                    <a:pt x="32" y="304"/>
                  </a:lnTo>
                  <a:lnTo>
                    <a:pt x="32" y="295"/>
                  </a:lnTo>
                  <a:lnTo>
                    <a:pt x="32" y="276"/>
                  </a:lnTo>
                  <a:lnTo>
                    <a:pt x="33" y="256"/>
                  </a:lnTo>
                  <a:lnTo>
                    <a:pt x="33" y="236"/>
                  </a:lnTo>
                  <a:lnTo>
                    <a:pt x="33" y="213"/>
                  </a:lnTo>
                  <a:lnTo>
                    <a:pt x="33" y="191"/>
                  </a:lnTo>
                  <a:lnTo>
                    <a:pt x="35" y="146"/>
                  </a:lnTo>
                  <a:lnTo>
                    <a:pt x="35" y="125"/>
                  </a:lnTo>
                  <a:lnTo>
                    <a:pt x="35" y="103"/>
                  </a:lnTo>
                  <a:lnTo>
                    <a:pt x="36" y="82"/>
                  </a:lnTo>
                  <a:lnTo>
                    <a:pt x="36" y="63"/>
                  </a:lnTo>
                  <a:lnTo>
                    <a:pt x="36" y="45"/>
                  </a:lnTo>
                  <a:lnTo>
                    <a:pt x="36" y="36"/>
                  </a:lnTo>
                  <a:lnTo>
                    <a:pt x="36" y="29"/>
                  </a:lnTo>
                  <a:lnTo>
                    <a:pt x="36" y="20"/>
                  </a:lnTo>
                  <a:lnTo>
                    <a:pt x="36" y="12"/>
                  </a:lnTo>
                  <a:lnTo>
                    <a:pt x="36" y="6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34" name="Freeform 102"/>
            <p:cNvSpPr>
              <a:spLocks/>
            </p:cNvSpPr>
            <p:nvPr/>
          </p:nvSpPr>
          <p:spPr bwMode="auto">
            <a:xfrm>
              <a:off x="3592" y="965"/>
              <a:ext cx="37" cy="290"/>
            </a:xfrm>
            <a:custGeom>
              <a:avLst/>
              <a:gdLst>
                <a:gd name="T0" fmla="*/ 0 w 37"/>
                <a:gd name="T1" fmla="*/ 5 h 581"/>
                <a:gd name="T2" fmla="*/ 0 w 37"/>
                <a:gd name="T3" fmla="*/ 15 h 581"/>
                <a:gd name="T4" fmla="*/ 0 w 37"/>
                <a:gd name="T5" fmla="*/ 30 h 581"/>
                <a:gd name="T6" fmla="*/ 0 w 37"/>
                <a:gd name="T7" fmla="*/ 45 h 581"/>
                <a:gd name="T8" fmla="*/ 1 w 37"/>
                <a:gd name="T9" fmla="*/ 63 h 581"/>
                <a:gd name="T10" fmla="*/ 1 w 37"/>
                <a:gd name="T11" fmla="*/ 91 h 581"/>
                <a:gd name="T12" fmla="*/ 2 w 37"/>
                <a:gd name="T13" fmla="*/ 131 h 581"/>
                <a:gd name="T14" fmla="*/ 2 w 37"/>
                <a:gd name="T15" fmla="*/ 174 h 581"/>
                <a:gd name="T16" fmla="*/ 3 w 37"/>
                <a:gd name="T17" fmla="*/ 216 h 581"/>
                <a:gd name="T18" fmla="*/ 5 w 37"/>
                <a:gd name="T19" fmla="*/ 255 h 581"/>
                <a:gd name="T20" fmla="*/ 5 w 37"/>
                <a:gd name="T21" fmla="*/ 273 h 581"/>
                <a:gd name="T22" fmla="*/ 6 w 37"/>
                <a:gd name="T23" fmla="*/ 289 h 581"/>
                <a:gd name="T24" fmla="*/ 7 w 37"/>
                <a:gd name="T25" fmla="*/ 350 h 581"/>
                <a:gd name="T26" fmla="*/ 8 w 37"/>
                <a:gd name="T27" fmla="*/ 393 h 581"/>
                <a:gd name="T28" fmla="*/ 8 w 37"/>
                <a:gd name="T29" fmla="*/ 420 h 581"/>
                <a:gd name="T30" fmla="*/ 10 w 37"/>
                <a:gd name="T31" fmla="*/ 444 h 581"/>
                <a:gd name="T32" fmla="*/ 11 w 37"/>
                <a:gd name="T33" fmla="*/ 468 h 581"/>
                <a:gd name="T34" fmla="*/ 11 w 37"/>
                <a:gd name="T35" fmla="*/ 489 h 581"/>
                <a:gd name="T36" fmla="*/ 12 w 37"/>
                <a:gd name="T37" fmla="*/ 506 h 581"/>
                <a:gd name="T38" fmla="*/ 12 w 37"/>
                <a:gd name="T39" fmla="*/ 523 h 581"/>
                <a:gd name="T40" fmla="*/ 13 w 37"/>
                <a:gd name="T41" fmla="*/ 538 h 581"/>
                <a:gd name="T42" fmla="*/ 15 w 37"/>
                <a:gd name="T43" fmla="*/ 551 h 581"/>
                <a:gd name="T44" fmla="*/ 15 w 37"/>
                <a:gd name="T45" fmla="*/ 563 h 581"/>
                <a:gd name="T46" fmla="*/ 16 w 37"/>
                <a:gd name="T47" fmla="*/ 570 h 581"/>
                <a:gd name="T48" fmla="*/ 17 w 37"/>
                <a:gd name="T49" fmla="*/ 576 h 581"/>
                <a:gd name="T50" fmla="*/ 17 w 37"/>
                <a:gd name="T51" fmla="*/ 579 h 581"/>
                <a:gd name="T52" fmla="*/ 18 w 37"/>
                <a:gd name="T53" fmla="*/ 579 h 581"/>
                <a:gd name="T54" fmla="*/ 18 w 37"/>
                <a:gd name="T55" fmla="*/ 576 h 581"/>
                <a:gd name="T56" fmla="*/ 19 w 37"/>
                <a:gd name="T57" fmla="*/ 570 h 581"/>
                <a:gd name="T58" fmla="*/ 21 w 37"/>
                <a:gd name="T59" fmla="*/ 562 h 581"/>
                <a:gd name="T60" fmla="*/ 21 w 37"/>
                <a:gd name="T61" fmla="*/ 551 h 581"/>
                <a:gd name="T62" fmla="*/ 22 w 37"/>
                <a:gd name="T63" fmla="*/ 538 h 581"/>
                <a:gd name="T64" fmla="*/ 23 w 37"/>
                <a:gd name="T65" fmla="*/ 523 h 581"/>
                <a:gd name="T66" fmla="*/ 23 w 37"/>
                <a:gd name="T67" fmla="*/ 506 h 581"/>
                <a:gd name="T68" fmla="*/ 24 w 37"/>
                <a:gd name="T69" fmla="*/ 489 h 581"/>
                <a:gd name="T70" fmla="*/ 26 w 37"/>
                <a:gd name="T71" fmla="*/ 468 h 581"/>
                <a:gd name="T72" fmla="*/ 26 w 37"/>
                <a:gd name="T73" fmla="*/ 444 h 581"/>
                <a:gd name="T74" fmla="*/ 27 w 37"/>
                <a:gd name="T75" fmla="*/ 420 h 581"/>
                <a:gd name="T76" fmla="*/ 28 w 37"/>
                <a:gd name="T77" fmla="*/ 393 h 581"/>
                <a:gd name="T78" fmla="*/ 29 w 37"/>
                <a:gd name="T79" fmla="*/ 350 h 581"/>
                <a:gd name="T80" fmla="*/ 32 w 37"/>
                <a:gd name="T81" fmla="*/ 291 h 581"/>
                <a:gd name="T82" fmla="*/ 32 w 37"/>
                <a:gd name="T83" fmla="*/ 274 h 581"/>
                <a:gd name="T84" fmla="*/ 33 w 37"/>
                <a:gd name="T85" fmla="*/ 237 h 581"/>
                <a:gd name="T86" fmla="*/ 33 w 37"/>
                <a:gd name="T87" fmla="*/ 198 h 581"/>
                <a:gd name="T88" fmla="*/ 34 w 37"/>
                <a:gd name="T89" fmla="*/ 136 h 581"/>
                <a:gd name="T90" fmla="*/ 34 w 37"/>
                <a:gd name="T91" fmla="*/ 96 h 581"/>
                <a:gd name="T92" fmla="*/ 35 w 37"/>
                <a:gd name="T93" fmla="*/ 58 h 581"/>
                <a:gd name="T94" fmla="*/ 35 w 37"/>
                <a:gd name="T95" fmla="*/ 33 h 581"/>
                <a:gd name="T96" fmla="*/ 35 w 37"/>
                <a:gd name="T97" fmla="*/ 18 h 581"/>
                <a:gd name="T98" fmla="*/ 35 w 37"/>
                <a:gd name="T99" fmla="*/ 5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7" h="581">
                  <a:moveTo>
                    <a:pt x="0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23"/>
                  </a:lnTo>
                  <a:lnTo>
                    <a:pt x="0" y="30"/>
                  </a:lnTo>
                  <a:lnTo>
                    <a:pt x="0" y="38"/>
                  </a:lnTo>
                  <a:lnTo>
                    <a:pt x="0" y="45"/>
                  </a:lnTo>
                  <a:lnTo>
                    <a:pt x="0" y="54"/>
                  </a:lnTo>
                  <a:lnTo>
                    <a:pt x="1" y="63"/>
                  </a:lnTo>
                  <a:lnTo>
                    <a:pt x="1" y="72"/>
                  </a:lnTo>
                  <a:lnTo>
                    <a:pt x="1" y="91"/>
                  </a:lnTo>
                  <a:lnTo>
                    <a:pt x="1" y="110"/>
                  </a:lnTo>
                  <a:lnTo>
                    <a:pt x="2" y="131"/>
                  </a:lnTo>
                  <a:lnTo>
                    <a:pt x="2" y="152"/>
                  </a:lnTo>
                  <a:lnTo>
                    <a:pt x="2" y="174"/>
                  </a:lnTo>
                  <a:lnTo>
                    <a:pt x="3" y="195"/>
                  </a:lnTo>
                  <a:lnTo>
                    <a:pt x="3" y="216"/>
                  </a:lnTo>
                  <a:lnTo>
                    <a:pt x="5" y="236"/>
                  </a:lnTo>
                  <a:lnTo>
                    <a:pt x="5" y="255"/>
                  </a:lnTo>
                  <a:lnTo>
                    <a:pt x="5" y="264"/>
                  </a:lnTo>
                  <a:lnTo>
                    <a:pt x="5" y="273"/>
                  </a:lnTo>
                  <a:lnTo>
                    <a:pt x="5" y="282"/>
                  </a:lnTo>
                  <a:lnTo>
                    <a:pt x="6" y="289"/>
                  </a:lnTo>
                  <a:lnTo>
                    <a:pt x="6" y="320"/>
                  </a:lnTo>
                  <a:lnTo>
                    <a:pt x="7" y="350"/>
                  </a:lnTo>
                  <a:lnTo>
                    <a:pt x="7" y="378"/>
                  </a:lnTo>
                  <a:lnTo>
                    <a:pt x="8" y="393"/>
                  </a:lnTo>
                  <a:lnTo>
                    <a:pt x="8" y="407"/>
                  </a:lnTo>
                  <a:lnTo>
                    <a:pt x="8" y="420"/>
                  </a:lnTo>
                  <a:lnTo>
                    <a:pt x="10" y="432"/>
                  </a:lnTo>
                  <a:lnTo>
                    <a:pt x="10" y="444"/>
                  </a:lnTo>
                  <a:lnTo>
                    <a:pt x="10" y="456"/>
                  </a:lnTo>
                  <a:lnTo>
                    <a:pt x="11" y="468"/>
                  </a:lnTo>
                  <a:lnTo>
                    <a:pt x="11" y="478"/>
                  </a:lnTo>
                  <a:lnTo>
                    <a:pt x="11" y="489"/>
                  </a:lnTo>
                  <a:lnTo>
                    <a:pt x="12" y="498"/>
                  </a:lnTo>
                  <a:lnTo>
                    <a:pt x="12" y="506"/>
                  </a:lnTo>
                  <a:lnTo>
                    <a:pt x="12" y="515"/>
                  </a:lnTo>
                  <a:lnTo>
                    <a:pt x="12" y="523"/>
                  </a:lnTo>
                  <a:lnTo>
                    <a:pt x="13" y="532"/>
                  </a:lnTo>
                  <a:lnTo>
                    <a:pt x="13" y="538"/>
                  </a:lnTo>
                  <a:lnTo>
                    <a:pt x="13" y="545"/>
                  </a:lnTo>
                  <a:lnTo>
                    <a:pt x="15" y="551"/>
                  </a:lnTo>
                  <a:lnTo>
                    <a:pt x="15" y="557"/>
                  </a:lnTo>
                  <a:lnTo>
                    <a:pt x="15" y="563"/>
                  </a:lnTo>
                  <a:lnTo>
                    <a:pt x="16" y="568"/>
                  </a:lnTo>
                  <a:lnTo>
                    <a:pt x="16" y="570"/>
                  </a:lnTo>
                  <a:lnTo>
                    <a:pt x="16" y="573"/>
                  </a:lnTo>
                  <a:lnTo>
                    <a:pt x="17" y="576"/>
                  </a:lnTo>
                  <a:lnTo>
                    <a:pt x="17" y="578"/>
                  </a:lnTo>
                  <a:lnTo>
                    <a:pt x="17" y="579"/>
                  </a:lnTo>
                  <a:lnTo>
                    <a:pt x="18" y="581"/>
                  </a:lnTo>
                  <a:lnTo>
                    <a:pt x="18" y="579"/>
                  </a:lnTo>
                  <a:lnTo>
                    <a:pt x="18" y="578"/>
                  </a:lnTo>
                  <a:lnTo>
                    <a:pt x="18" y="576"/>
                  </a:lnTo>
                  <a:lnTo>
                    <a:pt x="19" y="573"/>
                  </a:lnTo>
                  <a:lnTo>
                    <a:pt x="19" y="570"/>
                  </a:lnTo>
                  <a:lnTo>
                    <a:pt x="19" y="568"/>
                  </a:lnTo>
                  <a:lnTo>
                    <a:pt x="21" y="562"/>
                  </a:lnTo>
                  <a:lnTo>
                    <a:pt x="21" y="557"/>
                  </a:lnTo>
                  <a:lnTo>
                    <a:pt x="21" y="551"/>
                  </a:lnTo>
                  <a:lnTo>
                    <a:pt x="22" y="545"/>
                  </a:lnTo>
                  <a:lnTo>
                    <a:pt x="22" y="538"/>
                  </a:lnTo>
                  <a:lnTo>
                    <a:pt x="22" y="530"/>
                  </a:lnTo>
                  <a:lnTo>
                    <a:pt x="23" y="523"/>
                  </a:lnTo>
                  <a:lnTo>
                    <a:pt x="23" y="515"/>
                  </a:lnTo>
                  <a:lnTo>
                    <a:pt x="23" y="506"/>
                  </a:lnTo>
                  <a:lnTo>
                    <a:pt x="24" y="498"/>
                  </a:lnTo>
                  <a:lnTo>
                    <a:pt x="24" y="489"/>
                  </a:lnTo>
                  <a:lnTo>
                    <a:pt x="24" y="478"/>
                  </a:lnTo>
                  <a:lnTo>
                    <a:pt x="26" y="468"/>
                  </a:lnTo>
                  <a:lnTo>
                    <a:pt x="26" y="456"/>
                  </a:lnTo>
                  <a:lnTo>
                    <a:pt x="26" y="444"/>
                  </a:lnTo>
                  <a:lnTo>
                    <a:pt x="27" y="432"/>
                  </a:lnTo>
                  <a:lnTo>
                    <a:pt x="27" y="420"/>
                  </a:lnTo>
                  <a:lnTo>
                    <a:pt x="28" y="407"/>
                  </a:lnTo>
                  <a:lnTo>
                    <a:pt x="28" y="393"/>
                  </a:lnTo>
                  <a:lnTo>
                    <a:pt x="29" y="380"/>
                  </a:lnTo>
                  <a:lnTo>
                    <a:pt x="29" y="350"/>
                  </a:lnTo>
                  <a:lnTo>
                    <a:pt x="30" y="320"/>
                  </a:lnTo>
                  <a:lnTo>
                    <a:pt x="32" y="291"/>
                  </a:lnTo>
                  <a:lnTo>
                    <a:pt x="32" y="282"/>
                  </a:lnTo>
                  <a:lnTo>
                    <a:pt x="32" y="274"/>
                  </a:lnTo>
                  <a:lnTo>
                    <a:pt x="32" y="256"/>
                  </a:lnTo>
                  <a:lnTo>
                    <a:pt x="33" y="237"/>
                  </a:lnTo>
                  <a:lnTo>
                    <a:pt x="33" y="218"/>
                  </a:lnTo>
                  <a:lnTo>
                    <a:pt x="33" y="198"/>
                  </a:lnTo>
                  <a:lnTo>
                    <a:pt x="34" y="177"/>
                  </a:lnTo>
                  <a:lnTo>
                    <a:pt x="34" y="136"/>
                  </a:lnTo>
                  <a:lnTo>
                    <a:pt x="34" y="116"/>
                  </a:lnTo>
                  <a:lnTo>
                    <a:pt x="34" y="96"/>
                  </a:lnTo>
                  <a:lnTo>
                    <a:pt x="35" y="78"/>
                  </a:lnTo>
                  <a:lnTo>
                    <a:pt x="35" y="58"/>
                  </a:lnTo>
                  <a:lnTo>
                    <a:pt x="35" y="42"/>
                  </a:lnTo>
                  <a:lnTo>
                    <a:pt x="35" y="33"/>
                  </a:lnTo>
                  <a:lnTo>
                    <a:pt x="35" y="26"/>
                  </a:lnTo>
                  <a:lnTo>
                    <a:pt x="35" y="18"/>
                  </a:lnTo>
                  <a:lnTo>
                    <a:pt x="35" y="12"/>
                  </a:lnTo>
                  <a:lnTo>
                    <a:pt x="35" y="5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35" name="Freeform 103"/>
            <p:cNvSpPr>
              <a:spLocks/>
            </p:cNvSpPr>
            <p:nvPr/>
          </p:nvSpPr>
          <p:spPr bwMode="auto">
            <a:xfrm>
              <a:off x="3665" y="965"/>
              <a:ext cx="37" cy="290"/>
            </a:xfrm>
            <a:custGeom>
              <a:avLst/>
              <a:gdLst>
                <a:gd name="T0" fmla="*/ 0 w 37"/>
                <a:gd name="T1" fmla="*/ 5 h 581"/>
                <a:gd name="T2" fmla="*/ 0 w 37"/>
                <a:gd name="T3" fmla="*/ 15 h 581"/>
                <a:gd name="T4" fmla="*/ 0 w 37"/>
                <a:gd name="T5" fmla="*/ 30 h 581"/>
                <a:gd name="T6" fmla="*/ 0 w 37"/>
                <a:gd name="T7" fmla="*/ 45 h 581"/>
                <a:gd name="T8" fmla="*/ 2 w 37"/>
                <a:gd name="T9" fmla="*/ 63 h 581"/>
                <a:gd name="T10" fmla="*/ 2 w 37"/>
                <a:gd name="T11" fmla="*/ 91 h 581"/>
                <a:gd name="T12" fmla="*/ 3 w 37"/>
                <a:gd name="T13" fmla="*/ 131 h 581"/>
                <a:gd name="T14" fmla="*/ 3 w 37"/>
                <a:gd name="T15" fmla="*/ 174 h 581"/>
                <a:gd name="T16" fmla="*/ 4 w 37"/>
                <a:gd name="T17" fmla="*/ 216 h 581"/>
                <a:gd name="T18" fmla="*/ 5 w 37"/>
                <a:gd name="T19" fmla="*/ 255 h 581"/>
                <a:gd name="T20" fmla="*/ 5 w 37"/>
                <a:gd name="T21" fmla="*/ 273 h 581"/>
                <a:gd name="T22" fmla="*/ 6 w 37"/>
                <a:gd name="T23" fmla="*/ 289 h 581"/>
                <a:gd name="T24" fmla="*/ 8 w 37"/>
                <a:gd name="T25" fmla="*/ 350 h 581"/>
                <a:gd name="T26" fmla="*/ 9 w 37"/>
                <a:gd name="T27" fmla="*/ 393 h 581"/>
                <a:gd name="T28" fmla="*/ 9 w 37"/>
                <a:gd name="T29" fmla="*/ 420 h 581"/>
                <a:gd name="T30" fmla="*/ 10 w 37"/>
                <a:gd name="T31" fmla="*/ 444 h 581"/>
                <a:gd name="T32" fmla="*/ 11 w 37"/>
                <a:gd name="T33" fmla="*/ 468 h 581"/>
                <a:gd name="T34" fmla="*/ 11 w 37"/>
                <a:gd name="T35" fmla="*/ 489 h 581"/>
                <a:gd name="T36" fmla="*/ 13 w 37"/>
                <a:gd name="T37" fmla="*/ 506 h 581"/>
                <a:gd name="T38" fmla="*/ 13 w 37"/>
                <a:gd name="T39" fmla="*/ 523 h 581"/>
                <a:gd name="T40" fmla="*/ 14 w 37"/>
                <a:gd name="T41" fmla="*/ 538 h 581"/>
                <a:gd name="T42" fmla="*/ 15 w 37"/>
                <a:gd name="T43" fmla="*/ 551 h 581"/>
                <a:gd name="T44" fmla="*/ 15 w 37"/>
                <a:gd name="T45" fmla="*/ 563 h 581"/>
                <a:gd name="T46" fmla="*/ 16 w 37"/>
                <a:gd name="T47" fmla="*/ 570 h 581"/>
                <a:gd name="T48" fmla="*/ 18 w 37"/>
                <a:gd name="T49" fmla="*/ 576 h 581"/>
                <a:gd name="T50" fmla="*/ 18 w 37"/>
                <a:gd name="T51" fmla="*/ 579 h 581"/>
                <a:gd name="T52" fmla="*/ 19 w 37"/>
                <a:gd name="T53" fmla="*/ 579 h 581"/>
                <a:gd name="T54" fmla="*/ 19 w 37"/>
                <a:gd name="T55" fmla="*/ 576 h 581"/>
                <a:gd name="T56" fmla="*/ 20 w 37"/>
                <a:gd name="T57" fmla="*/ 570 h 581"/>
                <a:gd name="T58" fmla="*/ 21 w 37"/>
                <a:gd name="T59" fmla="*/ 562 h 581"/>
                <a:gd name="T60" fmla="*/ 21 w 37"/>
                <a:gd name="T61" fmla="*/ 551 h 581"/>
                <a:gd name="T62" fmla="*/ 22 w 37"/>
                <a:gd name="T63" fmla="*/ 538 h 581"/>
                <a:gd name="T64" fmla="*/ 24 w 37"/>
                <a:gd name="T65" fmla="*/ 523 h 581"/>
                <a:gd name="T66" fmla="*/ 24 w 37"/>
                <a:gd name="T67" fmla="*/ 506 h 581"/>
                <a:gd name="T68" fmla="*/ 25 w 37"/>
                <a:gd name="T69" fmla="*/ 489 h 581"/>
                <a:gd name="T70" fmla="*/ 26 w 37"/>
                <a:gd name="T71" fmla="*/ 468 h 581"/>
                <a:gd name="T72" fmla="*/ 26 w 37"/>
                <a:gd name="T73" fmla="*/ 444 h 581"/>
                <a:gd name="T74" fmla="*/ 27 w 37"/>
                <a:gd name="T75" fmla="*/ 420 h 581"/>
                <a:gd name="T76" fmla="*/ 29 w 37"/>
                <a:gd name="T77" fmla="*/ 393 h 581"/>
                <a:gd name="T78" fmla="*/ 30 w 37"/>
                <a:gd name="T79" fmla="*/ 350 h 581"/>
                <a:gd name="T80" fmla="*/ 32 w 37"/>
                <a:gd name="T81" fmla="*/ 291 h 581"/>
                <a:gd name="T82" fmla="*/ 32 w 37"/>
                <a:gd name="T83" fmla="*/ 274 h 581"/>
                <a:gd name="T84" fmla="*/ 33 w 37"/>
                <a:gd name="T85" fmla="*/ 237 h 581"/>
                <a:gd name="T86" fmla="*/ 33 w 37"/>
                <a:gd name="T87" fmla="*/ 198 h 581"/>
                <a:gd name="T88" fmla="*/ 35 w 37"/>
                <a:gd name="T89" fmla="*/ 136 h 581"/>
                <a:gd name="T90" fmla="*/ 35 w 37"/>
                <a:gd name="T91" fmla="*/ 96 h 581"/>
                <a:gd name="T92" fmla="*/ 36 w 37"/>
                <a:gd name="T93" fmla="*/ 58 h 581"/>
                <a:gd name="T94" fmla="*/ 36 w 37"/>
                <a:gd name="T95" fmla="*/ 33 h 581"/>
                <a:gd name="T96" fmla="*/ 36 w 37"/>
                <a:gd name="T97" fmla="*/ 18 h 581"/>
                <a:gd name="T98" fmla="*/ 36 w 37"/>
                <a:gd name="T99" fmla="*/ 5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7" h="581">
                  <a:moveTo>
                    <a:pt x="0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23"/>
                  </a:lnTo>
                  <a:lnTo>
                    <a:pt x="0" y="30"/>
                  </a:lnTo>
                  <a:lnTo>
                    <a:pt x="0" y="38"/>
                  </a:lnTo>
                  <a:lnTo>
                    <a:pt x="0" y="45"/>
                  </a:lnTo>
                  <a:lnTo>
                    <a:pt x="0" y="54"/>
                  </a:lnTo>
                  <a:lnTo>
                    <a:pt x="2" y="63"/>
                  </a:lnTo>
                  <a:lnTo>
                    <a:pt x="2" y="72"/>
                  </a:lnTo>
                  <a:lnTo>
                    <a:pt x="2" y="91"/>
                  </a:lnTo>
                  <a:lnTo>
                    <a:pt x="2" y="110"/>
                  </a:lnTo>
                  <a:lnTo>
                    <a:pt x="3" y="131"/>
                  </a:lnTo>
                  <a:lnTo>
                    <a:pt x="3" y="152"/>
                  </a:lnTo>
                  <a:lnTo>
                    <a:pt x="3" y="174"/>
                  </a:lnTo>
                  <a:lnTo>
                    <a:pt x="4" y="195"/>
                  </a:lnTo>
                  <a:lnTo>
                    <a:pt x="4" y="216"/>
                  </a:lnTo>
                  <a:lnTo>
                    <a:pt x="5" y="236"/>
                  </a:lnTo>
                  <a:lnTo>
                    <a:pt x="5" y="255"/>
                  </a:lnTo>
                  <a:lnTo>
                    <a:pt x="5" y="264"/>
                  </a:lnTo>
                  <a:lnTo>
                    <a:pt x="5" y="273"/>
                  </a:lnTo>
                  <a:lnTo>
                    <a:pt x="5" y="282"/>
                  </a:lnTo>
                  <a:lnTo>
                    <a:pt x="6" y="289"/>
                  </a:lnTo>
                  <a:lnTo>
                    <a:pt x="6" y="320"/>
                  </a:lnTo>
                  <a:lnTo>
                    <a:pt x="8" y="350"/>
                  </a:lnTo>
                  <a:lnTo>
                    <a:pt x="8" y="378"/>
                  </a:lnTo>
                  <a:lnTo>
                    <a:pt x="9" y="393"/>
                  </a:lnTo>
                  <a:lnTo>
                    <a:pt x="9" y="407"/>
                  </a:lnTo>
                  <a:lnTo>
                    <a:pt x="9" y="420"/>
                  </a:lnTo>
                  <a:lnTo>
                    <a:pt x="10" y="432"/>
                  </a:lnTo>
                  <a:lnTo>
                    <a:pt x="10" y="444"/>
                  </a:lnTo>
                  <a:lnTo>
                    <a:pt x="10" y="456"/>
                  </a:lnTo>
                  <a:lnTo>
                    <a:pt x="11" y="468"/>
                  </a:lnTo>
                  <a:lnTo>
                    <a:pt x="11" y="478"/>
                  </a:lnTo>
                  <a:lnTo>
                    <a:pt x="11" y="489"/>
                  </a:lnTo>
                  <a:lnTo>
                    <a:pt x="13" y="498"/>
                  </a:lnTo>
                  <a:lnTo>
                    <a:pt x="13" y="506"/>
                  </a:lnTo>
                  <a:lnTo>
                    <a:pt x="13" y="515"/>
                  </a:lnTo>
                  <a:lnTo>
                    <a:pt x="13" y="523"/>
                  </a:lnTo>
                  <a:lnTo>
                    <a:pt x="14" y="532"/>
                  </a:lnTo>
                  <a:lnTo>
                    <a:pt x="14" y="538"/>
                  </a:lnTo>
                  <a:lnTo>
                    <a:pt x="14" y="545"/>
                  </a:lnTo>
                  <a:lnTo>
                    <a:pt x="15" y="551"/>
                  </a:lnTo>
                  <a:lnTo>
                    <a:pt x="15" y="557"/>
                  </a:lnTo>
                  <a:lnTo>
                    <a:pt x="15" y="563"/>
                  </a:lnTo>
                  <a:lnTo>
                    <a:pt x="16" y="568"/>
                  </a:lnTo>
                  <a:lnTo>
                    <a:pt x="16" y="570"/>
                  </a:lnTo>
                  <a:lnTo>
                    <a:pt x="16" y="573"/>
                  </a:lnTo>
                  <a:lnTo>
                    <a:pt x="18" y="576"/>
                  </a:lnTo>
                  <a:lnTo>
                    <a:pt x="18" y="578"/>
                  </a:lnTo>
                  <a:lnTo>
                    <a:pt x="18" y="579"/>
                  </a:lnTo>
                  <a:lnTo>
                    <a:pt x="19" y="581"/>
                  </a:lnTo>
                  <a:lnTo>
                    <a:pt x="19" y="579"/>
                  </a:lnTo>
                  <a:lnTo>
                    <a:pt x="19" y="578"/>
                  </a:lnTo>
                  <a:lnTo>
                    <a:pt x="19" y="576"/>
                  </a:lnTo>
                  <a:lnTo>
                    <a:pt x="20" y="573"/>
                  </a:lnTo>
                  <a:lnTo>
                    <a:pt x="20" y="570"/>
                  </a:lnTo>
                  <a:lnTo>
                    <a:pt x="20" y="568"/>
                  </a:lnTo>
                  <a:lnTo>
                    <a:pt x="21" y="562"/>
                  </a:lnTo>
                  <a:lnTo>
                    <a:pt x="21" y="557"/>
                  </a:lnTo>
                  <a:lnTo>
                    <a:pt x="21" y="551"/>
                  </a:lnTo>
                  <a:lnTo>
                    <a:pt x="22" y="545"/>
                  </a:lnTo>
                  <a:lnTo>
                    <a:pt x="22" y="538"/>
                  </a:lnTo>
                  <a:lnTo>
                    <a:pt x="22" y="530"/>
                  </a:lnTo>
                  <a:lnTo>
                    <a:pt x="24" y="523"/>
                  </a:lnTo>
                  <a:lnTo>
                    <a:pt x="24" y="515"/>
                  </a:lnTo>
                  <a:lnTo>
                    <a:pt x="24" y="506"/>
                  </a:lnTo>
                  <a:lnTo>
                    <a:pt x="25" y="498"/>
                  </a:lnTo>
                  <a:lnTo>
                    <a:pt x="25" y="489"/>
                  </a:lnTo>
                  <a:lnTo>
                    <a:pt x="25" y="478"/>
                  </a:lnTo>
                  <a:lnTo>
                    <a:pt x="26" y="468"/>
                  </a:lnTo>
                  <a:lnTo>
                    <a:pt x="26" y="456"/>
                  </a:lnTo>
                  <a:lnTo>
                    <a:pt x="26" y="444"/>
                  </a:lnTo>
                  <a:lnTo>
                    <a:pt x="27" y="432"/>
                  </a:lnTo>
                  <a:lnTo>
                    <a:pt x="27" y="420"/>
                  </a:lnTo>
                  <a:lnTo>
                    <a:pt x="29" y="407"/>
                  </a:lnTo>
                  <a:lnTo>
                    <a:pt x="29" y="393"/>
                  </a:lnTo>
                  <a:lnTo>
                    <a:pt x="30" y="380"/>
                  </a:lnTo>
                  <a:lnTo>
                    <a:pt x="30" y="350"/>
                  </a:lnTo>
                  <a:lnTo>
                    <a:pt x="31" y="320"/>
                  </a:lnTo>
                  <a:lnTo>
                    <a:pt x="32" y="291"/>
                  </a:lnTo>
                  <a:lnTo>
                    <a:pt x="32" y="282"/>
                  </a:lnTo>
                  <a:lnTo>
                    <a:pt x="32" y="274"/>
                  </a:lnTo>
                  <a:lnTo>
                    <a:pt x="32" y="256"/>
                  </a:lnTo>
                  <a:lnTo>
                    <a:pt x="33" y="237"/>
                  </a:lnTo>
                  <a:lnTo>
                    <a:pt x="33" y="218"/>
                  </a:lnTo>
                  <a:lnTo>
                    <a:pt x="33" y="198"/>
                  </a:lnTo>
                  <a:lnTo>
                    <a:pt x="35" y="177"/>
                  </a:lnTo>
                  <a:lnTo>
                    <a:pt x="35" y="136"/>
                  </a:lnTo>
                  <a:lnTo>
                    <a:pt x="35" y="116"/>
                  </a:lnTo>
                  <a:lnTo>
                    <a:pt x="35" y="96"/>
                  </a:lnTo>
                  <a:lnTo>
                    <a:pt x="36" y="78"/>
                  </a:lnTo>
                  <a:lnTo>
                    <a:pt x="36" y="58"/>
                  </a:lnTo>
                  <a:lnTo>
                    <a:pt x="36" y="42"/>
                  </a:lnTo>
                  <a:lnTo>
                    <a:pt x="36" y="33"/>
                  </a:lnTo>
                  <a:lnTo>
                    <a:pt x="36" y="26"/>
                  </a:lnTo>
                  <a:lnTo>
                    <a:pt x="36" y="18"/>
                  </a:lnTo>
                  <a:lnTo>
                    <a:pt x="36" y="12"/>
                  </a:lnTo>
                  <a:lnTo>
                    <a:pt x="36" y="5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36" name="Freeform 104"/>
            <p:cNvSpPr>
              <a:spLocks/>
            </p:cNvSpPr>
            <p:nvPr/>
          </p:nvSpPr>
          <p:spPr bwMode="auto">
            <a:xfrm>
              <a:off x="3739" y="965"/>
              <a:ext cx="37" cy="290"/>
            </a:xfrm>
            <a:custGeom>
              <a:avLst/>
              <a:gdLst>
                <a:gd name="T0" fmla="*/ 0 w 37"/>
                <a:gd name="T1" fmla="*/ 5 h 581"/>
                <a:gd name="T2" fmla="*/ 0 w 37"/>
                <a:gd name="T3" fmla="*/ 15 h 581"/>
                <a:gd name="T4" fmla="*/ 0 w 37"/>
                <a:gd name="T5" fmla="*/ 30 h 581"/>
                <a:gd name="T6" fmla="*/ 0 w 37"/>
                <a:gd name="T7" fmla="*/ 45 h 581"/>
                <a:gd name="T8" fmla="*/ 1 w 37"/>
                <a:gd name="T9" fmla="*/ 63 h 581"/>
                <a:gd name="T10" fmla="*/ 1 w 37"/>
                <a:gd name="T11" fmla="*/ 91 h 581"/>
                <a:gd name="T12" fmla="*/ 2 w 37"/>
                <a:gd name="T13" fmla="*/ 131 h 581"/>
                <a:gd name="T14" fmla="*/ 2 w 37"/>
                <a:gd name="T15" fmla="*/ 174 h 581"/>
                <a:gd name="T16" fmla="*/ 4 w 37"/>
                <a:gd name="T17" fmla="*/ 216 h 581"/>
                <a:gd name="T18" fmla="*/ 5 w 37"/>
                <a:gd name="T19" fmla="*/ 255 h 581"/>
                <a:gd name="T20" fmla="*/ 5 w 37"/>
                <a:gd name="T21" fmla="*/ 273 h 581"/>
                <a:gd name="T22" fmla="*/ 6 w 37"/>
                <a:gd name="T23" fmla="*/ 289 h 581"/>
                <a:gd name="T24" fmla="*/ 7 w 37"/>
                <a:gd name="T25" fmla="*/ 350 h 581"/>
                <a:gd name="T26" fmla="*/ 8 w 37"/>
                <a:gd name="T27" fmla="*/ 393 h 581"/>
                <a:gd name="T28" fmla="*/ 8 w 37"/>
                <a:gd name="T29" fmla="*/ 420 h 581"/>
                <a:gd name="T30" fmla="*/ 10 w 37"/>
                <a:gd name="T31" fmla="*/ 444 h 581"/>
                <a:gd name="T32" fmla="*/ 11 w 37"/>
                <a:gd name="T33" fmla="*/ 468 h 581"/>
                <a:gd name="T34" fmla="*/ 11 w 37"/>
                <a:gd name="T35" fmla="*/ 489 h 581"/>
                <a:gd name="T36" fmla="*/ 12 w 37"/>
                <a:gd name="T37" fmla="*/ 506 h 581"/>
                <a:gd name="T38" fmla="*/ 12 w 37"/>
                <a:gd name="T39" fmla="*/ 523 h 581"/>
                <a:gd name="T40" fmla="*/ 13 w 37"/>
                <a:gd name="T41" fmla="*/ 538 h 581"/>
                <a:gd name="T42" fmla="*/ 15 w 37"/>
                <a:gd name="T43" fmla="*/ 551 h 581"/>
                <a:gd name="T44" fmla="*/ 15 w 37"/>
                <a:gd name="T45" fmla="*/ 563 h 581"/>
                <a:gd name="T46" fmla="*/ 16 w 37"/>
                <a:gd name="T47" fmla="*/ 570 h 581"/>
                <a:gd name="T48" fmla="*/ 17 w 37"/>
                <a:gd name="T49" fmla="*/ 576 h 581"/>
                <a:gd name="T50" fmla="*/ 17 w 37"/>
                <a:gd name="T51" fmla="*/ 579 h 581"/>
                <a:gd name="T52" fmla="*/ 18 w 37"/>
                <a:gd name="T53" fmla="*/ 579 h 581"/>
                <a:gd name="T54" fmla="*/ 18 w 37"/>
                <a:gd name="T55" fmla="*/ 576 h 581"/>
                <a:gd name="T56" fmla="*/ 20 w 37"/>
                <a:gd name="T57" fmla="*/ 570 h 581"/>
                <a:gd name="T58" fmla="*/ 21 w 37"/>
                <a:gd name="T59" fmla="*/ 562 h 581"/>
                <a:gd name="T60" fmla="*/ 21 w 37"/>
                <a:gd name="T61" fmla="*/ 551 h 581"/>
                <a:gd name="T62" fmla="*/ 22 w 37"/>
                <a:gd name="T63" fmla="*/ 538 h 581"/>
                <a:gd name="T64" fmla="*/ 23 w 37"/>
                <a:gd name="T65" fmla="*/ 523 h 581"/>
                <a:gd name="T66" fmla="*/ 23 w 37"/>
                <a:gd name="T67" fmla="*/ 506 h 581"/>
                <a:gd name="T68" fmla="*/ 24 w 37"/>
                <a:gd name="T69" fmla="*/ 489 h 581"/>
                <a:gd name="T70" fmla="*/ 26 w 37"/>
                <a:gd name="T71" fmla="*/ 468 h 581"/>
                <a:gd name="T72" fmla="*/ 26 w 37"/>
                <a:gd name="T73" fmla="*/ 444 h 581"/>
                <a:gd name="T74" fmla="*/ 27 w 37"/>
                <a:gd name="T75" fmla="*/ 420 h 581"/>
                <a:gd name="T76" fmla="*/ 28 w 37"/>
                <a:gd name="T77" fmla="*/ 393 h 581"/>
                <a:gd name="T78" fmla="*/ 29 w 37"/>
                <a:gd name="T79" fmla="*/ 350 h 581"/>
                <a:gd name="T80" fmla="*/ 32 w 37"/>
                <a:gd name="T81" fmla="*/ 291 h 581"/>
                <a:gd name="T82" fmla="*/ 32 w 37"/>
                <a:gd name="T83" fmla="*/ 274 h 581"/>
                <a:gd name="T84" fmla="*/ 33 w 37"/>
                <a:gd name="T85" fmla="*/ 237 h 581"/>
                <a:gd name="T86" fmla="*/ 33 w 37"/>
                <a:gd name="T87" fmla="*/ 198 h 581"/>
                <a:gd name="T88" fmla="*/ 34 w 37"/>
                <a:gd name="T89" fmla="*/ 136 h 581"/>
                <a:gd name="T90" fmla="*/ 34 w 37"/>
                <a:gd name="T91" fmla="*/ 96 h 581"/>
                <a:gd name="T92" fmla="*/ 35 w 37"/>
                <a:gd name="T93" fmla="*/ 58 h 581"/>
                <a:gd name="T94" fmla="*/ 35 w 37"/>
                <a:gd name="T95" fmla="*/ 33 h 581"/>
                <a:gd name="T96" fmla="*/ 35 w 37"/>
                <a:gd name="T97" fmla="*/ 18 h 581"/>
                <a:gd name="T98" fmla="*/ 35 w 37"/>
                <a:gd name="T99" fmla="*/ 5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7" h="581">
                  <a:moveTo>
                    <a:pt x="0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23"/>
                  </a:lnTo>
                  <a:lnTo>
                    <a:pt x="0" y="30"/>
                  </a:lnTo>
                  <a:lnTo>
                    <a:pt x="0" y="38"/>
                  </a:lnTo>
                  <a:lnTo>
                    <a:pt x="0" y="45"/>
                  </a:lnTo>
                  <a:lnTo>
                    <a:pt x="0" y="54"/>
                  </a:lnTo>
                  <a:lnTo>
                    <a:pt x="1" y="63"/>
                  </a:lnTo>
                  <a:lnTo>
                    <a:pt x="1" y="72"/>
                  </a:lnTo>
                  <a:lnTo>
                    <a:pt x="1" y="91"/>
                  </a:lnTo>
                  <a:lnTo>
                    <a:pt x="1" y="110"/>
                  </a:lnTo>
                  <a:lnTo>
                    <a:pt x="2" y="131"/>
                  </a:lnTo>
                  <a:lnTo>
                    <a:pt x="2" y="152"/>
                  </a:lnTo>
                  <a:lnTo>
                    <a:pt x="2" y="174"/>
                  </a:lnTo>
                  <a:lnTo>
                    <a:pt x="4" y="195"/>
                  </a:lnTo>
                  <a:lnTo>
                    <a:pt x="4" y="216"/>
                  </a:lnTo>
                  <a:lnTo>
                    <a:pt x="5" y="236"/>
                  </a:lnTo>
                  <a:lnTo>
                    <a:pt x="5" y="255"/>
                  </a:lnTo>
                  <a:lnTo>
                    <a:pt x="5" y="264"/>
                  </a:lnTo>
                  <a:lnTo>
                    <a:pt x="5" y="273"/>
                  </a:lnTo>
                  <a:lnTo>
                    <a:pt x="5" y="282"/>
                  </a:lnTo>
                  <a:lnTo>
                    <a:pt x="6" y="289"/>
                  </a:lnTo>
                  <a:lnTo>
                    <a:pt x="6" y="320"/>
                  </a:lnTo>
                  <a:lnTo>
                    <a:pt x="7" y="350"/>
                  </a:lnTo>
                  <a:lnTo>
                    <a:pt x="7" y="378"/>
                  </a:lnTo>
                  <a:lnTo>
                    <a:pt x="8" y="393"/>
                  </a:lnTo>
                  <a:lnTo>
                    <a:pt x="8" y="407"/>
                  </a:lnTo>
                  <a:lnTo>
                    <a:pt x="8" y="420"/>
                  </a:lnTo>
                  <a:lnTo>
                    <a:pt x="10" y="432"/>
                  </a:lnTo>
                  <a:lnTo>
                    <a:pt x="10" y="444"/>
                  </a:lnTo>
                  <a:lnTo>
                    <a:pt x="10" y="456"/>
                  </a:lnTo>
                  <a:lnTo>
                    <a:pt x="11" y="468"/>
                  </a:lnTo>
                  <a:lnTo>
                    <a:pt x="11" y="478"/>
                  </a:lnTo>
                  <a:lnTo>
                    <a:pt x="11" y="489"/>
                  </a:lnTo>
                  <a:lnTo>
                    <a:pt x="12" y="498"/>
                  </a:lnTo>
                  <a:lnTo>
                    <a:pt x="12" y="506"/>
                  </a:lnTo>
                  <a:lnTo>
                    <a:pt x="12" y="515"/>
                  </a:lnTo>
                  <a:lnTo>
                    <a:pt x="12" y="523"/>
                  </a:lnTo>
                  <a:lnTo>
                    <a:pt x="13" y="532"/>
                  </a:lnTo>
                  <a:lnTo>
                    <a:pt x="13" y="538"/>
                  </a:lnTo>
                  <a:lnTo>
                    <a:pt x="13" y="545"/>
                  </a:lnTo>
                  <a:lnTo>
                    <a:pt x="15" y="551"/>
                  </a:lnTo>
                  <a:lnTo>
                    <a:pt x="15" y="557"/>
                  </a:lnTo>
                  <a:lnTo>
                    <a:pt x="15" y="563"/>
                  </a:lnTo>
                  <a:lnTo>
                    <a:pt x="16" y="568"/>
                  </a:lnTo>
                  <a:lnTo>
                    <a:pt x="16" y="570"/>
                  </a:lnTo>
                  <a:lnTo>
                    <a:pt x="16" y="573"/>
                  </a:lnTo>
                  <a:lnTo>
                    <a:pt x="17" y="576"/>
                  </a:lnTo>
                  <a:lnTo>
                    <a:pt x="17" y="578"/>
                  </a:lnTo>
                  <a:lnTo>
                    <a:pt x="17" y="579"/>
                  </a:lnTo>
                  <a:lnTo>
                    <a:pt x="18" y="581"/>
                  </a:lnTo>
                  <a:lnTo>
                    <a:pt x="18" y="579"/>
                  </a:lnTo>
                  <a:lnTo>
                    <a:pt x="18" y="578"/>
                  </a:lnTo>
                  <a:lnTo>
                    <a:pt x="18" y="576"/>
                  </a:lnTo>
                  <a:lnTo>
                    <a:pt x="20" y="573"/>
                  </a:lnTo>
                  <a:lnTo>
                    <a:pt x="20" y="570"/>
                  </a:lnTo>
                  <a:lnTo>
                    <a:pt x="20" y="568"/>
                  </a:lnTo>
                  <a:lnTo>
                    <a:pt x="21" y="562"/>
                  </a:lnTo>
                  <a:lnTo>
                    <a:pt x="21" y="557"/>
                  </a:lnTo>
                  <a:lnTo>
                    <a:pt x="21" y="551"/>
                  </a:lnTo>
                  <a:lnTo>
                    <a:pt x="22" y="545"/>
                  </a:lnTo>
                  <a:lnTo>
                    <a:pt x="22" y="538"/>
                  </a:lnTo>
                  <a:lnTo>
                    <a:pt x="22" y="530"/>
                  </a:lnTo>
                  <a:lnTo>
                    <a:pt x="23" y="523"/>
                  </a:lnTo>
                  <a:lnTo>
                    <a:pt x="23" y="515"/>
                  </a:lnTo>
                  <a:lnTo>
                    <a:pt x="23" y="506"/>
                  </a:lnTo>
                  <a:lnTo>
                    <a:pt x="24" y="498"/>
                  </a:lnTo>
                  <a:lnTo>
                    <a:pt x="24" y="489"/>
                  </a:lnTo>
                  <a:lnTo>
                    <a:pt x="24" y="478"/>
                  </a:lnTo>
                  <a:lnTo>
                    <a:pt x="26" y="468"/>
                  </a:lnTo>
                  <a:lnTo>
                    <a:pt x="26" y="456"/>
                  </a:lnTo>
                  <a:lnTo>
                    <a:pt x="26" y="444"/>
                  </a:lnTo>
                  <a:lnTo>
                    <a:pt x="27" y="432"/>
                  </a:lnTo>
                  <a:lnTo>
                    <a:pt x="27" y="420"/>
                  </a:lnTo>
                  <a:lnTo>
                    <a:pt x="28" y="407"/>
                  </a:lnTo>
                  <a:lnTo>
                    <a:pt x="28" y="393"/>
                  </a:lnTo>
                  <a:lnTo>
                    <a:pt x="29" y="380"/>
                  </a:lnTo>
                  <a:lnTo>
                    <a:pt x="29" y="350"/>
                  </a:lnTo>
                  <a:lnTo>
                    <a:pt x="31" y="320"/>
                  </a:lnTo>
                  <a:lnTo>
                    <a:pt x="32" y="291"/>
                  </a:lnTo>
                  <a:lnTo>
                    <a:pt x="32" y="282"/>
                  </a:lnTo>
                  <a:lnTo>
                    <a:pt x="32" y="274"/>
                  </a:lnTo>
                  <a:lnTo>
                    <a:pt x="32" y="256"/>
                  </a:lnTo>
                  <a:lnTo>
                    <a:pt x="33" y="237"/>
                  </a:lnTo>
                  <a:lnTo>
                    <a:pt x="33" y="218"/>
                  </a:lnTo>
                  <a:lnTo>
                    <a:pt x="33" y="198"/>
                  </a:lnTo>
                  <a:lnTo>
                    <a:pt x="34" y="177"/>
                  </a:lnTo>
                  <a:lnTo>
                    <a:pt x="34" y="136"/>
                  </a:lnTo>
                  <a:lnTo>
                    <a:pt x="34" y="116"/>
                  </a:lnTo>
                  <a:lnTo>
                    <a:pt x="34" y="96"/>
                  </a:lnTo>
                  <a:lnTo>
                    <a:pt x="35" y="78"/>
                  </a:lnTo>
                  <a:lnTo>
                    <a:pt x="35" y="58"/>
                  </a:lnTo>
                  <a:lnTo>
                    <a:pt x="35" y="42"/>
                  </a:lnTo>
                  <a:lnTo>
                    <a:pt x="35" y="33"/>
                  </a:lnTo>
                  <a:lnTo>
                    <a:pt x="35" y="26"/>
                  </a:lnTo>
                  <a:lnTo>
                    <a:pt x="35" y="18"/>
                  </a:lnTo>
                  <a:lnTo>
                    <a:pt x="35" y="12"/>
                  </a:lnTo>
                  <a:lnTo>
                    <a:pt x="35" y="5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37" name="Freeform 105"/>
            <p:cNvSpPr>
              <a:spLocks/>
            </p:cNvSpPr>
            <p:nvPr/>
          </p:nvSpPr>
          <p:spPr bwMode="auto">
            <a:xfrm>
              <a:off x="4750" y="674"/>
              <a:ext cx="56" cy="291"/>
            </a:xfrm>
            <a:custGeom>
              <a:avLst/>
              <a:gdLst>
                <a:gd name="T0" fmla="*/ 0 w 56"/>
                <a:gd name="T1" fmla="*/ 574 h 580"/>
                <a:gd name="T2" fmla="*/ 0 w 56"/>
                <a:gd name="T3" fmla="*/ 564 h 580"/>
                <a:gd name="T4" fmla="*/ 0 w 56"/>
                <a:gd name="T5" fmla="*/ 549 h 580"/>
                <a:gd name="T6" fmla="*/ 2 w 56"/>
                <a:gd name="T7" fmla="*/ 534 h 580"/>
                <a:gd name="T8" fmla="*/ 2 w 56"/>
                <a:gd name="T9" fmla="*/ 516 h 580"/>
                <a:gd name="T10" fmla="*/ 3 w 56"/>
                <a:gd name="T11" fmla="*/ 488 h 580"/>
                <a:gd name="T12" fmla="*/ 4 w 56"/>
                <a:gd name="T13" fmla="*/ 448 h 580"/>
                <a:gd name="T14" fmla="*/ 5 w 56"/>
                <a:gd name="T15" fmla="*/ 405 h 580"/>
                <a:gd name="T16" fmla="*/ 6 w 56"/>
                <a:gd name="T17" fmla="*/ 363 h 580"/>
                <a:gd name="T18" fmla="*/ 8 w 56"/>
                <a:gd name="T19" fmla="*/ 324 h 580"/>
                <a:gd name="T20" fmla="*/ 9 w 56"/>
                <a:gd name="T21" fmla="*/ 306 h 580"/>
                <a:gd name="T22" fmla="*/ 9 w 56"/>
                <a:gd name="T23" fmla="*/ 290 h 580"/>
                <a:gd name="T24" fmla="*/ 11 w 56"/>
                <a:gd name="T25" fmla="*/ 229 h 580"/>
                <a:gd name="T26" fmla="*/ 13 w 56"/>
                <a:gd name="T27" fmla="*/ 186 h 580"/>
                <a:gd name="T28" fmla="*/ 14 w 56"/>
                <a:gd name="T29" fmla="*/ 160 h 580"/>
                <a:gd name="T30" fmla="*/ 15 w 56"/>
                <a:gd name="T31" fmla="*/ 135 h 580"/>
                <a:gd name="T32" fmla="*/ 16 w 56"/>
                <a:gd name="T33" fmla="*/ 111 h 580"/>
                <a:gd name="T34" fmla="*/ 18 w 56"/>
                <a:gd name="T35" fmla="*/ 90 h 580"/>
                <a:gd name="T36" fmla="*/ 19 w 56"/>
                <a:gd name="T37" fmla="*/ 73 h 580"/>
                <a:gd name="T38" fmla="*/ 20 w 56"/>
                <a:gd name="T39" fmla="*/ 56 h 580"/>
                <a:gd name="T40" fmla="*/ 21 w 56"/>
                <a:gd name="T41" fmla="*/ 41 h 580"/>
                <a:gd name="T42" fmla="*/ 22 w 56"/>
                <a:gd name="T43" fmla="*/ 28 h 580"/>
                <a:gd name="T44" fmla="*/ 24 w 56"/>
                <a:gd name="T45" fmla="*/ 18 h 580"/>
                <a:gd name="T46" fmla="*/ 25 w 56"/>
                <a:gd name="T47" fmla="*/ 9 h 580"/>
                <a:gd name="T48" fmla="*/ 26 w 56"/>
                <a:gd name="T49" fmla="*/ 3 h 580"/>
                <a:gd name="T50" fmla="*/ 27 w 56"/>
                <a:gd name="T51" fmla="*/ 0 h 580"/>
                <a:gd name="T52" fmla="*/ 27 w 56"/>
                <a:gd name="T53" fmla="*/ 0 h 580"/>
                <a:gd name="T54" fmla="*/ 29 w 56"/>
                <a:gd name="T55" fmla="*/ 3 h 580"/>
                <a:gd name="T56" fmla="*/ 30 w 56"/>
                <a:gd name="T57" fmla="*/ 9 h 580"/>
                <a:gd name="T58" fmla="*/ 31 w 56"/>
                <a:gd name="T59" fmla="*/ 18 h 580"/>
                <a:gd name="T60" fmla="*/ 32 w 56"/>
                <a:gd name="T61" fmla="*/ 28 h 580"/>
                <a:gd name="T62" fmla="*/ 33 w 56"/>
                <a:gd name="T63" fmla="*/ 41 h 580"/>
                <a:gd name="T64" fmla="*/ 35 w 56"/>
                <a:gd name="T65" fmla="*/ 56 h 580"/>
                <a:gd name="T66" fmla="*/ 36 w 56"/>
                <a:gd name="T67" fmla="*/ 73 h 580"/>
                <a:gd name="T68" fmla="*/ 37 w 56"/>
                <a:gd name="T69" fmla="*/ 90 h 580"/>
                <a:gd name="T70" fmla="*/ 38 w 56"/>
                <a:gd name="T71" fmla="*/ 111 h 580"/>
                <a:gd name="T72" fmla="*/ 40 w 56"/>
                <a:gd name="T73" fmla="*/ 135 h 580"/>
                <a:gd name="T74" fmla="*/ 42 w 56"/>
                <a:gd name="T75" fmla="*/ 159 h 580"/>
                <a:gd name="T76" fmla="*/ 43 w 56"/>
                <a:gd name="T77" fmla="*/ 186 h 580"/>
                <a:gd name="T78" fmla="*/ 46 w 56"/>
                <a:gd name="T79" fmla="*/ 229 h 580"/>
                <a:gd name="T80" fmla="*/ 48 w 56"/>
                <a:gd name="T81" fmla="*/ 290 h 580"/>
                <a:gd name="T82" fmla="*/ 48 w 56"/>
                <a:gd name="T83" fmla="*/ 305 h 580"/>
                <a:gd name="T84" fmla="*/ 49 w 56"/>
                <a:gd name="T85" fmla="*/ 342 h 580"/>
                <a:gd name="T86" fmla="*/ 51 w 56"/>
                <a:gd name="T87" fmla="*/ 381 h 580"/>
                <a:gd name="T88" fmla="*/ 52 w 56"/>
                <a:gd name="T89" fmla="*/ 443 h 580"/>
                <a:gd name="T90" fmla="*/ 53 w 56"/>
                <a:gd name="T91" fmla="*/ 484 h 580"/>
                <a:gd name="T92" fmla="*/ 53 w 56"/>
                <a:gd name="T93" fmla="*/ 521 h 580"/>
                <a:gd name="T94" fmla="*/ 54 w 56"/>
                <a:gd name="T95" fmla="*/ 546 h 580"/>
                <a:gd name="T96" fmla="*/ 54 w 56"/>
                <a:gd name="T97" fmla="*/ 561 h 580"/>
                <a:gd name="T98" fmla="*/ 54 w 56"/>
                <a:gd name="T99" fmla="*/ 574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6" h="580">
                  <a:moveTo>
                    <a:pt x="0" y="580"/>
                  </a:moveTo>
                  <a:lnTo>
                    <a:pt x="0" y="574"/>
                  </a:lnTo>
                  <a:lnTo>
                    <a:pt x="0" y="570"/>
                  </a:lnTo>
                  <a:lnTo>
                    <a:pt x="0" y="564"/>
                  </a:lnTo>
                  <a:lnTo>
                    <a:pt x="0" y="556"/>
                  </a:lnTo>
                  <a:lnTo>
                    <a:pt x="0" y="549"/>
                  </a:lnTo>
                  <a:lnTo>
                    <a:pt x="0" y="542"/>
                  </a:lnTo>
                  <a:lnTo>
                    <a:pt x="2" y="534"/>
                  </a:lnTo>
                  <a:lnTo>
                    <a:pt x="2" y="525"/>
                  </a:lnTo>
                  <a:lnTo>
                    <a:pt x="2" y="516"/>
                  </a:lnTo>
                  <a:lnTo>
                    <a:pt x="2" y="507"/>
                  </a:lnTo>
                  <a:lnTo>
                    <a:pt x="3" y="488"/>
                  </a:lnTo>
                  <a:lnTo>
                    <a:pt x="3" y="469"/>
                  </a:lnTo>
                  <a:lnTo>
                    <a:pt x="4" y="448"/>
                  </a:lnTo>
                  <a:lnTo>
                    <a:pt x="4" y="427"/>
                  </a:lnTo>
                  <a:lnTo>
                    <a:pt x="5" y="405"/>
                  </a:lnTo>
                  <a:lnTo>
                    <a:pt x="5" y="384"/>
                  </a:lnTo>
                  <a:lnTo>
                    <a:pt x="6" y="363"/>
                  </a:lnTo>
                  <a:lnTo>
                    <a:pt x="8" y="344"/>
                  </a:lnTo>
                  <a:lnTo>
                    <a:pt x="8" y="324"/>
                  </a:lnTo>
                  <a:lnTo>
                    <a:pt x="8" y="315"/>
                  </a:lnTo>
                  <a:lnTo>
                    <a:pt x="9" y="306"/>
                  </a:lnTo>
                  <a:lnTo>
                    <a:pt x="9" y="297"/>
                  </a:lnTo>
                  <a:lnTo>
                    <a:pt x="9" y="290"/>
                  </a:lnTo>
                  <a:lnTo>
                    <a:pt x="10" y="259"/>
                  </a:lnTo>
                  <a:lnTo>
                    <a:pt x="11" y="229"/>
                  </a:lnTo>
                  <a:lnTo>
                    <a:pt x="13" y="201"/>
                  </a:lnTo>
                  <a:lnTo>
                    <a:pt x="13" y="186"/>
                  </a:lnTo>
                  <a:lnTo>
                    <a:pt x="14" y="172"/>
                  </a:lnTo>
                  <a:lnTo>
                    <a:pt x="14" y="160"/>
                  </a:lnTo>
                  <a:lnTo>
                    <a:pt x="15" y="147"/>
                  </a:lnTo>
                  <a:lnTo>
                    <a:pt x="15" y="135"/>
                  </a:lnTo>
                  <a:lnTo>
                    <a:pt x="16" y="123"/>
                  </a:lnTo>
                  <a:lnTo>
                    <a:pt x="16" y="111"/>
                  </a:lnTo>
                  <a:lnTo>
                    <a:pt x="18" y="101"/>
                  </a:lnTo>
                  <a:lnTo>
                    <a:pt x="18" y="90"/>
                  </a:lnTo>
                  <a:lnTo>
                    <a:pt x="19" y="82"/>
                  </a:lnTo>
                  <a:lnTo>
                    <a:pt x="19" y="73"/>
                  </a:lnTo>
                  <a:lnTo>
                    <a:pt x="19" y="64"/>
                  </a:lnTo>
                  <a:lnTo>
                    <a:pt x="20" y="56"/>
                  </a:lnTo>
                  <a:lnTo>
                    <a:pt x="20" y="49"/>
                  </a:lnTo>
                  <a:lnTo>
                    <a:pt x="21" y="41"/>
                  </a:lnTo>
                  <a:lnTo>
                    <a:pt x="21" y="34"/>
                  </a:lnTo>
                  <a:lnTo>
                    <a:pt x="22" y="28"/>
                  </a:lnTo>
                  <a:lnTo>
                    <a:pt x="22" y="22"/>
                  </a:lnTo>
                  <a:lnTo>
                    <a:pt x="24" y="18"/>
                  </a:lnTo>
                  <a:lnTo>
                    <a:pt x="24" y="12"/>
                  </a:lnTo>
                  <a:lnTo>
                    <a:pt x="25" y="9"/>
                  </a:lnTo>
                  <a:lnTo>
                    <a:pt x="25" y="6"/>
                  </a:lnTo>
                  <a:lnTo>
                    <a:pt x="26" y="3"/>
                  </a:lnTo>
                  <a:lnTo>
                    <a:pt x="26" y="1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29" y="3"/>
                  </a:lnTo>
                  <a:lnTo>
                    <a:pt x="30" y="6"/>
                  </a:lnTo>
                  <a:lnTo>
                    <a:pt x="30" y="9"/>
                  </a:lnTo>
                  <a:lnTo>
                    <a:pt x="31" y="13"/>
                  </a:lnTo>
                  <a:lnTo>
                    <a:pt x="31" y="18"/>
                  </a:lnTo>
                  <a:lnTo>
                    <a:pt x="32" y="22"/>
                  </a:lnTo>
                  <a:lnTo>
                    <a:pt x="32" y="28"/>
                  </a:lnTo>
                  <a:lnTo>
                    <a:pt x="33" y="34"/>
                  </a:lnTo>
                  <a:lnTo>
                    <a:pt x="33" y="41"/>
                  </a:lnTo>
                  <a:lnTo>
                    <a:pt x="35" y="49"/>
                  </a:lnTo>
                  <a:lnTo>
                    <a:pt x="35" y="56"/>
                  </a:lnTo>
                  <a:lnTo>
                    <a:pt x="36" y="64"/>
                  </a:lnTo>
                  <a:lnTo>
                    <a:pt x="36" y="73"/>
                  </a:lnTo>
                  <a:lnTo>
                    <a:pt x="37" y="82"/>
                  </a:lnTo>
                  <a:lnTo>
                    <a:pt x="37" y="90"/>
                  </a:lnTo>
                  <a:lnTo>
                    <a:pt x="38" y="101"/>
                  </a:lnTo>
                  <a:lnTo>
                    <a:pt x="38" y="111"/>
                  </a:lnTo>
                  <a:lnTo>
                    <a:pt x="40" y="123"/>
                  </a:lnTo>
                  <a:lnTo>
                    <a:pt x="40" y="135"/>
                  </a:lnTo>
                  <a:lnTo>
                    <a:pt x="41" y="147"/>
                  </a:lnTo>
                  <a:lnTo>
                    <a:pt x="42" y="159"/>
                  </a:lnTo>
                  <a:lnTo>
                    <a:pt x="42" y="172"/>
                  </a:lnTo>
                  <a:lnTo>
                    <a:pt x="43" y="186"/>
                  </a:lnTo>
                  <a:lnTo>
                    <a:pt x="43" y="201"/>
                  </a:lnTo>
                  <a:lnTo>
                    <a:pt x="46" y="229"/>
                  </a:lnTo>
                  <a:lnTo>
                    <a:pt x="47" y="259"/>
                  </a:lnTo>
                  <a:lnTo>
                    <a:pt x="48" y="290"/>
                  </a:lnTo>
                  <a:lnTo>
                    <a:pt x="48" y="297"/>
                  </a:lnTo>
                  <a:lnTo>
                    <a:pt x="48" y="305"/>
                  </a:lnTo>
                  <a:lnTo>
                    <a:pt x="49" y="323"/>
                  </a:lnTo>
                  <a:lnTo>
                    <a:pt x="49" y="342"/>
                  </a:lnTo>
                  <a:lnTo>
                    <a:pt x="51" y="361"/>
                  </a:lnTo>
                  <a:lnTo>
                    <a:pt x="51" y="381"/>
                  </a:lnTo>
                  <a:lnTo>
                    <a:pt x="51" y="402"/>
                  </a:lnTo>
                  <a:lnTo>
                    <a:pt x="52" y="443"/>
                  </a:lnTo>
                  <a:lnTo>
                    <a:pt x="53" y="463"/>
                  </a:lnTo>
                  <a:lnTo>
                    <a:pt x="53" y="484"/>
                  </a:lnTo>
                  <a:lnTo>
                    <a:pt x="53" y="503"/>
                  </a:lnTo>
                  <a:lnTo>
                    <a:pt x="53" y="521"/>
                  </a:lnTo>
                  <a:lnTo>
                    <a:pt x="54" y="537"/>
                  </a:lnTo>
                  <a:lnTo>
                    <a:pt x="54" y="546"/>
                  </a:lnTo>
                  <a:lnTo>
                    <a:pt x="54" y="553"/>
                  </a:lnTo>
                  <a:lnTo>
                    <a:pt x="54" y="561"/>
                  </a:lnTo>
                  <a:lnTo>
                    <a:pt x="54" y="567"/>
                  </a:lnTo>
                  <a:lnTo>
                    <a:pt x="54" y="574"/>
                  </a:lnTo>
                  <a:lnTo>
                    <a:pt x="56" y="58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38" name="Freeform 106"/>
            <p:cNvSpPr>
              <a:spLocks/>
            </p:cNvSpPr>
            <p:nvPr/>
          </p:nvSpPr>
          <p:spPr bwMode="auto">
            <a:xfrm>
              <a:off x="4861" y="630"/>
              <a:ext cx="55" cy="335"/>
            </a:xfrm>
            <a:custGeom>
              <a:avLst/>
              <a:gdLst>
                <a:gd name="T0" fmla="*/ 0 w 55"/>
                <a:gd name="T1" fmla="*/ 664 h 670"/>
                <a:gd name="T2" fmla="*/ 0 w 55"/>
                <a:gd name="T3" fmla="*/ 651 h 670"/>
                <a:gd name="T4" fmla="*/ 0 w 55"/>
                <a:gd name="T5" fmla="*/ 635 h 670"/>
                <a:gd name="T6" fmla="*/ 1 w 55"/>
                <a:gd name="T7" fmla="*/ 617 h 670"/>
                <a:gd name="T8" fmla="*/ 1 w 55"/>
                <a:gd name="T9" fmla="*/ 597 h 670"/>
                <a:gd name="T10" fmla="*/ 2 w 55"/>
                <a:gd name="T11" fmla="*/ 565 h 670"/>
                <a:gd name="T12" fmla="*/ 3 w 55"/>
                <a:gd name="T13" fmla="*/ 517 h 670"/>
                <a:gd name="T14" fmla="*/ 5 w 55"/>
                <a:gd name="T15" fmla="*/ 468 h 670"/>
                <a:gd name="T16" fmla="*/ 6 w 55"/>
                <a:gd name="T17" fmla="*/ 420 h 670"/>
                <a:gd name="T18" fmla="*/ 7 w 55"/>
                <a:gd name="T19" fmla="*/ 376 h 670"/>
                <a:gd name="T20" fmla="*/ 8 w 55"/>
                <a:gd name="T21" fmla="*/ 355 h 670"/>
                <a:gd name="T22" fmla="*/ 8 w 55"/>
                <a:gd name="T23" fmla="*/ 335 h 670"/>
                <a:gd name="T24" fmla="*/ 11 w 55"/>
                <a:gd name="T25" fmla="*/ 265 h 670"/>
                <a:gd name="T26" fmla="*/ 12 w 55"/>
                <a:gd name="T27" fmla="*/ 233 h 670"/>
                <a:gd name="T28" fmla="*/ 13 w 55"/>
                <a:gd name="T29" fmla="*/ 200 h 670"/>
                <a:gd name="T30" fmla="*/ 14 w 55"/>
                <a:gd name="T31" fmla="*/ 170 h 670"/>
                <a:gd name="T32" fmla="*/ 16 w 55"/>
                <a:gd name="T33" fmla="*/ 143 h 670"/>
                <a:gd name="T34" fmla="*/ 17 w 55"/>
                <a:gd name="T35" fmla="*/ 118 h 670"/>
                <a:gd name="T36" fmla="*/ 18 w 55"/>
                <a:gd name="T37" fmla="*/ 96 h 670"/>
                <a:gd name="T38" fmla="*/ 18 w 55"/>
                <a:gd name="T39" fmla="*/ 75 h 670"/>
                <a:gd name="T40" fmla="*/ 19 w 55"/>
                <a:gd name="T41" fmla="*/ 57 h 670"/>
                <a:gd name="T42" fmla="*/ 21 w 55"/>
                <a:gd name="T43" fmla="*/ 41 h 670"/>
                <a:gd name="T44" fmla="*/ 22 w 55"/>
                <a:gd name="T45" fmla="*/ 26 h 670"/>
                <a:gd name="T46" fmla="*/ 23 w 55"/>
                <a:gd name="T47" fmla="*/ 15 h 670"/>
                <a:gd name="T48" fmla="*/ 24 w 55"/>
                <a:gd name="T49" fmla="*/ 6 h 670"/>
                <a:gd name="T50" fmla="*/ 25 w 55"/>
                <a:gd name="T51" fmla="*/ 2 h 670"/>
                <a:gd name="T52" fmla="*/ 27 w 55"/>
                <a:gd name="T53" fmla="*/ 0 h 670"/>
                <a:gd name="T54" fmla="*/ 28 w 55"/>
                <a:gd name="T55" fmla="*/ 2 h 670"/>
                <a:gd name="T56" fmla="*/ 29 w 55"/>
                <a:gd name="T57" fmla="*/ 6 h 670"/>
                <a:gd name="T58" fmla="*/ 30 w 55"/>
                <a:gd name="T59" fmla="*/ 15 h 670"/>
                <a:gd name="T60" fmla="*/ 32 w 55"/>
                <a:gd name="T61" fmla="*/ 27 h 670"/>
                <a:gd name="T62" fmla="*/ 33 w 55"/>
                <a:gd name="T63" fmla="*/ 41 h 670"/>
                <a:gd name="T64" fmla="*/ 34 w 55"/>
                <a:gd name="T65" fmla="*/ 57 h 670"/>
                <a:gd name="T66" fmla="*/ 35 w 55"/>
                <a:gd name="T67" fmla="*/ 75 h 670"/>
                <a:gd name="T68" fmla="*/ 36 w 55"/>
                <a:gd name="T69" fmla="*/ 96 h 670"/>
                <a:gd name="T70" fmla="*/ 38 w 55"/>
                <a:gd name="T71" fmla="*/ 118 h 670"/>
                <a:gd name="T72" fmla="*/ 39 w 55"/>
                <a:gd name="T73" fmla="*/ 143 h 670"/>
                <a:gd name="T74" fmla="*/ 40 w 55"/>
                <a:gd name="T75" fmla="*/ 170 h 670"/>
                <a:gd name="T76" fmla="*/ 41 w 55"/>
                <a:gd name="T77" fmla="*/ 200 h 670"/>
                <a:gd name="T78" fmla="*/ 43 w 55"/>
                <a:gd name="T79" fmla="*/ 231 h 670"/>
                <a:gd name="T80" fmla="*/ 45 w 55"/>
                <a:gd name="T81" fmla="*/ 265 h 670"/>
                <a:gd name="T82" fmla="*/ 47 w 55"/>
                <a:gd name="T83" fmla="*/ 335 h 670"/>
                <a:gd name="T84" fmla="*/ 47 w 55"/>
                <a:gd name="T85" fmla="*/ 353 h 670"/>
                <a:gd name="T86" fmla="*/ 49 w 55"/>
                <a:gd name="T87" fmla="*/ 395 h 670"/>
                <a:gd name="T88" fmla="*/ 50 w 55"/>
                <a:gd name="T89" fmla="*/ 441 h 670"/>
                <a:gd name="T90" fmla="*/ 51 w 55"/>
                <a:gd name="T91" fmla="*/ 512 h 670"/>
                <a:gd name="T92" fmla="*/ 52 w 55"/>
                <a:gd name="T93" fmla="*/ 559 h 670"/>
                <a:gd name="T94" fmla="*/ 52 w 55"/>
                <a:gd name="T95" fmla="*/ 602 h 670"/>
                <a:gd name="T96" fmla="*/ 54 w 55"/>
                <a:gd name="T97" fmla="*/ 621 h 670"/>
                <a:gd name="T98" fmla="*/ 54 w 55"/>
                <a:gd name="T99" fmla="*/ 639 h 670"/>
                <a:gd name="T100" fmla="*/ 54 w 55"/>
                <a:gd name="T101" fmla="*/ 655 h 670"/>
                <a:gd name="T102" fmla="*/ 55 w 55"/>
                <a:gd name="T103" fmla="*/ 67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5" h="670">
                  <a:moveTo>
                    <a:pt x="0" y="670"/>
                  </a:moveTo>
                  <a:lnTo>
                    <a:pt x="0" y="664"/>
                  </a:lnTo>
                  <a:lnTo>
                    <a:pt x="0" y="658"/>
                  </a:lnTo>
                  <a:lnTo>
                    <a:pt x="0" y="651"/>
                  </a:lnTo>
                  <a:lnTo>
                    <a:pt x="0" y="643"/>
                  </a:lnTo>
                  <a:lnTo>
                    <a:pt x="0" y="635"/>
                  </a:lnTo>
                  <a:lnTo>
                    <a:pt x="0" y="627"/>
                  </a:lnTo>
                  <a:lnTo>
                    <a:pt x="1" y="617"/>
                  </a:lnTo>
                  <a:lnTo>
                    <a:pt x="1" y="608"/>
                  </a:lnTo>
                  <a:lnTo>
                    <a:pt x="1" y="597"/>
                  </a:lnTo>
                  <a:lnTo>
                    <a:pt x="1" y="587"/>
                  </a:lnTo>
                  <a:lnTo>
                    <a:pt x="2" y="565"/>
                  </a:lnTo>
                  <a:lnTo>
                    <a:pt x="2" y="542"/>
                  </a:lnTo>
                  <a:lnTo>
                    <a:pt x="3" y="517"/>
                  </a:lnTo>
                  <a:lnTo>
                    <a:pt x="3" y="493"/>
                  </a:lnTo>
                  <a:lnTo>
                    <a:pt x="5" y="468"/>
                  </a:lnTo>
                  <a:lnTo>
                    <a:pt x="5" y="444"/>
                  </a:lnTo>
                  <a:lnTo>
                    <a:pt x="6" y="420"/>
                  </a:lnTo>
                  <a:lnTo>
                    <a:pt x="7" y="396"/>
                  </a:lnTo>
                  <a:lnTo>
                    <a:pt x="7" y="376"/>
                  </a:lnTo>
                  <a:lnTo>
                    <a:pt x="7" y="364"/>
                  </a:lnTo>
                  <a:lnTo>
                    <a:pt x="8" y="355"/>
                  </a:lnTo>
                  <a:lnTo>
                    <a:pt x="8" y="344"/>
                  </a:lnTo>
                  <a:lnTo>
                    <a:pt x="8" y="335"/>
                  </a:lnTo>
                  <a:lnTo>
                    <a:pt x="9" y="300"/>
                  </a:lnTo>
                  <a:lnTo>
                    <a:pt x="11" y="265"/>
                  </a:lnTo>
                  <a:lnTo>
                    <a:pt x="11" y="249"/>
                  </a:lnTo>
                  <a:lnTo>
                    <a:pt x="12" y="233"/>
                  </a:lnTo>
                  <a:lnTo>
                    <a:pt x="12" y="216"/>
                  </a:lnTo>
                  <a:lnTo>
                    <a:pt x="13" y="200"/>
                  </a:lnTo>
                  <a:lnTo>
                    <a:pt x="13" y="185"/>
                  </a:lnTo>
                  <a:lnTo>
                    <a:pt x="14" y="170"/>
                  </a:lnTo>
                  <a:lnTo>
                    <a:pt x="14" y="157"/>
                  </a:lnTo>
                  <a:lnTo>
                    <a:pt x="16" y="143"/>
                  </a:lnTo>
                  <a:lnTo>
                    <a:pt x="16" y="130"/>
                  </a:lnTo>
                  <a:lnTo>
                    <a:pt x="17" y="118"/>
                  </a:lnTo>
                  <a:lnTo>
                    <a:pt x="17" y="106"/>
                  </a:lnTo>
                  <a:lnTo>
                    <a:pt x="18" y="96"/>
                  </a:lnTo>
                  <a:lnTo>
                    <a:pt x="18" y="85"/>
                  </a:lnTo>
                  <a:lnTo>
                    <a:pt x="18" y="75"/>
                  </a:lnTo>
                  <a:lnTo>
                    <a:pt x="19" y="66"/>
                  </a:lnTo>
                  <a:lnTo>
                    <a:pt x="19" y="57"/>
                  </a:lnTo>
                  <a:lnTo>
                    <a:pt x="21" y="48"/>
                  </a:lnTo>
                  <a:lnTo>
                    <a:pt x="21" y="41"/>
                  </a:lnTo>
                  <a:lnTo>
                    <a:pt x="22" y="33"/>
                  </a:lnTo>
                  <a:lnTo>
                    <a:pt x="22" y="26"/>
                  </a:lnTo>
                  <a:lnTo>
                    <a:pt x="23" y="20"/>
                  </a:lnTo>
                  <a:lnTo>
                    <a:pt x="23" y="15"/>
                  </a:lnTo>
                  <a:lnTo>
                    <a:pt x="24" y="11"/>
                  </a:lnTo>
                  <a:lnTo>
                    <a:pt x="24" y="6"/>
                  </a:lnTo>
                  <a:lnTo>
                    <a:pt x="25" y="3"/>
                  </a:lnTo>
                  <a:lnTo>
                    <a:pt x="25" y="2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8" y="2"/>
                  </a:lnTo>
                  <a:lnTo>
                    <a:pt x="28" y="3"/>
                  </a:lnTo>
                  <a:lnTo>
                    <a:pt x="29" y="6"/>
                  </a:lnTo>
                  <a:lnTo>
                    <a:pt x="29" y="11"/>
                  </a:lnTo>
                  <a:lnTo>
                    <a:pt x="30" y="15"/>
                  </a:lnTo>
                  <a:lnTo>
                    <a:pt x="30" y="21"/>
                  </a:lnTo>
                  <a:lnTo>
                    <a:pt x="32" y="27"/>
                  </a:lnTo>
                  <a:lnTo>
                    <a:pt x="32" y="33"/>
                  </a:lnTo>
                  <a:lnTo>
                    <a:pt x="33" y="41"/>
                  </a:lnTo>
                  <a:lnTo>
                    <a:pt x="33" y="48"/>
                  </a:lnTo>
                  <a:lnTo>
                    <a:pt x="34" y="57"/>
                  </a:lnTo>
                  <a:lnTo>
                    <a:pt x="34" y="66"/>
                  </a:lnTo>
                  <a:lnTo>
                    <a:pt x="35" y="75"/>
                  </a:lnTo>
                  <a:lnTo>
                    <a:pt x="35" y="85"/>
                  </a:lnTo>
                  <a:lnTo>
                    <a:pt x="36" y="96"/>
                  </a:lnTo>
                  <a:lnTo>
                    <a:pt x="36" y="106"/>
                  </a:lnTo>
                  <a:lnTo>
                    <a:pt x="38" y="118"/>
                  </a:lnTo>
                  <a:lnTo>
                    <a:pt x="38" y="130"/>
                  </a:lnTo>
                  <a:lnTo>
                    <a:pt x="39" y="143"/>
                  </a:lnTo>
                  <a:lnTo>
                    <a:pt x="39" y="157"/>
                  </a:lnTo>
                  <a:lnTo>
                    <a:pt x="40" y="170"/>
                  </a:lnTo>
                  <a:lnTo>
                    <a:pt x="41" y="185"/>
                  </a:lnTo>
                  <a:lnTo>
                    <a:pt x="41" y="200"/>
                  </a:lnTo>
                  <a:lnTo>
                    <a:pt x="43" y="216"/>
                  </a:lnTo>
                  <a:lnTo>
                    <a:pt x="43" y="231"/>
                  </a:lnTo>
                  <a:lnTo>
                    <a:pt x="44" y="247"/>
                  </a:lnTo>
                  <a:lnTo>
                    <a:pt x="45" y="265"/>
                  </a:lnTo>
                  <a:lnTo>
                    <a:pt x="46" y="300"/>
                  </a:lnTo>
                  <a:lnTo>
                    <a:pt x="47" y="335"/>
                  </a:lnTo>
                  <a:lnTo>
                    <a:pt x="47" y="344"/>
                  </a:lnTo>
                  <a:lnTo>
                    <a:pt x="47" y="353"/>
                  </a:lnTo>
                  <a:lnTo>
                    <a:pt x="49" y="374"/>
                  </a:lnTo>
                  <a:lnTo>
                    <a:pt x="49" y="395"/>
                  </a:lnTo>
                  <a:lnTo>
                    <a:pt x="50" y="417"/>
                  </a:lnTo>
                  <a:lnTo>
                    <a:pt x="50" y="441"/>
                  </a:lnTo>
                  <a:lnTo>
                    <a:pt x="50" y="465"/>
                  </a:lnTo>
                  <a:lnTo>
                    <a:pt x="51" y="512"/>
                  </a:lnTo>
                  <a:lnTo>
                    <a:pt x="52" y="535"/>
                  </a:lnTo>
                  <a:lnTo>
                    <a:pt x="52" y="559"/>
                  </a:lnTo>
                  <a:lnTo>
                    <a:pt x="52" y="581"/>
                  </a:lnTo>
                  <a:lnTo>
                    <a:pt x="52" y="602"/>
                  </a:lnTo>
                  <a:lnTo>
                    <a:pt x="54" y="611"/>
                  </a:lnTo>
                  <a:lnTo>
                    <a:pt x="54" y="621"/>
                  </a:lnTo>
                  <a:lnTo>
                    <a:pt x="54" y="630"/>
                  </a:lnTo>
                  <a:lnTo>
                    <a:pt x="54" y="639"/>
                  </a:lnTo>
                  <a:lnTo>
                    <a:pt x="54" y="648"/>
                  </a:lnTo>
                  <a:lnTo>
                    <a:pt x="54" y="655"/>
                  </a:lnTo>
                  <a:lnTo>
                    <a:pt x="54" y="663"/>
                  </a:lnTo>
                  <a:lnTo>
                    <a:pt x="55" y="67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39" name="Freeform 107"/>
            <p:cNvSpPr>
              <a:spLocks/>
            </p:cNvSpPr>
            <p:nvPr/>
          </p:nvSpPr>
          <p:spPr bwMode="auto">
            <a:xfrm>
              <a:off x="4695" y="965"/>
              <a:ext cx="55" cy="268"/>
            </a:xfrm>
            <a:custGeom>
              <a:avLst/>
              <a:gdLst>
                <a:gd name="T0" fmla="*/ 0 w 55"/>
                <a:gd name="T1" fmla="*/ 5 h 536"/>
                <a:gd name="T2" fmla="*/ 0 w 55"/>
                <a:gd name="T3" fmla="*/ 15 h 536"/>
                <a:gd name="T4" fmla="*/ 0 w 55"/>
                <a:gd name="T5" fmla="*/ 27 h 536"/>
                <a:gd name="T6" fmla="*/ 1 w 55"/>
                <a:gd name="T7" fmla="*/ 42 h 536"/>
                <a:gd name="T8" fmla="*/ 1 w 55"/>
                <a:gd name="T9" fmla="*/ 66 h 536"/>
                <a:gd name="T10" fmla="*/ 3 w 55"/>
                <a:gd name="T11" fmla="*/ 102 h 536"/>
                <a:gd name="T12" fmla="*/ 4 w 55"/>
                <a:gd name="T13" fmla="*/ 140 h 536"/>
                <a:gd name="T14" fmla="*/ 5 w 55"/>
                <a:gd name="T15" fmla="*/ 180 h 536"/>
                <a:gd name="T16" fmla="*/ 8 w 55"/>
                <a:gd name="T17" fmla="*/ 218 h 536"/>
                <a:gd name="T18" fmla="*/ 9 w 55"/>
                <a:gd name="T19" fmla="*/ 252 h 536"/>
                <a:gd name="T20" fmla="*/ 9 w 55"/>
                <a:gd name="T21" fmla="*/ 267 h 536"/>
                <a:gd name="T22" fmla="*/ 11 w 55"/>
                <a:gd name="T23" fmla="*/ 323 h 536"/>
                <a:gd name="T24" fmla="*/ 14 w 55"/>
                <a:gd name="T25" fmla="*/ 375 h 536"/>
                <a:gd name="T26" fmla="*/ 15 w 55"/>
                <a:gd name="T27" fmla="*/ 399 h 536"/>
                <a:gd name="T28" fmla="*/ 16 w 55"/>
                <a:gd name="T29" fmla="*/ 422 h 536"/>
                <a:gd name="T30" fmla="*/ 17 w 55"/>
                <a:gd name="T31" fmla="*/ 441 h 536"/>
                <a:gd name="T32" fmla="*/ 19 w 55"/>
                <a:gd name="T33" fmla="*/ 459 h 536"/>
                <a:gd name="T34" fmla="*/ 19 w 55"/>
                <a:gd name="T35" fmla="*/ 475 h 536"/>
                <a:gd name="T36" fmla="*/ 20 w 55"/>
                <a:gd name="T37" fmla="*/ 490 h 536"/>
                <a:gd name="T38" fmla="*/ 21 w 55"/>
                <a:gd name="T39" fmla="*/ 504 h 536"/>
                <a:gd name="T40" fmla="*/ 22 w 55"/>
                <a:gd name="T41" fmla="*/ 514 h 536"/>
                <a:gd name="T42" fmla="*/ 23 w 55"/>
                <a:gd name="T43" fmla="*/ 523 h 536"/>
                <a:gd name="T44" fmla="*/ 25 w 55"/>
                <a:gd name="T45" fmla="*/ 530 h 536"/>
                <a:gd name="T46" fmla="*/ 26 w 55"/>
                <a:gd name="T47" fmla="*/ 535 h 536"/>
                <a:gd name="T48" fmla="*/ 27 w 55"/>
                <a:gd name="T49" fmla="*/ 536 h 536"/>
                <a:gd name="T50" fmla="*/ 28 w 55"/>
                <a:gd name="T51" fmla="*/ 535 h 536"/>
                <a:gd name="T52" fmla="*/ 30 w 55"/>
                <a:gd name="T53" fmla="*/ 530 h 536"/>
                <a:gd name="T54" fmla="*/ 31 w 55"/>
                <a:gd name="T55" fmla="*/ 523 h 536"/>
                <a:gd name="T56" fmla="*/ 32 w 55"/>
                <a:gd name="T57" fmla="*/ 514 h 536"/>
                <a:gd name="T58" fmla="*/ 33 w 55"/>
                <a:gd name="T59" fmla="*/ 504 h 536"/>
                <a:gd name="T60" fmla="*/ 35 w 55"/>
                <a:gd name="T61" fmla="*/ 490 h 536"/>
                <a:gd name="T62" fmla="*/ 36 w 55"/>
                <a:gd name="T63" fmla="*/ 475 h 536"/>
                <a:gd name="T64" fmla="*/ 37 w 55"/>
                <a:gd name="T65" fmla="*/ 450 h 536"/>
                <a:gd name="T66" fmla="*/ 38 w 55"/>
                <a:gd name="T67" fmla="*/ 432 h 536"/>
                <a:gd name="T68" fmla="*/ 39 w 55"/>
                <a:gd name="T69" fmla="*/ 410 h 536"/>
                <a:gd name="T70" fmla="*/ 42 w 55"/>
                <a:gd name="T71" fmla="*/ 387 h 536"/>
                <a:gd name="T72" fmla="*/ 43 w 55"/>
                <a:gd name="T73" fmla="*/ 364 h 536"/>
                <a:gd name="T74" fmla="*/ 46 w 55"/>
                <a:gd name="T75" fmla="*/ 323 h 536"/>
                <a:gd name="T76" fmla="*/ 48 w 55"/>
                <a:gd name="T77" fmla="*/ 268 h 536"/>
                <a:gd name="T78" fmla="*/ 49 w 55"/>
                <a:gd name="T79" fmla="*/ 237 h 536"/>
                <a:gd name="T80" fmla="*/ 50 w 55"/>
                <a:gd name="T81" fmla="*/ 201 h 536"/>
                <a:gd name="T82" fmla="*/ 50 w 55"/>
                <a:gd name="T83" fmla="*/ 164 h 536"/>
                <a:gd name="T84" fmla="*/ 53 w 55"/>
                <a:gd name="T85" fmla="*/ 107 h 536"/>
                <a:gd name="T86" fmla="*/ 53 w 55"/>
                <a:gd name="T87" fmla="*/ 72 h 536"/>
                <a:gd name="T88" fmla="*/ 54 w 55"/>
                <a:gd name="T89" fmla="*/ 39 h 536"/>
                <a:gd name="T90" fmla="*/ 54 w 55"/>
                <a:gd name="T91" fmla="*/ 17 h 536"/>
                <a:gd name="T92" fmla="*/ 54 w 55"/>
                <a:gd name="T93" fmla="*/ 5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5" h="536">
                  <a:moveTo>
                    <a:pt x="0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21"/>
                  </a:lnTo>
                  <a:lnTo>
                    <a:pt x="0" y="27"/>
                  </a:lnTo>
                  <a:lnTo>
                    <a:pt x="0" y="35"/>
                  </a:lnTo>
                  <a:lnTo>
                    <a:pt x="1" y="42"/>
                  </a:lnTo>
                  <a:lnTo>
                    <a:pt x="1" y="49"/>
                  </a:lnTo>
                  <a:lnTo>
                    <a:pt x="1" y="66"/>
                  </a:lnTo>
                  <a:lnTo>
                    <a:pt x="3" y="84"/>
                  </a:lnTo>
                  <a:lnTo>
                    <a:pt x="3" y="102"/>
                  </a:lnTo>
                  <a:lnTo>
                    <a:pt x="4" y="121"/>
                  </a:lnTo>
                  <a:lnTo>
                    <a:pt x="4" y="140"/>
                  </a:lnTo>
                  <a:lnTo>
                    <a:pt x="5" y="161"/>
                  </a:lnTo>
                  <a:lnTo>
                    <a:pt x="5" y="180"/>
                  </a:lnTo>
                  <a:lnTo>
                    <a:pt x="6" y="200"/>
                  </a:lnTo>
                  <a:lnTo>
                    <a:pt x="8" y="218"/>
                  </a:lnTo>
                  <a:lnTo>
                    <a:pt x="8" y="236"/>
                  </a:lnTo>
                  <a:lnTo>
                    <a:pt x="9" y="252"/>
                  </a:lnTo>
                  <a:lnTo>
                    <a:pt x="9" y="259"/>
                  </a:lnTo>
                  <a:lnTo>
                    <a:pt x="9" y="267"/>
                  </a:lnTo>
                  <a:lnTo>
                    <a:pt x="10" y="295"/>
                  </a:lnTo>
                  <a:lnTo>
                    <a:pt x="11" y="323"/>
                  </a:lnTo>
                  <a:lnTo>
                    <a:pt x="12" y="350"/>
                  </a:lnTo>
                  <a:lnTo>
                    <a:pt x="14" y="375"/>
                  </a:lnTo>
                  <a:lnTo>
                    <a:pt x="14" y="387"/>
                  </a:lnTo>
                  <a:lnTo>
                    <a:pt x="15" y="399"/>
                  </a:lnTo>
                  <a:lnTo>
                    <a:pt x="15" y="410"/>
                  </a:lnTo>
                  <a:lnTo>
                    <a:pt x="16" y="422"/>
                  </a:lnTo>
                  <a:lnTo>
                    <a:pt x="16" y="432"/>
                  </a:lnTo>
                  <a:lnTo>
                    <a:pt x="17" y="441"/>
                  </a:lnTo>
                  <a:lnTo>
                    <a:pt x="17" y="450"/>
                  </a:lnTo>
                  <a:lnTo>
                    <a:pt x="19" y="459"/>
                  </a:lnTo>
                  <a:lnTo>
                    <a:pt x="19" y="468"/>
                  </a:lnTo>
                  <a:lnTo>
                    <a:pt x="19" y="475"/>
                  </a:lnTo>
                  <a:lnTo>
                    <a:pt x="20" y="483"/>
                  </a:lnTo>
                  <a:lnTo>
                    <a:pt x="20" y="490"/>
                  </a:lnTo>
                  <a:lnTo>
                    <a:pt x="21" y="498"/>
                  </a:lnTo>
                  <a:lnTo>
                    <a:pt x="21" y="504"/>
                  </a:lnTo>
                  <a:lnTo>
                    <a:pt x="22" y="509"/>
                  </a:lnTo>
                  <a:lnTo>
                    <a:pt x="22" y="514"/>
                  </a:lnTo>
                  <a:lnTo>
                    <a:pt x="23" y="518"/>
                  </a:lnTo>
                  <a:lnTo>
                    <a:pt x="23" y="523"/>
                  </a:lnTo>
                  <a:lnTo>
                    <a:pt x="25" y="527"/>
                  </a:lnTo>
                  <a:lnTo>
                    <a:pt x="25" y="530"/>
                  </a:lnTo>
                  <a:lnTo>
                    <a:pt x="26" y="532"/>
                  </a:lnTo>
                  <a:lnTo>
                    <a:pt x="26" y="535"/>
                  </a:lnTo>
                  <a:lnTo>
                    <a:pt x="27" y="535"/>
                  </a:lnTo>
                  <a:lnTo>
                    <a:pt x="27" y="536"/>
                  </a:lnTo>
                  <a:lnTo>
                    <a:pt x="27" y="535"/>
                  </a:lnTo>
                  <a:lnTo>
                    <a:pt x="28" y="535"/>
                  </a:lnTo>
                  <a:lnTo>
                    <a:pt x="28" y="532"/>
                  </a:lnTo>
                  <a:lnTo>
                    <a:pt x="30" y="530"/>
                  </a:lnTo>
                  <a:lnTo>
                    <a:pt x="30" y="527"/>
                  </a:lnTo>
                  <a:lnTo>
                    <a:pt x="31" y="523"/>
                  </a:lnTo>
                  <a:lnTo>
                    <a:pt x="31" y="518"/>
                  </a:lnTo>
                  <a:lnTo>
                    <a:pt x="32" y="514"/>
                  </a:lnTo>
                  <a:lnTo>
                    <a:pt x="32" y="509"/>
                  </a:lnTo>
                  <a:lnTo>
                    <a:pt x="33" y="504"/>
                  </a:lnTo>
                  <a:lnTo>
                    <a:pt x="33" y="496"/>
                  </a:lnTo>
                  <a:lnTo>
                    <a:pt x="35" y="490"/>
                  </a:lnTo>
                  <a:lnTo>
                    <a:pt x="35" y="483"/>
                  </a:lnTo>
                  <a:lnTo>
                    <a:pt x="36" y="475"/>
                  </a:lnTo>
                  <a:lnTo>
                    <a:pt x="37" y="459"/>
                  </a:lnTo>
                  <a:lnTo>
                    <a:pt x="37" y="450"/>
                  </a:lnTo>
                  <a:lnTo>
                    <a:pt x="38" y="441"/>
                  </a:lnTo>
                  <a:lnTo>
                    <a:pt x="38" y="432"/>
                  </a:lnTo>
                  <a:lnTo>
                    <a:pt x="39" y="422"/>
                  </a:lnTo>
                  <a:lnTo>
                    <a:pt x="39" y="410"/>
                  </a:lnTo>
                  <a:lnTo>
                    <a:pt x="41" y="399"/>
                  </a:lnTo>
                  <a:lnTo>
                    <a:pt x="42" y="387"/>
                  </a:lnTo>
                  <a:lnTo>
                    <a:pt x="42" y="375"/>
                  </a:lnTo>
                  <a:lnTo>
                    <a:pt x="43" y="364"/>
                  </a:lnTo>
                  <a:lnTo>
                    <a:pt x="43" y="350"/>
                  </a:lnTo>
                  <a:lnTo>
                    <a:pt x="46" y="323"/>
                  </a:lnTo>
                  <a:lnTo>
                    <a:pt x="47" y="297"/>
                  </a:lnTo>
                  <a:lnTo>
                    <a:pt x="48" y="268"/>
                  </a:lnTo>
                  <a:lnTo>
                    <a:pt x="48" y="252"/>
                  </a:lnTo>
                  <a:lnTo>
                    <a:pt x="49" y="237"/>
                  </a:lnTo>
                  <a:lnTo>
                    <a:pt x="49" y="219"/>
                  </a:lnTo>
                  <a:lnTo>
                    <a:pt x="50" y="201"/>
                  </a:lnTo>
                  <a:lnTo>
                    <a:pt x="50" y="183"/>
                  </a:lnTo>
                  <a:lnTo>
                    <a:pt x="50" y="164"/>
                  </a:lnTo>
                  <a:lnTo>
                    <a:pt x="52" y="125"/>
                  </a:lnTo>
                  <a:lnTo>
                    <a:pt x="53" y="107"/>
                  </a:lnTo>
                  <a:lnTo>
                    <a:pt x="53" y="88"/>
                  </a:lnTo>
                  <a:lnTo>
                    <a:pt x="53" y="72"/>
                  </a:lnTo>
                  <a:lnTo>
                    <a:pt x="53" y="54"/>
                  </a:lnTo>
                  <a:lnTo>
                    <a:pt x="54" y="39"/>
                  </a:lnTo>
                  <a:lnTo>
                    <a:pt x="54" y="24"/>
                  </a:lnTo>
                  <a:lnTo>
                    <a:pt x="54" y="17"/>
                  </a:lnTo>
                  <a:lnTo>
                    <a:pt x="54" y="11"/>
                  </a:lnTo>
                  <a:lnTo>
                    <a:pt x="54" y="5"/>
                  </a:lnTo>
                  <a:lnTo>
                    <a:pt x="55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40" name="Freeform 108"/>
            <p:cNvSpPr>
              <a:spLocks/>
            </p:cNvSpPr>
            <p:nvPr/>
          </p:nvSpPr>
          <p:spPr bwMode="auto">
            <a:xfrm>
              <a:off x="4806" y="965"/>
              <a:ext cx="55" cy="312"/>
            </a:xfrm>
            <a:custGeom>
              <a:avLst/>
              <a:gdLst>
                <a:gd name="T0" fmla="*/ 0 w 55"/>
                <a:gd name="T1" fmla="*/ 5 h 626"/>
                <a:gd name="T2" fmla="*/ 0 w 55"/>
                <a:gd name="T3" fmla="*/ 17 h 626"/>
                <a:gd name="T4" fmla="*/ 0 w 55"/>
                <a:gd name="T5" fmla="*/ 32 h 626"/>
                <a:gd name="T6" fmla="*/ 1 w 55"/>
                <a:gd name="T7" fmla="*/ 48 h 626"/>
                <a:gd name="T8" fmla="*/ 1 w 55"/>
                <a:gd name="T9" fmla="*/ 67 h 626"/>
                <a:gd name="T10" fmla="*/ 2 w 55"/>
                <a:gd name="T11" fmla="*/ 97 h 626"/>
                <a:gd name="T12" fmla="*/ 3 w 55"/>
                <a:gd name="T13" fmla="*/ 142 h 626"/>
                <a:gd name="T14" fmla="*/ 4 w 55"/>
                <a:gd name="T15" fmla="*/ 188 h 626"/>
                <a:gd name="T16" fmla="*/ 6 w 55"/>
                <a:gd name="T17" fmla="*/ 233 h 626"/>
                <a:gd name="T18" fmla="*/ 7 w 55"/>
                <a:gd name="T19" fmla="*/ 274 h 626"/>
                <a:gd name="T20" fmla="*/ 8 w 55"/>
                <a:gd name="T21" fmla="*/ 294 h 626"/>
                <a:gd name="T22" fmla="*/ 8 w 55"/>
                <a:gd name="T23" fmla="*/ 311 h 626"/>
                <a:gd name="T24" fmla="*/ 11 w 55"/>
                <a:gd name="T25" fmla="*/ 377 h 626"/>
                <a:gd name="T26" fmla="*/ 12 w 55"/>
                <a:gd name="T27" fmla="*/ 423 h 626"/>
                <a:gd name="T28" fmla="*/ 13 w 55"/>
                <a:gd name="T29" fmla="*/ 451 h 626"/>
                <a:gd name="T30" fmla="*/ 14 w 55"/>
                <a:gd name="T31" fmla="*/ 478 h 626"/>
                <a:gd name="T32" fmla="*/ 15 w 55"/>
                <a:gd name="T33" fmla="*/ 504 h 626"/>
                <a:gd name="T34" fmla="*/ 17 w 55"/>
                <a:gd name="T35" fmla="*/ 526 h 626"/>
                <a:gd name="T36" fmla="*/ 18 w 55"/>
                <a:gd name="T37" fmla="*/ 545 h 626"/>
                <a:gd name="T38" fmla="*/ 19 w 55"/>
                <a:gd name="T39" fmla="*/ 563 h 626"/>
                <a:gd name="T40" fmla="*/ 20 w 55"/>
                <a:gd name="T41" fmla="*/ 579 h 626"/>
                <a:gd name="T42" fmla="*/ 22 w 55"/>
                <a:gd name="T43" fmla="*/ 594 h 626"/>
                <a:gd name="T44" fmla="*/ 23 w 55"/>
                <a:gd name="T45" fmla="*/ 606 h 626"/>
                <a:gd name="T46" fmla="*/ 24 w 55"/>
                <a:gd name="T47" fmla="*/ 615 h 626"/>
                <a:gd name="T48" fmla="*/ 25 w 55"/>
                <a:gd name="T49" fmla="*/ 621 h 626"/>
                <a:gd name="T50" fmla="*/ 26 w 55"/>
                <a:gd name="T51" fmla="*/ 624 h 626"/>
                <a:gd name="T52" fmla="*/ 26 w 55"/>
                <a:gd name="T53" fmla="*/ 624 h 626"/>
                <a:gd name="T54" fmla="*/ 28 w 55"/>
                <a:gd name="T55" fmla="*/ 621 h 626"/>
                <a:gd name="T56" fmla="*/ 29 w 55"/>
                <a:gd name="T57" fmla="*/ 615 h 626"/>
                <a:gd name="T58" fmla="*/ 30 w 55"/>
                <a:gd name="T59" fmla="*/ 605 h 626"/>
                <a:gd name="T60" fmla="*/ 31 w 55"/>
                <a:gd name="T61" fmla="*/ 594 h 626"/>
                <a:gd name="T62" fmla="*/ 33 w 55"/>
                <a:gd name="T63" fmla="*/ 579 h 626"/>
                <a:gd name="T64" fmla="*/ 34 w 55"/>
                <a:gd name="T65" fmla="*/ 563 h 626"/>
                <a:gd name="T66" fmla="*/ 35 w 55"/>
                <a:gd name="T67" fmla="*/ 545 h 626"/>
                <a:gd name="T68" fmla="*/ 36 w 55"/>
                <a:gd name="T69" fmla="*/ 526 h 626"/>
                <a:gd name="T70" fmla="*/ 38 w 55"/>
                <a:gd name="T71" fmla="*/ 504 h 626"/>
                <a:gd name="T72" fmla="*/ 39 w 55"/>
                <a:gd name="T73" fmla="*/ 478 h 626"/>
                <a:gd name="T74" fmla="*/ 41 w 55"/>
                <a:gd name="T75" fmla="*/ 451 h 626"/>
                <a:gd name="T76" fmla="*/ 42 w 55"/>
                <a:gd name="T77" fmla="*/ 423 h 626"/>
                <a:gd name="T78" fmla="*/ 45 w 55"/>
                <a:gd name="T79" fmla="*/ 377 h 626"/>
                <a:gd name="T80" fmla="*/ 47 w 55"/>
                <a:gd name="T81" fmla="*/ 313 h 626"/>
                <a:gd name="T82" fmla="*/ 47 w 55"/>
                <a:gd name="T83" fmla="*/ 295 h 626"/>
                <a:gd name="T84" fmla="*/ 49 w 55"/>
                <a:gd name="T85" fmla="*/ 256 h 626"/>
                <a:gd name="T86" fmla="*/ 50 w 55"/>
                <a:gd name="T87" fmla="*/ 213 h 626"/>
                <a:gd name="T88" fmla="*/ 51 w 55"/>
                <a:gd name="T89" fmla="*/ 146 h 626"/>
                <a:gd name="T90" fmla="*/ 52 w 55"/>
                <a:gd name="T91" fmla="*/ 103 h 626"/>
                <a:gd name="T92" fmla="*/ 52 w 55"/>
                <a:gd name="T93" fmla="*/ 63 h 626"/>
                <a:gd name="T94" fmla="*/ 53 w 55"/>
                <a:gd name="T95" fmla="*/ 36 h 626"/>
                <a:gd name="T96" fmla="*/ 53 w 55"/>
                <a:gd name="T97" fmla="*/ 20 h 626"/>
                <a:gd name="T98" fmla="*/ 53 w 55"/>
                <a:gd name="T99" fmla="*/ 6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5" h="626">
                  <a:moveTo>
                    <a:pt x="0" y="0"/>
                  </a:moveTo>
                  <a:lnTo>
                    <a:pt x="0" y="5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1" y="48"/>
                  </a:lnTo>
                  <a:lnTo>
                    <a:pt x="1" y="57"/>
                  </a:lnTo>
                  <a:lnTo>
                    <a:pt x="1" y="67"/>
                  </a:lnTo>
                  <a:lnTo>
                    <a:pt x="1" y="76"/>
                  </a:lnTo>
                  <a:lnTo>
                    <a:pt x="2" y="97"/>
                  </a:lnTo>
                  <a:lnTo>
                    <a:pt x="2" y="119"/>
                  </a:lnTo>
                  <a:lnTo>
                    <a:pt x="3" y="142"/>
                  </a:lnTo>
                  <a:lnTo>
                    <a:pt x="3" y="164"/>
                  </a:lnTo>
                  <a:lnTo>
                    <a:pt x="4" y="188"/>
                  </a:lnTo>
                  <a:lnTo>
                    <a:pt x="4" y="210"/>
                  </a:lnTo>
                  <a:lnTo>
                    <a:pt x="6" y="233"/>
                  </a:lnTo>
                  <a:lnTo>
                    <a:pt x="7" y="255"/>
                  </a:lnTo>
                  <a:lnTo>
                    <a:pt x="7" y="274"/>
                  </a:lnTo>
                  <a:lnTo>
                    <a:pt x="7" y="285"/>
                  </a:lnTo>
                  <a:lnTo>
                    <a:pt x="8" y="294"/>
                  </a:lnTo>
                  <a:lnTo>
                    <a:pt x="8" y="303"/>
                  </a:lnTo>
                  <a:lnTo>
                    <a:pt x="8" y="311"/>
                  </a:lnTo>
                  <a:lnTo>
                    <a:pt x="9" y="344"/>
                  </a:lnTo>
                  <a:lnTo>
                    <a:pt x="11" y="377"/>
                  </a:lnTo>
                  <a:lnTo>
                    <a:pt x="12" y="408"/>
                  </a:lnTo>
                  <a:lnTo>
                    <a:pt x="12" y="423"/>
                  </a:lnTo>
                  <a:lnTo>
                    <a:pt x="13" y="438"/>
                  </a:lnTo>
                  <a:lnTo>
                    <a:pt x="13" y="451"/>
                  </a:lnTo>
                  <a:lnTo>
                    <a:pt x="14" y="465"/>
                  </a:lnTo>
                  <a:lnTo>
                    <a:pt x="14" y="478"/>
                  </a:lnTo>
                  <a:lnTo>
                    <a:pt x="15" y="492"/>
                  </a:lnTo>
                  <a:lnTo>
                    <a:pt x="15" y="504"/>
                  </a:lnTo>
                  <a:lnTo>
                    <a:pt x="17" y="515"/>
                  </a:lnTo>
                  <a:lnTo>
                    <a:pt x="17" y="526"/>
                  </a:lnTo>
                  <a:lnTo>
                    <a:pt x="18" y="536"/>
                  </a:lnTo>
                  <a:lnTo>
                    <a:pt x="18" y="545"/>
                  </a:lnTo>
                  <a:lnTo>
                    <a:pt x="18" y="554"/>
                  </a:lnTo>
                  <a:lnTo>
                    <a:pt x="19" y="563"/>
                  </a:lnTo>
                  <a:lnTo>
                    <a:pt x="19" y="572"/>
                  </a:lnTo>
                  <a:lnTo>
                    <a:pt x="20" y="579"/>
                  </a:lnTo>
                  <a:lnTo>
                    <a:pt x="20" y="587"/>
                  </a:lnTo>
                  <a:lnTo>
                    <a:pt x="22" y="594"/>
                  </a:lnTo>
                  <a:lnTo>
                    <a:pt x="22" y="600"/>
                  </a:lnTo>
                  <a:lnTo>
                    <a:pt x="23" y="606"/>
                  </a:lnTo>
                  <a:lnTo>
                    <a:pt x="23" y="611"/>
                  </a:lnTo>
                  <a:lnTo>
                    <a:pt x="24" y="615"/>
                  </a:lnTo>
                  <a:lnTo>
                    <a:pt x="24" y="618"/>
                  </a:lnTo>
                  <a:lnTo>
                    <a:pt x="25" y="621"/>
                  </a:lnTo>
                  <a:lnTo>
                    <a:pt x="25" y="623"/>
                  </a:lnTo>
                  <a:lnTo>
                    <a:pt x="26" y="624"/>
                  </a:lnTo>
                  <a:lnTo>
                    <a:pt x="26" y="626"/>
                  </a:lnTo>
                  <a:lnTo>
                    <a:pt x="26" y="624"/>
                  </a:lnTo>
                  <a:lnTo>
                    <a:pt x="28" y="623"/>
                  </a:lnTo>
                  <a:lnTo>
                    <a:pt x="28" y="621"/>
                  </a:lnTo>
                  <a:lnTo>
                    <a:pt x="29" y="618"/>
                  </a:lnTo>
                  <a:lnTo>
                    <a:pt x="29" y="615"/>
                  </a:lnTo>
                  <a:lnTo>
                    <a:pt x="30" y="611"/>
                  </a:lnTo>
                  <a:lnTo>
                    <a:pt x="30" y="605"/>
                  </a:lnTo>
                  <a:lnTo>
                    <a:pt x="31" y="600"/>
                  </a:lnTo>
                  <a:lnTo>
                    <a:pt x="31" y="594"/>
                  </a:lnTo>
                  <a:lnTo>
                    <a:pt x="33" y="587"/>
                  </a:lnTo>
                  <a:lnTo>
                    <a:pt x="33" y="579"/>
                  </a:lnTo>
                  <a:lnTo>
                    <a:pt x="34" y="572"/>
                  </a:lnTo>
                  <a:lnTo>
                    <a:pt x="34" y="563"/>
                  </a:lnTo>
                  <a:lnTo>
                    <a:pt x="35" y="554"/>
                  </a:lnTo>
                  <a:lnTo>
                    <a:pt x="35" y="545"/>
                  </a:lnTo>
                  <a:lnTo>
                    <a:pt x="36" y="536"/>
                  </a:lnTo>
                  <a:lnTo>
                    <a:pt x="36" y="526"/>
                  </a:lnTo>
                  <a:lnTo>
                    <a:pt x="38" y="515"/>
                  </a:lnTo>
                  <a:lnTo>
                    <a:pt x="38" y="504"/>
                  </a:lnTo>
                  <a:lnTo>
                    <a:pt x="39" y="492"/>
                  </a:lnTo>
                  <a:lnTo>
                    <a:pt x="39" y="478"/>
                  </a:lnTo>
                  <a:lnTo>
                    <a:pt x="40" y="466"/>
                  </a:lnTo>
                  <a:lnTo>
                    <a:pt x="41" y="451"/>
                  </a:lnTo>
                  <a:lnTo>
                    <a:pt x="41" y="438"/>
                  </a:lnTo>
                  <a:lnTo>
                    <a:pt x="42" y="423"/>
                  </a:lnTo>
                  <a:lnTo>
                    <a:pt x="42" y="408"/>
                  </a:lnTo>
                  <a:lnTo>
                    <a:pt x="45" y="377"/>
                  </a:lnTo>
                  <a:lnTo>
                    <a:pt x="46" y="346"/>
                  </a:lnTo>
                  <a:lnTo>
                    <a:pt x="47" y="313"/>
                  </a:lnTo>
                  <a:lnTo>
                    <a:pt x="47" y="304"/>
                  </a:lnTo>
                  <a:lnTo>
                    <a:pt x="47" y="295"/>
                  </a:lnTo>
                  <a:lnTo>
                    <a:pt x="49" y="276"/>
                  </a:lnTo>
                  <a:lnTo>
                    <a:pt x="49" y="256"/>
                  </a:lnTo>
                  <a:lnTo>
                    <a:pt x="50" y="236"/>
                  </a:lnTo>
                  <a:lnTo>
                    <a:pt x="50" y="213"/>
                  </a:lnTo>
                  <a:lnTo>
                    <a:pt x="50" y="191"/>
                  </a:lnTo>
                  <a:lnTo>
                    <a:pt x="51" y="146"/>
                  </a:lnTo>
                  <a:lnTo>
                    <a:pt x="52" y="125"/>
                  </a:lnTo>
                  <a:lnTo>
                    <a:pt x="52" y="103"/>
                  </a:lnTo>
                  <a:lnTo>
                    <a:pt x="52" y="82"/>
                  </a:lnTo>
                  <a:lnTo>
                    <a:pt x="52" y="63"/>
                  </a:lnTo>
                  <a:lnTo>
                    <a:pt x="53" y="45"/>
                  </a:lnTo>
                  <a:lnTo>
                    <a:pt x="53" y="36"/>
                  </a:lnTo>
                  <a:lnTo>
                    <a:pt x="53" y="29"/>
                  </a:lnTo>
                  <a:lnTo>
                    <a:pt x="53" y="20"/>
                  </a:lnTo>
                  <a:lnTo>
                    <a:pt x="53" y="12"/>
                  </a:lnTo>
                  <a:lnTo>
                    <a:pt x="53" y="6"/>
                  </a:lnTo>
                  <a:lnTo>
                    <a:pt x="55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41" name="Freeform 109"/>
            <p:cNvSpPr>
              <a:spLocks/>
            </p:cNvSpPr>
            <p:nvPr/>
          </p:nvSpPr>
          <p:spPr bwMode="auto">
            <a:xfrm>
              <a:off x="4971" y="697"/>
              <a:ext cx="55" cy="268"/>
            </a:xfrm>
            <a:custGeom>
              <a:avLst/>
              <a:gdLst>
                <a:gd name="T0" fmla="*/ 0 w 55"/>
                <a:gd name="T1" fmla="*/ 532 h 536"/>
                <a:gd name="T2" fmla="*/ 0 w 55"/>
                <a:gd name="T3" fmla="*/ 520 h 536"/>
                <a:gd name="T4" fmla="*/ 0 w 55"/>
                <a:gd name="T5" fmla="*/ 508 h 536"/>
                <a:gd name="T6" fmla="*/ 1 w 55"/>
                <a:gd name="T7" fmla="*/ 493 h 536"/>
                <a:gd name="T8" fmla="*/ 1 w 55"/>
                <a:gd name="T9" fmla="*/ 469 h 536"/>
                <a:gd name="T10" fmla="*/ 2 w 55"/>
                <a:gd name="T11" fmla="*/ 434 h 536"/>
                <a:gd name="T12" fmla="*/ 4 w 55"/>
                <a:gd name="T13" fmla="*/ 395 h 536"/>
                <a:gd name="T14" fmla="*/ 5 w 55"/>
                <a:gd name="T15" fmla="*/ 355 h 536"/>
                <a:gd name="T16" fmla="*/ 7 w 55"/>
                <a:gd name="T17" fmla="*/ 317 h 536"/>
                <a:gd name="T18" fmla="*/ 9 w 55"/>
                <a:gd name="T19" fmla="*/ 283 h 536"/>
                <a:gd name="T20" fmla="*/ 9 w 55"/>
                <a:gd name="T21" fmla="*/ 268 h 536"/>
                <a:gd name="T22" fmla="*/ 11 w 55"/>
                <a:gd name="T23" fmla="*/ 212 h 536"/>
                <a:gd name="T24" fmla="*/ 12 w 55"/>
                <a:gd name="T25" fmla="*/ 173 h 536"/>
                <a:gd name="T26" fmla="*/ 14 w 55"/>
                <a:gd name="T27" fmla="*/ 148 h 536"/>
                <a:gd name="T28" fmla="*/ 15 w 55"/>
                <a:gd name="T29" fmla="*/ 125 h 536"/>
                <a:gd name="T30" fmla="*/ 16 w 55"/>
                <a:gd name="T31" fmla="*/ 105 h 536"/>
                <a:gd name="T32" fmla="*/ 17 w 55"/>
                <a:gd name="T33" fmla="*/ 85 h 536"/>
                <a:gd name="T34" fmla="*/ 18 w 55"/>
                <a:gd name="T35" fmla="*/ 67 h 536"/>
                <a:gd name="T36" fmla="*/ 20 w 55"/>
                <a:gd name="T37" fmla="*/ 52 h 536"/>
                <a:gd name="T38" fmla="*/ 21 w 55"/>
                <a:gd name="T39" fmla="*/ 39 h 536"/>
                <a:gd name="T40" fmla="*/ 22 w 55"/>
                <a:gd name="T41" fmla="*/ 26 h 536"/>
                <a:gd name="T42" fmla="*/ 23 w 55"/>
                <a:gd name="T43" fmla="*/ 17 h 536"/>
                <a:gd name="T44" fmla="*/ 25 w 55"/>
                <a:gd name="T45" fmla="*/ 8 h 536"/>
                <a:gd name="T46" fmla="*/ 26 w 55"/>
                <a:gd name="T47" fmla="*/ 3 h 536"/>
                <a:gd name="T48" fmla="*/ 27 w 55"/>
                <a:gd name="T49" fmla="*/ 0 h 536"/>
                <a:gd name="T50" fmla="*/ 27 w 55"/>
                <a:gd name="T51" fmla="*/ 0 h 536"/>
                <a:gd name="T52" fmla="*/ 28 w 55"/>
                <a:gd name="T53" fmla="*/ 3 h 536"/>
                <a:gd name="T54" fmla="*/ 29 w 55"/>
                <a:gd name="T55" fmla="*/ 8 h 536"/>
                <a:gd name="T56" fmla="*/ 31 w 55"/>
                <a:gd name="T57" fmla="*/ 17 h 536"/>
                <a:gd name="T58" fmla="*/ 32 w 55"/>
                <a:gd name="T59" fmla="*/ 27 h 536"/>
                <a:gd name="T60" fmla="*/ 33 w 55"/>
                <a:gd name="T61" fmla="*/ 39 h 536"/>
                <a:gd name="T62" fmla="*/ 34 w 55"/>
                <a:gd name="T63" fmla="*/ 52 h 536"/>
                <a:gd name="T64" fmla="*/ 37 w 55"/>
                <a:gd name="T65" fmla="*/ 76 h 536"/>
                <a:gd name="T66" fmla="*/ 38 w 55"/>
                <a:gd name="T67" fmla="*/ 94 h 536"/>
                <a:gd name="T68" fmla="*/ 39 w 55"/>
                <a:gd name="T69" fmla="*/ 113 h 536"/>
                <a:gd name="T70" fmla="*/ 40 w 55"/>
                <a:gd name="T71" fmla="*/ 136 h 536"/>
                <a:gd name="T72" fmla="*/ 42 w 55"/>
                <a:gd name="T73" fmla="*/ 160 h 536"/>
                <a:gd name="T74" fmla="*/ 45 w 55"/>
                <a:gd name="T75" fmla="*/ 212 h 536"/>
                <a:gd name="T76" fmla="*/ 48 w 55"/>
                <a:gd name="T77" fmla="*/ 268 h 536"/>
                <a:gd name="T78" fmla="*/ 49 w 55"/>
                <a:gd name="T79" fmla="*/ 298 h 536"/>
                <a:gd name="T80" fmla="*/ 50 w 55"/>
                <a:gd name="T81" fmla="*/ 334 h 536"/>
                <a:gd name="T82" fmla="*/ 50 w 55"/>
                <a:gd name="T83" fmla="*/ 371 h 536"/>
                <a:gd name="T84" fmla="*/ 53 w 55"/>
                <a:gd name="T85" fmla="*/ 428 h 536"/>
                <a:gd name="T86" fmla="*/ 53 w 55"/>
                <a:gd name="T87" fmla="*/ 465 h 536"/>
                <a:gd name="T88" fmla="*/ 54 w 55"/>
                <a:gd name="T89" fmla="*/ 496 h 536"/>
                <a:gd name="T90" fmla="*/ 54 w 55"/>
                <a:gd name="T91" fmla="*/ 518 h 536"/>
                <a:gd name="T92" fmla="*/ 54 w 55"/>
                <a:gd name="T93" fmla="*/ 53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5" h="536">
                  <a:moveTo>
                    <a:pt x="0" y="536"/>
                  </a:moveTo>
                  <a:lnTo>
                    <a:pt x="0" y="532"/>
                  </a:lnTo>
                  <a:lnTo>
                    <a:pt x="0" y="526"/>
                  </a:lnTo>
                  <a:lnTo>
                    <a:pt x="0" y="520"/>
                  </a:lnTo>
                  <a:lnTo>
                    <a:pt x="0" y="514"/>
                  </a:lnTo>
                  <a:lnTo>
                    <a:pt x="0" y="508"/>
                  </a:lnTo>
                  <a:lnTo>
                    <a:pt x="0" y="501"/>
                  </a:lnTo>
                  <a:lnTo>
                    <a:pt x="1" y="493"/>
                  </a:lnTo>
                  <a:lnTo>
                    <a:pt x="1" y="486"/>
                  </a:lnTo>
                  <a:lnTo>
                    <a:pt x="1" y="469"/>
                  </a:lnTo>
                  <a:lnTo>
                    <a:pt x="2" y="451"/>
                  </a:lnTo>
                  <a:lnTo>
                    <a:pt x="2" y="434"/>
                  </a:lnTo>
                  <a:lnTo>
                    <a:pt x="4" y="414"/>
                  </a:lnTo>
                  <a:lnTo>
                    <a:pt x="4" y="395"/>
                  </a:lnTo>
                  <a:lnTo>
                    <a:pt x="5" y="374"/>
                  </a:lnTo>
                  <a:lnTo>
                    <a:pt x="5" y="355"/>
                  </a:lnTo>
                  <a:lnTo>
                    <a:pt x="6" y="335"/>
                  </a:lnTo>
                  <a:lnTo>
                    <a:pt x="7" y="317"/>
                  </a:lnTo>
                  <a:lnTo>
                    <a:pt x="7" y="300"/>
                  </a:lnTo>
                  <a:lnTo>
                    <a:pt x="9" y="283"/>
                  </a:lnTo>
                  <a:lnTo>
                    <a:pt x="9" y="276"/>
                  </a:lnTo>
                  <a:lnTo>
                    <a:pt x="9" y="268"/>
                  </a:lnTo>
                  <a:lnTo>
                    <a:pt x="10" y="240"/>
                  </a:lnTo>
                  <a:lnTo>
                    <a:pt x="11" y="212"/>
                  </a:lnTo>
                  <a:lnTo>
                    <a:pt x="12" y="185"/>
                  </a:lnTo>
                  <a:lnTo>
                    <a:pt x="12" y="173"/>
                  </a:lnTo>
                  <a:lnTo>
                    <a:pt x="14" y="160"/>
                  </a:lnTo>
                  <a:lnTo>
                    <a:pt x="14" y="148"/>
                  </a:lnTo>
                  <a:lnTo>
                    <a:pt x="15" y="136"/>
                  </a:lnTo>
                  <a:lnTo>
                    <a:pt x="15" y="125"/>
                  </a:lnTo>
                  <a:lnTo>
                    <a:pt x="16" y="113"/>
                  </a:lnTo>
                  <a:lnTo>
                    <a:pt x="16" y="105"/>
                  </a:lnTo>
                  <a:lnTo>
                    <a:pt x="17" y="94"/>
                  </a:lnTo>
                  <a:lnTo>
                    <a:pt x="17" y="85"/>
                  </a:lnTo>
                  <a:lnTo>
                    <a:pt x="18" y="76"/>
                  </a:lnTo>
                  <a:lnTo>
                    <a:pt x="18" y="67"/>
                  </a:lnTo>
                  <a:lnTo>
                    <a:pt x="18" y="60"/>
                  </a:lnTo>
                  <a:lnTo>
                    <a:pt x="20" y="52"/>
                  </a:lnTo>
                  <a:lnTo>
                    <a:pt x="20" y="45"/>
                  </a:lnTo>
                  <a:lnTo>
                    <a:pt x="21" y="39"/>
                  </a:lnTo>
                  <a:lnTo>
                    <a:pt x="21" y="32"/>
                  </a:lnTo>
                  <a:lnTo>
                    <a:pt x="22" y="26"/>
                  </a:lnTo>
                  <a:lnTo>
                    <a:pt x="22" y="21"/>
                  </a:lnTo>
                  <a:lnTo>
                    <a:pt x="23" y="17"/>
                  </a:lnTo>
                  <a:lnTo>
                    <a:pt x="23" y="12"/>
                  </a:lnTo>
                  <a:lnTo>
                    <a:pt x="25" y="8"/>
                  </a:lnTo>
                  <a:lnTo>
                    <a:pt x="25" y="5"/>
                  </a:lnTo>
                  <a:lnTo>
                    <a:pt x="26" y="3"/>
                  </a:lnTo>
                  <a:lnTo>
                    <a:pt x="26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8" y="0"/>
                  </a:lnTo>
                  <a:lnTo>
                    <a:pt x="28" y="3"/>
                  </a:lnTo>
                  <a:lnTo>
                    <a:pt x="29" y="5"/>
                  </a:lnTo>
                  <a:lnTo>
                    <a:pt x="29" y="8"/>
                  </a:lnTo>
                  <a:lnTo>
                    <a:pt x="31" y="12"/>
                  </a:lnTo>
                  <a:lnTo>
                    <a:pt x="31" y="17"/>
                  </a:lnTo>
                  <a:lnTo>
                    <a:pt x="32" y="21"/>
                  </a:lnTo>
                  <a:lnTo>
                    <a:pt x="32" y="27"/>
                  </a:lnTo>
                  <a:lnTo>
                    <a:pt x="33" y="32"/>
                  </a:lnTo>
                  <a:lnTo>
                    <a:pt x="33" y="39"/>
                  </a:lnTo>
                  <a:lnTo>
                    <a:pt x="34" y="45"/>
                  </a:lnTo>
                  <a:lnTo>
                    <a:pt x="34" y="52"/>
                  </a:lnTo>
                  <a:lnTo>
                    <a:pt x="36" y="60"/>
                  </a:lnTo>
                  <a:lnTo>
                    <a:pt x="37" y="76"/>
                  </a:lnTo>
                  <a:lnTo>
                    <a:pt x="37" y="85"/>
                  </a:lnTo>
                  <a:lnTo>
                    <a:pt x="38" y="94"/>
                  </a:lnTo>
                  <a:lnTo>
                    <a:pt x="38" y="105"/>
                  </a:lnTo>
                  <a:lnTo>
                    <a:pt x="39" y="113"/>
                  </a:lnTo>
                  <a:lnTo>
                    <a:pt x="39" y="125"/>
                  </a:lnTo>
                  <a:lnTo>
                    <a:pt x="40" y="136"/>
                  </a:lnTo>
                  <a:lnTo>
                    <a:pt x="42" y="148"/>
                  </a:lnTo>
                  <a:lnTo>
                    <a:pt x="42" y="160"/>
                  </a:lnTo>
                  <a:lnTo>
                    <a:pt x="43" y="185"/>
                  </a:lnTo>
                  <a:lnTo>
                    <a:pt x="45" y="212"/>
                  </a:lnTo>
                  <a:lnTo>
                    <a:pt x="47" y="240"/>
                  </a:lnTo>
                  <a:lnTo>
                    <a:pt x="48" y="268"/>
                  </a:lnTo>
                  <a:lnTo>
                    <a:pt x="48" y="283"/>
                  </a:lnTo>
                  <a:lnTo>
                    <a:pt x="49" y="298"/>
                  </a:lnTo>
                  <a:lnTo>
                    <a:pt x="49" y="316"/>
                  </a:lnTo>
                  <a:lnTo>
                    <a:pt x="50" y="334"/>
                  </a:lnTo>
                  <a:lnTo>
                    <a:pt x="50" y="353"/>
                  </a:lnTo>
                  <a:lnTo>
                    <a:pt x="50" y="371"/>
                  </a:lnTo>
                  <a:lnTo>
                    <a:pt x="52" y="410"/>
                  </a:lnTo>
                  <a:lnTo>
                    <a:pt x="53" y="428"/>
                  </a:lnTo>
                  <a:lnTo>
                    <a:pt x="53" y="447"/>
                  </a:lnTo>
                  <a:lnTo>
                    <a:pt x="53" y="465"/>
                  </a:lnTo>
                  <a:lnTo>
                    <a:pt x="53" y="481"/>
                  </a:lnTo>
                  <a:lnTo>
                    <a:pt x="54" y="496"/>
                  </a:lnTo>
                  <a:lnTo>
                    <a:pt x="54" y="511"/>
                  </a:lnTo>
                  <a:lnTo>
                    <a:pt x="54" y="518"/>
                  </a:lnTo>
                  <a:lnTo>
                    <a:pt x="54" y="524"/>
                  </a:lnTo>
                  <a:lnTo>
                    <a:pt x="54" y="530"/>
                  </a:lnTo>
                  <a:lnTo>
                    <a:pt x="55" y="536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42" name="Freeform 110"/>
            <p:cNvSpPr>
              <a:spLocks/>
            </p:cNvSpPr>
            <p:nvPr/>
          </p:nvSpPr>
          <p:spPr bwMode="auto">
            <a:xfrm>
              <a:off x="5081" y="652"/>
              <a:ext cx="56" cy="313"/>
            </a:xfrm>
            <a:custGeom>
              <a:avLst/>
              <a:gdLst>
                <a:gd name="T0" fmla="*/ 0 w 56"/>
                <a:gd name="T1" fmla="*/ 619 h 625"/>
                <a:gd name="T2" fmla="*/ 0 w 56"/>
                <a:gd name="T3" fmla="*/ 607 h 625"/>
                <a:gd name="T4" fmla="*/ 0 w 56"/>
                <a:gd name="T5" fmla="*/ 593 h 625"/>
                <a:gd name="T6" fmla="*/ 2 w 56"/>
                <a:gd name="T7" fmla="*/ 576 h 625"/>
                <a:gd name="T8" fmla="*/ 2 w 56"/>
                <a:gd name="T9" fmla="*/ 557 h 625"/>
                <a:gd name="T10" fmla="*/ 3 w 56"/>
                <a:gd name="T11" fmla="*/ 527 h 625"/>
                <a:gd name="T12" fmla="*/ 4 w 56"/>
                <a:gd name="T13" fmla="*/ 482 h 625"/>
                <a:gd name="T14" fmla="*/ 5 w 56"/>
                <a:gd name="T15" fmla="*/ 438 h 625"/>
                <a:gd name="T16" fmla="*/ 6 w 56"/>
                <a:gd name="T17" fmla="*/ 392 h 625"/>
                <a:gd name="T18" fmla="*/ 8 w 56"/>
                <a:gd name="T19" fmla="*/ 350 h 625"/>
                <a:gd name="T20" fmla="*/ 9 w 56"/>
                <a:gd name="T21" fmla="*/ 331 h 625"/>
                <a:gd name="T22" fmla="*/ 9 w 56"/>
                <a:gd name="T23" fmla="*/ 313 h 625"/>
                <a:gd name="T24" fmla="*/ 11 w 56"/>
                <a:gd name="T25" fmla="*/ 247 h 625"/>
                <a:gd name="T26" fmla="*/ 13 w 56"/>
                <a:gd name="T27" fmla="*/ 201 h 625"/>
                <a:gd name="T28" fmla="*/ 14 w 56"/>
                <a:gd name="T29" fmla="*/ 173 h 625"/>
                <a:gd name="T30" fmla="*/ 15 w 56"/>
                <a:gd name="T31" fmla="*/ 146 h 625"/>
                <a:gd name="T32" fmla="*/ 16 w 56"/>
                <a:gd name="T33" fmla="*/ 121 h 625"/>
                <a:gd name="T34" fmla="*/ 18 w 56"/>
                <a:gd name="T35" fmla="*/ 98 h 625"/>
                <a:gd name="T36" fmla="*/ 19 w 56"/>
                <a:gd name="T37" fmla="*/ 79 h 625"/>
                <a:gd name="T38" fmla="*/ 20 w 56"/>
                <a:gd name="T39" fmla="*/ 61 h 625"/>
                <a:gd name="T40" fmla="*/ 21 w 56"/>
                <a:gd name="T41" fmla="*/ 45 h 625"/>
                <a:gd name="T42" fmla="*/ 22 w 56"/>
                <a:gd name="T43" fmla="*/ 30 h 625"/>
                <a:gd name="T44" fmla="*/ 24 w 56"/>
                <a:gd name="T45" fmla="*/ 18 h 625"/>
                <a:gd name="T46" fmla="*/ 25 w 56"/>
                <a:gd name="T47" fmla="*/ 9 h 625"/>
                <a:gd name="T48" fmla="*/ 26 w 56"/>
                <a:gd name="T49" fmla="*/ 3 h 625"/>
                <a:gd name="T50" fmla="*/ 27 w 56"/>
                <a:gd name="T51" fmla="*/ 0 h 625"/>
                <a:gd name="T52" fmla="*/ 27 w 56"/>
                <a:gd name="T53" fmla="*/ 0 h 625"/>
                <a:gd name="T54" fmla="*/ 29 w 56"/>
                <a:gd name="T55" fmla="*/ 3 h 625"/>
                <a:gd name="T56" fmla="*/ 30 w 56"/>
                <a:gd name="T57" fmla="*/ 9 h 625"/>
                <a:gd name="T58" fmla="*/ 31 w 56"/>
                <a:gd name="T59" fmla="*/ 19 h 625"/>
                <a:gd name="T60" fmla="*/ 32 w 56"/>
                <a:gd name="T61" fmla="*/ 31 h 625"/>
                <a:gd name="T62" fmla="*/ 33 w 56"/>
                <a:gd name="T63" fmla="*/ 45 h 625"/>
                <a:gd name="T64" fmla="*/ 35 w 56"/>
                <a:gd name="T65" fmla="*/ 61 h 625"/>
                <a:gd name="T66" fmla="*/ 36 w 56"/>
                <a:gd name="T67" fmla="*/ 79 h 625"/>
                <a:gd name="T68" fmla="*/ 37 w 56"/>
                <a:gd name="T69" fmla="*/ 98 h 625"/>
                <a:gd name="T70" fmla="*/ 38 w 56"/>
                <a:gd name="T71" fmla="*/ 121 h 625"/>
                <a:gd name="T72" fmla="*/ 40 w 56"/>
                <a:gd name="T73" fmla="*/ 146 h 625"/>
                <a:gd name="T74" fmla="*/ 42 w 56"/>
                <a:gd name="T75" fmla="*/ 173 h 625"/>
                <a:gd name="T76" fmla="*/ 43 w 56"/>
                <a:gd name="T77" fmla="*/ 201 h 625"/>
                <a:gd name="T78" fmla="*/ 46 w 56"/>
                <a:gd name="T79" fmla="*/ 247 h 625"/>
                <a:gd name="T80" fmla="*/ 48 w 56"/>
                <a:gd name="T81" fmla="*/ 313 h 625"/>
                <a:gd name="T82" fmla="*/ 48 w 56"/>
                <a:gd name="T83" fmla="*/ 329 h 625"/>
                <a:gd name="T84" fmla="*/ 49 w 56"/>
                <a:gd name="T85" fmla="*/ 368 h 625"/>
                <a:gd name="T86" fmla="*/ 51 w 56"/>
                <a:gd name="T87" fmla="*/ 411 h 625"/>
                <a:gd name="T88" fmla="*/ 52 w 56"/>
                <a:gd name="T89" fmla="*/ 478 h 625"/>
                <a:gd name="T90" fmla="*/ 53 w 56"/>
                <a:gd name="T91" fmla="*/ 521 h 625"/>
                <a:gd name="T92" fmla="*/ 53 w 56"/>
                <a:gd name="T93" fmla="*/ 561 h 625"/>
                <a:gd name="T94" fmla="*/ 54 w 56"/>
                <a:gd name="T95" fmla="*/ 588 h 625"/>
                <a:gd name="T96" fmla="*/ 54 w 56"/>
                <a:gd name="T97" fmla="*/ 604 h 625"/>
                <a:gd name="T98" fmla="*/ 54 w 56"/>
                <a:gd name="T99" fmla="*/ 618 h 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6" h="625">
                  <a:moveTo>
                    <a:pt x="0" y="625"/>
                  </a:moveTo>
                  <a:lnTo>
                    <a:pt x="0" y="619"/>
                  </a:lnTo>
                  <a:lnTo>
                    <a:pt x="0" y="613"/>
                  </a:lnTo>
                  <a:lnTo>
                    <a:pt x="0" y="607"/>
                  </a:lnTo>
                  <a:lnTo>
                    <a:pt x="0" y="600"/>
                  </a:lnTo>
                  <a:lnTo>
                    <a:pt x="0" y="593"/>
                  </a:lnTo>
                  <a:lnTo>
                    <a:pt x="0" y="585"/>
                  </a:lnTo>
                  <a:lnTo>
                    <a:pt x="2" y="576"/>
                  </a:lnTo>
                  <a:lnTo>
                    <a:pt x="2" y="567"/>
                  </a:lnTo>
                  <a:lnTo>
                    <a:pt x="2" y="557"/>
                  </a:lnTo>
                  <a:lnTo>
                    <a:pt x="2" y="548"/>
                  </a:lnTo>
                  <a:lnTo>
                    <a:pt x="3" y="527"/>
                  </a:lnTo>
                  <a:lnTo>
                    <a:pt x="3" y="505"/>
                  </a:lnTo>
                  <a:lnTo>
                    <a:pt x="4" y="482"/>
                  </a:lnTo>
                  <a:lnTo>
                    <a:pt x="4" y="460"/>
                  </a:lnTo>
                  <a:lnTo>
                    <a:pt x="5" y="438"/>
                  </a:lnTo>
                  <a:lnTo>
                    <a:pt x="5" y="414"/>
                  </a:lnTo>
                  <a:lnTo>
                    <a:pt x="6" y="392"/>
                  </a:lnTo>
                  <a:lnTo>
                    <a:pt x="8" y="371"/>
                  </a:lnTo>
                  <a:lnTo>
                    <a:pt x="8" y="350"/>
                  </a:lnTo>
                  <a:lnTo>
                    <a:pt x="8" y="339"/>
                  </a:lnTo>
                  <a:lnTo>
                    <a:pt x="9" y="331"/>
                  </a:lnTo>
                  <a:lnTo>
                    <a:pt x="9" y="322"/>
                  </a:lnTo>
                  <a:lnTo>
                    <a:pt x="9" y="313"/>
                  </a:lnTo>
                  <a:lnTo>
                    <a:pt x="10" y="280"/>
                  </a:lnTo>
                  <a:lnTo>
                    <a:pt x="11" y="247"/>
                  </a:lnTo>
                  <a:lnTo>
                    <a:pt x="13" y="216"/>
                  </a:lnTo>
                  <a:lnTo>
                    <a:pt x="13" y="201"/>
                  </a:lnTo>
                  <a:lnTo>
                    <a:pt x="14" y="186"/>
                  </a:lnTo>
                  <a:lnTo>
                    <a:pt x="14" y="173"/>
                  </a:lnTo>
                  <a:lnTo>
                    <a:pt x="15" y="159"/>
                  </a:lnTo>
                  <a:lnTo>
                    <a:pt x="15" y="146"/>
                  </a:lnTo>
                  <a:lnTo>
                    <a:pt x="16" y="132"/>
                  </a:lnTo>
                  <a:lnTo>
                    <a:pt x="16" y="121"/>
                  </a:lnTo>
                  <a:lnTo>
                    <a:pt x="18" y="110"/>
                  </a:lnTo>
                  <a:lnTo>
                    <a:pt x="18" y="98"/>
                  </a:lnTo>
                  <a:lnTo>
                    <a:pt x="19" y="89"/>
                  </a:lnTo>
                  <a:lnTo>
                    <a:pt x="19" y="79"/>
                  </a:lnTo>
                  <a:lnTo>
                    <a:pt x="19" y="70"/>
                  </a:lnTo>
                  <a:lnTo>
                    <a:pt x="20" y="61"/>
                  </a:lnTo>
                  <a:lnTo>
                    <a:pt x="20" y="52"/>
                  </a:lnTo>
                  <a:lnTo>
                    <a:pt x="21" y="45"/>
                  </a:lnTo>
                  <a:lnTo>
                    <a:pt x="21" y="37"/>
                  </a:lnTo>
                  <a:lnTo>
                    <a:pt x="22" y="30"/>
                  </a:lnTo>
                  <a:lnTo>
                    <a:pt x="22" y="24"/>
                  </a:lnTo>
                  <a:lnTo>
                    <a:pt x="24" y="18"/>
                  </a:lnTo>
                  <a:lnTo>
                    <a:pt x="24" y="13"/>
                  </a:lnTo>
                  <a:lnTo>
                    <a:pt x="25" y="9"/>
                  </a:lnTo>
                  <a:lnTo>
                    <a:pt x="25" y="6"/>
                  </a:lnTo>
                  <a:lnTo>
                    <a:pt x="26" y="3"/>
                  </a:lnTo>
                  <a:lnTo>
                    <a:pt x="26" y="1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9" y="1"/>
                  </a:lnTo>
                  <a:lnTo>
                    <a:pt x="29" y="3"/>
                  </a:lnTo>
                  <a:lnTo>
                    <a:pt x="30" y="6"/>
                  </a:lnTo>
                  <a:lnTo>
                    <a:pt x="30" y="9"/>
                  </a:lnTo>
                  <a:lnTo>
                    <a:pt x="31" y="13"/>
                  </a:lnTo>
                  <a:lnTo>
                    <a:pt x="31" y="19"/>
                  </a:lnTo>
                  <a:lnTo>
                    <a:pt x="32" y="24"/>
                  </a:lnTo>
                  <a:lnTo>
                    <a:pt x="32" y="31"/>
                  </a:lnTo>
                  <a:lnTo>
                    <a:pt x="33" y="37"/>
                  </a:lnTo>
                  <a:lnTo>
                    <a:pt x="33" y="45"/>
                  </a:lnTo>
                  <a:lnTo>
                    <a:pt x="35" y="52"/>
                  </a:lnTo>
                  <a:lnTo>
                    <a:pt x="35" y="61"/>
                  </a:lnTo>
                  <a:lnTo>
                    <a:pt x="36" y="70"/>
                  </a:lnTo>
                  <a:lnTo>
                    <a:pt x="36" y="79"/>
                  </a:lnTo>
                  <a:lnTo>
                    <a:pt x="37" y="89"/>
                  </a:lnTo>
                  <a:lnTo>
                    <a:pt x="37" y="98"/>
                  </a:lnTo>
                  <a:lnTo>
                    <a:pt x="38" y="110"/>
                  </a:lnTo>
                  <a:lnTo>
                    <a:pt x="38" y="121"/>
                  </a:lnTo>
                  <a:lnTo>
                    <a:pt x="40" y="132"/>
                  </a:lnTo>
                  <a:lnTo>
                    <a:pt x="40" y="146"/>
                  </a:lnTo>
                  <a:lnTo>
                    <a:pt x="41" y="159"/>
                  </a:lnTo>
                  <a:lnTo>
                    <a:pt x="42" y="173"/>
                  </a:lnTo>
                  <a:lnTo>
                    <a:pt x="42" y="186"/>
                  </a:lnTo>
                  <a:lnTo>
                    <a:pt x="43" y="201"/>
                  </a:lnTo>
                  <a:lnTo>
                    <a:pt x="43" y="216"/>
                  </a:lnTo>
                  <a:lnTo>
                    <a:pt x="46" y="247"/>
                  </a:lnTo>
                  <a:lnTo>
                    <a:pt x="47" y="278"/>
                  </a:lnTo>
                  <a:lnTo>
                    <a:pt x="48" y="313"/>
                  </a:lnTo>
                  <a:lnTo>
                    <a:pt x="48" y="320"/>
                  </a:lnTo>
                  <a:lnTo>
                    <a:pt x="48" y="329"/>
                  </a:lnTo>
                  <a:lnTo>
                    <a:pt x="49" y="348"/>
                  </a:lnTo>
                  <a:lnTo>
                    <a:pt x="49" y="368"/>
                  </a:lnTo>
                  <a:lnTo>
                    <a:pt x="51" y="390"/>
                  </a:lnTo>
                  <a:lnTo>
                    <a:pt x="51" y="411"/>
                  </a:lnTo>
                  <a:lnTo>
                    <a:pt x="51" y="433"/>
                  </a:lnTo>
                  <a:lnTo>
                    <a:pt x="52" y="478"/>
                  </a:lnTo>
                  <a:lnTo>
                    <a:pt x="53" y="499"/>
                  </a:lnTo>
                  <a:lnTo>
                    <a:pt x="53" y="521"/>
                  </a:lnTo>
                  <a:lnTo>
                    <a:pt x="53" y="542"/>
                  </a:lnTo>
                  <a:lnTo>
                    <a:pt x="53" y="561"/>
                  </a:lnTo>
                  <a:lnTo>
                    <a:pt x="54" y="579"/>
                  </a:lnTo>
                  <a:lnTo>
                    <a:pt x="54" y="588"/>
                  </a:lnTo>
                  <a:lnTo>
                    <a:pt x="54" y="596"/>
                  </a:lnTo>
                  <a:lnTo>
                    <a:pt x="54" y="604"/>
                  </a:lnTo>
                  <a:lnTo>
                    <a:pt x="54" y="612"/>
                  </a:lnTo>
                  <a:lnTo>
                    <a:pt x="54" y="618"/>
                  </a:lnTo>
                  <a:lnTo>
                    <a:pt x="56" y="625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43" name="Freeform 111"/>
            <p:cNvSpPr>
              <a:spLocks/>
            </p:cNvSpPr>
            <p:nvPr/>
          </p:nvSpPr>
          <p:spPr bwMode="auto">
            <a:xfrm>
              <a:off x="4916" y="965"/>
              <a:ext cx="55" cy="268"/>
            </a:xfrm>
            <a:custGeom>
              <a:avLst/>
              <a:gdLst>
                <a:gd name="T0" fmla="*/ 0 w 55"/>
                <a:gd name="T1" fmla="*/ 5 h 536"/>
                <a:gd name="T2" fmla="*/ 0 w 55"/>
                <a:gd name="T3" fmla="*/ 15 h 536"/>
                <a:gd name="T4" fmla="*/ 0 w 55"/>
                <a:gd name="T5" fmla="*/ 27 h 536"/>
                <a:gd name="T6" fmla="*/ 1 w 55"/>
                <a:gd name="T7" fmla="*/ 42 h 536"/>
                <a:gd name="T8" fmla="*/ 1 w 55"/>
                <a:gd name="T9" fmla="*/ 66 h 536"/>
                <a:gd name="T10" fmla="*/ 2 w 55"/>
                <a:gd name="T11" fmla="*/ 102 h 536"/>
                <a:gd name="T12" fmla="*/ 4 w 55"/>
                <a:gd name="T13" fmla="*/ 140 h 536"/>
                <a:gd name="T14" fmla="*/ 5 w 55"/>
                <a:gd name="T15" fmla="*/ 180 h 536"/>
                <a:gd name="T16" fmla="*/ 7 w 55"/>
                <a:gd name="T17" fmla="*/ 218 h 536"/>
                <a:gd name="T18" fmla="*/ 8 w 55"/>
                <a:gd name="T19" fmla="*/ 252 h 536"/>
                <a:gd name="T20" fmla="*/ 8 w 55"/>
                <a:gd name="T21" fmla="*/ 267 h 536"/>
                <a:gd name="T22" fmla="*/ 11 w 55"/>
                <a:gd name="T23" fmla="*/ 323 h 536"/>
                <a:gd name="T24" fmla="*/ 13 w 55"/>
                <a:gd name="T25" fmla="*/ 375 h 536"/>
                <a:gd name="T26" fmla="*/ 15 w 55"/>
                <a:gd name="T27" fmla="*/ 399 h 536"/>
                <a:gd name="T28" fmla="*/ 16 w 55"/>
                <a:gd name="T29" fmla="*/ 422 h 536"/>
                <a:gd name="T30" fmla="*/ 17 w 55"/>
                <a:gd name="T31" fmla="*/ 441 h 536"/>
                <a:gd name="T32" fmla="*/ 18 w 55"/>
                <a:gd name="T33" fmla="*/ 459 h 536"/>
                <a:gd name="T34" fmla="*/ 18 w 55"/>
                <a:gd name="T35" fmla="*/ 475 h 536"/>
                <a:gd name="T36" fmla="*/ 19 w 55"/>
                <a:gd name="T37" fmla="*/ 490 h 536"/>
                <a:gd name="T38" fmla="*/ 21 w 55"/>
                <a:gd name="T39" fmla="*/ 504 h 536"/>
                <a:gd name="T40" fmla="*/ 22 w 55"/>
                <a:gd name="T41" fmla="*/ 514 h 536"/>
                <a:gd name="T42" fmla="*/ 23 w 55"/>
                <a:gd name="T43" fmla="*/ 523 h 536"/>
                <a:gd name="T44" fmla="*/ 24 w 55"/>
                <a:gd name="T45" fmla="*/ 530 h 536"/>
                <a:gd name="T46" fmla="*/ 26 w 55"/>
                <a:gd name="T47" fmla="*/ 535 h 536"/>
                <a:gd name="T48" fmla="*/ 27 w 55"/>
                <a:gd name="T49" fmla="*/ 536 h 536"/>
                <a:gd name="T50" fmla="*/ 28 w 55"/>
                <a:gd name="T51" fmla="*/ 535 h 536"/>
                <a:gd name="T52" fmla="*/ 29 w 55"/>
                <a:gd name="T53" fmla="*/ 530 h 536"/>
                <a:gd name="T54" fmla="*/ 31 w 55"/>
                <a:gd name="T55" fmla="*/ 523 h 536"/>
                <a:gd name="T56" fmla="*/ 32 w 55"/>
                <a:gd name="T57" fmla="*/ 514 h 536"/>
                <a:gd name="T58" fmla="*/ 33 w 55"/>
                <a:gd name="T59" fmla="*/ 504 h 536"/>
                <a:gd name="T60" fmla="*/ 34 w 55"/>
                <a:gd name="T61" fmla="*/ 490 h 536"/>
                <a:gd name="T62" fmla="*/ 35 w 55"/>
                <a:gd name="T63" fmla="*/ 475 h 536"/>
                <a:gd name="T64" fmla="*/ 37 w 55"/>
                <a:gd name="T65" fmla="*/ 450 h 536"/>
                <a:gd name="T66" fmla="*/ 38 w 55"/>
                <a:gd name="T67" fmla="*/ 432 h 536"/>
                <a:gd name="T68" fmla="*/ 39 w 55"/>
                <a:gd name="T69" fmla="*/ 410 h 536"/>
                <a:gd name="T70" fmla="*/ 42 w 55"/>
                <a:gd name="T71" fmla="*/ 387 h 536"/>
                <a:gd name="T72" fmla="*/ 43 w 55"/>
                <a:gd name="T73" fmla="*/ 364 h 536"/>
                <a:gd name="T74" fmla="*/ 45 w 55"/>
                <a:gd name="T75" fmla="*/ 323 h 536"/>
                <a:gd name="T76" fmla="*/ 48 w 55"/>
                <a:gd name="T77" fmla="*/ 268 h 536"/>
                <a:gd name="T78" fmla="*/ 49 w 55"/>
                <a:gd name="T79" fmla="*/ 237 h 536"/>
                <a:gd name="T80" fmla="*/ 50 w 55"/>
                <a:gd name="T81" fmla="*/ 201 h 536"/>
                <a:gd name="T82" fmla="*/ 50 w 55"/>
                <a:gd name="T83" fmla="*/ 164 h 536"/>
                <a:gd name="T84" fmla="*/ 53 w 55"/>
                <a:gd name="T85" fmla="*/ 107 h 536"/>
                <a:gd name="T86" fmla="*/ 53 w 55"/>
                <a:gd name="T87" fmla="*/ 72 h 536"/>
                <a:gd name="T88" fmla="*/ 54 w 55"/>
                <a:gd name="T89" fmla="*/ 39 h 536"/>
                <a:gd name="T90" fmla="*/ 54 w 55"/>
                <a:gd name="T91" fmla="*/ 17 h 536"/>
                <a:gd name="T92" fmla="*/ 54 w 55"/>
                <a:gd name="T93" fmla="*/ 5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5" h="536">
                  <a:moveTo>
                    <a:pt x="0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21"/>
                  </a:lnTo>
                  <a:lnTo>
                    <a:pt x="0" y="27"/>
                  </a:lnTo>
                  <a:lnTo>
                    <a:pt x="0" y="35"/>
                  </a:lnTo>
                  <a:lnTo>
                    <a:pt x="1" y="42"/>
                  </a:lnTo>
                  <a:lnTo>
                    <a:pt x="1" y="49"/>
                  </a:lnTo>
                  <a:lnTo>
                    <a:pt x="1" y="66"/>
                  </a:lnTo>
                  <a:lnTo>
                    <a:pt x="2" y="84"/>
                  </a:lnTo>
                  <a:lnTo>
                    <a:pt x="2" y="102"/>
                  </a:lnTo>
                  <a:lnTo>
                    <a:pt x="4" y="121"/>
                  </a:lnTo>
                  <a:lnTo>
                    <a:pt x="4" y="140"/>
                  </a:lnTo>
                  <a:lnTo>
                    <a:pt x="5" y="161"/>
                  </a:lnTo>
                  <a:lnTo>
                    <a:pt x="5" y="180"/>
                  </a:lnTo>
                  <a:lnTo>
                    <a:pt x="6" y="200"/>
                  </a:lnTo>
                  <a:lnTo>
                    <a:pt x="7" y="218"/>
                  </a:lnTo>
                  <a:lnTo>
                    <a:pt x="7" y="236"/>
                  </a:lnTo>
                  <a:lnTo>
                    <a:pt x="8" y="252"/>
                  </a:lnTo>
                  <a:lnTo>
                    <a:pt x="8" y="259"/>
                  </a:lnTo>
                  <a:lnTo>
                    <a:pt x="8" y="267"/>
                  </a:lnTo>
                  <a:lnTo>
                    <a:pt x="10" y="295"/>
                  </a:lnTo>
                  <a:lnTo>
                    <a:pt x="11" y="323"/>
                  </a:lnTo>
                  <a:lnTo>
                    <a:pt x="12" y="350"/>
                  </a:lnTo>
                  <a:lnTo>
                    <a:pt x="13" y="375"/>
                  </a:lnTo>
                  <a:lnTo>
                    <a:pt x="13" y="387"/>
                  </a:lnTo>
                  <a:lnTo>
                    <a:pt x="15" y="399"/>
                  </a:lnTo>
                  <a:lnTo>
                    <a:pt x="15" y="410"/>
                  </a:lnTo>
                  <a:lnTo>
                    <a:pt x="16" y="422"/>
                  </a:lnTo>
                  <a:lnTo>
                    <a:pt x="16" y="432"/>
                  </a:lnTo>
                  <a:lnTo>
                    <a:pt x="17" y="441"/>
                  </a:lnTo>
                  <a:lnTo>
                    <a:pt x="17" y="450"/>
                  </a:lnTo>
                  <a:lnTo>
                    <a:pt x="18" y="459"/>
                  </a:lnTo>
                  <a:lnTo>
                    <a:pt x="18" y="468"/>
                  </a:lnTo>
                  <a:lnTo>
                    <a:pt x="18" y="475"/>
                  </a:lnTo>
                  <a:lnTo>
                    <a:pt x="19" y="483"/>
                  </a:lnTo>
                  <a:lnTo>
                    <a:pt x="19" y="490"/>
                  </a:lnTo>
                  <a:lnTo>
                    <a:pt x="21" y="498"/>
                  </a:lnTo>
                  <a:lnTo>
                    <a:pt x="21" y="504"/>
                  </a:lnTo>
                  <a:lnTo>
                    <a:pt x="22" y="509"/>
                  </a:lnTo>
                  <a:lnTo>
                    <a:pt x="22" y="514"/>
                  </a:lnTo>
                  <a:lnTo>
                    <a:pt x="23" y="518"/>
                  </a:lnTo>
                  <a:lnTo>
                    <a:pt x="23" y="523"/>
                  </a:lnTo>
                  <a:lnTo>
                    <a:pt x="24" y="527"/>
                  </a:lnTo>
                  <a:lnTo>
                    <a:pt x="24" y="530"/>
                  </a:lnTo>
                  <a:lnTo>
                    <a:pt x="26" y="532"/>
                  </a:lnTo>
                  <a:lnTo>
                    <a:pt x="26" y="535"/>
                  </a:lnTo>
                  <a:lnTo>
                    <a:pt x="27" y="535"/>
                  </a:lnTo>
                  <a:lnTo>
                    <a:pt x="27" y="536"/>
                  </a:lnTo>
                  <a:lnTo>
                    <a:pt x="27" y="535"/>
                  </a:lnTo>
                  <a:lnTo>
                    <a:pt x="28" y="535"/>
                  </a:lnTo>
                  <a:lnTo>
                    <a:pt x="28" y="532"/>
                  </a:lnTo>
                  <a:lnTo>
                    <a:pt x="29" y="530"/>
                  </a:lnTo>
                  <a:lnTo>
                    <a:pt x="29" y="527"/>
                  </a:lnTo>
                  <a:lnTo>
                    <a:pt x="31" y="523"/>
                  </a:lnTo>
                  <a:lnTo>
                    <a:pt x="31" y="518"/>
                  </a:lnTo>
                  <a:lnTo>
                    <a:pt x="32" y="514"/>
                  </a:lnTo>
                  <a:lnTo>
                    <a:pt x="32" y="509"/>
                  </a:lnTo>
                  <a:lnTo>
                    <a:pt x="33" y="504"/>
                  </a:lnTo>
                  <a:lnTo>
                    <a:pt x="33" y="496"/>
                  </a:lnTo>
                  <a:lnTo>
                    <a:pt x="34" y="490"/>
                  </a:lnTo>
                  <a:lnTo>
                    <a:pt x="34" y="483"/>
                  </a:lnTo>
                  <a:lnTo>
                    <a:pt x="35" y="475"/>
                  </a:lnTo>
                  <a:lnTo>
                    <a:pt x="37" y="459"/>
                  </a:lnTo>
                  <a:lnTo>
                    <a:pt x="37" y="450"/>
                  </a:lnTo>
                  <a:lnTo>
                    <a:pt x="38" y="441"/>
                  </a:lnTo>
                  <a:lnTo>
                    <a:pt x="38" y="432"/>
                  </a:lnTo>
                  <a:lnTo>
                    <a:pt x="39" y="422"/>
                  </a:lnTo>
                  <a:lnTo>
                    <a:pt x="39" y="410"/>
                  </a:lnTo>
                  <a:lnTo>
                    <a:pt x="40" y="399"/>
                  </a:lnTo>
                  <a:lnTo>
                    <a:pt x="42" y="387"/>
                  </a:lnTo>
                  <a:lnTo>
                    <a:pt x="42" y="375"/>
                  </a:lnTo>
                  <a:lnTo>
                    <a:pt x="43" y="364"/>
                  </a:lnTo>
                  <a:lnTo>
                    <a:pt x="43" y="350"/>
                  </a:lnTo>
                  <a:lnTo>
                    <a:pt x="45" y="323"/>
                  </a:lnTo>
                  <a:lnTo>
                    <a:pt x="46" y="297"/>
                  </a:lnTo>
                  <a:lnTo>
                    <a:pt x="48" y="268"/>
                  </a:lnTo>
                  <a:lnTo>
                    <a:pt x="48" y="252"/>
                  </a:lnTo>
                  <a:lnTo>
                    <a:pt x="49" y="237"/>
                  </a:lnTo>
                  <a:lnTo>
                    <a:pt x="49" y="219"/>
                  </a:lnTo>
                  <a:lnTo>
                    <a:pt x="50" y="201"/>
                  </a:lnTo>
                  <a:lnTo>
                    <a:pt x="50" y="183"/>
                  </a:lnTo>
                  <a:lnTo>
                    <a:pt x="50" y="164"/>
                  </a:lnTo>
                  <a:lnTo>
                    <a:pt x="51" y="125"/>
                  </a:lnTo>
                  <a:lnTo>
                    <a:pt x="53" y="107"/>
                  </a:lnTo>
                  <a:lnTo>
                    <a:pt x="53" y="88"/>
                  </a:lnTo>
                  <a:lnTo>
                    <a:pt x="53" y="72"/>
                  </a:lnTo>
                  <a:lnTo>
                    <a:pt x="53" y="54"/>
                  </a:lnTo>
                  <a:lnTo>
                    <a:pt x="54" y="39"/>
                  </a:lnTo>
                  <a:lnTo>
                    <a:pt x="54" y="24"/>
                  </a:lnTo>
                  <a:lnTo>
                    <a:pt x="54" y="17"/>
                  </a:lnTo>
                  <a:lnTo>
                    <a:pt x="54" y="11"/>
                  </a:lnTo>
                  <a:lnTo>
                    <a:pt x="54" y="5"/>
                  </a:lnTo>
                  <a:lnTo>
                    <a:pt x="55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44" name="Freeform 112"/>
            <p:cNvSpPr>
              <a:spLocks/>
            </p:cNvSpPr>
            <p:nvPr/>
          </p:nvSpPr>
          <p:spPr bwMode="auto">
            <a:xfrm>
              <a:off x="5026" y="965"/>
              <a:ext cx="55" cy="290"/>
            </a:xfrm>
            <a:custGeom>
              <a:avLst/>
              <a:gdLst>
                <a:gd name="T0" fmla="*/ 0 w 55"/>
                <a:gd name="T1" fmla="*/ 5 h 581"/>
                <a:gd name="T2" fmla="*/ 0 w 55"/>
                <a:gd name="T3" fmla="*/ 15 h 581"/>
                <a:gd name="T4" fmla="*/ 0 w 55"/>
                <a:gd name="T5" fmla="*/ 30 h 581"/>
                <a:gd name="T6" fmla="*/ 1 w 55"/>
                <a:gd name="T7" fmla="*/ 45 h 581"/>
                <a:gd name="T8" fmla="*/ 1 w 55"/>
                <a:gd name="T9" fmla="*/ 63 h 581"/>
                <a:gd name="T10" fmla="*/ 3 w 55"/>
                <a:gd name="T11" fmla="*/ 91 h 581"/>
                <a:gd name="T12" fmla="*/ 4 w 55"/>
                <a:gd name="T13" fmla="*/ 131 h 581"/>
                <a:gd name="T14" fmla="*/ 5 w 55"/>
                <a:gd name="T15" fmla="*/ 174 h 581"/>
                <a:gd name="T16" fmla="*/ 6 w 55"/>
                <a:gd name="T17" fmla="*/ 216 h 581"/>
                <a:gd name="T18" fmla="*/ 8 w 55"/>
                <a:gd name="T19" fmla="*/ 255 h 581"/>
                <a:gd name="T20" fmla="*/ 9 w 55"/>
                <a:gd name="T21" fmla="*/ 273 h 581"/>
                <a:gd name="T22" fmla="*/ 9 w 55"/>
                <a:gd name="T23" fmla="*/ 289 h 581"/>
                <a:gd name="T24" fmla="*/ 11 w 55"/>
                <a:gd name="T25" fmla="*/ 350 h 581"/>
                <a:gd name="T26" fmla="*/ 12 w 55"/>
                <a:gd name="T27" fmla="*/ 393 h 581"/>
                <a:gd name="T28" fmla="*/ 14 w 55"/>
                <a:gd name="T29" fmla="*/ 420 h 581"/>
                <a:gd name="T30" fmla="*/ 15 w 55"/>
                <a:gd name="T31" fmla="*/ 444 h 581"/>
                <a:gd name="T32" fmla="*/ 16 w 55"/>
                <a:gd name="T33" fmla="*/ 468 h 581"/>
                <a:gd name="T34" fmla="*/ 17 w 55"/>
                <a:gd name="T35" fmla="*/ 489 h 581"/>
                <a:gd name="T36" fmla="*/ 19 w 55"/>
                <a:gd name="T37" fmla="*/ 506 h 581"/>
                <a:gd name="T38" fmla="*/ 20 w 55"/>
                <a:gd name="T39" fmla="*/ 523 h 581"/>
                <a:gd name="T40" fmla="*/ 21 w 55"/>
                <a:gd name="T41" fmla="*/ 538 h 581"/>
                <a:gd name="T42" fmla="*/ 22 w 55"/>
                <a:gd name="T43" fmla="*/ 551 h 581"/>
                <a:gd name="T44" fmla="*/ 23 w 55"/>
                <a:gd name="T45" fmla="*/ 563 h 581"/>
                <a:gd name="T46" fmla="*/ 25 w 55"/>
                <a:gd name="T47" fmla="*/ 570 h 581"/>
                <a:gd name="T48" fmla="*/ 26 w 55"/>
                <a:gd name="T49" fmla="*/ 576 h 581"/>
                <a:gd name="T50" fmla="*/ 27 w 55"/>
                <a:gd name="T51" fmla="*/ 579 h 581"/>
                <a:gd name="T52" fmla="*/ 27 w 55"/>
                <a:gd name="T53" fmla="*/ 579 h 581"/>
                <a:gd name="T54" fmla="*/ 28 w 55"/>
                <a:gd name="T55" fmla="*/ 576 h 581"/>
                <a:gd name="T56" fmla="*/ 30 w 55"/>
                <a:gd name="T57" fmla="*/ 570 h 581"/>
                <a:gd name="T58" fmla="*/ 31 w 55"/>
                <a:gd name="T59" fmla="*/ 562 h 581"/>
                <a:gd name="T60" fmla="*/ 32 w 55"/>
                <a:gd name="T61" fmla="*/ 551 h 581"/>
                <a:gd name="T62" fmla="*/ 33 w 55"/>
                <a:gd name="T63" fmla="*/ 538 h 581"/>
                <a:gd name="T64" fmla="*/ 35 w 55"/>
                <a:gd name="T65" fmla="*/ 523 h 581"/>
                <a:gd name="T66" fmla="*/ 36 w 55"/>
                <a:gd name="T67" fmla="*/ 506 h 581"/>
                <a:gd name="T68" fmla="*/ 37 w 55"/>
                <a:gd name="T69" fmla="*/ 489 h 581"/>
                <a:gd name="T70" fmla="*/ 38 w 55"/>
                <a:gd name="T71" fmla="*/ 468 h 581"/>
                <a:gd name="T72" fmla="*/ 39 w 55"/>
                <a:gd name="T73" fmla="*/ 444 h 581"/>
                <a:gd name="T74" fmla="*/ 42 w 55"/>
                <a:gd name="T75" fmla="*/ 420 h 581"/>
                <a:gd name="T76" fmla="*/ 43 w 55"/>
                <a:gd name="T77" fmla="*/ 393 h 581"/>
                <a:gd name="T78" fmla="*/ 46 w 55"/>
                <a:gd name="T79" fmla="*/ 350 h 581"/>
                <a:gd name="T80" fmla="*/ 48 w 55"/>
                <a:gd name="T81" fmla="*/ 291 h 581"/>
                <a:gd name="T82" fmla="*/ 48 w 55"/>
                <a:gd name="T83" fmla="*/ 274 h 581"/>
                <a:gd name="T84" fmla="*/ 49 w 55"/>
                <a:gd name="T85" fmla="*/ 237 h 581"/>
                <a:gd name="T86" fmla="*/ 50 w 55"/>
                <a:gd name="T87" fmla="*/ 198 h 581"/>
                <a:gd name="T88" fmla="*/ 52 w 55"/>
                <a:gd name="T89" fmla="*/ 136 h 581"/>
                <a:gd name="T90" fmla="*/ 53 w 55"/>
                <a:gd name="T91" fmla="*/ 96 h 581"/>
                <a:gd name="T92" fmla="*/ 53 w 55"/>
                <a:gd name="T93" fmla="*/ 58 h 581"/>
                <a:gd name="T94" fmla="*/ 54 w 55"/>
                <a:gd name="T95" fmla="*/ 33 h 581"/>
                <a:gd name="T96" fmla="*/ 54 w 55"/>
                <a:gd name="T97" fmla="*/ 18 h 581"/>
                <a:gd name="T98" fmla="*/ 54 w 55"/>
                <a:gd name="T99" fmla="*/ 5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5" h="581">
                  <a:moveTo>
                    <a:pt x="0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23"/>
                  </a:lnTo>
                  <a:lnTo>
                    <a:pt x="0" y="30"/>
                  </a:lnTo>
                  <a:lnTo>
                    <a:pt x="0" y="38"/>
                  </a:lnTo>
                  <a:lnTo>
                    <a:pt x="1" y="45"/>
                  </a:lnTo>
                  <a:lnTo>
                    <a:pt x="1" y="54"/>
                  </a:lnTo>
                  <a:lnTo>
                    <a:pt x="1" y="63"/>
                  </a:lnTo>
                  <a:lnTo>
                    <a:pt x="1" y="72"/>
                  </a:lnTo>
                  <a:lnTo>
                    <a:pt x="3" y="91"/>
                  </a:lnTo>
                  <a:lnTo>
                    <a:pt x="3" y="110"/>
                  </a:lnTo>
                  <a:lnTo>
                    <a:pt x="4" y="131"/>
                  </a:lnTo>
                  <a:lnTo>
                    <a:pt x="4" y="152"/>
                  </a:lnTo>
                  <a:lnTo>
                    <a:pt x="5" y="174"/>
                  </a:lnTo>
                  <a:lnTo>
                    <a:pt x="5" y="195"/>
                  </a:lnTo>
                  <a:lnTo>
                    <a:pt x="6" y="216"/>
                  </a:lnTo>
                  <a:lnTo>
                    <a:pt x="8" y="236"/>
                  </a:lnTo>
                  <a:lnTo>
                    <a:pt x="8" y="255"/>
                  </a:lnTo>
                  <a:lnTo>
                    <a:pt x="8" y="264"/>
                  </a:lnTo>
                  <a:lnTo>
                    <a:pt x="9" y="273"/>
                  </a:lnTo>
                  <a:lnTo>
                    <a:pt x="9" y="282"/>
                  </a:lnTo>
                  <a:lnTo>
                    <a:pt x="9" y="289"/>
                  </a:lnTo>
                  <a:lnTo>
                    <a:pt x="10" y="320"/>
                  </a:lnTo>
                  <a:lnTo>
                    <a:pt x="11" y="350"/>
                  </a:lnTo>
                  <a:lnTo>
                    <a:pt x="12" y="378"/>
                  </a:lnTo>
                  <a:lnTo>
                    <a:pt x="12" y="393"/>
                  </a:lnTo>
                  <a:lnTo>
                    <a:pt x="14" y="407"/>
                  </a:lnTo>
                  <a:lnTo>
                    <a:pt x="14" y="420"/>
                  </a:lnTo>
                  <a:lnTo>
                    <a:pt x="15" y="432"/>
                  </a:lnTo>
                  <a:lnTo>
                    <a:pt x="15" y="444"/>
                  </a:lnTo>
                  <a:lnTo>
                    <a:pt x="16" y="456"/>
                  </a:lnTo>
                  <a:lnTo>
                    <a:pt x="16" y="468"/>
                  </a:lnTo>
                  <a:lnTo>
                    <a:pt x="17" y="478"/>
                  </a:lnTo>
                  <a:lnTo>
                    <a:pt x="17" y="489"/>
                  </a:lnTo>
                  <a:lnTo>
                    <a:pt x="19" y="498"/>
                  </a:lnTo>
                  <a:lnTo>
                    <a:pt x="19" y="506"/>
                  </a:lnTo>
                  <a:lnTo>
                    <a:pt x="19" y="515"/>
                  </a:lnTo>
                  <a:lnTo>
                    <a:pt x="20" y="523"/>
                  </a:lnTo>
                  <a:lnTo>
                    <a:pt x="20" y="532"/>
                  </a:lnTo>
                  <a:lnTo>
                    <a:pt x="21" y="538"/>
                  </a:lnTo>
                  <a:lnTo>
                    <a:pt x="21" y="545"/>
                  </a:lnTo>
                  <a:lnTo>
                    <a:pt x="22" y="551"/>
                  </a:lnTo>
                  <a:lnTo>
                    <a:pt x="22" y="557"/>
                  </a:lnTo>
                  <a:lnTo>
                    <a:pt x="23" y="563"/>
                  </a:lnTo>
                  <a:lnTo>
                    <a:pt x="23" y="568"/>
                  </a:lnTo>
                  <a:lnTo>
                    <a:pt x="25" y="570"/>
                  </a:lnTo>
                  <a:lnTo>
                    <a:pt x="25" y="573"/>
                  </a:lnTo>
                  <a:lnTo>
                    <a:pt x="26" y="576"/>
                  </a:lnTo>
                  <a:lnTo>
                    <a:pt x="26" y="578"/>
                  </a:lnTo>
                  <a:lnTo>
                    <a:pt x="27" y="579"/>
                  </a:lnTo>
                  <a:lnTo>
                    <a:pt x="27" y="581"/>
                  </a:lnTo>
                  <a:lnTo>
                    <a:pt x="27" y="579"/>
                  </a:lnTo>
                  <a:lnTo>
                    <a:pt x="28" y="578"/>
                  </a:lnTo>
                  <a:lnTo>
                    <a:pt x="28" y="576"/>
                  </a:lnTo>
                  <a:lnTo>
                    <a:pt x="30" y="573"/>
                  </a:lnTo>
                  <a:lnTo>
                    <a:pt x="30" y="570"/>
                  </a:lnTo>
                  <a:lnTo>
                    <a:pt x="31" y="568"/>
                  </a:lnTo>
                  <a:lnTo>
                    <a:pt x="31" y="562"/>
                  </a:lnTo>
                  <a:lnTo>
                    <a:pt x="32" y="557"/>
                  </a:lnTo>
                  <a:lnTo>
                    <a:pt x="32" y="551"/>
                  </a:lnTo>
                  <a:lnTo>
                    <a:pt x="33" y="545"/>
                  </a:lnTo>
                  <a:lnTo>
                    <a:pt x="33" y="538"/>
                  </a:lnTo>
                  <a:lnTo>
                    <a:pt x="35" y="530"/>
                  </a:lnTo>
                  <a:lnTo>
                    <a:pt x="35" y="523"/>
                  </a:lnTo>
                  <a:lnTo>
                    <a:pt x="36" y="515"/>
                  </a:lnTo>
                  <a:lnTo>
                    <a:pt x="36" y="506"/>
                  </a:lnTo>
                  <a:lnTo>
                    <a:pt x="37" y="498"/>
                  </a:lnTo>
                  <a:lnTo>
                    <a:pt x="37" y="489"/>
                  </a:lnTo>
                  <a:lnTo>
                    <a:pt x="38" y="478"/>
                  </a:lnTo>
                  <a:lnTo>
                    <a:pt x="38" y="468"/>
                  </a:lnTo>
                  <a:lnTo>
                    <a:pt x="39" y="456"/>
                  </a:lnTo>
                  <a:lnTo>
                    <a:pt x="39" y="444"/>
                  </a:lnTo>
                  <a:lnTo>
                    <a:pt x="41" y="432"/>
                  </a:lnTo>
                  <a:lnTo>
                    <a:pt x="42" y="420"/>
                  </a:lnTo>
                  <a:lnTo>
                    <a:pt x="42" y="407"/>
                  </a:lnTo>
                  <a:lnTo>
                    <a:pt x="43" y="393"/>
                  </a:lnTo>
                  <a:lnTo>
                    <a:pt x="43" y="380"/>
                  </a:lnTo>
                  <a:lnTo>
                    <a:pt x="46" y="350"/>
                  </a:lnTo>
                  <a:lnTo>
                    <a:pt x="47" y="320"/>
                  </a:lnTo>
                  <a:lnTo>
                    <a:pt x="48" y="291"/>
                  </a:lnTo>
                  <a:lnTo>
                    <a:pt x="48" y="282"/>
                  </a:lnTo>
                  <a:lnTo>
                    <a:pt x="48" y="274"/>
                  </a:lnTo>
                  <a:lnTo>
                    <a:pt x="49" y="256"/>
                  </a:lnTo>
                  <a:lnTo>
                    <a:pt x="49" y="237"/>
                  </a:lnTo>
                  <a:lnTo>
                    <a:pt x="50" y="218"/>
                  </a:lnTo>
                  <a:lnTo>
                    <a:pt x="50" y="198"/>
                  </a:lnTo>
                  <a:lnTo>
                    <a:pt x="50" y="177"/>
                  </a:lnTo>
                  <a:lnTo>
                    <a:pt x="52" y="136"/>
                  </a:lnTo>
                  <a:lnTo>
                    <a:pt x="53" y="116"/>
                  </a:lnTo>
                  <a:lnTo>
                    <a:pt x="53" y="96"/>
                  </a:lnTo>
                  <a:lnTo>
                    <a:pt x="53" y="78"/>
                  </a:lnTo>
                  <a:lnTo>
                    <a:pt x="53" y="58"/>
                  </a:lnTo>
                  <a:lnTo>
                    <a:pt x="54" y="42"/>
                  </a:lnTo>
                  <a:lnTo>
                    <a:pt x="54" y="33"/>
                  </a:lnTo>
                  <a:lnTo>
                    <a:pt x="54" y="26"/>
                  </a:lnTo>
                  <a:lnTo>
                    <a:pt x="54" y="18"/>
                  </a:lnTo>
                  <a:lnTo>
                    <a:pt x="54" y="12"/>
                  </a:lnTo>
                  <a:lnTo>
                    <a:pt x="54" y="5"/>
                  </a:lnTo>
                  <a:lnTo>
                    <a:pt x="55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45" name="Freeform 113"/>
            <p:cNvSpPr>
              <a:spLocks/>
            </p:cNvSpPr>
            <p:nvPr/>
          </p:nvSpPr>
          <p:spPr bwMode="auto">
            <a:xfrm>
              <a:off x="5173" y="719"/>
              <a:ext cx="37" cy="246"/>
            </a:xfrm>
            <a:custGeom>
              <a:avLst/>
              <a:gdLst>
                <a:gd name="T0" fmla="*/ 0 w 37"/>
                <a:gd name="T1" fmla="*/ 487 h 491"/>
                <a:gd name="T2" fmla="*/ 0 w 37"/>
                <a:gd name="T3" fmla="*/ 476 h 491"/>
                <a:gd name="T4" fmla="*/ 0 w 37"/>
                <a:gd name="T5" fmla="*/ 466 h 491"/>
                <a:gd name="T6" fmla="*/ 0 w 37"/>
                <a:gd name="T7" fmla="*/ 453 h 491"/>
                <a:gd name="T8" fmla="*/ 2 w 37"/>
                <a:gd name="T9" fmla="*/ 430 h 491"/>
                <a:gd name="T10" fmla="*/ 2 w 37"/>
                <a:gd name="T11" fmla="*/ 396 h 491"/>
                <a:gd name="T12" fmla="*/ 3 w 37"/>
                <a:gd name="T13" fmla="*/ 342 h 491"/>
                <a:gd name="T14" fmla="*/ 4 w 37"/>
                <a:gd name="T15" fmla="*/ 308 h 491"/>
                <a:gd name="T16" fmla="*/ 5 w 37"/>
                <a:gd name="T17" fmla="*/ 274 h 491"/>
                <a:gd name="T18" fmla="*/ 5 w 37"/>
                <a:gd name="T19" fmla="*/ 252 h 491"/>
                <a:gd name="T20" fmla="*/ 6 w 37"/>
                <a:gd name="T21" fmla="*/ 219 h 491"/>
                <a:gd name="T22" fmla="*/ 8 w 37"/>
                <a:gd name="T23" fmla="*/ 170 h 491"/>
                <a:gd name="T24" fmla="*/ 9 w 37"/>
                <a:gd name="T25" fmla="*/ 135 h 491"/>
                <a:gd name="T26" fmla="*/ 10 w 37"/>
                <a:gd name="T27" fmla="*/ 115 h 491"/>
                <a:gd name="T28" fmla="*/ 11 w 37"/>
                <a:gd name="T29" fmla="*/ 95 h 491"/>
                <a:gd name="T30" fmla="*/ 11 w 37"/>
                <a:gd name="T31" fmla="*/ 77 h 491"/>
                <a:gd name="T32" fmla="*/ 13 w 37"/>
                <a:gd name="T33" fmla="*/ 55 h 491"/>
                <a:gd name="T34" fmla="*/ 14 w 37"/>
                <a:gd name="T35" fmla="*/ 42 h 491"/>
                <a:gd name="T36" fmla="*/ 14 w 37"/>
                <a:gd name="T37" fmla="*/ 28 h 491"/>
                <a:gd name="T38" fmla="*/ 15 w 37"/>
                <a:gd name="T39" fmla="*/ 19 h 491"/>
                <a:gd name="T40" fmla="*/ 16 w 37"/>
                <a:gd name="T41" fmla="*/ 10 h 491"/>
                <a:gd name="T42" fmla="*/ 16 w 37"/>
                <a:gd name="T43" fmla="*/ 4 h 491"/>
                <a:gd name="T44" fmla="*/ 17 w 37"/>
                <a:gd name="T45" fmla="*/ 0 h 491"/>
                <a:gd name="T46" fmla="*/ 19 w 37"/>
                <a:gd name="T47" fmla="*/ 0 h 491"/>
                <a:gd name="T48" fmla="*/ 19 w 37"/>
                <a:gd name="T49" fmla="*/ 0 h 491"/>
                <a:gd name="T50" fmla="*/ 20 w 37"/>
                <a:gd name="T51" fmla="*/ 4 h 491"/>
                <a:gd name="T52" fmla="*/ 20 w 37"/>
                <a:gd name="T53" fmla="*/ 10 h 491"/>
                <a:gd name="T54" fmla="*/ 21 w 37"/>
                <a:gd name="T55" fmla="*/ 19 h 491"/>
                <a:gd name="T56" fmla="*/ 22 w 37"/>
                <a:gd name="T57" fmla="*/ 30 h 491"/>
                <a:gd name="T58" fmla="*/ 22 w 37"/>
                <a:gd name="T59" fmla="*/ 42 h 491"/>
                <a:gd name="T60" fmla="*/ 24 w 37"/>
                <a:gd name="T61" fmla="*/ 55 h 491"/>
                <a:gd name="T62" fmla="*/ 25 w 37"/>
                <a:gd name="T63" fmla="*/ 77 h 491"/>
                <a:gd name="T64" fmla="*/ 26 w 37"/>
                <a:gd name="T65" fmla="*/ 95 h 491"/>
                <a:gd name="T66" fmla="*/ 26 w 37"/>
                <a:gd name="T67" fmla="*/ 115 h 491"/>
                <a:gd name="T68" fmla="*/ 27 w 37"/>
                <a:gd name="T69" fmla="*/ 135 h 491"/>
                <a:gd name="T70" fmla="*/ 30 w 37"/>
                <a:gd name="T71" fmla="*/ 170 h 491"/>
                <a:gd name="T72" fmla="*/ 31 w 37"/>
                <a:gd name="T73" fmla="*/ 219 h 491"/>
                <a:gd name="T74" fmla="*/ 32 w 37"/>
                <a:gd name="T75" fmla="*/ 259 h 491"/>
                <a:gd name="T76" fmla="*/ 33 w 37"/>
                <a:gd name="T77" fmla="*/ 289 h 491"/>
                <a:gd name="T78" fmla="*/ 33 w 37"/>
                <a:gd name="T79" fmla="*/ 323 h 491"/>
                <a:gd name="T80" fmla="*/ 35 w 37"/>
                <a:gd name="T81" fmla="*/ 375 h 491"/>
                <a:gd name="T82" fmla="*/ 35 w 37"/>
                <a:gd name="T83" fmla="*/ 409 h 491"/>
                <a:gd name="T84" fmla="*/ 36 w 37"/>
                <a:gd name="T85" fmla="*/ 441 h 491"/>
                <a:gd name="T86" fmla="*/ 36 w 37"/>
                <a:gd name="T87" fmla="*/ 469 h 491"/>
                <a:gd name="T88" fmla="*/ 36 w 37"/>
                <a:gd name="T89" fmla="*/ 481 h 491"/>
                <a:gd name="T90" fmla="*/ 37 w 37"/>
                <a:gd name="T91" fmla="*/ 491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7" h="491">
                  <a:moveTo>
                    <a:pt x="0" y="491"/>
                  </a:moveTo>
                  <a:lnTo>
                    <a:pt x="0" y="487"/>
                  </a:lnTo>
                  <a:lnTo>
                    <a:pt x="0" y="482"/>
                  </a:lnTo>
                  <a:lnTo>
                    <a:pt x="0" y="476"/>
                  </a:lnTo>
                  <a:lnTo>
                    <a:pt x="0" y="472"/>
                  </a:lnTo>
                  <a:lnTo>
                    <a:pt x="0" y="466"/>
                  </a:lnTo>
                  <a:lnTo>
                    <a:pt x="0" y="459"/>
                  </a:lnTo>
                  <a:lnTo>
                    <a:pt x="0" y="453"/>
                  </a:lnTo>
                  <a:lnTo>
                    <a:pt x="0" y="445"/>
                  </a:lnTo>
                  <a:lnTo>
                    <a:pt x="2" y="430"/>
                  </a:lnTo>
                  <a:lnTo>
                    <a:pt x="2" y="414"/>
                  </a:lnTo>
                  <a:lnTo>
                    <a:pt x="2" y="396"/>
                  </a:lnTo>
                  <a:lnTo>
                    <a:pt x="3" y="380"/>
                  </a:lnTo>
                  <a:lnTo>
                    <a:pt x="3" y="342"/>
                  </a:lnTo>
                  <a:lnTo>
                    <a:pt x="4" y="325"/>
                  </a:lnTo>
                  <a:lnTo>
                    <a:pt x="4" y="308"/>
                  </a:lnTo>
                  <a:lnTo>
                    <a:pt x="5" y="290"/>
                  </a:lnTo>
                  <a:lnTo>
                    <a:pt x="5" y="274"/>
                  </a:lnTo>
                  <a:lnTo>
                    <a:pt x="5" y="259"/>
                  </a:lnTo>
                  <a:lnTo>
                    <a:pt x="5" y="252"/>
                  </a:lnTo>
                  <a:lnTo>
                    <a:pt x="6" y="246"/>
                  </a:lnTo>
                  <a:lnTo>
                    <a:pt x="6" y="219"/>
                  </a:lnTo>
                  <a:lnTo>
                    <a:pt x="8" y="194"/>
                  </a:lnTo>
                  <a:lnTo>
                    <a:pt x="8" y="170"/>
                  </a:lnTo>
                  <a:lnTo>
                    <a:pt x="9" y="146"/>
                  </a:lnTo>
                  <a:lnTo>
                    <a:pt x="9" y="135"/>
                  </a:lnTo>
                  <a:lnTo>
                    <a:pt x="10" y="125"/>
                  </a:lnTo>
                  <a:lnTo>
                    <a:pt x="10" y="115"/>
                  </a:lnTo>
                  <a:lnTo>
                    <a:pt x="10" y="104"/>
                  </a:lnTo>
                  <a:lnTo>
                    <a:pt x="11" y="95"/>
                  </a:lnTo>
                  <a:lnTo>
                    <a:pt x="11" y="86"/>
                  </a:lnTo>
                  <a:lnTo>
                    <a:pt x="11" y="77"/>
                  </a:lnTo>
                  <a:lnTo>
                    <a:pt x="13" y="70"/>
                  </a:lnTo>
                  <a:lnTo>
                    <a:pt x="13" y="55"/>
                  </a:lnTo>
                  <a:lnTo>
                    <a:pt x="13" y="48"/>
                  </a:lnTo>
                  <a:lnTo>
                    <a:pt x="14" y="42"/>
                  </a:lnTo>
                  <a:lnTo>
                    <a:pt x="14" y="34"/>
                  </a:lnTo>
                  <a:lnTo>
                    <a:pt x="14" y="28"/>
                  </a:lnTo>
                  <a:lnTo>
                    <a:pt x="15" y="24"/>
                  </a:lnTo>
                  <a:lnTo>
                    <a:pt x="15" y="19"/>
                  </a:lnTo>
                  <a:lnTo>
                    <a:pt x="15" y="15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6" y="4"/>
                  </a:lnTo>
                  <a:lnTo>
                    <a:pt x="17" y="1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3"/>
                  </a:lnTo>
                  <a:lnTo>
                    <a:pt x="20" y="4"/>
                  </a:lnTo>
                  <a:lnTo>
                    <a:pt x="20" y="7"/>
                  </a:lnTo>
                  <a:lnTo>
                    <a:pt x="20" y="10"/>
                  </a:lnTo>
                  <a:lnTo>
                    <a:pt x="21" y="15"/>
                  </a:lnTo>
                  <a:lnTo>
                    <a:pt x="21" y="19"/>
                  </a:lnTo>
                  <a:lnTo>
                    <a:pt x="21" y="24"/>
                  </a:lnTo>
                  <a:lnTo>
                    <a:pt x="22" y="30"/>
                  </a:lnTo>
                  <a:lnTo>
                    <a:pt x="22" y="36"/>
                  </a:lnTo>
                  <a:lnTo>
                    <a:pt x="22" y="42"/>
                  </a:lnTo>
                  <a:lnTo>
                    <a:pt x="24" y="48"/>
                  </a:lnTo>
                  <a:lnTo>
                    <a:pt x="24" y="55"/>
                  </a:lnTo>
                  <a:lnTo>
                    <a:pt x="25" y="70"/>
                  </a:lnTo>
                  <a:lnTo>
                    <a:pt x="25" y="77"/>
                  </a:lnTo>
                  <a:lnTo>
                    <a:pt x="25" y="86"/>
                  </a:lnTo>
                  <a:lnTo>
                    <a:pt x="26" y="95"/>
                  </a:lnTo>
                  <a:lnTo>
                    <a:pt x="26" y="104"/>
                  </a:lnTo>
                  <a:lnTo>
                    <a:pt x="26" y="115"/>
                  </a:lnTo>
                  <a:lnTo>
                    <a:pt x="27" y="125"/>
                  </a:lnTo>
                  <a:lnTo>
                    <a:pt x="27" y="135"/>
                  </a:lnTo>
                  <a:lnTo>
                    <a:pt x="29" y="146"/>
                  </a:lnTo>
                  <a:lnTo>
                    <a:pt x="30" y="170"/>
                  </a:lnTo>
                  <a:lnTo>
                    <a:pt x="30" y="194"/>
                  </a:lnTo>
                  <a:lnTo>
                    <a:pt x="31" y="219"/>
                  </a:lnTo>
                  <a:lnTo>
                    <a:pt x="32" y="246"/>
                  </a:lnTo>
                  <a:lnTo>
                    <a:pt x="32" y="259"/>
                  </a:lnTo>
                  <a:lnTo>
                    <a:pt x="32" y="274"/>
                  </a:lnTo>
                  <a:lnTo>
                    <a:pt x="33" y="289"/>
                  </a:lnTo>
                  <a:lnTo>
                    <a:pt x="33" y="305"/>
                  </a:lnTo>
                  <a:lnTo>
                    <a:pt x="33" y="323"/>
                  </a:lnTo>
                  <a:lnTo>
                    <a:pt x="35" y="339"/>
                  </a:lnTo>
                  <a:lnTo>
                    <a:pt x="35" y="375"/>
                  </a:lnTo>
                  <a:lnTo>
                    <a:pt x="35" y="392"/>
                  </a:lnTo>
                  <a:lnTo>
                    <a:pt x="35" y="409"/>
                  </a:lnTo>
                  <a:lnTo>
                    <a:pt x="36" y="426"/>
                  </a:lnTo>
                  <a:lnTo>
                    <a:pt x="36" y="441"/>
                  </a:lnTo>
                  <a:lnTo>
                    <a:pt x="36" y="456"/>
                  </a:lnTo>
                  <a:lnTo>
                    <a:pt x="36" y="469"/>
                  </a:lnTo>
                  <a:lnTo>
                    <a:pt x="36" y="475"/>
                  </a:lnTo>
                  <a:lnTo>
                    <a:pt x="36" y="481"/>
                  </a:lnTo>
                  <a:lnTo>
                    <a:pt x="36" y="485"/>
                  </a:lnTo>
                  <a:lnTo>
                    <a:pt x="37" y="491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46" name="Freeform 114"/>
            <p:cNvSpPr>
              <a:spLocks/>
            </p:cNvSpPr>
            <p:nvPr/>
          </p:nvSpPr>
          <p:spPr bwMode="auto">
            <a:xfrm>
              <a:off x="5247" y="697"/>
              <a:ext cx="37" cy="268"/>
            </a:xfrm>
            <a:custGeom>
              <a:avLst/>
              <a:gdLst>
                <a:gd name="T0" fmla="*/ 0 w 37"/>
                <a:gd name="T1" fmla="*/ 532 h 536"/>
                <a:gd name="T2" fmla="*/ 0 w 37"/>
                <a:gd name="T3" fmla="*/ 520 h 536"/>
                <a:gd name="T4" fmla="*/ 0 w 37"/>
                <a:gd name="T5" fmla="*/ 508 h 536"/>
                <a:gd name="T6" fmla="*/ 0 w 37"/>
                <a:gd name="T7" fmla="*/ 493 h 536"/>
                <a:gd name="T8" fmla="*/ 1 w 37"/>
                <a:gd name="T9" fmla="*/ 469 h 536"/>
                <a:gd name="T10" fmla="*/ 1 w 37"/>
                <a:gd name="T11" fmla="*/ 434 h 536"/>
                <a:gd name="T12" fmla="*/ 2 w 37"/>
                <a:gd name="T13" fmla="*/ 395 h 536"/>
                <a:gd name="T14" fmla="*/ 4 w 37"/>
                <a:gd name="T15" fmla="*/ 355 h 536"/>
                <a:gd name="T16" fmla="*/ 5 w 37"/>
                <a:gd name="T17" fmla="*/ 317 h 536"/>
                <a:gd name="T18" fmla="*/ 5 w 37"/>
                <a:gd name="T19" fmla="*/ 283 h 536"/>
                <a:gd name="T20" fmla="*/ 6 w 37"/>
                <a:gd name="T21" fmla="*/ 268 h 536"/>
                <a:gd name="T22" fmla="*/ 7 w 37"/>
                <a:gd name="T23" fmla="*/ 212 h 536"/>
                <a:gd name="T24" fmla="*/ 8 w 37"/>
                <a:gd name="T25" fmla="*/ 173 h 536"/>
                <a:gd name="T26" fmla="*/ 8 w 37"/>
                <a:gd name="T27" fmla="*/ 148 h 536"/>
                <a:gd name="T28" fmla="*/ 10 w 37"/>
                <a:gd name="T29" fmla="*/ 125 h 536"/>
                <a:gd name="T30" fmla="*/ 11 w 37"/>
                <a:gd name="T31" fmla="*/ 105 h 536"/>
                <a:gd name="T32" fmla="*/ 11 w 37"/>
                <a:gd name="T33" fmla="*/ 85 h 536"/>
                <a:gd name="T34" fmla="*/ 12 w 37"/>
                <a:gd name="T35" fmla="*/ 67 h 536"/>
                <a:gd name="T36" fmla="*/ 12 w 37"/>
                <a:gd name="T37" fmla="*/ 52 h 536"/>
                <a:gd name="T38" fmla="*/ 13 w 37"/>
                <a:gd name="T39" fmla="*/ 39 h 536"/>
                <a:gd name="T40" fmla="*/ 15 w 37"/>
                <a:gd name="T41" fmla="*/ 26 h 536"/>
                <a:gd name="T42" fmla="*/ 15 w 37"/>
                <a:gd name="T43" fmla="*/ 17 h 536"/>
                <a:gd name="T44" fmla="*/ 16 w 37"/>
                <a:gd name="T45" fmla="*/ 8 h 536"/>
                <a:gd name="T46" fmla="*/ 17 w 37"/>
                <a:gd name="T47" fmla="*/ 3 h 536"/>
                <a:gd name="T48" fmla="*/ 17 w 37"/>
                <a:gd name="T49" fmla="*/ 0 h 536"/>
                <a:gd name="T50" fmla="*/ 18 w 37"/>
                <a:gd name="T51" fmla="*/ 0 h 536"/>
                <a:gd name="T52" fmla="*/ 18 w 37"/>
                <a:gd name="T53" fmla="*/ 3 h 536"/>
                <a:gd name="T54" fmla="*/ 19 w 37"/>
                <a:gd name="T55" fmla="*/ 8 h 536"/>
                <a:gd name="T56" fmla="*/ 21 w 37"/>
                <a:gd name="T57" fmla="*/ 17 h 536"/>
                <a:gd name="T58" fmla="*/ 21 w 37"/>
                <a:gd name="T59" fmla="*/ 27 h 536"/>
                <a:gd name="T60" fmla="*/ 22 w 37"/>
                <a:gd name="T61" fmla="*/ 39 h 536"/>
                <a:gd name="T62" fmla="*/ 23 w 37"/>
                <a:gd name="T63" fmla="*/ 52 h 536"/>
                <a:gd name="T64" fmla="*/ 24 w 37"/>
                <a:gd name="T65" fmla="*/ 76 h 536"/>
                <a:gd name="T66" fmla="*/ 24 w 37"/>
                <a:gd name="T67" fmla="*/ 94 h 536"/>
                <a:gd name="T68" fmla="*/ 26 w 37"/>
                <a:gd name="T69" fmla="*/ 113 h 536"/>
                <a:gd name="T70" fmla="*/ 27 w 37"/>
                <a:gd name="T71" fmla="*/ 136 h 536"/>
                <a:gd name="T72" fmla="*/ 28 w 37"/>
                <a:gd name="T73" fmla="*/ 160 h 536"/>
                <a:gd name="T74" fmla="*/ 29 w 37"/>
                <a:gd name="T75" fmla="*/ 212 h 536"/>
                <a:gd name="T76" fmla="*/ 32 w 37"/>
                <a:gd name="T77" fmla="*/ 268 h 536"/>
                <a:gd name="T78" fmla="*/ 32 w 37"/>
                <a:gd name="T79" fmla="*/ 298 h 536"/>
                <a:gd name="T80" fmla="*/ 33 w 37"/>
                <a:gd name="T81" fmla="*/ 334 h 536"/>
                <a:gd name="T82" fmla="*/ 34 w 37"/>
                <a:gd name="T83" fmla="*/ 371 h 536"/>
                <a:gd name="T84" fmla="*/ 34 w 37"/>
                <a:gd name="T85" fmla="*/ 428 h 536"/>
                <a:gd name="T86" fmla="*/ 35 w 37"/>
                <a:gd name="T87" fmla="*/ 465 h 536"/>
                <a:gd name="T88" fmla="*/ 35 w 37"/>
                <a:gd name="T89" fmla="*/ 496 h 536"/>
                <a:gd name="T90" fmla="*/ 35 w 37"/>
                <a:gd name="T91" fmla="*/ 518 h 536"/>
                <a:gd name="T92" fmla="*/ 35 w 37"/>
                <a:gd name="T93" fmla="*/ 53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7" h="536">
                  <a:moveTo>
                    <a:pt x="0" y="536"/>
                  </a:moveTo>
                  <a:lnTo>
                    <a:pt x="0" y="532"/>
                  </a:lnTo>
                  <a:lnTo>
                    <a:pt x="0" y="526"/>
                  </a:lnTo>
                  <a:lnTo>
                    <a:pt x="0" y="520"/>
                  </a:lnTo>
                  <a:lnTo>
                    <a:pt x="0" y="514"/>
                  </a:lnTo>
                  <a:lnTo>
                    <a:pt x="0" y="508"/>
                  </a:lnTo>
                  <a:lnTo>
                    <a:pt x="0" y="501"/>
                  </a:lnTo>
                  <a:lnTo>
                    <a:pt x="0" y="493"/>
                  </a:lnTo>
                  <a:lnTo>
                    <a:pt x="0" y="486"/>
                  </a:lnTo>
                  <a:lnTo>
                    <a:pt x="1" y="469"/>
                  </a:lnTo>
                  <a:lnTo>
                    <a:pt x="1" y="451"/>
                  </a:lnTo>
                  <a:lnTo>
                    <a:pt x="1" y="434"/>
                  </a:lnTo>
                  <a:lnTo>
                    <a:pt x="2" y="414"/>
                  </a:lnTo>
                  <a:lnTo>
                    <a:pt x="2" y="395"/>
                  </a:lnTo>
                  <a:lnTo>
                    <a:pt x="2" y="374"/>
                  </a:lnTo>
                  <a:lnTo>
                    <a:pt x="4" y="355"/>
                  </a:lnTo>
                  <a:lnTo>
                    <a:pt x="4" y="335"/>
                  </a:lnTo>
                  <a:lnTo>
                    <a:pt x="5" y="317"/>
                  </a:lnTo>
                  <a:lnTo>
                    <a:pt x="5" y="300"/>
                  </a:lnTo>
                  <a:lnTo>
                    <a:pt x="5" y="283"/>
                  </a:lnTo>
                  <a:lnTo>
                    <a:pt x="5" y="276"/>
                  </a:lnTo>
                  <a:lnTo>
                    <a:pt x="6" y="268"/>
                  </a:lnTo>
                  <a:lnTo>
                    <a:pt x="6" y="240"/>
                  </a:lnTo>
                  <a:lnTo>
                    <a:pt x="7" y="212"/>
                  </a:lnTo>
                  <a:lnTo>
                    <a:pt x="7" y="185"/>
                  </a:lnTo>
                  <a:lnTo>
                    <a:pt x="8" y="173"/>
                  </a:lnTo>
                  <a:lnTo>
                    <a:pt x="8" y="160"/>
                  </a:lnTo>
                  <a:lnTo>
                    <a:pt x="8" y="148"/>
                  </a:lnTo>
                  <a:lnTo>
                    <a:pt x="10" y="136"/>
                  </a:lnTo>
                  <a:lnTo>
                    <a:pt x="10" y="125"/>
                  </a:lnTo>
                  <a:lnTo>
                    <a:pt x="10" y="113"/>
                  </a:lnTo>
                  <a:lnTo>
                    <a:pt x="11" y="105"/>
                  </a:lnTo>
                  <a:lnTo>
                    <a:pt x="11" y="94"/>
                  </a:lnTo>
                  <a:lnTo>
                    <a:pt x="11" y="85"/>
                  </a:lnTo>
                  <a:lnTo>
                    <a:pt x="12" y="76"/>
                  </a:lnTo>
                  <a:lnTo>
                    <a:pt x="12" y="67"/>
                  </a:lnTo>
                  <a:lnTo>
                    <a:pt x="12" y="60"/>
                  </a:lnTo>
                  <a:lnTo>
                    <a:pt x="12" y="52"/>
                  </a:lnTo>
                  <a:lnTo>
                    <a:pt x="13" y="45"/>
                  </a:lnTo>
                  <a:lnTo>
                    <a:pt x="13" y="39"/>
                  </a:lnTo>
                  <a:lnTo>
                    <a:pt x="13" y="32"/>
                  </a:lnTo>
                  <a:lnTo>
                    <a:pt x="15" y="26"/>
                  </a:lnTo>
                  <a:lnTo>
                    <a:pt x="15" y="21"/>
                  </a:lnTo>
                  <a:lnTo>
                    <a:pt x="15" y="17"/>
                  </a:lnTo>
                  <a:lnTo>
                    <a:pt x="16" y="12"/>
                  </a:lnTo>
                  <a:lnTo>
                    <a:pt x="16" y="8"/>
                  </a:lnTo>
                  <a:lnTo>
                    <a:pt x="16" y="5"/>
                  </a:lnTo>
                  <a:lnTo>
                    <a:pt x="17" y="3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3"/>
                  </a:lnTo>
                  <a:lnTo>
                    <a:pt x="19" y="5"/>
                  </a:lnTo>
                  <a:lnTo>
                    <a:pt x="19" y="8"/>
                  </a:lnTo>
                  <a:lnTo>
                    <a:pt x="19" y="12"/>
                  </a:lnTo>
                  <a:lnTo>
                    <a:pt x="21" y="17"/>
                  </a:lnTo>
                  <a:lnTo>
                    <a:pt x="21" y="21"/>
                  </a:lnTo>
                  <a:lnTo>
                    <a:pt x="21" y="27"/>
                  </a:lnTo>
                  <a:lnTo>
                    <a:pt x="22" y="32"/>
                  </a:lnTo>
                  <a:lnTo>
                    <a:pt x="22" y="39"/>
                  </a:lnTo>
                  <a:lnTo>
                    <a:pt x="22" y="45"/>
                  </a:lnTo>
                  <a:lnTo>
                    <a:pt x="23" y="52"/>
                  </a:lnTo>
                  <a:lnTo>
                    <a:pt x="23" y="60"/>
                  </a:lnTo>
                  <a:lnTo>
                    <a:pt x="24" y="76"/>
                  </a:lnTo>
                  <a:lnTo>
                    <a:pt x="24" y="85"/>
                  </a:lnTo>
                  <a:lnTo>
                    <a:pt x="24" y="94"/>
                  </a:lnTo>
                  <a:lnTo>
                    <a:pt x="26" y="105"/>
                  </a:lnTo>
                  <a:lnTo>
                    <a:pt x="26" y="113"/>
                  </a:lnTo>
                  <a:lnTo>
                    <a:pt x="26" y="125"/>
                  </a:lnTo>
                  <a:lnTo>
                    <a:pt x="27" y="136"/>
                  </a:lnTo>
                  <a:lnTo>
                    <a:pt x="27" y="148"/>
                  </a:lnTo>
                  <a:lnTo>
                    <a:pt x="28" y="160"/>
                  </a:lnTo>
                  <a:lnTo>
                    <a:pt x="29" y="185"/>
                  </a:lnTo>
                  <a:lnTo>
                    <a:pt x="29" y="212"/>
                  </a:lnTo>
                  <a:lnTo>
                    <a:pt x="31" y="240"/>
                  </a:lnTo>
                  <a:lnTo>
                    <a:pt x="32" y="268"/>
                  </a:lnTo>
                  <a:lnTo>
                    <a:pt x="32" y="283"/>
                  </a:lnTo>
                  <a:lnTo>
                    <a:pt x="32" y="298"/>
                  </a:lnTo>
                  <a:lnTo>
                    <a:pt x="33" y="316"/>
                  </a:lnTo>
                  <a:lnTo>
                    <a:pt x="33" y="334"/>
                  </a:lnTo>
                  <a:lnTo>
                    <a:pt x="33" y="353"/>
                  </a:lnTo>
                  <a:lnTo>
                    <a:pt x="34" y="371"/>
                  </a:lnTo>
                  <a:lnTo>
                    <a:pt x="34" y="410"/>
                  </a:lnTo>
                  <a:lnTo>
                    <a:pt x="34" y="428"/>
                  </a:lnTo>
                  <a:lnTo>
                    <a:pt x="34" y="447"/>
                  </a:lnTo>
                  <a:lnTo>
                    <a:pt x="35" y="465"/>
                  </a:lnTo>
                  <a:lnTo>
                    <a:pt x="35" y="481"/>
                  </a:lnTo>
                  <a:lnTo>
                    <a:pt x="35" y="496"/>
                  </a:lnTo>
                  <a:lnTo>
                    <a:pt x="35" y="511"/>
                  </a:lnTo>
                  <a:lnTo>
                    <a:pt x="35" y="518"/>
                  </a:lnTo>
                  <a:lnTo>
                    <a:pt x="35" y="524"/>
                  </a:lnTo>
                  <a:lnTo>
                    <a:pt x="35" y="530"/>
                  </a:lnTo>
                  <a:lnTo>
                    <a:pt x="37" y="536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47" name="Freeform 115"/>
            <p:cNvSpPr>
              <a:spLocks/>
            </p:cNvSpPr>
            <p:nvPr/>
          </p:nvSpPr>
          <p:spPr bwMode="auto">
            <a:xfrm>
              <a:off x="5137" y="965"/>
              <a:ext cx="36" cy="290"/>
            </a:xfrm>
            <a:custGeom>
              <a:avLst/>
              <a:gdLst>
                <a:gd name="T0" fmla="*/ 0 w 36"/>
                <a:gd name="T1" fmla="*/ 5 h 581"/>
                <a:gd name="T2" fmla="*/ 0 w 36"/>
                <a:gd name="T3" fmla="*/ 15 h 581"/>
                <a:gd name="T4" fmla="*/ 0 w 36"/>
                <a:gd name="T5" fmla="*/ 30 h 581"/>
                <a:gd name="T6" fmla="*/ 0 w 36"/>
                <a:gd name="T7" fmla="*/ 45 h 581"/>
                <a:gd name="T8" fmla="*/ 1 w 36"/>
                <a:gd name="T9" fmla="*/ 63 h 581"/>
                <a:gd name="T10" fmla="*/ 1 w 36"/>
                <a:gd name="T11" fmla="*/ 91 h 581"/>
                <a:gd name="T12" fmla="*/ 2 w 36"/>
                <a:gd name="T13" fmla="*/ 131 h 581"/>
                <a:gd name="T14" fmla="*/ 2 w 36"/>
                <a:gd name="T15" fmla="*/ 174 h 581"/>
                <a:gd name="T16" fmla="*/ 3 w 36"/>
                <a:gd name="T17" fmla="*/ 216 h 581"/>
                <a:gd name="T18" fmla="*/ 4 w 36"/>
                <a:gd name="T19" fmla="*/ 255 h 581"/>
                <a:gd name="T20" fmla="*/ 4 w 36"/>
                <a:gd name="T21" fmla="*/ 273 h 581"/>
                <a:gd name="T22" fmla="*/ 6 w 36"/>
                <a:gd name="T23" fmla="*/ 289 h 581"/>
                <a:gd name="T24" fmla="*/ 7 w 36"/>
                <a:gd name="T25" fmla="*/ 350 h 581"/>
                <a:gd name="T26" fmla="*/ 8 w 36"/>
                <a:gd name="T27" fmla="*/ 393 h 581"/>
                <a:gd name="T28" fmla="*/ 8 w 36"/>
                <a:gd name="T29" fmla="*/ 420 h 581"/>
                <a:gd name="T30" fmla="*/ 9 w 36"/>
                <a:gd name="T31" fmla="*/ 444 h 581"/>
                <a:gd name="T32" fmla="*/ 11 w 36"/>
                <a:gd name="T33" fmla="*/ 468 h 581"/>
                <a:gd name="T34" fmla="*/ 11 w 36"/>
                <a:gd name="T35" fmla="*/ 489 h 581"/>
                <a:gd name="T36" fmla="*/ 12 w 36"/>
                <a:gd name="T37" fmla="*/ 506 h 581"/>
                <a:gd name="T38" fmla="*/ 12 w 36"/>
                <a:gd name="T39" fmla="*/ 523 h 581"/>
                <a:gd name="T40" fmla="*/ 13 w 36"/>
                <a:gd name="T41" fmla="*/ 538 h 581"/>
                <a:gd name="T42" fmla="*/ 14 w 36"/>
                <a:gd name="T43" fmla="*/ 551 h 581"/>
                <a:gd name="T44" fmla="*/ 14 w 36"/>
                <a:gd name="T45" fmla="*/ 563 h 581"/>
                <a:gd name="T46" fmla="*/ 15 w 36"/>
                <a:gd name="T47" fmla="*/ 570 h 581"/>
                <a:gd name="T48" fmla="*/ 17 w 36"/>
                <a:gd name="T49" fmla="*/ 576 h 581"/>
                <a:gd name="T50" fmla="*/ 17 w 36"/>
                <a:gd name="T51" fmla="*/ 579 h 581"/>
                <a:gd name="T52" fmla="*/ 18 w 36"/>
                <a:gd name="T53" fmla="*/ 579 h 581"/>
                <a:gd name="T54" fmla="*/ 18 w 36"/>
                <a:gd name="T55" fmla="*/ 576 h 581"/>
                <a:gd name="T56" fmla="*/ 19 w 36"/>
                <a:gd name="T57" fmla="*/ 570 h 581"/>
                <a:gd name="T58" fmla="*/ 20 w 36"/>
                <a:gd name="T59" fmla="*/ 562 h 581"/>
                <a:gd name="T60" fmla="*/ 20 w 36"/>
                <a:gd name="T61" fmla="*/ 551 h 581"/>
                <a:gd name="T62" fmla="*/ 22 w 36"/>
                <a:gd name="T63" fmla="*/ 538 h 581"/>
                <a:gd name="T64" fmla="*/ 23 w 36"/>
                <a:gd name="T65" fmla="*/ 523 h 581"/>
                <a:gd name="T66" fmla="*/ 23 w 36"/>
                <a:gd name="T67" fmla="*/ 506 h 581"/>
                <a:gd name="T68" fmla="*/ 24 w 36"/>
                <a:gd name="T69" fmla="*/ 489 h 581"/>
                <a:gd name="T70" fmla="*/ 25 w 36"/>
                <a:gd name="T71" fmla="*/ 468 h 581"/>
                <a:gd name="T72" fmla="*/ 25 w 36"/>
                <a:gd name="T73" fmla="*/ 444 h 581"/>
                <a:gd name="T74" fmla="*/ 27 w 36"/>
                <a:gd name="T75" fmla="*/ 420 h 581"/>
                <a:gd name="T76" fmla="*/ 28 w 36"/>
                <a:gd name="T77" fmla="*/ 393 h 581"/>
                <a:gd name="T78" fmla="*/ 29 w 36"/>
                <a:gd name="T79" fmla="*/ 350 h 581"/>
                <a:gd name="T80" fmla="*/ 31 w 36"/>
                <a:gd name="T81" fmla="*/ 291 h 581"/>
                <a:gd name="T82" fmla="*/ 31 w 36"/>
                <a:gd name="T83" fmla="*/ 274 h 581"/>
                <a:gd name="T84" fmla="*/ 33 w 36"/>
                <a:gd name="T85" fmla="*/ 237 h 581"/>
                <a:gd name="T86" fmla="*/ 33 w 36"/>
                <a:gd name="T87" fmla="*/ 198 h 581"/>
                <a:gd name="T88" fmla="*/ 34 w 36"/>
                <a:gd name="T89" fmla="*/ 136 h 581"/>
                <a:gd name="T90" fmla="*/ 34 w 36"/>
                <a:gd name="T91" fmla="*/ 96 h 581"/>
                <a:gd name="T92" fmla="*/ 35 w 36"/>
                <a:gd name="T93" fmla="*/ 58 h 581"/>
                <a:gd name="T94" fmla="*/ 35 w 36"/>
                <a:gd name="T95" fmla="*/ 33 h 581"/>
                <a:gd name="T96" fmla="*/ 35 w 36"/>
                <a:gd name="T97" fmla="*/ 18 h 581"/>
                <a:gd name="T98" fmla="*/ 35 w 36"/>
                <a:gd name="T99" fmla="*/ 5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" h="581">
                  <a:moveTo>
                    <a:pt x="0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23"/>
                  </a:lnTo>
                  <a:lnTo>
                    <a:pt x="0" y="30"/>
                  </a:lnTo>
                  <a:lnTo>
                    <a:pt x="0" y="38"/>
                  </a:lnTo>
                  <a:lnTo>
                    <a:pt x="0" y="45"/>
                  </a:lnTo>
                  <a:lnTo>
                    <a:pt x="0" y="54"/>
                  </a:lnTo>
                  <a:lnTo>
                    <a:pt x="1" y="63"/>
                  </a:lnTo>
                  <a:lnTo>
                    <a:pt x="1" y="72"/>
                  </a:lnTo>
                  <a:lnTo>
                    <a:pt x="1" y="91"/>
                  </a:lnTo>
                  <a:lnTo>
                    <a:pt x="1" y="110"/>
                  </a:lnTo>
                  <a:lnTo>
                    <a:pt x="2" y="131"/>
                  </a:lnTo>
                  <a:lnTo>
                    <a:pt x="2" y="152"/>
                  </a:lnTo>
                  <a:lnTo>
                    <a:pt x="2" y="174"/>
                  </a:lnTo>
                  <a:lnTo>
                    <a:pt x="3" y="195"/>
                  </a:lnTo>
                  <a:lnTo>
                    <a:pt x="3" y="216"/>
                  </a:lnTo>
                  <a:lnTo>
                    <a:pt x="4" y="236"/>
                  </a:lnTo>
                  <a:lnTo>
                    <a:pt x="4" y="255"/>
                  </a:lnTo>
                  <a:lnTo>
                    <a:pt x="4" y="264"/>
                  </a:lnTo>
                  <a:lnTo>
                    <a:pt x="4" y="273"/>
                  </a:lnTo>
                  <a:lnTo>
                    <a:pt x="4" y="282"/>
                  </a:lnTo>
                  <a:lnTo>
                    <a:pt x="6" y="289"/>
                  </a:lnTo>
                  <a:lnTo>
                    <a:pt x="6" y="320"/>
                  </a:lnTo>
                  <a:lnTo>
                    <a:pt x="7" y="350"/>
                  </a:lnTo>
                  <a:lnTo>
                    <a:pt x="7" y="378"/>
                  </a:lnTo>
                  <a:lnTo>
                    <a:pt x="8" y="393"/>
                  </a:lnTo>
                  <a:lnTo>
                    <a:pt x="8" y="407"/>
                  </a:lnTo>
                  <a:lnTo>
                    <a:pt x="8" y="420"/>
                  </a:lnTo>
                  <a:lnTo>
                    <a:pt x="9" y="432"/>
                  </a:lnTo>
                  <a:lnTo>
                    <a:pt x="9" y="444"/>
                  </a:lnTo>
                  <a:lnTo>
                    <a:pt x="9" y="456"/>
                  </a:lnTo>
                  <a:lnTo>
                    <a:pt x="11" y="468"/>
                  </a:lnTo>
                  <a:lnTo>
                    <a:pt x="11" y="478"/>
                  </a:lnTo>
                  <a:lnTo>
                    <a:pt x="11" y="489"/>
                  </a:lnTo>
                  <a:lnTo>
                    <a:pt x="12" y="498"/>
                  </a:lnTo>
                  <a:lnTo>
                    <a:pt x="12" y="506"/>
                  </a:lnTo>
                  <a:lnTo>
                    <a:pt x="12" y="515"/>
                  </a:lnTo>
                  <a:lnTo>
                    <a:pt x="12" y="523"/>
                  </a:lnTo>
                  <a:lnTo>
                    <a:pt x="13" y="532"/>
                  </a:lnTo>
                  <a:lnTo>
                    <a:pt x="13" y="538"/>
                  </a:lnTo>
                  <a:lnTo>
                    <a:pt x="13" y="545"/>
                  </a:lnTo>
                  <a:lnTo>
                    <a:pt x="14" y="551"/>
                  </a:lnTo>
                  <a:lnTo>
                    <a:pt x="14" y="557"/>
                  </a:lnTo>
                  <a:lnTo>
                    <a:pt x="14" y="563"/>
                  </a:lnTo>
                  <a:lnTo>
                    <a:pt x="15" y="568"/>
                  </a:lnTo>
                  <a:lnTo>
                    <a:pt x="15" y="570"/>
                  </a:lnTo>
                  <a:lnTo>
                    <a:pt x="15" y="573"/>
                  </a:lnTo>
                  <a:lnTo>
                    <a:pt x="17" y="576"/>
                  </a:lnTo>
                  <a:lnTo>
                    <a:pt x="17" y="578"/>
                  </a:lnTo>
                  <a:lnTo>
                    <a:pt x="17" y="579"/>
                  </a:lnTo>
                  <a:lnTo>
                    <a:pt x="18" y="581"/>
                  </a:lnTo>
                  <a:lnTo>
                    <a:pt x="18" y="579"/>
                  </a:lnTo>
                  <a:lnTo>
                    <a:pt x="18" y="578"/>
                  </a:lnTo>
                  <a:lnTo>
                    <a:pt x="18" y="576"/>
                  </a:lnTo>
                  <a:lnTo>
                    <a:pt x="19" y="573"/>
                  </a:lnTo>
                  <a:lnTo>
                    <a:pt x="19" y="570"/>
                  </a:lnTo>
                  <a:lnTo>
                    <a:pt x="19" y="568"/>
                  </a:lnTo>
                  <a:lnTo>
                    <a:pt x="20" y="562"/>
                  </a:lnTo>
                  <a:lnTo>
                    <a:pt x="20" y="557"/>
                  </a:lnTo>
                  <a:lnTo>
                    <a:pt x="20" y="551"/>
                  </a:lnTo>
                  <a:lnTo>
                    <a:pt x="22" y="545"/>
                  </a:lnTo>
                  <a:lnTo>
                    <a:pt x="22" y="538"/>
                  </a:lnTo>
                  <a:lnTo>
                    <a:pt x="22" y="530"/>
                  </a:lnTo>
                  <a:lnTo>
                    <a:pt x="23" y="523"/>
                  </a:lnTo>
                  <a:lnTo>
                    <a:pt x="23" y="515"/>
                  </a:lnTo>
                  <a:lnTo>
                    <a:pt x="23" y="506"/>
                  </a:lnTo>
                  <a:lnTo>
                    <a:pt x="24" y="498"/>
                  </a:lnTo>
                  <a:lnTo>
                    <a:pt x="24" y="489"/>
                  </a:lnTo>
                  <a:lnTo>
                    <a:pt x="24" y="478"/>
                  </a:lnTo>
                  <a:lnTo>
                    <a:pt x="25" y="468"/>
                  </a:lnTo>
                  <a:lnTo>
                    <a:pt x="25" y="456"/>
                  </a:lnTo>
                  <a:lnTo>
                    <a:pt x="25" y="444"/>
                  </a:lnTo>
                  <a:lnTo>
                    <a:pt x="27" y="432"/>
                  </a:lnTo>
                  <a:lnTo>
                    <a:pt x="27" y="420"/>
                  </a:lnTo>
                  <a:lnTo>
                    <a:pt x="28" y="407"/>
                  </a:lnTo>
                  <a:lnTo>
                    <a:pt x="28" y="393"/>
                  </a:lnTo>
                  <a:lnTo>
                    <a:pt x="29" y="380"/>
                  </a:lnTo>
                  <a:lnTo>
                    <a:pt x="29" y="350"/>
                  </a:lnTo>
                  <a:lnTo>
                    <a:pt x="30" y="320"/>
                  </a:lnTo>
                  <a:lnTo>
                    <a:pt x="31" y="291"/>
                  </a:lnTo>
                  <a:lnTo>
                    <a:pt x="31" y="282"/>
                  </a:lnTo>
                  <a:lnTo>
                    <a:pt x="31" y="274"/>
                  </a:lnTo>
                  <a:lnTo>
                    <a:pt x="31" y="256"/>
                  </a:lnTo>
                  <a:lnTo>
                    <a:pt x="33" y="237"/>
                  </a:lnTo>
                  <a:lnTo>
                    <a:pt x="33" y="218"/>
                  </a:lnTo>
                  <a:lnTo>
                    <a:pt x="33" y="198"/>
                  </a:lnTo>
                  <a:lnTo>
                    <a:pt x="34" y="177"/>
                  </a:lnTo>
                  <a:lnTo>
                    <a:pt x="34" y="136"/>
                  </a:lnTo>
                  <a:lnTo>
                    <a:pt x="34" y="116"/>
                  </a:lnTo>
                  <a:lnTo>
                    <a:pt x="34" y="96"/>
                  </a:lnTo>
                  <a:lnTo>
                    <a:pt x="35" y="78"/>
                  </a:lnTo>
                  <a:lnTo>
                    <a:pt x="35" y="58"/>
                  </a:lnTo>
                  <a:lnTo>
                    <a:pt x="35" y="42"/>
                  </a:lnTo>
                  <a:lnTo>
                    <a:pt x="35" y="33"/>
                  </a:lnTo>
                  <a:lnTo>
                    <a:pt x="35" y="26"/>
                  </a:lnTo>
                  <a:lnTo>
                    <a:pt x="35" y="18"/>
                  </a:lnTo>
                  <a:lnTo>
                    <a:pt x="35" y="12"/>
                  </a:lnTo>
                  <a:lnTo>
                    <a:pt x="35" y="5"/>
                  </a:lnTo>
                  <a:lnTo>
                    <a:pt x="36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48" name="Freeform 116"/>
            <p:cNvSpPr>
              <a:spLocks/>
            </p:cNvSpPr>
            <p:nvPr/>
          </p:nvSpPr>
          <p:spPr bwMode="auto">
            <a:xfrm>
              <a:off x="5210" y="965"/>
              <a:ext cx="37" cy="312"/>
            </a:xfrm>
            <a:custGeom>
              <a:avLst/>
              <a:gdLst>
                <a:gd name="T0" fmla="*/ 0 w 37"/>
                <a:gd name="T1" fmla="*/ 5 h 626"/>
                <a:gd name="T2" fmla="*/ 0 w 37"/>
                <a:gd name="T3" fmla="*/ 17 h 626"/>
                <a:gd name="T4" fmla="*/ 0 w 37"/>
                <a:gd name="T5" fmla="*/ 32 h 626"/>
                <a:gd name="T6" fmla="*/ 0 w 37"/>
                <a:gd name="T7" fmla="*/ 48 h 626"/>
                <a:gd name="T8" fmla="*/ 1 w 37"/>
                <a:gd name="T9" fmla="*/ 67 h 626"/>
                <a:gd name="T10" fmla="*/ 1 w 37"/>
                <a:gd name="T11" fmla="*/ 97 h 626"/>
                <a:gd name="T12" fmla="*/ 3 w 37"/>
                <a:gd name="T13" fmla="*/ 142 h 626"/>
                <a:gd name="T14" fmla="*/ 3 w 37"/>
                <a:gd name="T15" fmla="*/ 188 h 626"/>
                <a:gd name="T16" fmla="*/ 4 w 37"/>
                <a:gd name="T17" fmla="*/ 233 h 626"/>
                <a:gd name="T18" fmla="*/ 5 w 37"/>
                <a:gd name="T19" fmla="*/ 274 h 626"/>
                <a:gd name="T20" fmla="*/ 5 w 37"/>
                <a:gd name="T21" fmla="*/ 294 h 626"/>
                <a:gd name="T22" fmla="*/ 6 w 37"/>
                <a:gd name="T23" fmla="*/ 311 h 626"/>
                <a:gd name="T24" fmla="*/ 7 w 37"/>
                <a:gd name="T25" fmla="*/ 377 h 626"/>
                <a:gd name="T26" fmla="*/ 9 w 37"/>
                <a:gd name="T27" fmla="*/ 423 h 626"/>
                <a:gd name="T28" fmla="*/ 9 w 37"/>
                <a:gd name="T29" fmla="*/ 451 h 626"/>
                <a:gd name="T30" fmla="*/ 10 w 37"/>
                <a:gd name="T31" fmla="*/ 478 h 626"/>
                <a:gd name="T32" fmla="*/ 11 w 37"/>
                <a:gd name="T33" fmla="*/ 504 h 626"/>
                <a:gd name="T34" fmla="*/ 11 w 37"/>
                <a:gd name="T35" fmla="*/ 526 h 626"/>
                <a:gd name="T36" fmla="*/ 12 w 37"/>
                <a:gd name="T37" fmla="*/ 545 h 626"/>
                <a:gd name="T38" fmla="*/ 12 w 37"/>
                <a:gd name="T39" fmla="*/ 563 h 626"/>
                <a:gd name="T40" fmla="*/ 14 w 37"/>
                <a:gd name="T41" fmla="*/ 579 h 626"/>
                <a:gd name="T42" fmla="*/ 15 w 37"/>
                <a:gd name="T43" fmla="*/ 594 h 626"/>
                <a:gd name="T44" fmla="*/ 15 w 37"/>
                <a:gd name="T45" fmla="*/ 606 h 626"/>
                <a:gd name="T46" fmla="*/ 16 w 37"/>
                <a:gd name="T47" fmla="*/ 615 h 626"/>
                <a:gd name="T48" fmla="*/ 17 w 37"/>
                <a:gd name="T49" fmla="*/ 621 h 626"/>
                <a:gd name="T50" fmla="*/ 17 w 37"/>
                <a:gd name="T51" fmla="*/ 624 h 626"/>
                <a:gd name="T52" fmla="*/ 18 w 37"/>
                <a:gd name="T53" fmla="*/ 624 h 626"/>
                <a:gd name="T54" fmla="*/ 18 w 37"/>
                <a:gd name="T55" fmla="*/ 621 h 626"/>
                <a:gd name="T56" fmla="*/ 20 w 37"/>
                <a:gd name="T57" fmla="*/ 615 h 626"/>
                <a:gd name="T58" fmla="*/ 21 w 37"/>
                <a:gd name="T59" fmla="*/ 605 h 626"/>
                <a:gd name="T60" fmla="*/ 21 w 37"/>
                <a:gd name="T61" fmla="*/ 594 h 626"/>
                <a:gd name="T62" fmla="*/ 22 w 37"/>
                <a:gd name="T63" fmla="*/ 579 h 626"/>
                <a:gd name="T64" fmla="*/ 23 w 37"/>
                <a:gd name="T65" fmla="*/ 563 h 626"/>
                <a:gd name="T66" fmla="*/ 23 w 37"/>
                <a:gd name="T67" fmla="*/ 545 h 626"/>
                <a:gd name="T68" fmla="*/ 25 w 37"/>
                <a:gd name="T69" fmla="*/ 526 h 626"/>
                <a:gd name="T70" fmla="*/ 26 w 37"/>
                <a:gd name="T71" fmla="*/ 504 h 626"/>
                <a:gd name="T72" fmla="*/ 26 w 37"/>
                <a:gd name="T73" fmla="*/ 478 h 626"/>
                <a:gd name="T74" fmla="*/ 27 w 37"/>
                <a:gd name="T75" fmla="*/ 451 h 626"/>
                <a:gd name="T76" fmla="*/ 28 w 37"/>
                <a:gd name="T77" fmla="*/ 423 h 626"/>
                <a:gd name="T78" fmla="*/ 30 w 37"/>
                <a:gd name="T79" fmla="*/ 377 h 626"/>
                <a:gd name="T80" fmla="*/ 32 w 37"/>
                <a:gd name="T81" fmla="*/ 313 h 626"/>
                <a:gd name="T82" fmla="*/ 32 w 37"/>
                <a:gd name="T83" fmla="*/ 295 h 626"/>
                <a:gd name="T84" fmla="*/ 33 w 37"/>
                <a:gd name="T85" fmla="*/ 256 h 626"/>
                <a:gd name="T86" fmla="*/ 33 w 37"/>
                <a:gd name="T87" fmla="*/ 213 h 626"/>
                <a:gd name="T88" fmla="*/ 34 w 37"/>
                <a:gd name="T89" fmla="*/ 146 h 626"/>
                <a:gd name="T90" fmla="*/ 34 w 37"/>
                <a:gd name="T91" fmla="*/ 103 h 626"/>
                <a:gd name="T92" fmla="*/ 36 w 37"/>
                <a:gd name="T93" fmla="*/ 63 h 626"/>
                <a:gd name="T94" fmla="*/ 36 w 37"/>
                <a:gd name="T95" fmla="*/ 36 h 626"/>
                <a:gd name="T96" fmla="*/ 36 w 37"/>
                <a:gd name="T97" fmla="*/ 20 h 626"/>
                <a:gd name="T98" fmla="*/ 36 w 37"/>
                <a:gd name="T99" fmla="*/ 6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7" h="626">
                  <a:moveTo>
                    <a:pt x="0" y="0"/>
                  </a:moveTo>
                  <a:lnTo>
                    <a:pt x="0" y="5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0" y="48"/>
                  </a:lnTo>
                  <a:lnTo>
                    <a:pt x="0" y="57"/>
                  </a:lnTo>
                  <a:lnTo>
                    <a:pt x="1" y="67"/>
                  </a:lnTo>
                  <a:lnTo>
                    <a:pt x="1" y="76"/>
                  </a:lnTo>
                  <a:lnTo>
                    <a:pt x="1" y="97"/>
                  </a:lnTo>
                  <a:lnTo>
                    <a:pt x="1" y="119"/>
                  </a:lnTo>
                  <a:lnTo>
                    <a:pt x="3" y="142"/>
                  </a:lnTo>
                  <a:lnTo>
                    <a:pt x="3" y="164"/>
                  </a:lnTo>
                  <a:lnTo>
                    <a:pt x="3" y="188"/>
                  </a:lnTo>
                  <a:lnTo>
                    <a:pt x="4" y="210"/>
                  </a:lnTo>
                  <a:lnTo>
                    <a:pt x="4" y="233"/>
                  </a:lnTo>
                  <a:lnTo>
                    <a:pt x="5" y="255"/>
                  </a:lnTo>
                  <a:lnTo>
                    <a:pt x="5" y="274"/>
                  </a:lnTo>
                  <a:lnTo>
                    <a:pt x="5" y="285"/>
                  </a:lnTo>
                  <a:lnTo>
                    <a:pt x="5" y="294"/>
                  </a:lnTo>
                  <a:lnTo>
                    <a:pt x="5" y="303"/>
                  </a:lnTo>
                  <a:lnTo>
                    <a:pt x="6" y="311"/>
                  </a:lnTo>
                  <a:lnTo>
                    <a:pt x="6" y="344"/>
                  </a:lnTo>
                  <a:lnTo>
                    <a:pt x="7" y="377"/>
                  </a:lnTo>
                  <a:lnTo>
                    <a:pt x="7" y="408"/>
                  </a:lnTo>
                  <a:lnTo>
                    <a:pt x="9" y="423"/>
                  </a:lnTo>
                  <a:lnTo>
                    <a:pt x="9" y="438"/>
                  </a:lnTo>
                  <a:lnTo>
                    <a:pt x="9" y="451"/>
                  </a:lnTo>
                  <a:lnTo>
                    <a:pt x="10" y="465"/>
                  </a:lnTo>
                  <a:lnTo>
                    <a:pt x="10" y="478"/>
                  </a:lnTo>
                  <a:lnTo>
                    <a:pt x="10" y="492"/>
                  </a:lnTo>
                  <a:lnTo>
                    <a:pt x="11" y="504"/>
                  </a:lnTo>
                  <a:lnTo>
                    <a:pt x="11" y="515"/>
                  </a:lnTo>
                  <a:lnTo>
                    <a:pt x="11" y="526"/>
                  </a:lnTo>
                  <a:lnTo>
                    <a:pt x="12" y="536"/>
                  </a:lnTo>
                  <a:lnTo>
                    <a:pt x="12" y="545"/>
                  </a:lnTo>
                  <a:lnTo>
                    <a:pt x="12" y="554"/>
                  </a:lnTo>
                  <a:lnTo>
                    <a:pt x="12" y="563"/>
                  </a:lnTo>
                  <a:lnTo>
                    <a:pt x="14" y="572"/>
                  </a:lnTo>
                  <a:lnTo>
                    <a:pt x="14" y="579"/>
                  </a:lnTo>
                  <a:lnTo>
                    <a:pt x="14" y="587"/>
                  </a:lnTo>
                  <a:lnTo>
                    <a:pt x="15" y="594"/>
                  </a:lnTo>
                  <a:lnTo>
                    <a:pt x="15" y="600"/>
                  </a:lnTo>
                  <a:lnTo>
                    <a:pt x="15" y="606"/>
                  </a:lnTo>
                  <a:lnTo>
                    <a:pt x="16" y="611"/>
                  </a:lnTo>
                  <a:lnTo>
                    <a:pt x="16" y="615"/>
                  </a:lnTo>
                  <a:lnTo>
                    <a:pt x="16" y="618"/>
                  </a:lnTo>
                  <a:lnTo>
                    <a:pt x="17" y="621"/>
                  </a:lnTo>
                  <a:lnTo>
                    <a:pt x="17" y="623"/>
                  </a:lnTo>
                  <a:lnTo>
                    <a:pt x="17" y="624"/>
                  </a:lnTo>
                  <a:lnTo>
                    <a:pt x="18" y="626"/>
                  </a:lnTo>
                  <a:lnTo>
                    <a:pt x="18" y="624"/>
                  </a:lnTo>
                  <a:lnTo>
                    <a:pt x="18" y="623"/>
                  </a:lnTo>
                  <a:lnTo>
                    <a:pt x="18" y="621"/>
                  </a:lnTo>
                  <a:lnTo>
                    <a:pt x="20" y="618"/>
                  </a:lnTo>
                  <a:lnTo>
                    <a:pt x="20" y="615"/>
                  </a:lnTo>
                  <a:lnTo>
                    <a:pt x="20" y="611"/>
                  </a:lnTo>
                  <a:lnTo>
                    <a:pt x="21" y="605"/>
                  </a:lnTo>
                  <a:lnTo>
                    <a:pt x="21" y="600"/>
                  </a:lnTo>
                  <a:lnTo>
                    <a:pt x="21" y="594"/>
                  </a:lnTo>
                  <a:lnTo>
                    <a:pt x="22" y="587"/>
                  </a:lnTo>
                  <a:lnTo>
                    <a:pt x="22" y="579"/>
                  </a:lnTo>
                  <a:lnTo>
                    <a:pt x="22" y="572"/>
                  </a:lnTo>
                  <a:lnTo>
                    <a:pt x="23" y="563"/>
                  </a:lnTo>
                  <a:lnTo>
                    <a:pt x="23" y="554"/>
                  </a:lnTo>
                  <a:lnTo>
                    <a:pt x="23" y="545"/>
                  </a:lnTo>
                  <a:lnTo>
                    <a:pt x="25" y="536"/>
                  </a:lnTo>
                  <a:lnTo>
                    <a:pt x="25" y="526"/>
                  </a:lnTo>
                  <a:lnTo>
                    <a:pt x="25" y="515"/>
                  </a:lnTo>
                  <a:lnTo>
                    <a:pt x="26" y="504"/>
                  </a:lnTo>
                  <a:lnTo>
                    <a:pt x="26" y="492"/>
                  </a:lnTo>
                  <a:lnTo>
                    <a:pt x="26" y="478"/>
                  </a:lnTo>
                  <a:lnTo>
                    <a:pt x="27" y="466"/>
                  </a:lnTo>
                  <a:lnTo>
                    <a:pt x="27" y="451"/>
                  </a:lnTo>
                  <a:lnTo>
                    <a:pt x="28" y="438"/>
                  </a:lnTo>
                  <a:lnTo>
                    <a:pt x="28" y="423"/>
                  </a:lnTo>
                  <a:lnTo>
                    <a:pt x="30" y="408"/>
                  </a:lnTo>
                  <a:lnTo>
                    <a:pt x="30" y="377"/>
                  </a:lnTo>
                  <a:lnTo>
                    <a:pt x="31" y="346"/>
                  </a:lnTo>
                  <a:lnTo>
                    <a:pt x="32" y="313"/>
                  </a:lnTo>
                  <a:lnTo>
                    <a:pt x="32" y="304"/>
                  </a:lnTo>
                  <a:lnTo>
                    <a:pt x="32" y="295"/>
                  </a:lnTo>
                  <a:lnTo>
                    <a:pt x="32" y="276"/>
                  </a:lnTo>
                  <a:lnTo>
                    <a:pt x="33" y="256"/>
                  </a:lnTo>
                  <a:lnTo>
                    <a:pt x="33" y="236"/>
                  </a:lnTo>
                  <a:lnTo>
                    <a:pt x="33" y="213"/>
                  </a:lnTo>
                  <a:lnTo>
                    <a:pt x="34" y="191"/>
                  </a:lnTo>
                  <a:lnTo>
                    <a:pt x="34" y="146"/>
                  </a:lnTo>
                  <a:lnTo>
                    <a:pt x="34" y="125"/>
                  </a:lnTo>
                  <a:lnTo>
                    <a:pt x="34" y="103"/>
                  </a:lnTo>
                  <a:lnTo>
                    <a:pt x="36" y="82"/>
                  </a:lnTo>
                  <a:lnTo>
                    <a:pt x="36" y="63"/>
                  </a:lnTo>
                  <a:lnTo>
                    <a:pt x="36" y="45"/>
                  </a:lnTo>
                  <a:lnTo>
                    <a:pt x="36" y="36"/>
                  </a:lnTo>
                  <a:lnTo>
                    <a:pt x="36" y="29"/>
                  </a:lnTo>
                  <a:lnTo>
                    <a:pt x="36" y="20"/>
                  </a:lnTo>
                  <a:lnTo>
                    <a:pt x="36" y="12"/>
                  </a:lnTo>
                  <a:lnTo>
                    <a:pt x="36" y="6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49" name="Freeform 117"/>
            <p:cNvSpPr>
              <a:spLocks/>
            </p:cNvSpPr>
            <p:nvPr/>
          </p:nvSpPr>
          <p:spPr bwMode="auto">
            <a:xfrm>
              <a:off x="5320" y="697"/>
              <a:ext cx="37" cy="268"/>
            </a:xfrm>
            <a:custGeom>
              <a:avLst/>
              <a:gdLst>
                <a:gd name="T0" fmla="*/ 0 w 37"/>
                <a:gd name="T1" fmla="*/ 532 h 536"/>
                <a:gd name="T2" fmla="*/ 0 w 37"/>
                <a:gd name="T3" fmla="*/ 520 h 536"/>
                <a:gd name="T4" fmla="*/ 0 w 37"/>
                <a:gd name="T5" fmla="*/ 508 h 536"/>
                <a:gd name="T6" fmla="*/ 0 w 37"/>
                <a:gd name="T7" fmla="*/ 493 h 536"/>
                <a:gd name="T8" fmla="*/ 2 w 37"/>
                <a:gd name="T9" fmla="*/ 469 h 536"/>
                <a:gd name="T10" fmla="*/ 2 w 37"/>
                <a:gd name="T11" fmla="*/ 434 h 536"/>
                <a:gd name="T12" fmla="*/ 3 w 37"/>
                <a:gd name="T13" fmla="*/ 395 h 536"/>
                <a:gd name="T14" fmla="*/ 4 w 37"/>
                <a:gd name="T15" fmla="*/ 355 h 536"/>
                <a:gd name="T16" fmla="*/ 5 w 37"/>
                <a:gd name="T17" fmla="*/ 317 h 536"/>
                <a:gd name="T18" fmla="*/ 5 w 37"/>
                <a:gd name="T19" fmla="*/ 283 h 536"/>
                <a:gd name="T20" fmla="*/ 7 w 37"/>
                <a:gd name="T21" fmla="*/ 268 h 536"/>
                <a:gd name="T22" fmla="*/ 8 w 37"/>
                <a:gd name="T23" fmla="*/ 212 h 536"/>
                <a:gd name="T24" fmla="*/ 9 w 37"/>
                <a:gd name="T25" fmla="*/ 173 h 536"/>
                <a:gd name="T26" fmla="*/ 9 w 37"/>
                <a:gd name="T27" fmla="*/ 148 h 536"/>
                <a:gd name="T28" fmla="*/ 10 w 37"/>
                <a:gd name="T29" fmla="*/ 125 h 536"/>
                <a:gd name="T30" fmla="*/ 11 w 37"/>
                <a:gd name="T31" fmla="*/ 105 h 536"/>
                <a:gd name="T32" fmla="*/ 11 w 37"/>
                <a:gd name="T33" fmla="*/ 85 h 536"/>
                <a:gd name="T34" fmla="*/ 13 w 37"/>
                <a:gd name="T35" fmla="*/ 67 h 536"/>
                <a:gd name="T36" fmla="*/ 13 w 37"/>
                <a:gd name="T37" fmla="*/ 52 h 536"/>
                <a:gd name="T38" fmla="*/ 14 w 37"/>
                <a:gd name="T39" fmla="*/ 39 h 536"/>
                <a:gd name="T40" fmla="*/ 15 w 37"/>
                <a:gd name="T41" fmla="*/ 26 h 536"/>
                <a:gd name="T42" fmla="*/ 15 w 37"/>
                <a:gd name="T43" fmla="*/ 17 h 536"/>
                <a:gd name="T44" fmla="*/ 16 w 37"/>
                <a:gd name="T45" fmla="*/ 8 h 536"/>
                <a:gd name="T46" fmla="*/ 18 w 37"/>
                <a:gd name="T47" fmla="*/ 3 h 536"/>
                <a:gd name="T48" fmla="*/ 18 w 37"/>
                <a:gd name="T49" fmla="*/ 0 h 536"/>
                <a:gd name="T50" fmla="*/ 19 w 37"/>
                <a:gd name="T51" fmla="*/ 0 h 536"/>
                <a:gd name="T52" fmla="*/ 19 w 37"/>
                <a:gd name="T53" fmla="*/ 3 h 536"/>
                <a:gd name="T54" fmla="*/ 20 w 37"/>
                <a:gd name="T55" fmla="*/ 8 h 536"/>
                <a:gd name="T56" fmla="*/ 21 w 37"/>
                <a:gd name="T57" fmla="*/ 17 h 536"/>
                <a:gd name="T58" fmla="*/ 21 w 37"/>
                <a:gd name="T59" fmla="*/ 27 h 536"/>
                <a:gd name="T60" fmla="*/ 22 w 37"/>
                <a:gd name="T61" fmla="*/ 39 h 536"/>
                <a:gd name="T62" fmla="*/ 24 w 37"/>
                <a:gd name="T63" fmla="*/ 52 h 536"/>
                <a:gd name="T64" fmla="*/ 25 w 37"/>
                <a:gd name="T65" fmla="*/ 76 h 536"/>
                <a:gd name="T66" fmla="*/ 25 w 37"/>
                <a:gd name="T67" fmla="*/ 94 h 536"/>
                <a:gd name="T68" fmla="*/ 26 w 37"/>
                <a:gd name="T69" fmla="*/ 113 h 536"/>
                <a:gd name="T70" fmla="*/ 27 w 37"/>
                <a:gd name="T71" fmla="*/ 136 h 536"/>
                <a:gd name="T72" fmla="*/ 29 w 37"/>
                <a:gd name="T73" fmla="*/ 160 h 536"/>
                <a:gd name="T74" fmla="*/ 30 w 37"/>
                <a:gd name="T75" fmla="*/ 212 h 536"/>
                <a:gd name="T76" fmla="*/ 32 w 37"/>
                <a:gd name="T77" fmla="*/ 268 h 536"/>
                <a:gd name="T78" fmla="*/ 32 w 37"/>
                <a:gd name="T79" fmla="*/ 298 h 536"/>
                <a:gd name="T80" fmla="*/ 34 w 37"/>
                <a:gd name="T81" fmla="*/ 334 h 536"/>
                <a:gd name="T82" fmla="*/ 35 w 37"/>
                <a:gd name="T83" fmla="*/ 371 h 536"/>
                <a:gd name="T84" fmla="*/ 35 w 37"/>
                <a:gd name="T85" fmla="*/ 428 h 536"/>
                <a:gd name="T86" fmla="*/ 36 w 37"/>
                <a:gd name="T87" fmla="*/ 465 h 536"/>
                <a:gd name="T88" fmla="*/ 36 w 37"/>
                <a:gd name="T89" fmla="*/ 496 h 536"/>
                <a:gd name="T90" fmla="*/ 36 w 37"/>
                <a:gd name="T91" fmla="*/ 518 h 536"/>
                <a:gd name="T92" fmla="*/ 36 w 37"/>
                <a:gd name="T93" fmla="*/ 53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7" h="536">
                  <a:moveTo>
                    <a:pt x="0" y="536"/>
                  </a:moveTo>
                  <a:lnTo>
                    <a:pt x="0" y="532"/>
                  </a:lnTo>
                  <a:lnTo>
                    <a:pt x="0" y="526"/>
                  </a:lnTo>
                  <a:lnTo>
                    <a:pt x="0" y="520"/>
                  </a:lnTo>
                  <a:lnTo>
                    <a:pt x="0" y="514"/>
                  </a:lnTo>
                  <a:lnTo>
                    <a:pt x="0" y="508"/>
                  </a:lnTo>
                  <a:lnTo>
                    <a:pt x="0" y="501"/>
                  </a:lnTo>
                  <a:lnTo>
                    <a:pt x="0" y="493"/>
                  </a:lnTo>
                  <a:lnTo>
                    <a:pt x="0" y="486"/>
                  </a:lnTo>
                  <a:lnTo>
                    <a:pt x="2" y="469"/>
                  </a:lnTo>
                  <a:lnTo>
                    <a:pt x="2" y="451"/>
                  </a:lnTo>
                  <a:lnTo>
                    <a:pt x="2" y="434"/>
                  </a:lnTo>
                  <a:lnTo>
                    <a:pt x="3" y="414"/>
                  </a:lnTo>
                  <a:lnTo>
                    <a:pt x="3" y="395"/>
                  </a:lnTo>
                  <a:lnTo>
                    <a:pt x="3" y="374"/>
                  </a:lnTo>
                  <a:lnTo>
                    <a:pt x="4" y="355"/>
                  </a:lnTo>
                  <a:lnTo>
                    <a:pt x="4" y="335"/>
                  </a:lnTo>
                  <a:lnTo>
                    <a:pt x="5" y="317"/>
                  </a:lnTo>
                  <a:lnTo>
                    <a:pt x="5" y="300"/>
                  </a:lnTo>
                  <a:lnTo>
                    <a:pt x="5" y="283"/>
                  </a:lnTo>
                  <a:lnTo>
                    <a:pt x="5" y="276"/>
                  </a:lnTo>
                  <a:lnTo>
                    <a:pt x="7" y="268"/>
                  </a:lnTo>
                  <a:lnTo>
                    <a:pt x="7" y="240"/>
                  </a:lnTo>
                  <a:lnTo>
                    <a:pt x="8" y="212"/>
                  </a:lnTo>
                  <a:lnTo>
                    <a:pt x="8" y="185"/>
                  </a:lnTo>
                  <a:lnTo>
                    <a:pt x="9" y="173"/>
                  </a:lnTo>
                  <a:lnTo>
                    <a:pt x="9" y="160"/>
                  </a:lnTo>
                  <a:lnTo>
                    <a:pt x="9" y="148"/>
                  </a:lnTo>
                  <a:lnTo>
                    <a:pt x="10" y="136"/>
                  </a:lnTo>
                  <a:lnTo>
                    <a:pt x="10" y="125"/>
                  </a:lnTo>
                  <a:lnTo>
                    <a:pt x="10" y="113"/>
                  </a:lnTo>
                  <a:lnTo>
                    <a:pt x="11" y="105"/>
                  </a:lnTo>
                  <a:lnTo>
                    <a:pt x="11" y="94"/>
                  </a:lnTo>
                  <a:lnTo>
                    <a:pt x="11" y="85"/>
                  </a:lnTo>
                  <a:lnTo>
                    <a:pt x="13" y="76"/>
                  </a:lnTo>
                  <a:lnTo>
                    <a:pt x="13" y="67"/>
                  </a:lnTo>
                  <a:lnTo>
                    <a:pt x="13" y="60"/>
                  </a:lnTo>
                  <a:lnTo>
                    <a:pt x="13" y="52"/>
                  </a:lnTo>
                  <a:lnTo>
                    <a:pt x="14" y="45"/>
                  </a:lnTo>
                  <a:lnTo>
                    <a:pt x="14" y="39"/>
                  </a:lnTo>
                  <a:lnTo>
                    <a:pt x="14" y="32"/>
                  </a:lnTo>
                  <a:lnTo>
                    <a:pt x="15" y="26"/>
                  </a:lnTo>
                  <a:lnTo>
                    <a:pt x="15" y="21"/>
                  </a:lnTo>
                  <a:lnTo>
                    <a:pt x="15" y="17"/>
                  </a:lnTo>
                  <a:lnTo>
                    <a:pt x="16" y="12"/>
                  </a:lnTo>
                  <a:lnTo>
                    <a:pt x="16" y="8"/>
                  </a:lnTo>
                  <a:lnTo>
                    <a:pt x="16" y="5"/>
                  </a:lnTo>
                  <a:lnTo>
                    <a:pt x="18" y="3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3"/>
                  </a:lnTo>
                  <a:lnTo>
                    <a:pt x="20" y="5"/>
                  </a:lnTo>
                  <a:lnTo>
                    <a:pt x="20" y="8"/>
                  </a:lnTo>
                  <a:lnTo>
                    <a:pt x="20" y="12"/>
                  </a:lnTo>
                  <a:lnTo>
                    <a:pt x="21" y="17"/>
                  </a:lnTo>
                  <a:lnTo>
                    <a:pt x="21" y="21"/>
                  </a:lnTo>
                  <a:lnTo>
                    <a:pt x="21" y="27"/>
                  </a:lnTo>
                  <a:lnTo>
                    <a:pt x="22" y="32"/>
                  </a:lnTo>
                  <a:lnTo>
                    <a:pt x="22" y="39"/>
                  </a:lnTo>
                  <a:lnTo>
                    <a:pt x="22" y="45"/>
                  </a:lnTo>
                  <a:lnTo>
                    <a:pt x="24" y="52"/>
                  </a:lnTo>
                  <a:lnTo>
                    <a:pt x="24" y="60"/>
                  </a:lnTo>
                  <a:lnTo>
                    <a:pt x="25" y="76"/>
                  </a:lnTo>
                  <a:lnTo>
                    <a:pt x="25" y="85"/>
                  </a:lnTo>
                  <a:lnTo>
                    <a:pt x="25" y="94"/>
                  </a:lnTo>
                  <a:lnTo>
                    <a:pt x="26" y="105"/>
                  </a:lnTo>
                  <a:lnTo>
                    <a:pt x="26" y="113"/>
                  </a:lnTo>
                  <a:lnTo>
                    <a:pt x="26" y="125"/>
                  </a:lnTo>
                  <a:lnTo>
                    <a:pt x="27" y="136"/>
                  </a:lnTo>
                  <a:lnTo>
                    <a:pt x="27" y="148"/>
                  </a:lnTo>
                  <a:lnTo>
                    <a:pt x="29" y="160"/>
                  </a:lnTo>
                  <a:lnTo>
                    <a:pt x="30" y="185"/>
                  </a:lnTo>
                  <a:lnTo>
                    <a:pt x="30" y="212"/>
                  </a:lnTo>
                  <a:lnTo>
                    <a:pt x="31" y="240"/>
                  </a:lnTo>
                  <a:lnTo>
                    <a:pt x="32" y="268"/>
                  </a:lnTo>
                  <a:lnTo>
                    <a:pt x="32" y="283"/>
                  </a:lnTo>
                  <a:lnTo>
                    <a:pt x="32" y="298"/>
                  </a:lnTo>
                  <a:lnTo>
                    <a:pt x="34" y="316"/>
                  </a:lnTo>
                  <a:lnTo>
                    <a:pt x="34" y="334"/>
                  </a:lnTo>
                  <a:lnTo>
                    <a:pt x="34" y="353"/>
                  </a:lnTo>
                  <a:lnTo>
                    <a:pt x="35" y="371"/>
                  </a:lnTo>
                  <a:lnTo>
                    <a:pt x="35" y="410"/>
                  </a:lnTo>
                  <a:lnTo>
                    <a:pt x="35" y="428"/>
                  </a:lnTo>
                  <a:lnTo>
                    <a:pt x="35" y="447"/>
                  </a:lnTo>
                  <a:lnTo>
                    <a:pt x="36" y="465"/>
                  </a:lnTo>
                  <a:lnTo>
                    <a:pt x="36" y="481"/>
                  </a:lnTo>
                  <a:lnTo>
                    <a:pt x="36" y="496"/>
                  </a:lnTo>
                  <a:lnTo>
                    <a:pt x="36" y="511"/>
                  </a:lnTo>
                  <a:lnTo>
                    <a:pt x="36" y="518"/>
                  </a:lnTo>
                  <a:lnTo>
                    <a:pt x="36" y="524"/>
                  </a:lnTo>
                  <a:lnTo>
                    <a:pt x="36" y="530"/>
                  </a:lnTo>
                  <a:lnTo>
                    <a:pt x="37" y="536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50" name="Freeform 118"/>
            <p:cNvSpPr>
              <a:spLocks/>
            </p:cNvSpPr>
            <p:nvPr/>
          </p:nvSpPr>
          <p:spPr bwMode="auto">
            <a:xfrm>
              <a:off x="5284" y="965"/>
              <a:ext cx="36" cy="312"/>
            </a:xfrm>
            <a:custGeom>
              <a:avLst/>
              <a:gdLst>
                <a:gd name="T0" fmla="*/ 0 w 36"/>
                <a:gd name="T1" fmla="*/ 5 h 626"/>
                <a:gd name="T2" fmla="*/ 0 w 36"/>
                <a:gd name="T3" fmla="*/ 17 h 626"/>
                <a:gd name="T4" fmla="*/ 0 w 36"/>
                <a:gd name="T5" fmla="*/ 32 h 626"/>
                <a:gd name="T6" fmla="*/ 0 w 36"/>
                <a:gd name="T7" fmla="*/ 48 h 626"/>
                <a:gd name="T8" fmla="*/ 1 w 36"/>
                <a:gd name="T9" fmla="*/ 67 h 626"/>
                <a:gd name="T10" fmla="*/ 1 w 36"/>
                <a:gd name="T11" fmla="*/ 97 h 626"/>
                <a:gd name="T12" fmla="*/ 2 w 36"/>
                <a:gd name="T13" fmla="*/ 142 h 626"/>
                <a:gd name="T14" fmla="*/ 2 w 36"/>
                <a:gd name="T15" fmla="*/ 188 h 626"/>
                <a:gd name="T16" fmla="*/ 3 w 36"/>
                <a:gd name="T17" fmla="*/ 233 h 626"/>
                <a:gd name="T18" fmla="*/ 5 w 36"/>
                <a:gd name="T19" fmla="*/ 274 h 626"/>
                <a:gd name="T20" fmla="*/ 5 w 36"/>
                <a:gd name="T21" fmla="*/ 294 h 626"/>
                <a:gd name="T22" fmla="*/ 6 w 36"/>
                <a:gd name="T23" fmla="*/ 311 h 626"/>
                <a:gd name="T24" fmla="*/ 7 w 36"/>
                <a:gd name="T25" fmla="*/ 377 h 626"/>
                <a:gd name="T26" fmla="*/ 8 w 36"/>
                <a:gd name="T27" fmla="*/ 423 h 626"/>
                <a:gd name="T28" fmla="*/ 8 w 36"/>
                <a:gd name="T29" fmla="*/ 451 h 626"/>
                <a:gd name="T30" fmla="*/ 9 w 36"/>
                <a:gd name="T31" fmla="*/ 478 h 626"/>
                <a:gd name="T32" fmla="*/ 11 w 36"/>
                <a:gd name="T33" fmla="*/ 504 h 626"/>
                <a:gd name="T34" fmla="*/ 11 w 36"/>
                <a:gd name="T35" fmla="*/ 526 h 626"/>
                <a:gd name="T36" fmla="*/ 12 w 36"/>
                <a:gd name="T37" fmla="*/ 545 h 626"/>
                <a:gd name="T38" fmla="*/ 12 w 36"/>
                <a:gd name="T39" fmla="*/ 563 h 626"/>
                <a:gd name="T40" fmla="*/ 13 w 36"/>
                <a:gd name="T41" fmla="*/ 579 h 626"/>
                <a:gd name="T42" fmla="*/ 14 w 36"/>
                <a:gd name="T43" fmla="*/ 594 h 626"/>
                <a:gd name="T44" fmla="*/ 14 w 36"/>
                <a:gd name="T45" fmla="*/ 606 h 626"/>
                <a:gd name="T46" fmla="*/ 16 w 36"/>
                <a:gd name="T47" fmla="*/ 615 h 626"/>
                <a:gd name="T48" fmla="*/ 17 w 36"/>
                <a:gd name="T49" fmla="*/ 621 h 626"/>
                <a:gd name="T50" fmla="*/ 17 w 36"/>
                <a:gd name="T51" fmla="*/ 624 h 626"/>
                <a:gd name="T52" fmla="*/ 18 w 36"/>
                <a:gd name="T53" fmla="*/ 624 h 626"/>
                <a:gd name="T54" fmla="*/ 18 w 36"/>
                <a:gd name="T55" fmla="*/ 621 h 626"/>
                <a:gd name="T56" fmla="*/ 19 w 36"/>
                <a:gd name="T57" fmla="*/ 615 h 626"/>
                <a:gd name="T58" fmla="*/ 20 w 36"/>
                <a:gd name="T59" fmla="*/ 605 h 626"/>
                <a:gd name="T60" fmla="*/ 20 w 36"/>
                <a:gd name="T61" fmla="*/ 594 h 626"/>
                <a:gd name="T62" fmla="*/ 22 w 36"/>
                <a:gd name="T63" fmla="*/ 579 h 626"/>
                <a:gd name="T64" fmla="*/ 23 w 36"/>
                <a:gd name="T65" fmla="*/ 563 h 626"/>
                <a:gd name="T66" fmla="*/ 23 w 36"/>
                <a:gd name="T67" fmla="*/ 545 h 626"/>
                <a:gd name="T68" fmla="*/ 24 w 36"/>
                <a:gd name="T69" fmla="*/ 526 h 626"/>
                <a:gd name="T70" fmla="*/ 25 w 36"/>
                <a:gd name="T71" fmla="*/ 504 h 626"/>
                <a:gd name="T72" fmla="*/ 25 w 36"/>
                <a:gd name="T73" fmla="*/ 478 h 626"/>
                <a:gd name="T74" fmla="*/ 27 w 36"/>
                <a:gd name="T75" fmla="*/ 451 h 626"/>
                <a:gd name="T76" fmla="*/ 28 w 36"/>
                <a:gd name="T77" fmla="*/ 423 h 626"/>
                <a:gd name="T78" fmla="*/ 29 w 36"/>
                <a:gd name="T79" fmla="*/ 377 h 626"/>
                <a:gd name="T80" fmla="*/ 32 w 36"/>
                <a:gd name="T81" fmla="*/ 313 h 626"/>
                <a:gd name="T82" fmla="*/ 32 w 36"/>
                <a:gd name="T83" fmla="*/ 295 h 626"/>
                <a:gd name="T84" fmla="*/ 33 w 36"/>
                <a:gd name="T85" fmla="*/ 256 h 626"/>
                <a:gd name="T86" fmla="*/ 33 w 36"/>
                <a:gd name="T87" fmla="*/ 213 h 626"/>
                <a:gd name="T88" fmla="*/ 34 w 36"/>
                <a:gd name="T89" fmla="*/ 146 h 626"/>
                <a:gd name="T90" fmla="*/ 34 w 36"/>
                <a:gd name="T91" fmla="*/ 103 h 626"/>
                <a:gd name="T92" fmla="*/ 35 w 36"/>
                <a:gd name="T93" fmla="*/ 63 h 626"/>
                <a:gd name="T94" fmla="*/ 35 w 36"/>
                <a:gd name="T95" fmla="*/ 36 h 626"/>
                <a:gd name="T96" fmla="*/ 35 w 36"/>
                <a:gd name="T97" fmla="*/ 20 h 626"/>
                <a:gd name="T98" fmla="*/ 35 w 36"/>
                <a:gd name="T99" fmla="*/ 6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" h="626">
                  <a:moveTo>
                    <a:pt x="0" y="0"/>
                  </a:moveTo>
                  <a:lnTo>
                    <a:pt x="0" y="5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0" y="48"/>
                  </a:lnTo>
                  <a:lnTo>
                    <a:pt x="0" y="57"/>
                  </a:lnTo>
                  <a:lnTo>
                    <a:pt x="1" y="67"/>
                  </a:lnTo>
                  <a:lnTo>
                    <a:pt x="1" y="76"/>
                  </a:lnTo>
                  <a:lnTo>
                    <a:pt x="1" y="97"/>
                  </a:lnTo>
                  <a:lnTo>
                    <a:pt x="1" y="119"/>
                  </a:lnTo>
                  <a:lnTo>
                    <a:pt x="2" y="142"/>
                  </a:lnTo>
                  <a:lnTo>
                    <a:pt x="2" y="164"/>
                  </a:lnTo>
                  <a:lnTo>
                    <a:pt x="2" y="188"/>
                  </a:lnTo>
                  <a:lnTo>
                    <a:pt x="3" y="210"/>
                  </a:lnTo>
                  <a:lnTo>
                    <a:pt x="3" y="233"/>
                  </a:lnTo>
                  <a:lnTo>
                    <a:pt x="5" y="255"/>
                  </a:lnTo>
                  <a:lnTo>
                    <a:pt x="5" y="274"/>
                  </a:lnTo>
                  <a:lnTo>
                    <a:pt x="5" y="285"/>
                  </a:lnTo>
                  <a:lnTo>
                    <a:pt x="5" y="294"/>
                  </a:lnTo>
                  <a:lnTo>
                    <a:pt x="5" y="303"/>
                  </a:lnTo>
                  <a:lnTo>
                    <a:pt x="6" y="311"/>
                  </a:lnTo>
                  <a:lnTo>
                    <a:pt x="6" y="344"/>
                  </a:lnTo>
                  <a:lnTo>
                    <a:pt x="7" y="377"/>
                  </a:lnTo>
                  <a:lnTo>
                    <a:pt x="7" y="408"/>
                  </a:lnTo>
                  <a:lnTo>
                    <a:pt x="8" y="423"/>
                  </a:lnTo>
                  <a:lnTo>
                    <a:pt x="8" y="438"/>
                  </a:lnTo>
                  <a:lnTo>
                    <a:pt x="8" y="451"/>
                  </a:lnTo>
                  <a:lnTo>
                    <a:pt x="9" y="465"/>
                  </a:lnTo>
                  <a:lnTo>
                    <a:pt x="9" y="478"/>
                  </a:lnTo>
                  <a:lnTo>
                    <a:pt x="9" y="492"/>
                  </a:lnTo>
                  <a:lnTo>
                    <a:pt x="11" y="504"/>
                  </a:lnTo>
                  <a:lnTo>
                    <a:pt x="11" y="515"/>
                  </a:lnTo>
                  <a:lnTo>
                    <a:pt x="11" y="526"/>
                  </a:lnTo>
                  <a:lnTo>
                    <a:pt x="12" y="536"/>
                  </a:lnTo>
                  <a:lnTo>
                    <a:pt x="12" y="545"/>
                  </a:lnTo>
                  <a:lnTo>
                    <a:pt x="12" y="554"/>
                  </a:lnTo>
                  <a:lnTo>
                    <a:pt x="12" y="563"/>
                  </a:lnTo>
                  <a:lnTo>
                    <a:pt x="13" y="572"/>
                  </a:lnTo>
                  <a:lnTo>
                    <a:pt x="13" y="579"/>
                  </a:lnTo>
                  <a:lnTo>
                    <a:pt x="13" y="587"/>
                  </a:lnTo>
                  <a:lnTo>
                    <a:pt x="14" y="594"/>
                  </a:lnTo>
                  <a:lnTo>
                    <a:pt x="14" y="600"/>
                  </a:lnTo>
                  <a:lnTo>
                    <a:pt x="14" y="606"/>
                  </a:lnTo>
                  <a:lnTo>
                    <a:pt x="16" y="611"/>
                  </a:lnTo>
                  <a:lnTo>
                    <a:pt x="16" y="615"/>
                  </a:lnTo>
                  <a:lnTo>
                    <a:pt x="16" y="618"/>
                  </a:lnTo>
                  <a:lnTo>
                    <a:pt x="17" y="621"/>
                  </a:lnTo>
                  <a:lnTo>
                    <a:pt x="17" y="623"/>
                  </a:lnTo>
                  <a:lnTo>
                    <a:pt x="17" y="624"/>
                  </a:lnTo>
                  <a:lnTo>
                    <a:pt x="18" y="626"/>
                  </a:lnTo>
                  <a:lnTo>
                    <a:pt x="18" y="624"/>
                  </a:lnTo>
                  <a:lnTo>
                    <a:pt x="18" y="623"/>
                  </a:lnTo>
                  <a:lnTo>
                    <a:pt x="18" y="621"/>
                  </a:lnTo>
                  <a:lnTo>
                    <a:pt x="19" y="618"/>
                  </a:lnTo>
                  <a:lnTo>
                    <a:pt x="19" y="615"/>
                  </a:lnTo>
                  <a:lnTo>
                    <a:pt x="19" y="611"/>
                  </a:lnTo>
                  <a:lnTo>
                    <a:pt x="20" y="605"/>
                  </a:lnTo>
                  <a:lnTo>
                    <a:pt x="20" y="600"/>
                  </a:lnTo>
                  <a:lnTo>
                    <a:pt x="20" y="594"/>
                  </a:lnTo>
                  <a:lnTo>
                    <a:pt x="22" y="587"/>
                  </a:lnTo>
                  <a:lnTo>
                    <a:pt x="22" y="579"/>
                  </a:lnTo>
                  <a:lnTo>
                    <a:pt x="22" y="572"/>
                  </a:lnTo>
                  <a:lnTo>
                    <a:pt x="23" y="563"/>
                  </a:lnTo>
                  <a:lnTo>
                    <a:pt x="23" y="554"/>
                  </a:lnTo>
                  <a:lnTo>
                    <a:pt x="23" y="545"/>
                  </a:lnTo>
                  <a:lnTo>
                    <a:pt x="24" y="536"/>
                  </a:lnTo>
                  <a:lnTo>
                    <a:pt x="24" y="526"/>
                  </a:lnTo>
                  <a:lnTo>
                    <a:pt x="24" y="515"/>
                  </a:lnTo>
                  <a:lnTo>
                    <a:pt x="25" y="504"/>
                  </a:lnTo>
                  <a:lnTo>
                    <a:pt x="25" y="492"/>
                  </a:lnTo>
                  <a:lnTo>
                    <a:pt x="25" y="478"/>
                  </a:lnTo>
                  <a:lnTo>
                    <a:pt x="27" y="466"/>
                  </a:lnTo>
                  <a:lnTo>
                    <a:pt x="27" y="451"/>
                  </a:lnTo>
                  <a:lnTo>
                    <a:pt x="28" y="438"/>
                  </a:lnTo>
                  <a:lnTo>
                    <a:pt x="28" y="423"/>
                  </a:lnTo>
                  <a:lnTo>
                    <a:pt x="29" y="408"/>
                  </a:lnTo>
                  <a:lnTo>
                    <a:pt x="29" y="377"/>
                  </a:lnTo>
                  <a:lnTo>
                    <a:pt x="30" y="346"/>
                  </a:lnTo>
                  <a:lnTo>
                    <a:pt x="32" y="313"/>
                  </a:lnTo>
                  <a:lnTo>
                    <a:pt x="32" y="304"/>
                  </a:lnTo>
                  <a:lnTo>
                    <a:pt x="32" y="295"/>
                  </a:lnTo>
                  <a:lnTo>
                    <a:pt x="32" y="276"/>
                  </a:lnTo>
                  <a:lnTo>
                    <a:pt x="33" y="256"/>
                  </a:lnTo>
                  <a:lnTo>
                    <a:pt x="33" y="236"/>
                  </a:lnTo>
                  <a:lnTo>
                    <a:pt x="33" y="213"/>
                  </a:lnTo>
                  <a:lnTo>
                    <a:pt x="34" y="191"/>
                  </a:lnTo>
                  <a:lnTo>
                    <a:pt x="34" y="146"/>
                  </a:lnTo>
                  <a:lnTo>
                    <a:pt x="34" y="125"/>
                  </a:lnTo>
                  <a:lnTo>
                    <a:pt x="34" y="103"/>
                  </a:lnTo>
                  <a:lnTo>
                    <a:pt x="35" y="82"/>
                  </a:lnTo>
                  <a:lnTo>
                    <a:pt x="35" y="63"/>
                  </a:lnTo>
                  <a:lnTo>
                    <a:pt x="35" y="45"/>
                  </a:lnTo>
                  <a:lnTo>
                    <a:pt x="35" y="36"/>
                  </a:lnTo>
                  <a:lnTo>
                    <a:pt x="35" y="29"/>
                  </a:lnTo>
                  <a:lnTo>
                    <a:pt x="35" y="20"/>
                  </a:lnTo>
                  <a:lnTo>
                    <a:pt x="35" y="12"/>
                  </a:lnTo>
                  <a:lnTo>
                    <a:pt x="35" y="6"/>
                  </a:lnTo>
                  <a:lnTo>
                    <a:pt x="36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51" name="Freeform 119"/>
            <p:cNvSpPr>
              <a:spLocks noEditPoints="1"/>
            </p:cNvSpPr>
            <p:nvPr/>
          </p:nvSpPr>
          <p:spPr bwMode="auto">
            <a:xfrm>
              <a:off x="2672" y="2136"/>
              <a:ext cx="2759" cy="24"/>
            </a:xfrm>
            <a:custGeom>
              <a:avLst/>
              <a:gdLst>
                <a:gd name="T0" fmla="*/ 0 w 2759"/>
                <a:gd name="T1" fmla="*/ 18 h 49"/>
                <a:gd name="T2" fmla="*/ 2728 w 2759"/>
                <a:gd name="T3" fmla="*/ 18 h 49"/>
                <a:gd name="T4" fmla="*/ 2728 w 2759"/>
                <a:gd name="T5" fmla="*/ 31 h 49"/>
                <a:gd name="T6" fmla="*/ 0 w 2759"/>
                <a:gd name="T7" fmla="*/ 31 h 49"/>
                <a:gd name="T8" fmla="*/ 0 w 2759"/>
                <a:gd name="T9" fmla="*/ 18 h 49"/>
                <a:gd name="T10" fmla="*/ 2717 w 2759"/>
                <a:gd name="T11" fmla="*/ 0 h 49"/>
                <a:gd name="T12" fmla="*/ 2759 w 2759"/>
                <a:gd name="T13" fmla="*/ 25 h 49"/>
                <a:gd name="T14" fmla="*/ 2717 w 2759"/>
                <a:gd name="T15" fmla="*/ 49 h 49"/>
                <a:gd name="T16" fmla="*/ 2717 w 2759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59" h="49">
                  <a:moveTo>
                    <a:pt x="0" y="18"/>
                  </a:moveTo>
                  <a:lnTo>
                    <a:pt x="2728" y="18"/>
                  </a:lnTo>
                  <a:lnTo>
                    <a:pt x="2728" y="31"/>
                  </a:lnTo>
                  <a:lnTo>
                    <a:pt x="0" y="31"/>
                  </a:lnTo>
                  <a:lnTo>
                    <a:pt x="0" y="18"/>
                  </a:lnTo>
                  <a:close/>
                  <a:moveTo>
                    <a:pt x="2717" y="0"/>
                  </a:moveTo>
                  <a:lnTo>
                    <a:pt x="2759" y="25"/>
                  </a:lnTo>
                  <a:lnTo>
                    <a:pt x="2717" y="49"/>
                  </a:lnTo>
                  <a:lnTo>
                    <a:pt x="2717" y="0"/>
                  </a:lnTo>
                  <a:close/>
                </a:path>
              </a:pathLst>
            </a:custGeom>
            <a:solidFill>
              <a:srgbClr val="000000"/>
            </a:solidFill>
            <a:ln w="12700" cmpd="sng">
              <a:solidFill>
                <a:schemeClr val="hlink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7752" name="Freeform 120"/>
            <p:cNvSpPr>
              <a:spLocks noEditPoints="1"/>
            </p:cNvSpPr>
            <p:nvPr/>
          </p:nvSpPr>
          <p:spPr bwMode="auto">
            <a:xfrm>
              <a:off x="2672" y="2672"/>
              <a:ext cx="2759" cy="24"/>
            </a:xfrm>
            <a:custGeom>
              <a:avLst/>
              <a:gdLst>
                <a:gd name="T0" fmla="*/ 0 w 2759"/>
                <a:gd name="T1" fmla="*/ 18 h 49"/>
                <a:gd name="T2" fmla="*/ 2728 w 2759"/>
                <a:gd name="T3" fmla="*/ 18 h 49"/>
                <a:gd name="T4" fmla="*/ 2728 w 2759"/>
                <a:gd name="T5" fmla="*/ 31 h 49"/>
                <a:gd name="T6" fmla="*/ 0 w 2759"/>
                <a:gd name="T7" fmla="*/ 31 h 49"/>
                <a:gd name="T8" fmla="*/ 0 w 2759"/>
                <a:gd name="T9" fmla="*/ 18 h 49"/>
                <a:gd name="T10" fmla="*/ 2717 w 2759"/>
                <a:gd name="T11" fmla="*/ 0 h 49"/>
                <a:gd name="T12" fmla="*/ 2759 w 2759"/>
                <a:gd name="T13" fmla="*/ 25 h 49"/>
                <a:gd name="T14" fmla="*/ 2717 w 2759"/>
                <a:gd name="T15" fmla="*/ 49 h 49"/>
                <a:gd name="T16" fmla="*/ 2717 w 2759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59" h="49">
                  <a:moveTo>
                    <a:pt x="0" y="18"/>
                  </a:moveTo>
                  <a:lnTo>
                    <a:pt x="2728" y="18"/>
                  </a:lnTo>
                  <a:lnTo>
                    <a:pt x="2728" y="31"/>
                  </a:lnTo>
                  <a:lnTo>
                    <a:pt x="0" y="31"/>
                  </a:lnTo>
                  <a:lnTo>
                    <a:pt x="0" y="18"/>
                  </a:lnTo>
                  <a:close/>
                  <a:moveTo>
                    <a:pt x="2717" y="0"/>
                  </a:moveTo>
                  <a:lnTo>
                    <a:pt x="2759" y="25"/>
                  </a:lnTo>
                  <a:lnTo>
                    <a:pt x="2717" y="49"/>
                  </a:lnTo>
                  <a:lnTo>
                    <a:pt x="2717" y="0"/>
                  </a:lnTo>
                  <a:close/>
                </a:path>
              </a:pathLst>
            </a:custGeom>
            <a:solidFill>
              <a:srgbClr val="000000"/>
            </a:solidFill>
            <a:ln w="12700" cmpd="sng">
              <a:solidFill>
                <a:schemeClr val="hlink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7753" name="Freeform 121"/>
            <p:cNvSpPr>
              <a:spLocks noEditPoints="1"/>
            </p:cNvSpPr>
            <p:nvPr/>
          </p:nvSpPr>
          <p:spPr bwMode="auto">
            <a:xfrm>
              <a:off x="2672" y="3052"/>
              <a:ext cx="2759" cy="25"/>
            </a:xfrm>
            <a:custGeom>
              <a:avLst/>
              <a:gdLst>
                <a:gd name="T0" fmla="*/ 0 w 2759"/>
                <a:gd name="T1" fmla="*/ 19 h 51"/>
                <a:gd name="T2" fmla="*/ 2728 w 2759"/>
                <a:gd name="T3" fmla="*/ 19 h 51"/>
                <a:gd name="T4" fmla="*/ 2728 w 2759"/>
                <a:gd name="T5" fmla="*/ 31 h 51"/>
                <a:gd name="T6" fmla="*/ 0 w 2759"/>
                <a:gd name="T7" fmla="*/ 31 h 51"/>
                <a:gd name="T8" fmla="*/ 0 w 2759"/>
                <a:gd name="T9" fmla="*/ 19 h 51"/>
                <a:gd name="T10" fmla="*/ 2717 w 2759"/>
                <a:gd name="T11" fmla="*/ 0 h 51"/>
                <a:gd name="T12" fmla="*/ 2759 w 2759"/>
                <a:gd name="T13" fmla="*/ 25 h 51"/>
                <a:gd name="T14" fmla="*/ 2717 w 2759"/>
                <a:gd name="T15" fmla="*/ 51 h 51"/>
                <a:gd name="T16" fmla="*/ 2717 w 2759"/>
                <a:gd name="T1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59" h="51">
                  <a:moveTo>
                    <a:pt x="0" y="19"/>
                  </a:moveTo>
                  <a:lnTo>
                    <a:pt x="2728" y="19"/>
                  </a:lnTo>
                  <a:lnTo>
                    <a:pt x="2728" y="31"/>
                  </a:lnTo>
                  <a:lnTo>
                    <a:pt x="0" y="31"/>
                  </a:lnTo>
                  <a:lnTo>
                    <a:pt x="0" y="19"/>
                  </a:lnTo>
                  <a:close/>
                  <a:moveTo>
                    <a:pt x="2717" y="0"/>
                  </a:moveTo>
                  <a:lnTo>
                    <a:pt x="2759" y="25"/>
                  </a:lnTo>
                  <a:lnTo>
                    <a:pt x="2717" y="51"/>
                  </a:lnTo>
                  <a:lnTo>
                    <a:pt x="2717" y="0"/>
                  </a:lnTo>
                  <a:close/>
                </a:path>
              </a:pathLst>
            </a:custGeom>
            <a:solidFill>
              <a:srgbClr val="000000"/>
            </a:solidFill>
            <a:ln w="12700" cmpd="sng">
              <a:solidFill>
                <a:schemeClr val="hlink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7754" name="Freeform 122"/>
            <p:cNvSpPr>
              <a:spLocks/>
            </p:cNvSpPr>
            <p:nvPr/>
          </p:nvSpPr>
          <p:spPr bwMode="auto">
            <a:xfrm>
              <a:off x="2727" y="2104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2 w 37"/>
                <a:gd name="T3" fmla="*/ 88 h 89"/>
                <a:gd name="T4" fmla="*/ 4 w 37"/>
                <a:gd name="T5" fmla="*/ 87 h 89"/>
                <a:gd name="T6" fmla="*/ 5 w 37"/>
                <a:gd name="T7" fmla="*/ 85 h 89"/>
                <a:gd name="T8" fmla="*/ 7 w 37"/>
                <a:gd name="T9" fmla="*/ 84 h 89"/>
                <a:gd name="T10" fmla="*/ 8 w 37"/>
                <a:gd name="T11" fmla="*/ 82 h 89"/>
                <a:gd name="T12" fmla="*/ 9 w 37"/>
                <a:gd name="T13" fmla="*/ 81 h 89"/>
                <a:gd name="T14" fmla="*/ 10 w 37"/>
                <a:gd name="T15" fmla="*/ 76 h 89"/>
                <a:gd name="T16" fmla="*/ 12 w 37"/>
                <a:gd name="T17" fmla="*/ 73 h 89"/>
                <a:gd name="T18" fmla="*/ 13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9 w 37"/>
                <a:gd name="T25" fmla="*/ 45 h 89"/>
                <a:gd name="T26" fmla="*/ 19 w 37"/>
                <a:gd name="T27" fmla="*/ 0 h 89"/>
                <a:gd name="T28" fmla="*/ 19 w 37"/>
                <a:gd name="T29" fmla="*/ 45 h 89"/>
                <a:gd name="T30" fmla="*/ 20 w 37"/>
                <a:gd name="T31" fmla="*/ 54 h 89"/>
                <a:gd name="T32" fmla="*/ 23 w 37"/>
                <a:gd name="T33" fmla="*/ 64 h 89"/>
                <a:gd name="T34" fmla="*/ 24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1 h 89"/>
                <a:gd name="T42" fmla="*/ 29 w 37"/>
                <a:gd name="T43" fmla="*/ 82 h 89"/>
                <a:gd name="T44" fmla="*/ 30 w 37"/>
                <a:gd name="T45" fmla="*/ 84 h 89"/>
                <a:gd name="T46" fmla="*/ 31 w 37"/>
                <a:gd name="T47" fmla="*/ 85 h 89"/>
                <a:gd name="T48" fmla="*/ 32 w 37"/>
                <a:gd name="T49" fmla="*/ 87 h 89"/>
                <a:gd name="T50" fmla="*/ 35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2" y="88"/>
                  </a:lnTo>
                  <a:lnTo>
                    <a:pt x="4" y="87"/>
                  </a:lnTo>
                  <a:lnTo>
                    <a:pt x="5" y="85"/>
                  </a:lnTo>
                  <a:lnTo>
                    <a:pt x="7" y="84"/>
                  </a:lnTo>
                  <a:lnTo>
                    <a:pt x="8" y="82"/>
                  </a:lnTo>
                  <a:lnTo>
                    <a:pt x="9" y="81"/>
                  </a:lnTo>
                  <a:lnTo>
                    <a:pt x="10" y="76"/>
                  </a:lnTo>
                  <a:lnTo>
                    <a:pt x="12" y="73"/>
                  </a:lnTo>
                  <a:lnTo>
                    <a:pt x="13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9" y="45"/>
                  </a:lnTo>
                  <a:lnTo>
                    <a:pt x="19" y="0"/>
                  </a:lnTo>
                  <a:lnTo>
                    <a:pt x="19" y="45"/>
                  </a:lnTo>
                  <a:lnTo>
                    <a:pt x="20" y="54"/>
                  </a:lnTo>
                  <a:lnTo>
                    <a:pt x="23" y="64"/>
                  </a:lnTo>
                  <a:lnTo>
                    <a:pt x="24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1"/>
                  </a:lnTo>
                  <a:lnTo>
                    <a:pt x="29" y="82"/>
                  </a:lnTo>
                  <a:lnTo>
                    <a:pt x="30" y="84"/>
                  </a:lnTo>
                  <a:lnTo>
                    <a:pt x="31" y="85"/>
                  </a:lnTo>
                  <a:lnTo>
                    <a:pt x="32" y="87"/>
                  </a:lnTo>
                  <a:lnTo>
                    <a:pt x="35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55" name="Freeform 123"/>
            <p:cNvSpPr>
              <a:spLocks/>
            </p:cNvSpPr>
            <p:nvPr/>
          </p:nvSpPr>
          <p:spPr bwMode="auto">
            <a:xfrm>
              <a:off x="2709" y="2148"/>
              <a:ext cx="18" cy="45"/>
            </a:xfrm>
            <a:custGeom>
              <a:avLst/>
              <a:gdLst>
                <a:gd name="T0" fmla="*/ 0 w 18"/>
                <a:gd name="T1" fmla="*/ 90 h 90"/>
                <a:gd name="T2" fmla="*/ 0 w 18"/>
                <a:gd name="T3" fmla="*/ 45 h 90"/>
                <a:gd name="T4" fmla="*/ 1 w 18"/>
                <a:gd name="T5" fmla="*/ 35 h 90"/>
                <a:gd name="T6" fmla="*/ 4 w 18"/>
                <a:gd name="T7" fmla="*/ 24 h 90"/>
                <a:gd name="T8" fmla="*/ 5 w 18"/>
                <a:gd name="T9" fmla="*/ 20 h 90"/>
                <a:gd name="T10" fmla="*/ 6 w 18"/>
                <a:gd name="T11" fmla="*/ 15 h 90"/>
                <a:gd name="T12" fmla="*/ 7 w 18"/>
                <a:gd name="T13" fmla="*/ 11 h 90"/>
                <a:gd name="T14" fmla="*/ 9 w 18"/>
                <a:gd name="T15" fmla="*/ 8 h 90"/>
                <a:gd name="T16" fmla="*/ 10 w 18"/>
                <a:gd name="T17" fmla="*/ 6 h 90"/>
                <a:gd name="T18" fmla="*/ 11 w 18"/>
                <a:gd name="T19" fmla="*/ 3 h 90"/>
                <a:gd name="T20" fmla="*/ 12 w 18"/>
                <a:gd name="T21" fmla="*/ 2 h 90"/>
                <a:gd name="T22" fmla="*/ 14 w 18"/>
                <a:gd name="T23" fmla="*/ 2 h 90"/>
                <a:gd name="T24" fmla="*/ 16 w 18"/>
                <a:gd name="T25" fmla="*/ 0 h 90"/>
                <a:gd name="T26" fmla="*/ 18 w 18"/>
                <a:gd name="T27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90">
                  <a:moveTo>
                    <a:pt x="0" y="90"/>
                  </a:moveTo>
                  <a:lnTo>
                    <a:pt x="0" y="45"/>
                  </a:lnTo>
                  <a:lnTo>
                    <a:pt x="1" y="35"/>
                  </a:lnTo>
                  <a:lnTo>
                    <a:pt x="4" y="24"/>
                  </a:lnTo>
                  <a:lnTo>
                    <a:pt x="5" y="20"/>
                  </a:lnTo>
                  <a:lnTo>
                    <a:pt x="6" y="15"/>
                  </a:lnTo>
                  <a:lnTo>
                    <a:pt x="7" y="11"/>
                  </a:lnTo>
                  <a:lnTo>
                    <a:pt x="9" y="8"/>
                  </a:lnTo>
                  <a:lnTo>
                    <a:pt x="10" y="6"/>
                  </a:lnTo>
                  <a:lnTo>
                    <a:pt x="11" y="3"/>
                  </a:lnTo>
                  <a:lnTo>
                    <a:pt x="12" y="2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18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56" name="Freeform 124"/>
            <p:cNvSpPr>
              <a:spLocks/>
            </p:cNvSpPr>
            <p:nvPr/>
          </p:nvSpPr>
          <p:spPr bwMode="auto">
            <a:xfrm>
              <a:off x="2801" y="2104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7 h 89"/>
                <a:gd name="T6" fmla="*/ 5 w 37"/>
                <a:gd name="T7" fmla="*/ 85 h 89"/>
                <a:gd name="T8" fmla="*/ 6 w 37"/>
                <a:gd name="T9" fmla="*/ 84 h 89"/>
                <a:gd name="T10" fmla="*/ 7 w 37"/>
                <a:gd name="T11" fmla="*/ 82 h 89"/>
                <a:gd name="T12" fmla="*/ 9 w 37"/>
                <a:gd name="T13" fmla="*/ 81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8 w 37"/>
                <a:gd name="T25" fmla="*/ 45 h 89"/>
                <a:gd name="T26" fmla="*/ 18 w 37"/>
                <a:gd name="T27" fmla="*/ 0 h 89"/>
                <a:gd name="T28" fmla="*/ 18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3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1 h 89"/>
                <a:gd name="T42" fmla="*/ 28 w 37"/>
                <a:gd name="T43" fmla="*/ 82 h 89"/>
                <a:gd name="T44" fmla="*/ 29 w 37"/>
                <a:gd name="T45" fmla="*/ 84 h 89"/>
                <a:gd name="T46" fmla="*/ 31 w 37"/>
                <a:gd name="T47" fmla="*/ 85 h 89"/>
                <a:gd name="T48" fmla="*/ 32 w 37"/>
                <a:gd name="T49" fmla="*/ 87 h 89"/>
                <a:gd name="T50" fmla="*/ 34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7"/>
                  </a:lnTo>
                  <a:lnTo>
                    <a:pt x="5" y="85"/>
                  </a:lnTo>
                  <a:lnTo>
                    <a:pt x="6" y="84"/>
                  </a:lnTo>
                  <a:lnTo>
                    <a:pt x="7" y="82"/>
                  </a:lnTo>
                  <a:lnTo>
                    <a:pt x="9" y="81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1"/>
                  </a:lnTo>
                  <a:lnTo>
                    <a:pt x="28" y="82"/>
                  </a:lnTo>
                  <a:lnTo>
                    <a:pt x="29" y="84"/>
                  </a:lnTo>
                  <a:lnTo>
                    <a:pt x="31" y="85"/>
                  </a:lnTo>
                  <a:lnTo>
                    <a:pt x="32" y="87"/>
                  </a:lnTo>
                  <a:lnTo>
                    <a:pt x="34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57" name="Freeform 125"/>
            <p:cNvSpPr>
              <a:spLocks/>
            </p:cNvSpPr>
            <p:nvPr/>
          </p:nvSpPr>
          <p:spPr bwMode="auto">
            <a:xfrm>
              <a:off x="2764" y="2148"/>
              <a:ext cx="37" cy="45"/>
            </a:xfrm>
            <a:custGeom>
              <a:avLst/>
              <a:gdLst>
                <a:gd name="T0" fmla="*/ 0 w 37"/>
                <a:gd name="T1" fmla="*/ 0 h 90"/>
                <a:gd name="T2" fmla="*/ 1 w 37"/>
                <a:gd name="T3" fmla="*/ 0 h 90"/>
                <a:gd name="T4" fmla="*/ 4 w 37"/>
                <a:gd name="T5" fmla="*/ 2 h 90"/>
                <a:gd name="T6" fmla="*/ 5 w 37"/>
                <a:gd name="T7" fmla="*/ 3 h 90"/>
                <a:gd name="T8" fmla="*/ 6 w 37"/>
                <a:gd name="T9" fmla="*/ 5 h 90"/>
                <a:gd name="T10" fmla="*/ 8 w 37"/>
                <a:gd name="T11" fmla="*/ 6 h 90"/>
                <a:gd name="T12" fmla="*/ 9 w 37"/>
                <a:gd name="T13" fmla="*/ 9 h 90"/>
                <a:gd name="T14" fmla="*/ 10 w 37"/>
                <a:gd name="T15" fmla="*/ 12 h 90"/>
                <a:gd name="T16" fmla="*/ 11 w 37"/>
                <a:gd name="T17" fmla="*/ 15 h 90"/>
                <a:gd name="T18" fmla="*/ 13 w 37"/>
                <a:gd name="T19" fmla="*/ 20 h 90"/>
                <a:gd name="T20" fmla="*/ 14 w 37"/>
                <a:gd name="T21" fmla="*/ 24 h 90"/>
                <a:gd name="T22" fmla="*/ 16 w 37"/>
                <a:gd name="T23" fmla="*/ 35 h 90"/>
                <a:gd name="T24" fmla="*/ 19 w 37"/>
                <a:gd name="T25" fmla="*/ 45 h 90"/>
                <a:gd name="T26" fmla="*/ 19 w 37"/>
                <a:gd name="T27" fmla="*/ 90 h 90"/>
                <a:gd name="T28" fmla="*/ 19 w 37"/>
                <a:gd name="T29" fmla="*/ 45 h 90"/>
                <a:gd name="T30" fmla="*/ 20 w 37"/>
                <a:gd name="T31" fmla="*/ 35 h 90"/>
                <a:gd name="T32" fmla="*/ 22 w 37"/>
                <a:gd name="T33" fmla="*/ 24 h 90"/>
                <a:gd name="T34" fmla="*/ 24 w 37"/>
                <a:gd name="T35" fmla="*/ 20 h 90"/>
                <a:gd name="T36" fmla="*/ 25 w 37"/>
                <a:gd name="T37" fmla="*/ 15 h 90"/>
                <a:gd name="T38" fmla="*/ 26 w 37"/>
                <a:gd name="T39" fmla="*/ 12 h 90"/>
                <a:gd name="T40" fmla="*/ 27 w 37"/>
                <a:gd name="T41" fmla="*/ 9 h 90"/>
                <a:gd name="T42" fmla="*/ 28 w 37"/>
                <a:gd name="T43" fmla="*/ 6 h 90"/>
                <a:gd name="T44" fmla="*/ 30 w 37"/>
                <a:gd name="T45" fmla="*/ 5 h 90"/>
                <a:gd name="T46" fmla="*/ 31 w 37"/>
                <a:gd name="T47" fmla="*/ 3 h 90"/>
                <a:gd name="T48" fmla="*/ 32 w 37"/>
                <a:gd name="T49" fmla="*/ 2 h 90"/>
                <a:gd name="T50" fmla="*/ 35 w 37"/>
                <a:gd name="T51" fmla="*/ 0 h 90"/>
                <a:gd name="T52" fmla="*/ 37 w 37"/>
                <a:gd name="T5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90">
                  <a:moveTo>
                    <a:pt x="0" y="0"/>
                  </a:moveTo>
                  <a:lnTo>
                    <a:pt x="1" y="0"/>
                  </a:lnTo>
                  <a:lnTo>
                    <a:pt x="4" y="2"/>
                  </a:lnTo>
                  <a:lnTo>
                    <a:pt x="5" y="3"/>
                  </a:lnTo>
                  <a:lnTo>
                    <a:pt x="6" y="5"/>
                  </a:lnTo>
                  <a:lnTo>
                    <a:pt x="8" y="6"/>
                  </a:lnTo>
                  <a:lnTo>
                    <a:pt x="9" y="9"/>
                  </a:lnTo>
                  <a:lnTo>
                    <a:pt x="10" y="12"/>
                  </a:lnTo>
                  <a:lnTo>
                    <a:pt x="11" y="15"/>
                  </a:lnTo>
                  <a:lnTo>
                    <a:pt x="13" y="20"/>
                  </a:lnTo>
                  <a:lnTo>
                    <a:pt x="14" y="24"/>
                  </a:lnTo>
                  <a:lnTo>
                    <a:pt x="16" y="35"/>
                  </a:lnTo>
                  <a:lnTo>
                    <a:pt x="19" y="45"/>
                  </a:lnTo>
                  <a:lnTo>
                    <a:pt x="19" y="90"/>
                  </a:lnTo>
                  <a:lnTo>
                    <a:pt x="19" y="45"/>
                  </a:lnTo>
                  <a:lnTo>
                    <a:pt x="20" y="35"/>
                  </a:lnTo>
                  <a:lnTo>
                    <a:pt x="22" y="24"/>
                  </a:lnTo>
                  <a:lnTo>
                    <a:pt x="24" y="20"/>
                  </a:lnTo>
                  <a:lnTo>
                    <a:pt x="25" y="15"/>
                  </a:lnTo>
                  <a:lnTo>
                    <a:pt x="26" y="12"/>
                  </a:lnTo>
                  <a:lnTo>
                    <a:pt x="27" y="9"/>
                  </a:lnTo>
                  <a:lnTo>
                    <a:pt x="28" y="6"/>
                  </a:lnTo>
                  <a:lnTo>
                    <a:pt x="30" y="5"/>
                  </a:lnTo>
                  <a:lnTo>
                    <a:pt x="31" y="3"/>
                  </a:lnTo>
                  <a:lnTo>
                    <a:pt x="32" y="2"/>
                  </a:lnTo>
                  <a:lnTo>
                    <a:pt x="35" y="0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58" name="Freeform 126"/>
            <p:cNvSpPr>
              <a:spLocks/>
            </p:cNvSpPr>
            <p:nvPr/>
          </p:nvSpPr>
          <p:spPr bwMode="auto">
            <a:xfrm>
              <a:off x="2875" y="2104"/>
              <a:ext cx="36" cy="44"/>
            </a:xfrm>
            <a:custGeom>
              <a:avLst/>
              <a:gdLst>
                <a:gd name="T0" fmla="*/ 0 w 36"/>
                <a:gd name="T1" fmla="*/ 89 h 89"/>
                <a:gd name="T2" fmla="*/ 1 w 36"/>
                <a:gd name="T3" fmla="*/ 88 h 89"/>
                <a:gd name="T4" fmla="*/ 3 w 36"/>
                <a:gd name="T5" fmla="*/ 87 h 89"/>
                <a:gd name="T6" fmla="*/ 4 w 36"/>
                <a:gd name="T7" fmla="*/ 85 h 89"/>
                <a:gd name="T8" fmla="*/ 6 w 36"/>
                <a:gd name="T9" fmla="*/ 84 h 89"/>
                <a:gd name="T10" fmla="*/ 7 w 36"/>
                <a:gd name="T11" fmla="*/ 82 h 89"/>
                <a:gd name="T12" fmla="*/ 8 w 36"/>
                <a:gd name="T13" fmla="*/ 81 h 89"/>
                <a:gd name="T14" fmla="*/ 9 w 36"/>
                <a:gd name="T15" fmla="*/ 76 h 89"/>
                <a:gd name="T16" fmla="*/ 11 w 36"/>
                <a:gd name="T17" fmla="*/ 73 h 89"/>
                <a:gd name="T18" fmla="*/ 12 w 36"/>
                <a:gd name="T19" fmla="*/ 69 h 89"/>
                <a:gd name="T20" fmla="*/ 13 w 36"/>
                <a:gd name="T21" fmla="*/ 64 h 89"/>
                <a:gd name="T22" fmla="*/ 16 w 36"/>
                <a:gd name="T23" fmla="*/ 54 h 89"/>
                <a:gd name="T24" fmla="*/ 18 w 36"/>
                <a:gd name="T25" fmla="*/ 45 h 89"/>
                <a:gd name="T26" fmla="*/ 18 w 36"/>
                <a:gd name="T27" fmla="*/ 0 h 89"/>
                <a:gd name="T28" fmla="*/ 18 w 36"/>
                <a:gd name="T29" fmla="*/ 45 h 89"/>
                <a:gd name="T30" fmla="*/ 19 w 36"/>
                <a:gd name="T31" fmla="*/ 54 h 89"/>
                <a:gd name="T32" fmla="*/ 22 w 36"/>
                <a:gd name="T33" fmla="*/ 64 h 89"/>
                <a:gd name="T34" fmla="*/ 23 w 36"/>
                <a:gd name="T35" fmla="*/ 69 h 89"/>
                <a:gd name="T36" fmla="*/ 24 w 36"/>
                <a:gd name="T37" fmla="*/ 73 h 89"/>
                <a:gd name="T38" fmla="*/ 25 w 36"/>
                <a:gd name="T39" fmla="*/ 76 h 89"/>
                <a:gd name="T40" fmla="*/ 27 w 36"/>
                <a:gd name="T41" fmla="*/ 81 h 89"/>
                <a:gd name="T42" fmla="*/ 28 w 36"/>
                <a:gd name="T43" fmla="*/ 82 h 89"/>
                <a:gd name="T44" fmla="*/ 29 w 36"/>
                <a:gd name="T45" fmla="*/ 84 h 89"/>
                <a:gd name="T46" fmla="*/ 30 w 36"/>
                <a:gd name="T47" fmla="*/ 85 h 89"/>
                <a:gd name="T48" fmla="*/ 31 w 36"/>
                <a:gd name="T49" fmla="*/ 87 h 89"/>
                <a:gd name="T50" fmla="*/ 34 w 36"/>
                <a:gd name="T51" fmla="*/ 88 h 89"/>
                <a:gd name="T52" fmla="*/ 36 w 36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6" h="89">
                  <a:moveTo>
                    <a:pt x="0" y="89"/>
                  </a:moveTo>
                  <a:lnTo>
                    <a:pt x="1" y="88"/>
                  </a:lnTo>
                  <a:lnTo>
                    <a:pt x="3" y="87"/>
                  </a:lnTo>
                  <a:lnTo>
                    <a:pt x="4" y="85"/>
                  </a:lnTo>
                  <a:lnTo>
                    <a:pt x="6" y="84"/>
                  </a:lnTo>
                  <a:lnTo>
                    <a:pt x="7" y="82"/>
                  </a:lnTo>
                  <a:lnTo>
                    <a:pt x="8" y="81"/>
                  </a:lnTo>
                  <a:lnTo>
                    <a:pt x="9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19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5" y="76"/>
                  </a:lnTo>
                  <a:lnTo>
                    <a:pt x="27" y="81"/>
                  </a:lnTo>
                  <a:lnTo>
                    <a:pt x="28" y="82"/>
                  </a:lnTo>
                  <a:lnTo>
                    <a:pt x="29" y="84"/>
                  </a:lnTo>
                  <a:lnTo>
                    <a:pt x="30" y="85"/>
                  </a:lnTo>
                  <a:lnTo>
                    <a:pt x="31" y="87"/>
                  </a:lnTo>
                  <a:lnTo>
                    <a:pt x="34" y="88"/>
                  </a:lnTo>
                  <a:lnTo>
                    <a:pt x="36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59" name="Freeform 127"/>
            <p:cNvSpPr>
              <a:spLocks/>
            </p:cNvSpPr>
            <p:nvPr/>
          </p:nvSpPr>
          <p:spPr bwMode="auto">
            <a:xfrm>
              <a:off x="2838" y="2148"/>
              <a:ext cx="37" cy="45"/>
            </a:xfrm>
            <a:custGeom>
              <a:avLst/>
              <a:gdLst>
                <a:gd name="T0" fmla="*/ 0 w 37"/>
                <a:gd name="T1" fmla="*/ 0 h 90"/>
                <a:gd name="T2" fmla="*/ 1 w 37"/>
                <a:gd name="T3" fmla="*/ 0 h 90"/>
                <a:gd name="T4" fmla="*/ 3 w 37"/>
                <a:gd name="T5" fmla="*/ 2 h 90"/>
                <a:gd name="T6" fmla="*/ 5 w 37"/>
                <a:gd name="T7" fmla="*/ 3 h 90"/>
                <a:gd name="T8" fmla="*/ 6 w 37"/>
                <a:gd name="T9" fmla="*/ 5 h 90"/>
                <a:gd name="T10" fmla="*/ 7 w 37"/>
                <a:gd name="T11" fmla="*/ 6 h 90"/>
                <a:gd name="T12" fmla="*/ 8 w 37"/>
                <a:gd name="T13" fmla="*/ 9 h 90"/>
                <a:gd name="T14" fmla="*/ 10 w 37"/>
                <a:gd name="T15" fmla="*/ 12 h 90"/>
                <a:gd name="T16" fmla="*/ 11 w 37"/>
                <a:gd name="T17" fmla="*/ 15 h 90"/>
                <a:gd name="T18" fmla="*/ 12 w 37"/>
                <a:gd name="T19" fmla="*/ 20 h 90"/>
                <a:gd name="T20" fmla="*/ 13 w 37"/>
                <a:gd name="T21" fmla="*/ 24 h 90"/>
                <a:gd name="T22" fmla="*/ 16 w 37"/>
                <a:gd name="T23" fmla="*/ 35 h 90"/>
                <a:gd name="T24" fmla="*/ 18 w 37"/>
                <a:gd name="T25" fmla="*/ 45 h 90"/>
                <a:gd name="T26" fmla="*/ 18 w 37"/>
                <a:gd name="T27" fmla="*/ 90 h 90"/>
                <a:gd name="T28" fmla="*/ 18 w 37"/>
                <a:gd name="T29" fmla="*/ 45 h 90"/>
                <a:gd name="T30" fmla="*/ 19 w 37"/>
                <a:gd name="T31" fmla="*/ 35 h 90"/>
                <a:gd name="T32" fmla="*/ 22 w 37"/>
                <a:gd name="T33" fmla="*/ 24 h 90"/>
                <a:gd name="T34" fmla="*/ 23 w 37"/>
                <a:gd name="T35" fmla="*/ 20 h 90"/>
                <a:gd name="T36" fmla="*/ 24 w 37"/>
                <a:gd name="T37" fmla="*/ 15 h 90"/>
                <a:gd name="T38" fmla="*/ 26 w 37"/>
                <a:gd name="T39" fmla="*/ 12 h 90"/>
                <a:gd name="T40" fmla="*/ 27 w 37"/>
                <a:gd name="T41" fmla="*/ 9 h 90"/>
                <a:gd name="T42" fmla="*/ 28 w 37"/>
                <a:gd name="T43" fmla="*/ 6 h 90"/>
                <a:gd name="T44" fmla="*/ 29 w 37"/>
                <a:gd name="T45" fmla="*/ 5 h 90"/>
                <a:gd name="T46" fmla="*/ 30 w 37"/>
                <a:gd name="T47" fmla="*/ 3 h 90"/>
                <a:gd name="T48" fmla="*/ 32 w 37"/>
                <a:gd name="T49" fmla="*/ 2 h 90"/>
                <a:gd name="T50" fmla="*/ 34 w 37"/>
                <a:gd name="T51" fmla="*/ 0 h 90"/>
                <a:gd name="T52" fmla="*/ 37 w 37"/>
                <a:gd name="T5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90">
                  <a:moveTo>
                    <a:pt x="0" y="0"/>
                  </a:moveTo>
                  <a:lnTo>
                    <a:pt x="1" y="0"/>
                  </a:lnTo>
                  <a:lnTo>
                    <a:pt x="3" y="2"/>
                  </a:lnTo>
                  <a:lnTo>
                    <a:pt x="5" y="3"/>
                  </a:lnTo>
                  <a:lnTo>
                    <a:pt x="6" y="5"/>
                  </a:lnTo>
                  <a:lnTo>
                    <a:pt x="7" y="6"/>
                  </a:lnTo>
                  <a:lnTo>
                    <a:pt x="8" y="9"/>
                  </a:lnTo>
                  <a:lnTo>
                    <a:pt x="10" y="12"/>
                  </a:lnTo>
                  <a:lnTo>
                    <a:pt x="11" y="15"/>
                  </a:lnTo>
                  <a:lnTo>
                    <a:pt x="12" y="20"/>
                  </a:lnTo>
                  <a:lnTo>
                    <a:pt x="13" y="24"/>
                  </a:lnTo>
                  <a:lnTo>
                    <a:pt x="16" y="35"/>
                  </a:lnTo>
                  <a:lnTo>
                    <a:pt x="18" y="45"/>
                  </a:lnTo>
                  <a:lnTo>
                    <a:pt x="18" y="90"/>
                  </a:lnTo>
                  <a:lnTo>
                    <a:pt x="18" y="45"/>
                  </a:lnTo>
                  <a:lnTo>
                    <a:pt x="19" y="35"/>
                  </a:lnTo>
                  <a:lnTo>
                    <a:pt x="22" y="24"/>
                  </a:lnTo>
                  <a:lnTo>
                    <a:pt x="23" y="20"/>
                  </a:lnTo>
                  <a:lnTo>
                    <a:pt x="24" y="15"/>
                  </a:lnTo>
                  <a:lnTo>
                    <a:pt x="26" y="12"/>
                  </a:lnTo>
                  <a:lnTo>
                    <a:pt x="27" y="9"/>
                  </a:lnTo>
                  <a:lnTo>
                    <a:pt x="28" y="6"/>
                  </a:lnTo>
                  <a:lnTo>
                    <a:pt x="29" y="5"/>
                  </a:lnTo>
                  <a:lnTo>
                    <a:pt x="30" y="3"/>
                  </a:lnTo>
                  <a:lnTo>
                    <a:pt x="32" y="2"/>
                  </a:lnTo>
                  <a:lnTo>
                    <a:pt x="34" y="0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60" name="Line 128"/>
            <p:cNvSpPr>
              <a:spLocks noChangeShapeType="1"/>
            </p:cNvSpPr>
            <p:nvPr/>
          </p:nvSpPr>
          <p:spPr bwMode="auto">
            <a:xfrm flipV="1">
              <a:off x="2746" y="1947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61" name="Line 129"/>
            <p:cNvSpPr>
              <a:spLocks noChangeShapeType="1"/>
            </p:cNvSpPr>
            <p:nvPr/>
          </p:nvSpPr>
          <p:spPr bwMode="auto">
            <a:xfrm flipV="1">
              <a:off x="2819" y="1947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62" name="Line 130"/>
            <p:cNvSpPr>
              <a:spLocks noChangeShapeType="1"/>
            </p:cNvSpPr>
            <p:nvPr/>
          </p:nvSpPr>
          <p:spPr bwMode="auto">
            <a:xfrm flipV="1">
              <a:off x="2893" y="1947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63" name="Line 131"/>
            <p:cNvSpPr>
              <a:spLocks noChangeShapeType="1"/>
            </p:cNvSpPr>
            <p:nvPr/>
          </p:nvSpPr>
          <p:spPr bwMode="auto">
            <a:xfrm flipV="1">
              <a:off x="2709" y="2193"/>
              <a:ext cx="1" cy="156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64" name="Line 132"/>
            <p:cNvSpPr>
              <a:spLocks noChangeShapeType="1"/>
            </p:cNvSpPr>
            <p:nvPr/>
          </p:nvSpPr>
          <p:spPr bwMode="auto">
            <a:xfrm flipV="1">
              <a:off x="2783" y="2193"/>
              <a:ext cx="1" cy="156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65" name="Line 133"/>
            <p:cNvSpPr>
              <a:spLocks noChangeShapeType="1"/>
            </p:cNvSpPr>
            <p:nvPr/>
          </p:nvSpPr>
          <p:spPr bwMode="auto">
            <a:xfrm flipV="1">
              <a:off x="2856" y="2193"/>
              <a:ext cx="1" cy="156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66" name="Freeform 134"/>
            <p:cNvSpPr>
              <a:spLocks/>
            </p:cNvSpPr>
            <p:nvPr/>
          </p:nvSpPr>
          <p:spPr bwMode="auto">
            <a:xfrm>
              <a:off x="2911" y="2148"/>
              <a:ext cx="19" cy="45"/>
            </a:xfrm>
            <a:custGeom>
              <a:avLst/>
              <a:gdLst>
                <a:gd name="T0" fmla="*/ 19 w 19"/>
                <a:gd name="T1" fmla="*/ 90 h 90"/>
                <a:gd name="T2" fmla="*/ 19 w 19"/>
                <a:gd name="T3" fmla="*/ 45 h 90"/>
                <a:gd name="T4" fmla="*/ 16 w 19"/>
                <a:gd name="T5" fmla="*/ 35 h 90"/>
                <a:gd name="T6" fmla="*/ 14 w 19"/>
                <a:gd name="T7" fmla="*/ 24 h 90"/>
                <a:gd name="T8" fmla="*/ 13 w 19"/>
                <a:gd name="T9" fmla="*/ 20 h 90"/>
                <a:gd name="T10" fmla="*/ 11 w 19"/>
                <a:gd name="T11" fmla="*/ 15 h 90"/>
                <a:gd name="T12" fmla="*/ 10 w 19"/>
                <a:gd name="T13" fmla="*/ 11 h 90"/>
                <a:gd name="T14" fmla="*/ 9 w 19"/>
                <a:gd name="T15" fmla="*/ 8 h 90"/>
                <a:gd name="T16" fmla="*/ 8 w 19"/>
                <a:gd name="T17" fmla="*/ 6 h 90"/>
                <a:gd name="T18" fmla="*/ 6 w 19"/>
                <a:gd name="T19" fmla="*/ 3 h 90"/>
                <a:gd name="T20" fmla="*/ 5 w 19"/>
                <a:gd name="T21" fmla="*/ 2 h 90"/>
                <a:gd name="T22" fmla="*/ 4 w 19"/>
                <a:gd name="T23" fmla="*/ 2 h 90"/>
                <a:gd name="T24" fmla="*/ 2 w 19"/>
                <a:gd name="T25" fmla="*/ 0 h 90"/>
                <a:gd name="T26" fmla="*/ 0 w 19"/>
                <a:gd name="T27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" h="90">
                  <a:moveTo>
                    <a:pt x="19" y="90"/>
                  </a:moveTo>
                  <a:lnTo>
                    <a:pt x="19" y="45"/>
                  </a:lnTo>
                  <a:lnTo>
                    <a:pt x="16" y="35"/>
                  </a:lnTo>
                  <a:lnTo>
                    <a:pt x="14" y="24"/>
                  </a:lnTo>
                  <a:lnTo>
                    <a:pt x="13" y="20"/>
                  </a:lnTo>
                  <a:lnTo>
                    <a:pt x="11" y="15"/>
                  </a:lnTo>
                  <a:lnTo>
                    <a:pt x="10" y="11"/>
                  </a:lnTo>
                  <a:lnTo>
                    <a:pt x="9" y="8"/>
                  </a:lnTo>
                  <a:lnTo>
                    <a:pt x="8" y="6"/>
                  </a:lnTo>
                  <a:lnTo>
                    <a:pt x="6" y="3"/>
                  </a:lnTo>
                  <a:lnTo>
                    <a:pt x="5" y="2"/>
                  </a:lnTo>
                  <a:lnTo>
                    <a:pt x="4" y="2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67" name="Freeform 135"/>
            <p:cNvSpPr>
              <a:spLocks/>
            </p:cNvSpPr>
            <p:nvPr/>
          </p:nvSpPr>
          <p:spPr bwMode="auto">
            <a:xfrm>
              <a:off x="2691" y="2148"/>
              <a:ext cx="18" cy="45"/>
            </a:xfrm>
            <a:custGeom>
              <a:avLst/>
              <a:gdLst>
                <a:gd name="T0" fmla="*/ 18 w 18"/>
                <a:gd name="T1" fmla="*/ 90 h 90"/>
                <a:gd name="T2" fmla="*/ 18 w 18"/>
                <a:gd name="T3" fmla="*/ 45 h 90"/>
                <a:gd name="T4" fmla="*/ 16 w 18"/>
                <a:gd name="T5" fmla="*/ 35 h 90"/>
                <a:gd name="T6" fmla="*/ 13 w 18"/>
                <a:gd name="T7" fmla="*/ 24 h 90"/>
                <a:gd name="T8" fmla="*/ 12 w 18"/>
                <a:gd name="T9" fmla="*/ 20 h 90"/>
                <a:gd name="T10" fmla="*/ 11 w 18"/>
                <a:gd name="T11" fmla="*/ 15 h 90"/>
                <a:gd name="T12" fmla="*/ 9 w 18"/>
                <a:gd name="T13" fmla="*/ 11 h 90"/>
                <a:gd name="T14" fmla="*/ 8 w 18"/>
                <a:gd name="T15" fmla="*/ 8 h 90"/>
                <a:gd name="T16" fmla="*/ 7 w 18"/>
                <a:gd name="T17" fmla="*/ 6 h 90"/>
                <a:gd name="T18" fmla="*/ 6 w 18"/>
                <a:gd name="T19" fmla="*/ 3 h 90"/>
                <a:gd name="T20" fmla="*/ 5 w 18"/>
                <a:gd name="T21" fmla="*/ 2 h 90"/>
                <a:gd name="T22" fmla="*/ 3 w 18"/>
                <a:gd name="T23" fmla="*/ 2 h 90"/>
                <a:gd name="T24" fmla="*/ 1 w 18"/>
                <a:gd name="T25" fmla="*/ 0 h 90"/>
                <a:gd name="T26" fmla="*/ 0 w 18"/>
                <a:gd name="T27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90">
                  <a:moveTo>
                    <a:pt x="18" y="90"/>
                  </a:moveTo>
                  <a:lnTo>
                    <a:pt x="18" y="45"/>
                  </a:lnTo>
                  <a:lnTo>
                    <a:pt x="16" y="35"/>
                  </a:lnTo>
                  <a:lnTo>
                    <a:pt x="13" y="24"/>
                  </a:lnTo>
                  <a:lnTo>
                    <a:pt x="12" y="20"/>
                  </a:lnTo>
                  <a:lnTo>
                    <a:pt x="11" y="15"/>
                  </a:lnTo>
                  <a:lnTo>
                    <a:pt x="9" y="11"/>
                  </a:lnTo>
                  <a:lnTo>
                    <a:pt x="8" y="8"/>
                  </a:lnTo>
                  <a:lnTo>
                    <a:pt x="7" y="6"/>
                  </a:lnTo>
                  <a:lnTo>
                    <a:pt x="6" y="3"/>
                  </a:lnTo>
                  <a:lnTo>
                    <a:pt x="5" y="2"/>
                  </a:lnTo>
                  <a:lnTo>
                    <a:pt x="3" y="2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68" name="Freeform 136"/>
            <p:cNvSpPr>
              <a:spLocks/>
            </p:cNvSpPr>
            <p:nvPr/>
          </p:nvSpPr>
          <p:spPr bwMode="auto">
            <a:xfrm>
              <a:off x="4272" y="2104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7 h 89"/>
                <a:gd name="T6" fmla="*/ 5 w 37"/>
                <a:gd name="T7" fmla="*/ 85 h 89"/>
                <a:gd name="T8" fmla="*/ 6 w 37"/>
                <a:gd name="T9" fmla="*/ 84 h 89"/>
                <a:gd name="T10" fmla="*/ 8 w 37"/>
                <a:gd name="T11" fmla="*/ 82 h 89"/>
                <a:gd name="T12" fmla="*/ 9 w 37"/>
                <a:gd name="T13" fmla="*/ 81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9 w 37"/>
                <a:gd name="T25" fmla="*/ 45 h 89"/>
                <a:gd name="T26" fmla="*/ 19 w 37"/>
                <a:gd name="T27" fmla="*/ 0 h 89"/>
                <a:gd name="T28" fmla="*/ 19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4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1 h 89"/>
                <a:gd name="T42" fmla="*/ 28 w 37"/>
                <a:gd name="T43" fmla="*/ 82 h 89"/>
                <a:gd name="T44" fmla="*/ 30 w 37"/>
                <a:gd name="T45" fmla="*/ 84 h 89"/>
                <a:gd name="T46" fmla="*/ 31 w 37"/>
                <a:gd name="T47" fmla="*/ 85 h 89"/>
                <a:gd name="T48" fmla="*/ 32 w 37"/>
                <a:gd name="T49" fmla="*/ 87 h 89"/>
                <a:gd name="T50" fmla="*/ 35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7"/>
                  </a:lnTo>
                  <a:lnTo>
                    <a:pt x="5" y="85"/>
                  </a:lnTo>
                  <a:lnTo>
                    <a:pt x="6" y="84"/>
                  </a:lnTo>
                  <a:lnTo>
                    <a:pt x="8" y="82"/>
                  </a:lnTo>
                  <a:lnTo>
                    <a:pt x="9" y="81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9" y="45"/>
                  </a:lnTo>
                  <a:lnTo>
                    <a:pt x="19" y="0"/>
                  </a:lnTo>
                  <a:lnTo>
                    <a:pt x="19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4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1"/>
                  </a:lnTo>
                  <a:lnTo>
                    <a:pt x="28" y="82"/>
                  </a:lnTo>
                  <a:lnTo>
                    <a:pt x="30" y="84"/>
                  </a:lnTo>
                  <a:lnTo>
                    <a:pt x="31" y="85"/>
                  </a:lnTo>
                  <a:lnTo>
                    <a:pt x="32" y="87"/>
                  </a:lnTo>
                  <a:lnTo>
                    <a:pt x="35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69" name="Freeform 137"/>
            <p:cNvSpPr>
              <a:spLocks/>
            </p:cNvSpPr>
            <p:nvPr/>
          </p:nvSpPr>
          <p:spPr bwMode="auto">
            <a:xfrm>
              <a:off x="4254" y="2148"/>
              <a:ext cx="18" cy="45"/>
            </a:xfrm>
            <a:custGeom>
              <a:avLst/>
              <a:gdLst>
                <a:gd name="T0" fmla="*/ 0 w 18"/>
                <a:gd name="T1" fmla="*/ 90 h 90"/>
                <a:gd name="T2" fmla="*/ 0 w 18"/>
                <a:gd name="T3" fmla="*/ 45 h 90"/>
                <a:gd name="T4" fmla="*/ 1 w 18"/>
                <a:gd name="T5" fmla="*/ 35 h 90"/>
                <a:gd name="T6" fmla="*/ 4 w 18"/>
                <a:gd name="T7" fmla="*/ 24 h 90"/>
                <a:gd name="T8" fmla="*/ 5 w 18"/>
                <a:gd name="T9" fmla="*/ 20 h 90"/>
                <a:gd name="T10" fmla="*/ 6 w 18"/>
                <a:gd name="T11" fmla="*/ 15 h 90"/>
                <a:gd name="T12" fmla="*/ 7 w 18"/>
                <a:gd name="T13" fmla="*/ 11 h 90"/>
                <a:gd name="T14" fmla="*/ 8 w 18"/>
                <a:gd name="T15" fmla="*/ 8 h 90"/>
                <a:gd name="T16" fmla="*/ 10 w 18"/>
                <a:gd name="T17" fmla="*/ 6 h 90"/>
                <a:gd name="T18" fmla="*/ 11 w 18"/>
                <a:gd name="T19" fmla="*/ 3 h 90"/>
                <a:gd name="T20" fmla="*/ 12 w 18"/>
                <a:gd name="T21" fmla="*/ 2 h 90"/>
                <a:gd name="T22" fmla="*/ 13 w 18"/>
                <a:gd name="T23" fmla="*/ 2 h 90"/>
                <a:gd name="T24" fmla="*/ 16 w 18"/>
                <a:gd name="T25" fmla="*/ 0 h 90"/>
                <a:gd name="T26" fmla="*/ 18 w 18"/>
                <a:gd name="T27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90">
                  <a:moveTo>
                    <a:pt x="0" y="90"/>
                  </a:moveTo>
                  <a:lnTo>
                    <a:pt x="0" y="45"/>
                  </a:lnTo>
                  <a:lnTo>
                    <a:pt x="1" y="35"/>
                  </a:lnTo>
                  <a:lnTo>
                    <a:pt x="4" y="24"/>
                  </a:lnTo>
                  <a:lnTo>
                    <a:pt x="5" y="20"/>
                  </a:lnTo>
                  <a:lnTo>
                    <a:pt x="6" y="15"/>
                  </a:lnTo>
                  <a:lnTo>
                    <a:pt x="7" y="11"/>
                  </a:lnTo>
                  <a:lnTo>
                    <a:pt x="8" y="8"/>
                  </a:lnTo>
                  <a:lnTo>
                    <a:pt x="10" y="6"/>
                  </a:lnTo>
                  <a:lnTo>
                    <a:pt x="11" y="3"/>
                  </a:lnTo>
                  <a:lnTo>
                    <a:pt x="12" y="2"/>
                  </a:lnTo>
                  <a:lnTo>
                    <a:pt x="13" y="2"/>
                  </a:lnTo>
                  <a:lnTo>
                    <a:pt x="16" y="0"/>
                  </a:lnTo>
                  <a:lnTo>
                    <a:pt x="18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70" name="Freeform 138"/>
            <p:cNvSpPr>
              <a:spLocks/>
            </p:cNvSpPr>
            <p:nvPr/>
          </p:nvSpPr>
          <p:spPr bwMode="auto">
            <a:xfrm>
              <a:off x="4346" y="2104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3 w 37"/>
                <a:gd name="T5" fmla="*/ 87 h 89"/>
                <a:gd name="T6" fmla="*/ 5 w 37"/>
                <a:gd name="T7" fmla="*/ 85 h 89"/>
                <a:gd name="T8" fmla="*/ 6 w 37"/>
                <a:gd name="T9" fmla="*/ 84 h 89"/>
                <a:gd name="T10" fmla="*/ 7 w 37"/>
                <a:gd name="T11" fmla="*/ 82 h 89"/>
                <a:gd name="T12" fmla="*/ 8 w 37"/>
                <a:gd name="T13" fmla="*/ 81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3 w 37"/>
                <a:gd name="T21" fmla="*/ 64 h 89"/>
                <a:gd name="T22" fmla="*/ 16 w 37"/>
                <a:gd name="T23" fmla="*/ 54 h 89"/>
                <a:gd name="T24" fmla="*/ 18 w 37"/>
                <a:gd name="T25" fmla="*/ 45 h 89"/>
                <a:gd name="T26" fmla="*/ 18 w 37"/>
                <a:gd name="T27" fmla="*/ 0 h 89"/>
                <a:gd name="T28" fmla="*/ 18 w 37"/>
                <a:gd name="T29" fmla="*/ 45 h 89"/>
                <a:gd name="T30" fmla="*/ 19 w 37"/>
                <a:gd name="T31" fmla="*/ 54 h 89"/>
                <a:gd name="T32" fmla="*/ 22 w 37"/>
                <a:gd name="T33" fmla="*/ 64 h 89"/>
                <a:gd name="T34" fmla="*/ 23 w 37"/>
                <a:gd name="T35" fmla="*/ 69 h 89"/>
                <a:gd name="T36" fmla="*/ 24 w 37"/>
                <a:gd name="T37" fmla="*/ 73 h 89"/>
                <a:gd name="T38" fmla="*/ 26 w 37"/>
                <a:gd name="T39" fmla="*/ 76 h 89"/>
                <a:gd name="T40" fmla="*/ 27 w 37"/>
                <a:gd name="T41" fmla="*/ 81 h 89"/>
                <a:gd name="T42" fmla="*/ 28 w 37"/>
                <a:gd name="T43" fmla="*/ 82 h 89"/>
                <a:gd name="T44" fmla="*/ 29 w 37"/>
                <a:gd name="T45" fmla="*/ 84 h 89"/>
                <a:gd name="T46" fmla="*/ 30 w 37"/>
                <a:gd name="T47" fmla="*/ 85 h 89"/>
                <a:gd name="T48" fmla="*/ 32 w 37"/>
                <a:gd name="T49" fmla="*/ 87 h 89"/>
                <a:gd name="T50" fmla="*/ 34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3" y="87"/>
                  </a:lnTo>
                  <a:lnTo>
                    <a:pt x="5" y="85"/>
                  </a:lnTo>
                  <a:lnTo>
                    <a:pt x="6" y="84"/>
                  </a:lnTo>
                  <a:lnTo>
                    <a:pt x="7" y="82"/>
                  </a:lnTo>
                  <a:lnTo>
                    <a:pt x="8" y="81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19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6" y="76"/>
                  </a:lnTo>
                  <a:lnTo>
                    <a:pt x="27" y="81"/>
                  </a:lnTo>
                  <a:lnTo>
                    <a:pt x="28" y="82"/>
                  </a:lnTo>
                  <a:lnTo>
                    <a:pt x="29" y="84"/>
                  </a:lnTo>
                  <a:lnTo>
                    <a:pt x="30" y="85"/>
                  </a:lnTo>
                  <a:lnTo>
                    <a:pt x="32" y="87"/>
                  </a:lnTo>
                  <a:lnTo>
                    <a:pt x="34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71" name="Freeform 139"/>
            <p:cNvSpPr>
              <a:spLocks/>
            </p:cNvSpPr>
            <p:nvPr/>
          </p:nvSpPr>
          <p:spPr bwMode="auto">
            <a:xfrm>
              <a:off x="4309" y="2148"/>
              <a:ext cx="37" cy="45"/>
            </a:xfrm>
            <a:custGeom>
              <a:avLst/>
              <a:gdLst>
                <a:gd name="T0" fmla="*/ 0 w 37"/>
                <a:gd name="T1" fmla="*/ 0 h 90"/>
                <a:gd name="T2" fmla="*/ 1 w 37"/>
                <a:gd name="T3" fmla="*/ 0 h 90"/>
                <a:gd name="T4" fmla="*/ 4 w 37"/>
                <a:gd name="T5" fmla="*/ 2 h 90"/>
                <a:gd name="T6" fmla="*/ 5 w 37"/>
                <a:gd name="T7" fmla="*/ 3 h 90"/>
                <a:gd name="T8" fmla="*/ 6 w 37"/>
                <a:gd name="T9" fmla="*/ 5 h 90"/>
                <a:gd name="T10" fmla="*/ 7 w 37"/>
                <a:gd name="T11" fmla="*/ 6 h 90"/>
                <a:gd name="T12" fmla="*/ 9 w 37"/>
                <a:gd name="T13" fmla="*/ 9 h 90"/>
                <a:gd name="T14" fmla="*/ 10 w 37"/>
                <a:gd name="T15" fmla="*/ 12 h 90"/>
                <a:gd name="T16" fmla="*/ 11 w 37"/>
                <a:gd name="T17" fmla="*/ 15 h 90"/>
                <a:gd name="T18" fmla="*/ 12 w 37"/>
                <a:gd name="T19" fmla="*/ 20 h 90"/>
                <a:gd name="T20" fmla="*/ 13 w 37"/>
                <a:gd name="T21" fmla="*/ 24 h 90"/>
                <a:gd name="T22" fmla="*/ 16 w 37"/>
                <a:gd name="T23" fmla="*/ 35 h 90"/>
                <a:gd name="T24" fmla="*/ 18 w 37"/>
                <a:gd name="T25" fmla="*/ 45 h 90"/>
                <a:gd name="T26" fmla="*/ 18 w 37"/>
                <a:gd name="T27" fmla="*/ 90 h 90"/>
                <a:gd name="T28" fmla="*/ 18 w 37"/>
                <a:gd name="T29" fmla="*/ 45 h 90"/>
                <a:gd name="T30" fmla="*/ 20 w 37"/>
                <a:gd name="T31" fmla="*/ 35 h 90"/>
                <a:gd name="T32" fmla="*/ 22 w 37"/>
                <a:gd name="T33" fmla="*/ 24 h 90"/>
                <a:gd name="T34" fmla="*/ 23 w 37"/>
                <a:gd name="T35" fmla="*/ 20 h 90"/>
                <a:gd name="T36" fmla="*/ 25 w 37"/>
                <a:gd name="T37" fmla="*/ 15 h 90"/>
                <a:gd name="T38" fmla="*/ 26 w 37"/>
                <a:gd name="T39" fmla="*/ 12 h 90"/>
                <a:gd name="T40" fmla="*/ 27 w 37"/>
                <a:gd name="T41" fmla="*/ 9 h 90"/>
                <a:gd name="T42" fmla="*/ 28 w 37"/>
                <a:gd name="T43" fmla="*/ 6 h 90"/>
                <a:gd name="T44" fmla="*/ 29 w 37"/>
                <a:gd name="T45" fmla="*/ 5 h 90"/>
                <a:gd name="T46" fmla="*/ 31 w 37"/>
                <a:gd name="T47" fmla="*/ 3 h 90"/>
                <a:gd name="T48" fmla="*/ 32 w 37"/>
                <a:gd name="T49" fmla="*/ 2 h 90"/>
                <a:gd name="T50" fmla="*/ 34 w 37"/>
                <a:gd name="T51" fmla="*/ 0 h 90"/>
                <a:gd name="T52" fmla="*/ 37 w 37"/>
                <a:gd name="T5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90">
                  <a:moveTo>
                    <a:pt x="0" y="0"/>
                  </a:moveTo>
                  <a:lnTo>
                    <a:pt x="1" y="0"/>
                  </a:lnTo>
                  <a:lnTo>
                    <a:pt x="4" y="2"/>
                  </a:lnTo>
                  <a:lnTo>
                    <a:pt x="5" y="3"/>
                  </a:lnTo>
                  <a:lnTo>
                    <a:pt x="6" y="5"/>
                  </a:lnTo>
                  <a:lnTo>
                    <a:pt x="7" y="6"/>
                  </a:lnTo>
                  <a:lnTo>
                    <a:pt x="9" y="9"/>
                  </a:lnTo>
                  <a:lnTo>
                    <a:pt x="10" y="12"/>
                  </a:lnTo>
                  <a:lnTo>
                    <a:pt x="11" y="15"/>
                  </a:lnTo>
                  <a:lnTo>
                    <a:pt x="12" y="20"/>
                  </a:lnTo>
                  <a:lnTo>
                    <a:pt x="13" y="24"/>
                  </a:lnTo>
                  <a:lnTo>
                    <a:pt x="16" y="35"/>
                  </a:lnTo>
                  <a:lnTo>
                    <a:pt x="18" y="45"/>
                  </a:lnTo>
                  <a:lnTo>
                    <a:pt x="18" y="90"/>
                  </a:lnTo>
                  <a:lnTo>
                    <a:pt x="18" y="45"/>
                  </a:lnTo>
                  <a:lnTo>
                    <a:pt x="20" y="35"/>
                  </a:lnTo>
                  <a:lnTo>
                    <a:pt x="22" y="24"/>
                  </a:lnTo>
                  <a:lnTo>
                    <a:pt x="23" y="20"/>
                  </a:lnTo>
                  <a:lnTo>
                    <a:pt x="25" y="15"/>
                  </a:lnTo>
                  <a:lnTo>
                    <a:pt x="26" y="12"/>
                  </a:lnTo>
                  <a:lnTo>
                    <a:pt x="27" y="9"/>
                  </a:lnTo>
                  <a:lnTo>
                    <a:pt x="28" y="6"/>
                  </a:lnTo>
                  <a:lnTo>
                    <a:pt x="29" y="5"/>
                  </a:lnTo>
                  <a:lnTo>
                    <a:pt x="31" y="3"/>
                  </a:lnTo>
                  <a:lnTo>
                    <a:pt x="32" y="2"/>
                  </a:lnTo>
                  <a:lnTo>
                    <a:pt x="34" y="0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72" name="Freeform 140"/>
            <p:cNvSpPr>
              <a:spLocks/>
            </p:cNvSpPr>
            <p:nvPr/>
          </p:nvSpPr>
          <p:spPr bwMode="auto">
            <a:xfrm>
              <a:off x="4419" y="2104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2 w 37"/>
                <a:gd name="T3" fmla="*/ 88 h 89"/>
                <a:gd name="T4" fmla="*/ 4 w 37"/>
                <a:gd name="T5" fmla="*/ 87 h 89"/>
                <a:gd name="T6" fmla="*/ 5 w 37"/>
                <a:gd name="T7" fmla="*/ 85 h 89"/>
                <a:gd name="T8" fmla="*/ 6 w 37"/>
                <a:gd name="T9" fmla="*/ 84 h 89"/>
                <a:gd name="T10" fmla="*/ 8 w 37"/>
                <a:gd name="T11" fmla="*/ 82 h 89"/>
                <a:gd name="T12" fmla="*/ 9 w 37"/>
                <a:gd name="T13" fmla="*/ 81 h 89"/>
                <a:gd name="T14" fmla="*/ 10 w 37"/>
                <a:gd name="T15" fmla="*/ 76 h 89"/>
                <a:gd name="T16" fmla="*/ 11 w 37"/>
                <a:gd name="T17" fmla="*/ 73 h 89"/>
                <a:gd name="T18" fmla="*/ 13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9 w 37"/>
                <a:gd name="T25" fmla="*/ 45 h 89"/>
                <a:gd name="T26" fmla="*/ 19 w 37"/>
                <a:gd name="T27" fmla="*/ 0 h 89"/>
                <a:gd name="T28" fmla="*/ 19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4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1 h 89"/>
                <a:gd name="T42" fmla="*/ 29 w 37"/>
                <a:gd name="T43" fmla="*/ 82 h 89"/>
                <a:gd name="T44" fmla="*/ 30 w 37"/>
                <a:gd name="T45" fmla="*/ 84 h 89"/>
                <a:gd name="T46" fmla="*/ 31 w 37"/>
                <a:gd name="T47" fmla="*/ 85 h 89"/>
                <a:gd name="T48" fmla="*/ 32 w 37"/>
                <a:gd name="T49" fmla="*/ 87 h 89"/>
                <a:gd name="T50" fmla="*/ 35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2" y="88"/>
                  </a:lnTo>
                  <a:lnTo>
                    <a:pt x="4" y="87"/>
                  </a:lnTo>
                  <a:lnTo>
                    <a:pt x="5" y="85"/>
                  </a:lnTo>
                  <a:lnTo>
                    <a:pt x="6" y="84"/>
                  </a:lnTo>
                  <a:lnTo>
                    <a:pt x="8" y="82"/>
                  </a:lnTo>
                  <a:lnTo>
                    <a:pt x="9" y="81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3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9" y="45"/>
                  </a:lnTo>
                  <a:lnTo>
                    <a:pt x="19" y="0"/>
                  </a:lnTo>
                  <a:lnTo>
                    <a:pt x="19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4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1"/>
                  </a:lnTo>
                  <a:lnTo>
                    <a:pt x="29" y="82"/>
                  </a:lnTo>
                  <a:lnTo>
                    <a:pt x="30" y="84"/>
                  </a:lnTo>
                  <a:lnTo>
                    <a:pt x="31" y="85"/>
                  </a:lnTo>
                  <a:lnTo>
                    <a:pt x="32" y="87"/>
                  </a:lnTo>
                  <a:lnTo>
                    <a:pt x="35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73" name="Freeform 141"/>
            <p:cNvSpPr>
              <a:spLocks/>
            </p:cNvSpPr>
            <p:nvPr/>
          </p:nvSpPr>
          <p:spPr bwMode="auto">
            <a:xfrm>
              <a:off x="4383" y="2148"/>
              <a:ext cx="36" cy="45"/>
            </a:xfrm>
            <a:custGeom>
              <a:avLst/>
              <a:gdLst>
                <a:gd name="T0" fmla="*/ 0 w 36"/>
                <a:gd name="T1" fmla="*/ 0 h 90"/>
                <a:gd name="T2" fmla="*/ 1 w 36"/>
                <a:gd name="T3" fmla="*/ 0 h 90"/>
                <a:gd name="T4" fmla="*/ 3 w 36"/>
                <a:gd name="T5" fmla="*/ 2 h 90"/>
                <a:gd name="T6" fmla="*/ 4 w 36"/>
                <a:gd name="T7" fmla="*/ 3 h 90"/>
                <a:gd name="T8" fmla="*/ 6 w 36"/>
                <a:gd name="T9" fmla="*/ 5 h 90"/>
                <a:gd name="T10" fmla="*/ 7 w 36"/>
                <a:gd name="T11" fmla="*/ 6 h 90"/>
                <a:gd name="T12" fmla="*/ 8 w 36"/>
                <a:gd name="T13" fmla="*/ 9 h 90"/>
                <a:gd name="T14" fmla="*/ 9 w 36"/>
                <a:gd name="T15" fmla="*/ 12 h 90"/>
                <a:gd name="T16" fmla="*/ 11 w 36"/>
                <a:gd name="T17" fmla="*/ 15 h 90"/>
                <a:gd name="T18" fmla="*/ 12 w 36"/>
                <a:gd name="T19" fmla="*/ 20 h 90"/>
                <a:gd name="T20" fmla="*/ 13 w 36"/>
                <a:gd name="T21" fmla="*/ 24 h 90"/>
                <a:gd name="T22" fmla="*/ 15 w 36"/>
                <a:gd name="T23" fmla="*/ 35 h 90"/>
                <a:gd name="T24" fmla="*/ 18 w 36"/>
                <a:gd name="T25" fmla="*/ 45 h 90"/>
                <a:gd name="T26" fmla="*/ 18 w 36"/>
                <a:gd name="T27" fmla="*/ 90 h 90"/>
                <a:gd name="T28" fmla="*/ 18 w 36"/>
                <a:gd name="T29" fmla="*/ 45 h 90"/>
                <a:gd name="T30" fmla="*/ 19 w 36"/>
                <a:gd name="T31" fmla="*/ 35 h 90"/>
                <a:gd name="T32" fmla="*/ 22 w 36"/>
                <a:gd name="T33" fmla="*/ 24 h 90"/>
                <a:gd name="T34" fmla="*/ 23 w 36"/>
                <a:gd name="T35" fmla="*/ 20 h 90"/>
                <a:gd name="T36" fmla="*/ 24 w 36"/>
                <a:gd name="T37" fmla="*/ 15 h 90"/>
                <a:gd name="T38" fmla="*/ 25 w 36"/>
                <a:gd name="T39" fmla="*/ 12 h 90"/>
                <a:gd name="T40" fmla="*/ 27 w 36"/>
                <a:gd name="T41" fmla="*/ 9 h 90"/>
                <a:gd name="T42" fmla="*/ 28 w 36"/>
                <a:gd name="T43" fmla="*/ 6 h 90"/>
                <a:gd name="T44" fmla="*/ 29 w 36"/>
                <a:gd name="T45" fmla="*/ 5 h 90"/>
                <a:gd name="T46" fmla="*/ 30 w 36"/>
                <a:gd name="T47" fmla="*/ 3 h 90"/>
                <a:gd name="T48" fmla="*/ 31 w 36"/>
                <a:gd name="T49" fmla="*/ 2 h 90"/>
                <a:gd name="T50" fmla="*/ 34 w 36"/>
                <a:gd name="T51" fmla="*/ 0 h 90"/>
                <a:gd name="T52" fmla="*/ 36 w 36"/>
                <a:gd name="T5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6" h="90">
                  <a:moveTo>
                    <a:pt x="0" y="0"/>
                  </a:moveTo>
                  <a:lnTo>
                    <a:pt x="1" y="0"/>
                  </a:lnTo>
                  <a:lnTo>
                    <a:pt x="3" y="2"/>
                  </a:lnTo>
                  <a:lnTo>
                    <a:pt x="4" y="3"/>
                  </a:lnTo>
                  <a:lnTo>
                    <a:pt x="6" y="5"/>
                  </a:lnTo>
                  <a:lnTo>
                    <a:pt x="7" y="6"/>
                  </a:lnTo>
                  <a:lnTo>
                    <a:pt x="8" y="9"/>
                  </a:lnTo>
                  <a:lnTo>
                    <a:pt x="9" y="12"/>
                  </a:lnTo>
                  <a:lnTo>
                    <a:pt x="11" y="15"/>
                  </a:lnTo>
                  <a:lnTo>
                    <a:pt x="12" y="20"/>
                  </a:lnTo>
                  <a:lnTo>
                    <a:pt x="13" y="24"/>
                  </a:lnTo>
                  <a:lnTo>
                    <a:pt x="15" y="35"/>
                  </a:lnTo>
                  <a:lnTo>
                    <a:pt x="18" y="45"/>
                  </a:lnTo>
                  <a:lnTo>
                    <a:pt x="18" y="90"/>
                  </a:lnTo>
                  <a:lnTo>
                    <a:pt x="18" y="45"/>
                  </a:lnTo>
                  <a:lnTo>
                    <a:pt x="19" y="35"/>
                  </a:lnTo>
                  <a:lnTo>
                    <a:pt x="22" y="24"/>
                  </a:lnTo>
                  <a:lnTo>
                    <a:pt x="23" y="20"/>
                  </a:lnTo>
                  <a:lnTo>
                    <a:pt x="24" y="15"/>
                  </a:lnTo>
                  <a:lnTo>
                    <a:pt x="25" y="12"/>
                  </a:lnTo>
                  <a:lnTo>
                    <a:pt x="27" y="9"/>
                  </a:lnTo>
                  <a:lnTo>
                    <a:pt x="28" y="6"/>
                  </a:lnTo>
                  <a:lnTo>
                    <a:pt x="29" y="5"/>
                  </a:lnTo>
                  <a:lnTo>
                    <a:pt x="30" y="3"/>
                  </a:lnTo>
                  <a:lnTo>
                    <a:pt x="31" y="2"/>
                  </a:lnTo>
                  <a:lnTo>
                    <a:pt x="34" y="0"/>
                  </a:lnTo>
                  <a:lnTo>
                    <a:pt x="36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74" name="Freeform 142"/>
            <p:cNvSpPr>
              <a:spLocks/>
            </p:cNvSpPr>
            <p:nvPr/>
          </p:nvSpPr>
          <p:spPr bwMode="auto">
            <a:xfrm>
              <a:off x="4493" y="2104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7 h 89"/>
                <a:gd name="T6" fmla="*/ 5 w 37"/>
                <a:gd name="T7" fmla="*/ 85 h 89"/>
                <a:gd name="T8" fmla="*/ 6 w 37"/>
                <a:gd name="T9" fmla="*/ 84 h 89"/>
                <a:gd name="T10" fmla="*/ 7 w 37"/>
                <a:gd name="T11" fmla="*/ 82 h 89"/>
                <a:gd name="T12" fmla="*/ 8 w 37"/>
                <a:gd name="T13" fmla="*/ 81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3 w 37"/>
                <a:gd name="T21" fmla="*/ 64 h 89"/>
                <a:gd name="T22" fmla="*/ 16 w 37"/>
                <a:gd name="T23" fmla="*/ 54 h 89"/>
                <a:gd name="T24" fmla="*/ 18 w 37"/>
                <a:gd name="T25" fmla="*/ 45 h 89"/>
                <a:gd name="T26" fmla="*/ 18 w 37"/>
                <a:gd name="T27" fmla="*/ 0 h 89"/>
                <a:gd name="T28" fmla="*/ 18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3 w 37"/>
                <a:gd name="T35" fmla="*/ 69 h 89"/>
                <a:gd name="T36" fmla="*/ 24 w 37"/>
                <a:gd name="T37" fmla="*/ 73 h 89"/>
                <a:gd name="T38" fmla="*/ 26 w 37"/>
                <a:gd name="T39" fmla="*/ 76 h 89"/>
                <a:gd name="T40" fmla="*/ 27 w 37"/>
                <a:gd name="T41" fmla="*/ 81 h 89"/>
                <a:gd name="T42" fmla="*/ 28 w 37"/>
                <a:gd name="T43" fmla="*/ 82 h 89"/>
                <a:gd name="T44" fmla="*/ 29 w 37"/>
                <a:gd name="T45" fmla="*/ 84 h 89"/>
                <a:gd name="T46" fmla="*/ 31 w 37"/>
                <a:gd name="T47" fmla="*/ 85 h 89"/>
                <a:gd name="T48" fmla="*/ 32 w 37"/>
                <a:gd name="T49" fmla="*/ 87 h 89"/>
                <a:gd name="T50" fmla="*/ 34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7"/>
                  </a:lnTo>
                  <a:lnTo>
                    <a:pt x="5" y="85"/>
                  </a:lnTo>
                  <a:lnTo>
                    <a:pt x="6" y="84"/>
                  </a:lnTo>
                  <a:lnTo>
                    <a:pt x="7" y="82"/>
                  </a:lnTo>
                  <a:lnTo>
                    <a:pt x="8" y="81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6" y="76"/>
                  </a:lnTo>
                  <a:lnTo>
                    <a:pt x="27" y="81"/>
                  </a:lnTo>
                  <a:lnTo>
                    <a:pt x="28" y="82"/>
                  </a:lnTo>
                  <a:lnTo>
                    <a:pt x="29" y="84"/>
                  </a:lnTo>
                  <a:lnTo>
                    <a:pt x="31" y="85"/>
                  </a:lnTo>
                  <a:lnTo>
                    <a:pt x="32" y="87"/>
                  </a:lnTo>
                  <a:lnTo>
                    <a:pt x="34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75" name="Freeform 143"/>
            <p:cNvSpPr>
              <a:spLocks/>
            </p:cNvSpPr>
            <p:nvPr/>
          </p:nvSpPr>
          <p:spPr bwMode="auto">
            <a:xfrm>
              <a:off x="4456" y="2148"/>
              <a:ext cx="37" cy="45"/>
            </a:xfrm>
            <a:custGeom>
              <a:avLst/>
              <a:gdLst>
                <a:gd name="T0" fmla="*/ 0 w 37"/>
                <a:gd name="T1" fmla="*/ 0 h 90"/>
                <a:gd name="T2" fmla="*/ 1 w 37"/>
                <a:gd name="T3" fmla="*/ 0 h 90"/>
                <a:gd name="T4" fmla="*/ 4 w 37"/>
                <a:gd name="T5" fmla="*/ 2 h 90"/>
                <a:gd name="T6" fmla="*/ 5 w 37"/>
                <a:gd name="T7" fmla="*/ 3 h 90"/>
                <a:gd name="T8" fmla="*/ 6 w 37"/>
                <a:gd name="T9" fmla="*/ 5 h 90"/>
                <a:gd name="T10" fmla="*/ 7 w 37"/>
                <a:gd name="T11" fmla="*/ 6 h 90"/>
                <a:gd name="T12" fmla="*/ 9 w 37"/>
                <a:gd name="T13" fmla="*/ 9 h 90"/>
                <a:gd name="T14" fmla="*/ 10 w 37"/>
                <a:gd name="T15" fmla="*/ 12 h 90"/>
                <a:gd name="T16" fmla="*/ 11 w 37"/>
                <a:gd name="T17" fmla="*/ 15 h 90"/>
                <a:gd name="T18" fmla="*/ 12 w 37"/>
                <a:gd name="T19" fmla="*/ 20 h 90"/>
                <a:gd name="T20" fmla="*/ 14 w 37"/>
                <a:gd name="T21" fmla="*/ 24 h 90"/>
                <a:gd name="T22" fmla="*/ 16 w 37"/>
                <a:gd name="T23" fmla="*/ 35 h 90"/>
                <a:gd name="T24" fmla="*/ 18 w 37"/>
                <a:gd name="T25" fmla="*/ 45 h 90"/>
                <a:gd name="T26" fmla="*/ 18 w 37"/>
                <a:gd name="T27" fmla="*/ 90 h 90"/>
                <a:gd name="T28" fmla="*/ 18 w 37"/>
                <a:gd name="T29" fmla="*/ 45 h 90"/>
                <a:gd name="T30" fmla="*/ 20 w 37"/>
                <a:gd name="T31" fmla="*/ 35 h 90"/>
                <a:gd name="T32" fmla="*/ 22 w 37"/>
                <a:gd name="T33" fmla="*/ 24 h 90"/>
                <a:gd name="T34" fmla="*/ 23 w 37"/>
                <a:gd name="T35" fmla="*/ 20 h 90"/>
                <a:gd name="T36" fmla="*/ 25 w 37"/>
                <a:gd name="T37" fmla="*/ 15 h 90"/>
                <a:gd name="T38" fmla="*/ 26 w 37"/>
                <a:gd name="T39" fmla="*/ 12 h 90"/>
                <a:gd name="T40" fmla="*/ 27 w 37"/>
                <a:gd name="T41" fmla="*/ 9 h 90"/>
                <a:gd name="T42" fmla="*/ 28 w 37"/>
                <a:gd name="T43" fmla="*/ 6 h 90"/>
                <a:gd name="T44" fmla="*/ 30 w 37"/>
                <a:gd name="T45" fmla="*/ 5 h 90"/>
                <a:gd name="T46" fmla="*/ 31 w 37"/>
                <a:gd name="T47" fmla="*/ 3 h 90"/>
                <a:gd name="T48" fmla="*/ 32 w 37"/>
                <a:gd name="T49" fmla="*/ 2 h 90"/>
                <a:gd name="T50" fmla="*/ 34 w 37"/>
                <a:gd name="T51" fmla="*/ 0 h 90"/>
                <a:gd name="T52" fmla="*/ 37 w 37"/>
                <a:gd name="T5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90">
                  <a:moveTo>
                    <a:pt x="0" y="0"/>
                  </a:moveTo>
                  <a:lnTo>
                    <a:pt x="1" y="0"/>
                  </a:lnTo>
                  <a:lnTo>
                    <a:pt x="4" y="2"/>
                  </a:lnTo>
                  <a:lnTo>
                    <a:pt x="5" y="3"/>
                  </a:lnTo>
                  <a:lnTo>
                    <a:pt x="6" y="5"/>
                  </a:lnTo>
                  <a:lnTo>
                    <a:pt x="7" y="6"/>
                  </a:lnTo>
                  <a:lnTo>
                    <a:pt x="9" y="9"/>
                  </a:lnTo>
                  <a:lnTo>
                    <a:pt x="10" y="12"/>
                  </a:lnTo>
                  <a:lnTo>
                    <a:pt x="11" y="15"/>
                  </a:lnTo>
                  <a:lnTo>
                    <a:pt x="12" y="20"/>
                  </a:lnTo>
                  <a:lnTo>
                    <a:pt x="14" y="24"/>
                  </a:lnTo>
                  <a:lnTo>
                    <a:pt x="16" y="35"/>
                  </a:lnTo>
                  <a:lnTo>
                    <a:pt x="18" y="45"/>
                  </a:lnTo>
                  <a:lnTo>
                    <a:pt x="18" y="90"/>
                  </a:lnTo>
                  <a:lnTo>
                    <a:pt x="18" y="45"/>
                  </a:lnTo>
                  <a:lnTo>
                    <a:pt x="20" y="35"/>
                  </a:lnTo>
                  <a:lnTo>
                    <a:pt x="22" y="24"/>
                  </a:lnTo>
                  <a:lnTo>
                    <a:pt x="23" y="20"/>
                  </a:lnTo>
                  <a:lnTo>
                    <a:pt x="25" y="15"/>
                  </a:lnTo>
                  <a:lnTo>
                    <a:pt x="26" y="12"/>
                  </a:lnTo>
                  <a:lnTo>
                    <a:pt x="27" y="9"/>
                  </a:lnTo>
                  <a:lnTo>
                    <a:pt x="28" y="6"/>
                  </a:lnTo>
                  <a:lnTo>
                    <a:pt x="30" y="5"/>
                  </a:lnTo>
                  <a:lnTo>
                    <a:pt x="31" y="3"/>
                  </a:lnTo>
                  <a:lnTo>
                    <a:pt x="32" y="2"/>
                  </a:lnTo>
                  <a:lnTo>
                    <a:pt x="34" y="0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76" name="Freeform 144"/>
            <p:cNvSpPr>
              <a:spLocks/>
            </p:cNvSpPr>
            <p:nvPr/>
          </p:nvSpPr>
          <p:spPr bwMode="auto">
            <a:xfrm>
              <a:off x="4566" y="2104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2 w 37"/>
                <a:gd name="T3" fmla="*/ 88 h 89"/>
                <a:gd name="T4" fmla="*/ 4 w 37"/>
                <a:gd name="T5" fmla="*/ 87 h 89"/>
                <a:gd name="T6" fmla="*/ 5 w 37"/>
                <a:gd name="T7" fmla="*/ 85 h 89"/>
                <a:gd name="T8" fmla="*/ 7 w 37"/>
                <a:gd name="T9" fmla="*/ 84 h 89"/>
                <a:gd name="T10" fmla="*/ 8 w 37"/>
                <a:gd name="T11" fmla="*/ 82 h 89"/>
                <a:gd name="T12" fmla="*/ 9 w 37"/>
                <a:gd name="T13" fmla="*/ 81 h 89"/>
                <a:gd name="T14" fmla="*/ 10 w 37"/>
                <a:gd name="T15" fmla="*/ 76 h 89"/>
                <a:gd name="T16" fmla="*/ 11 w 37"/>
                <a:gd name="T17" fmla="*/ 73 h 89"/>
                <a:gd name="T18" fmla="*/ 13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9 w 37"/>
                <a:gd name="T25" fmla="*/ 45 h 89"/>
                <a:gd name="T26" fmla="*/ 19 w 37"/>
                <a:gd name="T27" fmla="*/ 0 h 89"/>
                <a:gd name="T28" fmla="*/ 19 w 37"/>
                <a:gd name="T29" fmla="*/ 45 h 89"/>
                <a:gd name="T30" fmla="*/ 20 w 37"/>
                <a:gd name="T31" fmla="*/ 54 h 89"/>
                <a:gd name="T32" fmla="*/ 23 w 37"/>
                <a:gd name="T33" fmla="*/ 64 h 89"/>
                <a:gd name="T34" fmla="*/ 24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1 h 89"/>
                <a:gd name="T42" fmla="*/ 29 w 37"/>
                <a:gd name="T43" fmla="*/ 82 h 89"/>
                <a:gd name="T44" fmla="*/ 30 w 37"/>
                <a:gd name="T45" fmla="*/ 84 h 89"/>
                <a:gd name="T46" fmla="*/ 31 w 37"/>
                <a:gd name="T47" fmla="*/ 85 h 89"/>
                <a:gd name="T48" fmla="*/ 32 w 37"/>
                <a:gd name="T49" fmla="*/ 87 h 89"/>
                <a:gd name="T50" fmla="*/ 35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2" y="88"/>
                  </a:lnTo>
                  <a:lnTo>
                    <a:pt x="4" y="87"/>
                  </a:lnTo>
                  <a:lnTo>
                    <a:pt x="5" y="85"/>
                  </a:lnTo>
                  <a:lnTo>
                    <a:pt x="7" y="84"/>
                  </a:lnTo>
                  <a:lnTo>
                    <a:pt x="8" y="82"/>
                  </a:lnTo>
                  <a:lnTo>
                    <a:pt x="9" y="81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3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9" y="45"/>
                  </a:lnTo>
                  <a:lnTo>
                    <a:pt x="19" y="0"/>
                  </a:lnTo>
                  <a:lnTo>
                    <a:pt x="19" y="45"/>
                  </a:lnTo>
                  <a:lnTo>
                    <a:pt x="20" y="54"/>
                  </a:lnTo>
                  <a:lnTo>
                    <a:pt x="23" y="64"/>
                  </a:lnTo>
                  <a:lnTo>
                    <a:pt x="24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1"/>
                  </a:lnTo>
                  <a:lnTo>
                    <a:pt x="29" y="82"/>
                  </a:lnTo>
                  <a:lnTo>
                    <a:pt x="30" y="84"/>
                  </a:lnTo>
                  <a:lnTo>
                    <a:pt x="31" y="85"/>
                  </a:lnTo>
                  <a:lnTo>
                    <a:pt x="32" y="87"/>
                  </a:lnTo>
                  <a:lnTo>
                    <a:pt x="35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77" name="Freeform 145"/>
            <p:cNvSpPr>
              <a:spLocks/>
            </p:cNvSpPr>
            <p:nvPr/>
          </p:nvSpPr>
          <p:spPr bwMode="auto">
            <a:xfrm>
              <a:off x="4530" y="2148"/>
              <a:ext cx="36" cy="45"/>
            </a:xfrm>
            <a:custGeom>
              <a:avLst/>
              <a:gdLst>
                <a:gd name="T0" fmla="*/ 0 w 36"/>
                <a:gd name="T1" fmla="*/ 0 h 90"/>
                <a:gd name="T2" fmla="*/ 1 w 36"/>
                <a:gd name="T3" fmla="*/ 0 h 90"/>
                <a:gd name="T4" fmla="*/ 3 w 36"/>
                <a:gd name="T5" fmla="*/ 2 h 90"/>
                <a:gd name="T6" fmla="*/ 5 w 36"/>
                <a:gd name="T7" fmla="*/ 3 h 90"/>
                <a:gd name="T8" fmla="*/ 6 w 36"/>
                <a:gd name="T9" fmla="*/ 5 h 90"/>
                <a:gd name="T10" fmla="*/ 7 w 36"/>
                <a:gd name="T11" fmla="*/ 6 h 90"/>
                <a:gd name="T12" fmla="*/ 8 w 36"/>
                <a:gd name="T13" fmla="*/ 9 h 90"/>
                <a:gd name="T14" fmla="*/ 9 w 36"/>
                <a:gd name="T15" fmla="*/ 12 h 90"/>
                <a:gd name="T16" fmla="*/ 11 w 36"/>
                <a:gd name="T17" fmla="*/ 15 h 90"/>
                <a:gd name="T18" fmla="*/ 12 w 36"/>
                <a:gd name="T19" fmla="*/ 20 h 90"/>
                <a:gd name="T20" fmla="*/ 13 w 36"/>
                <a:gd name="T21" fmla="*/ 24 h 90"/>
                <a:gd name="T22" fmla="*/ 16 w 36"/>
                <a:gd name="T23" fmla="*/ 35 h 90"/>
                <a:gd name="T24" fmla="*/ 18 w 36"/>
                <a:gd name="T25" fmla="*/ 45 h 90"/>
                <a:gd name="T26" fmla="*/ 18 w 36"/>
                <a:gd name="T27" fmla="*/ 90 h 90"/>
                <a:gd name="T28" fmla="*/ 18 w 36"/>
                <a:gd name="T29" fmla="*/ 45 h 90"/>
                <a:gd name="T30" fmla="*/ 19 w 36"/>
                <a:gd name="T31" fmla="*/ 35 h 90"/>
                <a:gd name="T32" fmla="*/ 22 w 36"/>
                <a:gd name="T33" fmla="*/ 24 h 90"/>
                <a:gd name="T34" fmla="*/ 23 w 36"/>
                <a:gd name="T35" fmla="*/ 20 h 90"/>
                <a:gd name="T36" fmla="*/ 24 w 36"/>
                <a:gd name="T37" fmla="*/ 15 h 90"/>
                <a:gd name="T38" fmla="*/ 25 w 36"/>
                <a:gd name="T39" fmla="*/ 12 h 90"/>
                <a:gd name="T40" fmla="*/ 27 w 36"/>
                <a:gd name="T41" fmla="*/ 9 h 90"/>
                <a:gd name="T42" fmla="*/ 28 w 36"/>
                <a:gd name="T43" fmla="*/ 6 h 90"/>
                <a:gd name="T44" fmla="*/ 29 w 36"/>
                <a:gd name="T45" fmla="*/ 5 h 90"/>
                <a:gd name="T46" fmla="*/ 30 w 36"/>
                <a:gd name="T47" fmla="*/ 3 h 90"/>
                <a:gd name="T48" fmla="*/ 32 w 36"/>
                <a:gd name="T49" fmla="*/ 2 h 90"/>
                <a:gd name="T50" fmla="*/ 34 w 36"/>
                <a:gd name="T51" fmla="*/ 0 h 90"/>
                <a:gd name="T52" fmla="*/ 36 w 36"/>
                <a:gd name="T5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6" h="90">
                  <a:moveTo>
                    <a:pt x="0" y="0"/>
                  </a:moveTo>
                  <a:lnTo>
                    <a:pt x="1" y="0"/>
                  </a:lnTo>
                  <a:lnTo>
                    <a:pt x="3" y="2"/>
                  </a:lnTo>
                  <a:lnTo>
                    <a:pt x="5" y="3"/>
                  </a:lnTo>
                  <a:lnTo>
                    <a:pt x="6" y="5"/>
                  </a:lnTo>
                  <a:lnTo>
                    <a:pt x="7" y="6"/>
                  </a:lnTo>
                  <a:lnTo>
                    <a:pt x="8" y="9"/>
                  </a:lnTo>
                  <a:lnTo>
                    <a:pt x="9" y="12"/>
                  </a:lnTo>
                  <a:lnTo>
                    <a:pt x="11" y="15"/>
                  </a:lnTo>
                  <a:lnTo>
                    <a:pt x="12" y="20"/>
                  </a:lnTo>
                  <a:lnTo>
                    <a:pt x="13" y="24"/>
                  </a:lnTo>
                  <a:lnTo>
                    <a:pt x="16" y="35"/>
                  </a:lnTo>
                  <a:lnTo>
                    <a:pt x="18" y="45"/>
                  </a:lnTo>
                  <a:lnTo>
                    <a:pt x="18" y="90"/>
                  </a:lnTo>
                  <a:lnTo>
                    <a:pt x="18" y="45"/>
                  </a:lnTo>
                  <a:lnTo>
                    <a:pt x="19" y="35"/>
                  </a:lnTo>
                  <a:lnTo>
                    <a:pt x="22" y="24"/>
                  </a:lnTo>
                  <a:lnTo>
                    <a:pt x="23" y="20"/>
                  </a:lnTo>
                  <a:lnTo>
                    <a:pt x="24" y="15"/>
                  </a:lnTo>
                  <a:lnTo>
                    <a:pt x="25" y="12"/>
                  </a:lnTo>
                  <a:lnTo>
                    <a:pt x="27" y="9"/>
                  </a:lnTo>
                  <a:lnTo>
                    <a:pt x="28" y="6"/>
                  </a:lnTo>
                  <a:lnTo>
                    <a:pt x="29" y="5"/>
                  </a:lnTo>
                  <a:lnTo>
                    <a:pt x="30" y="3"/>
                  </a:lnTo>
                  <a:lnTo>
                    <a:pt x="32" y="2"/>
                  </a:lnTo>
                  <a:lnTo>
                    <a:pt x="34" y="0"/>
                  </a:lnTo>
                  <a:lnTo>
                    <a:pt x="36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78" name="Freeform 146"/>
            <p:cNvSpPr>
              <a:spLocks/>
            </p:cNvSpPr>
            <p:nvPr/>
          </p:nvSpPr>
          <p:spPr bwMode="auto">
            <a:xfrm>
              <a:off x="4640" y="2104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7 h 89"/>
                <a:gd name="T6" fmla="*/ 5 w 37"/>
                <a:gd name="T7" fmla="*/ 85 h 89"/>
                <a:gd name="T8" fmla="*/ 6 w 37"/>
                <a:gd name="T9" fmla="*/ 84 h 89"/>
                <a:gd name="T10" fmla="*/ 7 w 37"/>
                <a:gd name="T11" fmla="*/ 82 h 89"/>
                <a:gd name="T12" fmla="*/ 9 w 37"/>
                <a:gd name="T13" fmla="*/ 81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3 w 37"/>
                <a:gd name="T21" fmla="*/ 64 h 89"/>
                <a:gd name="T22" fmla="*/ 16 w 37"/>
                <a:gd name="T23" fmla="*/ 54 h 89"/>
                <a:gd name="T24" fmla="*/ 18 w 37"/>
                <a:gd name="T25" fmla="*/ 45 h 89"/>
                <a:gd name="T26" fmla="*/ 18 w 37"/>
                <a:gd name="T27" fmla="*/ 0 h 89"/>
                <a:gd name="T28" fmla="*/ 18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3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1 h 89"/>
                <a:gd name="T42" fmla="*/ 28 w 37"/>
                <a:gd name="T43" fmla="*/ 82 h 89"/>
                <a:gd name="T44" fmla="*/ 29 w 37"/>
                <a:gd name="T45" fmla="*/ 84 h 89"/>
                <a:gd name="T46" fmla="*/ 31 w 37"/>
                <a:gd name="T47" fmla="*/ 85 h 89"/>
                <a:gd name="T48" fmla="*/ 32 w 37"/>
                <a:gd name="T49" fmla="*/ 87 h 89"/>
                <a:gd name="T50" fmla="*/ 34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7"/>
                  </a:lnTo>
                  <a:lnTo>
                    <a:pt x="5" y="85"/>
                  </a:lnTo>
                  <a:lnTo>
                    <a:pt x="6" y="84"/>
                  </a:lnTo>
                  <a:lnTo>
                    <a:pt x="7" y="82"/>
                  </a:lnTo>
                  <a:lnTo>
                    <a:pt x="9" y="81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1"/>
                  </a:lnTo>
                  <a:lnTo>
                    <a:pt x="28" y="82"/>
                  </a:lnTo>
                  <a:lnTo>
                    <a:pt x="29" y="84"/>
                  </a:lnTo>
                  <a:lnTo>
                    <a:pt x="31" y="85"/>
                  </a:lnTo>
                  <a:lnTo>
                    <a:pt x="32" y="87"/>
                  </a:lnTo>
                  <a:lnTo>
                    <a:pt x="34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79" name="Freeform 147"/>
            <p:cNvSpPr>
              <a:spLocks/>
            </p:cNvSpPr>
            <p:nvPr/>
          </p:nvSpPr>
          <p:spPr bwMode="auto">
            <a:xfrm>
              <a:off x="4603" y="2148"/>
              <a:ext cx="37" cy="45"/>
            </a:xfrm>
            <a:custGeom>
              <a:avLst/>
              <a:gdLst>
                <a:gd name="T0" fmla="*/ 0 w 37"/>
                <a:gd name="T1" fmla="*/ 0 h 90"/>
                <a:gd name="T2" fmla="*/ 1 w 37"/>
                <a:gd name="T3" fmla="*/ 0 h 90"/>
                <a:gd name="T4" fmla="*/ 4 w 37"/>
                <a:gd name="T5" fmla="*/ 2 h 90"/>
                <a:gd name="T6" fmla="*/ 5 w 37"/>
                <a:gd name="T7" fmla="*/ 3 h 90"/>
                <a:gd name="T8" fmla="*/ 6 w 37"/>
                <a:gd name="T9" fmla="*/ 5 h 90"/>
                <a:gd name="T10" fmla="*/ 8 w 37"/>
                <a:gd name="T11" fmla="*/ 6 h 90"/>
                <a:gd name="T12" fmla="*/ 9 w 37"/>
                <a:gd name="T13" fmla="*/ 9 h 90"/>
                <a:gd name="T14" fmla="*/ 10 w 37"/>
                <a:gd name="T15" fmla="*/ 12 h 90"/>
                <a:gd name="T16" fmla="*/ 11 w 37"/>
                <a:gd name="T17" fmla="*/ 15 h 90"/>
                <a:gd name="T18" fmla="*/ 12 w 37"/>
                <a:gd name="T19" fmla="*/ 20 h 90"/>
                <a:gd name="T20" fmla="*/ 14 w 37"/>
                <a:gd name="T21" fmla="*/ 24 h 90"/>
                <a:gd name="T22" fmla="*/ 16 w 37"/>
                <a:gd name="T23" fmla="*/ 35 h 90"/>
                <a:gd name="T24" fmla="*/ 19 w 37"/>
                <a:gd name="T25" fmla="*/ 45 h 90"/>
                <a:gd name="T26" fmla="*/ 19 w 37"/>
                <a:gd name="T27" fmla="*/ 90 h 90"/>
                <a:gd name="T28" fmla="*/ 19 w 37"/>
                <a:gd name="T29" fmla="*/ 45 h 90"/>
                <a:gd name="T30" fmla="*/ 20 w 37"/>
                <a:gd name="T31" fmla="*/ 35 h 90"/>
                <a:gd name="T32" fmla="*/ 22 w 37"/>
                <a:gd name="T33" fmla="*/ 24 h 90"/>
                <a:gd name="T34" fmla="*/ 24 w 37"/>
                <a:gd name="T35" fmla="*/ 20 h 90"/>
                <a:gd name="T36" fmla="*/ 25 w 37"/>
                <a:gd name="T37" fmla="*/ 15 h 90"/>
                <a:gd name="T38" fmla="*/ 26 w 37"/>
                <a:gd name="T39" fmla="*/ 12 h 90"/>
                <a:gd name="T40" fmla="*/ 27 w 37"/>
                <a:gd name="T41" fmla="*/ 9 h 90"/>
                <a:gd name="T42" fmla="*/ 28 w 37"/>
                <a:gd name="T43" fmla="*/ 6 h 90"/>
                <a:gd name="T44" fmla="*/ 30 w 37"/>
                <a:gd name="T45" fmla="*/ 5 h 90"/>
                <a:gd name="T46" fmla="*/ 31 w 37"/>
                <a:gd name="T47" fmla="*/ 3 h 90"/>
                <a:gd name="T48" fmla="*/ 32 w 37"/>
                <a:gd name="T49" fmla="*/ 2 h 90"/>
                <a:gd name="T50" fmla="*/ 35 w 37"/>
                <a:gd name="T51" fmla="*/ 0 h 90"/>
                <a:gd name="T52" fmla="*/ 37 w 37"/>
                <a:gd name="T5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90">
                  <a:moveTo>
                    <a:pt x="0" y="0"/>
                  </a:moveTo>
                  <a:lnTo>
                    <a:pt x="1" y="0"/>
                  </a:lnTo>
                  <a:lnTo>
                    <a:pt x="4" y="2"/>
                  </a:lnTo>
                  <a:lnTo>
                    <a:pt x="5" y="3"/>
                  </a:lnTo>
                  <a:lnTo>
                    <a:pt x="6" y="5"/>
                  </a:lnTo>
                  <a:lnTo>
                    <a:pt x="8" y="6"/>
                  </a:lnTo>
                  <a:lnTo>
                    <a:pt x="9" y="9"/>
                  </a:lnTo>
                  <a:lnTo>
                    <a:pt x="10" y="12"/>
                  </a:lnTo>
                  <a:lnTo>
                    <a:pt x="11" y="15"/>
                  </a:lnTo>
                  <a:lnTo>
                    <a:pt x="12" y="20"/>
                  </a:lnTo>
                  <a:lnTo>
                    <a:pt x="14" y="24"/>
                  </a:lnTo>
                  <a:lnTo>
                    <a:pt x="16" y="35"/>
                  </a:lnTo>
                  <a:lnTo>
                    <a:pt x="19" y="45"/>
                  </a:lnTo>
                  <a:lnTo>
                    <a:pt x="19" y="90"/>
                  </a:lnTo>
                  <a:lnTo>
                    <a:pt x="19" y="45"/>
                  </a:lnTo>
                  <a:lnTo>
                    <a:pt x="20" y="35"/>
                  </a:lnTo>
                  <a:lnTo>
                    <a:pt x="22" y="24"/>
                  </a:lnTo>
                  <a:lnTo>
                    <a:pt x="24" y="20"/>
                  </a:lnTo>
                  <a:lnTo>
                    <a:pt x="25" y="15"/>
                  </a:lnTo>
                  <a:lnTo>
                    <a:pt x="26" y="12"/>
                  </a:lnTo>
                  <a:lnTo>
                    <a:pt x="27" y="9"/>
                  </a:lnTo>
                  <a:lnTo>
                    <a:pt x="28" y="6"/>
                  </a:lnTo>
                  <a:lnTo>
                    <a:pt x="30" y="5"/>
                  </a:lnTo>
                  <a:lnTo>
                    <a:pt x="31" y="3"/>
                  </a:lnTo>
                  <a:lnTo>
                    <a:pt x="32" y="2"/>
                  </a:lnTo>
                  <a:lnTo>
                    <a:pt x="35" y="0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80" name="Freeform 148"/>
            <p:cNvSpPr>
              <a:spLocks/>
            </p:cNvSpPr>
            <p:nvPr/>
          </p:nvSpPr>
          <p:spPr bwMode="auto">
            <a:xfrm>
              <a:off x="4677" y="2148"/>
              <a:ext cx="18" cy="45"/>
            </a:xfrm>
            <a:custGeom>
              <a:avLst/>
              <a:gdLst>
                <a:gd name="T0" fmla="*/ 18 w 18"/>
                <a:gd name="T1" fmla="*/ 90 h 90"/>
                <a:gd name="T2" fmla="*/ 18 w 18"/>
                <a:gd name="T3" fmla="*/ 45 h 90"/>
                <a:gd name="T4" fmla="*/ 16 w 18"/>
                <a:gd name="T5" fmla="*/ 35 h 90"/>
                <a:gd name="T6" fmla="*/ 13 w 18"/>
                <a:gd name="T7" fmla="*/ 24 h 90"/>
                <a:gd name="T8" fmla="*/ 12 w 18"/>
                <a:gd name="T9" fmla="*/ 20 h 90"/>
                <a:gd name="T10" fmla="*/ 11 w 18"/>
                <a:gd name="T11" fmla="*/ 15 h 90"/>
                <a:gd name="T12" fmla="*/ 10 w 18"/>
                <a:gd name="T13" fmla="*/ 11 h 90"/>
                <a:gd name="T14" fmla="*/ 8 w 18"/>
                <a:gd name="T15" fmla="*/ 8 h 90"/>
                <a:gd name="T16" fmla="*/ 7 w 18"/>
                <a:gd name="T17" fmla="*/ 6 h 90"/>
                <a:gd name="T18" fmla="*/ 6 w 18"/>
                <a:gd name="T19" fmla="*/ 3 h 90"/>
                <a:gd name="T20" fmla="*/ 5 w 18"/>
                <a:gd name="T21" fmla="*/ 2 h 90"/>
                <a:gd name="T22" fmla="*/ 3 w 18"/>
                <a:gd name="T23" fmla="*/ 2 h 90"/>
                <a:gd name="T24" fmla="*/ 1 w 18"/>
                <a:gd name="T25" fmla="*/ 0 h 90"/>
                <a:gd name="T26" fmla="*/ 0 w 18"/>
                <a:gd name="T27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90">
                  <a:moveTo>
                    <a:pt x="18" y="90"/>
                  </a:moveTo>
                  <a:lnTo>
                    <a:pt x="18" y="45"/>
                  </a:lnTo>
                  <a:lnTo>
                    <a:pt x="16" y="35"/>
                  </a:lnTo>
                  <a:lnTo>
                    <a:pt x="13" y="24"/>
                  </a:lnTo>
                  <a:lnTo>
                    <a:pt x="12" y="20"/>
                  </a:lnTo>
                  <a:lnTo>
                    <a:pt x="11" y="15"/>
                  </a:lnTo>
                  <a:lnTo>
                    <a:pt x="10" y="11"/>
                  </a:lnTo>
                  <a:lnTo>
                    <a:pt x="8" y="8"/>
                  </a:lnTo>
                  <a:lnTo>
                    <a:pt x="7" y="6"/>
                  </a:lnTo>
                  <a:lnTo>
                    <a:pt x="6" y="3"/>
                  </a:lnTo>
                  <a:lnTo>
                    <a:pt x="5" y="2"/>
                  </a:lnTo>
                  <a:lnTo>
                    <a:pt x="3" y="2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81" name="Line 149"/>
            <p:cNvSpPr>
              <a:spLocks noChangeShapeType="1"/>
            </p:cNvSpPr>
            <p:nvPr/>
          </p:nvSpPr>
          <p:spPr bwMode="auto">
            <a:xfrm flipV="1">
              <a:off x="4291" y="1947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82" name="Line 150"/>
            <p:cNvSpPr>
              <a:spLocks noChangeShapeType="1"/>
            </p:cNvSpPr>
            <p:nvPr/>
          </p:nvSpPr>
          <p:spPr bwMode="auto">
            <a:xfrm flipV="1">
              <a:off x="4364" y="1947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83" name="Line 151"/>
            <p:cNvSpPr>
              <a:spLocks noChangeShapeType="1"/>
            </p:cNvSpPr>
            <p:nvPr/>
          </p:nvSpPr>
          <p:spPr bwMode="auto">
            <a:xfrm flipV="1">
              <a:off x="4438" y="1947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84" name="Line 152"/>
            <p:cNvSpPr>
              <a:spLocks noChangeShapeType="1"/>
            </p:cNvSpPr>
            <p:nvPr/>
          </p:nvSpPr>
          <p:spPr bwMode="auto">
            <a:xfrm flipV="1">
              <a:off x="4511" y="1947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85" name="Line 153"/>
            <p:cNvSpPr>
              <a:spLocks noChangeShapeType="1"/>
            </p:cNvSpPr>
            <p:nvPr/>
          </p:nvSpPr>
          <p:spPr bwMode="auto">
            <a:xfrm flipV="1">
              <a:off x="4585" y="1947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86" name="Line 154"/>
            <p:cNvSpPr>
              <a:spLocks noChangeShapeType="1"/>
            </p:cNvSpPr>
            <p:nvPr/>
          </p:nvSpPr>
          <p:spPr bwMode="auto">
            <a:xfrm flipV="1">
              <a:off x="4658" y="1947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87" name="Line 155"/>
            <p:cNvSpPr>
              <a:spLocks noChangeShapeType="1"/>
            </p:cNvSpPr>
            <p:nvPr/>
          </p:nvSpPr>
          <p:spPr bwMode="auto">
            <a:xfrm flipV="1">
              <a:off x="4254" y="2193"/>
              <a:ext cx="1" cy="156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88" name="Line 156"/>
            <p:cNvSpPr>
              <a:spLocks noChangeShapeType="1"/>
            </p:cNvSpPr>
            <p:nvPr/>
          </p:nvSpPr>
          <p:spPr bwMode="auto">
            <a:xfrm flipV="1">
              <a:off x="4327" y="2193"/>
              <a:ext cx="1" cy="156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89" name="Line 157"/>
            <p:cNvSpPr>
              <a:spLocks noChangeShapeType="1"/>
            </p:cNvSpPr>
            <p:nvPr/>
          </p:nvSpPr>
          <p:spPr bwMode="auto">
            <a:xfrm flipV="1">
              <a:off x="4401" y="2193"/>
              <a:ext cx="1" cy="156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90" name="Line 158"/>
            <p:cNvSpPr>
              <a:spLocks noChangeShapeType="1"/>
            </p:cNvSpPr>
            <p:nvPr/>
          </p:nvSpPr>
          <p:spPr bwMode="auto">
            <a:xfrm flipV="1">
              <a:off x="4474" y="2193"/>
              <a:ext cx="1" cy="156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91" name="Line 159"/>
            <p:cNvSpPr>
              <a:spLocks noChangeShapeType="1"/>
            </p:cNvSpPr>
            <p:nvPr/>
          </p:nvSpPr>
          <p:spPr bwMode="auto">
            <a:xfrm flipV="1">
              <a:off x="4548" y="2193"/>
              <a:ext cx="1" cy="156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92" name="Line 160"/>
            <p:cNvSpPr>
              <a:spLocks noChangeShapeType="1"/>
            </p:cNvSpPr>
            <p:nvPr/>
          </p:nvSpPr>
          <p:spPr bwMode="auto">
            <a:xfrm flipV="1">
              <a:off x="4622" y="2193"/>
              <a:ext cx="1" cy="156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93" name="Freeform 161"/>
            <p:cNvSpPr>
              <a:spLocks/>
            </p:cNvSpPr>
            <p:nvPr/>
          </p:nvSpPr>
          <p:spPr bwMode="auto">
            <a:xfrm>
              <a:off x="5155" y="2104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7 h 89"/>
                <a:gd name="T6" fmla="*/ 5 w 37"/>
                <a:gd name="T7" fmla="*/ 85 h 89"/>
                <a:gd name="T8" fmla="*/ 6 w 37"/>
                <a:gd name="T9" fmla="*/ 84 h 89"/>
                <a:gd name="T10" fmla="*/ 7 w 37"/>
                <a:gd name="T11" fmla="*/ 82 h 89"/>
                <a:gd name="T12" fmla="*/ 9 w 37"/>
                <a:gd name="T13" fmla="*/ 81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3 w 37"/>
                <a:gd name="T21" fmla="*/ 64 h 89"/>
                <a:gd name="T22" fmla="*/ 16 w 37"/>
                <a:gd name="T23" fmla="*/ 54 h 89"/>
                <a:gd name="T24" fmla="*/ 18 w 37"/>
                <a:gd name="T25" fmla="*/ 45 h 89"/>
                <a:gd name="T26" fmla="*/ 18 w 37"/>
                <a:gd name="T27" fmla="*/ 0 h 89"/>
                <a:gd name="T28" fmla="*/ 18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3 w 37"/>
                <a:gd name="T35" fmla="*/ 69 h 89"/>
                <a:gd name="T36" fmla="*/ 24 w 37"/>
                <a:gd name="T37" fmla="*/ 73 h 89"/>
                <a:gd name="T38" fmla="*/ 26 w 37"/>
                <a:gd name="T39" fmla="*/ 76 h 89"/>
                <a:gd name="T40" fmla="*/ 27 w 37"/>
                <a:gd name="T41" fmla="*/ 81 h 89"/>
                <a:gd name="T42" fmla="*/ 28 w 37"/>
                <a:gd name="T43" fmla="*/ 82 h 89"/>
                <a:gd name="T44" fmla="*/ 29 w 37"/>
                <a:gd name="T45" fmla="*/ 84 h 89"/>
                <a:gd name="T46" fmla="*/ 31 w 37"/>
                <a:gd name="T47" fmla="*/ 85 h 89"/>
                <a:gd name="T48" fmla="*/ 32 w 37"/>
                <a:gd name="T49" fmla="*/ 87 h 89"/>
                <a:gd name="T50" fmla="*/ 34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7"/>
                  </a:lnTo>
                  <a:lnTo>
                    <a:pt x="5" y="85"/>
                  </a:lnTo>
                  <a:lnTo>
                    <a:pt x="6" y="84"/>
                  </a:lnTo>
                  <a:lnTo>
                    <a:pt x="7" y="82"/>
                  </a:lnTo>
                  <a:lnTo>
                    <a:pt x="9" y="81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6" y="76"/>
                  </a:lnTo>
                  <a:lnTo>
                    <a:pt x="27" y="81"/>
                  </a:lnTo>
                  <a:lnTo>
                    <a:pt x="28" y="82"/>
                  </a:lnTo>
                  <a:lnTo>
                    <a:pt x="29" y="84"/>
                  </a:lnTo>
                  <a:lnTo>
                    <a:pt x="31" y="85"/>
                  </a:lnTo>
                  <a:lnTo>
                    <a:pt x="32" y="87"/>
                  </a:lnTo>
                  <a:lnTo>
                    <a:pt x="34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94" name="Freeform 162"/>
            <p:cNvSpPr>
              <a:spLocks/>
            </p:cNvSpPr>
            <p:nvPr/>
          </p:nvSpPr>
          <p:spPr bwMode="auto">
            <a:xfrm>
              <a:off x="5137" y="2148"/>
              <a:ext cx="18" cy="45"/>
            </a:xfrm>
            <a:custGeom>
              <a:avLst/>
              <a:gdLst>
                <a:gd name="T0" fmla="*/ 0 w 18"/>
                <a:gd name="T1" fmla="*/ 90 h 90"/>
                <a:gd name="T2" fmla="*/ 0 w 18"/>
                <a:gd name="T3" fmla="*/ 45 h 90"/>
                <a:gd name="T4" fmla="*/ 1 w 18"/>
                <a:gd name="T5" fmla="*/ 35 h 90"/>
                <a:gd name="T6" fmla="*/ 3 w 18"/>
                <a:gd name="T7" fmla="*/ 24 h 90"/>
                <a:gd name="T8" fmla="*/ 4 w 18"/>
                <a:gd name="T9" fmla="*/ 20 h 90"/>
                <a:gd name="T10" fmla="*/ 6 w 18"/>
                <a:gd name="T11" fmla="*/ 15 h 90"/>
                <a:gd name="T12" fmla="*/ 7 w 18"/>
                <a:gd name="T13" fmla="*/ 11 h 90"/>
                <a:gd name="T14" fmla="*/ 8 w 18"/>
                <a:gd name="T15" fmla="*/ 8 h 90"/>
                <a:gd name="T16" fmla="*/ 9 w 18"/>
                <a:gd name="T17" fmla="*/ 6 h 90"/>
                <a:gd name="T18" fmla="*/ 11 w 18"/>
                <a:gd name="T19" fmla="*/ 3 h 90"/>
                <a:gd name="T20" fmla="*/ 12 w 18"/>
                <a:gd name="T21" fmla="*/ 2 h 90"/>
                <a:gd name="T22" fmla="*/ 13 w 18"/>
                <a:gd name="T23" fmla="*/ 2 h 90"/>
                <a:gd name="T24" fmla="*/ 15 w 18"/>
                <a:gd name="T25" fmla="*/ 0 h 90"/>
                <a:gd name="T26" fmla="*/ 18 w 18"/>
                <a:gd name="T27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90">
                  <a:moveTo>
                    <a:pt x="0" y="90"/>
                  </a:moveTo>
                  <a:lnTo>
                    <a:pt x="0" y="45"/>
                  </a:lnTo>
                  <a:lnTo>
                    <a:pt x="1" y="35"/>
                  </a:lnTo>
                  <a:lnTo>
                    <a:pt x="3" y="24"/>
                  </a:lnTo>
                  <a:lnTo>
                    <a:pt x="4" y="20"/>
                  </a:lnTo>
                  <a:lnTo>
                    <a:pt x="6" y="15"/>
                  </a:lnTo>
                  <a:lnTo>
                    <a:pt x="7" y="11"/>
                  </a:lnTo>
                  <a:lnTo>
                    <a:pt x="8" y="8"/>
                  </a:lnTo>
                  <a:lnTo>
                    <a:pt x="9" y="6"/>
                  </a:lnTo>
                  <a:lnTo>
                    <a:pt x="11" y="3"/>
                  </a:lnTo>
                  <a:lnTo>
                    <a:pt x="12" y="2"/>
                  </a:lnTo>
                  <a:lnTo>
                    <a:pt x="13" y="2"/>
                  </a:lnTo>
                  <a:lnTo>
                    <a:pt x="15" y="0"/>
                  </a:lnTo>
                  <a:lnTo>
                    <a:pt x="18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95" name="Freeform 163"/>
            <p:cNvSpPr>
              <a:spLocks/>
            </p:cNvSpPr>
            <p:nvPr/>
          </p:nvSpPr>
          <p:spPr bwMode="auto">
            <a:xfrm>
              <a:off x="5228" y="2104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2 w 37"/>
                <a:gd name="T3" fmla="*/ 88 h 89"/>
                <a:gd name="T4" fmla="*/ 4 w 37"/>
                <a:gd name="T5" fmla="*/ 87 h 89"/>
                <a:gd name="T6" fmla="*/ 5 w 37"/>
                <a:gd name="T7" fmla="*/ 85 h 89"/>
                <a:gd name="T8" fmla="*/ 7 w 37"/>
                <a:gd name="T9" fmla="*/ 84 h 89"/>
                <a:gd name="T10" fmla="*/ 8 w 37"/>
                <a:gd name="T11" fmla="*/ 82 h 89"/>
                <a:gd name="T12" fmla="*/ 9 w 37"/>
                <a:gd name="T13" fmla="*/ 81 h 89"/>
                <a:gd name="T14" fmla="*/ 10 w 37"/>
                <a:gd name="T15" fmla="*/ 76 h 89"/>
                <a:gd name="T16" fmla="*/ 12 w 37"/>
                <a:gd name="T17" fmla="*/ 73 h 89"/>
                <a:gd name="T18" fmla="*/ 13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9 w 37"/>
                <a:gd name="T25" fmla="*/ 45 h 89"/>
                <a:gd name="T26" fmla="*/ 19 w 37"/>
                <a:gd name="T27" fmla="*/ 0 h 89"/>
                <a:gd name="T28" fmla="*/ 19 w 37"/>
                <a:gd name="T29" fmla="*/ 45 h 89"/>
                <a:gd name="T30" fmla="*/ 20 w 37"/>
                <a:gd name="T31" fmla="*/ 54 h 89"/>
                <a:gd name="T32" fmla="*/ 23 w 37"/>
                <a:gd name="T33" fmla="*/ 64 h 89"/>
                <a:gd name="T34" fmla="*/ 24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1 h 89"/>
                <a:gd name="T42" fmla="*/ 29 w 37"/>
                <a:gd name="T43" fmla="*/ 82 h 89"/>
                <a:gd name="T44" fmla="*/ 30 w 37"/>
                <a:gd name="T45" fmla="*/ 84 h 89"/>
                <a:gd name="T46" fmla="*/ 31 w 37"/>
                <a:gd name="T47" fmla="*/ 85 h 89"/>
                <a:gd name="T48" fmla="*/ 32 w 37"/>
                <a:gd name="T49" fmla="*/ 87 h 89"/>
                <a:gd name="T50" fmla="*/ 35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2" y="88"/>
                  </a:lnTo>
                  <a:lnTo>
                    <a:pt x="4" y="87"/>
                  </a:lnTo>
                  <a:lnTo>
                    <a:pt x="5" y="85"/>
                  </a:lnTo>
                  <a:lnTo>
                    <a:pt x="7" y="84"/>
                  </a:lnTo>
                  <a:lnTo>
                    <a:pt x="8" y="82"/>
                  </a:lnTo>
                  <a:lnTo>
                    <a:pt x="9" y="81"/>
                  </a:lnTo>
                  <a:lnTo>
                    <a:pt x="10" y="76"/>
                  </a:lnTo>
                  <a:lnTo>
                    <a:pt x="12" y="73"/>
                  </a:lnTo>
                  <a:lnTo>
                    <a:pt x="13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9" y="45"/>
                  </a:lnTo>
                  <a:lnTo>
                    <a:pt x="19" y="0"/>
                  </a:lnTo>
                  <a:lnTo>
                    <a:pt x="19" y="45"/>
                  </a:lnTo>
                  <a:lnTo>
                    <a:pt x="20" y="54"/>
                  </a:lnTo>
                  <a:lnTo>
                    <a:pt x="23" y="64"/>
                  </a:lnTo>
                  <a:lnTo>
                    <a:pt x="24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1"/>
                  </a:lnTo>
                  <a:lnTo>
                    <a:pt x="29" y="82"/>
                  </a:lnTo>
                  <a:lnTo>
                    <a:pt x="30" y="84"/>
                  </a:lnTo>
                  <a:lnTo>
                    <a:pt x="31" y="85"/>
                  </a:lnTo>
                  <a:lnTo>
                    <a:pt x="32" y="87"/>
                  </a:lnTo>
                  <a:lnTo>
                    <a:pt x="35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96" name="Freeform 164"/>
            <p:cNvSpPr>
              <a:spLocks/>
            </p:cNvSpPr>
            <p:nvPr/>
          </p:nvSpPr>
          <p:spPr bwMode="auto">
            <a:xfrm>
              <a:off x="5192" y="2148"/>
              <a:ext cx="36" cy="45"/>
            </a:xfrm>
            <a:custGeom>
              <a:avLst/>
              <a:gdLst>
                <a:gd name="T0" fmla="*/ 0 w 36"/>
                <a:gd name="T1" fmla="*/ 0 h 90"/>
                <a:gd name="T2" fmla="*/ 1 w 36"/>
                <a:gd name="T3" fmla="*/ 0 h 90"/>
                <a:gd name="T4" fmla="*/ 3 w 36"/>
                <a:gd name="T5" fmla="*/ 2 h 90"/>
                <a:gd name="T6" fmla="*/ 5 w 36"/>
                <a:gd name="T7" fmla="*/ 3 h 90"/>
                <a:gd name="T8" fmla="*/ 6 w 36"/>
                <a:gd name="T9" fmla="*/ 5 h 90"/>
                <a:gd name="T10" fmla="*/ 7 w 36"/>
                <a:gd name="T11" fmla="*/ 6 h 90"/>
                <a:gd name="T12" fmla="*/ 8 w 36"/>
                <a:gd name="T13" fmla="*/ 9 h 90"/>
                <a:gd name="T14" fmla="*/ 10 w 36"/>
                <a:gd name="T15" fmla="*/ 12 h 90"/>
                <a:gd name="T16" fmla="*/ 11 w 36"/>
                <a:gd name="T17" fmla="*/ 15 h 90"/>
                <a:gd name="T18" fmla="*/ 12 w 36"/>
                <a:gd name="T19" fmla="*/ 20 h 90"/>
                <a:gd name="T20" fmla="*/ 13 w 36"/>
                <a:gd name="T21" fmla="*/ 24 h 90"/>
                <a:gd name="T22" fmla="*/ 16 w 36"/>
                <a:gd name="T23" fmla="*/ 35 h 90"/>
                <a:gd name="T24" fmla="*/ 18 w 36"/>
                <a:gd name="T25" fmla="*/ 45 h 90"/>
                <a:gd name="T26" fmla="*/ 18 w 36"/>
                <a:gd name="T27" fmla="*/ 90 h 90"/>
                <a:gd name="T28" fmla="*/ 18 w 36"/>
                <a:gd name="T29" fmla="*/ 45 h 90"/>
                <a:gd name="T30" fmla="*/ 19 w 36"/>
                <a:gd name="T31" fmla="*/ 35 h 90"/>
                <a:gd name="T32" fmla="*/ 22 w 36"/>
                <a:gd name="T33" fmla="*/ 24 h 90"/>
                <a:gd name="T34" fmla="*/ 23 w 36"/>
                <a:gd name="T35" fmla="*/ 20 h 90"/>
                <a:gd name="T36" fmla="*/ 24 w 36"/>
                <a:gd name="T37" fmla="*/ 15 h 90"/>
                <a:gd name="T38" fmla="*/ 25 w 36"/>
                <a:gd name="T39" fmla="*/ 12 h 90"/>
                <a:gd name="T40" fmla="*/ 27 w 36"/>
                <a:gd name="T41" fmla="*/ 9 h 90"/>
                <a:gd name="T42" fmla="*/ 28 w 36"/>
                <a:gd name="T43" fmla="*/ 6 h 90"/>
                <a:gd name="T44" fmla="*/ 29 w 36"/>
                <a:gd name="T45" fmla="*/ 5 h 90"/>
                <a:gd name="T46" fmla="*/ 30 w 36"/>
                <a:gd name="T47" fmla="*/ 3 h 90"/>
                <a:gd name="T48" fmla="*/ 32 w 36"/>
                <a:gd name="T49" fmla="*/ 2 h 90"/>
                <a:gd name="T50" fmla="*/ 34 w 36"/>
                <a:gd name="T51" fmla="*/ 0 h 90"/>
                <a:gd name="T52" fmla="*/ 36 w 36"/>
                <a:gd name="T5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6" h="90">
                  <a:moveTo>
                    <a:pt x="0" y="0"/>
                  </a:moveTo>
                  <a:lnTo>
                    <a:pt x="1" y="0"/>
                  </a:lnTo>
                  <a:lnTo>
                    <a:pt x="3" y="2"/>
                  </a:lnTo>
                  <a:lnTo>
                    <a:pt x="5" y="3"/>
                  </a:lnTo>
                  <a:lnTo>
                    <a:pt x="6" y="5"/>
                  </a:lnTo>
                  <a:lnTo>
                    <a:pt x="7" y="6"/>
                  </a:lnTo>
                  <a:lnTo>
                    <a:pt x="8" y="9"/>
                  </a:lnTo>
                  <a:lnTo>
                    <a:pt x="10" y="12"/>
                  </a:lnTo>
                  <a:lnTo>
                    <a:pt x="11" y="15"/>
                  </a:lnTo>
                  <a:lnTo>
                    <a:pt x="12" y="20"/>
                  </a:lnTo>
                  <a:lnTo>
                    <a:pt x="13" y="24"/>
                  </a:lnTo>
                  <a:lnTo>
                    <a:pt x="16" y="35"/>
                  </a:lnTo>
                  <a:lnTo>
                    <a:pt x="18" y="45"/>
                  </a:lnTo>
                  <a:lnTo>
                    <a:pt x="18" y="90"/>
                  </a:lnTo>
                  <a:lnTo>
                    <a:pt x="18" y="45"/>
                  </a:lnTo>
                  <a:lnTo>
                    <a:pt x="19" y="35"/>
                  </a:lnTo>
                  <a:lnTo>
                    <a:pt x="22" y="24"/>
                  </a:lnTo>
                  <a:lnTo>
                    <a:pt x="23" y="20"/>
                  </a:lnTo>
                  <a:lnTo>
                    <a:pt x="24" y="15"/>
                  </a:lnTo>
                  <a:lnTo>
                    <a:pt x="25" y="12"/>
                  </a:lnTo>
                  <a:lnTo>
                    <a:pt x="27" y="9"/>
                  </a:lnTo>
                  <a:lnTo>
                    <a:pt x="28" y="6"/>
                  </a:lnTo>
                  <a:lnTo>
                    <a:pt x="29" y="5"/>
                  </a:lnTo>
                  <a:lnTo>
                    <a:pt x="30" y="3"/>
                  </a:lnTo>
                  <a:lnTo>
                    <a:pt x="32" y="2"/>
                  </a:lnTo>
                  <a:lnTo>
                    <a:pt x="34" y="0"/>
                  </a:lnTo>
                  <a:lnTo>
                    <a:pt x="36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97" name="Freeform 165"/>
            <p:cNvSpPr>
              <a:spLocks/>
            </p:cNvSpPr>
            <p:nvPr/>
          </p:nvSpPr>
          <p:spPr bwMode="auto">
            <a:xfrm>
              <a:off x="5302" y="2104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7 h 89"/>
                <a:gd name="T6" fmla="*/ 5 w 37"/>
                <a:gd name="T7" fmla="*/ 85 h 89"/>
                <a:gd name="T8" fmla="*/ 6 w 37"/>
                <a:gd name="T9" fmla="*/ 84 h 89"/>
                <a:gd name="T10" fmla="*/ 7 w 37"/>
                <a:gd name="T11" fmla="*/ 82 h 89"/>
                <a:gd name="T12" fmla="*/ 9 w 37"/>
                <a:gd name="T13" fmla="*/ 81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8 w 37"/>
                <a:gd name="T25" fmla="*/ 45 h 89"/>
                <a:gd name="T26" fmla="*/ 18 w 37"/>
                <a:gd name="T27" fmla="*/ 0 h 89"/>
                <a:gd name="T28" fmla="*/ 18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3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1 h 89"/>
                <a:gd name="T42" fmla="*/ 28 w 37"/>
                <a:gd name="T43" fmla="*/ 82 h 89"/>
                <a:gd name="T44" fmla="*/ 29 w 37"/>
                <a:gd name="T45" fmla="*/ 84 h 89"/>
                <a:gd name="T46" fmla="*/ 31 w 37"/>
                <a:gd name="T47" fmla="*/ 85 h 89"/>
                <a:gd name="T48" fmla="*/ 32 w 37"/>
                <a:gd name="T49" fmla="*/ 87 h 89"/>
                <a:gd name="T50" fmla="*/ 34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7"/>
                  </a:lnTo>
                  <a:lnTo>
                    <a:pt x="5" y="85"/>
                  </a:lnTo>
                  <a:lnTo>
                    <a:pt x="6" y="84"/>
                  </a:lnTo>
                  <a:lnTo>
                    <a:pt x="7" y="82"/>
                  </a:lnTo>
                  <a:lnTo>
                    <a:pt x="9" y="81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1"/>
                  </a:lnTo>
                  <a:lnTo>
                    <a:pt x="28" y="82"/>
                  </a:lnTo>
                  <a:lnTo>
                    <a:pt x="29" y="84"/>
                  </a:lnTo>
                  <a:lnTo>
                    <a:pt x="31" y="85"/>
                  </a:lnTo>
                  <a:lnTo>
                    <a:pt x="32" y="87"/>
                  </a:lnTo>
                  <a:lnTo>
                    <a:pt x="34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98" name="Freeform 166"/>
            <p:cNvSpPr>
              <a:spLocks/>
            </p:cNvSpPr>
            <p:nvPr/>
          </p:nvSpPr>
          <p:spPr bwMode="auto">
            <a:xfrm>
              <a:off x="5265" y="2148"/>
              <a:ext cx="37" cy="45"/>
            </a:xfrm>
            <a:custGeom>
              <a:avLst/>
              <a:gdLst>
                <a:gd name="T0" fmla="*/ 0 w 37"/>
                <a:gd name="T1" fmla="*/ 0 h 90"/>
                <a:gd name="T2" fmla="*/ 1 w 37"/>
                <a:gd name="T3" fmla="*/ 0 h 90"/>
                <a:gd name="T4" fmla="*/ 4 w 37"/>
                <a:gd name="T5" fmla="*/ 2 h 90"/>
                <a:gd name="T6" fmla="*/ 5 w 37"/>
                <a:gd name="T7" fmla="*/ 3 h 90"/>
                <a:gd name="T8" fmla="*/ 6 w 37"/>
                <a:gd name="T9" fmla="*/ 5 h 90"/>
                <a:gd name="T10" fmla="*/ 8 w 37"/>
                <a:gd name="T11" fmla="*/ 6 h 90"/>
                <a:gd name="T12" fmla="*/ 9 w 37"/>
                <a:gd name="T13" fmla="*/ 9 h 90"/>
                <a:gd name="T14" fmla="*/ 10 w 37"/>
                <a:gd name="T15" fmla="*/ 12 h 90"/>
                <a:gd name="T16" fmla="*/ 11 w 37"/>
                <a:gd name="T17" fmla="*/ 15 h 90"/>
                <a:gd name="T18" fmla="*/ 13 w 37"/>
                <a:gd name="T19" fmla="*/ 20 h 90"/>
                <a:gd name="T20" fmla="*/ 14 w 37"/>
                <a:gd name="T21" fmla="*/ 24 h 90"/>
                <a:gd name="T22" fmla="*/ 16 w 37"/>
                <a:gd name="T23" fmla="*/ 35 h 90"/>
                <a:gd name="T24" fmla="*/ 19 w 37"/>
                <a:gd name="T25" fmla="*/ 45 h 90"/>
                <a:gd name="T26" fmla="*/ 19 w 37"/>
                <a:gd name="T27" fmla="*/ 90 h 90"/>
                <a:gd name="T28" fmla="*/ 19 w 37"/>
                <a:gd name="T29" fmla="*/ 45 h 90"/>
                <a:gd name="T30" fmla="*/ 20 w 37"/>
                <a:gd name="T31" fmla="*/ 35 h 90"/>
                <a:gd name="T32" fmla="*/ 22 w 37"/>
                <a:gd name="T33" fmla="*/ 24 h 90"/>
                <a:gd name="T34" fmla="*/ 24 w 37"/>
                <a:gd name="T35" fmla="*/ 20 h 90"/>
                <a:gd name="T36" fmla="*/ 25 w 37"/>
                <a:gd name="T37" fmla="*/ 15 h 90"/>
                <a:gd name="T38" fmla="*/ 26 w 37"/>
                <a:gd name="T39" fmla="*/ 12 h 90"/>
                <a:gd name="T40" fmla="*/ 27 w 37"/>
                <a:gd name="T41" fmla="*/ 9 h 90"/>
                <a:gd name="T42" fmla="*/ 28 w 37"/>
                <a:gd name="T43" fmla="*/ 6 h 90"/>
                <a:gd name="T44" fmla="*/ 30 w 37"/>
                <a:gd name="T45" fmla="*/ 5 h 90"/>
                <a:gd name="T46" fmla="*/ 31 w 37"/>
                <a:gd name="T47" fmla="*/ 3 h 90"/>
                <a:gd name="T48" fmla="*/ 32 w 37"/>
                <a:gd name="T49" fmla="*/ 2 h 90"/>
                <a:gd name="T50" fmla="*/ 35 w 37"/>
                <a:gd name="T51" fmla="*/ 0 h 90"/>
                <a:gd name="T52" fmla="*/ 37 w 37"/>
                <a:gd name="T5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90">
                  <a:moveTo>
                    <a:pt x="0" y="0"/>
                  </a:moveTo>
                  <a:lnTo>
                    <a:pt x="1" y="0"/>
                  </a:lnTo>
                  <a:lnTo>
                    <a:pt x="4" y="2"/>
                  </a:lnTo>
                  <a:lnTo>
                    <a:pt x="5" y="3"/>
                  </a:lnTo>
                  <a:lnTo>
                    <a:pt x="6" y="5"/>
                  </a:lnTo>
                  <a:lnTo>
                    <a:pt x="8" y="6"/>
                  </a:lnTo>
                  <a:lnTo>
                    <a:pt x="9" y="9"/>
                  </a:lnTo>
                  <a:lnTo>
                    <a:pt x="10" y="12"/>
                  </a:lnTo>
                  <a:lnTo>
                    <a:pt x="11" y="15"/>
                  </a:lnTo>
                  <a:lnTo>
                    <a:pt x="13" y="20"/>
                  </a:lnTo>
                  <a:lnTo>
                    <a:pt x="14" y="24"/>
                  </a:lnTo>
                  <a:lnTo>
                    <a:pt x="16" y="35"/>
                  </a:lnTo>
                  <a:lnTo>
                    <a:pt x="19" y="45"/>
                  </a:lnTo>
                  <a:lnTo>
                    <a:pt x="19" y="90"/>
                  </a:lnTo>
                  <a:lnTo>
                    <a:pt x="19" y="45"/>
                  </a:lnTo>
                  <a:lnTo>
                    <a:pt x="20" y="35"/>
                  </a:lnTo>
                  <a:lnTo>
                    <a:pt x="22" y="24"/>
                  </a:lnTo>
                  <a:lnTo>
                    <a:pt x="24" y="20"/>
                  </a:lnTo>
                  <a:lnTo>
                    <a:pt x="25" y="15"/>
                  </a:lnTo>
                  <a:lnTo>
                    <a:pt x="26" y="12"/>
                  </a:lnTo>
                  <a:lnTo>
                    <a:pt x="27" y="9"/>
                  </a:lnTo>
                  <a:lnTo>
                    <a:pt x="28" y="6"/>
                  </a:lnTo>
                  <a:lnTo>
                    <a:pt x="30" y="5"/>
                  </a:lnTo>
                  <a:lnTo>
                    <a:pt x="31" y="3"/>
                  </a:lnTo>
                  <a:lnTo>
                    <a:pt x="32" y="2"/>
                  </a:lnTo>
                  <a:lnTo>
                    <a:pt x="35" y="0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799" name="Line 167"/>
            <p:cNvSpPr>
              <a:spLocks noChangeShapeType="1"/>
            </p:cNvSpPr>
            <p:nvPr/>
          </p:nvSpPr>
          <p:spPr bwMode="auto">
            <a:xfrm flipV="1">
              <a:off x="5173" y="1947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00" name="Line 168"/>
            <p:cNvSpPr>
              <a:spLocks noChangeShapeType="1"/>
            </p:cNvSpPr>
            <p:nvPr/>
          </p:nvSpPr>
          <p:spPr bwMode="auto">
            <a:xfrm flipV="1">
              <a:off x="5247" y="1947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01" name="Line 169"/>
            <p:cNvSpPr>
              <a:spLocks noChangeShapeType="1"/>
            </p:cNvSpPr>
            <p:nvPr/>
          </p:nvSpPr>
          <p:spPr bwMode="auto">
            <a:xfrm flipV="1">
              <a:off x="5320" y="1947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02" name="Line 170"/>
            <p:cNvSpPr>
              <a:spLocks noChangeShapeType="1"/>
            </p:cNvSpPr>
            <p:nvPr/>
          </p:nvSpPr>
          <p:spPr bwMode="auto">
            <a:xfrm flipV="1">
              <a:off x="5137" y="2193"/>
              <a:ext cx="1" cy="156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03" name="Line 171"/>
            <p:cNvSpPr>
              <a:spLocks noChangeShapeType="1"/>
            </p:cNvSpPr>
            <p:nvPr/>
          </p:nvSpPr>
          <p:spPr bwMode="auto">
            <a:xfrm flipV="1">
              <a:off x="5210" y="2193"/>
              <a:ext cx="1" cy="156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04" name="Line 172"/>
            <p:cNvSpPr>
              <a:spLocks noChangeShapeType="1"/>
            </p:cNvSpPr>
            <p:nvPr/>
          </p:nvSpPr>
          <p:spPr bwMode="auto">
            <a:xfrm flipV="1">
              <a:off x="5284" y="2193"/>
              <a:ext cx="1" cy="156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05" name="Freeform 173"/>
            <p:cNvSpPr>
              <a:spLocks/>
            </p:cNvSpPr>
            <p:nvPr/>
          </p:nvSpPr>
          <p:spPr bwMode="auto">
            <a:xfrm>
              <a:off x="5339" y="2148"/>
              <a:ext cx="18" cy="45"/>
            </a:xfrm>
            <a:custGeom>
              <a:avLst/>
              <a:gdLst>
                <a:gd name="T0" fmla="*/ 18 w 18"/>
                <a:gd name="T1" fmla="*/ 90 h 90"/>
                <a:gd name="T2" fmla="*/ 18 w 18"/>
                <a:gd name="T3" fmla="*/ 45 h 90"/>
                <a:gd name="T4" fmla="*/ 16 w 18"/>
                <a:gd name="T5" fmla="*/ 35 h 90"/>
                <a:gd name="T6" fmla="*/ 13 w 18"/>
                <a:gd name="T7" fmla="*/ 24 h 90"/>
                <a:gd name="T8" fmla="*/ 12 w 18"/>
                <a:gd name="T9" fmla="*/ 20 h 90"/>
                <a:gd name="T10" fmla="*/ 11 w 18"/>
                <a:gd name="T11" fmla="*/ 15 h 90"/>
                <a:gd name="T12" fmla="*/ 10 w 18"/>
                <a:gd name="T13" fmla="*/ 11 h 90"/>
                <a:gd name="T14" fmla="*/ 8 w 18"/>
                <a:gd name="T15" fmla="*/ 8 h 90"/>
                <a:gd name="T16" fmla="*/ 7 w 18"/>
                <a:gd name="T17" fmla="*/ 6 h 90"/>
                <a:gd name="T18" fmla="*/ 6 w 18"/>
                <a:gd name="T19" fmla="*/ 3 h 90"/>
                <a:gd name="T20" fmla="*/ 5 w 18"/>
                <a:gd name="T21" fmla="*/ 2 h 90"/>
                <a:gd name="T22" fmla="*/ 3 w 18"/>
                <a:gd name="T23" fmla="*/ 2 h 90"/>
                <a:gd name="T24" fmla="*/ 1 w 18"/>
                <a:gd name="T25" fmla="*/ 0 h 90"/>
                <a:gd name="T26" fmla="*/ 0 w 18"/>
                <a:gd name="T27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90">
                  <a:moveTo>
                    <a:pt x="18" y="90"/>
                  </a:moveTo>
                  <a:lnTo>
                    <a:pt x="18" y="45"/>
                  </a:lnTo>
                  <a:lnTo>
                    <a:pt x="16" y="35"/>
                  </a:lnTo>
                  <a:lnTo>
                    <a:pt x="13" y="24"/>
                  </a:lnTo>
                  <a:lnTo>
                    <a:pt x="12" y="20"/>
                  </a:lnTo>
                  <a:lnTo>
                    <a:pt x="11" y="15"/>
                  </a:lnTo>
                  <a:lnTo>
                    <a:pt x="10" y="11"/>
                  </a:lnTo>
                  <a:lnTo>
                    <a:pt x="8" y="8"/>
                  </a:lnTo>
                  <a:lnTo>
                    <a:pt x="7" y="6"/>
                  </a:lnTo>
                  <a:lnTo>
                    <a:pt x="6" y="3"/>
                  </a:lnTo>
                  <a:lnTo>
                    <a:pt x="5" y="2"/>
                  </a:lnTo>
                  <a:lnTo>
                    <a:pt x="3" y="2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06" name="Line 174"/>
            <p:cNvSpPr>
              <a:spLocks noChangeShapeType="1"/>
            </p:cNvSpPr>
            <p:nvPr/>
          </p:nvSpPr>
          <p:spPr bwMode="auto">
            <a:xfrm flipV="1">
              <a:off x="5357" y="2193"/>
              <a:ext cx="1" cy="156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07" name="Freeform 175"/>
            <p:cNvSpPr>
              <a:spLocks/>
            </p:cNvSpPr>
            <p:nvPr/>
          </p:nvSpPr>
          <p:spPr bwMode="auto">
            <a:xfrm>
              <a:off x="3390" y="2640"/>
              <a:ext cx="36" cy="44"/>
            </a:xfrm>
            <a:custGeom>
              <a:avLst/>
              <a:gdLst>
                <a:gd name="T0" fmla="*/ 0 w 36"/>
                <a:gd name="T1" fmla="*/ 89 h 89"/>
                <a:gd name="T2" fmla="*/ 1 w 36"/>
                <a:gd name="T3" fmla="*/ 88 h 89"/>
                <a:gd name="T4" fmla="*/ 3 w 36"/>
                <a:gd name="T5" fmla="*/ 86 h 89"/>
                <a:gd name="T6" fmla="*/ 4 w 36"/>
                <a:gd name="T7" fmla="*/ 85 h 89"/>
                <a:gd name="T8" fmla="*/ 6 w 36"/>
                <a:gd name="T9" fmla="*/ 83 h 89"/>
                <a:gd name="T10" fmla="*/ 7 w 36"/>
                <a:gd name="T11" fmla="*/ 82 h 89"/>
                <a:gd name="T12" fmla="*/ 8 w 36"/>
                <a:gd name="T13" fmla="*/ 80 h 89"/>
                <a:gd name="T14" fmla="*/ 9 w 36"/>
                <a:gd name="T15" fmla="*/ 76 h 89"/>
                <a:gd name="T16" fmla="*/ 11 w 36"/>
                <a:gd name="T17" fmla="*/ 73 h 89"/>
                <a:gd name="T18" fmla="*/ 12 w 36"/>
                <a:gd name="T19" fmla="*/ 69 h 89"/>
                <a:gd name="T20" fmla="*/ 13 w 36"/>
                <a:gd name="T21" fmla="*/ 64 h 89"/>
                <a:gd name="T22" fmla="*/ 15 w 36"/>
                <a:gd name="T23" fmla="*/ 54 h 89"/>
                <a:gd name="T24" fmla="*/ 18 w 36"/>
                <a:gd name="T25" fmla="*/ 45 h 89"/>
                <a:gd name="T26" fmla="*/ 18 w 36"/>
                <a:gd name="T27" fmla="*/ 0 h 89"/>
                <a:gd name="T28" fmla="*/ 18 w 36"/>
                <a:gd name="T29" fmla="*/ 45 h 89"/>
                <a:gd name="T30" fmla="*/ 19 w 36"/>
                <a:gd name="T31" fmla="*/ 54 h 89"/>
                <a:gd name="T32" fmla="*/ 22 w 36"/>
                <a:gd name="T33" fmla="*/ 64 h 89"/>
                <a:gd name="T34" fmla="*/ 23 w 36"/>
                <a:gd name="T35" fmla="*/ 69 h 89"/>
                <a:gd name="T36" fmla="*/ 24 w 36"/>
                <a:gd name="T37" fmla="*/ 73 h 89"/>
                <a:gd name="T38" fmla="*/ 25 w 36"/>
                <a:gd name="T39" fmla="*/ 76 h 89"/>
                <a:gd name="T40" fmla="*/ 26 w 36"/>
                <a:gd name="T41" fmla="*/ 80 h 89"/>
                <a:gd name="T42" fmla="*/ 28 w 36"/>
                <a:gd name="T43" fmla="*/ 82 h 89"/>
                <a:gd name="T44" fmla="*/ 29 w 36"/>
                <a:gd name="T45" fmla="*/ 83 h 89"/>
                <a:gd name="T46" fmla="*/ 30 w 36"/>
                <a:gd name="T47" fmla="*/ 85 h 89"/>
                <a:gd name="T48" fmla="*/ 31 w 36"/>
                <a:gd name="T49" fmla="*/ 86 h 89"/>
                <a:gd name="T50" fmla="*/ 34 w 36"/>
                <a:gd name="T51" fmla="*/ 88 h 89"/>
                <a:gd name="T52" fmla="*/ 36 w 36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6" h="89">
                  <a:moveTo>
                    <a:pt x="0" y="89"/>
                  </a:moveTo>
                  <a:lnTo>
                    <a:pt x="1" y="88"/>
                  </a:lnTo>
                  <a:lnTo>
                    <a:pt x="3" y="86"/>
                  </a:lnTo>
                  <a:lnTo>
                    <a:pt x="4" y="85"/>
                  </a:lnTo>
                  <a:lnTo>
                    <a:pt x="6" y="83"/>
                  </a:lnTo>
                  <a:lnTo>
                    <a:pt x="7" y="82"/>
                  </a:lnTo>
                  <a:lnTo>
                    <a:pt x="8" y="80"/>
                  </a:lnTo>
                  <a:lnTo>
                    <a:pt x="9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5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19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5" y="76"/>
                  </a:lnTo>
                  <a:lnTo>
                    <a:pt x="26" y="80"/>
                  </a:lnTo>
                  <a:lnTo>
                    <a:pt x="28" y="82"/>
                  </a:lnTo>
                  <a:lnTo>
                    <a:pt x="29" y="83"/>
                  </a:lnTo>
                  <a:lnTo>
                    <a:pt x="30" y="85"/>
                  </a:lnTo>
                  <a:lnTo>
                    <a:pt x="31" y="86"/>
                  </a:lnTo>
                  <a:lnTo>
                    <a:pt x="34" y="88"/>
                  </a:lnTo>
                  <a:lnTo>
                    <a:pt x="36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08" name="Freeform 176"/>
            <p:cNvSpPr>
              <a:spLocks/>
            </p:cNvSpPr>
            <p:nvPr/>
          </p:nvSpPr>
          <p:spPr bwMode="auto">
            <a:xfrm>
              <a:off x="3463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6 h 89"/>
                <a:gd name="T6" fmla="*/ 5 w 37"/>
                <a:gd name="T7" fmla="*/ 85 h 89"/>
                <a:gd name="T8" fmla="*/ 6 w 37"/>
                <a:gd name="T9" fmla="*/ 83 h 89"/>
                <a:gd name="T10" fmla="*/ 7 w 37"/>
                <a:gd name="T11" fmla="*/ 82 h 89"/>
                <a:gd name="T12" fmla="*/ 9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8 w 37"/>
                <a:gd name="T25" fmla="*/ 45 h 89"/>
                <a:gd name="T26" fmla="*/ 18 w 37"/>
                <a:gd name="T27" fmla="*/ 0 h 89"/>
                <a:gd name="T28" fmla="*/ 18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3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8 w 37"/>
                <a:gd name="T43" fmla="*/ 82 h 89"/>
                <a:gd name="T44" fmla="*/ 29 w 37"/>
                <a:gd name="T45" fmla="*/ 83 h 89"/>
                <a:gd name="T46" fmla="*/ 31 w 37"/>
                <a:gd name="T47" fmla="*/ 85 h 89"/>
                <a:gd name="T48" fmla="*/ 32 w 37"/>
                <a:gd name="T49" fmla="*/ 86 h 89"/>
                <a:gd name="T50" fmla="*/ 34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7" y="82"/>
                  </a:lnTo>
                  <a:lnTo>
                    <a:pt x="9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29" y="83"/>
                  </a:lnTo>
                  <a:lnTo>
                    <a:pt x="31" y="85"/>
                  </a:lnTo>
                  <a:lnTo>
                    <a:pt x="32" y="86"/>
                  </a:lnTo>
                  <a:lnTo>
                    <a:pt x="34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09" name="Freeform 177"/>
            <p:cNvSpPr>
              <a:spLocks/>
            </p:cNvSpPr>
            <p:nvPr/>
          </p:nvSpPr>
          <p:spPr bwMode="auto">
            <a:xfrm>
              <a:off x="3537" y="2640"/>
              <a:ext cx="36" cy="44"/>
            </a:xfrm>
            <a:custGeom>
              <a:avLst/>
              <a:gdLst>
                <a:gd name="T0" fmla="*/ 0 w 36"/>
                <a:gd name="T1" fmla="*/ 89 h 89"/>
                <a:gd name="T2" fmla="*/ 1 w 36"/>
                <a:gd name="T3" fmla="*/ 88 h 89"/>
                <a:gd name="T4" fmla="*/ 3 w 36"/>
                <a:gd name="T5" fmla="*/ 86 h 89"/>
                <a:gd name="T6" fmla="*/ 5 w 36"/>
                <a:gd name="T7" fmla="*/ 85 h 89"/>
                <a:gd name="T8" fmla="*/ 6 w 36"/>
                <a:gd name="T9" fmla="*/ 83 h 89"/>
                <a:gd name="T10" fmla="*/ 7 w 36"/>
                <a:gd name="T11" fmla="*/ 82 h 89"/>
                <a:gd name="T12" fmla="*/ 8 w 36"/>
                <a:gd name="T13" fmla="*/ 80 h 89"/>
                <a:gd name="T14" fmla="*/ 9 w 36"/>
                <a:gd name="T15" fmla="*/ 76 h 89"/>
                <a:gd name="T16" fmla="*/ 11 w 36"/>
                <a:gd name="T17" fmla="*/ 73 h 89"/>
                <a:gd name="T18" fmla="*/ 12 w 36"/>
                <a:gd name="T19" fmla="*/ 69 h 89"/>
                <a:gd name="T20" fmla="*/ 13 w 36"/>
                <a:gd name="T21" fmla="*/ 64 h 89"/>
                <a:gd name="T22" fmla="*/ 16 w 36"/>
                <a:gd name="T23" fmla="*/ 54 h 89"/>
                <a:gd name="T24" fmla="*/ 18 w 36"/>
                <a:gd name="T25" fmla="*/ 45 h 89"/>
                <a:gd name="T26" fmla="*/ 18 w 36"/>
                <a:gd name="T27" fmla="*/ 0 h 89"/>
                <a:gd name="T28" fmla="*/ 18 w 36"/>
                <a:gd name="T29" fmla="*/ 45 h 89"/>
                <a:gd name="T30" fmla="*/ 19 w 36"/>
                <a:gd name="T31" fmla="*/ 54 h 89"/>
                <a:gd name="T32" fmla="*/ 22 w 36"/>
                <a:gd name="T33" fmla="*/ 64 h 89"/>
                <a:gd name="T34" fmla="*/ 23 w 36"/>
                <a:gd name="T35" fmla="*/ 69 h 89"/>
                <a:gd name="T36" fmla="*/ 24 w 36"/>
                <a:gd name="T37" fmla="*/ 73 h 89"/>
                <a:gd name="T38" fmla="*/ 25 w 36"/>
                <a:gd name="T39" fmla="*/ 76 h 89"/>
                <a:gd name="T40" fmla="*/ 27 w 36"/>
                <a:gd name="T41" fmla="*/ 80 h 89"/>
                <a:gd name="T42" fmla="*/ 28 w 36"/>
                <a:gd name="T43" fmla="*/ 82 h 89"/>
                <a:gd name="T44" fmla="*/ 29 w 36"/>
                <a:gd name="T45" fmla="*/ 83 h 89"/>
                <a:gd name="T46" fmla="*/ 30 w 36"/>
                <a:gd name="T47" fmla="*/ 85 h 89"/>
                <a:gd name="T48" fmla="*/ 31 w 36"/>
                <a:gd name="T49" fmla="*/ 86 h 89"/>
                <a:gd name="T50" fmla="*/ 34 w 36"/>
                <a:gd name="T51" fmla="*/ 88 h 89"/>
                <a:gd name="T52" fmla="*/ 36 w 36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6" h="89">
                  <a:moveTo>
                    <a:pt x="0" y="89"/>
                  </a:moveTo>
                  <a:lnTo>
                    <a:pt x="1" y="88"/>
                  </a:lnTo>
                  <a:lnTo>
                    <a:pt x="3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7" y="82"/>
                  </a:lnTo>
                  <a:lnTo>
                    <a:pt x="8" y="80"/>
                  </a:lnTo>
                  <a:lnTo>
                    <a:pt x="9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19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5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29" y="83"/>
                  </a:lnTo>
                  <a:lnTo>
                    <a:pt x="30" y="85"/>
                  </a:lnTo>
                  <a:lnTo>
                    <a:pt x="31" y="86"/>
                  </a:lnTo>
                  <a:lnTo>
                    <a:pt x="34" y="88"/>
                  </a:lnTo>
                  <a:lnTo>
                    <a:pt x="36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10" name="Freeform 178"/>
            <p:cNvSpPr>
              <a:spLocks/>
            </p:cNvSpPr>
            <p:nvPr/>
          </p:nvSpPr>
          <p:spPr bwMode="auto">
            <a:xfrm>
              <a:off x="3610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6 h 89"/>
                <a:gd name="T6" fmla="*/ 5 w 37"/>
                <a:gd name="T7" fmla="*/ 85 h 89"/>
                <a:gd name="T8" fmla="*/ 6 w 37"/>
                <a:gd name="T9" fmla="*/ 83 h 89"/>
                <a:gd name="T10" fmla="*/ 8 w 37"/>
                <a:gd name="T11" fmla="*/ 82 h 89"/>
                <a:gd name="T12" fmla="*/ 9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9 w 37"/>
                <a:gd name="T25" fmla="*/ 45 h 89"/>
                <a:gd name="T26" fmla="*/ 19 w 37"/>
                <a:gd name="T27" fmla="*/ 0 h 89"/>
                <a:gd name="T28" fmla="*/ 19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3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8 w 37"/>
                <a:gd name="T43" fmla="*/ 82 h 89"/>
                <a:gd name="T44" fmla="*/ 30 w 37"/>
                <a:gd name="T45" fmla="*/ 83 h 89"/>
                <a:gd name="T46" fmla="*/ 31 w 37"/>
                <a:gd name="T47" fmla="*/ 85 h 89"/>
                <a:gd name="T48" fmla="*/ 32 w 37"/>
                <a:gd name="T49" fmla="*/ 86 h 89"/>
                <a:gd name="T50" fmla="*/ 35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8" y="82"/>
                  </a:lnTo>
                  <a:lnTo>
                    <a:pt x="9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9" y="45"/>
                  </a:lnTo>
                  <a:lnTo>
                    <a:pt x="19" y="0"/>
                  </a:lnTo>
                  <a:lnTo>
                    <a:pt x="19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30" y="83"/>
                  </a:lnTo>
                  <a:lnTo>
                    <a:pt x="31" y="85"/>
                  </a:lnTo>
                  <a:lnTo>
                    <a:pt x="32" y="86"/>
                  </a:lnTo>
                  <a:lnTo>
                    <a:pt x="35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11" name="Freeform 179"/>
            <p:cNvSpPr>
              <a:spLocks/>
            </p:cNvSpPr>
            <p:nvPr/>
          </p:nvSpPr>
          <p:spPr bwMode="auto">
            <a:xfrm>
              <a:off x="3684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3 w 37"/>
                <a:gd name="T5" fmla="*/ 86 h 89"/>
                <a:gd name="T6" fmla="*/ 5 w 37"/>
                <a:gd name="T7" fmla="*/ 85 h 89"/>
                <a:gd name="T8" fmla="*/ 6 w 37"/>
                <a:gd name="T9" fmla="*/ 83 h 89"/>
                <a:gd name="T10" fmla="*/ 7 w 37"/>
                <a:gd name="T11" fmla="*/ 82 h 89"/>
                <a:gd name="T12" fmla="*/ 8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3 w 37"/>
                <a:gd name="T21" fmla="*/ 64 h 89"/>
                <a:gd name="T22" fmla="*/ 16 w 37"/>
                <a:gd name="T23" fmla="*/ 54 h 89"/>
                <a:gd name="T24" fmla="*/ 18 w 37"/>
                <a:gd name="T25" fmla="*/ 45 h 89"/>
                <a:gd name="T26" fmla="*/ 18 w 37"/>
                <a:gd name="T27" fmla="*/ 0 h 89"/>
                <a:gd name="T28" fmla="*/ 18 w 37"/>
                <a:gd name="T29" fmla="*/ 45 h 89"/>
                <a:gd name="T30" fmla="*/ 19 w 37"/>
                <a:gd name="T31" fmla="*/ 54 h 89"/>
                <a:gd name="T32" fmla="*/ 22 w 37"/>
                <a:gd name="T33" fmla="*/ 64 h 89"/>
                <a:gd name="T34" fmla="*/ 23 w 37"/>
                <a:gd name="T35" fmla="*/ 69 h 89"/>
                <a:gd name="T36" fmla="*/ 24 w 37"/>
                <a:gd name="T37" fmla="*/ 73 h 89"/>
                <a:gd name="T38" fmla="*/ 25 w 37"/>
                <a:gd name="T39" fmla="*/ 76 h 89"/>
                <a:gd name="T40" fmla="*/ 27 w 37"/>
                <a:gd name="T41" fmla="*/ 80 h 89"/>
                <a:gd name="T42" fmla="*/ 28 w 37"/>
                <a:gd name="T43" fmla="*/ 82 h 89"/>
                <a:gd name="T44" fmla="*/ 29 w 37"/>
                <a:gd name="T45" fmla="*/ 83 h 89"/>
                <a:gd name="T46" fmla="*/ 30 w 37"/>
                <a:gd name="T47" fmla="*/ 85 h 89"/>
                <a:gd name="T48" fmla="*/ 32 w 37"/>
                <a:gd name="T49" fmla="*/ 86 h 89"/>
                <a:gd name="T50" fmla="*/ 34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3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7" y="82"/>
                  </a:lnTo>
                  <a:lnTo>
                    <a:pt x="8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19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5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29" y="83"/>
                  </a:lnTo>
                  <a:lnTo>
                    <a:pt x="30" y="85"/>
                  </a:lnTo>
                  <a:lnTo>
                    <a:pt x="32" y="86"/>
                  </a:lnTo>
                  <a:lnTo>
                    <a:pt x="34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12" name="Freeform 180"/>
            <p:cNvSpPr>
              <a:spLocks/>
            </p:cNvSpPr>
            <p:nvPr/>
          </p:nvSpPr>
          <p:spPr bwMode="auto">
            <a:xfrm>
              <a:off x="3757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2 w 37"/>
                <a:gd name="T3" fmla="*/ 88 h 89"/>
                <a:gd name="T4" fmla="*/ 4 w 37"/>
                <a:gd name="T5" fmla="*/ 86 h 89"/>
                <a:gd name="T6" fmla="*/ 5 w 37"/>
                <a:gd name="T7" fmla="*/ 85 h 89"/>
                <a:gd name="T8" fmla="*/ 6 w 37"/>
                <a:gd name="T9" fmla="*/ 83 h 89"/>
                <a:gd name="T10" fmla="*/ 8 w 37"/>
                <a:gd name="T11" fmla="*/ 82 h 89"/>
                <a:gd name="T12" fmla="*/ 9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3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9 w 37"/>
                <a:gd name="T25" fmla="*/ 45 h 89"/>
                <a:gd name="T26" fmla="*/ 19 w 37"/>
                <a:gd name="T27" fmla="*/ 0 h 89"/>
                <a:gd name="T28" fmla="*/ 19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4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8 w 37"/>
                <a:gd name="T43" fmla="*/ 82 h 89"/>
                <a:gd name="T44" fmla="*/ 30 w 37"/>
                <a:gd name="T45" fmla="*/ 83 h 89"/>
                <a:gd name="T46" fmla="*/ 31 w 37"/>
                <a:gd name="T47" fmla="*/ 85 h 89"/>
                <a:gd name="T48" fmla="*/ 32 w 37"/>
                <a:gd name="T49" fmla="*/ 86 h 89"/>
                <a:gd name="T50" fmla="*/ 35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2" y="88"/>
                  </a:lnTo>
                  <a:lnTo>
                    <a:pt x="4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8" y="82"/>
                  </a:lnTo>
                  <a:lnTo>
                    <a:pt x="9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3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9" y="45"/>
                  </a:lnTo>
                  <a:lnTo>
                    <a:pt x="19" y="0"/>
                  </a:lnTo>
                  <a:lnTo>
                    <a:pt x="19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4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30" y="83"/>
                  </a:lnTo>
                  <a:lnTo>
                    <a:pt x="31" y="85"/>
                  </a:lnTo>
                  <a:lnTo>
                    <a:pt x="32" y="86"/>
                  </a:lnTo>
                  <a:lnTo>
                    <a:pt x="35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13" name="Line 181"/>
            <p:cNvSpPr>
              <a:spLocks noChangeShapeType="1"/>
            </p:cNvSpPr>
            <p:nvPr/>
          </p:nvSpPr>
          <p:spPr bwMode="auto">
            <a:xfrm flipV="1">
              <a:off x="3408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14" name="Line 182"/>
            <p:cNvSpPr>
              <a:spLocks noChangeShapeType="1"/>
            </p:cNvSpPr>
            <p:nvPr/>
          </p:nvSpPr>
          <p:spPr bwMode="auto">
            <a:xfrm flipV="1">
              <a:off x="3481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15" name="Line 183"/>
            <p:cNvSpPr>
              <a:spLocks noChangeShapeType="1"/>
            </p:cNvSpPr>
            <p:nvPr/>
          </p:nvSpPr>
          <p:spPr bwMode="auto">
            <a:xfrm flipV="1">
              <a:off x="3555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16" name="Line 184"/>
            <p:cNvSpPr>
              <a:spLocks noChangeShapeType="1"/>
            </p:cNvSpPr>
            <p:nvPr/>
          </p:nvSpPr>
          <p:spPr bwMode="auto">
            <a:xfrm flipV="1">
              <a:off x="3629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17" name="Line 185"/>
            <p:cNvSpPr>
              <a:spLocks noChangeShapeType="1"/>
            </p:cNvSpPr>
            <p:nvPr/>
          </p:nvSpPr>
          <p:spPr bwMode="auto">
            <a:xfrm flipV="1">
              <a:off x="3702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18" name="Line 186"/>
            <p:cNvSpPr>
              <a:spLocks noChangeShapeType="1"/>
            </p:cNvSpPr>
            <p:nvPr/>
          </p:nvSpPr>
          <p:spPr bwMode="auto">
            <a:xfrm flipV="1">
              <a:off x="3776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19" name="Freeform 187"/>
            <p:cNvSpPr>
              <a:spLocks/>
            </p:cNvSpPr>
            <p:nvPr/>
          </p:nvSpPr>
          <p:spPr bwMode="auto">
            <a:xfrm>
              <a:off x="3371" y="2640"/>
              <a:ext cx="19" cy="44"/>
            </a:xfrm>
            <a:custGeom>
              <a:avLst/>
              <a:gdLst>
                <a:gd name="T0" fmla="*/ 0 w 19"/>
                <a:gd name="T1" fmla="*/ 0 h 89"/>
                <a:gd name="T2" fmla="*/ 0 w 19"/>
                <a:gd name="T3" fmla="*/ 45 h 89"/>
                <a:gd name="T4" fmla="*/ 1 w 19"/>
                <a:gd name="T5" fmla="*/ 55 h 89"/>
                <a:gd name="T6" fmla="*/ 4 w 19"/>
                <a:gd name="T7" fmla="*/ 64 h 89"/>
                <a:gd name="T8" fmla="*/ 5 w 19"/>
                <a:gd name="T9" fmla="*/ 69 h 89"/>
                <a:gd name="T10" fmla="*/ 6 w 19"/>
                <a:gd name="T11" fmla="*/ 73 h 89"/>
                <a:gd name="T12" fmla="*/ 7 w 19"/>
                <a:gd name="T13" fmla="*/ 78 h 89"/>
                <a:gd name="T14" fmla="*/ 9 w 19"/>
                <a:gd name="T15" fmla="*/ 80 h 89"/>
                <a:gd name="T16" fmla="*/ 10 w 19"/>
                <a:gd name="T17" fmla="*/ 82 h 89"/>
                <a:gd name="T18" fmla="*/ 11 w 19"/>
                <a:gd name="T19" fmla="*/ 85 h 89"/>
                <a:gd name="T20" fmla="*/ 12 w 19"/>
                <a:gd name="T21" fmla="*/ 86 h 89"/>
                <a:gd name="T22" fmla="*/ 14 w 19"/>
                <a:gd name="T23" fmla="*/ 86 h 89"/>
                <a:gd name="T24" fmla="*/ 16 w 19"/>
                <a:gd name="T25" fmla="*/ 88 h 89"/>
                <a:gd name="T26" fmla="*/ 19 w 19"/>
                <a:gd name="T2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" h="89">
                  <a:moveTo>
                    <a:pt x="0" y="0"/>
                  </a:moveTo>
                  <a:lnTo>
                    <a:pt x="0" y="45"/>
                  </a:lnTo>
                  <a:lnTo>
                    <a:pt x="1" y="55"/>
                  </a:lnTo>
                  <a:lnTo>
                    <a:pt x="4" y="64"/>
                  </a:lnTo>
                  <a:lnTo>
                    <a:pt x="5" y="69"/>
                  </a:lnTo>
                  <a:lnTo>
                    <a:pt x="6" y="73"/>
                  </a:lnTo>
                  <a:lnTo>
                    <a:pt x="7" y="78"/>
                  </a:lnTo>
                  <a:lnTo>
                    <a:pt x="9" y="80"/>
                  </a:lnTo>
                  <a:lnTo>
                    <a:pt x="10" y="82"/>
                  </a:lnTo>
                  <a:lnTo>
                    <a:pt x="11" y="85"/>
                  </a:lnTo>
                  <a:lnTo>
                    <a:pt x="12" y="86"/>
                  </a:lnTo>
                  <a:lnTo>
                    <a:pt x="14" y="86"/>
                  </a:lnTo>
                  <a:lnTo>
                    <a:pt x="16" y="88"/>
                  </a:lnTo>
                  <a:lnTo>
                    <a:pt x="19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20" name="Freeform 188"/>
            <p:cNvSpPr>
              <a:spLocks/>
            </p:cNvSpPr>
            <p:nvPr/>
          </p:nvSpPr>
          <p:spPr bwMode="auto">
            <a:xfrm>
              <a:off x="3426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2 w 37"/>
                <a:gd name="T3" fmla="*/ 88 h 89"/>
                <a:gd name="T4" fmla="*/ 4 w 37"/>
                <a:gd name="T5" fmla="*/ 86 h 89"/>
                <a:gd name="T6" fmla="*/ 5 w 37"/>
                <a:gd name="T7" fmla="*/ 85 h 89"/>
                <a:gd name="T8" fmla="*/ 6 w 37"/>
                <a:gd name="T9" fmla="*/ 83 h 89"/>
                <a:gd name="T10" fmla="*/ 8 w 37"/>
                <a:gd name="T11" fmla="*/ 82 h 89"/>
                <a:gd name="T12" fmla="*/ 9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3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9 w 37"/>
                <a:gd name="T25" fmla="*/ 45 h 89"/>
                <a:gd name="T26" fmla="*/ 19 w 37"/>
                <a:gd name="T27" fmla="*/ 0 h 89"/>
                <a:gd name="T28" fmla="*/ 19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4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8 w 37"/>
                <a:gd name="T43" fmla="*/ 82 h 89"/>
                <a:gd name="T44" fmla="*/ 30 w 37"/>
                <a:gd name="T45" fmla="*/ 83 h 89"/>
                <a:gd name="T46" fmla="*/ 31 w 37"/>
                <a:gd name="T47" fmla="*/ 85 h 89"/>
                <a:gd name="T48" fmla="*/ 32 w 37"/>
                <a:gd name="T49" fmla="*/ 86 h 89"/>
                <a:gd name="T50" fmla="*/ 35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2" y="88"/>
                  </a:lnTo>
                  <a:lnTo>
                    <a:pt x="4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8" y="82"/>
                  </a:lnTo>
                  <a:lnTo>
                    <a:pt x="9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3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9" y="45"/>
                  </a:lnTo>
                  <a:lnTo>
                    <a:pt x="19" y="0"/>
                  </a:lnTo>
                  <a:lnTo>
                    <a:pt x="19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4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30" y="83"/>
                  </a:lnTo>
                  <a:lnTo>
                    <a:pt x="31" y="85"/>
                  </a:lnTo>
                  <a:lnTo>
                    <a:pt x="32" y="86"/>
                  </a:lnTo>
                  <a:lnTo>
                    <a:pt x="35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21" name="Freeform 189"/>
            <p:cNvSpPr>
              <a:spLocks/>
            </p:cNvSpPr>
            <p:nvPr/>
          </p:nvSpPr>
          <p:spPr bwMode="auto">
            <a:xfrm>
              <a:off x="3500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6 h 89"/>
                <a:gd name="T6" fmla="*/ 5 w 37"/>
                <a:gd name="T7" fmla="*/ 85 h 89"/>
                <a:gd name="T8" fmla="*/ 6 w 37"/>
                <a:gd name="T9" fmla="*/ 83 h 89"/>
                <a:gd name="T10" fmla="*/ 7 w 37"/>
                <a:gd name="T11" fmla="*/ 82 h 89"/>
                <a:gd name="T12" fmla="*/ 8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3 w 37"/>
                <a:gd name="T21" fmla="*/ 64 h 89"/>
                <a:gd name="T22" fmla="*/ 16 w 37"/>
                <a:gd name="T23" fmla="*/ 54 h 89"/>
                <a:gd name="T24" fmla="*/ 18 w 37"/>
                <a:gd name="T25" fmla="*/ 45 h 89"/>
                <a:gd name="T26" fmla="*/ 18 w 37"/>
                <a:gd name="T27" fmla="*/ 0 h 89"/>
                <a:gd name="T28" fmla="*/ 18 w 37"/>
                <a:gd name="T29" fmla="*/ 45 h 89"/>
                <a:gd name="T30" fmla="*/ 19 w 37"/>
                <a:gd name="T31" fmla="*/ 54 h 89"/>
                <a:gd name="T32" fmla="*/ 22 w 37"/>
                <a:gd name="T33" fmla="*/ 64 h 89"/>
                <a:gd name="T34" fmla="*/ 23 w 37"/>
                <a:gd name="T35" fmla="*/ 69 h 89"/>
                <a:gd name="T36" fmla="*/ 24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8 w 37"/>
                <a:gd name="T43" fmla="*/ 82 h 89"/>
                <a:gd name="T44" fmla="*/ 29 w 37"/>
                <a:gd name="T45" fmla="*/ 83 h 89"/>
                <a:gd name="T46" fmla="*/ 30 w 37"/>
                <a:gd name="T47" fmla="*/ 85 h 89"/>
                <a:gd name="T48" fmla="*/ 32 w 37"/>
                <a:gd name="T49" fmla="*/ 86 h 89"/>
                <a:gd name="T50" fmla="*/ 34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7" y="82"/>
                  </a:lnTo>
                  <a:lnTo>
                    <a:pt x="8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19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29" y="83"/>
                  </a:lnTo>
                  <a:lnTo>
                    <a:pt x="30" y="85"/>
                  </a:lnTo>
                  <a:lnTo>
                    <a:pt x="32" y="86"/>
                  </a:lnTo>
                  <a:lnTo>
                    <a:pt x="34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22" name="Freeform 190"/>
            <p:cNvSpPr>
              <a:spLocks/>
            </p:cNvSpPr>
            <p:nvPr/>
          </p:nvSpPr>
          <p:spPr bwMode="auto">
            <a:xfrm>
              <a:off x="3573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2 w 37"/>
                <a:gd name="T3" fmla="*/ 88 h 89"/>
                <a:gd name="T4" fmla="*/ 4 w 37"/>
                <a:gd name="T5" fmla="*/ 86 h 89"/>
                <a:gd name="T6" fmla="*/ 5 w 37"/>
                <a:gd name="T7" fmla="*/ 85 h 89"/>
                <a:gd name="T8" fmla="*/ 7 w 37"/>
                <a:gd name="T9" fmla="*/ 83 h 89"/>
                <a:gd name="T10" fmla="*/ 8 w 37"/>
                <a:gd name="T11" fmla="*/ 82 h 89"/>
                <a:gd name="T12" fmla="*/ 9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3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9 w 37"/>
                <a:gd name="T25" fmla="*/ 45 h 89"/>
                <a:gd name="T26" fmla="*/ 19 w 37"/>
                <a:gd name="T27" fmla="*/ 0 h 89"/>
                <a:gd name="T28" fmla="*/ 19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4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9 w 37"/>
                <a:gd name="T43" fmla="*/ 82 h 89"/>
                <a:gd name="T44" fmla="*/ 30 w 37"/>
                <a:gd name="T45" fmla="*/ 83 h 89"/>
                <a:gd name="T46" fmla="*/ 31 w 37"/>
                <a:gd name="T47" fmla="*/ 85 h 89"/>
                <a:gd name="T48" fmla="*/ 32 w 37"/>
                <a:gd name="T49" fmla="*/ 86 h 89"/>
                <a:gd name="T50" fmla="*/ 35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2" y="88"/>
                  </a:lnTo>
                  <a:lnTo>
                    <a:pt x="4" y="86"/>
                  </a:lnTo>
                  <a:lnTo>
                    <a:pt x="5" y="85"/>
                  </a:lnTo>
                  <a:lnTo>
                    <a:pt x="7" y="83"/>
                  </a:lnTo>
                  <a:lnTo>
                    <a:pt x="8" y="82"/>
                  </a:lnTo>
                  <a:lnTo>
                    <a:pt x="9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3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9" y="45"/>
                  </a:lnTo>
                  <a:lnTo>
                    <a:pt x="19" y="0"/>
                  </a:lnTo>
                  <a:lnTo>
                    <a:pt x="19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4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9" y="82"/>
                  </a:lnTo>
                  <a:lnTo>
                    <a:pt x="30" y="83"/>
                  </a:lnTo>
                  <a:lnTo>
                    <a:pt x="31" y="85"/>
                  </a:lnTo>
                  <a:lnTo>
                    <a:pt x="32" y="86"/>
                  </a:lnTo>
                  <a:lnTo>
                    <a:pt x="35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23" name="Freeform 191"/>
            <p:cNvSpPr>
              <a:spLocks/>
            </p:cNvSpPr>
            <p:nvPr/>
          </p:nvSpPr>
          <p:spPr bwMode="auto">
            <a:xfrm>
              <a:off x="3647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6 h 89"/>
                <a:gd name="T6" fmla="*/ 5 w 37"/>
                <a:gd name="T7" fmla="*/ 85 h 89"/>
                <a:gd name="T8" fmla="*/ 6 w 37"/>
                <a:gd name="T9" fmla="*/ 83 h 89"/>
                <a:gd name="T10" fmla="*/ 7 w 37"/>
                <a:gd name="T11" fmla="*/ 82 h 89"/>
                <a:gd name="T12" fmla="*/ 9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3 w 37"/>
                <a:gd name="T21" fmla="*/ 64 h 89"/>
                <a:gd name="T22" fmla="*/ 16 w 37"/>
                <a:gd name="T23" fmla="*/ 54 h 89"/>
                <a:gd name="T24" fmla="*/ 18 w 37"/>
                <a:gd name="T25" fmla="*/ 45 h 89"/>
                <a:gd name="T26" fmla="*/ 18 w 37"/>
                <a:gd name="T27" fmla="*/ 0 h 89"/>
                <a:gd name="T28" fmla="*/ 18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3 w 37"/>
                <a:gd name="T35" fmla="*/ 69 h 89"/>
                <a:gd name="T36" fmla="*/ 24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8 w 37"/>
                <a:gd name="T43" fmla="*/ 82 h 89"/>
                <a:gd name="T44" fmla="*/ 29 w 37"/>
                <a:gd name="T45" fmla="*/ 83 h 89"/>
                <a:gd name="T46" fmla="*/ 31 w 37"/>
                <a:gd name="T47" fmla="*/ 85 h 89"/>
                <a:gd name="T48" fmla="*/ 32 w 37"/>
                <a:gd name="T49" fmla="*/ 86 h 89"/>
                <a:gd name="T50" fmla="*/ 34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7" y="82"/>
                  </a:lnTo>
                  <a:lnTo>
                    <a:pt x="9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29" y="83"/>
                  </a:lnTo>
                  <a:lnTo>
                    <a:pt x="31" y="85"/>
                  </a:lnTo>
                  <a:lnTo>
                    <a:pt x="32" y="86"/>
                  </a:lnTo>
                  <a:lnTo>
                    <a:pt x="34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24" name="Freeform 192"/>
            <p:cNvSpPr>
              <a:spLocks/>
            </p:cNvSpPr>
            <p:nvPr/>
          </p:nvSpPr>
          <p:spPr bwMode="auto">
            <a:xfrm>
              <a:off x="3721" y="2640"/>
              <a:ext cx="36" cy="44"/>
            </a:xfrm>
            <a:custGeom>
              <a:avLst/>
              <a:gdLst>
                <a:gd name="T0" fmla="*/ 0 w 36"/>
                <a:gd name="T1" fmla="*/ 89 h 89"/>
                <a:gd name="T2" fmla="*/ 1 w 36"/>
                <a:gd name="T3" fmla="*/ 88 h 89"/>
                <a:gd name="T4" fmla="*/ 3 w 36"/>
                <a:gd name="T5" fmla="*/ 86 h 89"/>
                <a:gd name="T6" fmla="*/ 4 w 36"/>
                <a:gd name="T7" fmla="*/ 85 h 89"/>
                <a:gd name="T8" fmla="*/ 6 w 36"/>
                <a:gd name="T9" fmla="*/ 83 h 89"/>
                <a:gd name="T10" fmla="*/ 7 w 36"/>
                <a:gd name="T11" fmla="*/ 82 h 89"/>
                <a:gd name="T12" fmla="*/ 8 w 36"/>
                <a:gd name="T13" fmla="*/ 80 h 89"/>
                <a:gd name="T14" fmla="*/ 9 w 36"/>
                <a:gd name="T15" fmla="*/ 76 h 89"/>
                <a:gd name="T16" fmla="*/ 11 w 36"/>
                <a:gd name="T17" fmla="*/ 73 h 89"/>
                <a:gd name="T18" fmla="*/ 12 w 36"/>
                <a:gd name="T19" fmla="*/ 69 h 89"/>
                <a:gd name="T20" fmla="*/ 13 w 36"/>
                <a:gd name="T21" fmla="*/ 64 h 89"/>
                <a:gd name="T22" fmla="*/ 15 w 36"/>
                <a:gd name="T23" fmla="*/ 54 h 89"/>
                <a:gd name="T24" fmla="*/ 18 w 36"/>
                <a:gd name="T25" fmla="*/ 45 h 89"/>
                <a:gd name="T26" fmla="*/ 18 w 36"/>
                <a:gd name="T27" fmla="*/ 0 h 89"/>
                <a:gd name="T28" fmla="*/ 18 w 36"/>
                <a:gd name="T29" fmla="*/ 45 h 89"/>
                <a:gd name="T30" fmla="*/ 19 w 36"/>
                <a:gd name="T31" fmla="*/ 54 h 89"/>
                <a:gd name="T32" fmla="*/ 22 w 36"/>
                <a:gd name="T33" fmla="*/ 64 h 89"/>
                <a:gd name="T34" fmla="*/ 23 w 36"/>
                <a:gd name="T35" fmla="*/ 69 h 89"/>
                <a:gd name="T36" fmla="*/ 24 w 36"/>
                <a:gd name="T37" fmla="*/ 73 h 89"/>
                <a:gd name="T38" fmla="*/ 25 w 36"/>
                <a:gd name="T39" fmla="*/ 76 h 89"/>
                <a:gd name="T40" fmla="*/ 26 w 36"/>
                <a:gd name="T41" fmla="*/ 80 h 89"/>
                <a:gd name="T42" fmla="*/ 28 w 36"/>
                <a:gd name="T43" fmla="*/ 82 h 89"/>
                <a:gd name="T44" fmla="*/ 29 w 36"/>
                <a:gd name="T45" fmla="*/ 83 h 89"/>
                <a:gd name="T46" fmla="*/ 30 w 36"/>
                <a:gd name="T47" fmla="*/ 85 h 89"/>
                <a:gd name="T48" fmla="*/ 31 w 36"/>
                <a:gd name="T49" fmla="*/ 86 h 89"/>
                <a:gd name="T50" fmla="*/ 34 w 36"/>
                <a:gd name="T51" fmla="*/ 88 h 89"/>
                <a:gd name="T52" fmla="*/ 36 w 36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6" h="89">
                  <a:moveTo>
                    <a:pt x="0" y="89"/>
                  </a:moveTo>
                  <a:lnTo>
                    <a:pt x="1" y="88"/>
                  </a:lnTo>
                  <a:lnTo>
                    <a:pt x="3" y="86"/>
                  </a:lnTo>
                  <a:lnTo>
                    <a:pt x="4" y="85"/>
                  </a:lnTo>
                  <a:lnTo>
                    <a:pt x="6" y="83"/>
                  </a:lnTo>
                  <a:lnTo>
                    <a:pt x="7" y="82"/>
                  </a:lnTo>
                  <a:lnTo>
                    <a:pt x="8" y="80"/>
                  </a:lnTo>
                  <a:lnTo>
                    <a:pt x="9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5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19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5" y="76"/>
                  </a:lnTo>
                  <a:lnTo>
                    <a:pt x="26" y="80"/>
                  </a:lnTo>
                  <a:lnTo>
                    <a:pt x="28" y="82"/>
                  </a:lnTo>
                  <a:lnTo>
                    <a:pt x="29" y="83"/>
                  </a:lnTo>
                  <a:lnTo>
                    <a:pt x="30" y="85"/>
                  </a:lnTo>
                  <a:lnTo>
                    <a:pt x="31" y="86"/>
                  </a:lnTo>
                  <a:lnTo>
                    <a:pt x="34" y="88"/>
                  </a:lnTo>
                  <a:lnTo>
                    <a:pt x="36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25" name="Freeform 193"/>
            <p:cNvSpPr>
              <a:spLocks/>
            </p:cNvSpPr>
            <p:nvPr/>
          </p:nvSpPr>
          <p:spPr bwMode="auto">
            <a:xfrm>
              <a:off x="3794" y="2640"/>
              <a:ext cx="18" cy="44"/>
            </a:xfrm>
            <a:custGeom>
              <a:avLst/>
              <a:gdLst>
                <a:gd name="T0" fmla="*/ 18 w 18"/>
                <a:gd name="T1" fmla="*/ 0 h 89"/>
                <a:gd name="T2" fmla="*/ 18 w 18"/>
                <a:gd name="T3" fmla="*/ 45 h 89"/>
                <a:gd name="T4" fmla="*/ 16 w 18"/>
                <a:gd name="T5" fmla="*/ 55 h 89"/>
                <a:gd name="T6" fmla="*/ 14 w 18"/>
                <a:gd name="T7" fmla="*/ 64 h 89"/>
                <a:gd name="T8" fmla="*/ 12 w 18"/>
                <a:gd name="T9" fmla="*/ 69 h 89"/>
                <a:gd name="T10" fmla="*/ 11 w 18"/>
                <a:gd name="T11" fmla="*/ 73 h 89"/>
                <a:gd name="T12" fmla="*/ 10 w 18"/>
                <a:gd name="T13" fmla="*/ 78 h 89"/>
                <a:gd name="T14" fmla="*/ 9 w 18"/>
                <a:gd name="T15" fmla="*/ 80 h 89"/>
                <a:gd name="T16" fmla="*/ 7 w 18"/>
                <a:gd name="T17" fmla="*/ 82 h 89"/>
                <a:gd name="T18" fmla="*/ 6 w 18"/>
                <a:gd name="T19" fmla="*/ 85 h 89"/>
                <a:gd name="T20" fmla="*/ 5 w 18"/>
                <a:gd name="T21" fmla="*/ 86 h 89"/>
                <a:gd name="T22" fmla="*/ 4 w 18"/>
                <a:gd name="T23" fmla="*/ 86 h 89"/>
                <a:gd name="T24" fmla="*/ 1 w 18"/>
                <a:gd name="T25" fmla="*/ 88 h 89"/>
                <a:gd name="T26" fmla="*/ 0 w 18"/>
                <a:gd name="T2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89">
                  <a:moveTo>
                    <a:pt x="18" y="0"/>
                  </a:moveTo>
                  <a:lnTo>
                    <a:pt x="18" y="45"/>
                  </a:lnTo>
                  <a:lnTo>
                    <a:pt x="16" y="55"/>
                  </a:lnTo>
                  <a:lnTo>
                    <a:pt x="14" y="64"/>
                  </a:lnTo>
                  <a:lnTo>
                    <a:pt x="12" y="69"/>
                  </a:lnTo>
                  <a:lnTo>
                    <a:pt x="11" y="73"/>
                  </a:lnTo>
                  <a:lnTo>
                    <a:pt x="10" y="78"/>
                  </a:lnTo>
                  <a:lnTo>
                    <a:pt x="9" y="80"/>
                  </a:lnTo>
                  <a:lnTo>
                    <a:pt x="7" y="82"/>
                  </a:lnTo>
                  <a:lnTo>
                    <a:pt x="6" y="85"/>
                  </a:lnTo>
                  <a:lnTo>
                    <a:pt x="5" y="86"/>
                  </a:lnTo>
                  <a:lnTo>
                    <a:pt x="4" y="86"/>
                  </a:lnTo>
                  <a:lnTo>
                    <a:pt x="1" y="88"/>
                  </a:lnTo>
                  <a:lnTo>
                    <a:pt x="0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26" name="Line 194"/>
            <p:cNvSpPr>
              <a:spLocks noChangeShapeType="1"/>
            </p:cNvSpPr>
            <p:nvPr/>
          </p:nvSpPr>
          <p:spPr bwMode="auto">
            <a:xfrm>
              <a:off x="3371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27" name="Line 195"/>
            <p:cNvSpPr>
              <a:spLocks noChangeShapeType="1"/>
            </p:cNvSpPr>
            <p:nvPr/>
          </p:nvSpPr>
          <p:spPr bwMode="auto">
            <a:xfrm>
              <a:off x="3445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28" name="Line 196"/>
            <p:cNvSpPr>
              <a:spLocks noChangeShapeType="1"/>
            </p:cNvSpPr>
            <p:nvPr/>
          </p:nvSpPr>
          <p:spPr bwMode="auto">
            <a:xfrm>
              <a:off x="3518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29" name="Line 197"/>
            <p:cNvSpPr>
              <a:spLocks noChangeShapeType="1"/>
            </p:cNvSpPr>
            <p:nvPr/>
          </p:nvSpPr>
          <p:spPr bwMode="auto">
            <a:xfrm>
              <a:off x="3592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30" name="Line 198"/>
            <p:cNvSpPr>
              <a:spLocks noChangeShapeType="1"/>
            </p:cNvSpPr>
            <p:nvPr/>
          </p:nvSpPr>
          <p:spPr bwMode="auto">
            <a:xfrm>
              <a:off x="3665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31" name="Line 199"/>
            <p:cNvSpPr>
              <a:spLocks noChangeShapeType="1"/>
            </p:cNvSpPr>
            <p:nvPr/>
          </p:nvSpPr>
          <p:spPr bwMode="auto">
            <a:xfrm>
              <a:off x="3739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32" name="Freeform 200"/>
            <p:cNvSpPr>
              <a:spLocks/>
            </p:cNvSpPr>
            <p:nvPr/>
          </p:nvSpPr>
          <p:spPr bwMode="auto">
            <a:xfrm>
              <a:off x="2691" y="2640"/>
              <a:ext cx="18" cy="44"/>
            </a:xfrm>
            <a:custGeom>
              <a:avLst/>
              <a:gdLst>
                <a:gd name="T0" fmla="*/ 18 w 18"/>
                <a:gd name="T1" fmla="*/ 0 h 89"/>
                <a:gd name="T2" fmla="*/ 18 w 18"/>
                <a:gd name="T3" fmla="*/ 45 h 89"/>
                <a:gd name="T4" fmla="*/ 16 w 18"/>
                <a:gd name="T5" fmla="*/ 55 h 89"/>
                <a:gd name="T6" fmla="*/ 13 w 18"/>
                <a:gd name="T7" fmla="*/ 64 h 89"/>
                <a:gd name="T8" fmla="*/ 12 w 18"/>
                <a:gd name="T9" fmla="*/ 69 h 89"/>
                <a:gd name="T10" fmla="*/ 11 w 18"/>
                <a:gd name="T11" fmla="*/ 73 h 89"/>
                <a:gd name="T12" fmla="*/ 9 w 18"/>
                <a:gd name="T13" fmla="*/ 78 h 89"/>
                <a:gd name="T14" fmla="*/ 8 w 18"/>
                <a:gd name="T15" fmla="*/ 80 h 89"/>
                <a:gd name="T16" fmla="*/ 7 w 18"/>
                <a:gd name="T17" fmla="*/ 82 h 89"/>
                <a:gd name="T18" fmla="*/ 6 w 18"/>
                <a:gd name="T19" fmla="*/ 85 h 89"/>
                <a:gd name="T20" fmla="*/ 5 w 18"/>
                <a:gd name="T21" fmla="*/ 86 h 89"/>
                <a:gd name="T22" fmla="*/ 3 w 18"/>
                <a:gd name="T23" fmla="*/ 86 h 89"/>
                <a:gd name="T24" fmla="*/ 1 w 18"/>
                <a:gd name="T25" fmla="*/ 88 h 89"/>
                <a:gd name="T26" fmla="*/ 0 w 18"/>
                <a:gd name="T2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89">
                  <a:moveTo>
                    <a:pt x="18" y="0"/>
                  </a:moveTo>
                  <a:lnTo>
                    <a:pt x="18" y="45"/>
                  </a:lnTo>
                  <a:lnTo>
                    <a:pt x="16" y="55"/>
                  </a:lnTo>
                  <a:lnTo>
                    <a:pt x="13" y="64"/>
                  </a:lnTo>
                  <a:lnTo>
                    <a:pt x="12" y="69"/>
                  </a:lnTo>
                  <a:lnTo>
                    <a:pt x="11" y="73"/>
                  </a:lnTo>
                  <a:lnTo>
                    <a:pt x="9" y="78"/>
                  </a:lnTo>
                  <a:lnTo>
                    <a:pt x="8" y="80"/>
                  </a:lnTo>
                  <a:lnTo>
                    <a:pt x="7" y="82"/>
                  </a:lnTo>
                  <a:lnTo>
                    <a:pt x="6" y="85"/>
                  </a:lnTo>
                  <a:lnTo>
                    <a:pt x="5" y="86"/>
                  </a:lnTo>
                  <a:lnTo>
                    <a:pt x="3" y="86"/>
                  </a:lnTo>
                  <a:lnTo>
                    <a:pt x="1" y="88"/>
                  </a:lnTo>
                  <a:lnTo>
                    <a:pt x="0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33" name="Freeform 201"/>
            <p:cNvSpPr>
              <a:spLocks/>
            </p:cNvSpPr>
            <p:nvPr/>
          </p:nvSpPr>
          <p:spPr bwMode="auto">
            <a:xfrm>
              <a:off x="4272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6 h 89"/>
                <a:gd name="T6" fmla="*/ 5 w 37"/>
                <a:gd name="T7" fmla="*/ 85 h 89"/>
                <a:gd name="T8" fmla="*/ 6 w 37"/>
                <a:gd name="T9" fmla="*/ 83 h 89"/>
                <a:gd name="T10" fmla="*/ 8 w 37"/>
                <a:gd name="T11" fmla="*/ 82 h 89"/>
                <a:gd name="T12" fmla="*/ 9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9 w 37"/>
                <a:gd name="T25" fmla="*/ 45 h 89"/>
                <a:gd name="T26" fmla="*/ 19 w 37"/>
                <a:gd name="T27" fmla="*/ 0 h 89"/>
                <a:gd name="T28" fmla="*/ 19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4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8 w 37"/>
                <a:gd name="T43" fmla="*/ 82 h 89"/>
                <a:gd name="T44" fmla="*/ 30 w 37"/>
                <a:gd name="T45" fmla="*/ 83 h 89"/>
                <a:gd name="T46" fmla="*/ 31 w 37"/>
                <a:gd name="T47" fmla="*/ 85 h 89"/>
                <a:gd name="T48" fmla="*/ 32 w 37"/>
                <a:gd name="T49" fmla="*/ 86 h 89"/>
                <a:gd name="T50" fmla="*/ 35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8" y="82"/>
                  </a:lnTo>
                  <a:lnTo>
                    <a:pt x="9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9" y="45"/>
                  </a:lnTo>
                  <a:lnTo>
                    <a:pt x="19" y="0"/>
                  </a:lnTo>
                  <a:lnTo>
                    <a:pt x="19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4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30" y="83"/>
                  </a:lnTo>
                  <a:lnTo>
                    <a:pt x="31" y="85"/>
                  </a:lnTo>
                  <a:lnTo>
                    <a:pt x="32" y="86"/>
                  </a:lnTo>
                  <a:lnTo>
                    <a:pt x="35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34" name="Freeform 202"/>
            <p:cNvSpPr>
              <a:spLocks/>
            </p:cNvSpPr>
            <p:nvPr/>
          </p:nvSpPr>
          <p:spPr bwMode="auto">
            <a:xfrm>
              <a:off x="4346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3 w 37"/>
                <a:gd name="T5" fmla="*/ 86 h 89"/>
                <a:gd name="T6" fmla="*/ 5 w 37"/>
                <a:gd name="T7" fmla="*/ 85 h 89"/>
                <a:gd name="T8" fmla="*/ 6 w 37"/>
                <a:gd name="T9" fmla="*/ 83 h 89"/>
                <a:gd name="T10" fmla="*/ 7 w 37"/>
                <a:gd name="T11" fmla="*/ 82 h 89"/>
                <a:gd name="T12" fmla="*/ 8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3 w 37"/>
                <a:gd name="T21" fmla="*/ 64 h 89"/>
                <a:gd name="T22" fmla="*/ 16 w 37"/>
                <a:gd name="T23" fmla="*/ 54 h 89"/>
                <a:gd name="T24" fmla="*/ 18 w 37"/>
                <a:gd name="T25" fmla="*/ 45 h 89"/>
                <a:gd name="T26" fmla="*/ 18 w 37"/>
                <a:gd name="T27" fmla="*/ 0 h 89"/>
                <a:gd name="T28" fmla="*/ 18 w 37"/>
                <a:gd name="T29" fmla="*/ 45 h 89"/>
                <a:gd name="T30" fmla="*/ 19 w 37"/>
                <a:gd name="T31" fmla="*/ 54 h 89"/>
                <a:gd name="T32" fmla="*/ 22 w 37"/>
                <a:gd name="T33" fmla="*/ 64 h 89"/>
                <a:gd name="T34" fmla="*/ 23 w 37"/>
                <a:gd name="T35" fmla="*/ 69 h 89"/>
                <a:gd name="T36" fmla="*/ 24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8 w 37"/>
                <a:gd name="T43" fmla="*/ 82 h 89"/>
                <a:gd name="T44" fmla="*/ 29 w 37"/>
                <a:gd name="T45" fmla="*/ 83 h 89"/>
                <a:gd name="T46" fmla="*/ 30 w 37"/>
                <a:gd name="T47" fmla="*/ 85 h 89"/>
                <a:gd name="T48" fmla="*/ 32 w 37"/>
                <a:gd name="T49" fmla="*/ 86 h 89"/>
                <a:gd name="T50" fmla="*/ 34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3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7" y="82"/>
                  </a:lnTo>
                  <a:lnTo>
                    <a:pt x="8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19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29" y="83"/>
                  </a:lnTo>
                  <a:lnTo>
                    <a:pt x="30" y="85"/>
                  </a:lnTo>
                  <a:lnTo>
                    <a:pt x="32" y="86"/>
                  </a:lnTo>
                  <a:lnTo>
                    <a:pt x="34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35" name="Freeform 203"/>
            <p:cNvSpPr>
              <a:spLocks/>
            </p:cNvSpPr>
            <p:nvPr/>
          </p:nvSpPr>
          <p:spPr bwMode="auto">
            <a:xfrm>
              <a:off x="4419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2 w 37"/>
                <a:gd name="T3" fmla="*/ 88 h 89"/>
                <a:gd name="T4" fmla="*/ 4 w 37"/>
                <a:gd name="T5" fmla="*/ 86 h 89"/>
                <a:gd name="T6" fmla="*/ 5 w 37"/>
                <a:gd name="T7" fmla="*/ 85 h 89"/>
                <a:gd name="T8" fmla="*/ 6 w 37"/>
                <a:gd name="T9" fmla="*/ 83 h 89"/>
                <a:gd name="T10" fmla="*/ 8 w 37"/>
                <a:gd name="T11" fmla="*/ 82 h 89"/>
                <a:gd name="T12" fmla="*/ 9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3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9 w 37"/>
                <a:gd name="T25" fmla="*/ 45 h 89"/>
                <a:gd name="T26" fmla="*/ 19 w 37"/>
                <a:gd name="T27" fmla="*/ 0 h 89"/>
                <a:gd name="T28" fmla="*/ 19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4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9 w 37"/>
                <a:gd name="T43" fmla="*/ 82 h 89"/>
                <a:gd name="T44" fmla="*/ 30 w 37"/>
                <a:gd name="T45" fmla="*/ 83 h 89"/>
                <a:gd name="T46" fmla="*/ 31 w 37"/>
                <a:gd name="T47" fmla="*/ 85 h 89"/>
                <a:gd name="T48" fmla="*/ 32 w 37"/>
                <a:gd name="T49" fmla="*/ 86 h 89"/>
                <a:gd name="T50" fmla="*/ 35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2" y="88"/>
                  </a:lnTo>
                  <a:lnTo>
                    <a:pt x="4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8" y="82"/>
                  </a:lnTo>
                  <a:lnTo>
                    <a:pt x="9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3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9" y="45"/>
                  </a:lnTo>
                  <a:lnTo>
                    <a:pt x="19" y="0"/>
                  </a:lnTo>
                  <a:lnTo>
                    <a:pt x="19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4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9" y="82"/>
                  </a:lnTo>
                  <a:lnTo>
                    <a:pt x="30" y="83"/>
                  </a:lnTo>
                  <a:lnTo>
                    <a:pt x="31" y="85"/>
                  </a:lnTo>
                  <a:lnTo>
                    <a:pt x="32" y="86"/>
                  </a:lnTo>
                  <a:lnTo>
                    <a:pt x="35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36" name="Freeform 204"/>
            <p:cNvSpPr>
              <a:spLocks/>
            </p:cNvSpPr>
            <p:nvPr/>
          </p:nvSpPr>
          <p:spPr bwMode="auto">
            <a:xfrm>
              <a:off x="4493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6 h 89"/>
                <a:gd name="T6" fmla="*/ 5 w 37"/>
                <a:gd name="T7" fmla="*/ 85 h 89"/>
                <a:gd name="T8" fmla="*/ 6 w 37"/>
                <a:gd name="T9" fmla="*/ 83 h 89"/>
                <a:gd name="T10" fmla="*/ 7 w 37"/>
                <a:gd name="T11" fmla="*/ 82 h 89"/>
                <a:gd name="T12" fmla="*/ 8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3 w 37"/>
                <a:gd name="T21" fmla="*/ 64 h 89"/>
                <a:gd name="T22" fmla="*/ 16 w 37"/>
                <a:gd name="T23" fmla="*/ 54 h 89"/>
                <a:gd name="T24" fmla="*/ 18 w 37"/>
                <a:gd name="T25" fmla="*/ 45 h 89"/>
                <a:gd name="T26" fmla="*/ 18 w 37"/>
                <a:gd name="T27" fmla="*/ 0 h 89"/>
                <a:gd name="T28" fmla="*/ 18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3 w 37"/>
                <a:gd name="T35" fmla="*/ 69 h 89"/>
                <a:gd name="T36" fmla="*/ 24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8 w 37"/>
                <a:gd name="T43" fmla="*/ 82 h 89"/>
                <a:gd name="T44" fmla="*/ 29 w 37"/>
                <a:gd name="T45" fmla="*/ 83 h 89"/>
                <a:gd name="T46" fmla="*/ 31 w 37"/>
                <a:gd name="T47" fmla="*/ 85 h 89"/>
                <a:gd name="T48" fmla="*/ 32 w 37"/>
                <a:gd name="T49" fmla="*/ 86 h 89"/>
                <a:gd name="T50" fmla="*/ 34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7" y="82"/>
                  </a:lnTo>
                  <a:lnTo>
                    <a:pt x="8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29" y="83"/>
                  </a:lnTo>
                  <a:lnTo>
                    <a:pt x="31" y="85"/>
                  </a:lnTo>
                  <a:lnTo>
                    <a:pt x="32" y="86"/>
                  </a:lnTo>
                  <a:lnTo>
                    <a:pt x="34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37" name="Freeform 205"/>
            <p:cNvSpPr>
              <a:spLocks/>
            </p:cNvSpPr>
            <p:nvPr/>
          </p:nvSpPr>
          <p:spPr bwMode="auto">
            <a:xfrm>
              <a:off x="4566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2 w 37"/>
                <a:gd name="T3" fmla="*/ 88 h 89"/>
                <a:gd name="T4" fmla="*/ 4 w 37"/>
                <a:gd name="T5" fmla="*/ 86 h 89"/>
                <a:gd name="T6" fmla="*/ 5 w 37"/>
                <a:gd name="T7" fmla="*/ 85 h 89"/>
                <a:gd name="T8" fmla="*/ 7 w 37"/>
                <a:gd name="T9" fmla="*/ 83 h 89"/>
                <a:gd name="T10" fmla="*/ 8 w 37"/>
                <a:gd name="T11" fmla="*/ 82 h 89"/>
                <a:gd name="T12" fmla="*/ 9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3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9 w 37"/>
                <a:gd name="T25" fmla="*/ 45 h 89"/>
                <a:gd name="T26" fmla="*/ 19 w 37"/>
                <a:gd name="T27" fmla="*/ 0 h 89"/>
                <a:gd name="T28" fmla="*/ 19 w 37"/>
                <a:gd name="T29" fmla="*/ 45 h 89"/>
                <a:gd name="T30" fmla="*/ 20 w 37"/>
                <a:gd name="T31" fmla="*/ 54 h 89"/>
                <a:gd name="T32" fmla="*/ 23 w 37"/>
                <a:gd name="T33" fmla="*/ 64 h 89"/>
                <a:gd name="T34" fmla="*/ 24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9 w 37"/>
                <a:gd name="T43" fmla="*/ 82 h 89"/>
                <a:gd name="T44" fmla="*/ 30 w 37"/>
                <a:gd name="T45" fmla="*/ 83 h 89"/>
                <a:gd name="T46" fmla="*/ 31 w 37"/>
                <a:gd name="T47" fmla="*/ 85 h 89"/>
                <a:gd name="T48" fmla="*/ 32 w 37"/>
                <a:gd name="T49" fmla="*/ 86 h 89"/>
                <a:gd name="T50" fmla="*/ 35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2" y="88"/>
                  </a:lnTo>
                  <a:lnTo>
                    <a:pt x="4" y="86"/>
                  </a:lnTo>
                  <a:lnTo>
                    <a:pt x="5" y="85"/>
                  </a:lnTo>
                  <a:lnTo>
                    <a:pt x="7" y="83"/>
                  </a:lnTo>
                  <a:lnTo>
                    <a:pt x="8" y="82"/>
                  </a:lnTo>
                  <a:lnTo>
                    <a:pt x="9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3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9" y="45"/>
                  </a:lnTo>
                  <a:lnTo>
                    <a:pt x="19" y="0"/>
                  </a:lnTo>
                  <a:lnTo>
                    <a:pt x="19" y="45"/>
                  </a:lnTo>
                  <a:lnTo>
                    <a:pt x="20" y="54"/>
                  </a:lnTo>
                  <a:lnTo>
                    <a:pt x="23" y="64"/>
                  </a:lnTo>
                  <a:lnTo>
                    <a:pt x="24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9" y="82"/>
                  </a:lnTo>
                  <a:lnTo>
                    <a:pt x="30" y="83"/>
                  </a:lnTo>
                  <a:lnTo>
                    <a:pt x="31" y="85"/>
                  </a:lnTo>
                  <a:lnTo>
                    <a:pt x="32" y="86"/>
                  </a:lnTo>
                  <a:lnTo>
                    <a:pt x="35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38" name="Freeform 206"/>
            <p:cNvSpPr>
              <a:spLocks/>
            </p:cNvSpPr>
            <p:nvPr/>
          </p:nvSpPr>
          <p:spPr bwMode="auto">
            <a:xfrm>
              <a:off x="4640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6 h 89"/>
                <a:gd name="T6" fmla="*/ 5 w 37"/>
                <a:gd name="T7" fmla="*/ 85 h 89"/>
                <a:gd name="T8" fmla="*/ 6 w 37"/>
                <a:gd name="T9" fmla="*/ 83 h 89"/>
                <a:gd name="T10" fmla="*/ 7 w 37"/>
                <a:gd name="T11" fmla="*/ 82 h 89"/>
                <a:gd name="T12" fmla="*/ 9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3 w 37"/>
                <a:gd name="T21" fmla="*/ 64 h 89"/>
                <a:gd name="T22" fmla="*/ 16 w 37"/>
                <a:gd name="T23" fmla="*/ 54 h 89"/>
                <a:gd name="T24" fmla="*/ 18 w 37"/>
                <a:gd name="T25" fmla="*/ 45 h 89"/>
                <a:gd name="T26" fmla="*/ 18 w 37"/>
                <a:gd name="T27" fmla="*/ 0 h 89"/>
                <a:gd name="T28" fmla="*/ 18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3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8 w 37"/>
                <a:gd name="T43" fmla="*/ 82 h 89"/>
                <a:gd name="T44" fmla="*/ 29 w 37"/>
                <a:gd name="T45" fmla="*/ 83 h 89"/>
                <a:gd name="T46" fmla="*/ 31 w 37"/>
                <a:gd name="T47" fmla="*/ 85 h 89"/>
                <a:gd name="T48" fmla="*/ 32 w 37"/>
                <a:gd name="T49" fmla="*/ 86 h 89"/>
                <a:gd name="T50" fmla="*/ 34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7" y="82"/>
                  </a:lnTo>
                  <a:lnTo>
                    <a:pt x="9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29" y="83"/>
                  </a:lnTo>
                  <a:lnTo>
                    <a:pt x="31" y="85"/>
                  </a:lnTo>
                  <a:lnTo>
                    <a:pt x="32" y="86"/>
                  </a:lnTo>
                  <a:lnTo>
                    <a:pt x="34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39" name="Line 207"/>
            <p:cNvSpPr>
              <a:spLocks noChangeShapeType="1"/>
            </p:cNvSpPr>
            <p:nvPr/>
          </p:nvSpPr>
          <p:spPr bwMode="auto">
            <a:xfrm flipV="1">
              <a:off x="4291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40" name="Line 208"/>
            <p:cNvSpPr>
              <a:spLocks noChangeShapeType="1"/>
            </p:cNvSpPr>
            <p:nvPr/>
          </p:nvSpPr>
          <p:spPr bwMode="auto">
            <a:xfrm flipV="1">
              <a:off x="4364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41" name="Line 209"/>
            <p:cNvSpPr>
              <a:spLocks noChangeShapeType="1"/>
            </p:cNvSpPr>
            <p:nvPr/>
          </p:nvSpPr>
          <p:spPr bwMode="auto">
            <a:xfrm flipV="1">
              <a:off x="4438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42" name="Line 210"/>
            <p:cNvSpPr>
              <a:spLocks noChangeShapeType="1"/>
            </p:cNvSpPr>
            <p:nvPr/>
          </p:nvSpPr>
          <p:spPr bwMode="auto">
            <a:xfrm flipV="1">
              <a:off x="4511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43" name="Line 211"/>
            <p:cNvSpPr>
              <a:spLocks noChangeShapeType="1"/>
            </p:cNvSpPr>
            <p:nvPr/>
          </p:nvSpPr>
          <p:spPr bwMode="auto">
            <a:xfrm flipV="1">
              <a:off x="4585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44" name="Line 212"/>
            <p:cNvSpPr>
              <a:spLocks noChangeShapeType="1"/>
            </p:cNvSpPr>
            <p:nvPr/>
          </p:nvSpPr>
          <p:spPr bwMode="auto">
            <a:xfrm flipV="1">
              <a:off x="4658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45" name="Freeform 213"/>
            <p:cNvSpPr>
              <a:spLocks/>
            </p:cNvSpPr>
            <p:nvPr/>
          </p:nvSpPr>
          <p:spPr bwMode="auto">
            <a:xfrm>
              <a:off x="4254" y="2640"/>
              <a:ext cx="18" cy="44"/>
            </a:xfrm>
            <a:custGeom>
              <a:avLst/>
              <a:gdLst>
                <a:gd name="T0" fmla="*/ 0 w 18"/>
                <a:gd name="T1" fmla="*/ 0 h 89"/>
                <a:gd name="T2" fmla="*/ 0 w 18"/>
                <a:gd name="T3" fmla="*/ 45 h 89"/>
                <a:gd name="T4" fmla="*/ 1 w 18"/>
                <a:gd name="T5" fmla="*/ 55 h 89"/>
                <a:gd name="T6" fmla="*/ 4 w 18"/>
                <a:gd name="T7" fmla="*/ 64 h 89"/>
                <a:gd name="T8" fmla="*/ 5 w 18"/>
                <a:gd name="T9" fmla="*/ 69 h 89"/>
                <a:gd name="T10" fmla="*/ 6 w 18"/>
                <a:gd name="T11" fmla="*/ 73 h 89"/>
                <a:gd name="T12" fmla="*/ 7 w 18"/>
                <a:gd name="T13" fmla="*/ 78 h 89"/>
                <a:gd name="T14" fmla="*/ 8 w 18"/>
                <a:gd name="T15" fmla="*/ 80 h 89"/>
                <a:gd name="T16" fmla="*/ 10 w 18"/>
                <a:gd name="T17" fmla="*/ 82 h 89"/>
                <a:gd name="T18" fmla="*/ 11 w 18"/>
                <a:gd name="T19" fmla="*/ 85 h 89"/>
                <a:gd name="T20" fmla="*/ 12 w 18"/>
                <a:gd name="T21" fmla="*/ 86 h 89"/>
                <a:gd name="T22" fmla="*/ 13 w 18"/>
                <a:gd name="T23" fmla="*/ 86 h 89"/>
                <a:gd name="T24" fmla="*/ 16 w 18"/>
                <a:gd name="T25" fmla="*/ 88 h 89"/>
                <a:gd name="T26" fmla="*/ 18 w 18"/>
                <a:gd name="T2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89">
                  <a:moveTo>
                    <a:pt x="0" y="0"/>
                  </a:moveTo>
                  <a:lnTo>
                    <a:pt x="0" y="45"/>
                  </a:lnTo>
                  <a:lnTo>
                    <a:pt x="1" y="55"/>
                  </a:lnTo>
                  <a:lnTo>
                    <a:pt x="4" y="64"/>
                  </a:lnTo>
                  <a:lnTo>
                    <a:pt x="5" y="69"/>
                  </a:lnTo>
                  <a:lnTo>
                    <a:pt x="6" y="73"/>
                  </a:lnTo>
                  <a:lnTo>
                    <a:pt x="7" y="78"/>
                  </a:lnTo>
                  <a:lnTo>
                    <a:pt x="8" y="80"/>
                  </a:lnTo>
                  <a:lnTo>
                    <a:pt x="10" y="82"/>
                  </a:lnTo>
                  <a:lnTo>
                    <a:pt x="11" y="85"/>
                  </a:lnTo>
                  <a:lnTo>
                    <a:pt x="12" y="86"/>
                  </a:lnTo>
                  <a:lnTo>
                    <a:pt x="13" y="86"/>
                  </a:lnTo>
                  <a:lnTo>
                    <a:pt x="16" y="88"/>
                  </a:lnTo>
                  <a:lnTo>
                    <a:pt x="18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46" name="Freeform 214"/>
            <p:cNvSpPr>
              <a:spLocks/>
            </p:cNvSpPr>
            <p:nvPr/>
          </p:nvSpPr>
          <p:spPr bwMode="auto">
            <a:xfrm>
              <a:off x="4309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6 h 89"/>
                <a:gd name="T6" fmla="*/ 5 w 37"/>
                <a:gd name="T7" fmla="*/ 85 h 89"/>
                <a:gd name="T8" fmla="*/ 6 w 37"/>
                <a:gd name="T9" fmla="*/ 83 h 89"/>
                <a:gd name="T10" fmla="*/ 7 w 37"/>
                <a:gd name="T11" fmla="*/ 82 h 89"/>
                <a:gd name="T12" fmla="*/ 9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3 w 37"/>
                <a:gd name="T21" fmla="*/ 64 h 89"/>
                <a:gd name="T22" fmla="*/ 16 w 37"/>
                <a:gd name="T23" fmla="*/ 54 h 89"/>
                <a:gd name="T24" fmla="*/ 18 w 37"/>
                <a:gd name="T25" fmla="*/ 45 h 89"/>
                <a:gd name="T26" fmla="*/ 18 w 37"/>
                <a:gd name="T27" fmla="*/ 0 h 89"/>
                <a:gd name="T28" fmla="*/ 18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3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8 w 37"/>
                <a:gd name="T43" fmla="*/ 82 h 89"/>
                <a:gd name="T44" fmla="*/ 29 w 37"/>
                <a:gd name="T45" fmla="*/ 83 h 89"/>
                <a:gd name="T46" fmla="*/ 31 w 37"/>
                <a:gd name="T47" fmla="*/ 85 h 89"/>
                <a:gd name="T48" fmla="*/ 32 w 37"/>
                <a:gd name="T49" fmla="*/ 86 h 89"/>
                <a:gd name="T50" fmla="*/ 34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7" y="82"/>
                  </a:lnTo>
                  <a:lnTo>
                    <a:pt x="9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29" y="83"/>
                  </a:lnTo>
                  <a:lnTo>
                    <a:pt x="31" y="85"/>
                  </a:lnTo>
                  <a:lnTo>
                    <a:pt x="32" y="86"/>
                  </a:lnTo>
                  <a:lnTo>
                    <a:pt x="34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47" name="Freeform 215"/>
            <p:cNvSpPr>
              <a:spLocks/>
            </p:cNvSpPr>
            <p:nvPr/>
          </p:nvSpPr>
          <p:spPr bwMode="auto">
            <a:xfrm>
              <a:off x="4383" y="2640"/>
              <a:ext cx="36" cy="44"/>
            </a:xfrm>
            <a:custGeom>
              <a:avLst/>
              <a:gdLst>
                <a:gd name="T0" fmla="*/ 0 w 36"/>
                <a:gd name="T1" fmla="*/ 89 h 89"/>
                <a:gd name="T2" fmla="*/ 1 w 36"/>
                <a:gd name="T3" fmla="*/ 88 h 89"/>
                <a:gd name="T4" fmla="*/ 3 w 36"/>
                <a:gd name="T5" fmla="*/ 86 h 89"/>
                <a:gd name="T6" fmla="*/ 4 w 36"/>
                <a:gd name="T7" fmla="*/ 85 h 89"/>
                <a:gd name="T8" fmla="*/ 6 w 36"/>
                <a:gd name="T9" fmla="*/ 83 h 89"/>
                <a:gd name="T10" fmla="*/ 7 w 36"/>
                <a:gd name="T11" fmla="*/ 82 h 89"/>
                <a:gd name="T12" fmla="*/ 8 w 36"/>
                <a:gd name="T13" fmla="*/ 80 h 89"/>
                <a:gd name="T14" fmla="*/ 9 w 36"/>
                <a:gd name="T15" fmla="*/ 76 h 89"/>
                <a:gd name="T16" fmla="*/ 11 w 36"/>
                <a:gd name="T17" fmla="*/ 73 h 89"/>
                <a:gd name="T18" fmla="*/ 12 w 36"/>
                <a:gd name="T19" fmla="*/ 69 h 89"/>
                <a:gd name="T20" fmla="*/ 13 w 36"/>
                <a:gd name="T21" fmla="*/ 64 h 89"/>
                <a:gd name="T22" fmla="*/ 15 w 36"/>
                <a:gd name="T23" fmla="*/ 54 h 89"/>
                <a:gd name="T24" fmla="*/ 18 w 36"/>
                <a:gd name="T25" fmla="*/ 45 h 89"/>
                <a:gd name="T26" fmla="*/ 18 w 36"/>
                <a:gd name="T27" fmla="*/ 0 h 89"/>
                <a:gd name="T28" fmla="*/ 18 w 36"/>
                <a:gd name="T29" fmla="*/ 45 h 89"/>
                <a:gd name="T30" fmla="*/ 19 w 36"/>
                <a:gd name="T31" fmla="*/ 54 h 89"/>
                <a:gd name="T32" fmla="*/ 22 w 36"/>
                <a:gd name="T33" fmla="*/ 64 h 89"/>
                <a:gd name="T34" fmla="*/ 23 w 36"/>
                <a:gd name="T35" fmla="*/ 69 h 89"/>
                <a:gd name="T36" fmla="*/ 24 w 36"/>
                <a:gd name="T37" fmla="*/ 73 h 89"/>
                <a:gd name="T38" fmla="*/ 25 w 36"/>
                <a:gd name="T39" fmla="*/ 76 h 89"/>
                <a:gd name="T40" fmla="*/ 27 w 36"/>
                <a:gd name="T41" fmla="*/ 80 h 89"/>
                <a:gd name="T42" fmla="*/ 28 w 36"/>
                <a:gd name="T43" fmla="*/ 82 h 89"/>
                <a:gd name="T44" fmla="*/ 29 w 36"/>
                <a:gd name="T45" fmla="*/ 83 h 89"/>
                <a:gd name="T46" fmla="*/ 30 w 36"/>
                <a:gd name="T47" fmla="*/ 85 h 89"/>
                <a:gd name="T48" fmla="*/ 31 w 36"/>
                <a:gd name="T49" fmla="*/ 86 h 89"/>
                <a:gd name="T50" fmla="*/ 34 w 36"/>
                <a:gd name="T51" fmla="*/ 88 h 89"/>
                <a:gd name="T52" fmla="*/ 36 w 36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6" h="89">
                  <a:moveTo>
                    <a:pt x="0" y="89"/>
                  </a:moveTo>
                  <a:lnTo>
                    <a:pt x="1" y="88"/>
                  </a:lnTo>
                  <a:lnTo>
                    <a:pt x="3" y="86"/>
                  </a:lnTo>
                  <a:lnTo>
                    <a:pt x="4" y="85"/>
                  </a:lnTo>
                  <a:lnTo>
                    <a:pt x="6" y="83"/>
                  </a:lnTo>
                  <a:lnTo>
                    <a:pt x="7" y="82"/>
                  </a:lnTo>
                  <a:lnTo>
                    <a:pt x="8" y="80"/>
                  </a:lnTo>
                  <a:lnTo>
                    <a:pt x="9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5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19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5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29" y="83"/>
                  </a:lnTo>
                  <a:lnTo>
                    <a:pt x="30" y="85"/>
                  </a:lnTo>
                  <a:lnTo>
                    <a:pt x="31" y="86"/>
                  </a:lnTo>
                  <a:lnTo>
                    <a:pt x="34" y="88"/>
                  </a:lnTo>
                  <a:lnTo>
                    <a:pt x="36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48" name="Freeform 216"/>
            <p:cNvSpPr>
              <a:spLocks/>
            </p:cNvSpPr>
            <p:nvPr/>
          </p:nvSpPr>
          <p:spPr bwMode="auto">
            <a:xfrm>
              <a:off x="4456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6 h 89"/>
                <a:gd name="T6" fmla="*/ 5 w 37"/>
                <a:gd name="T7" fmla="*/ 85 h 89"/>
                <a:gd name="T8" fmla="*/ 6 w 37"/>
                <a:gd name="T9" fmla="*/ 83 h 89"/>
                <a:gd name="T10" fmla="*/ 7 w 37"/>
                <a:gd name="T11" fmla="*/ 82 h 89"/>
                <a:gd name="T12" fmla="*/ 9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8 w 37"/>
                <a:gd name="T25" fmla="*/ 45 h 89"/>
                <a:gd name="T26" fmla="*/ 18 w 37"/>
                <a:gd name="T27" fmla="*/ 0 h 89"/>
                <a:gd name="T28" fmla="*/ 18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3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8 w 37"/>
                <a:gd name="T43" fmla="*/ 82 h 89"/>
                <a:gd name="T44" fmla="*/ 30 w 37"/>
                <a:gd name="T45" fmla="*/ 83 h 89"/>
                <a:gd name="T46" fmla="*/ 31 w 37"/>
                <a:gd name="T47" fmla="*/ 85 h 89"/>
                <a:gd name="T48" fmla="*/ 32 w 37"/>
                <a:gd name="T49" fmla="*/ 86 h 89"/>
                <a:gd name="T50" fmla="*/ 34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7" y="82"/>
                  </a:lnTo>
                  <a:lnTo>
                    <a:pt x="9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30" y="83"/>
                  </a:lnTo>
                  <a:lnTo>
                    <a:pt x="31" y="85"/>
                  </a:lnTo>
                  <a:lnTo>
                    <a:pt x="32" y="86"/>
                  </a:lnTo>
                  <a:lnTo>
                    <a:pt x="34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49" name="Freeform 217"/>
            <p:cNvSpPr>
              <a:spLocks/>
            </p:cNvSpPr>
            <p:nvPr/>
          </p:nvSpPr>
          <p:spPr bwMode="auto">
            <a:xfrm>
              <a:off x="4530" y="2640"/>
              <a:ext cx="36" cy="44"/>
            </a:xfrm>
            <a:custGeom>
              <a:avLst/>
              <a:gdLst>
                <a:gd name="T0" fmla="*/ 0 w 36"/>
                <a:gd name="T1" fmla="*/ 89 h 89"/>
                <a:gd name="T2" fmla="*/ 1 w 36"/>
                <a:gd name="T3" fmla="*/ 88 h 89"/>
                <a:gd name="T4" fmla="*/ 3 w 36"/>
                <a:gd name="T5" fmla="*/ 86 h 89"/>
                <a:gd name="T6" fmla="*/ 5 w 36"/>
                <a:gd name="T7" fmla="*/ 85 h 89"/>
                <a:gd name="T8" fmla="*/ 6 w 36"/>
                <a:gd name="T9" fmla="*/ 83 h 89"/>
                <a:gd name="T10" fmla="*/ 7 w 36"/>
                <a:gd name="T11" fmla="*/ 82 h 89"/>
                <a:gd name="T12" fmla="*/ 8 w 36"/>
                <a:gd name="T13" fmla="*/ 80 h 89"/>
                <a:gd name="T14" fmla="*/ 9 w 36"/>
                <a:gd name="T15" fmla="*/ 76 h 89"/>
                <a:gd name="T16" fmla="*/ 11 w 36"/>
                <a:gd name="T17" fmla="*/ 73 h 89"/>
                <a:gd name="T18" fmla="*/ 12 w 36"/>
                <a:gd name="T19" fmla="*/ 69 h 89"/>
                <a:gd name="T20" fmla="*/ 13 w 36"/>
                <a:gd name="T21" fmla="*/ 64 h 89"/>
                <a:gd name="T22" fmla="*/ 16 w 36"/>
                <a:gd name="T23" fmla="*/ 54 h 89"/>
                <a:gd name="T24" fmla="*/ 18 w 36"/>
                <a:gd name="T25" fmla="*/ 45 h 89"/>
                <a:gd name="T26" fmla="*/ 18 w 36"/>
                <a:gd name="T27" fmla="*/ 0 h 89"/>
                <a:gd name="T28" fmla="*/ 18 w 36"/>
                <a:gd name="T29" fmla="*/ 45 h 89"/>
                <a:gd name="T30" fmla="*/ 19 w 36"/>
                <a:gd name="T31" fmla="*/ 54 h 89"/>
                <a:gd name="T32" fmla="*/ 22 w 36"/>
                <a:gd name="T33" fmla="*/ 64 h 89"/>
                <a:gd name="T34" fmla="*/ 23 w 36"/>
                <a:gd name="T35" fmla="*/ 69 h 89"/>
                <a:gd name="T36" fmla="*/ 24 w 36"/>
                <a:gd name="T37" fmla="*/ 73 h 89"/>
                <a:gd name="T38" fmla="*/ 25 w 36"/>
                <a:gd name="T39" fmla="*/ 76 h 89"/>
                <a:gd name="T40" fmla="*/ 27 w 36"/>
                <a:gd name="T41" fmla="*/ 80 h 89"/>
                <a:gd name="T42" fmla="*/ 28 w 36"/>
                <a:gd name="T43" fmla="*/ 82 h 89"/>
                <a:gd name="T44" fmla="*/ 29 w 36"/>
                <a:gd name="T45" fmla="*/ 83 h 89"/>
                <a:gd name="T46" fmla="*/ 30 w 36"/>
                <a:gd name="T47" fmla="*/ 85 h 89"/>
                <a:gd name="T48" fmla="*/ 32 w 36"/>
                <a:gd name="T49" fmla="*/ 86 h 89"/>
                <a:gd name="T50" fmla="*/ 34 w 36"/>
                <a:gd name="T51" fmla="*/ 88 h 89"/>
                <a:gd name="T52" fmla="*/ 36 w 36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6" h="89">
                  <a:moveTo>
                    <a:pt x="0" y="89"/>
                  </a:moveTo>
                  <a:lnTo>
                    <a:pt x="1" y="88"/>
                  </a:lnTo>
                  <a:lnTo>
                    <a:pt x="3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7" y="82"/>
                  </a:lnTo>
                  <a:lnTo>
                    <a:pt x="8" y="80"/>
                  </a:lnTo>
                  <a:lnTo>
                    <a:pt x="9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19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5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29" y="83"/>
                  </a:lnTo>
                  <a:lnTo>
                    <a:pt x="30" y="85"/>
                  </a:lnTo>
                  <a:lnTo>
                    <a:pt x="32" y="86"/>
                  </a:lnTo>
                  <a:lnTo>
                    <a:pt x="34" y="88"/>
                  </a:lnTo>
                  <a:lnTo>
                    <a:pt x="36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50" name="Freeform 218"/>
            <p:cNvSpPr>
              <a:spLocks/>
            </p:cNvSpPr>
            <p:nvPr/>
          </p:nvSpPr>
          <p:spPr bwMode="auto">
            <a:xfrm>
              <a:off x="4603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6 h 89"/>
                <a:gd name="T6" fmla="*/ 5 w 37"/>
                <a:gd name="T7" fmla="*/ 85 h 89"/>
                <a:gd name="T8" fmla="*/ 6 w 37"/>
                <a:gd name="T9" fmla="*/ 83 h 89"/>
                <a:gd name="T10" fmla="*/ 8 w 37"/>
                <a:gd name="T11" fmla="*/ 82 h 89"/>
                <a:gd name="T12" fmla="*/ 9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9 w 37"/>
                <a:gd name="T25" fmla="*/ 45 h 89"/>
                <a:gd name="T26" fmla="*/ 19 w 37"/>
                <a:gd name="T27" fmla="*/ 0 h 89"/>
                <a:gd name="T28" fmla="*/ 19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4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8 w 37"/>
                <a:gd name="T43" fmla="*/ 82 h 89"/>
                <a:gd name="T44" fmla="*/ 30 w 37"/>
                <a:gd name="T45" fmla="*/ 83 h 89"/>
                <a:gd name="T46" fmla="*/ 31 w 37"/>
                <a:gd name="T47" fmla="*/ 85 h 89"/>
                <a:gd name="T48" fmla="*/ 32 w 37"/>
                <a:gd name="T49" fmla="*/ 86 h 89"/>
                <a:gd name="T50" fmla="*/ 35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8" y="82"/>
                  </a:lnTo>
                  <a:lnTo>
                    <a:pt x="9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9" y="45"/>
                  </a:lnTo>
                  <a:lnTo>
                    <a:pt x="19" y="0"/>
                  </a:lnTo>
                  <a:lnTo>
                    <a:pt x="19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4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30" y="83"/>
                  </a:lnTo>
                  <a:lnTo>
                    <a:pt x="31" y="85"/>
                  </a:lnTo>
                  <a:lnTo>
                    <a:pt x="32" y="86"/>
                  </a:lnTo>
                  <a:lnTo>
                    <a:pt x="35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51" name="Freeform 219"/>
            <p:cNvSpPr>
              <a:spLocks/>
            </p:cNvSpPr>
            <p:nvPr/>
          </p:nvSpPr>
          <p:spPr bwMode="auto">
            <a:xfrm>
              <a:off x="4677" y="2640"/>
              <a:ext cx="18" cy="44"/>
            </a:xfrm>
            <a:custGeom>
              <a:avLst/>
              <a:gdLst>
                <a:gd name="T0" fmla="*/ 18 w 18"/>
                <a:gd name="T1" fmla="*/ 0 h 89"/>
                <a:gd name="T2" fmla="*/ 18 w 18"/>
                <a:gd name="T3" fmla="*/ 45 h 89"/>
                <a:gd name="T4" fmla="*/ 16 w 18"/>
                <a:gd name="T5" fmla="*/ 55 h 89"/>
                <a:gd name="T6" fmla="*/ 13 w 18"/>
                <a:gd name="T7" fmla="*/ 64 h 89"/>
                <a:gd name="T8" fmla="*/ 12 w 18"/>
                <a:gd name="T9" fmla="*/ 69 h 89"/>
                <a:gd name="T10" fmla="*/ 11 w 18"/>
                <a:gd name="T11" fmla="*/ 73 h 89"/>
                <a:gd name="T12" fmla="*/ 10 w 18"/>
                <a:gd name="T13" fmla="*/ 78 h 89"/>
                <a:gd name="T14" fmla="*/ 8 w 18"/>
                <a:gd name="T15" fmla="*/ 80 h 89"/>
                <a:gd name="T16" fmla="*/ 7 w 18"/>
                <a:gd name="T17" fmla="*/ 82 h 89"/>
                <a:gd name="T18" fmla="*/ 6 w 18"/>
                <a:gd name="T19" fmla="*/ 85 h 89"/>
                <a:gd name="T20" fmla="*/ 5 w 18"/>
                <a:gd name="T21" fmla="*/ 86 h 89"/>
                <a:gd name="T22" fmla="*/ 3 w 18"/>
                <a:gd name="T23" fmla="*/ 86 h 89"/>
                <a:gd name="T24" fmla="*/ 1 w 18"/>
                <a:gd name="T25" fmla="*/ 88 h 89"/>
                <a:gd name="T26" fmla="*/ 0 w 18"/>
                <a:gd name="T2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89">
                  <a:moveTo>
                    <a:pt x="18" y="0"/>
                  </a:moveTo>
                  <a:lnTo>
                    <a:pt x="18" y="45"/>
                  </a:lnTo>
                  <a:lnTo>
                    <a:pt x="16" y="55"/>
                  </a:lnTo>
                  <a:lnTo>
                    <a:pt x="13" y="64"/>
                  </a:lnTo>
                  <a:lnTo>
                    <a:pt x="12" y="69"/>
                  </a:lnTo>
                  <a:lnTo>
                    <a:pt x="11" y="73"/>
                  </a:lnTo>
                  <a:lnTo>
                    <a:pt x="10" y="78"/>
                  </a:lnTo>
                  <a:lnTo>
                    <a:pt x="8" y="80"/>
                  </a:lnTo>
                  <a:lnTo>
                    <a:pt x="7" y="82"/>
                  </a:lnTo>
                  <a:lnTo>
                    <a:pt x="6" y="85"/>
                  </a:lnTo>
                  <a:lnTo>
                    <a:pt x="5" y="86"/>
                  </a:lnTo>
                  <a:lnTo>
                    <a:pt x="3" y="86"/>
                  </a:lnTo>
                  <a:lnTo>
                    <a:pt x="1" y="88"/>
                  </a:lnTo>
                  <a:lnTo>
                    <a:pt x="0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52" name="Line 220"/>
            <p:cNvSpPr>
              <a:spLocks noChangeShapeType="1"/>
            </p:cNvSpPr>
            <p:nvPr/>
          </p:nvSpPr>
          <p:spPr bwMode="auto">
            <a:xfrm>
              <a:off x="4254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53" name="Line 221"/>
            <p:cNvSpPr>
              <a:spLocks noChangeShapeType="1"/>
            </p:cNvSpPr>
            <p:nvPr/>
          </p:nvSpPr>
          <p:spPr bwMode="auto">
            <a:xfrm>
              <a:off x="4327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54" name="Line 222"/>
            <p:cNvSpPr>
              <a:spLocks noChangeShapeType="1"/>
            </p:cNvSpPr>
            <p:nvPr/>
          </p:nvSpPr>
          <p:spPr bwMode="auto">
            <a:xfrm>
              <a:off x="4401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55" name="Line 223"/>
            <p:cNvSpPr>
              <a:spLocks noChangeShapeType="1"/>
            </p:cNvSpPr>
            <p:nvPr/>
          </p:nvSpPr>
          <p:spPr bwMode="auto">
            <a:xfrm>
              <a:off x="4474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56" name="Line 224"/>
            <p:cNvSpPr>
              <a:spLocks noChangeShapeType="1"/>
            </p:cNvSpPr>
            <p:nvPr/>
          </p:nvSpPr>
          <p:spPr bwMode="auto">
            <a:xfrm>
              <a:off x="4548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57" name="Line 225"/>
            <p:cNvSpPr>
              <a:spLocks noChangeShapeType="1"/>
            </p:cNvSpPr>
            <p:nvPr/>
          </p:nvSpPr>
          <p:spPr bwMode="auto">
            <a:xfrm>
              <a:off x="4622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58" name="Freeform 226"/>
            <p:cNvSpPr>
              <a:spLocks/>
            </p:cNvSpPr>
            <p:nvPr/>
          </p:nvSpPr>
          <p:spPr bwMode="auto">
            <a:xfrm>
              <a:off x="5155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6 h 89"/>
                <a:gd name="T6" fmla="*/ 5 w 37"/>
                <a:gd name="T7" fmla="*/ 85 h 89"/>
                <a:gd name="T8" fmla="*/ 6 w 37"/>
                <a:gd name="T9" fmla="*/ 83 h 89"/>
                <a:gd name="T10" fmla="*/ 7 w 37"/>
                <a:gd name="T11" fmla="*/ 82 h 89"/>
                <a:gd name="T12" fmla="*/ 9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3 w 37"/>
                <a:gd name="T21" fmla="*/ 64 h 89"/>
                <a:gd name="T22" fmla="*/ 16 w 37"/>
                <a:gd name="T23" fmla="*/ 54 h 89"/>
                <a:gd name="T24" fmla="*/ 18 w 37"/>
                <a:gd name="T25" fmla="*/ 45 h 89"/>
                <a:gd name="T26" fmla="*/ 18 w 37"/>
                <a:gd name="T27" fmla="*/ 0 h 89"/>
                <a:gd name="T28" fmla="*/ 18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3 w 37"/>
                <a:gd name="T35" fmla="*/ 69 h 89"/>
                <a:gd name="T36" fmla="*/ 24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8 w 37"/>
                <a:gd name="T43" fmla="*/ 82 h 89"/>
                <a:gd name="T44" fmla="*/ 29 w 37"/>
                <a:gd name="T45" fmla="*/ 83 h 89"/>
                <a:gd name="T46" fmla="*/ 31 w 37"/>
                <a:gd name="T47" fmla="*/ 85 h 89"/>
                <a:gd name="T48" fmla="*/ 32 w 37"/>
                <a:gd name="T49" fmla="*/ 86 h 89"/>
                <a:gd name="T50" fmla="*/ 34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7" y="82"/>
                  </a:lnTo>
                  <a:lnTo>
                    <a:pt x="9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29" y="83"/>
                  </a:lnTo>
                  <a:lnTo>
                    <a:pt x="31" y="85"/>
                  </a:lnTo>
                  <a:lnTo>
                    <a:pt x="32" y="86"/>
                  </a:lnTo>
                  <a:lnTo>
                    <a:pt x="34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59" name="Freeform 227"/>
            <p:cNvSpPr>
              <a:spLocks/>
            </p:cNvSpPr>
            <p:nvPr/>
          </p:nvSpPr>
          <p:spPr bwMode="auto">
            <a:xfrm>
              <a:off x="5228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2 w 37"/>
                <a:gd name="T3" fmla="*/ 88 h 89"/>
                <a:gd name="T4" fmla="*/ 4 w 37"/>
                <a:gd name="T5" fmla="*/ 86 h 89"/>
                <a:gd name="T6" fmla="*/ 5 w 37"/>
                <a:gd name="T7" fmla="*/ 85 h 89"/>
                <a:gd name="T8" fmla="*/ 7 w 37"/>
                <a:gd name="T9" fmla="*/ 83 h 89"/>
                <a:gd name="T10" fmla="*/ 8 w 37"/>
                <a:gd name="T11" fmla="*/ 82 h 89"/>
                <a:gd name="T12" fmla="*/ 9 w 37"/>
                <a:gd name="T13" fmla="*/ 80 h 89"/>
                <a:gd name="T14" fmla="*/ 10 w 37"/>
                <a:gd name="T15" fmla="*/ 76 h 89"/>
                <a:gd name="T16" fmla="*/ 12 w 37"/>
                <a:gd name="T17" fmla="*/ 73 h 89"/>
                <a:gd name="T18" fmla="*/ 13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9 w 37"/>
                <a:gd name="T25" fmla="*/ 45 h 89"/>
                <a:gd name="T26" fmla="*/ 19 w 37"/>
                <a:gd name="T27" fmla="*/ 0 h 89"/>
                <a:gd name="T28" fmla="*/ 19 w 37"/>
                <a:gd name="T29" fmla="*/ 45 h 89"/>
                <a:gd name="T30" fmla="*/ 20 w 37"/>
                <a:gd name="T31" fmla="*/ 54 h 89"/>
                <a:gd name="T32" fmla="*/ 23 w 37"/>
                <a:gd name="T33" fmla="*/ 64 h 89"/>
                <a:gd name="T34" fmla="*/ 24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9 w 37"/>
                <a:gd name="T43" fmla="*/ 82 h 89"/>
                <a:gd name="T44" fmla="*/ 30 w 37"/>
                <a:gd name="T45" fmla="*/ 83 h 89"/>
                <a:gd name="T46" fmla="*/ 31 w 37"/>
                <a:gd name="T47" fmla="*/ 85 h 89"/>
                <a:gd name="T48" fmla="*/ 32 w 37"/>
                <a:gd name="T49" fmla="*/ 86 h 89"/>
                <a:gd name="T50" fmla="*/ 35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2" y="88"/>
                  </a:lnTo>
                  <a:lnTo>
                    <a:pt x="4" y="86"/>
                  </a:lnTo>
                  <a:lnTo>
                    <a:pt x="5" y="85"/>
                  </a:lnTo>
                  <a:lnTo>
                    <a:pt x="7" y="83"/>
                  </a:lnTo>
                  <a:lnTo>
                    <a:pt x="8" y="82"/>
                  </a:lnTo>
                  <a:lnTo>
                    <a:pt x="9" y="80"/>
                  </a:lnTo>
                  <a:lnTo>
                    <a:pt x="10" y="76"/>
                  </a:lnTo>
                  <a:lnTo>
                    <a:pt x="12" y="73"/>
                  </a:lnTo>
                  <a:lnTo>
                    <a:pt x="13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9" y="45"/>
                  </a:lnTo>
                  <a:lnTo>
                    <a:pt x="19" y="0"/>
                  </a:lnTo>
                  <a:lnTo>
                    <a:pt x="19" y="45"/>
                  </a:lnTo>
                  <a:lnTo>
                    <a:pt x="20" y="54"/>
                  </a:lnTo>
                  <a:lnTo>
                    <a:pt x="23" y="64"/>
                  </a:lnTo>
                  <a:lnTo>
                    <a:pt x="24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9" y="82"/>
                  </a:lnTo>
                  <a:lnTo>
                    <a:pt x="30" y="83"/>
                  </a:lnTo>
                  <a:lnTo>
                    <a:pt x="31" y="85"/>
                  </a:lnTo>
                  <a:lnTo>
                    <a:pt x="32" y="86"/>
                  </a:lnTo>
                  <a:lnTo>
                    <a:pt x="35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60" name="Freeform 228"/>
            <p:cNvSpPr>
              <a:spLocks/>
            </p:cNvSpPr>
            <p:nvPr/>
          </p:nvSpPr>
          <p:spPr bwMode="auto">
            <a:xfrm>
              <a:off x="5302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6 h 89"/>
                <a:gd name="T6" fmla="*/ 5 w 37"/>
                <a:gd name="T7" fmla="*/ 85 h 89"/>
                <a:gd name="T8" fmla="*/ 6 w 37"/>
                <a:gd name="T9" fmla="*/ 83 h 89"/>
                <a:gd name="T10" fmla="*/ 7 w 37"/>
                <a:gd name="T11" fmla="*/ 82 h 89"/>
                <a:gd name="T12" fmla="*/ 9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8 w 37"/>
                <a:gd name="T25" fmla="*/ 45 h 89"/>
                <a:gd name="T26" fmla="*/ 18 w 37"/>
                <a:gd name="T27" fmla="*/ 0 h 89"/>
                <a:gd name="T28" fmla="*/ 18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3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8 w 37"/>
                <a:gd name="T43" fmla="*/ 82 h 89"/>
                <a:gd name="T44" fmla="*/ 29 w 37"/>
                <a:gd name="T45" fmla="*/ 83 h 89"/>
                <a:gd name="T46" fmla="*/ 31 w 37"/>
                <a:gd name="T47" fmla="*/ 85 h 89"/>
                <a:gd name="T48" fmla="*/ 32 w 37"/>
                <a:gd name="T49" fmla="*/ 86 h 89"/>
                <a:gd name="T50" fmla="*/ 34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7" y="82"/>
                  </a:lnTo>
                  <a:lnTo>
                    <a:pt x="9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29" y="83"/>
                  </a:lnTo>
                  <a:lnTo>
                    <a:pt x="31" y="85"/>
                  </a:lnTo>
                  <a:lnTo>
                    <a:pt x="32" y="86"/>
                  </a:lnTo>
                  <a:lnTo>
                    <a:pt x="34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61" name="Line 229"/>
            <p:cNvSpPr>
              <a:spLocks noChangeShapeType="1"/>
            </p:cNvSpPr>
            <p:nvPr/>
          </p:nvSpPr>
          <p:spPr bwMode="auto">
            <a:xfrm flipV="1">
              <a:off x="5173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62" name="Line 230"/>
            <p:cNvSpPr>
              <a:spLocks noChangeShapeType="1"/>
            </p:cNvSpPr>
            <p:nvPr/>
          </p:nvSpPr>
          <p:spPr bwMode="auto">
            <a:xfrm flipV="1">
              <a:off x="5247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63" name="Line 231"/>
            <p:cNvSpPr>
              <a:spLocks noChangeShapeType="1"/>
            </p:cNvSpPr>
            <p:nvPr/>
          </p:nvSpPr>
          <p:spPr bwMode="auto">
            <a:xfrm flipV="1">
              <a:off x="5320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64" name="Freeform 232"/>
            <p:cNvSpPr>
              <a:spLocks/>
            </p:cNvSpPr>
            <p:nvPr/>
          </p:nvSpPr>
          <p:spPr bwMode="auto">
            <a:xfrm>
              <a:off x="5137" y="2640"/>
              <a:ext cx="18" cy="44"/>
            </a:xfrm>
            <a:custGeom>
              <a:avLst/>
              <a:gdLst>
                <a:gd name="T0" fmla="*/ 0 w 18"/>
                <a:gd name="T1" fmla="*/ 0 h 89"/>
                <a:gd name="T2" fmla="*/ 0 w 18"/>
                <a:gd name="T3" fmla="*/ 45 h 89"/>
                <a:gd name="T4" fmla="*/ 1 w 18"/>
                <a:gd name="T5" fmla="*/ 55 h 89"/>
                <a:gd name="T6" fmla="*/ 3 w 18"/>
                <a:gd name="T7" fmla="*/ 64 h 89"/>
                <a:gd name="T8" fmla="*/ 4 w 18"/>
                <a:gd name="T9" fmla="*/ 69 h 89"/>
                <a:gd name="T10" fmla="*/ 6 w 18"/>
                <a:gd name="T11" fmla="*/ 73 h 89"/>
                <a:gd name="T12" fmla="*/ 7 w 18"/>
                <a:gd name="T13" fmla="*/ 78 h 89"/>
                <a:gd name="T14" fmla="*/ 8 w 18"/>
                <a:gd name="T15" fmla="*/ 80 h 89"/>
                <a:gd name="T16" fmla="*/ 9 w 18"/>
                <a:gd name="T17" fmla="*/ 82 h 89"/>
                <a:gd name="T18" fmla="*/ 11 w 18"/>
                <a:gd name="T19" fmla="*/ 85 h 89"/>
                <a:gd name="T20" fmla="*/ 12 w 18"/>
                <a:gd name="T21" fmla="*/ 86 h 89"/>
                <a:gd name="T22" fmla="*/ 13 w 18"/>
                <a:gd name="T23" fmla="*/ 86 h 89"/>
                <a:gd name="T24" fmla="*/ 15 w 18"/>
                <a:gd name="T25" fmla="*/ 88 h 89"/>
                <a:gd name="T26" fmla="*/ 18 w 18"/>
                <a:gd name="T2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89">
                  <a:moveTo>
                    <a:pt x="0" y="0"/>
                  </a:moveTo>
                  <a:lnTo>
                    <a:pt x="0" y="45"/>
                  </a:lnTo>
                  <a:lnTo>
                    <a:pt x="1" y="55"/>
                  </a:lnTo>
                  <a:lnTo>
                    <a:pt x="3" y="64"/>
                  </a:lnTo>
                  <a:lnTo>
                    <a:pt x="4" y="69"/>
                  </a:lnTo>
                  <a:lnTo>
                    <a:pt x="6" y="73"/>
                  </a:lnTo>
                  <a:lnTo>
                    <a:pt x="7" y="78"/>
                  </a:lnTo>
                  <a:lnTo>
                    <a:pt x="8" y="80"/>
                  </a:lnTo>
                  <a:lnTo>
                    <a:pt x="9" y="82"/>
                  </a:lnTo>
                  <a:lnTo>
                    <a:pt x="11" y="85"/>
                  </a:lnTo>
                  <a:lnTo>
                    <a:pt x="12" y="86"/>
                  </a:lnTo>
                  <a:lnTo>
                    <a:pt x="13" y="86"/>
                  </a:lnTo>
                  <a:lnTo>
                    <a:pt x="15" y="88"/>
                  </a:lnTo>
                  <a:lnTo>
                    <a:pt x="18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65" name="Freeform 233"/>
            <p:cNvSpPr>
              <a:spLocks/>
            </p:cNvSpPr>
            <p:nvPr/>
          </p:nvSpPr>
          <p:spPr bwMode="auto">
            <a:xfrm>
              <a:off x="5192" y="2640"/>
              <a:ext cx="36" cy="44"/>
            </a:xfrm>
            <a:custGeom>
              <a:avLst/>
              <a:gdLst>
                <a:gd name="T0" fmla="*/ 0 w 36"/>
                <a:gd name="T1" fmla="*/ 89 h 89"/>
                <a:gd name="T2" fmla="*/ 1 w 36"/>
                <a:gd name="T3" fmla="*/ 88 h 89"/>
                <a:gd name="T4" fmla="*/ 3 w 36"/>
                <a:gd name="T5" fmla="*/ 86 h 89"/>
                <a:gd name="T6" fmla="*/ 5 w 36"/>
                <a:gd name="T7" fmla="*/ 85 h 89"/>
                <a:gd name="T8" fmla="*/ 6 w 36"/>
                <a:gd name="T9" fmla="*/ 83 h 89"/>
                <a:gd name="T10" fmla="*/ 7 w 36"/>
                <a:gd name="T11" fmla="*/ 82 h 89"/>
                <a:gd name="T12" fmla="*/ 8 w 36"/>
                <a:gd name="T13" fmla="*/ 80 h 89"/>
                <a:gd name="T14" fmla="*/ 10 w 36"/>
                <a:gd name="T15" fmla="*/ 76 h 89"/>
                <a:gd name="T16" fmla="*/ 11 w 36"/>
                <a:gd name="T17" fmla="*/ 73 h 89"/>
                <a:gd name="T18" fmla="*/ 12 w 36"/>
                <a:gd name="T19" fmla="*/ 69 h 89"/>
                <a:gd name="T20" fmla="*/ 13 w 36"/>
                <a:gd name="T21" fmla="*/ 64 h 89"/>
                <a:gd name="T22" fmla="*/ 16 w 36"/>
                <a:gd name="T23" fmla="*/ 54 h 89"/>
                <a:gd name="T24" fmla="*/ 18 w 36"/>
                <a:gd name="T25" fmla="*/ 45 h 89"/>
                <a:gd name="T26" fmla="*/ 18 w 36"/>
                <a:gd name="T27" fmla="*/ 0 h 89"/>
                <a:gd name="T28" fmla="*/ 18 w 36"/>
                <a:gd name="T29" fmla="*/ 45 h 89"/>
                <a:gd name="T30" fmla="*/ 19 w 36"/>
                <a:gd name="T31" fmla="*/ 54 h 89"/>
                <a:gd name="T32" fmla="*/ 22 w 36"/>
                <a:gd name="T33" fmla="*/ 64 h 89"/>
                <a:gd name="T34" fmla="*/ 23 w 36"/>
                <a:gd name="T35" fmla="*/ 69 h 89"/>
                <a:gd name="T36" fmla="*/ 24 w 36"/>
                <a:gd name="T37" fmla="*/ 73 h 89"/>
                <a:gd name="T38" fmla="*/ 25 w 36"/>
                <a:gd name="T39" fmla="*/ 76 h 89"/>
                <a:gd name="T40" fmla="*/ 27 w 36"/>
                <a:gd name="T41" fmla="*/ 80 h 89"/>
                <a:gd name="T42" fmla="*/ 28 w 36"/>
                <a:gd name="T43" fmla="*/ 82 h 89"/>
                <a:gd name="T44" fmla="*/ 29 w 36"/>
                <a:gd name="T45" fmla="*/ 83 h 89"/>
                <a:gd name="T46" fmla="*/ 30 w 36"/>
                <a:gd name="T47" fmla="*/ 85 h 89"/>
                <a:gd name="T48" fmla="*/ 32 w 36"/>
                <a:gd name="T49" fmla="*/ 86 h 89"/>
                <a:gd name="T50" fmla="*/ 34 w 36"/>
                <a:gd name="T51" fmla="*/ 88 h 89"/>
                <a:gd name="T52" fmla="*/ 36 w 36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6" h="89">
                  <a:moveTo>
                    <a:pt x="0" y="89"/>
                  </a:moveTo>
                  <a:lnTo>
                    <a:pt x="1" y="88"/>
                  </a:lnTo>
                  <a:lnTo>
                    <a:pt x="3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7" y="82"/>
                  </a:lnTo>
                  <a:lnTo>
                    <a:pt x="8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19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5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29" y="83"/>
                  </a:lnTo>
                  <a:lnTo>
                    <a:pt x="30" y="85"/>
                  </a:lnTo>
                  <a:lnTo>
                    <a:pt x="32" y="86"/>
                  </a:lnTo>
                  <a:lnTo>
                    <a:pt x="34" y="88"/>
                  </a:lnTo>
                  <a:lnTo>
                    <a:pt x="36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66" name="Freeform 234"/>
            <p:cNvSpPr>
              <a:spLocks/>
            </p:cNvSpPr>
            <p:nvPr/>
          </p:nvSpPr>
          <p:spPr bwMode="auto">
            <a:xfrm>
              <a:off x="5265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6 h 89"/>
                <a:gd name="T6" fmla="*/ 5 w 37"/>
                <a:gd name="T7" fmla="*/ 85 h 89"/>
                <a:gd name="T8" fmla="*/ 6 w 37"/>
                <a:gd name="T9" fmla="*/ 83 h 89"/>
                <a:gd name="T10" fmla="*/ 8 w 37"/>
                <a:gd name="T11" fmla="*/ 82 h 89"/>
                <a:gd name="T12" fmla="*/ 9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3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9 w 37"/>
                <a:gd name="T25" fmla="*/ 45 h 89"/>
                <a:gd name="T26" fmla="*/ 19 w 37"/>
                <a:gd name="T27" fmla="*/ 0 h 89"/>
                <a:gd name="T28" fmla="*/ 19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4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8 w 37"/>
                <a:gd name="T43" fmla="*/ 82 h 89"/>
                <a:gd name="T44" fmla="*/ 30 w 37"/>
                <a:gd name="T45" fmla="*/ 83 h 89"/>
                <a:gd name="T46" fmla="*/ 31 w 37"/>
                <a:gd name="T47" fmla="*/ 85 h 89"/>
                <a:gd name="T48" fmla="*/ 32 w 37"/>
                <a:gd name="T49" fmla="*/ 86 h 89"/>
                <a:gd name="T50" fmla="*/ 35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8" y="82"/>
                  </a:lnTo>
                  <a:lnTo>
                    <a:pt x="9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3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9" y="45"/>
                  </a:lnTo>
                  <a:lnTo>
                    <a:pt x="19" y="0"/>
                  </a:lnTo>
                  <a:lnTo>
                    <a:pt x="19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4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30" y="83"/>
                  </a:lnTo>
                  <a:lnTo>
                    <a:pt x="31" y="85"/>
                  </a:lnTo>
                  <a:lnTo>
                    <a:pt x="32" y="86"/>
                  </a:lnTo>
                  <a:lnTo>
                    <a:pt x="35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67" name="Line 235"/>
            <p:cNvSpPr>
              <a:spLocks noChangeShapeType="1"/>
            </p:cNvSpPr>
            <p:nvPr/>
          </p:nvSpPr>
          <p:spPr bwMode="auto">
            <a:xfrm>
              <a:off x="5137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68" name="Line 236"/>
            <p:cNvSpPr>
              <a:spLocks noChangeShapeType="1"/>
            </p:cNvSpPr>
            <p:nvPr/>
          </p:nvSpPr>
          <p:spPr bwMode="auto">
            <a:xfrm>
              <a:off x="5210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69" name="Line 237"/>
            <p:cNvSpPr>
              <a:spLocks noChangeShapeType="1"/>
            </p:cNvSpPr>
            <p:nvPr/>
          </p:nvSpPr>
          <p:spPr bwMode="auto">
            <a:xfrm>
              <a:off x="5284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70" name="Freeform 238"/>
            <p:cNvSpPr>
              <a:spLocks/>
            </p:cNvSpPr>
            <p:nvPr/>
          </p:nvSpPr>
          <p:spPr bwMode="auto">
            <a:xfrm>
              <a:off x="5339" y="2640"/>
              <a:ext cx="18" cy="44"/>
            </a:xfrm>
            <a:custGeom>
              <a:avLst/>
              <a:gdLst>
                <a:gd name="T0" fmla="*/ 18 w 18"/>
                <a:gd name="T1" fmla="*/ 0 h 89"/>
                <a:gd name="T2" fmla="*/ 18 w 18"/>
                <a:gd name="T3" fmla="*/ 45 h 89"/>
                <a:gd name="T4" fmla="*/ 16 w 18"/>
                <a:gd name="T5" fmla="*/ 55 h 89"/>
                <a:gd name="T6" fmla="*/ 13 w 18"/>
                <a:gd name="T7" fmla="*/ 64 h 89"/>
                <a:gd name="T8" fmla="*/ 12 w 18"/>
                <a:gd name="T9" fmla="*/ 69 h 89"/>
                <a:gd name="T10" fmla="*/ 11 w 18"/>
                <a:gd name="T11" fmla="*/ 73 h 89"/>
                <a:gd name="T12" fmla="*/ 10 w 18"/>
                <a:gd name="T13" fmla="*/ 78 h 89"/>
                <a:gd name="T14" fmla="*/ 8 w 18"/>
                <a:gd name="T15" fmla="*/ 80 h 89"/>
                <a:gd name="T16" fmla="*/ 7 w 18"/>
                <a:gd name="T17" fmla="*/ 82 h 89"/>
                <a:gd name="T18" fmla="*/ 6 w 18"/>
                <a:gd name="T19" fmla="*/ 85 h 89"/>
                <a:gd name="T20" fmla="*/ 5 w 18"/>
                <a:gd name="T21" fmla="*/ 86 h 89"/>
                <a:gd name="T22" fmla="*/ 3 w 18"/>
                <a:gd name="T23" fmla="*/ 86 h 89"/>
                <a:gd name="T24" fmla="*/ 1 w 18"/>
                <a:gd name="T25" fmla="*/ 88 h 89"/>
                <a:gd name="T26" fmla="*/ 0 w 18"/>
                <a:gd name="T2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89">
                  <a:moveTo>
                    <a:pt x="18" y="0"/>
                  </a:moveTo>
                  <a:lnTo>
                    <a:pt x="18" y="45"/>
                  </a:lnTo>
                  <a:lnTo>
                    <a:pt x="16" y="55"/>
                  </a:lnTo>
                  <a:lnTo>
                    <a:pt x="13" y="64"/>
                  </a:lnTo>
                  <a:lnTo>
                    <a:pt x="12" y="69"/>
                  </a:lnTo>
                  <a:lnTo>
                    <a:pt x="11" y="73"/>
                  </a:lnTo>
                  <a:lnTo>
                    <a:pt x="10" y="78"/>
                  </a:lnTo>
                  <a:lnTo>
                    <a:pt x="8" y="80"/>
                  </a:lnTo>
                  <a:lnTo>
                    <a:pt x="7" y="82"/>
                  </a:lnTo>
                  <a:lnTo>
                    <a:pt x="6" y="85"/>
                  </a:lnTo>
                  <a:lnTo>
                    <a:pt x="5" y="86"/>
                  </a:lnTo>
                  <a:lnTo>
                    <a:pt x="3" y="86"/>
                  </a:lnTo>
                  <a:lnTo>
                    <a:pt x="1" y="88"/>
                  </a:lnTo>
                  <a:lnTo>
                    <a:pt x="0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71" name="Line 239"/>
            <p:cNvSpPr>
              <a:spLocks noChangeShapeType="1"/>
            </p:cNvSpPr>
            <p:nvPr/>
          </p:nvSpPr>
          <p:spPr bwMode="auto">
            <a:xfrm>
              <a:off x="5357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72" name="Freeform 240"/>
            <p:cNvSpPr>
              <a:spLocks/>
            </p:cNvSpPr>
            <p:nvPr/>
          </p:nvSpPr>
          <p:spPr bwMode="auto">
            <a:xfrm>
              <a:off x="5357" y="2640"/>
              <a:ext cx="19" cy="44"/>
            </a:xfrm>
            <a:custGeom>
              <a:avLst/>
              <a:gdLst>
                <a:gd name="T0" fmla="*/ 0 w 19"/>
                <a:gd name="T1" fmla="*/ 0 h 89"/>
                <a:gd name="T2" fmla="*/ 0 w 19"/>
                <a:gd name="T3" fmla="*/ 45 h 89"/>
                <a:gd name="T4" fmla="*/ 1 w 19"/>
                <a:gd name="T5" fmla="*/ 55 h 89"/>
                <a:gd name="T6" fmla="*/ 4 w 19"/>
                <a:gd name="T7" fmla="*/ 64 h 89"/>
                <a:gd name="T8" fmla="*/ 5 w 19"/>
                <a:gd name="T9" fmla="*/ 69 h 89"/>
                <a:gd name="T10" fmla="*/ 6 w 19"/>
                <a:gd name="T11" fmla="*/ 73 h 89"/>
                <a:gd name="T12" fmla="*/ 8 w 19"/>
                <a:gd name="T13" fmla="*/ 78 h 89"/>
                <a:gd name="T14" fmla="*/ 9 w 19"/>
                <a:gd name="T15" fmla="*/ 80 h 89"/>
                <a:gd name="T16" fmla="*/ 10 w 19"/>
                <a:gd name="T17" fmla="*/ 82 h 89"/>
                <a:gd name="T18" fmla="*/ 11 w 19"/>
                <a:gd name="T19" fmla="*/ 85 h 89"/>
                <a:gd name="T20" fmla="*/ 12 w 19"/>
                <a:gd name="T21" fmla="*/ 86 h 89"/>
                <a:gd name="T22" fmla="*/ 14 w 19"/>
                <a:gd name="T23" fmla="*/ 86 h 89"/>
                <a:gd name="T24" fmla="*/ 16 w 19"/>
                <a:gd name="T25" fmla="*/ 88 h 89"/>
                <a:gd name="T26" fmla="*/ 19 w 19"/>
                <a:gd name="T2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" h="89">
                  <a:moveTo>
                    <a:pt x="0" y="0"/>
                  </a:moveTo>
                  <a:lnTo>
                    <a:pt x="0" y="45"/>
                  </a:lnTo>
                  <a:lnTo>
                    <a:pt x="1" y="55"/>
                  </a:lnTo>
                  <a:lnTo>
                    <a:pt x="4" y="64"/>
                  </a:lnTo>
                  <a:lnTo>
                    <a:pt x="5" y="69"/>
                  </a:lnTo>
                  <a:lnTo>
                    <a:pt x="6" y="73"/>
                  </a:lnTo>
                  <a:lnTo>
                    <a:pt x="8" y="78"/>
                  </a:lnTo>
                  <a:lnTo>
                    <a:pt x="9" y="80"/>
                  </a:lnTo>
                  <a:lnTo>
                    <a:pt x="10" y="82"/>
                  </a:lnTo>
                  <a:lnTo>
                    <a:pt x="11" y="85"/>
                  </a:lnTo>
                  <a:lnTo>
                    <a:pt x="12" y="86"/>
                  </a:lnTo>
                  <a:lnTo>
                    <a:pt x="14" y="86"/>
                  </a:lnTo>
                  <a:lnTo>
                    <a:pt x="16" y="88"/>
                  </a:lnTo>
                  <a:lnTo>
                    <a:pt x="19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73" name="Line 241"/>
            <p:cNvSpPr>
              <a:spLocks noChangeShapeType="1"/>
            </p:cNvSpPr>
            <p:nvPr/>
          </p:nvSpPr>
          <p:spPr bwMode="auto">
            <a:xfrm flipV="1">
              <a:off x="2930" y="2193"/>
              <a:ext cx="1" cy="156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74" name="Freeform 242"/>
            <p:cNvSpPr>
              <a:spLocks/>
            </p:cNvSpPr>
            <p:nvPr/>
          </p:nvSpPr>
          <p:spPr bwMode="auto">
            <a:xfrm>
              <a:off x="2930" y="2148"/>
              <a:ext cx="18" cy="45"/>
            </a:xfrm>
            <a:custGeom>
              <a:avLst/>
              <a:gdLst>
                <a:gd name="T0" fmla="*/ 0 w 18"/>
                <a:gd name="T1" fmla="*/ 90 h 90"/>
                <a:gd name="T2" fmla="*/ 0 w 18"/>
                <a:gd name="T3" fmla="*/ 45 h 90"/>
                <a:gd name="T4" fmla="*/ 1 w 18"/>
                <a:gd name="T5" fmla="*/ 35 h 90"/>
                <a:gd name="T6" fmla="*/ 3 w 18"/>
                <a:gd name="T7" fmla="*/ 24 h 90"/>
                <a:gd name="T8" fmla="*/ 5 w 18"/>
                <a:gd name="T9" fmla="*/ 20 h 90"/>
                <a:gd name="T10" fmla="*/ 6 w 18"/>
                <a:gd name="T11" fmla="*/ 15 h 90"/>
                <a:gd name="T12" fmla="*/ 7 w 18"/>
                <a:gd name="T13" fmla="*/ 11 h 90"/>
                <a:gd name="T14" fmla="*/ 8 w 18"/>
                <a:gd name="T15" fmla="*/ 8 h 90"/>
                <a:gd name="T16" fmla="*/ 10 w 18"/>
                <a:gd name="T17" fmla="*/ 6 h 90"/>
                <a:gd name="T18" fmla="*/ 11 w 18"/>
                <a:gd name="T19" fmla="*/ 3 h 90"/>
                <a:gd name="T20" fmla="*/ 12 w 18"/>
                <a:gd name="T21" fmla="*/ 2 h 90"/>
                <a:gd name="T22" fmla="*/ 13 w 18"/>
                <a:gd name="T23" fmla="*/ 2 h 90"/>
                <a:gd name="T24" fmla="*/ 16 w 18"/>
                <a:gd name="T25" fmla="*/ 0 h 90"/>
                <a:gd name="T26" fmla="*/ 18 w 18"/>
                <a:gd name="T27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90">
                  <a:moveTo>
                    <a:pt x="0" y="90"/>
                  </a:moveTo>
                  <a:lnTo>
                    <a:pt x="0" y="45"/>
                  </a:lnTo>
                  <a:lnTo>
                    <a:pt x="1" y="35"/>
                  </a:lnTo>
                  <a:lnTo>
                    <a:pt x="3" y="24"/>
                  </a:lnTo>
                  <a:lnTo>
                    <a:pt x="5" y="20"/>
                  </a:lnTo>
                  <a:lnTo>
                    <a:pt x="6" y="15"/>
                  </a:lnTo>
                  <a:lnTo>
                    <a:pt x="7" y="11"/>
                  </a:lnTo>
                  <a:lnTo>
                    <a:pt x="8" y="8"/>
                  </a:lnTo>
                  <a:lnTo>
                    <a:pt x="10" y="6"/>
                  </a:lnTo>
                  <a:lnTo>
                    <a:pt x="11" y="3"/>
                  </a:lnTo>
                  <a:lnTo>
                    <a:pt x="12" y="2"/>
                  </a:lnTo>
                  <a:lnTo>
                    <a:pt x="13" y="2"/>
                  </a:lnTo>
                  <a:lnTo>
                    <a:pt x="16" y="0"/>
                  </a:lnTo>
                  <a:lnTo>
                    <a:pt x="18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75" name="Line 243"/>
            <p:cNvSpPr>
              <a:spLocks noChangeShapeType="1"/>
            </p:cNvSpPr>
            <p:nvPr/>
          </p:nvSpPr>
          <p:spPr bwMode="auto">
            <a:xfrm flipV="1">
              <a:off x="2985" y="1947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76" name="Line 244"/>
            <p:cNvSpPr>
              <a:spLocks noChangeShapeType="1"/>
            </p:cNvSpPr>
            <p:nvPr/>
          </p:nvSpPr>
          <p:spPr bwMode="auto">
            <a:xfrm flipV="1">
              <a:off x="3095" y="1947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77" name="Line 245"/>
            <p:cNvSpPr>
              <a:spLocks noChangeShapeType="1"/>
            </p:cNvSpPr>
            <p:nvPr/>
          </p:nvSpPr>
          <p:spPr bwMode="auto">
            <a:xfrm flipV="1">
              <a:off x="3206" y="1947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78" name="Line 246"/>
            <p:cNvSpPr>
              <a:spLocks noChangeShapeType="1"/>
            </p:cNvSpPr>
            <p:nvPr/>
          </p:nvSpPr>
          <p:spPr bwMode="auto">
            <a:xfrm flipV="1">
              <a:off x="3316" y="1947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79" name="Line 247"/>
            <p:cNvSpPr>
              <a:spLocks noChangeShapeType="1"/>
            </p:cNvSpPr>
            <p:nvPr/>
          </p:nvSpPr>
          <p:spPr bwMode="auto">
            <a:xfrm flipV="1">
              <a:off x="3040" y="2193"/>
              <a:ext cx="1" cy="156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80" name="Line 248"/>
            <p:cNvSpPr>
              <a:spLocks noChangeShapeType="1"/>
            </p:cNvSpPr>
            <p:nvPr/>
          </p:nvSpPr>
          <p:spPr bwMode="auto">
            <a:xfrm flipV="1">
              <a:off x="3150" y="2193"/>
              <a:ext cx="1" cy="156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81" name="Line 249"/>
            <p:cNvSpPr>
              <a:spLocks noChangeShapeType="1"/>
            </p:cNvSpPr>
            <p:nvPr/>
          </p:nvSpPr>
          <p:spPr bwMode="auto">
            <a:xfrm flipV="1">
              <a:off x="3261" y="2193"/>
              <a:ext cx="1" cy="156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82" name="Freeform 250"/>
            <p:cNvSpPr>
              <a:spLocks/>
            </p:cNvSpPr>
            <p:nvPr/>
          </p:nvSpPr>
          <p:spPr bwMode="auto">
            <a:xfrm>
              <a:off x="2967" y="2104"/>
              <a:ext cx="36" cy="44"/>
            </a:xfrm>
            <a:custGeom>
              <a:avLst/>
              <a:gdLst>
                <a:gd name="T0" fmla="*/ 0 w 36"/>
                <a:gd name="T1" fmla="*/ 89 h 89"/>
                <a:gd name="T2" fmla="*/ 1 w 36"/>
                <a:gd name="T3" fmla="*/ 88 h 89"/>
                <a:gd name="T4" fmla="*/ 3 w 36"/>
                <a:gd name="T5" fmla="*/ 87 h 89"/>
                <a:gd name="T6" fmla="*/ 4 w 36"/>
                <a:gd name="T7" fmla="*/ 85 h 89"/>
                <a:gd name="T8" fmla="*/ 6 w 36"/>
                <a:gd name="T9" fmla="*/ 84 h 89"/>
                <a:gd name="T10" fmla="*/ 7 w 36"/>
                <a:gd name="T11" fmla="*/ 82 h 89"/>
                <a:gd name="T12" fmla="*/ 8 w 36"/>
                <a:gd name="T13" fmla="*/ 81 h 89"/>
                <a:gd name="T14" fmla="*/ 9 w 36"/>
                <a:gd name="T15" fmla="*/ 76 h 89"/>
                <a:gd name="T16" fmla="*/ 11 w 36"/>
                <a:gd name="T17" fmla="*/ 73 h 89"/>
                <a:gd name="T18" fmla="*/ 12 w 36"/>
                <a:gd name="T19" fmla="*/ 69 h 89"/>
                <a:gd name="T20" fmla="*/ 13 w 36"/>
                <a:gd name="T21" fmla="*/ 64 h 89"/>
                <a:gd name="T22" fmla="*/ 15 w 36"/>
                <a:gd name="T23" fmla="*/ 54 h 89"/>
                <a:gd name="T24" fmla="*/ 18 w 36"/>
                <a:gd name="T25" fmla="*/ 45 h 89"/>
                <a:gd name="T26" fmla="*/ 18 w 36"/>
                <a:gd name="T27" fmla="*/ 0 h 89"/>
                <a:gd name="T28" fmla="*/ 18 w 36"/>
                <a:gd name="T29" fmla="*/ 45 h 89"/>
                <a:gd name="T30" fmla="*/ 19 w 36"/>
                <a:gd name="T31" fmla="*/ 54 h 89"/>
                <a:gd name="T32" fmla="*/ 22 w 36"/>
                <a:gd name="T33" fmla="*/ 64 h 89"/>
                <a:gd name="T34" fmla="*/ 23 w 36"/>
                <a:gd name="T35" fmla="*/ 69 h 89"/>
                <a:gd name="T36" fmla="*/ 24 w 36"/>
                <a:gd name="T37" fmla="*/ 73 h 89"/>
                <a:gd name="T38" fmla="*/ 25 w 36"/>
                <a:gd name="T39" fmla="*/ 76 h 89"/>
                <a:gd name="T40" fmla="*/ 27 w 36"/>
                <a:gd name="T41" fmla="*/ 81 h 89"/>
                <a:gd name="T42" fmla="*/ 28 w 36"/>
                <a:gd name="T43" fmla="*/ 82 h 89"/>
                <a:gd name="T44" fmla="*/ 29 w 36"/>
                <a:gd name="T45" fmla="*/ 84 h 89"/>
                <a:gd name="T46" fmla="*/ 30 w 36"/>
                <a:gd name="T47" fmla="*/ 85 h 89"/>
                <a:gd name="T48" fmla="*/ 31 w 36"/>
                <a:gd name="T49" fmla="*/ 87 h 89"/>
                <a:gd name="T50" fmla="*/ 34 w 36"/>
                <a:gd name="T51" fmla="*/ 88 h 89"/>
                <a:gd name="T52" fmla="*/ 36 w 36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6" h="89">
                  <a:moveTo>
                    <a:pt x="0" y="89"/>
                  </a:moveTo>
                  <a:lnTo>
                    <a:pt x="1" y="88"/>
                  </a:lnTo>
                  <a:lnTo>
                    <a:pt x="3" y="87"/>
                  </a:lnTo>
                  <a:lnTo>
                    <a:pt x="4" y="85"/>
                  </a:lnTo>
                  <a:lnTo>
                    <a:pt x="6" y="84"/>
                  </a:lnTo>
                  <a:lnTo>
                    <a:pt x="7" y="82"/>
                  </a:lnTo>
                  <a:lnTo>
                    <a:pt x="8" y="81"/>
                  </a:lnTo>
                  <a:lnTo>
                    <a:pt x="9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5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19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5" y="76"/>
                  </a:lnTo>
                  <a:lnTo>
                    <a:pt x="27" y="81"/>
                  </a:lnTo>
                  <a:lnTo>
                    <a:pt x="28" y="82"/>
                  </a:lnTo>
                  <a:lnTo>
                    <a:pt x="29" y="84"/>
                  </a:lnTo>
                  <a:lnTo>
                    <a:pt x="30" y="85"/>
                  </a:lnTo>
                  <a:lnTo>
                    <a:pt x="31" y="87"/>
                  </a:lnTo>
                  <a:lnTo>
                    <a:pt x="34" y="88"/>
                  </a:lnTo>
                  <a:lnTo>
                    <a:pt x="36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83" name="Freeform 251"/>
            <p:cNvSpPr>
              <a:spLocks/>
            </p:cNvSpPr>
            <p:nvPr/>
          </p:nvSpPr>
          <p:spPr bwMode="auto">
            <a:xfrm>
              <a:off x="3077" y="2104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7 h 89"/>
                <a:gd name="T6" fmla="*/ 5 w 37"/>
                <a:gd name="T7" fmla="*/ 85 h 89"/>
                <a:gd name="T8" fmla="*/ 6 w 37"/>
                <a:gd name="T9" fmla="*/ 84 h 89"/>
                <a:gd name="T10" fmla="*/ 7 w 37"/>
                <a:gd name="T11" fmla="*/ 82 h 89"/>
                <a:gd name="T12" fmla="*/ 8 w 37"/>
                <a:gd name="T13" fmla="*/ 81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3 w 37"/>
                <a:gd name="T21" fmla="*/ 64 h 89"/>
                <a:gd name="T22" fmla="*/ 16 w 37"/>
                <a:gd name="T23" fmla="*/ 54 h 89"/>
                <a:gd name="T24" fmla="*/ 18 w 37"/>
                <a:gd name="T25" fmla="*/ 45 h 89"/>
                <a:gd name="T26" fmla="*/ 18 w 37"/>
                <a:gd name="T27" fmla="*/ 0 h 89"/>
                <a:gd name="T28" fmla="*/ 18 w 37"/>
                <a:gd name="T29" fmla="*/ 45 h 89"/>
                <a:gd name="T30" fmla="*/ 19 w 37"/>
                <a:gd name="T31" fmla="*/ 54 h 89"/>
                <a:gd name="T32" fmla="*/ 22 w 37"/>
                <a:gd name="T33" fmla="*/ 64 h 89"/>
                <a:gd name="T34" fmla="*/ 23 w 37"/>
                <a:gd name="T35" fmla="*/ 69 h 89"/>
                <a:gd name="T36" fmla="*/ 24 w 37"/>
                <a:gd name="T37" fmla="*/ 73 h 89"/>
                <a:gd name="T38" fmla="*/ 26 w 37"/>
                <a:gd name="T39" fmla="*/ 76 h 89"/>
                <a:gd name="T40" fmla="*/ 27 w 37"/>
                <a:gd name="T41" fmla="*/ 81 h 89"/>
                <a:gd name="T42" fmla="*/ 28 w 37"/>
                <a:gd name="T43" fmla="*/ 82 h 89"/>
                <a:gd name="T44" fmla="*/ 29 w 37"/>
                <a:gd name="T45" fmla="*/ 84 h 89"/>
                <a:gd name="T46" fmla="*/ 31 w 37"/>
                <a:gd name="T47" fmla="*/ 85 h 89"/>
                <a:gd name="T48" fmla="*/ 32 w 37"/>
                <a:gd name="T49" fmla="*/ 87 h 89"/>
                <a:gd name="T50" fmla="*/ 34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7"/>
                  </a:lnTo>
                  <a:lnTo>
                    <a:pt x="5" y="85"/>
                  </a:lnTo>
                  <a:lnTo>
                    <a:pt x="6" y="84"/>
                  </a:lnTo>
                  <a:lnTo>
                    <a:pt x="7" y="82"/>
                  </a:lnTo>
                  <a:lnTo>
                    <a:pt x="8" y="81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19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6" y="76"/>
                  </a:lnTo>
                  <a:lnTo>
                    <a:pt x="27" y="81"/>
                  </a:lnTo>
                  <a:lnTo>
                    <a:pt x="28" y="82"/>
                  </a:lnTo>
                  <a:lnTo>
                    <a:pt x="29" y="84"/>
                  </a:lnTo>
                  <a:lnTo>
                    <a:pt x="31" y="85"/>
                  </a:lnTo>
                  <a:lnTo>
                    <a:pt x="32" y="87"/>
                  </a:lnTo>
                  <a:lnTo>
                    <a:pt x="34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84" name="Freeform 252"/>
            <p:cNvSpPr>
              <a:spLocks/>
            </p:cNvSpPr>
            <p:nvPr/>
          </p:nvSpPr>
          <p:spPr bwMode="auto">
            <a:xfrm>
              <a:off x="3187" y="2104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7 h 89"/>
                <a:gd name="T6" fmla="*/ 5 w 37"/>
                <a:gd name="T7" fmla="*/ 85 h 89"/>
                <a:gd name="T8" fmla="*/ 6 w 37"/>
                <a:gd name="T9" fmla="*/ 84 h 89"/>
                <a:gd name="T10" fmla="*/ 8 w 37"/>
                <a:gd name="T11" fmla="*/ 82 h 89"/>
                <a:gd name="T12" fmla="*/ 9 w 37"/>
                <a:gd name="T13" fmla="*/ 81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9 w 37"/>
                <a:gd name="T25" fmla="*/ 45 h 89"/>
                <a:gd name="T26" fmla="*/ 19 w 37"/>
                <a:gd name="T27" fmla="*/ 0 h 89"/>
                <a:gd name="T28" fmla="*/ 19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4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1 h 89"/>
                <a:gd name="T42" fmla="*/ 28 w 37"/>
                <a:gd name="T43" fmla="*/ 82 h 89"/>
                <a:gd name="T44" fmla="*/ 30 w 37"/>
                <a:gd name="T45" fmla="*/ 84 h 89"/>
                <a:gd name="T46" fmla="*/ 31 w 37"/>
                <a:gd name="T47" fmla="*/ 85 h 89"/>
                <a:gd name="T48" fmla="*/ 32 w 37"/>
                <a:gd name="T49" fmla="*/ 87 h 89"/>
                <a:gd name="T50" fmla="*/ 35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7"/>
                  </a:lnTo>
                  <a:lnTo>
                    <a:pt x="5" y="85"/>
                  </a:lnTo>
                  <a:lnTo>
                    <a:pt x="6" y="84"/>
                  </a:lnTo>
                  <a:lnTo>
                    <a:pt x="8" y="82"/>
                  </a:lnTo>
                  <a:lnTo>
                    <a:pt x="9" y="81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9" y="45"/>
                  </a:lnTo>
                  <a:lnTo>
                    <a:pt x="19" y="0"/>
                  </a:lnTo>
                  <a:lnTo>
                    <a:pt x="19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4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1"/>
                  </a:lnTo>
                  <a:lnTo>
                    <a:pt x="28" y="82"/>
                  </a:lnTo>
                  <a:lnTo>
                    <a:pt x="30" y="84"/>
                  </a:lnTo>
                  <a:lnTo>
                    <a:pt x="31" y="85"/>
                  </a:lnTo>
                  <a:lnTo>
                    <a:pt x="32" y="87"/>
                  </a:lnTo>
                  <a:lnTo>
                    <a:pt x="35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85" name="Freeform 253"/>
            <p:cNvSpPr>
              <a:spLocks/>
            </p:cNvSpPr>
            <p:nvPr/>
          </p:nvSpPr>
          <p:spPr bwMode="auto">
            <a:xfrm>
              <a:off x="3298" y="2104"/>
              <a:ext cx="36" cy="44"/>
            </a:xfrm>
            <a:custGeom>
              <a:avLst/>
              <a:gdLst>
                <a:gd name="T0" fmla="*/ 0 w 36"/>
                <a:gd name="T1" fmla="*/ 89 h 89"/>
                <a:gd name="T2" fmla="*/ 1 w 36"/>
                <a:gd name="T3" fmla="*/ 88 h 89"/>
                <a:gd name="T4" fmla="*/ 3 w 36"/>
                <a:gd name="T5" fmla="*/ 87 h 89"/>
                <a:gd name="T6" fmla="*/ 4 w 36"/>
                <a:gd name="T7" fmla="*/ 85 h 89"/>
                <a:gd name="T8" fmla="*/ 6 w 36"/>
                <a:gd name="T9" fmla="*/ 84 h 89"/>
                <a:gd name="T10" fmla="*/ 7 w 36"/>
                <a:gd name="T11" fmla="*/ 82 h 89"/>
                <a:gd name="T12" fmla="*/ 8 w 36"/>
                <a:gd name="T13" fmla="*/ 81 h 89"/>
                <a:gd name="T14" fmla="*/ 9 w 36"/>
                <a:gd name="T15" fmla="*/ 76 h 89"/>
                <a:gd name="T16" fmla="*/ 11 w 36"/>
                <a:gd name="T17" fmla="*/ 73 h 89"/>
                <a:gd name="T18" fmla="*/ 12 w 36"/>
                <a:gd name="T19" fmla="*/ 69 h 89"/>
                <a:gd name="T20" fmla="*/ 13 w 36"/>
                <a:gd name="T21" fmla="*/ 64 h 89"/>
                <a:gd name="T22" fmla="*/ 15 w 36"/>
                <a:gd name="T23" fmla="*/ 54 h 89"/>
                <a:gd name="T24" fmla="*/ 18 w 36"/>
                <a:gd name="T25" fmla="*/ 45 h 89"/>
                <a:gd name="T26" fmla="*/ 18 w 36"/>
                <a:gd name="T27" fmla="*/ 0 h 89"/>
                <a:gd name="T28" fmla="*/ 18 w 36"/>
                <a:gd name="T29" fmla="*/ 45 h 89"/>
                <a:gd name="T30" fmla="*/ 19 w 36"/>
                <a:gd name="T31" fmla="*/ 54 h 89"/>
                <a:gd name="T32" fmla="*/ 22 w 36"/>
                <a:gd name="T33" fmla="*/ 64 h 89"/>
                <a:gd name="T34" fmla="*/ 23 w 36"/>
                <a:gd name="T35" fmla="*/ 69 h 89"/>
                <a:gd name="T36" fmla="*/ 24 w 36"/>
                <a:gd name="T37" fmla="*/ 73 h 89"/>
                <a:gd name="T38" fmla="*/ 25 w 36"/>
                <a:gd name="T39" fmla="*/ 76 h 89"/>
                <a:gd name="T40" fmla="*/ 27 w 36"/>
                <a:gd name="T41" fmla="*/ 81 h 89"/>
                <a:gd name="T42" fmla="*/ 28 w 36"/>
                <a:gd name="T43" fmla="*/ 82 h 89"/>
                <a:gd name="T44" fmla="*/ 29 w 36"/>
                <a:gd name="T45" fmla="*/ 84 h 89"/>
                <a:gd name="T46" fmla="*/ 30 w 36"/>
                <a:gd name="T47" fmla="*/ 85 h 89"/>
                <a:gd name="T48" fmla="*/ 31 w 36"/>
                <a:gd name="T49" fmla="*/ 87 h 89"/>
                <a:gd name="T50" fmla="*/ 34 w 36"/>
                <a:gd name="T51" fmla="*/ 88 h 89"/>
                <a:gd name="T52" fmla="*/ 36 w 36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6" h="89">
                  <a:moveTo>
                    <a:pt x="0" y="89"/>
                  </a:moveTo>
                  <a:lnTo>
                    <a:pt x="1" y="88"/>
                  </a:lnTo>
                  <a:lnTo>
                    <a:pt x="3" y="87"/>
                  </a:lnTo>
                  <a:lnTo>
                    <a:pt x="4" y="85"/>
                  </a:lnTo>
                  <a:lnTo>
                    <a:pt x="6" y="84"/>
                  </a:lnTo>
                  <a:lnTo>
                    <a:pt x="7" y="82"/>
                  </a:lnTo>
                  <a:lnTo>
                    <a:pt x="8" y="81"/>
                  </a:lnTo>
                  <a:lnTo>
                    <a:pt x="9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5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19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5" y="76"/>
                  </a:lnTo>
                  <a:lnTo>
                    <a:pt x="27" y="81"/>
                  </a:lnTo>
                  <a:lnTo>
                    <a:pt x="28" y="82"/>
                  </a:lnTo>
                  <a:lnTo>
                    <a:pt x="29" y="84"/>
                  </a:lnTo>
                  <a:lnTo>
                    <a:pt x="30" y="85"/>
                  </a:lnTo>
                  <a:lnTo>
                    <a:pt x="31" y="87"/>
                  </a:lnTo>
                  <a:lnTo>
                    <a:pt x="34" y="88"/>
                  </a:lnTo>
                  <a:lnTo>
                    <a:pt x="36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86" name="Freeform 254"/>
            <p:cNvSpPr>
              <a:spLocks/>
            </p:cNvSpPr>
            <p:nvPr/>
          </p:nvSpPr>
          <p:spPr bwMode="auto">
            <a:xfrm>
              <a:off x="3353" y="2148"/>
              <a:ext cx="18" cy="45"/>
            </a:xfrm>
            <a:custGeom>
              <a:avLst/>
              <a:gdLst>
                <a:gd name="T0" fmla="*/ 18 w 18"/>
                <a:gd name="T1" fmla="*/ 90 h 90"/>
                <a:gd name="T2" fmla="*/ 18 w 18"/>
                <a:gd name="T3" fmla="*/ 45 h 90"/>
                <a:gd name="T4" fmla="*/ 16 w 18"/>
                <a:gd name="T5" fmla="*/ 35 h 90"/>
                <a:gd name="T6" fmla="*/ 13 w 18"/>
                <a:gd name="T7" fmla="*/ 24 h 90"/>
                <a:gd name="T8" fmla="*/ 12 w 18"/>
                <a:gd name="T9" fmla="*/ 20 h 90"/>
                <a:gd name="T10" fmla="*/ 11 w 18"/>
                <a:gd name="T11" fmla="*/ 15 h 90"/>
                <a:gd name="T12" fmla="*/ 10 w 18"/>
                <a:gd name="T13" fmla="*/ 11 h 90"/>
                <a:gd name="T14" fmla="*/ 8 w 18"/>
                <a:gd name="T15" fmla="*/ 8 h 90"/>
                <a:gd name="T16" fmla="*/ 7 w 18"/>
                <a:gd name="T17" fmla="*/ 6 h 90"/>
                <a:gd name="T18" fmla="*/ 6 w 18"/>
                <a:gd name="T19" fmla="*/ 3 h 90"/>
                <a:gd name="T20" fmla="*/ 5 w 18"/>
                <a:gd name="T21" fmla="*/ 2 h 90"/>
                <a:gd name="T22" fmla="*/ 3 w 18"/>
                <a:gd name="T23" fmla="*/ 2 h 90"/>
                <a:gd name="T24" fmla="*/ 1 w 18"/>
                <a:gd name="T25" fmla="*/ 0 h 90"/>
                <a:gd name="T26" fmla="*/ 0 w 18"/>
                <a:gd name="T27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90">
                  <a:moveTo>
                    <a:pt x="18" y="90"/>
                  </a:moveTo>
                  <a:lnTo>
                    <a:pt x="18" y="45"/>
                  </a:lnTo>
                  <a:lnTo>
                    <a:pt x="16" y="35"/>
                  </a:lnTo>
                  <a:lnTo>
                    <a:pt x="13" y="24"/>
                  </a:lnTo>
                  <a:lnTo>
                    <a:pt x="12" y="20"/>
                  </a:lnTo>
                  <a:lnTo>
                    <a:pt x="11" y="15"/>
                  </a:lnTo>
                  <a:lnTo>
                    <a:pt x="10" y="11"/>
                  </a:lnTo>
                  <a:lnTo>
                    <a:pt x="8" y="8"/>
                  </a:lnTo>
                  <a:lnTo>
                    <a:pt x="7" y="6"/>
                  </a:lnTo>
                  <a:lnTo>
                    <a:pt x="6" y="3"/>
                  </a:lnTo>
                  <a:lnTo>
                    <a:pt x="5" y="2"/>
                  </a:lnTo>
                  <a:lnTo>
                    <a:pt x="3" y="2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87" name="Freeform 255"/>
            <p:cNvSpPr>
              <a:spLocks/>
            </p:cNvSpPr>
            <p:nvPr/>
          </p:nvSpPr>
          <p:spPr bwMode="auto">
            <a:xfrm>
              <a:off x="3242" y="2148"/>
              <a:ext cx="37" cy="45"/>
            </a:xfrm>
            <a:custGeom>
              <a:avLst/>
              <a:gdLst>
                <a:gd name="T0" fmla="*/ 0 w 37"/>
                <a:gd name="T1" fmla="*/ 0 h 90"/>
                <a:gd name="T2" fmla="*/ 2 w 37"/>
                <a:gd name="T3" fmla="*/ 0 h 90"/>
                <a:gd name="T4" fmla="*/ 4 w 37"/>
                <a:gd name="T5" fmla="*/ 2 h 90"/>
                <a:gd name="T6" fmla="*/ 5 w 37"/>
                <a:gd name="T7" fmla="*/ 3 h 90"/>
                <a:gd name="T8" fmla="*/ 7 w 37"/>
                <a:gd name="T9" fmla="*/ 5 h 90"/>
                <a:gd name="T10" fmla="*/ 8 w 37"/>
                <a:gd name="T11" fmla="*/ 6 h 90"/>
                <a:gd name="T12" fmla="*/ 9 w 37"/>
                <a:gd name="T13" fmla="*/ 9 h 90"/>
                <a:gd name="T14" fmla="*/ 10 w 37"/>
                <a:gd name="T15" fmla="*/ 12 h 90"/>
                <a:gd name="T16" fmla="*/ 11 w 37"/>
                <a:gd name="T17" fmla="*/ 15 h 90"/>
                <a:gd name="T18" fmla="*/ 13 w 37"/>
                <a:gd name="T19" fmla="*/ 20 h 90"/>
                <a:gd name="T20" fmla="*/ 14 w 37"/>
                <a:gd name="T21" fmla="*/ 24 h 90"/>
                <a:gd name="T22" fmla="*/ 16 w 37"/>
                <a:gd name="T23" fmla="*/ 35 h 90"/>
                <a:gd name="T24" fmla="*/ 19 w 37"/>
                <a:gd name="T25" fmla="*/ 45 h 90"/>
                <a:gd name="T26" fmla="*/ 19 w 37"/>
                <a:gd name="T27" fmla="*/ 90 h 90"/>
                <a:gd name="T28" fmla="*/ 19 w 37"/>
                <a:gd name="T29" fmla="*/ 45 h 90"/>
                <a:gd name="T30" fmla="*/ 20 w 37"/>
                <a:gd name="T31" fmla="*/ 35 h 90"/>
                <a:gd name="T32" fmla="*/ 22 w 37"/>
                <a:gd name="T33" fmla="*/ 24 h 90"/>
                <a:gd name="T34" fmla="*/ 24 w 37"/>
                <a:gd name="T35" fmla="*/ 20 h 90"/>
                <a:gd name="T36" fmla="*/ 25 w 37"/>
                <a:gd name="T37" fmla="*/ 15 h 90"/>
                <a:gd name="T38" fmla="*/ 26 w 37"/>
                <a:gd name="T39" fmla="*/ 12 h 90"/>
                <a:gd name="T40" fmla="*/ 27 w 37"/>
                <a:gd name="T41" fmla="*/ 9 h 90"/>
                <a:gd name="T42" fmla="*/ 29 w 37"/>
                <a:gd name="T43" fmla="*/ 6 h 90"/>
                <a:gd name="T44" fmla="*/ 30 w 37"/>
                <a:gd name="T45" fmla="*/ 5 h 90"/>
                <a:gd name="T46" fmla="*/ 31 w 37"/>
                <a:gd name="T47" fmla="*/ 3 h 90"/>
                <a:gd name="T48" fmla="*/ 32 w 37"/>
                <a:gd name="T49" fmla="*/ 2 h 90"/>
                <a:gd name="T50" fmla="*/ 35 w 37"/>
                <a:gd name="T51" fmla="*/ 0 h 90"/>
                <a:gd name="T52" fmla="*/ 37 w 37"/>
                <a:gd name="T5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90">
                  <a:moveTo>
                    <a:pt x="0" y="0"/>
                  </a:moveTo>
                  <a:lnTo>
                    <a:pt x="2" y="0"/>
                  </a:lnTo>
                  <a:lnTo>
                    <a:pt x="4" y="2"/>
                  </a:lnTo>
                  <a:lnTo>
                    <a:pt x="5" y="3"/>
                  </a:lnTo>
                  <a:lnTo>
                    <a:pt x="7" y="5"/>
                  </a:lnTo>
                  <a:lnTo>
                    <a:pt x="8" y="6"/>
                  </a:lnTo>
                  <a:lnTo>
                    <a:pt x="9" y="9"/>
                  </a:lnTo>
                  <a:lnTo>
                    <a:pt x="10" y="12"/>
                  </a:lnTo>
                  <a:lnTo>
                    <a:pt x="11" y="15"/>
                  </a:lnTo>
                  <a:lnTo>
                    <a:pt x="13" y="20"/>
                  </a:lnTo>
                  <a:lnTo>
                    <a:pt x="14" y="24"/>
                  </a:lnTo>
                  <a:lnTo>
                    <a:pt x="16" y="35"/>
                  </a:lnTo>
                  <a:lnTo>
                    <a:pt x="19" y="45"/>
                  </a:lnTo>
                  <a:lnTo>
                    <a:pt x="19" y="90"/>
                  </a:lnTo>
                  <a:lnTo>
                    <a:pt x="19" y="45"/>
                  </a:lnTo>
                  <a:lnTo>
                    <a:pt x="20" y="35"/>
                  </a:lnTo>
                  <a:lnTo>
                    <a:pt x="22" y="24"/>
                  </a:lnTo>
                  <a:lnTo>
                    <a:pt x="24" y="20"/>
                  </a:lnTo>
                  <a:lnTo>
                    <a:pt x="25" y="15"/>
                  </a:lnTo>
                  <a:lnTo>
                    <a:pt x="26" y="12"/>
                  </a:lnTo>
                  <a:lnTo>
                    <a:pt x="27" y="9"/>
                  </a:lnTo>
                  <a:lnTo>
                    <a:pt x="29" y="6"/>
                  </a:lnTo>
                  <a:lnTo>
                    <a:pt x="30" y="5"/>
                  </a:lnTo>
                  <a:lnTo>
                    <a:pt x="31" y="3"/>
                  </a:lnTo>
                  <a:lnTo>
                    <a:pt x="32" y="2"/>
                  </a:lnTo>
                  <a:lnTo>
                    <a:pt x="35" y="0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88" name="Freeform 256"/>
            <p:cNvSpPr>
              <a:spLocks/>
            </p:cNvSpPr>
            <p:nvPr/>
          </p:nvSpPr>
          <p:spPr bwMode="auto">
            <a:xfrm>
              <a:off x="3132" y="2148"/>
              <a:ext cx="37" cy="45"/>
            </a:xfrm>
            <a:custGeom>
              <a:avLst/>
              <a:gdLst>
                <a:gd name="T0" fmla="*/ 0 w 37"/>
                <a:gd name="T1" fmla="*/ 0 h 90"/>
                <a:gd name="T2" fmla="*/ 1 w 37"/>
                <a:gd name="T3" fmla="*/ 0 h 90"/>
                <a:gd name="T4" fmla="*/ 4 w 37"/>
                <a:gd name="T5" fmla="*/ 2 h 90"/>
                <a:gd name="T6" fmla="*/ 5 w 37"/>
                <a:gd name="T7" fmla="*/ 3 h 90"/>
                <a:gd name="T8" fmla="*/ 6 w 37"/>
                <a:gd name="T9" fmla="*/ 5 h 90"/>
                <a:gd name="T10" fmla="*/ 7 w 37"/>
                <a:gd name="T11" fmla="*/ 6 h 90"/>
                <a:gd name="T12" fmla="*/ 9 w 37"/>
                <a:gd name="T13" fmla="*/ 9 h 90"/>
                <a:gd name="T14" fmla="*/ 10 w 37"/>
                <a:gd name="T15" fmla="*/ 12 h 90"/>
                <a:gd name="T16" fmla="*/ 11 w 37"/>
                <a:gd name="T17" fmla="*/ 15 h 90"/>
                <a:gd name="T18" fmla="*/ 12 w 37"/>
                <a:gd name="T19" fmla="*/ 20 h 90"/>
                <a:gd name="T20" fmla="*/ 14 w 37"/>
                <a:gd name="T21" fmla="*/ 24 h 90"/>
                <a:gd name="T22" fmla="*/ 16 w 37"/>
                <a:gd name="T23" fmla="*/ 35 h 90"/>
                <a:gd name="T24" fmla="*/ 18 w 37"/>
                <a:gd name="T25" fmla="*/ 45 h 90"/>
                <a:gd name="T26" fmla="*/ 18 w 37"/>
                <a:gd name="T27" fmla="*/ 90 h 90"/>
                <a:gd name="T28" fmla="*/ 18 w 37"/>
                <a:gd name="T29" fmla="*/ 45 h 90"/>
                <a:gd name="T30" fmla="*/ 20 w 37"/>
                <a:gd name="T31" fmla="*/ 35 h 90"/>
                <a:gd name="T32" fmla="*/ 22 w 37"/>
                <a:gd name="T33" fmla="*/ 24 h 90"/>
                <a:gd name="T34" fmla="*/ 23 w 37"/>
                <a:gd name="T35" fmla="*/ 20 h 90"/>
                <a:gd name="T36" fmla="*/ 25 w 37"/>
                <a:gd name="T37" fmla="*/ 15 h 90"/>
                <a:gd name="T38" fmla="*/ 26 w 37"/>
                <a:gd name="T39" fmla="*/ 12 h 90"/>
                <a:gd name="T40" fmla="*/ 27 w 37"/>
                <a:gd name="T41" fmla="*/ 9 h 90"/>
                <a:gd name="T42" fmla="*/ 28 w 37"/>
                <a:gd name="T43" fmla="*/ 6 h 90"/>
                <a:gd name="T44" fmla="*/ 29 w 37"/>
                <a:gd name="T45" fmla="*/ 5 h 90"/>
                <a:gd name="T46" fmla="*/ 31 w 37"/>
                <a:gd name="T47" fmla="*/ 3 h 90"/>
                <a:gd name="T48" fmla="*/ 32 w 37"/>
                <a:gd name="T49" fmla="*/ 2 h 90"/>
                <a:gd name="T50" fmla="*/ 34 w 37"/>
                <a:gd name="T51" fmla="*/ 0 h 90"/>
                <a:gd name="T52" fmla="*/ 37 w 37"/>
                <a:gd name="T5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90">
                  <a:moveTo>
                    <a:pt x="0" y="0"/>
                  </a:moveTo>
                  <a:lnTo>
                    <a:pt x="1" y="0"/>
                  </a:lnTo>
                  <a:lnTo>
                    <a:pt x="4" y="2"/>
                  </a:lnTo>
                  <a:lnTo>
                    <a:pt x="5" y="3"/>
                  </a:lnTo>
                  <a:lnTo>
                    <a:pt x="6" y="5"/>
                  </a:lnTo>
                  <a:lnTo>
                    <a:pt x="7" y="6"/>
                  </a:lnTo>
                  <a:lnTo>
                    <a:pt x="9" y="9"/>
                  </a:lnTo>
                  <a:lnTo>
                    <a:pt x="10" y="12"/>
                  </a:lnTo>
                  <a:lnTo>
                    <a:pt x="11" y="15"/>
                  </a:lnTo>
                  <a:lnTo>
                    <a:pt x="12" y="20"/>
                  </a:lnTo>
                  <a:lnTo>
                    <a:pt x="14" y="24"/>
                  </a:lnTo>
                  <a:lnTo>
                    <a:pt x="16" y="35"/>
                  </a:lnTo>
                  <a:lnTo>
                    <a:pt x="18" y="45"/>
                  </a:lnTo>
                  <a:lnTo>
                    <a:pt x="18" y="90"/>
                  </a:lnTo>
                  <a:lnTo>
                    <a:pt x="18" y="45"/>
                  </a:lnTo>
                  <a:lnTo>
                    <a:pt x="20" y="35"/>
                  </a:lnTo>
                  <a:lnTo>
                    <a:pt x="22" y="24"/>
                  </a:lnTo>
                  <a:lnTo>
                    <a:pt x="23" y="20"/>
                  </a:lnTo>
                  <a:lnTo>
                    <a:pt x="25" y="15"/>
                  </a:lnTo>
                  <a:lnTo>
                    <a:pt x="26" y="12"/>
                  </a:lnTo>
                  <a:lnTo>
                    <a:pt x="27" y="9"/>
                  </a:lnTo>
                  <a:lnTo>
                    <a:pt x="28" y="6"/>
                  </a:lnTo>
                  <a:lnTo>
                    <a:pt x="29" y="5"/>
                  </a:lnTo>
                  <a:lnTo>
                    <a:pt x="31" y="3"/>
                  </a:lnTo>
                  <a:lnTo>
                    <a:pt x="32" y="2"/>
                  </a:lnTo>
                  <a:lnTo>
                    <a:pt x="34" y="0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89" name="Freeform 257"/>
            <p:cNvSpPr>
              <a:spLocks/>
            </p:cNvSpPr>
            <p:nvPr/>
          </p:nvSpPr>
          <p:spPr bwMode="auto">
            <a:xfrm>
              <a:off x="3022" y="2148"/>
              <a:ext cx="36" cy="45"/>
            </a:xfrm>
            <a:custGeom>
              <a:avLst/>
              <a:gdLst>
                <a:gd name="T0" fmla="*/ 0 w 36"/>
                <a:gd name="T1" fmla="*/ 0 h 90"/>
                <a:gd name="T2" fmla="*/ 1 w 36"/>
                <a:gd name="T3" fmla="*/ 0 h 90"/>
                <a:gd name="T4" fmla="*/ 3 w 36"/>
                <a:gd name="T5" fmla="*/ 2 h 90"/>
                <a:gd name="T6" fmla="*/ 5 w 36"/>
                <a:gd name="T7" fmla="*/ 3 h 90"/>
                <a:gd name="T8" fmla="*/ 6 w 36"/>
                <a:gd name="T9" fmla="*/ 5 h 90"/>
                <a:gd name="T10" fmla="*/ 7 w 36"/>
                <a:gd name="T11" fmla="*/ 6 h 90"/>
                <a:gd name="T12" fmla="*/ 8 w 36"/>
                <a:gd name="T13" fmla="*/ 9 h 90"/>
                <a:gd name="T14" fmla="*/ 10 w 36"/>
                <a:gd name="T15" fmla="*/ 12 h 90"/>
                <a:gd name="T16" fmla="*/ 11 w 36"/>
                <a:gd name="T17" fmla="*/ 15 h 90"/>
                <a:gd name="T18" fmla="*/ 12 w 36"/>
                <a:gd name="T19" fmla="*/ 20 h 90"/>
                <a:gd name="T20" fmla="*/ 13 w 36"/>
                <a:gd name="T21" fmla="*/ 24 h 90"/>
                <a:gd name="T22" fmla="*/ 16 w 36"/>
                <a:gd name="T23" fmla="*/ 35 h 90"/>
                <a:gd name="T24" fmla="*/ 18 w 36"/>
                <a:gd name="T25" fmla="*/ 45 h 90"/>
                <a:gd name="T26" fmla="*/ 18 w 36"/>
                <a:gd name="T27" fmla="*/ 90 h 90"/>
                <a:gd name="T28" fmla="*/ 18 w 36"/>
                <a:gd name="T29" fmla="*/ 45 h 90"/>
                <a:gd name="T30" fmla="*/ 19 w 36"/>
                <a:gd name="T31" fmla="*/ 35 h 90"/>
                <a:gd name="T32" fmla="*/ 22 w 36"/>
                <a:gd name="T33" fmla="*/ 24 h 90"/>
                <a:gd name="T34" fmla="*/ 23 w 36"/>
                <a:gd name="T35" fmla="*/ 20 h 90"/>
                <a:gd name="T36" fmla="*/ 24 w 36"/>
                <a:gd name="T37" fmla="*/ 15 h 90"/>
                <a:gd name="T38" fmla="*/ 25 w 36"/>
                <a:gd name="T39" fmla="*/ 12 h 90"/>
                <a:gd name="T40" fmla="*/ 27 w 36"/>
                <a:gd name="T41" fmla="*/ 9 h 90"/>
                <a:gd name="T42" fmla="*/ 28 w 36"/>
                <a:gd name="T43" fmla="*/ 6 h 90"/>
                <a:gd name="T44" fmla="*/ 29 w 36"/>
                <a:gd name="T45" fmla="*/ 5 h 90"/>
                <a:gd name="T46" fmla="*/ 30 w 36"/>
                <a:gd name="T47" fmla="*/ 3 h 90"/>
                <a:gd name="T48" fmla="*/ 32 w 36"/>
                <a:gd name="T49" fmla="*/ 2 h 90"/>
                <a:gd name="T50" fmla="*/ 34 w 36"/>
                <a:gd name="T51" fmla="*/ 0 h 90"/>
                <a:gd name="T52" fmla="*/ 36 w 36"/>
                <a:gd name="T5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6" h="90">
                  <a:moveTo>
                    <a:pt x="0" y="0"/>
                  </a:moveTo>
                  <a:lnTo>
                    <a:pt x="1" y="0"/>
                  </a:lnTo>
                  <a:lnTo>
                    <a:pt x="3" y="2"/>
                  </a:lnTo>
                  <a:lnTo>
                    <a:pt x="5" y="3"/>
                  </a:lnTo>
                  <a:lnTo>
                    <a:pt x="6" y="5"/>
                  </a:lnTo>
                  <a:lnTo>
                    <a:pt x="7" y="6"/>
                  </a:lnTo>
                  <a:lnTo>
                    <a:pt x="8" y="9"/>
                  </a:lnTo>
                  <a:lnTo>
                    <a:pt x="10" y="12"/>
                  </a:lnTo>
                  <a:lnTo>
                    <a:pt x="11" y="15"/>
                  </a:lnTo>
                  <a:lnTo>
                    <a:pt x="12" y="20"/>
                  </a:lnTo>
                  <a:lnTo>
                    <a:pt x="13" y="24"/>
                  </a:lnTo>
                  <a:lnTo>
                    <a:pt x="16" y="35"/>
                  </a:lnTo>
                  <a:lnTo>
                    <a:pt x="18" y="45"/>
                  </a:lnTo>
                  <a:lnTo>
                    <a:pt x="18" y="90"/>
                  </a:lnTo>
                  <a:lnTo>
                    <a:pt x="18" y="45"/>
                  </a:lnTo>
                  <a:lnTo>
                    <a:pt x="19" y="35"/>
                  </a:lnTo>
                  <a:lnTo>
                    <a:pt x="22" y="24"/>
                  </a:lnTo>
                  <a:lnTo>
                    <a:pt x="23" y="20"/>
                  </a:lnTo>
                  <a:lnTo>
                    <a:pt x="24" y="15"/>
                  </a:lnTo>
                  <a:lnTo>
                    <a:pt x="25" y="12"/>
                  </a:lnTo>
                  <a:lnTo>
                    <a:pt x="27" y="9"/>
                  </a:lnTo>
                  <a:lnTo>
                    <a:pt x="28" y="6"/>
                  </a:lnTo>
                  <a:lnTo>
                    <a:pt x="29" y="5"/>
                  </a:lnTo>
                  <a:lnTo>
                    <a:pt x="30" y="3"/>
                  </a:lnTo>
                  <a:lnTo>
                    <a:pt x="32" y="2"/>
                  </a:lnTo>
                  <a:lnTo>
                    <a:pt x="34" y="0"/>
                  </a:lnTo>
                  <a:lnTo>
                    <a:pt x="36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90" name="Line 258"/>
            <p:cNvSpPr>
              <a:spLocks noChangeShapeType="1"/>
            </p:cNvSpPr>
            <p:nvPr/>
          </p:nvSpPr>
          <p:spPr bwMode="auto">
            <a:xfrm flipV="1">
              <a:off x="3812" y="2193"/>
              <a:ext cx="1" cy="156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91" name="Freeform 259"/>
            <p:cNvSpPr>
              <a:spLocks/>
            </p:cNvSpPr>
            <p:nvPr/>
          </p:nvSpPr>
          <p:spPr bwMode="auto">
            <a:xfrm>
              <a:off x="3812" y="2148"/>
              <a:ext cx="19" cy="45"/>
            </a:xfrm>
            <a:custGeom>
              <a:avLst/>
              <a:gdLst>
                <a:gd name="T0" fmla="*/ 0 w 19"/>
                <a:gd name="T1" fmla="*/ 90 h 90"/>
                <a:gd name="T2" fmla="*/ 0 w 19"/>
                <a:gd name="T3" fmla="*/ 45 h 90"/>
                <a:gd name="T4" fmla="*/ 2 w 19"/>
                <a:gd name="T5" fmla="*/ 35 h 90"/>
                <a:gd name="T6" fmla="*/ 4 w 19"/>
                <a:gd name="T7" fmla="*/ 24 h 90"/>
                <a:gd name="T8" fmla="*/ 5 w 19"/>
                <a:gd name="T9" fmla="*/ 20 h 90"/>
                <a:gd name="T10" fmla="*/ 7 w 19"/>
                <a:gd name="T11" fmla="*/ 15 h 90"/>
                <a:gd name="T12" fmla="*/ 8 w 19"/>
                <a:gd name="T13" fmla="*/ 11 h 90"/>
                <a:gd name="T14" fmla="*/ 9 w 19"/>
                <a:gd name="T15" fmla="*/ 8 h 90"/>
                <a:gd name="T16" fmla="*/ 10 w 19"/>
                <a:gd name="T17" fmla="*/ 6 h 90"/>
                <a:gd name="T18" fmla="*/ 12 w 19"/>
                <a:gd name="T19" fmla="*/ 3 h 90"/>
                <a:gd name="T20" fmla="*/ 13 w 19"/>
                <a:gd name="T21" fmla="*/ 2 h 90"/>
                <a:gd name="T22" fmla="*/ 14 w 19"/>
                <a:gd name="T23" fmla="*/ 2 h 90"/>
                <a:gd name="T24" fmla="*/ 16 w 19"/>
                <a:gd name="T25" fmla="*/ 0 h 90"/>
                <a:gd name="T26" fmla="*/ 19 w 19"/>
                <a:gd name="T27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" h="90">
                  <a:moveTo>
                    <a:pt x="0" y="90"/>
                  </a:moveTo>
                  <a:lnTo>
                    <a:pt x="0" y="45"/>
                  </a:lnTo>
                  <a:lnTo>
                    <a:pt x="2" y="35"/>
                  </a:lnTo>
                  <a:lnTo>
                    <a:pt x="4" y="24"/>
                  </a:lnTo>
                  <a:lnTo>
                    <a:pt x="5" y="20"/>
                  </a:lnTo>
                  <a:lnTo>
                    <a:pt x="7" y="15"/>
                  </a:lnTo>
                  <a:lnTo>
                    <a:pt x="8" y="11"/>
                  </a:lnTo>
                  <a:lnTo>
                    <a:pt x="9" y="8"/>
                  </a:lnTo>
                  <a:lnTo>
                    <a:pt x="10" y="6"/>
                  </a:lnTo>
                  <a:lnTo>
                    <a:pt x="12" y="3"/>
                  </a:lnTo>
                  <a:lnTo>
                    <a:pt x="13" y="2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19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92" name="Line 260"/>
            <p:cNvSpPr>
              <a:spLocks noChangeShapeType="1"/>
            </p:cNvSpPr>
            <p:nvPr/>
          </p:nvSpPr>
          <p:spPr bwMode="auto">
            <a:xfrm flipV="1">
              <a:off x="3868" y="1947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93" name="Line 261"/>
            <p:cNvSpPr>
              <a:spLocks noChangeShapeType="1"/>
            </p:cNvSpPr>
            <p:nvPr/>
          </p:nvSpPr>
          <p:spPr bwMode="auto">
            <a:xfrm flipV="1">
              <a:off x="3978" y="1947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94" name="Line 262"/>
            <p:cNvSpPr>
              <a:spLocks noChangeShapeType="1"/>
            </p:cNvSpPr>
            <p:nvPr/>
          </p:nvSpPr>
          <p:spPr bwMode="auto">
            <a:xfrm flipV="1">
              <a:off x="4088" y="1947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95" name="Line 263"/>
            <p:cNvSpPr>
              <a:spLocks noChangeShapeType="1"/>
            </p:cNvSpPr>
            <p:nvPr/>
          </p:nvSpPr>
          <p:spPr bwMode="auto">
            <a:xfrm flipV="1">
              <a:off x="4199" y="1947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96" name="Line 264"/>
            <p:cNvSpPr>
              <a:spLocks noChangeShapeType="1"/>
            </p:cNvSpPr>
            <p:nvPr/>
          </p:nvSpPr>
          <p:spPr bwMode="auto">
            <a:xfrm flipV="1">
              <a:off x="3923" y="2193"/>
              <a:ext cx="1" cy="156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97" name="Line 265"/>
            <p:cNvSpPr>
              <a:spLocks noChangeShapeType="1"/>
            </p:cNvSpPr>
            <p:nvPr/>
          </p:nvSpPr>
          <p:spPr bwMode="auto">
            <a:xfrm flipV="1">
              <a:off x="4033" y="2193"/>
              <a:ext cx="1" cy="156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98" name="Line 266"/>
            <p:cNvSpPr>
              <a:spLocks noChangeShapeType="1"/>
            </p:cNvSpPr>
            <p:nvPr/>
          </p:nvSpPr>
          <p:spPr bwMode="auto">
            <a:xfrm flipV="1">
              <a:off x="4143" y="2193"/>
              <a:ext cx="1" cy="156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899" name="Freeform 267"/>
            <p:cNvSpPr>
              <a:spLocks/>
            </p:cNvSpPr>
            <p:nvPr/>
          </p:nvSpPr>
          <p:spPr bwMode="auto">
            <a:xfrm>
              <a:off x="3849" y="2104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7 h 89"/>
                <a:gd name="T6" fmla="*/ 5 w 37"/>
                <a:gd name="T7" fmla="*/ 85 h 89"/>
                <a:gd name="T8" fmla="*/ 6 w 37"/>
                <a:gd name="T9" fmla="*/ 84 h 89"/>
                <a:gd name="T10" fmla="*/ 8 w 37"/>
                <a:gd name="T11" fmla="*/ 82 h 89"/>
                <a:gd name="T12" fmla="*/ 9 w 37"/>
                <a:gd name="T13" fmla="*/ 81 h 89"/>
                <a:gd name="T14" fmla="*/ 10 w 37"/>
                <a:gd name="T15" fmla="*/ 76 h 89"/>
                <a:gd name="T16" fmla="*/ 11 w 37"/>
                <a:gd name="T17" fmla="*/ 73 h 89"/>
                <a:gd name="T18" fmla="*/ 13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9 w 37"/>
                <a:gd name="T25" fmla="*/ 45 h 89"/>
                <a:gd name="T26" fmla="*/ 19 w 37"/>
                <a:gd name="T27" fmla="*/ 0 h 89"/>
                <a:gd name="T28" fmla="*/ 19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4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1 h 89"/>
                <a:gd name="T42" fmla="*/ 28 w 37"/>
                <a:gd name="T43" fmla="*/ 82 h 89"/>
                <a:gd name="T44" fmla="*/ 30 w 37"/>
                <a:gd name="T45" fmla="*/ 84 h 89"/>
                <a:gd name="T46" fmla="*/ 31 w 37"/>
                <a:gd name="T47" fmla="*/ 85 h 89"/>
                <a:gd name="T48" fmla="*/ 32 w 37"/>
                <a:gd name="T49" fmla="*/ 87 h 89"/>
                <a:gd name="T50" fmla="*/ 35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7"/>
                  </a:lnTo>
                  <a:lnTo>
                    <a:pt x="5" y="85"/>
                  </a:lnTo>
                  <a:lnTo>
                    <a:pt x="6" y="84"/>
                  </a:lnTo>
                  <a:lnTo>
                    <a:pt x="8" y="82"/>
                  </a:lnTo>
                  <a:lnTo>
                    <a:pt x="9" y="81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3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9" y="45"/>
                  </a:lnTo>
                  <a:lnTo>
                    <a:pt x="19" y="0"/>
                  </a:lnTo>
                  <a:lnTo>
                    <a:pt x="19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4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1"/>
                  </a:lnTo>
                  <a:lnTo>
                    <a:pt x="28" y="82"/>
                  </a:lnTo>
                  <a:lnTo>
                    <a:pt x="30" y="84"/>
                  </a:lnTo>
                  <a:lnTo>
                    <a:pt x="31" y="85"/>
                  </a:lnTo>
                  <a:lnTo>
                    <a:pt x="32" y="87"/>
                  </a:lnTo>
                  <a:lnTo>
                    <a:pt x="35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00" name="Freeform 268"/>
            <p:cNvSpPr>
              <a:spLocks/>
            </p:cNvSpPr>
            <p:nvPr/>
          </p:nvSpPr>
          <p:spPr bwMode="auto">
            <a:xfrm>
              <a:off x="3960" y="2104"/>
              <a:ext cx="36" cy="44"/>
            </a:xfrm>
            <a:custGeom>
              <a:avLst/>
              <a:gdLst>
                <a:gd name="T0" fmla="*/ 0 w 36"/>
                <a:gd name="T1" fmla="*/ 89 h 89"/>
                <a:gd name="T2" fmla="*/ 1 w 36"/>
                <a:gd name="T3" fmla="*/ 88 h 89"/>
                <a:gd name="T4" fmla="*/ 3 w 36"/>
                <a:gd name="T5" fmla="*/ 87 h 89"/>
                <a:gd name="T6" fmla="*/ 4 w 36"/>
                <a:gd name="T7" fmla="*/ 85 h 89"/>
                <a:gd name="T8" fmla="*/ 6 w 36"/>
                <a:gd name="T9" fmla="*/ 84 h 89"/>
                <a:gd name="T10" fmla="*/ 7 w 36"/>
                <a:gd name="T11" fmla="*/ 82 h 89"/>
                <a:gd name="T12" fmla="*/ 8 w 36"/>
                <a:gd name="T13" fmla="*/ 81 h 89"/>
                <a:gd name="T14" fmla="*/ 9 w 36"/>
                <a:gd name="T15" fmla="*/ 76 h 89"/>
                <a:gd name="T16" fmla="*/ 11 w 36"/>
                <a:gd name="T17" fmla="*/ 73 h 89"/>
                <a:gd name="T18" fmla="*/ 12 w 36"/>
                <a:gd name="T19" fmla="*/ 69 h 89"/>
                <a:gd name="T20" fmla="*/ 13 w 36"/>
                <a:gd name="T21" fmla="*/ 64 h 89"/>
                <a:gd name="T22" fmla="*/ 16 w 36"/>
                <a:gd name="T23" fmla="*/ 54 h 89"/>
                <a:gd name="T24" fmla="*/ 18 w 36"/>
                <a:gd name="T25" fmla="*/ 45 h 89"/>
                <a:gd name="T26" fmla="*/ 18 w 36"/>
                <a:gd name="T27" fmla="*/ 0 h 89"/>
                <a:gd name="T28" fmla="*/ 18 w 36"/>
                <a:gd name="T29" fmla="*/ 45 h 89"/>
                <a:gd name="T30" fmla="*/ 19 w 36"/>
                <a:gd name="T31" fmla="*/ 54 h 89"/>
                <a:gd name="T32" fmla="*/ 22 w 36"/>
                <a:gd name="T33" fmla="*/ 64 h 89"/>
                <a:gd name="T34" fmla="*/ 23 w 36"/>
                <a:gd name="T35" fmla="*/ 69 h 89"/>
                <a:gd name="T36" fmla="*/ 24 w 36"/>
                <a:gd name="T37" fmla="*/ 73 h 89"/>
                <a:gd name="T38" fmla="*/ 25 w 36"/>
                <a:gd name="T39" fmla="*/ 76 h 89"/>
                <a:gd name="T40" fmla="*/ 27 w 36"/>
                <a:gd name="T41" fmla="*/ 81 h 89"/>
                <a:gd name="T42" fmla="*/ 28 w 36"/>
                <a:gd name="T43" fmla="*/ 82 h 89"/>
                <a:gd name="T44" fmla="*/ 29 w 36"/>
                <a:gd name="T45" fmla="*/ 84 h 89"/>
                <a:gd name="T46" fmla="*/ 30 w 36"/>
                <a:gd name="T47" fmla="*/ 85 h 89"/>
                <a:gd name="T48" fmla="*/ 31 w 36"/>
                <a:gd name="T49" fmla="*/ 87 h 89"/>
                <a:gd name="T50" fmla="*/ 34 w 36"/>
                <a:gd name="T51" fmla="*/ 88 h 89"/>
                <a:gd name="T52" fmla="*/ 36 w 36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6" h="89">
                  <a:moveTo>
                    <a:pt x="0" y="89"/>
                  </a:moveTo>
                  <a:lnTo>
                    <a:pt x="1" y="88"/>
                  </a:lnTo>
                  <a:lnTo>
                    <a:pt x="3" y="87"/>
                  </a:lnTo>
                  <a:lnTo>
                    <a:pt x="4" y="85"/>
                  </a:lnTo>
                  <a:lnTo>
                    <a:pt x="6" y="84"/>
                  </a:lnTo>
                  <a:lnTo>
                    <a:pt x="7" y="82"/>
                  </a:lnTo>
                  <a:lnTo>
                    <a:pt x="8" y="81"/>
                  </a:lnTo>
                  <a:lnTo>
                    <a:pt x="9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19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5" y="76"/>
                  </a:lnTo>
                  <a:lnTo>
                    <a:pt x="27" y="81"/>
                  </a:lnTo>
                  <a:lnTo>
                    <a:pt x="28" y="82"/>
                  </a:lnTo>
                  <a:lnTo>
                    <a:pt x="29" y="84"/>
                  </a:lnTo>
                  <a:lnTo>
                    <a:pt x="30" y="85"/>
                  </a:lnTo>
                  <a:lnTo>
                    <a:pt x="31" y="87"/>
                  </a:lnTo>
                  <a:lnTo>
                    <a:pt x="34" y="88"/>
                  </a:lnTo>
                  <a:lnTo>
                    <a:pt x="36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01" name="Freeform 269"/>
            <p:cNvSpPr>
              <a:spLocks/>
            </p:cNvSpPr>
            <p:nvPr/>
          </p:nvSpPr>
          <p:spPr bwMode="auto">
            <a:xfrm>
              <a:off x="4070" y="2104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7 h 89"/>
                <a:gd name="T6" fmla="*/ 5 w 37"/>
                <a:gd name="T7" fmla="*/ 85 h 89"/>
                <a:gd name="T8" fmla="*/ 6 w 37"/>
                <a:gd name="T9" fmla="*/ 84 h 89"/>
                <a:gd name="T10" fmla="*/ 7 w 37"/>
                <a:gd name="T11" fmla="*/ 82 h 89"/>
                <a:gd name="T12" fmla="*/ 9 w 37"/>
                <a:gd name="T13" fmla="*/ 81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3 w 37"/>
                <a:gd name="T21" fmla="*/ 64 h 89"/>
                <a:gd name="T22" fmla="*/ 16 w 37"/>
                <a:gd name="T23" fmla="*/ 54 h 89"/>
                <a:gd name="T24" fmla="*/ 18 w 37"/>
                <a:gd name="T25" fmla="*/ 45 h 89"/>
                <a:gd name="T26" fmla="*/ 18 w 37"/>
                <a:gd name="T27" fmla="*/ 0 h 89"/>
                <a:gd name="T28" fmla="*/ 18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3 w 37"/>
                <a:gd name="T35" fmla="*/ 69 h 89"/>
                <a:gd name="T36" fmla="*/ 24 w 37"/>
                <a:gd name="T37" fmla="*/ 73 h 89"/>
                <a:gd name="T38" fmla="*/ 26 w 37"/>
                <a:gd name="T39" fmla="*/ 76 h 89"/>
                <a:gd name="T40" fmla="*/ 27 w 37"/>
                <a:gd name="T41" fmla="*/ 81 h 89"/>
                <a:gd name="T42" fmla="*/ 28 w 37"/>
                <a:gd name="T43" fmla="*/ 82 h 89"/>
                <a:gd name="T44" fmla="*/ 29 w 37"/>
                <a:gd name="T45" fmla="*/ 84 h 89"/>
                <a:gd name="T46" fmla="*/ 31 w 37"/>
                <a:gd name="T47" fmla="*/ 85 h 89"/>
                <a:gd name="T48" fmla="*/ 32 w 37"/>
                <a:gd name="T49" fmla="*/ 87 h 89"/>
                <a:gd name="T50" fmla="*/ 34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7"/>
                  </a:lnTo>
                  <a:lnTo>
                    <a:pt x="5" y="85"/>
                  </a:lnTo>
                  <a:lnTo>
                    <a:pt x="6" y="84"/>
                  </a:lnTo>
                  <a:lnTo>
                    <a:pt x="7" y="82"/>
                  </a:lnTo>
                  <a:lnTo>
                    <a:pt x="9" y="81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6" y="76"/>
                  </a:lnTo>
                  <a:lnTo>
                    <a:pt x="27" y="81"/>
                  </a:lnTo>
                  <a:lnTo>
                    <a:pt x="28" y="82"/>
                  </a:lnTo>
                  <a:lnTo>
                    <a:pt x="29" y="84"/>
                  </a:lnTo>
                  <a:lnTo>
                    <a:pt x="31" y="85"/>
                  </a:lnTo>
                  <a:lnTo>
                    <a:pt x="32" y="87"/>
                  </a:lnTo>
                  <a:lnTo>
                    <a:pt x="34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02" name="Freeform 270"/>
            <p:cNvSpPr>
              <a:spLocks/>
            </p:cNvSpPr>
            <p:nvPr/>
          </p:nvSpPr>
          <p:spPr bwMode="auto">
            <a:xfrm>
              <a:off x="4180" y="2104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7 h 89"/>
                <a:gd name="T6" fmla="*/ 5 w 37"/>
                <a:gd name="T7" fmla="*/ 85 h 89"/>
                <a:gd name="T8" fmla="*/ 6 w 37"/>
                <a:gd name="T9" fmla="*/ 84 h 89"/>
                <a:gd name="T10" fmla="*/ 8 w 37"/>
                <a:gd name="T11" fmla="*/ 82 h 89"/>
                <a:gd name="T12" fmla="*/ 9 w 37"/>
                <a:gd name="T13" fmla="*/ 81 h 89"/>
                <a:gd name="T14" fmla="*/ 10 w 37"/>
                <a:gd name="T15" fmla="*/ 76 h 89"/>
                <a:gd name="T16" fmla="*/ 11 w 37"/>
                <a:gd name="T17" fmla="*/ 73 h 89"/>
                <a:gd name="T18" fmla="*/ 13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9 w 37"/>
                <a:gd name="T25" fmla="*/ 45 h 89"/>
                <a:gd name="T26" fmla="*/ 19 w 37"/>
                <a:gd name="T27" fmla="*/ 0 h 89"/>
                <a:gd name="T28" fmla="*/ 19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4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1 h 89"/>
                <a:gd name="T42" fmla="*/ 28 w 37"/>
                <a:gd name="T43" fmla="*/ 82 h 89"/>
                <a:gd name="T44" fmla="*/ 30 w 37"/>
                <a:gd name="T45" fmla="*/ 84 h 89"/>
                <a:gd name="T46" fmla="*/ 31 w 37"/>
                <a:gd name="T47" fmla="*/ 85 h 89"/>
                <a:gd name="T48" fmla="*/ 32 w 37"/>
                <a:gd name="T49" fmla="*/ 87 h 89"/>
                <a:gd name="T50" fmla="*/ 35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7"/>
                  </a:lnTo>
                  <a:lnTo>
                    <a:pt x="5" y="85"/>
                  </a:lnTo>
                  <a:lnTo>
                    <a:pt x="6" y="84"/>
                  </a:lnTo>
                  <a:lnTo>
                    <a:pt x="8" y="82"/>
                  </a:lnTo>
                  <a:lnTo>
                    <a:pt x="9" y="81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3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9" y="45"/>
                  </a:lnTo>
                  <a:lnTo>
                    <a:pt x="19" y="0"/>
                  </a:lnTo>
                  <a:lnTo>
                    <a:pt x="19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4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1"/>
                  </a:lnTo>
                  <a:lnTo>
                    <a:pt x="28" y="82"/>
                  </a:lnTo>
                  <a:lnTo>
                    <a:pt x="30" y="84"/>
                  </a:lnTo>
                  <a:lnTo>
                    <a:pt x="31" y="85"/>
                  </a:lnTo>
                  <a:lnTo>
                    <a:pt x="32" y="87"/>
                  </a:lnTo>
                  <a:lnTo>
                    <a:pt x="35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03" name="Freeform 271"/>
            <p:cNvSpPr>
              <a:spLocks/>
            </p:cNvSpPr>
            <p:nvPr/>
          </p:nvSpPr>
          <p:spPr bwMode="auto">
            <a:xfrm>
              <a:off x="4235" y="2148"/>
              <a:ext cx="19" cy="45"/>
            </a:xfrm>
            <a:custGeom>
              <a:avLst/>
              <a:gdLst>
                <a:gd name="T0" fmla="*/ 19 w 19"/>
                <a:gd name="T1" fmla="*/ 90 h 90"/>
                <a:gd name="T2" fmla="*/ 19 w 19"/>
                <a:gd name="T3" fmla="*/ 45 h 90"/>
                <a:gd name="T4" fmla="*/ 16 w 19"/>
                <a:gd name="T5" fmla="*/ 35 h 90"/>
                <a:gd name="T6" fmla="*/ 14 w 19"/>
                <a:gd name="T7" fmla="*/ 24 h 90"/>
                <a:gd name="T8" fmla="*/ 13 w 19"/>
                <a:gd name="T9" fmla="*/ 20 h 90"/>
                <a:gd name="T10" fmla="*/ 11 w 19"/>
                <a:gd name="T11" fmla="*/ 15 h 90"/>
                <a:gd name="T12" fmla="*/ 10 w 19"/>
                <a:gd name="T13" fmla="*/ 11 h 90"/>
                <a:gd name="T14" fmla="*/ 9 w 19"/>
                <a:gd name="T15" fmla="*/ 8 h 90"/>
                <a:gd name="T16" fmla="*/ 8 w 19"/>
                <a:gd name="T17" fmla="*/ 6 h 90"/>
                <a:gd name="T18" fmla="*/ 7 w 19"/>
                <a:gd name="T19" fmla="*/ 3 h 90"/>
                <a:gd name="T20" fmla="*/ 5 w 19"/>
                <a:gd name="T21" fmla="*/ 2 h 90"/>
                <a:gd name="T22" fmla="*/ 4 w 19"/>
                <a:gd name="T23" fmla="*/ 2 h 90"/>
                <a:gd name="T24" fmla="*/ 2 w 19"/>
                <a:gd name="T25" fmla="*/ 0 h 90"/>
                <a:gd name="T26" fmla="*/ 0 w 19"/>
                <a:gd name="T27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" h="90">
                  <a:moveTo>
                    <a:pt x="19" y="90"/>
                  </a:moveTo>
                  <a:lnTo>
                    <a:pt x="19" y="45"/>
                  </a:lnTo>
                  <a:lnTo>
                    <a:pt x="16" y="35"/>
                  </a:lnTo>
                  <a:lnTo>
                    <a:pt x="14" y="24"/>
                  </a:lnTo>
                  <a:lnTo>
                    <a:pt x="13" y="20"/>
                  </a:lnTo>
                  <a:lnTo>
                    <a:pt x="11" y="15"/>
                  </a:lnTo>
                  <a:lnTo>
                    <a:pt x="10" y="11"/>
                  </a:lnTo>
                  <a:lnTo>
                    <a:pt x="9" y="8"/>
                  </a:lnTo>
                  <a:lnTo>
                    <a:pt x="8" y="6"/>
                  </a:lnTo>
                  <a:lnTo>
                    <a:pt x="7" y="3"/>
                  </a:lnTo>
                  <a:lnTo>
                    <a:pt x="5" y="2"/>
                  </a:lnTo>
                  <a:lnTo>
                    <a:pt x="4" y="2"/>
                  </a:lnTo>
                  <a:lnTo>
                    <a:pt x="2" y="0"/>
                  </a:ln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04" name="Freeform 272"/>
            <p:cNvSpPr>
              <a:spLocks/>
            </p:cNvSpPr>
            <p:nvPr/>
          </p:nvSpPr>
          <p:spPr bwMode="auto">
            <a:xfrm>
              <a:off x="4125" y="2148"/>
              <a:ext cx="37" cy="45"/>
            </a:xfrm>
            <a:custGeom>
              <a:avLst/>
              <a:gdLst>
                <a:gd name="T0" fmla="*/ 0 w 37"/>
                <a:gd name="T1" fmla="*/ 0 h 90"/>
                <a:gd name="T2" fmla="*/ 1 w 37"/>
                <a:gd name="T3" fmla="*/ 0 h 90"/>
                <a:gd name="T4" fmla="*/ 4 w 37"/>
                <a:gd name="T5" fmla="*/ 2 h 90"/>
                <a:gd name="T6" fmla="*/ 5 w 37"/>
                <a:gd name="T7" fmla="*/ 3 h 90"/>
                <a:gd name="T8" fmla="*/ 6 w 37"/>
                <a:gd name="T9" fmla="*/ 5 h 90"/>
                <a:gd name="T10" fmla="*/ 7 w 37"/>
                <a:gd name="T11" fmla="*/ 6 h 90"/>
                <a:gd name="T12" fmla="*/ 9 w 37"/>
                <a:gd name="T13" fmla="*/ 9 h 90"/>
                <a:gd name="T14" fmla="*/ 10 w 37"/>
                <a:gd name="T15" fmla="*/ 12 h 90"/>
                <a:gd name="T16" fmla="*/ 11 w 37"/>
                <a:gd name="T17" fmla="*/ 15 h 90"/>
                <a:gd name="T18" fmla="*/ 12 w 37"/>
                <a:gd name="T19" fmla="*/ 20 h 90"/>
                <a:gd name="T20" fmla="*/ 14 w 37"/>
                <a:gd name="T21" fmla="*/ 24 h 90"/>
                <a:gd name="T22" fmla="*/ 16 w 37"/>
                <a:gd name="T23" fmla="*/ 35 h 90"/>
                <a:gd name="T24" fmla="*/ 18 w 37"/>
                <a:gd name="T25" fmla="*/ 45 h 90"/>
                <a:gd name="T26" fmla="*/ 18 w 37"/>
                <a:gd name="T27" fmla="*/ 90 h 90"/>
                <a:gd name="T28" fmla="*/ 18 w 37"/>
                <a:gd name="T29" fmla="*/ 45 h 90"/>
                <a:gd name="T30" fmla="*/ 20 w 37"/>
                <a:gd name="T31" fmla="*/ 35 h 90"/>
                <a:gd name="T32" fmla="*/ 22 w 37"/>
                <a:gd name="T33" fmla="*/ 24 h 90"/>
                <a:gd name="T34" fmla="*/ 23 w 37"/>
                <a:gd name="T35" fmla="*/ 20 h 90"/>
                <a:gd name="T36" fmla="*/ 25 w 37"/>
                <a:gd name="T37" fmla="*/ 15 h 90"/>
                <a:gd name="T38" fmla="*/ 26 w 37"/>
                <a:gd name="T39" fmla="*/ 12 h 90"/>
                <a:gd name="T40" fmla="*/ 27 w 37"/>
                <a:gd name="T41" fmla="*/ 9 h 90"/>
                <a:gd name="T42" fmla="*/ 28 w 37"/>
                <a:gd name="T43" fmla="*/ 6 h 90"/>
                <a:gd name="T44" fmla="*/ 30 w 37"/>
                <a:gd name="T45" fmla="*/ 5 h 90"/>
                <a:gd name="T46" fmla="*/ 31 w 37"/>
                <a:gd name="T47" fmla="*/ 3 h 90"/>
                <a:gd name="T48" fmla="*/ 32 w 37"/>
                <a:gd name="T49" fmla="*/ 2 h 90"/>
                <a:gd name="T50" fmla="*/ 34 w 37"/>
                <a:gd name="T51" fmla="*/ 0 h 90"/>
                <a:gd name="T52" fmla="*/ 37 w 37"/>
                <a:gd name="T5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90">
                  <a:moveTo>
                    <a:pt x="0" y="0"/>
                  </a:moveTo>
                  <a:lnTo>
                    <a:pt x="1" y="0"/>
                  </a:lnTo>
                  <a:lnTo>
                    <a:pt x="4" y="2"/>
                  </a:lnTo>
                  <a:lnTo>
                    <a:pt x="5" y="3"/>
                  </a:lnTo>
                  <a:lnTo>
                    <a:pt x="6" y="5"/>
                  </a:lnTo>
                  <a:lnTo>
                    <a:pt x="7" y="6"/>
                  </a:lnTo>
                  <a:lnTo>
                    <a:pt x="9" y="9"/>
                  </a:lnTo>
                  <a:lnTo>
                    <a:pt x="10" y="12"/>
                  </a:lnTo>
                  <a:lnTo>
                    <a:pt x="11" y="15"/>
                  </a:lnTo>
                  <a:lnTo>
                    <a:pt x="12" y="20"/>
                  </a:lnTo>
                  <a:lnTo>
                    <a:pt x="14" y="24"/>
                  </a:lnTo>
                  <a:lnTo>
                    <a:pt x="16" y="35"/>
                  </a:lnTo>
                  <a:lnTo>
                    <a:pt x="18" y="45"/>
                  </a:lnTo>
                  <a:lnTo>
                    <a:pt x="18" y="90"/>
                  </a:lnTo>
                  <a:lnTo>
                    <a:pt x="18" y="45"/>
                  </a:lnTo>
                  <a:lnTo>
                    <a:pt x="20" y="35"/>
                  </a:lnTo>
                  <a:lnTo>
                    <a:pt x="22" y="24"/>
                  </a:lnTo>
                  <a:lnTo>
                    <a:pt x="23" y="20"/>
                  </a:lnTo>
                  <a:lnTo>
                    <a:pt x="25" y="15"/>
                  </a:lnTo>
                  <a:lnTo>
                    <a:pt x="26" y="12"/>
                  </a:lnTo>
                  <a:lnTo>
                    <a:pt x="27" y="9"/>
                  </a:lnTo>
                  <a:lnTo>
                    <a:pt x="28" y="6"/>
                  </a:lnTo>
                  <a:lnTo>
                    <a:pt x="30" y="5"/>
                  </a:lnTo>
                  <a:lnTo>
                    <a:pt x="31" y="3"/>
                  </a:lnTo>
                  <a:lnTo>
                    <a:pt x="32" y="2"/>
                  </a:lnTo>
                  <a:lnTo>
                    <a:pt x="34" y="0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05" name="Freeform 273"/>
            <p:cNvSpPr>
              <a:spLocks/>
            </p:cNvSpPr>
            <p:nvPr/>
          </p:nvSpPr>
          <p:spPr bwMode="auto">
            <a:xfrm>
              <a:off x="4015" y="2148"/>
              <a:ext cx="37" cy="45"/>
            </a:xfrm>
            <a:custGeom>
              <a:avLst/>
              <a:gdLst>
                <a:gd name="T0" fmla="*/ 0 w 37"/>
                <a:gd name="T1" fmla="*/ 0 h 90"/>
                <a:gd name="T2" fmla="*/ 1 w 37"/>
                <a:gd name="T3" fmla="*/ 0 h 90"/>
                <a:gd name="T4" fmla="*/ 3 w 37"/>
                <a:gd name="T5" fmla="*/ 2 h 90"/>
                <a:gd name="T6" fmla="*/ 5 w 37"/>
                <a:gd name="T7" fmla="*/ 3 h 90"/>
                <a:gd name="T8" fmla="*/ 6 w 37"/>
                <a:gd name="T9" fmla="*/ 5 h 90"/>
                <a:gd name="T10" fmla="*/ 7 w 37"/>
                <a:gd name="T11" fmla="*/ 6 h 90"/>
                <a:gd name="T12" fmla="*/ 8 w 37"/>
                <a:gd name="T13" fmla="*/ 9 h 90"/>
                <a:gd name="T14" fmla="*/ 10 w 37"/>
                <a:gd name="T15" fmla="*/ 12 h 90"/>
                <a:gd name="T16" fmla="*/ 11 w 37"/>
                <a:gd name="T17" fmla="*/ 15 h 90"/>
                <a:gd name="T18" fmla="*/ 12 w 37"/>
                <a:gd name="T19" fmla="*/ 20 h 90"/>
                <a:gd name="T20" fmla="*/ 13 w 37"/>
                <a:gd name="T21" fmla="*/ 24 h 90"/>
                <a:gd name="T22" fmla="*/ 16 w 37"/>
                <a:gd name="T23" fmla="*/ 35 h 90"/>
                <a:gd name="T24" fmla="*/ 18 w 37"/>
                <a:gd name="T25" fmla="*/ 45 h 90"/>
                <a:gd name="T26" fmla="*/ 18 w 37"/>
                <a:gd name="T27" fmla="*/ 90 h 90"/>
                <a:gd name="T28" fmla="*/ 18 w 37"/>
                <a:gd name="T29" fmla="*/ 45 h 90"/>
                <a:gd name="T30" fmla="*/ 19 w 37"/>
                <a:gd name="T31" fmla="*/ 35 h 90"/>
                <a:gd name="T32" fmla="*/ 22 w 37"/>
                <a:gd name="T33" fmla="*/ 24 h 90"/>
                <a:gd name="T34" fmla="*/ 23 w 37"/>
                <a:gd name="T35" fmla="*/ 20 h 90"/>
                <a:gd name="T36" fmla="*/ 24 w 37"/>
                <a:gd name="T37" fmla="*/ 15 h 90"/>
                <a:gd name="T38" fmla="*/ 26 w 37"/>
                <a:gd name="T39" fmla="*/ 12 h 90"/>
                <a:gd name="T40" fmla="*/ 27 w 37"/>
                <a:gd name="T41" fmla="*/ 9 h 90"/>
                <a:gd name="T42" fmla="*/ 28 w 37"/>
                <a:gd name="T43" fmla="*/ 6 h 90"/>
                <a:gd name="T44" fmla="*/ 29 w 37"/>
                <a:gd name="T45" fmla="*/ 5 h 90"/>
                <a:gd name="T46" fmla="*/ 30 w 37"/>
                <a:gd name="T47" fmla="*/ 3 h 90"/>
                <a:gd name="T48" fmla="*/ 32 w 37"/>
                <a:gd name="T49" fmla="*/ 2 h 90"/>
                <a:gd name="T50" fmla="*/ 34 w 37"/>
                <a:gd name="T51" fmla="*/ 0 h 90"/>
                <a:gd name="T52" fmla="*/ 37 w 37"/>
                <a:gd name="T5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90">
                  <a:moveTo>
                    <a:pt x="0" y="0"/>
                  </a:moveTo>
                  <a:lnTo>
                    <a:pt x="1" y="0"/>
                  </a:lnTo>
                  <a:lnTo>
                    <a:pt x="3" y="2"/>
                  </a:lnTo>
                  <a:lnTo>
                    <a:pt x="5" y="3"/>
                  </a:lnTo>
                  <a:lnTo>
                    <a:pt x="6" y="5"/>
                  </a:lnTo>
                  <a:lnTo>
                    <a:pt x="7" y="6"/>
                  </a:lnTo>
                  <a:lnTo>
                    <a:pt x="8" y="9"/>
                  </a:lnTo>
                  <a:lnTo>
                    <a:pt x="10" y="12"/>
                  </a:lnTo>
                  <a:lnTo>
                    <a:pt x="11" y="15"/>
                  </a:lnTo>
                  <a:lnTo>
                    <a:pt x="12" y="20"/>
                  </a:lnTo>
                  <a:lnTo>
                    <a:pt x="13" y="24"/>
                  </a:lnTo>
                  <a:lnTo>
                    <a:pt x="16" y="35"/>
                  </a:lnTo>
                  <a:lnTo>
                    <a:pt x="18" y="45"/>
                  </a:lnTo>
                  <a:lnTo>
                    <a:pt x="18" y="90"/>
                  </a:lnTo>
                  <a:lnTo>
                    <a:pt x="18" y="45"/>
                  </a:lnTo>
                  <a:lnTo>
                    <a:pt x="19" y="35"/>
                  </a:lnTo>
                  <a:lnTo>
                    <a:pt x="22" y="24"/>
                  </a:lnTo>
                  <a:lnTo>
                    <a:pt x="23" y="20"/>
                  </a:lnTo>
                  <a:lnTo>
                    <a:pt x="24" y="15"/>
                  </a:lnTo>
                  <a:lnTo>
                    <a:pt x="26" y="12"/>
                  </a:lnTo>
                  <a:lnTo>
                    <a:pt x="27" y="9"/>
                  </a:lnTo>
                  <a:lnTo>
                    <a:pt x="28" y="6"/>
                  </a:lnTo>
                  <a:lnTo>
                    <a:pt x="29" y="5"/>
                  </a:lnTo>
                  <a:lnTo>
                    <a:pt x="30" y="3"/>
                  </a:lnTo>
                  <a:lnTo>
                    <a:pt x="32" y="2"/>
                  </a:lnTo>
                  <a:lnTo>
                    <a:pt x="34" y="0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06" name="Freeform 274"/>
            <p:cNvSpPr>
              <a:spLocks/>
            </p:cNvSpPr>
            <p:nvPr/>
          </p:nvSpPr>
          <p:spPr bwMode="auto">
            <a:xfrm>
              <a:off x="3904" y="2148"/>
              <a:ext cx="37" cy="45"/>
            </a:xfrm>
            <a:custGeom>
              <a:avLst/>
              <a:gdLst>
                <a:gd name="T0" fmla="*/ 0 w 37"/>
                <a:gd name="T1" fmla="*/ 0 h 90"/>
                <a:gd name="T2" fmla="*/ 2 w 37"/>
                <a:gd name="T3" fmla="*/ 0 h 90"/>
                <a:gd name="T4" fmla="*/ 4 w 37"/>
                <a:gd name="T5" fmla="*/ 2 h 90"/>
                <a:gd name="T6" fmla="*/ 5 w 37"/>
                <a:gd name="T7" fmla="*/ 3 h 90"/>
                <a:gd name="T8" fmla="*/ 7 w 37"/>
                <a:gd name="T9" fmla="*/ 5 h 90"/>
                <a:gd name="T10" fmla="*/ 8 w 37"/>
                <a:gd name="T11" fmla="*/ 6 h 90"/>
                <a:gd name="T12" fmla="*/ 9 w 37"/>
                <a:gd name="T13" fmla="*/ 9 h 90"/>
                <a:gd name="T14" fmla="*/ 10 w 37"/>
                <a:gd name="T15" fmla="*/ 12 h 90"/>
                <a:gd name="T16" fmla="*/ 11 w 37"/>
                <a:gd name="T17" fmla="*/ 15 h 90"/>
                <a:gd name="T18" fmla="*/ 13 w 37"/>
                <a:gd name="T19" fmla="*/ 20 h 90"/>
                <a:gd name="T20" fmla="*/ 14 w 37"/>
                <a:gd name="T21" fmla="*/ 24 h 90"/>
                <a:gd name="T22" fmla="*/ 16 w 37"/>
                <a:gd name="T23" fmla="*/ 35 h 90"/>
                <a:gd name="T24" fmla="*/ 19 w 37"/>
                <a:gd name="T25" fmla="*/ 45 h 90"/>
                <a:gd name="T26" fmla="*/ 19 w 37"/>
                <a:gd name="T27" fmla="*/ 90 h 90"/>
                <a:gd name="T28" fmla="*/ 19 w 37"/>
                <a:gd name="T29" fmla="*/ 45 h 90"/>
                <a:gd name="T30" fmla="*/ 20 w 37"/>
                <a:gd name="T31" fmla="*/ 35 h 90"/>
                <a:gd name="T32" fmla="*/ 22 w 37"/>
                <a:gd name="T33" fmla="*/ 24 h 90"/>
                <a:gd name="T34" fmla="*/ 24 w 37"/>
                <a:gd name="T35" fmla="*/ 20 h 90"/>
                <a:gd name="T36" fmla="*/ 25 w 37"/>
                <a:gd name="T37" fmla="*/ 15 h 90"/>
                <a:gd name="T38" fmla="*/ 26 w 37"/>
                <a:gd name="T39" fmla="*/ 12 h 90"/>
                <a:gd name="T40" fmla="*/ 27 w 37"/>
                <a:gd name="T41" fmla="*/ 9 h 90"/>
                <a:gd name="T42" fmla="*/ 29 w 37"/>
                <a:gd name="T43" fmla="*/ 6 h 90"/>
                <a:gd name="T44" fmla="*/ 30 w 37"/>
                <a:gd name="T45" fmla="*/ 5 h 90"/>
                <a:gd name="T46" fmla="*/ 31 w 37"/>
                <a:gd name="T47" fmla="*/ 3 h 90"/>
                <a:gd name="T48" fmla="*/ 32 w 37"/>
                <a:gd name="T49" fmla="*/ 2 h 90"/>
                <a:gd name="T50" fmla="*/ 35 w 37"/>
                <a:gd name="T51" fmla="*/ 0 h 90"/>
                <a:gd name="T52" fmla="*/ 37 w 37"/>
                <a:gd name="T5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90">
                  <a:moveTo>
                    <a:pt x="0" y="0"/>
                  </a:moveTo>
                  <a:lnTo>
                    <a:pt x="2" y="0"/>
                  </a:lnTo>
                  <a:lnTo>
                    <a:pt x="4" y="2"/>
                  </a:lnTo>
                  <a:lnTo>
                    <a:pt x="5" y="3"/>
                  </a:lnTo>
                  <a:lnTo>
                    <a:pt x="7" y="5"/>
                  </a:lnTo>
                  <a:lnTo>
                    <a:pt x="8" y="6"/>
                  </a:lnTo>
                  <a:lnTo>
                    <a:pt x="9" y="9"/>
                  </a:lnTo>
                  <a:lnTo>
                    <a:pt x="10" y="12"/>
                  </a:lnTo>
                  <a:lnTo>
                    <a:pt x="11" y="15"/>
                  </a:lnTo>
                  <a:lnTo>
                    <a:pt x="13" y="20"/>
                  </a:lnTo>
                  <a:lnTo>
                    <a:pt x="14" y="24"/>
                  </a:lnTo>
                  <a:lnTo>
                    <a:pt x="16" y="35"/>
                  </a:lnTo>
                  <a:lnTo>
                    <a:pt x="19" y="45"/>
                  </a:lnTo>
                  <a:lnTo>
                    <a:pt x="19" y="90"/>
                  </a:lnTo>
                  <a:lnTo>
                    <a:pt x="19" y="45"/>
                  </a:lnTo>
                  <a:lnTo>
                    <a:pt x="20" y="35"/>
                  </a:lnTo>
                  <a:lnTo>
                    <a:pt x="22" y="24"/>
                  </a:lnTo>
                  <a:lnTo>
                    <a:pt x="24" y="20"/>
                  </a:lnTo>
                  <a:lnTo>
                    <a:pt x="25" y="15"/>
                  </a:lnTo>
                  <a:lnTo>
                    <a:pt x="26" y="12"/>
                  </a:lnTo>
                  <a:lnTo>
                    <a:pt x="27" y="9"/>
                  </a:lnTo>
                  <a:lnTo>
                    <a:pt x="29" y="6"/>
                  </a:lnTo>
                  <a:lnTo>
                    <a:pt x="30" y="5"/>
                  </a:lnTo>
                  <a:lnTo>
                    <a:pt x="31" y="3"/>
                  </a:lnTo>
                  <a:lnTo>
                    <a:pt x="32" y="2"/>
                  </a:lnTo>
                  <a:lnTo>
                    <a:pt x="35" y="0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07" name="Line 275"/>
            <p:cNvSpPr>
              <a:spLocks noChangeShapeType="1"/>
            </p:cNvSpPr>
            <p:nvPr/>
          </p:nvSpPr>
          <p:spPr bwMode="auto">
            <a:xfrm flipV="1">
              <a:off x="4695" y="2193"/>
              <a:ext cx="1" cy="156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08" name="Freeform 276"/>
            <p:cNvSpPr>
              <a:spLocks/>
            </p:cNvSpPr>
            <p:nvPr/>
          </p:nvSpPr>
          <p:spPr bwMode="auto">
            <a:xfrm>
              <a:off x="4695" y="2148"/>
              <a:ext cx="19" cy="45"/>
            </a:xfrm>
            <a:custGeom>
              <a:avLst/>
              <a:gdLst>
                <a:gd name="T0" fmla="*/ 0 w 19"/>
                <a:gd name="T1" fmla="*/ 90 h 90"/>
                <a:gd name="T2" fmla="*/ 0 w 19"/>
                <a:gd name="T3" fmla="*/ 45 h 90"/>
                <a:gd name="T4" fmla="*/ 1 w 19"/>
                <a:gd name="T5" fmla="*/ 35 h 90"/>
                <a:gd name="T6" fmla="*/ 4 w 19"/>
                <a:gd name="T7" fmla="*/ 24 h 90"/>
                <a:gd name="T8" fmla="*/ 5 w 19"/>
                <a:gd name="T9" fmla="*/ 20 h 90"/>
                <a:gd name="T10" fmla="*/ 6 w 19"/>
                <a:gd name="T11" fmla="*/ 15 h 90"/>
                <a:gd name="T12" fmla="*/ 8 w 19"/>
                <a:gd name="T13" fmla="*/ 11 h 90"/>
                <a:gd name="T14" fmla="*/ 9 w 19"/>
                <a:gd name="T15" fmla="*/ 8 h 90"/>
                <a:gd name="T16" fmla="*/ 10 w 19"/>
                <a:gd name="T17" fmla="*/ 6 h 90"/>
                <a:gd name="T18" fmla="*/ 11 w 19"/>
                <a:gd name="T19" fmla="*/ 3 h 90"/>
                <a:gd name="T20" fmla="*/ 12 w 19"/>
                <a:gd name="T21" fmla="*/ 2 h 90"/>
                <a:gd name="T22" fmla="*/ 14 w 19"/>
                <a:gd name="T23" fmla="*/ 2 h 90"/>
                <a:gd name="T24" fmla="*/ 16 w 19"/>
                <a:gd name="T25" fmla="*/ 0 h 90"/>
                <a:gd name="T26" fmla="*/ 19 w 19"/>
                <a:gd name="T27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" h="90">
                  <a:moveTo>
                    <a:pt x="0" y="90"/>
                  </a:moveTo>
                  <a:lnTo>
                    <a:pt x="0" y="45"/>
                  </a:lnTo>
                  <a:lnTo>
                    <a:pt x="1" y="35"/>
                  </a:lnTo>
                  <a:lnTo>
                    <a:pt x="4" y="24"/>
                  </a:lnTo>
                  <a:lnTo>
                    <a:pt x="5" y="20"/>
                  </a:lnTo>
                  <a:lnTo>
                    <a:pt x="6" y="15"/>
                  </a:lnTo>
                  <a:lnTo>
                    <a:pt x="8" y="11"/>
                  </a:lnTo>
                  <a:lnTo>
                    <a:pt x="9" y="8"/>
                  </a:lnTo>
                  <a:lnTo>
                    <a:pt x="10" y="6"/>
                  </a:lnTo>
                  <a:lnTo>
                    <a:pt x="11" y="3"/>
                  </a:lnTo>
                  <a:lnTo>
                    <a:pt x="12" y="2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19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09" name="Line 277"/>
            <p:cNvSpPr>
              <a:spLocks noChangeShapeType="1"/>
            </p:cNvSpPr>
            <p:nvPr/>
          </p:nvSpPr>
          <p:spPr bwMode="auto">
            <a:xfrm flipV="1">
              <a:off x="4750" y="1947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10" name="Line 278"/>
            <p:cNvSpPr>
              <a:spLocks noChangeShapeType="1"/>
            </p:cNvSpPr>
            <p:nvPr/>
          </p:nvSpPr>
          <p:spPr bwMode="auto">
            <a:xfrm flipV="1">
              <a:off x="4861" y="1947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11" name="Line 279"/>
            <p:cNvSpPr>
              <a:spLocks noChangeShapeType="1"/>
            </p:cNvSpPr>
            <p:nvPr/>
          </p:nvSpPr>
          <p:spPr bwMode="auto">
            <a:xfrm flipV="1">
              <a:off x="4971" y="1947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12" name="Line 280"/>
            <p:cNvSpPr>
              <a:spLocks noChangeShapeType="1"/>
            </p:cNvSpPr>
            <p:nvPr/>
          </p:nvSpPr>
          <p:spPr bwMode="auto">
            <a:xfrm flipV="1">
              <a:off x="5081" y="1947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13" name="Line 281"/>
            <p:cNvSpPr>
              <a:spLocks noChangeShapeType="1"/>
            </p:cNvSpPr>
            <p:nvPr/>
          </p:nvSpPr>
          <p:spPr bwMode="auto">
            <a:xfrm flipV="1">
              <a:off x="4806" y="2193"/>
              <a:ext cx="1" cy="156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14" name="Line 282"/>
            <p:cNvSpPr>
              <a:spLocks noChangeShapeType="1"/>
            </p:cNvSpPr>
            <p:nvPr/>
          </p:nvSpPr>
          <p:spPr bwMode="auto">
            <a:xfrm flipV="1">
              <a:off x="4916" y="2193"/>
              <a:ext cx="1" cy="156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15" name="Line 283"/>
            <p:cNvSpPr>
              <a:spLocks noChangeShapeType="1"/>
            </p:cNvSpPr>
            <p:nvPr/>
          </p:nvSpPr>
          <p:spPr bwMode="auto">
            <a:xfrm flipV="1">
              <a:off x="5026" y="2193"/>
              <a:ext cx="1" cy="156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16" name="Freeform 284"/>
            <p:cNvSpPr>
              <a:spLocks/>
            </p:cNvSpPr>
            <p:nvPr/>
          </p:nvSpPr>
          <p:spPr bwMode="auto">
            <a:xfrm>
              <a:off x="4732" y="2104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7 h 89"/>
                <a:gd name="T6" fmla="*/ 5 w 37"/>
                <a:gd name="T7" fmla="*/ 85 h 89"/>
                <a:gd name="T8" fmla="*/ 6 w 37"/>
                <a:gd name="T9" fmla="*/ 84 h 89"/>
                <a:gd name="T10" fmla="*/ 7 w 37"/>
                <a:gd name="T11" fmla="*/ 82 h 89"/>
                <a:gd name="T12" fmla="*/ 9 w 37"/>
                <a:gd name="T13" fmla="*/ 81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3 w 37"/>
                <a:gd name="T21" fmla="*/ 64 h 89"/>
                <a:gd name="T22" fmla="*/ 16 w 37"/>
                <a:gd name="T23" fmla="*/ 54 h 89"/>
                <a:gd name="T24" fmla="*/ 18 w 37"/>
                <a:gd name="T25" fmla="*/ 45 h 89"/>
                <a:gd name="T26" fmla="*/ 18 w 37"/>
                <a:gd name="T27" fmla="*/ 0 h 89"/>
                <a:gd name="T28" fmla="*/ 18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3 w 37"/>
                <a:gd name="T35" fmla="*/ 69 h 89"/>
                <a:gd name="T36" fmla="*/ 24 w 37"/>
                <a:gd name="T37" fmla="*/ 73 h 89"/>
                <a:gd name="T38" fmla="*/ 26 w 37"/>
                <a:gd name="T39" fmla="*/ 76 h 89"/>
                <a:gd name="T40" fmla="*/ 27 w 37"/>
                <a:gd name="T41" fmla="*/ 81 h 89"/>
                <a:gd name="T42" fmla="*/ 28 w 37"/>
                <a:gd name="T43" fmla="*/ 82 h 89"/>
                <a:gd name="T44" fmla="*/ 29 w 37"/>
                <a:gd name="T45" fmla="*/ 84 h 89"/>
                <a:gd name="T46" fmla="*/ 31 w 37"/>
                <a:gd name="T47" fmla="*/ 85 h 89"/>
                <a:gd name="T48" fmla="*/ 32 w 37"/>
                <a:gd name="T49" fmla="*/ 87 h 89"/>
                <a:gd name="T50" fmla="*/ 34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7"/>
                  </a:lnTo>
                  <a:lnTo>
                    <a:pt x="5" y="85"/>
                  </a:lnTo>
                  <a:lnTo>
                    <a:pt x="6" y="84"/>
                  </a:lnTo>
                  <a:lnTo>
                    <a:pt x="7" y="82"/>
                  </a:lnTo>
                  <a:lnTo>
                    <a:pt x="9" y="81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6" y="76"/>
                  </a:lnTo>
                  <a:lnTo>
                    <a:pt x="27" y="81"/>
                  </a:lnTo>
                  <a:lnTo>
                    <a:pt x="28" y="82"/>
                  </a:lnTo>
                  <a:lnTo>
                    <a:pt x="29" y="84"/>
                  </a:lnTo>
                  <a:lnTo>
                    <a:pt x="31" y="85"/>
                  </a:lnTo>
                  <a:lnTo>
                    <a:pt x="32" y="87"/>
                  </a:lnTo>
                  <a:lnTo>
                    <a:pt x="34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17" name="Freeform 285"/>
            <p:cNvSpPr>
              <a:spLocks/>
            </p:cNvSpPr>
            <p:nvPr/>
          </p:nvSpPr>
          <p:spPr bwMode="auto">
            <a:xfrm>
              <a:off x="4842" y="2104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2 w 37"/>
                <a:gd name="T3" fmla="*/ 88 h 89"/>
                <a:gd name="T4" fmla="*/ 4 w 37"/>
                <a:gd name="T5" fmla="*/ 87 h 89"/>
                <a:gd name="T6" fmla="*/ 5 w 37"/>
                <a:gd name="T7" fmla="*/ 85 h 89"/>
                <a:gd name="T8" fmla="*/ 6 w 37"/>
                <a:gd name="T9" fmla="*/ 84 h 89"/>
                <a:gd name="T10" fmla="*/ 8 w 37"/>
                <a:gd name="T11" fmla="*/ 82 h 89"/>
                <a:gd name="T12" fmla="*/ 9 w 37"/>
                <a:gd name="T13" fmla="*/ 81 h 89"/>
                <a:gd name="T14" fmla="*/ 10 w 37"/>
                <a:gd name="T15" fmla="*/ 76 h 89"/>
                <a:gd name="T16" fmla="*/ 11 w 37"/>
                <a:gd name="T17" fmla="*/ 73 h 89"/>
                <a:gd name="T18" fmla="*/ 13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9 w 37"/>
                <a:gd name="T25" fmla="*/ 45 h 89"/>
                <a:gd name="T26" fmla="*/ 19 w 37"/>
                <a:gd name="T27" fmla="*/ 0 h 89"/>
                <a:gd name="T28" fmla="*/ 19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4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1 h 89"/>
                <a:gd name="T42" fmla="*/ 28 w 37"/>
                <a:gd name="T43" fmla="*/ 82 h 89"/>
                <a:gd name="T44" fmla="*/ 30 w 37"/>
                <a:gd name="T45" fmla="*/ 84 h 89"/>
                <a:gd name="T46" fmla="*/ 31 w 37"/>
                <a:gd name="T47" fmla="*/ 85 h 89"/>
                <a:gd name="T48" fmla="*/ 32 w 37"/>
                <a:gd name="T49" fmla="*/ 87 h 89"/>
                <a:gd name="T50" fmla="*/ 35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2" y="88"/>
                  </a:lnTo>
                  <a:lnTo>
                    <a:pt x="4" y="87"/>
                  </a:lnTo>
                  <a:lnTo>
                    <a:pt x="5" y="85"/>
                  </a:lnTo>
                  <a:lnTo>
                    <a:pt x="6" y="84"/>
                  </a:lnTo>
                  <a:lnTo>
                    <a:pt x="8" y="82"/>
                  </a:lnTo>
                  <a:lnTo>
                    <a:pt x="9" y="81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3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9" y="45"/>
                  </a:lnTo>
                  <a:lnTo>
                    <a:pt x="19" y="0"/>
                  </a:lnTo>
                  <a:lnTo>
                    <a:pt x="19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4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1"/>
                  </a:lnTo>
                  <a:lnTo>
                    <a:pt x="28" y="82"/>
                  </a:lnTo>
                  <a:lnTo>
                    <a:pt x="30" y="84"/>
                  </a:lnTo>
                  <a:lnTo>
                    <a:pt x="31" y="85"/>
                  </a:lnTo>
                  <a:lnTo>
                    <a:pt x="32" y="87"/>
                  </a:lnTo>
                  <a:lnTo>
                    <a:pt x="35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18" name="Freeform 286"/>
            <p:cNvSpPr>
              <a:spLocks/>
            </p:cNvSpPr>
            <p:nvPr/>
          </p:nvSpPr>
          <p:spPr bwMode="auto">
            <a:xfrm>
              <a:off x="4953" y="2104"/>
              <a:ext cx="36" cy="44"/>
            </a:xfrm>
            <a:custGeom>
              <a:avLst/>
              <a:gdLst>
                <a:gd name="T0" fmla="*/ 0 w 36"/>
                <a:gd name="T1" fmla="*/ 89 h 89"/>
                <a:gd name="T2" fmla="*/ 1 w 36"/>
                <a:gd name="T3" fmla="*/ 88 h 89"/>
                <a:gd name="T4" fmla="*/ 3 w 36"/>
                <a:gd name="T5" fmla="*/ 87 h 89"/>
                <a:gd name="T6" fmla="*/ 5 w 36"/>
                <a:gd name="T7" fmla="*/ 85 h 89"/>
                <a:gd name="T8" fmla="*/ 6 w 36"/>
                <a:gd name="T9" fmla="*/ 84 h 89"/>
                <a:gd name="T10" fmla="*/ 7 w 36"/>
                <a:gd name="T11" fmla="*/ 82 h 89"/>
                <a:gd name="T12" fmla="*/ 8 w 36"/>
                <a:gd name="T13" fmla="*/ 81 h 89"/>
                <a:gd name="T14" fmla="*/ 9 w 36"/>
                <a:gd name="T15" fmla="*/ 76 h 89"/>
                <a:gd name="T16" fmla="*/ 11 w 36"/>
                <a:gd name="T17" fmla="*/ 73 h 89"/>
                <a:gd name="T18" fmla="*/ 12 w 36"/>
                <a:gd name="T19" fmla="*/ 69 h 89"/>
                <a:gd name="T20" fmla="*/ 13 w 36"/>
                <a:gd name="T21" fmla="*/ 64 h 89"/>
                <a:gd name="T22" fmla="*/ 16 w 36"/>
                <a:gd name="T23" fmla="*/ 54 h 89"/>
                <a:gd name="T24" fmla="*/ 18 w 36"/>
                <a:gd name="T25" fmla="*/ 45 h 89"/>
                <a:gd name="T26" fmla="*/ 18 w 36"/>
                <a:gd name="T27" fmla="*/ 0 h 89"/>
                <a:gd name="T28" fmla="*/ 18 w 36"/>
                <a:gd name="T29" fmla="*/ 45 h 89"/>
                <a:gd name="T30" fmla="*/ 19 w 36"/>
                <a:gd name="T31" fmla="*/ 54 h 89"/>
                <a:gd name="T32" fmla="*/ 22 w 36"/>
                <a:gd name="T33" fmla="*/ 64 h 89"/>
                <a:gd name="T34" fmla="*/ 23 w 36"/>
                <a:gd name="T35" fmla="*/ 69 h 89"/>
                <a:gd name="T36" fmla="*/ 24 w 36"/>
                <a:gd name="T37" fmla="*/ 73 h 89"/>
                <a:gd name="T38" fmla="*/ 25 w 36"/>
                <a:gd name="T39" fmla="*/ 76 h 89"/>
                <a:gd name="T40" fmla="*/ 27 w 36"/>
                <a:gd name="T41" fmla="*/ 81 h 89"/>
                <a:gd name="T42" fmla="*/ 28 w 36"/>
                <a:gd name="T43" fmla="*/ 82 h 89"/>
                <a:gd name="T44" fmla="*/ 29 w 36"/>
                <a:gd name="T45" fmla="*/ 84 h 89"/>
                <a:gd name="T46" fmla="*/ 30 w 36"/>
                <a:gd name="T47" fmla="*/ 85 h 89"/>
                <a:gd name="T48" fmla="*/ 32 w 36"/>
                <a:gd name="T49" fmla="*/ 87 h 89"/>
                <a:gd name="T50" fmla="*/ 34 w 36"/>
                <a:gd name="T51" fmla="*/ 88 h 89"/>
                <a:gd name="T52" fmla="*/ 36 w 36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6" h="89">
                  <a:moveTo>
                    <a:pt x="0" y="89"/>
                  </a:moveTo>
                  <a:lnTo>
                    <a:pt x="1" y="88"/>
                  </a:lnTo>
                  <a:lnTo>
                    <a:pt x="3" y="87"/>
                  </a:lnTo>
                  <a:lnTo>
                    <a:pt x="5" y="85"/>
                  </a:lnTo>
                  <a:lnTo>
                    <a:pt x="6" y="84"/>
                  </a:lnTo>
                  <a:lnTo>
                    <a:pt x="7" y="82"/>
                  </a:lnTo>
                  <a:lnTo>
                    <a:pt x="8" y="81"/>
                  </a:lnTo>
                  <a:lnTo>
                    <a:pt x="9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19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5" y="76"/>
                  </a:lnTo>
                  <a:lnTo>
                    <a:pt x="27" y="81"/>
                  </a:lnTo>
                  <a:lnTo>
                    <a:pt x="28" y="82"/>
                  </a:lnTo>
                  <a:lnTo>
                    <a:pt x="29" y="84"/>
                  </a:lnTo>
                  <a:lnTo>
                    <a:pt x="30" y="85"/>
                  </a:lnTo>
                  <a:lnTo>
                    <a:pt x="32" y="87"/>
                  </a:lnTo>
                  <a:lnTo>
                    <a:pt x="34" y="88"/>
                  </a:lnTo>
                  <a:lnTo>
                    <a:pt x="36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19" name="Freeform 287"/>
            <p:cNvSpPr>
              <a:spLocks/>
            </p:cNvSpPr>
            <p:nvPr/>
          </p:nvSpPr>
          <p:spPr bwMode="auto">
            <a:xfrm>
              <a:off x="5063" y="2104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7 h 89"/>
                <a:gd name="T6" fmla="*/ 5 w 37"/>
                <a:gd name="T7" fmla="*/ 85 h 89"/>
                <a:gd name="T8" fmla="*/ 6 w 37"/>
                <a:gd name="T9" fmla="*/ 84 h 89"/>
                <a:gd name="T10" fmla="*/ 7 w 37"/>
                <a:gd name="T11" fmla="*/ 82 h 89"/>
                <a:gd name="T12" fmla="*/ 9 w 37"/>
                <a:gd name="T13" fmla="*/ 81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3 w 37"/>
                <a:gd name="T21" fmla="*/ 64 h 89"/>
                <a:gd name="T22" fmla="*/ 16 w 37"/>
                <a:gd name="T23" fmla="*/ 54 h 89"/>
                <a:gd name="T24" fmla="*/ 18 w 37"/>
                <a:gd name="T25" fmla="*/ 45 h 89"/>
                <a:gd name="T26" fmla="*/ 18 w 37"/>
                <a:gd name="T27" fmla="*/ 0 h 89"/>
                <a:gd name="T28" fmla="*/ 18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3 w 37"/>
                <a:gd name="T35" fmla="*/ 69 h 89"/>
                <a:gd name="T36" fmla="*/ 24 w 37"/>
                <a:gd name="T37" fmla="*/ 73 h 89"/>
                <a:gd name="T38" fmla="*/ 26 w 37"/>
                <a:gd name="T39" fmla="*/ 76 h 89"/>
                <a:gd name="T40" fmla="*/ 27 w 37"/>
                <a:gd name="T41" fmla="*/ 81 h 89"/>
                <a:gd name="T42" fmla="*/ 28 w 37"/>
                <a:gd name="T43" fmla="*/ 82 h 89"/>
                <a:gd name="T44" fmla="*/ 29 w 37"/>
                <a:gd name="T45" fmla="*/ 84 h 89"/>
                <a:gd name="T46" fmla="*/ 31 w 37"/>
                <a:gd name="T47" fmla="*/ 85 h 89"/>
                <a:gd name="T48" fmla="*/ 32 w 37"/>
                <a:gd name="T49" fmla="*/ 87 h 89"/>
                <a:gd name="T50" fmla="*/ 34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7"/>
                  </a:lnTo>
                  <a:lnTo>
                    <a:pt x="5" y="85"/>
                  </a:lnTo>
                  <a:lnTo>
                    <a:pt x="6" y="84"/>
                  </a:lnTo>
                  <a:lnTo>
                    <a:pt x="7" y="82"/>
                  </a:lnTo>
                  <a:lnTo>
                    <a:pt x="9" y="81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6" y="76"/>
                  </a:lnTo>
                  <a:lnTo>
                    <a:pt x="27" y="81"/>
                  </a:lnTo>
                  <a:lnTo>
                    <a:pt x="28" y="82"/>
                  </a:lnTo>
                  <a:lnTo>
                    <a:pt x="29" y="84"/>
                  </a:lnTo>
                  <a:lnTo>
                    <a:pt x="31" y="85"/>
                  </a:lnTo>
                  <a:lnTo>
                    <a:pt x="32" y="87"/>
                  </a:lnTo>
                  <a:lnTo>
                    <a:pt x="34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20" name="Freeform 288"/>
            <p:cNvSpPr>
              <a:spLocks/>
            </p:cNvSpPr>
            <p:nvPr/>
          </p:nvSpPr>
          <p:spPr bwMode="auto">
            <a:xfrm>
              <a:off x="5118" y="2148"/>
              <a:ext cx="19" cy="45"/>
            </a:xfrm>
            <a:custGeom>
              <a:avLst/>
              <a:gdLst>
                <a:gd name="T0" fmla="*/ 19 w 19"/>
                <a:gd name="T1" fmla="*/ 90 h 90"/>
                <a:gd name="T2" fmla="*/ 19 w 19"/>
                <a:gd name="T3" fmla="*/ 45 h 90"/>
                <a:gd name="T4" fmla="*/ 16 w 19"/>
                <a:gd name="T5" fmla="*/ 35 h 90"/>
                <a:gd name="T6" fmla="*/ 14 w 19"/>
                <a:gd name="T7" fmla="*/ 24 h 90"/>
                <a:gd name="T8" fmla="*/ 12 w 19"/>
                <a:gd name="T9" fmla="*/ 20 h 90"/>
                <a:gd name="T10" fmla="*/ 11 w 19"/>
                <a:gd name="T11" fmla="*/ 15 h 90"/>
                <a:gd name="T12" fmla="*/ 10 w 19"/>
                <a:gd name="T13" fmla="*/ 11 h 90"/>
                <a:gd name="T14" fmla="*/ 9 w 19"/>
                <a:gd name="T15" fmla="*/ 8 h 90"/>
                <a:gd name="T16" fmla="*/ 7 w 19"/>
                <a:gd name="T17" fmla="*/ 6 h 90"/>
                <a:gd name="T18" fmla="*/ 6 w 19"/>
                <a:gd name="T19" fmla="*/ 3 h 90"/>
                <a:gd name="T20" fmla="*/ 5 w 19"/>
                <a:gd name="T21" fmla="*/ 2 h 90"/>
                <a:gd name="T22" fmla="*/ 4 w 19"/>
                <a:gd name="T23" fmla="*/ 2 h 90"/>
                <a:gd name="T24" fmla="*/ 1 w 19"/>
                <a:gd name="T25" fmla="*/ 0 h 90"/>
                <a:gd name="T26" fmla="*/ 0 w 19"/>
                <a:gd name="T27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" h="90">
                  <a:moveTo>
                    <a:pt x="19" y="90"/>
                  </a:moveTo>
                  <a:lnTo>
                    <a:pt x="19" y="45"/>
                  </a:lnTo>
                  <a:lnTo>
                    <a:pt x="16" y="35"/>
                  </a:lnTo>
                  <a:lnTo>
                    <a:pt x="14" y="24"/>
                  </a:lnTo>
                  <a:lnTo>
                    <a:pt x="12" y="20"/>
                  </a:lnTo>
                  <a:lnTo>
                    <a:pt x="11" y="15"/>
                  </a:lnTo>
                  <a:lnTo>
                    <a:pt x="10" y="11"/>
                  </a:lnTo>
                  <a:lnTo>
                    <a:pt x="9" y="8"/>
                  </a:lnTo>
                  <a:lnTo>
                    <a:pt x="7" y="6"/>
                  </a:lnTo>
                  <a:lnTo>
                    <a:pt x="6" y="3"/>
                  </a:lnTo>
                  <a:lnTo>
                    <a:pt x="5" y="2"/>
                  </a:lnTo>
                  <a:lnTo>
                    <a:pt x="4" y="2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21" name="Freeform 289"/>
            <p:cNvSpPr>
              <a:spLocks/>
            </p:cNvSpPr>
            <p:nvPr/>
          </p:nvSpPr>
          <p:spPr bwMode="auto">
            <a:xfrm>
              <a:off x="5008" y="2148"/>
              <a:ext cx="37" cy="45"/>
            </a:xfrm>
            <a:custGeom>
              <a:avLst/>
              <a:gdLst>
                <a:gd name="T0" fmla="*/ 0 w 37"/>
                <a:gd name="T1" fmla="*/ 0 h 90"/>
                <a:gd name="T2" fmla="*/ 1 w 37"/>
                <a:gd name="T3" fmla="*/ 0 h 90"/>
                <a:gd name="T4" fmla="*/ 3 w 37"/>
                <a:gd name="T5" fmla="*/ 2 h 90"/>
                <a:gd name="T6" fmla="*/ 5 w 37"/>
                <a:gd name="T7" fmla="*/ 3 h 90"/>
                <a:gd name="T8" fmla="*/ 6 w 37"/>
                <a:gd name="T9" fmla="*/ 5 h 90"/>
                <a:gd name="T10" fmla="*/ 7 w 37"/>
                <a:gd name="T11" fmla="*/ 6 h 90"/>
                <a:gd name="T12" fmla="*/ 8 w 37"/>
                <a:gd name="T13" fmla="*/ 9 h 90"/>
                <a:gd name="T14" fmla="*/ 10 w 37"/>
                <a:gd name="T15" fmla="*/ 12 h 90"/>
                <a:gd name="T16" fmla="*/ 11 w 37"/>
                <a:gd name="T17" fmla="*/ 15 h 90"/>
                <a:gd name="T18" fmla="*/ 12 w 37"/>
                <a:gd name="T19" fmla="*/ 20 h 90"/>
                <a:gd name="T20" fmla="*/ 13 w 37"/>
                <a:gd name="T21" fmla="*/ 24 h 90"/>
                <a:gd name="T22" fmla="*/ 16 w 37"/>
                <a:gd name="T23" fmla="*/ 35 h 90"/>
                <a:gd name="T24" fmla="*/ 18 w 37"/>
                <a:gd name="T25" fmla="*/ 45 h 90"/>
                <a:gd name="T26" fmla="*/ 18 w 37"/>
                <a:gd name="T27" fmla="*/ 90 h 90"/>
                <a:gd name="T28" fmla="*/ 18 w 37"/>
                <a:gd name="T29" fmla="*/ 45 h 90"/>
                <a:gd name="T30" fmla="*/ 19 w 37"/>
                <a:gd name="T31" fmla="*/ 35 h 90"/>
                <a:gd name="T32" fmla="*/ 22 w 37"/>
                <a:gd name="T33" fmla="*/ 24 h 90"/>
                <a:gd name="T34" fmla="*/ 23 w 37"/>
                <a:gd name="T35" fmla="*/ 20 h 90"/>
                <a:gd name="T36" fmla="*/ 24 w 37"/>
                <a:gd name="T37" fmla="*/ 15 h 90"/>
                <a:gd name="T38" fmla="*/ 26 w 37"/>
                <a:gd name="T39" fmla="*/ 12 h 90"/>
                <a:gd name="T40" fmla="*/ 27 w 37"/>
                <a:gd name="T41" fmla="*/ 9 h 90"/>
                <a:gd name="T42" fmla="*/ 28 w 37"/>
                <a:gd name="T43" fmla="*/ 6 h 90"/>
                <a:gd name="T44" fmla="*/ 29 w 37"/>
                <a:gd name="T45" fmla="*/ 5 h 90"/>
                <a:gd name="T46" fmla="*/ 30 w 37"/>
                <a:gd name="T47" fmla="*/ 3 h 90"/>
                <a:gd name="T48" fmla="*/ 32 w 37"/>
                <a:gd name="T49" fmla="*/ 2 h 90"/>
                <a:gd name="T50" fmla="*/ 34 w 37"/>
                <a:gd name="T51" fmla="*/ 0 h 90"/>
                <a:gd name="T52" fmla="*/ 37 w 37"/>
                <a:gd name="T5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90">
                  <a:moveTo>
                    <a:pt x="0" y="0"/>
                  </a:moveTo>
                  <a:lnTo>
                    <a:pt x="1" y="0"/>
                  </a:lnTo>
                  <a:lnTo>
                    <a:pt x="3" y="2"/>
                  </a:lnTo>
                  <a:lnTo>
                    <a:pt x="5" y="3"/>
                  </a:lnTo>
                  <a:lnTo>
                    <a:pt x="6" y="5"/>
                  </a:lnTo>
                  <a:lnTo>
                    <a:pt x="7" y="6"/>
                  </a:lnTo>
                  <a:lnTo>
                    <a:pt x="8" y="9"/>
                  </a:lnTo>
                  <a:lnTo>
                    <a:pt x="10" y="12"/>
                  </a:lnTo>
                  <a:lnTo>
                    <a:pt x="11" y="15"/>
                  </a:lnTo>
                  <a:lnTo>
                    <a:pt x="12" y="20"/>
                  </a:lnTo>
                  <a:lnTo>
                    <a:pt x="13" y="24"/>
                  </a:lnTo>
                  <a:lnTo>
                    <a:pt x="16" y="35"/>
                  </a:lnTo>
                  <a:lnTo>
                    <a:pt x="18" y="45"/>
                  </a:lnTo>
                  <a:lnTo>
                    <a:pt x="18" y="90"/>
                  </a:lnTo>
                  <a:lnTo>
                    <a:pt x="18" y="45"/>
                  </a:lnTo>
                  <a:lnTo>
                    <a:pt x="19" y="35"/>
                  </a:lnTo>
                  <a:lnTo>
                    <a:pt x="22" y="24"/>
                  </a:lnTo>
                  <a:lnTo>
                    <a:pt x="23" y="20"/>
                  </a:lnTo>
                  <a:lnTo>
                    <a:pt x="24" y="15"/>
                  </a:lnTo>
                  <a:lnTo>
                    <a:pt x="26" y="12"/>
                  </a:lnTo>
                  <a:lnTo>
                    <a:pt x="27" y="9"/>
                  </a:lnTo>
                  <a:lnTo>
                    <a:pt x="28" y="6"/>
                  </a:lnTo>
                  <a:lnTo>
                    <a:pt x="29" y="5"/>
                  </a:lnTo>
                  <a:lnTo>
                    <a:pt x="30" y="3"/>
                  </a:lnTo>
                  <a:lnTo>
                    <a:pt x="32" y="2"/>
                  </a:lnTo>
                  <a:lnTo>
                    <a:pt x="34" y="0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22" name="Freeform 290"/>
            <p:cNvSpPr>
              <a:spLocks/>
            </p:cNvSpPr>
            <p:nvPr/>
          </p:nvSpPr>
          <p:spPr bwMode="auto">
            <a:xfrm>
              <a:off x="4897" y="2148"/>
              <a:ext cx="37" cy="45"/>
            </a:xfrm>
            <a:custGeom>
              <a:avLst/>
              <a:gdLst>
                <a:gd name="T0" fmla="*/ 0 w 37"/>
                <a:gd name="T1" fmla="*/ 0 h 90"/>
                <a:gd name="T2" fmla="*/ 2 w 37"/>
                <a:gd name="T3" fmla="*/ 0 h 90"/>
                <a:gd name="T4" fmla="*/ 4 w 37"/>
                <a:gd name="T5" fmla="*/ 2 h 90"/>
                <a:gd name="T6" fmla="*/ 5 w 37"/>
                <a:gd name="T7" fmla="*/ 3 h 90"/>
                <a:gd name="T8" fmla="*/ 7 w 37"/>
                <a:gd name="T9" fmla="*/ 5 h 90"/>
                <a:gd name="T10" fmla="*/ 8 w 37"/>
                <a:gd name="T11" fmla="*/ 6 h 90"/>
                <a:gd name="T12" fmla="*/ 9 w 37"/>
                <a:gd name="T13" fmla="*/ 9 h 90"/>
                <a:gd name="T14" fmla="*/ 10 w 37"/>
                <a:gd name="T15" fmla="*/ 12 h 90"/>
                <a:gd name="T16" fmla="*/ 11 w 37"/>
                <a:gd name="T17" fmla="*/ 15 h 90"/>
                <a:gd name="T18" fmla="*/ 13 w 37"/>
                <a:gd name="T19" fmla="*/ 20 h 90"/>
                <a:gd name="T20" fmla="*/ 14 w 37"/>
                <a:gd name="T21" fmla="*/ 24 h 90"/>
                <a:gd name="T22" fmla="*/ 16 w 37"/>
                <a:gd name="T23" fmla="*/ 35 h 90"/>
                <a:gd name="T24" fmla="*/ 19 w 37"/>
                <a:gd name="T25" fmla="*/ 45 h 90"/>
                <a:gd name="T26" fmla="*/ 19 w 37"/>
                <a:gd name="T27" fmla="*/ 90 h 90"/>
                <a:gd name="T28" fmla="*/ 19 w 37"/>
                <a:gd name="T29" fmla="*/ 45 h 90"/>
                <a:gd name="T30" fmla="*/ 20 w 37"/>
                <a:gd name="T31" fmla="*/ 35 h 90"/>
                <a:gd name="T32" fmla="*/ 23 w 37"/>
                <a:gd name="T33" fmla="*/ 24 h 90"/>
                <a:gd name="T34" fmla="*/ 24 w 37"/>
                <a:gd name="T35" fmla="*/ 20 h 90"/>
                <a:gd name="T36" fmla="*/ 25 w 37"/>
                <a:gd name="T37" fmla="*/ 15 h 90"/>
                <a:gd name="T38" fmla="*/ 26 w 37"/>
                <a:gd name="T39" fmla="*/ 12 h 90"/>
                <a:gd name="T40" fmla="*/ 27 w 37"/>
                <a:gd name="T41" fmla="*/ 9 h 90"/>
                <a:gd name="T42" fmla="*/ 29 w 37"/>
                <a:gd name="T43" fmla="*/ 6 h 90"/>
                <a:gd name="T44" fmla="*/ 30 w 37"/>
                <a:gd name="T45" fmla="*/ 5 h 90"/>
                <a:gd name="T46" fmla="*/ 31 w 37"/>
                <a:gd name="T47" fmla="*/ 3 h 90"/>
                <a:gd name="T48" fmla="*/ 32 w 37"/>
                <a:gd name="T49" fmla="*/ 2 h 90"/>
                <a:gd name="T50" fmla="*/ 35 w 37"/>
                <a:gd name="T51" fmla="*/ 0 h 90"/>
                <a:gd name="T52" fmla="*/ 37 w 37"/>
                <a:gd name="T5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90">
                  <a:moveTo>
                    <a:pt x="0" y="0"/>
                  </a:moveTo>
                  <a:lnTo>
                    <a:pt x="2" y="0"/>
                  </a:lnTo>
                  <a:lnTo>
                    <a:pt x="4" y="2"/>
                  </a:lnTo>
                  <a:lnTo>
                    <a:pt x="5" y="3"/>
                  </a:lnTo>
                  <a:lnTo>
                    <a:pt x="7" y="5"/>
                  </a:lnTo>
                  <a:lnTo>
                    <a:pt x="8" y="6"/>
                  </a:lnTo>
                  <a:lnTo>
                    <a:pt x="9" y="9"/>
                  </a:lnTo>
                  <a:lnTo>
                    <a:pt x="10" y="12"/>
                  </a:lnTo>
                  <a:lnTo>
                    <a:pt x="11" y="15"/>
                  </a:lnTo>
                  <a:lnTo>
                    <a:pt x="13" y="20"/>
                  </a:lnTo>
                  <a:lnTo>
                    <a:pt x="14" y="24"/>
                  </a:lnTo>
                  <a:lnTo>
                    <a:pt x="16" y="35"/>
                  </a:lnTo>
                  <a:lnTo>
                    <a:pt x="19" y="45"/>
                  </a:lnTo>
                  <a:lnTo>
                    <a:pt x="19" y="90"/>
                  </a:lnTo>
                  <a:lnTo>
                    <a:pt x="19" y="45"/>
                  </a:lnTo>
                  <a:lnTo>
                    <a:pt x="20" y="35"/>
                  </a:lnTo>
                  <a:lnTo>
                    <a:pt x="23" y="24"/>
                  </a:lnTo>
                  <a:lnTo>
                    <a:pt x="24" y="20"/>
                  </a:lnTo>
                  <a:lnTo>
                    <a:pt x="25" y="15"/>
                  </a:lnTo>
                  <a:lnTo>
                    <a:pt x="26" y="12"/>
                  </a:lnTo>
                  <a:lnTo>
                    <a:pt x="27" y="9"/>
                  </a:lnTo>
                  <a:lnTo>
                    <a:pt x="29" y="6"/>
                  </a:lnTo>
                  <a:lnTo>
                    <a:pt x="30" y="5"/>
                  </a:lnTo>
                  <a:lnTo>
                    <a:pt x="31" y="3"/>
                  </a:lnTo>
                  <a:lnTo>
                    <a:pt x="32" y="2"/>
                  </a:lnTo>
                  <a:lnTo>
                    <a:pt x="35" y="0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23" name="Freeform 291"/>
            <p:cNvSpPr>
              <a:spLocks/>
            </p:cNvSpPr>
            <p:nvPr/>
          </p:nvSpPr>
          <p:spPr bwMode="auto">
            <a:xfrm>
              <a:off x="4787" y="2148"/>
              <a:ext cx="37" cy="45"/>
            </a:xfrm>
            <a:custGeom>
              <a:avLst/>
              <a:gdLst>
                <a:gd name="T0" fmla="*/ 0 w 37"/>
                <a:gd name="T1" fmla="*/ 0 h 90"/>
                <a:gd name="T2" fmla="*/ 1 w 37"/>
                <a:gd name="T3" fmla="*/ 0 h 90"/>
                <a:gd name="T4" fmla="*/ 4 w 37"/>
                <a:gd name="T5" fmla="*/ 2 h 90"/>
                <a:gd name="T6" fmla="*/ 5 w 37"/>
                <a:gd name="T7" fmla="*/ 3 h 90"/>
                <a:gd name="T8" fmla="*/ 6 w 37"/>
                <a:gd name="T9" fmla="*/ 5 h 90"/>
                <a:gd name="T10" fmla="*/ 7 w 37"/>
                <a:gd name="T11" fmla="*/ 6 h 90"/>
                <a:gd name="T12" fmla="*/ 9 w 37"/>
                <a:gd name="T13" fmla="*/ 9 h 90"/>
                <a:gd name="T14" fmla="*/ 10 w 37"/>
                <a:gd name="T15" fmla="*/ 12 h 90"/>
                <a:gd name="T16" fmla="*/ 11 w 37"/>
                <a:gd name="T17" fmla="*/ 15 h 90"/>
                <a:gd name="T18" fmla="*/ 12 w 37"/>
                <a:gd name="T19" fmla="*/ 20 h 90"/>
                <a:gd name="T20" fmla="*/ 14 w 37"/>
                <a:gd name="T21" fmla="*/ 24 h 90"/>
                <a:gd name="T22" fmla="*/ 16 w 37"/>
                <a:gd name="T23" fmla="*/ 35 h 90"/>
                <a:gd name="T24" fmla="*/ 19 w 37"/>
                <a:gd name="T25" fmla="*/ 45 h 90"/>
                <a:gd name="T26" fmla="*/ 19 w 37"/>
                <a:gd name="T27" fmla="*/ 90 h 90"/>
                <a:gd name="T28" fmla="*/ 19 w 37"/>
                <a:gd name="T29" fmla="*/ 45 h 90"/>
                <a:gd name="T30" fmla="*/ 20 w 37"/>
                <a:gd name="T31" fmla="*/ 35 h 90"/>
                <a:gd name="T32" fmla="*/ 22 w 37"/>
                <a:gd name="T33" fmla="*/ 24 h 90"/>
                <a:gd name="T34" fmla="*/ 23 w 37"/>
                <a:gd name="T35" fmla="*/ 20 h 90"/>
                <a:gd name="T36" fmla="*/ 25 w 37"/>
                <a:gd name="T37" fmla="*/ 15 h 90"/>
                <a:gd name="T38" fmla="*/ 26 w 37"/>
                <a:gd name="T39" fmla="*/ 12 h 90"/>
                <a:gd name="T40" fmla="*/ 27 w 37"/>
                <a:gd name="T41" fmla="*/ 9 h 90"/>
                <a:gd name="T42" fmla="*/ 28 w 37"/>
                <a:gd name="T43" fmla="*/ 6 h 90"/>
                <a:gd name="T44" fmla="*/ 30 w 37"/>
                <a:gd name="T45" fmla="*/ 5 h 90"/>
                <a:gd name="T46" fmla="*/ 31 w 37"/>
                <a:gd name="T47" fmla="*/ 3 h 90"/>
                <a:gd name="T48" fmla="*/ 32 w 37"/>
                <a:gd name="T49" fmla="*/ 2 h 90"/>
                <a:gd name="T50" fmla="*/ 34 w 37"/>
                <a:gd name="T51" fmla="*/ 0 h 90"/>
                <a:gd name="T52" fmla="*/ 37 w 37"/>
                <a:gd name="T5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90">
                  <a:moveTo>
                    <a:pt x="0" y="0"/>
                  </a:moveTo>
                  <a:lnTo>
                    <a:pt x="1" y="0"/>
                  </a:lnTo>
                  <a:lnTo>
                    <a:pt x="4" y="2"/>
                  </a:lnTo>
                  <a:lnTo>
                    <a:pt x="5" y="3"/>
                  </a:lnTo>
                  <a:lnTo>
                    <a:pt x="6" y="5"/>
                  </a:lnTo>
                  <a:lnTo>
                    <a:pt x="7" y="6"/>
                  </a:lnTo>
                  <a:lnTo>
                    <a:pt x="9" y="9"/>
                  </a:lnTo>
                  <a:lnTo>
                    <a:pt x="10" y="12"/>
                  </a:lnTo>
                  <a:lnTo>
                    <a:pt x="11" y="15"/>
                  </a:lnTo>
                  <a:lnTo>
                    <a:pt x="12" y="20"/>
                  </a:lnTo>
                  <a:lnTo>
                    <a:pt x="14" y="24"/>
                  </a:lnTo>
                  <a:lnTo>
                    <a:pt x="16" y="35"/>
                  </a:lnTo>
                  <a:lnTo>
                    <a:pt x="19" y="45"/>
                  </a:lnTo>
                  <a:lnTo>
                    <a:pt x="19" y="90"/>
                  </a:lnTo>
                  <a:lnTo>
                    <a:pt x="19" y="45"/>
                  </a:lnTo>
                  <a:lnTo>
                    <a:pt x="20" y="35"/>
                  </a:lnTo>
                  <a:lnTo>
                    <a:pt x="22" y="24"/>
                  </a:lnTo>
                  <a:lnTo>
                    <a:pt x="23" y="20"/>
                  </a:lnTo>
                  <a:lnTo>
                    <a:pt x="25" y="15"/>
                  </a:lnTo>
                  <a:lnTo>
                    <a:pt x="26" y="12"/>
                  </a:lnTo>
                  <a:lnTo>
                    <a:pt x="27" y="9"/>
                  </a:lnTo>
                  <a:lnTo>
                    <a:pt x="28" y="6"/>
                  </a:lnTo>
                  <a:lnTo>
                    <a:pt x="30" y="5"/>
                  </a:lnTo>
                  <a:lnTo>
                    <a:pt x="31" y="3"/>
                  </a:lnTo>
                  <a:lnTo>
                    <a:pt x="32" y="2"/>
                  </a:lnTo>
                  <a:lnTo>
                    <a:pt x="34" y="0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24" name="Freeform 292"/>
            <p:cNvSpPr>
              <a:spLocks/>
            </p:cNvSpPr>
            <p:nvPr/>
          </p:nvSpPr>
          <p:spPr bwMode="auto">
            <a:xfrm>
              <a:off x="2727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2 w 37"/>
                <a:gd name="T3" fmla="*/ 88 h 89"/>
                <a:gd name="T4" fmla="*/ 4 w 37"/>
                <a:gd name="T5" fmla="*/ 86 h 89"/>
                <a:gd name="T6" fmla="*/ 5 w 37"/>
                <a:gd name="T7" fmla="*/ 85 h 89"/>
                <a:gd name="T8" fmla="*/ 7 w 37"/>
                <a:gd name="T9" fmla="*/ 83 h 89"/>
                <a:gd name="T10" fmla="*/ 8 w 37"/>
                <a:gd name="T11" fmla="*/ 82 h 89"/>
                <a:gd name="T12" fmla="*/ 9 w 37"/>
                <a:gd name="T13" fmla="*/ 80 h 89"/>
                <a:gd name="T14" fmla="*/ 10 w 37"/>
                <a:gd name="T15" fmla="*/ 76 h 89"/>
                <a:gd name="T16" fmla="*/ 12 w 37"/>
                <a:gd name="T17" fmla="*/ 73 h 89"/>
                <a:gd name="T18" fmla="*/ 13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9 w 37"/>
                <a:gd name="T25" fmla="*/ 45 h 89"/>
                <a:gd name="T26" fmla="*/ 19 w 37"/>
                <a:gd name="T27" fmla="*/ 0 h 89"/>
                <a:gd name="T28" fmla="*/ 19 w 37"/>
                <a:gd name="T29" fmla="*/ 45 h 89"/>
                <a:gd name="T30" fmla="*/ 20 w 37"/>
                <a:gd name="T31" fmla="*/ 54 h 89"/>
                <a:gd name="T32" fmla="*/ 23 w 37"/>
                <a:gd name="T33" fmla="*/ 64 h 89"/>
                <a:gd name="T34" fmla="*/ 24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9 w 37"/>
                <a:gd name="T43" fmla="*/ 82 h 89"/>
                <a:gd name="T44" fmla="*/ 30 w 37"/>
                <a:gd name="T45" fmla="*/ 83 h 89"/>
                <a:gd name="T46" fmla="*/ 31 w 37"/>
                <a:gd name="T47" fmla="*/ 85 h 89"/>
                <a:gd name="T48" fmla="*/ 32 w 37"/>
                <a:gd name="T49" fmla="*/ 86 h 89"/>
                <a:gd name="T50" fmla="*/ 35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2" y="88"/>
                  </a:lnTo>
                  <a:lnTo>
                    <a:pt x="4" y="86"/>
                  </a:lnTo>
                  <a:lnTo>
                    <a:pt x="5" y="85"/>
                  </a:lnTo>
                  <a:lnTo>
                    <a:pt x="7" y="83"/>
                  </a:lnTo>
                  <a:lnTo>
                    <a:pt x="8" y="82"/>
                  </a:lnTo>
                  <a:lnTo>
                    <a:pt x="9" y="80"/>
                  </a:lnTo>
                  <a:lnTo>
                    <a:pt x="10" y="76"/>
                  </a:lnTo>
                  <a:lnTo>
                    <a:pt x="12" y="73"/>
                  </a:lnTo>
                  <a:lnTo>
                    <a:pt x="13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9" y="45"/>
                  </a:lnTo>
                  <a:lnTo>
                    <a:pt x="19" y="0"/>
                  </a:lnTo>
                  <a:lnTo>
                    <a:pt x="19" y="45"/>
                  </a:lnTo>
                  <a:lnTo>
                    <a:pt x="20" y="54"/>
                  </a:lnTo>
                  <a:lnTo>
                    <a:pt x="23" y="64"/>
                  </a:lnTo>
                  <a:lnTo>
                    <a:pt x="24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9" y="82"/>
                  </a:lnTo>
                  <a:lnTo>
                    <a:pt x="30" y="83"/>
                  </a:lnTo>
                  <a:lnTo>
                    <a:pt x="31" y="85"/>
                  </a:lnTo>
                  <a:lnTo>
                    <a:pt x="32" y="86"/>
                  </a:lnTo>
                  <a:lnTo>
                    <a:pt x="35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25" name="Freeform 293"/>
            <p:cNvSpPr>
              <a:spLocks/>
            </p:cNvSpPr>
            <p:nvPr/>
          </p:nvSpPr>
          <p:spPr bwMode="auto">
            <a:xfrm>
              <a:off x="2764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6 h 89"/>
                <a:gd name="T6" fmla="*/ 5 w 37"/>
                <a:gd name="T7" fmla="*/ 85 h 89"/>
                <a:gd name="T8" fmla="*/ 6 w 37"/>
                <a:gd name="T9" fmla="*/ 83 h 89"/>
                <a:gd name="T10" fmla="*/ 8 w 37"/>
                <a:gd name="T11" fmla="*/ 82 h 89"/>
                <a:gd name="T12" fmla="*/ 9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3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9 w 37"/>
                <a:gd name="T25" fmla="*/ 45 h 89"/>
                <a:gd name="T26" fmla="*/ 19 w 37"/>
                <a:gd name="T27" fmla="*/ 0 h 89"/>
                <a:gd name="T28" fmla="*/ 19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4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8 w 37"/>
                <a:gd name="T43" fmla="*/ 82 h 89"/>
                <a:gd name="T44" fmla="*/ 30 w 37"/>
                <a:gd name="T45" fmla="*/ 83 h 89"/>
                <a:gd name="T46" fmla="*/ 31 w 37"/>
                <a:gd name="T47" fmla="*/ 85 h 89"/>
                <a:gd name="T48" fmla="*/ 32 w 37"/>
                <a:gd name="T49" fmla="*/ 86 h 89"/>
                <a:gd name="T50" fmla="*/ 35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8" y="82"/>
                  </a:lnTo>
                  <a:lnTo>
                    <a:pt x="9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3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9" y="45"/>
                  </a:lnTo>
                  <a:lnTo>
                    <a:pt x="19" y="0"/>
                  </a:lnTo>
                  <a:lnTo>
                    <a:pt x="19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4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30" y="83"/>
                  </a:lnTo>
                  <a:lnTo>
                    <a:pt x="31" y="85"/>
                  </a:lnTo>
                  <a:lnTo>
                    <a:pt x="32" y="86"/>
                  </a:lnTo>
                  <a:lnTo>
                    <a:pt x="35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26" name="Line 294"/>
            <p:cNvSpPr>
              <a:spLocks noChangeShapeType="1"/>
            </p:cNvSpPr>
            <p:nvPr/>
          </p:nvSpPr>
          <p:spPr bwMode="auto">
            <a:xfrm flipV="1">
              <a:off x="2746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27" name="Line 295"/>
            <p:cNvSpPr>
              <a:spLocks noChangeShapeType="1"/>
            </p:cNvSpPr>
            <p:nvPr/>
          </p:nvSpPr>
          <p:spPr bwMode="auto">
            <a:xfrm flipV="1">
              <a:off x="2819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28" name="Freeform 296"/>
            <p:cNvSpPr>
              <a:spLocks/>
            </p:cNvSpPr>
            <p:nvPr/>
          </p:nvSpPr>
          <p:spPr bwMode="auto">
            <a:xfrm>
              <a:off x="2709" y="2640"/>
              <a:ext cx="18" cy="44"/>
            </a:xfrm>
            <a:custGeom>
              <a:avLst/>
              <a:gdLst>
                <a:gd name="T0" fmla="*/ 0 w 18"/>
                <a:gd name="T1" fmla="*/ 0 h 89"/>
                <a:gd name="T2" fmla="*/ 0 w 18"/>
                <a:gd name="T3" fmla="*/ 45 h 89"/>
                <a:gd name="T4" fmla="*/ 1 w 18"/>
                <a:gd name="T5" fmla="*/ 55 h 89"/>
                <a:gd name="T6" fmla="*/ 4 w 18"/>
                <a:gd name="T7" fmla="*/ 64 h 89"/>
                <a:gd name="T8" fmla="*/ 5 w 18"/>
                <a:gd name="T9" fmla="*/ 69 h 89"/>
                <a:gd name="T10" fmla="*/ 6 w 18"/>
                <a:gd name="T11" fmla="*/ 73 h 89"/>
                <a:gd name="T12" fmla="*/ 7 w 18"/>
                <a:gd name="T13" fmla="*/ 78 h 89"/>
                <a:gd name="T14" fmla="*/ 9 w 18"/>
                <a:gd name="T15" fmla="*/ 80 h 89"/>
                <a:gd name="T16" fmla="*/ 10 w 18"/>
                <a:gd name="T17" fmla="*/ 82 h 89"/>
                <a:gd name="T18" fmla="*/ 11 w 18"/>
                <a:gd name="T19" fmla="*/ 85 h 89"/>
                <a:gd name="T20" fmla="*/ 12 w 18"/>
                <a:gd name="T21" fmla="*/ 86 h 89"/>
                <a:gd name="T22" fmla="*/ 14 w 18"/>
                <a:gd name="T23" fmla="*/ 86 h 89"/>
                <a:gd name="T24" fmla="*/ 16 w 18"/>
                <a:gd name="T25" fmla="*/ 88 h 89"/>
                <a:gd name="T26" fmla="*/ 18 w 18"/>
                <a:gd name="T2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89">
                  <a:moveTo>
                    <a:pt x="0" y="0"/>
                  </a:moveTo>
                  <a:lnTo>
                    <a:pt x="0" y="45"/>
                  </a:lnTo>
                  <a:lnTo>
                    <a:pt x="1" y="55"/>
                  </a:lnTo>
                  <a:lnTo>
                    <a:pt x="4" y="64"/>
                  </a:lnTo>
                  <a:lnTo>
                    <a:pt x="5" y="69"/>
                  </a:lnTo>
                  <a:lnTo>
                    <a:pt x="6" y="73"/>
                  </a:lnTo>
                  <a:lnTo>
                    <a:pt x="7" y="78"/>
                  </a:lnTo>
                  <a:lnTo>
                    <a:pt x="9" y="80"/>
                  </a:lnTo>
                  <a:lnTo>
                    <a:pt x="10" y="82"/>
                  </a:lnTo>
                  <a:lnTo>
                    <a:pt x="11" y="85"/>
                  </a:lnTo>
                  <a:lnTo>
                    <a:pt x="12" y="86"/>
                  </a:lnTo>
                  <a:lnTo>
                    <a:pt x="14" y="86"/>
                  </a:lnTo>
                  <a:lnTo>
                    <a:pt x="16" y="88"/>
                  </a:lnTo>
                  <a:lnTo>
                    <a:pt x="18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29" name="Line 297"/>
            <p:cNvSpPr>
              <a:spLocks noChangeShapeType="1"/>
            </p:cNvSpPr>
            <p:nvPr/>
          </p:nvSpPr>
          <p:spPr bwMode="auto">
            <a:xfrm>
              <a:off x="2709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30" name="Line 298"/>
            <p:cNvSpPr>
              <a:spLocks noChangeShapeType="1"/>
            </p:cNvSpPr>
            <p:nvPr/>
          </p:nvSpPr>
          <p:spPr bwMode="auto">
            <a:xfrm>
              <a:off x="2783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31" name="Line 299"/>
            <p:cNvSpPr>
              <a:spLocks noChangeShapeType="1"/>
            </p:cNvSpPr>
            <p:nvPr/>
          </p:nvSpPr>
          <p:spPr bwMode="auto">
            <a:xfrm>
              <a:off x="2856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32" name="Freeform 300"/>
            <p:cNvSpPr>
              <a:spLocks/>
            </p:cNvSpPr>
            <p:nvPr/>
          </p:nvSpPr>
          <p:spPr bwMode="auto">
            <a:xfrm>
              <a:off x="2911" y="2640"/>
              <a:ext cx="19" cy="44"/>
            </a:xfrm>
            <a:custGeom>
              <a:avLst/>
              <a:gdLst>
                <a:gd name="T0" fmla="*/ 19 w 19"/>
                <a:gd name="T1" fmla="*/ 0 h 89"/>
                <a:gd name="T2" fmla="*/ 19 w 19"/>
                <a:gd name="T3" fmla="*/ 45 h 89"/>
                <a:gd name="T4" fmla="*/ 16 w 19"/>
                <a:gd name="T5" fmla="*/ 55 h 89"/>
                <a:gd name="T6" fmla="*/ 14 w 19"/>
                <a:gd name="T7" fmla="*/ 64 h 89"/>
                <a:gd name="T8" fmla="*/ 13 w 19"/>
                <a:gd name="T9" fmla="*/ 69 h 89"/>
                <a:gd name="T10" fmla="*/ 11 w 19"/>
                <a:gd name="T11" fmla="*/ 73 h 89"/>
                <a:gd name="T12" fmla="*/ 10 w 19"/>
                <a:gd name="T13" fmla="*/ 78 h 89"/>
                <a:gd name="T14" fmla="*/ 9 w 19"/>
                <a:gd name="T15" fmla="*/ 80 h 89"/>
                <a:gd name="T16" fmla="*/ 8 w 19"/>
                <a:gd name="T17" fmla="*/ 82 h 89"/>
                <a:gd name="T18" fmla="*/ 6 w 19"/>
                <a:gd name="T19" fmla="*/ 85 h 89"/>
                <a:gd name="T20" fmla="*/ 5 w 19"/>
                <a:gd name="T21" fmla="*/ 86 h 89"/>
                <a:gd name="T22" fmla="*/ 4 w 19"/>
                <a:gd name="T23" fmla="*/ 86 h 89"/>
                <a:gd name="T24" fmla="*/ 2 w 19"/>
                <a:gd name="T25" fmla="*/ 88 h 89"/>
                <a:gd name="T26" fmla="*/ 0 w 19"/>
                <a:gd name="T2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" h="89">
                  <a:moveTo>
                    <a:pt x="19" y="0"/>
                  </a:moveTo>
                  <a:lnTo>
                    <a:pt x="19" y="45"/>
                  </a:lnTo>
                  <a:lnTo>
                    <a:pt x="16" y="55"/>
                  </a:lnTo>
                  <a:lnTo>
                    <a:pt x="14" y="64"/>
                  </a:lnTo>
                  <a:lnTo>
                    <a:pt x="13" y="69"/>
                  </a:lnTo>
                  <a:lnTo>
                    <a:pt x="11" y="73"/>
                  </a:lnTo>
                  <a:lnTo>
                    <a:pt x="10" y="78"/>
                  </a:lnTo>
                  <a:lnTo>
                    <a:pt x="9" y="80"/>
                  </a:lnTo>
                  <a:lnTo>
                    <a:pt x="8" y="82"/>
                  </a:lnTo>
                  <a:lnTo>
                    <a:pt x="6" y="85"/>
                  </a:lnTo>
                  <a:lnTo>
                    <a:pt x="5" y="86"/>
                  </a:lnTo>
                  <a:lnTo>
                    <a:pt x="4" y="86"/>
                  </a:lnTo>
                  <a:lnTo>
                    <a:pt x="2" y="88"/>
                  </a:lnTo>
                  <a:lnTo>
                    <a:pt x="0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33" name="Line 301"/>
            <p:cNvSpPr>
              <a:spLocks noChangeShapeType="1"/>
            </p:cNvSpPr>
            <p:nvPr/>
          </p:nvSpPr>
          <p:spPr bwMode="auto">
            <a:xfrm flipV="1">
              <a:off x="2893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34" name="Freeform 302"/>
            <p:cNvSpPr>
              <a:spLocks/>
            </p:cNvSpPr>
            <p:nvPr/>
          </p:nvSpPr>
          <p:spPr bwMode="auto">
            <a:xfrm>
              <a:off x="2838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3 w 37"/>
                <a:gd name="T5" fmla="*/ 86 h 89"/>
                <a:gd name="T6" fmla="*/ 5 w 37"/>
                <a:gd name="T7" fmla="*/ 85 h 89"/>
                <a:gd name="T8" fmla="*/ 6 w 37"/>
                <a:gd name="T9" fmla="*/ 83 h 89"/>
                <a:gd name="T10" fmla="*/ 7 w 37"/>
                <a:gd name="T11" fmla="*/ 82 h 89"/>
                <a:gd name="T12" fmla="*/ 8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3 w 37"/>
                <a:gd name="T21" fmla="*/ 64 h 89"/>
                <a:gd name="T22" fmla="*/ 16 w 37"/>
                <a:gd name="T23" fmla="*/ 54 h 89"/>
                <a:gd name="T24" fmla="*/ 18 w 37"/>
                <a:gd name="T25" fmla="*/ 45 h 89"/>
                <a:gd name="T26" fmla="*/ 18 w 37"/>
                <a:gd name="T27" fmla="*/ 0 h 89"/>
                <a:gd name="T28" fmla="*/ 18 w 37"/>
                <a:gd name="T29" fmla="*/ 45 h 89"/>
                <a:gd name="T30" fmla="*/ 19 w 37"/>
                <a:gd name="T31" fmla="*/ 54 h 89"/>
                <a:gd name="T32" fmla="*/ 22 w 37"/>
                <a:gd name="T33" fmla="*/ 64 h 89"/>
                <a:gd name="T34" fmla="*/ 23 w 37"/>
                <a:gd name="T35" fmla="*/ 69 h 89"/>
                <a:gd name="T36" fmla="*/ 24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8 w 37"/>
                <a:gd name="T43" fmla="*/ 82 h 89"/>
                <a:gd name="T44" fmla="*/ 29 w 37"/>
                <a:gd name="T45" fmla="*/ 83 h 89"/>
                <a:gd name="T46" fmla="*/ 30 w 37"/>
                <a:gd name="T47" fmla="*/ 85 h 89"/>
                <a:gd name="T48" fmla="*/ 32 w 37"/>
                <a:gd name="T49" fmla="*/ 86 h 89"/>
                <a:gd name="T50" fmla="*/ 34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3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7" y="82"/>
                  </a:lnTo>
                  <a:lnTo>
                    <a:pt x="8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19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29" y="83"/>
                  </a:lnTo>
                  <a:lnTo>
                    <a:pt x="30" y="85"/>
                  </a:lnTo>
                  <a:lnTo>
                    <a:pt x="32" y="86"/>
                  </a:lnTo>
                  <a:lnTo>
                    <a:pt x="34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35" name="Freeform 303"/>
            <p:cNvSpPr>
              <a:spLocks/>
            </p:cNvSpPr>
            <p:nvPr/>
          </p:nvSpPr>
          <p:spPr bwMode="auto">
            <a:xfrm>
              <a:off x="2801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6 h 89"/>
                <a:gd name="T6" fmla="*/ 5 w 37"/>
                <a:gd name="T7" fmla="*/ 85 h 89"/>
                <a:gd name="T8" fmla="*/ 6 w 37"/>
                <a:gd name="T9" fmla="*/ 83 h 89"/>
                <a:gd name="T10" fmla="*/ 7 w 37"/>
                <a:gd name="T11" fmla="*/ 82 h 89"/>
                <a:gd name="T12" fmla="*/ 9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8 w 37"/>
                <a:gd name="T25" fmla="*/ 45 h 89"/>
                <a:gd name="T26" fmla="*/ 18 w 37"/>
                <a:gd name="T27" fmla="*/ 0 h 89"/>
                <a:gd name="T28" fmla="*/ 18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3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8 w 37"/>
                <a:gd name="T43" fmla="*/ 82 h 89"/>
                <a:gd name="T44" fmla="*/ 29 w 37"/>
                <a:gd name="T45" fmla="*/ 83 h 89"/>
                <a:gd name="T46" fmla="*/ 31 w 37"/>
                <a:gd name="T47" fmla="*/ 85 h 89"/>
                <a:gd name="T48" fmla="*/ 32 w 37"/>
                <a:gd name="T49" fmla="*/ 86 h 89"/>
                <a:gd name="T50" fmla="*/ 34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7" y="82"/>
                  </a:lnTo>
                  <a:lnTo>
                    <a:pt x="9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29" y="83"/>
                  </a:lnTo>
                  <a:lnTo>
                    <a:pt x="31" y="85"/>
                  </a:lnTo>
                  <a:lnTo>
                    <a:pt x="32" y="86"/>
                  </a:lnTo>
                  <a:lnTo>
                    <a:pt x="34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36" name="Freeform 304"/>
            <p:cNvSpPr>
              <a:spLocks/>
            </p:cNvSpPr>
            <p:nvPr/>
          </p:nvSpPr>
          <p:spPr bwMode="auto">
            <a:xfrm>
              <a:off x="2875" y="2640"/>
              <a:ext cx="36" cy="44"/>
            </a:xfrm>
            <a:custGeom>
              <a:avLst/>
              <a:gdLst>
                <a:gd name="T0" fmla="*/ 0 w 36"/>
                <a:gd name="T1" fmla="*/ 89 h 89"/>
                <a:gd name="T2" fmla="*/ 1 w 36"/>
                <a:gd name="T3" fmla="*/ 88 h 89"/>
                <a:gd name="T4" fmla="*/ 3 w 36"/>
                <a:gd name="T5" fmla="*/ 86 h 89"/>
                <a:gd name="T6" fmla="*/ 4 w 36"/>
                <a:gd name="T7" fmla="*/ 85 h 89"/>
                <a:gd name="T8" fmla="*/ 6 w 36"/>
                <a:gd name="T9" fmla="*/ 83 h 89"/>
                <a:gd name="T10" fmla="*/ 7 w 36"/>
                <a:gd name="T11" fmla="*/ 82 h 89"/>
                <a:gd name="T12" fmla="*/ 8 w 36"/>
                <a:gd name="T13" fmla="*/ 80 h 89"/>
                <a:gd name="T14" fmla="*/ 9 w 36"/>
                <a:gd name="T15" fmla="*/ 76 h 89"/>
                <a:gd name="T16" fmla="*/ 11 w 36"/>
                <a:gd name="T17" fmla="*/ 73 h 89"/>
                <a:gd name="T18" fmla="*/ 12 w 36"/>
                <a:gd name="T19" fmla="*/ 69 h 89"/>
                <a:gd name="T20" fmla="*/ 13 w 36"/>
                <a:gd name="T21" fmla="*/ 64 h 89"/>
                <a:gd name="T22" fmla="*/ 16 w 36"/>
                <a:gd name="T23" fmla="*/ 54 h 89"/>
                <a:gd name="T24" fmla="*/ 18 w 36"/>
                <a:gd name="T25" fmla="*/ 45 h 89"/>
                <a:gd name="T26" fmla="*/ 18 w 36"/>
                <a:gd name="T27" fmla="*/ 0 h 89"/>
                <a:gd name="T28" fmla="*/ 18 w 36"/>
                <a:gd name="T29" fmla="*/ 45 h 89"/>
                <a:gd name="T30" fmla="*/ 19 w 36"/>
                <a:gd name="T31" fmla="*/ 54 h 89"/>
                <a:gd name="T32" fmla="*/ 22 w 36"/>
                <a:gd name="T33" fmla="*/ 64 h 89"/>
                <a:gd name="T34" fmla="*/ 23 w 36"/>
                <a:gd name="T35" fmla="*/ 69 h 89"/>
                <a:gd name="T36" fmla="*/ 24 w 36"/>
                <a:gd name="T37" fmla="*/ 73 h 89"/>
                <a:gd name="T38" fmla="*/ 25 w 36"/>
                <a:gd name="T39" fmla="*/ 76 h 89"/>
                <a:gd name="T40" fmla="*/ 27 w 36"/>
                <a:gd name="T41" fmla="*/ 80 h 89"/>
                <a:gd name="T42" fmla="*/ 28 w 36"/>
                <a:gd name="T43" fmla="*/ 82 h 89"/>
                <a:gd name="T44" fmla="*/ 29 w 36"/>
                <a:gd name="T45" fmla="*/ 83 h 89"/>
                <a:gd name="T46" fmla="*/ 30 w 36"/>
                <a:gd name="T47" fmla="*/ 85 h 89"/>
                <a:gd name="T48" fmla="*/ 31 w 36"/>
                <a:gd name="T49" fmla="*/ 86 h 89"/>
                <a:gd name="T50" fmla="*/ 34 w 36"/>
                <a:gd name="T51" fmla="*/ 88 h 89"/>
                <a:gd name="T52" fmla="*/ 36 w 36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6" h="89">
                  <a:moveTo>
                    <a:pt x="0" y="89"/>
                  </a:moveTo>
                  <a:lnTo>
                    <a:pt x="1" y="88"/>
                  </a:lnTo>
                  <a:lnTo>
                    <a:pt x="3" y="86"/>
                  </a:lnTo>
                  <a:lnTo>
                    <a:pt x="4" y="85"/>
                  </a:lnTo>
                  <a:lnTo>
                    <a:pt x="6" y="83"/>
                  </a:lnTo>
                  <a:lnTo>
                    <a:pt x="7" y="82"/>
                  </a:lnTo>
                  <a:lnTo>
                    <a:pt x="8" y="80"/>
                  </a:lnTo>
                  <a:lnTo>
                    <a:pt x="9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19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5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29" y="83"/>
                  </a:lnTo>
                  <a:lnTo>
                    <a:pt x="30" y="85"/>
                  </a:lnTo>
                  <a:lnTo>
                    <a:pt x="31" y="86"/>
                  </a:lnTo>
                  <a:lnTo>
                    <a:pt x="34" y="88"/>
                  </a:lnTo>
                  <a:lnTo>
                    <a:pt x="36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37" name="Freeform 305"/>
            <p:cNvSpPr>
              <a:spLocks/>
            </p:cNvSpPr>
            <p:nvPr/>
          </p:nvSpPr>
          <p:spPr bwMode="auto">
            <a:xfrm>
              <a:off x="3187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6 h 89"/>
                <a:gd name="T6" fmla="*/ 5 w 37"/>
                <a:gd name="T7" fmla="*/ 85 h 89"/>
                <a:gd name="T8" fmla="*/ 6 w 37"/>
                <a:gd name="T9" fmla="*/ 83 h 89"/>
                <a:gd name="T10" fmla="*/ 8 w 37"/>
                <a:gd name="T11" fmla="*/ 82 h 89"/>
                <a:gd name="T12" fmla="*/ 9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9 w 37"/>
                <a:gd name="T25" fmla="*/ 45 h 89"/>
                <a:gd name="T26" fmla="*/ 19 w 37"/>
                <a:gd name="T27" fmla="*/ 0 h 89"/>
                <a:gd name="T28" fmla="*/ 19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4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8 w 37"/>
                <a:gd name="T43" fmla="*/ 82 h 89"/>
                <a:gd name="T44" fmla="*/ 30 w 37"/>
                <a:gd name="T45" fmla="*/ 83 h 89"/>
                <a:gd name="T46" fmla="*/ 31 w 37"/>
                <a:gd name="T47" fmla="*/ 85 h 89"/>
                <a:gd name="T48" fmla="*/ 32 w 37"/>
                <a:gd name="T49" fmla="*/ 86 h 89"/>
                <a:gd name="T50" fmla="*/ 35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8" y="82"/>
                  </a:lnTo>
                  <a:lnTo>
                    <a:pt x="9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9" y="45"/>
                  </a:lnTo>
                  <a:lnTo>
                    <a:pt x="19" y="0"/>
                  </a:lnTo>
                  <a:lnTo>
                    <a:pt x="19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4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30" y="83"/>
                  </a:lnTo>
                  <a:lnTo>
                    <a:pt x="31" y="85"/>
                  </a:lnTo>
                  <a:lnTo>
                    <a:pt x="32" y="86"/>
                  </a:lnTo>
                  <a:lnTo>
                    <a:pt x="35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38" name="Line 306"/>
            <p:cNvSpPr>
              <a:spLocks noChangeShapeType="1"/>
            </p:cNvSpPr>
            <p:nvPr/>
          </p:nvSpPr>
          <p:spPr bwMode="auto">
            <a:xfrm flipV="1">
              <a:off x="2985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39" name="Line 307"/>
            <p:cNvSpPr>
              <a:spLocks noChangeShapeType="1"/>
            </p:cNvSpPr>
            <p:nvPr/>
          </p:nvSpPr>
          <p:spPr bwMode="auto">
            <a:xfrm flipV="1">
              <a:off x="3095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40" name="Line 308"/>
            <p:cNvSpPr>
              <a:spLocks noChangeShapeType="1"/>
            </p:cNvSpPr>
            <p:nvPr/>
          </p:nvSpPr>
          <p:spPr bwMode="auto">
            <a:xfrm flipV="1">
              <a:off x="3206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41" name="Line 309"/>
            <p:cNvSpPr>
              <a:spLocks noChangeShapeType="1"/>
            </p:cNvSpPr>
            <p:nvPr/>
          </p:nvSpPr>
          <p:spPr bwMode="auto">
            <a:xfrm flipV="1">
              <a:off x="3316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42" name="Line 310"/>
            <p:cNvSpPr>
              <a:spLocks noChangeShapeType="1"/>
            </p:cNvSpPr>
            <p:nvPr/>
          </p:nvSpPr>
          <p:spPr bwMode="auto">
            <a:xfrm>
              <a:off x="3040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43" name="Line 311"/>
            <p:cNvSpPr>
              <a:spLocks noChangeShapeType="1"/>
            </p:cNvSpPr>
            <p:nvPr/>
          </p:nvSpPr>
          <p:spPr bwMode="auto">
            <a:xfrm>
              <a:off x="3150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44" name="Line 312"/>
            <p:cNvSpPr>
              <a:spLocks noChangeShapeType="1"/>
            </p:cNvSpPr>
            <p:nvPr/>
          </p:nvSpPr>
          <p:spPr bwMode="auto">
            <a:xfrm>
              <a:off x="3261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45" name="Freeform 313"/>
            <p:cNvSpPr>
              <a:spLocks/>
            </p:cNvSpPr>
            <p:nvPr/>
          </p:nvSpPr>
          <p:spPr bwMode="auto">
            <a:xfrm>
              <a:off x="3077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6 h 89"/>
                <a:gd name="T6" fmla="*/ 5 w 37"/>
                <a:gd name="T7" fmla="*/ 85 h 89"/>
                <a:gd name="T8" fmla="*/ 6 w 37"/>
                <a:gd name="T9" fmla="*/ 83 h 89"/>
                <a:gd name="T10" fmla="*/ 7 w 37"/>
                <a:gd name="T11" fmla="*/ 82 h 89"/>
                <a:gd name="T12" fmla="*/ 8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3 w 37"/>
                <a:gd name="T21" fmla="*/ 64 h 89"/>
                <a:gd name="T22" fmla="*/ 16 w 37"/>
                <a:gd name="T23" fmla="*/ 54 h 89"/>
                <a:gd name="T24" fmla="*/ 18 w 37"/>
                <a:gd name="T25" fmla="*/ 45 h 89"/>
                <a:gd name="T26" fmla="*/ 18 w 37"/>
                <a:gd name="T27" fmla="*/ 0 h 89"/>
                <a:gd name="T28" fmla="*/ 18 w 37"/>
                <a:gd name="T29" fmla="*/ 45 h 89"/>
                <a:gd name="T30" fmla="*/ 19 w 37"/>
                <a:gd name="T31" fmla="*/ 54 h 89"/>
                <a:gd name="T32" fmla="*/ 22 w 37"/>
                <a:gd name="T33" fmla="*/ 64 h 89"/>
                <a:gd name="T34" fmla="*/ 23 w 37"/>
                <a:gd name="T35" fmla="*/ 69 h 89"/>
                <a:gd name="T36" fmla="*/ 24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8 w 37"/>
                <a:gd name="T43" fmla="*/ 82 h 89"/>
                <a:gd name="T44" fmla="*/ 29 w 37"/>
                <a:gd name="T45" fmla="*/ 83 h 89"/>
                <a:gd name="T46" fmla="*/ 31 w 37"/>
                <a:gd name="T47" fmla="*/ 85 h 89"/>
                <a:gd name="T48" fmla="*/ 32 w 37"/>
                <a:gd name="T49" fmla="*/ 86 h 89"/>
                <a:gd name="T50" fmla="*/ 34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7" y="82"/>
                  </a:lnTo>
                  <a:lnTo>
                    <a:pt x="8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19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29" y="83"/>
                  </a:lnTo>
                  <a:lnTo>
                    <a:pt x="31" y="85"/>
                  </a:lnTo>
                  <a:lnTo>
                    <a:pt x="32" y="86"/>
                  </a:lnTo>
                  <a:lnTo>
                    <a:pt x="34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46" name="Freeform 314"/>
            <p:cNvSpPr>
              <a:spLocks/>
            </p:cNvSpPr>
            <p:nvPr/>
          </p:nvSpPr>
          <p:spPr bwMode="auto">
            <a:xfrm>
              <a:off x="2967" y="2640"/>
              <a:ext cx="36" cy="44"/>
            </a:xfrm>
            <a:custGeom>
              <a:avLst/>
              <a:gdLst>
                <a:gd name="T0" fmla="*/ 0 w 36"/>
                <a:gd name="T1" fmla="*/ 89 h 89"/>
                <a:gd name="T2" fmla="*/ 1 w 36"/>
                <a:gd name="T3" fmla="*/ 88 h 89"/>
                <a:gd name="T4" fmla="*/ 3 w 36"/>
                <a:gd name="T5" fmla="*/ 86 h 89"/>
                <a:gd name="T6" fmla="*/ 4 w 36"/>
                <a:gd name="T7" fmla="*/ 85 h 89"/>
                <a:gd name="T8" fmla="*/ 6 w 36"/>
                <a:gd name="T9" fmla="*/ 83 h 89"/>
                <a:gd name="T10" fmla="*/ 7 w 36"/>
                <a:gd name="T11" fmla="*/ 82 h 89"/>
                <a:gd name="T12" fmla="*/ 8 w 36"/>
                <a:gd name="T13" fmla="*/ 80 h 89"/>
                <a:gd name="T14" fmla="*/ 9 w 36"/>
                <a:gd name="T15" fmla="*/ 76 h 89"/>
                <a:gd name="T16" fmla="*/ 11 w 36"/>
                <a:gd name="T17" fmla="*/ 73 h 89"/>
                <a:gd name="T18" fmla="*/ 12 w 36"/>
                <a:gd name="T19" fmla="*/ 69 h 89"/>
                <a:gd name="T20" fmla="*/ 13 w 36"/>
                <a:gd name="T21" fmla="*/ 64 h 89"/>
                <a:gd name="T22" fmla="*/ 15 w 36"/>
                <a:gd name="T23" fmla="*/ 54 h 89"/>
                <a:gd name="T24" fmla="*/ 18 w 36"/>
                <a:gd name="T25" fmla="*/ 45 h 89"/>
                <a:gd name="T26" fmla="*/ 18 w 36"/>
                <a:gd name="T27" fmla="*/ 0 h 89"/>
                <a:gd name="T28" fmla="*/ 18 w 36"/>
                <a:gd name="T29" fmla="*/ 45 h 89"/>
                <a:gd name="T30" fmla="*/ 19 w 36"/>
                <a:gd name="T31" fmla="*/ 54 h 89"/>
                <a:gd name="T32" fmla="*/ 22 w 36"/>
                <a:gd name="T33" fmla="*/ 64 h 89"/>
                <a:gd name="T34" fmla="*/ 23 w 36"/>
                <a:gd name="T35" fmla="*/ 69 h 89"/>
                <a:gd name="T36" fmla="*/ 24 w 36"/>
                <a:gd name="T37" fmla="*/ 73 h 89"/>
                <a:gd name="T38" fmla="*/ 25 w 36"/>
                <a:gd name="T39" fmla="*/ 76 h 89"/>
                <a:gd name="T40" fmla="*/ 27 w 36"/>
                <a:gd name="T41" fmla="*/ 80 h 89"/>
                <a:gd name="T42" fmla="*/ 28 w 36"/>
                <a:gd name="T43" fmla="*/ 82 h 89"/>
                <a:gd name="T44" fmla="*/ 29 w 36"/>
                <a:gd name="T45" fmla="*/ 83 h 89"/>
                <a:gd name="T46" fmla="*/ 30 w 36"/>
                <a:gd name="T47" fmla="*/ 85 h 89"/>
                <a:gd name="T48" fmla="*/ 31 w 36"/>
                <a:gd name="T49" fmla="*/ 86 h 89"/>
                <a:gd name="T50" fmla="*/ 34 w 36"/>
                <a:gd name="T51" fmla="*/ 88 h 89"/>
                <a:gd name="T52" fmla="*/ 36 w 36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6" h="89">
                  <a:moveTo>
                    <a:pt x="0" y="89"/>
                  </a:moveTo>
                  <a:lnTo>
                    <a:pt x="1" y="88"/>
                  </a:lnTo>
                  <a:lnTo>
                    <a:pt x="3" y="86"/>
                  </a:lnTo>
                  <a:lnTo>
                    <a:pt x="4" y="85"/>
                  </a:lnTo>
                  <a:lnTo>
                    <a:pt x="6" y="83"/>
                  </a:lnTo>
                  <a:lnTo>
                    <a:pt x="7" y="82"/>
                  </a:lnTo>
                  <a:lnTo>
                    <a:pt x="8" y="80"/>
                  </a:lnTo>
                  <a:lnTo>
                    <a:pt x="9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5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19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5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29" y="83"/>
                  </a:lnTo>
                  <a:lnTo>
                    <a:pt x="30" y="85"/>
                  </a:lnTo>
                  <a:lnTo>
                    <a:pt x="31" y="86"/>
                  </a:lnTo>
                  <a:lnTo>
                    <a:pt x="34" y="88"/>
                  </a:lnTo>
                  <a:lnTo>
                    <a:pt x="36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47" name="Freeform 315"/>
            <p:cNvSpPr>
              <a:spLocks/>
            </p:cNvSpPr>
            <p:nvPr/>
          </p:nvSpPr>
          <p:spPr bwMode="auto">
            <a:xfrm>
              <a:off x="3298" y="2640"/>
              <a:ext cx="36" cy="44"/>
            </a:xfrm>
            <a:custGeom>
              <a:avLst/>
              <a:gdLst>
                <a:gd name="T0" fmla="*/ 0 w 36"/>
                <a:gd name="T1" fmla="*/ 89 h 89"/>
                <a:gd name="T2" fmla="*/ 1 w 36"/>
                <a:gd name="T3" fmla="*/ 88 h 89"/>
                <a:gd name="T4" fmla="*/ 3 w 36"/>
                <a:gd name="T5" fmla="*/ 86 h 89"/>
                <a:gd name="T6" fmla="*/ 4 w 36"/>
                <a:gd name="T7" fmla="*/ 85 h 89"/>
                <a:gd name="T8" fmla="*/ 6 w 36"/>
                <a:gd name="T9" fmla="*/ 83 h 89"/>
                <a:gd name="T10" fmla="*/ 7 w 36"/>
                <a:gd name="T11" fmla="*/ 82 h 89"/>
                <a:gd name="T12" fmla="*/ 8 w 36"/>
                <a:gd name="T13" fmla="*/ 80 h 89"/>
                <a:gd name="T14" fmla="*/ 9 w 36"/>
                <a:gd name="T15" fmla="*/ 76 h 89"/>
                <a:gd name="T16" fmla="*/ 11 w 36"/>
                <a:gd name="T17" fmla="*/ 73 h 89"/>
                <a:gd name="T18" fmla="*/ 12 w 36"/>
                <a:gd name="T19" fmla="*/ 69 h 89"/>
                <a:gd name="T20" fmla="*/ 13 w 36"/>
                <a:gd name="T21" fmla="*/ 64 h 89"/>
                <a:gd name="T22" fmla="*/ 15 w 36"/>
                <a:gd name="T23" fmla="*/ 54 h 89"/>
                <a:gd name="T24" fmla="*/ 18 w 36"/>
                <a:gd name="T25" fmla="*/ 45 h 89"/>
                <a:gd name="T26" fmla="*/ 18 w 36"/>
                <a:gd name="T27" fmla="*/ 0 h 89"/>
                <a:gd name="T28" fmla="*/ 18 w 36"/>
                <a:gd name="T29" fmla="*/ 45 h 89"/>
                <a:gd name="T30" fmla="*/ 19 w 36"/>
                <a:gd name="T31" fmla="*/ 54 h 89"/>
                <a:gd name="T32" fmla="*/ 22 w 36"/>
                <a:gd name="T33" fmla="*/ 64 h 89"/>
                <a:gd name="T34" fmla="*/ 23 w 36"/>
                <a:gd name="T35" fmla="*/ 69 h 89"/>
                <a:gd name="T36" fmla="*/ 24 w 36"/>
                <a:gd name="T37" fmla="*/ 73 h 89"/>
                <a:gd name="T38" fmla="*/ 25 w 36"/>
                <a:gd name="T39" fmla="*/ 76 h 89"/>
                <a:gd name="T40" fmla="*/ 27 w 36"/>
                <a:gd name="T41" fmla="*/ 80 h 89"/>
                <a:gd name="T42" fmla="*/ 28 w 36"/>
                <a:gd name="T43" fmla="*/ 82 h 89"/>
                <a:gd name="T44" fmla="*/ 29 w 36"/>
                <a:gd name="T45" fmla="*/ 83 h 89"/>
                <a:gd name="T46" fmla="*/ 30 w 36"/>
                <a:gd name="T47" fmla="*/ 85 h 89"/>
                <a:gd name="T48" fmla="*/ 31 w 36"/>
                <a:gd name="T49" fmla="*/ 86 h 89"/>
                <a:gd name="T50" fmla="*/ 34 w 36"/>
                <a:gd name="T51" fmla="*/ 88 h 89"/>
                <a:gd name="T52" fmla="*/ 36 w 36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6" h="89">
                  <a:moveTo>
                    <a:pt x="0" y="89"/>
                  </a:moveTo>
                  <a:lnTo>
                    <a:pt x="1" y="88"/>
                  </a:lnTo>
                  <a:lnTo>
                    <a:pt x="3" y="86"/>
                  </a:lnTo>
                  <a:lnTo>
                    <a:pt x="4" y="85"/>
                  </a:lnTo>
                  <a:lnTo>
                    <a:pt x="6" y="83"/>
                  </a:lnTo>
                  <a:lnTo>
                    <a:pt x="7" y="82"/>
                  </a:lnTo>
                  <a:lnTo>
                    <a:pt x="8" y="80"/>
                  </a:lnTo>
                  <a:lnTo>
                    <a:pt x="9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5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19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5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29" y="83"/>
                  </a:lnTo>
                  <a:lnTo>
                    <a:pt x="30" y="85"/>
                  </a:lnTo>
                  <a:lnTo>
                    <a:pt x="31" y="86"/>
                  </a:lnTo>
                  <a:lnTo>
                    <a:pt x="34" y="88"/>
                  </a:lnTo>
                  <a:lnTo>
                    <a:pt x="36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48" name="Line 316"/>
            <p:cNvSpPr>
              <a:spLocks noChangeShapeType="1"/>
            </p:cNvSpPr>
            <p:nvPr/>
          </p:nvSpPr>
          <p:spPr bwMode="auto">
            <a:xfrm>
              <a:off x="2930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49" name="Freeform 317"/>
            <p:cNvSpPr>
              <a:spLocks/>
            </p:cNvSpPr>
            <p:nvPr/>
          </p:nvSpPr>
          <p:spPr bwMode="auto">
            <a:xfrm>
              <a:off x="3022" y="2640"/>
              <a:ext cx="36" cy="44"/>
            </a:xfrm>
            <a:custGeom>
              <a:avLst/>
              <a:gdLst>
                <a:gd name="T0" fmla="*/ 0 w 36"/>
                <a:gd name="T1" fmla="*/ 89 h 89"/>
                <a:gd name="T2" fmla="*/ 1 w 36"/>
                <a:gd name="T3" fmla="*/ 88 h 89"/>
                <a:gd name="T4" fmla="*/ 3 w 36"/>
                <a:gd name="T5" fmla="*/ 86 h 89"/>
                <a:gd name="T6" fmla="*/ 5 w 36"/>
                <a:gd name="T7" fmla="*/ 85 h 89"/>
                <a:gd name="T8" fmla="*/ 6 w 36"/>
                <a:gd name="T9" fmla="*/ 83 h 89"/>
                <a:gd name="T10" fmla="*/ 7 w 36"/>
                <a:gd name="T11" fmla="*/ 82 h 89"/>
                <a:gd name="T12" fmla="*/ 8 w 36"/>
                <a:gd name="T13" fmla="*/ 80 h 89"/>
                <a:gd name="T14" fmla="*/ 10 w 36"/>
                <a:gd name="T15" fmla="*/ 76 h 89"/>
                <a:gd name="T16" fmla="*/ 11 w 36"/>
                <a:gd name="T17" fmla="*/ 73 h 89"/>
                <a:gd name="T18" fmla="*/ 12 w 36"/>
                <a:gd name="T19" fmla="*/ 69 h 89"/>
                <a:gd name="T20" fmla="*/ 13 w 36"/>
                <a:gd name="T21" fmla="*/ 64 h 89"/>
                <a:gd name="T22" fmla="*/ 16 w 36"/>
                <a:gd name="T23" fmla="*/ 54 h 89"/>
                <a:gd name="T24" fmla="*/ 18 w 36"/>
                <a:gd name="T25" fmla="*/ 45 h 89"/>
                <a:gd name="T26" fmla="*/ 18 w 36"/>
                <a:gd name="T27" fmla="*/ 0 h 89"/>
                <a:gd name="T28" fmla="*/ 18 w 36"/>
                <a:gd name="T29" fmla="*/ 45 h 89"/>
                <a:gd name="T30" fmla="*/ 19 w 36"/>
                <a:gd name="T31" fmla="*/ 54 h 89"/>
                <a:gd name="T32" fmla="*/ 22 w 36"/>
                <a:gd name="T33" fmla="*/ 64 h 89"/>
                <a:gd name="T34" fmla="*/ 23 w 36"/>
                <a:gd name="T35" fmla="*/ 69 h 89"/>
                <a:gd name="T36" fmla="*/ 24 w 36"/>
                <a:gd name="T37" fmla="*/ 73 h 89"/>
                <a:gd name="T38" fmla="*/ 25 w 36"/>
                <a:gd name="T39" fmla="*/ 76 h 89"/>
                <a:gd name="T40" fmla="*/ 27 w 36"/>
                <a:gd name="T41" fmla="*/ 80 h 89"/>
                <a:gd name="T42" fmla="*/ 28 w 36"/>
                <a:gd name="T43" fmla="*/ 82 h 89"/>
                <a:gd name="T44" fmla="*/ 29 w 36"/>
                <a:gd name="T45" fmla="*/ 83 h 89"/>
                <a:gd name="T46" fmla="*/ 30 w 36"/>
                <a:gd name="T47" fmla="*/ 85 h 89"/>
                <a:gd name="T48" fmla="*/ 32 w 36"/>
                <a:gd name="T49" fmla="*/ 86 h 89"/>
                <a:gd name="T50" fmla="*/ 34 w 36"/>
                <a:gd name="T51" fmla="*/ 88 h 89"/>
                <a:gd name="T52" fmla="*/ 36 w 36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6" h="89">
                  <a:moveTo>
                    <a:pt x="0" y="89"/>
                  </a:moveTo>
                  <a:lnTo>
                    <a:pt x="1" y="88"/>
                  </a:lnTo>
                  <a:lnTo>
                    <a:pt x="3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7" y="82"/>
                  </a:lnTo>
                  <a:lnTo>
                    <a:pt x="8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19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5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29" y="83"/>
                  </a:lnTo>
                  <a:lnTo>
                    <a:pt x="30" y="85"/>
                  </a:lnTo>
                  <a:lnTo>
                    <a:pt x="32" y="86"/>
                  </a:lnTo>
                  <a:lnTo>
                    <a:pt x="34" y="88"/>
                  </a:lnTo>
                  <a:lnTo>
                    <a:pt x="36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50" name="Freeform 318"/>
            <p:cNvSpPr>
              <a:spLocks/>
            </p:cNvSpPr>
            <p:nvPr/>
          </p:nvSpPr>
          <p:spPr bwMode="auto">
            <a:xfrm>
              <a:off x="3132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6 h 89"/>
                <a:gd name="T6" fmla="*/ 5 w 37"/>
                <a:gd name="T7" fmla="*/ 85 h 89"/>
                <a:gd name="T8" fmla="*/ 6 w 37"/>
                <a:gd name="T9" fmla="*/ 83 h 89"/>
                <a:gd name="T10" fmla="*/ 7 w 37"/>
                <a:gd name="T11" fmla="*/ 82 h 89"/>
                <a:gd name="T12" fmla="*/ 9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8 w 37"/>
                <a:gd name="T25" fmla="*/ 45 h 89"/>
                <a:gd name="T26" fmla="*/ 18 w 37"/>
                <a:gd name="T27" fmla="*/ 0 h 89"/>
                <a:gd name="T28" fmla="*/ 18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3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8 w 37"/>
                <a:gd name="T43" fmla="*/ 82 h 89"/>
                <a:gd name="T44" fmla="*/ 29 w 37"/>
                <a:gd name="T45" fmla="*/ 83 h 89"/>
                <a:gd name="T46" fmla="*/ 31 w 37"/>
                <a:gd name="T47" fmla="*/ 85 h 89"/>
                <a:gd name="T48" fmla="*/ 32 w 37"/>
                <a:gd name="T49" fmla="*/ 86 h 89"/>
                <a:gd name="T50" fmla="*/ 34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7" y="82"/>
                  </a:lnTo>
                  <a:lnTo>
                    <a:pt x="9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29" y="83"/>
                  </a:lnTo>
                  <a:lnTo>
                    <a:pt x="31" y="85"/>
                  </a:lnTo>
                  <a:lnTo>
                    <a:pt x="32" y="86"/>
                  </a:lnTo>
                  <a:lnTo>
                    <a:pt x="34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51" name="Freeform 319"/>
            <p:cNvSpPr>
              <a:spLocks/>
            </p:cNvSpPr>
            <p:nvPr/>
          </p:nvSpPr>
          <p:spPr bwMode="auto">
            <a:xfrm>
              <a:off x="3242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2 w 37"/>
                <a:gd name="T3" fmla="*/ 88 h 89"/>
                <a:gd name="T4" fmla="*/ 4 w 37"/>
                <a:gd name="T5" fmla="*/ 86 h 89"/>
                <a:gd name="T6" fmla="*/ 5 w 37"/>
                <a:gd name="T7" fmla="*/ 85 h 89"/>
                <a:gd name="T8" fmla="*/ 7 w 37"/>
                <a:gd name="T9" fmla="*/ 83 h 89"/>
                <a:gd name="T10" fmla="*/ 8 w 37"/>
                <a:gd name="T11" fmla="*/ 82 h 89"/>
                <a:gd name="T12" fmla="*/ 9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3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9 w 37"/>
                <a:gd name="T25" fmla="*/ 45 h 89"/>
                <a:gd name="T26" fmla="*/ 19 w 37"/>
                <a:gd name="T27" fmla="*/ 0 h 89"/>
                <a:gd name="T28" fmla="*/ 19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4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9 w 37"/>
                <a:gd name="T43" fmla="*/ 82 h 89"/>
                <a:gd name="T44" fmla="*/ 30 w 37"/>
                <a:gd name="T45" fmla="*/ 83 h 89"/>
                <a:gd name="T46" fmla="*/ 31 w 37"/>
                <a:gd name="T47" fmla="*/ 85 h 89"/>
                <a:gd name="T48" fmla="*/ 32 w 37"/>
                <a:gd name="T49" fmla="*/ 86 h 89"/>
                <a:gd name="T50" fmla="*/ 35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2" y="88"/>
                  </a:lnTo>
                  <a:lnTo>
                    <a:pt x="4" y="86"/>
                  </a:lnTo>
                  <a:lnTo>
                    <a:pt x="5" y="85"/>
                  </a:lnTo>
                  <a:lnTo>
                    <a:pt x="7" y="83"/>
                  </a:lnTo>
                  <a:lnTo>
                    <a:pt x="8" y="82"/>
                  </a:lnTo>
                  <a:lnTo>
                    <a:pt x="9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3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9" y="45"/>
                  </a:lnTo>
                  <a:lnTo>
                    <a:pt x="19" y="0"/>
                  </a:lnTo>
                  <a:lnTo>
                    <a:pt x="19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4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9" y="82"/>
                  </a:lnTo>
                  <a:lnTo>
                    <a:pt x="30" y="83"/>
                  </a:lnTo>
                  <a:lnTo>
                    <a:pt x="31" y="85"/>
                  </a:lnTo>
                  <a:lnTo>
                    <a:pt x="32" y="86"/>
                  </a:lnTo>
                  <a:lnTo>
                    <a:pt x="35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52" name="Freeform 320"/>
            <p:cNvSpPr>
              <a:spLocks/>
            </p:cNvSpPr>
            <p:nvPr/>
          </p:nvSpPr>
          <p:spPr bwMode="auto">
            <a:xfrm>
              <a:off x="3353" y="2640"/>
              <a:ext cx="18" cy="44"/>
            </a:xfrm>
            <a:custGeom>
              <a:avLst/>
              <a:gdLst>
                <a:gd name="T0" fmla="*/ 18 w 18"/>
                <a:gd name="T1" fmla="*/ 0 h 89"/>
                <a:gd name="T2" fmla="*/ 18 w 18"/>
                <a:gd name="T3" fmla="*/ 45 h 89"/>
                <a:gd name="T4" fmla="*/ 16 w 18"/>
                <a:gd name="T5" fmla="*/ 55 h 89"/>
                <a:gd name="T6" fmla="*/ 13 w 18"/>
                <a:gd name="T7" fmla="*/ 64 h 89"/>
                <a:gd name="T8" fmla="*/ 12 w 18"/>
                <a:gd name="T9" fmla="*/ 69 h 89"/>
                <a:gd name="T10" fmla="*/ 11 w 18"/>
                <a:gd name="T11" fmla="*/ 73 h 89"/>
                <a:gd name="T12" fmla="*/ 10 w 18"/>
                <a:gd name="T13" fmla="*/ 78 h 89"/>
                <a:gd name="T14" fmla="*/ 8 w 18"/>
                <a:gd name="T15" fmla="*/ 80 h 89"/>
                <a:gd name="T16" fmla="*/ 7 w 18"/>
                <a:gd name="T17" fmla="*/ 82 h 89"/>
                <a:gd name="T18" fmla="*/ 6 w 18"/>
                <a:gd name="T19" fmla="*/ 85 h 89"/>
                <a:gd name="T20" fmla="*/ 5 w 18"/>
                <a:gd name="T21" fmla="*/ 86 h 89"/>
                <a:gd name="T22" fmla="*/ 3 w 18"/>
                <a:gd name="T23" fmla="*/ 86 h 89"/>
                <a:gd name="T24" fmla="*/ 1 w 18"/>
                <a:gd name="T25" fmla="*/ 88 h 89"/>
                <a:gd name="T26" fmla="*/ 0 w 18"/>
                <a:gd name="T2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89">
                  <a:moveTo>
                    <a:pt x="18" y="0"/>
                  </a:moveTo>
                  <a:lnTo>
                    <a:pt x="18" y="45"/>
                  </a:lnTo>
                  <a:lnTo>
                    <a:pt x="16" y="55"/>
                  </a:lnTo>
                  <a:lnTo>
                    <a:pt x="13" y="64"/>
                  </a:lnTo>
                  <a:lnTo>
                    <a:pt x="12" y="69"/>
                  </a:lnTo>
                  <a:lnTo>
                    <a:pt x="11" y="73"/>
                  </a:lnTo>
                  <a:lnTo>
                    <a:pt x="10" y="78"/>
                  </a:lnTo>
                  <a:lnTo>
                    <a:pt x="8" y="80"/>
                  </a:lnTo>
                  <a:lnTo>
                    <a:pt x="7" y="82"/>
                  </a:lnTo>
                  <a:lnTo>
                    <a:pt x="6" y="85"/>
                  </a:lnTo>
                  <a:lnTo>
                    <a:pt x="5" y="86"/>
                  </a:lnTo>
                  <a:lnTo>
                    <a:pt x="3" y="86"/>
                  </a:lnTo>
                  <a:lnTo>
                    <a:pt x="1" y="88"/>
                  </a:lnTo>
                  <a:lnTo>
                    <a:pt x="0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53" name="Freeform 321"/>
            <p:cNvSpPr>
              <a:spLocks/>
            </p:cNvSpPr>
            <p:nvPr/>
          </p:nvSpPr>
          <p:spPr bwMode="auto">
            <a:xfrm>
              <a:off x="2930" y="2640"/>
              <a:ext cx="18" cy="44"/>
            </a:xfrm>
            <a:custGeom>
              <a:avLst/>
              <a:gdLst>
                <a:gd name="T0" fmla="*/ 0 w 18"/>
                <a:gd name="T1" fmla="*/ 0 h 89"/>
                <a:gd name="T2" fmla="*/ 0 w 18"/>
                <a:gd name="T3" fmla="*/ 45 h 89"/>
                <a:gd name="T4" fmla="*/ 1 w 18"/>
                <a:gd name="T5" fmla="*/ 55 h 89"/>
                <a:gd name="T6" fmla="*/ 3 w 18"/>
                <a:gd name="T7" fmla="*/ 64 h 89"/>
                <a:gd name="T8" fmla="*/ 5 w 18"/>
                <a:gd name="T9" fmla="*/ 69 h 89"/>
                <a:gd name="T10" fmla="*/ 6 w 18"/>
                <a:gd name="T11" fmla="*/ 73 h 89"/>
                <a:gd name="T12" fmla="*/ 7 w 18"/>
                <a:gd name="T13" fmla="*/ 78 h 89"/>
                <a:gd name="T14" fmla="*/ 8 w 18"/>
                <a:gd name="T15" fmla="*/ 80 h 89"/>
                <a:gd name="T16" fmla="*/ 10 w 18"/>
                <a:gd name="T17" fmla="*/ 82 h 89"/>
                <a:gd name="T18" fmla="*/ 11 w 18"/>
                <a:gd name="T19" fmla="*/ 85 h 89"/>
                <a:gd name="T20" fmla="*/ 12 w 18"/>
                <a:gd name="T21" fmla="*/ 86 h 89"/>
                <a:gd name="T22" fmla="*/ 13 w 18"/>
                <a:gd name="T23" fmla="*/ 86 h 89"/>
                <a:gd name="T24" fmla="*/ 16 w 18"/>
                <a:gd name="T25" fmla="*/ 88 h 89"/>
                <a:gd name="T26" fmla="*/ 18 w 18"/>
                <a:gd name="T2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89">
                  <a:moveTo>
                    <a:pt x="0" y="0"/>
                  </a:moveTo>
                  <a:lnTo>
                    <a:pt x="0" y="45"/>
                  </a:lnTo>
                  <a:lnTo>
                    <a:pt x="1" y="55"/>
                  </a:lnTo>
                  <a:lnTo>
                    <a:pt x="3" y="64"/>
                  </a:lnTo>
                  <a:lnTo>
                    <a:pt x="5" y="69"/>
                  </a:lnTo>
                  <a:lnTo>
                    <a:pt x="6" y="73"/>
                  </a:lnTo>
                  <a:lnTo>
                    <a:pt x="7" y="78"/>
                  </a:lnTo>
                  <a:lnTo>
                    <a:pt x="8" y="80"/>
                  </a:lnTo>
                  <a:lnTo>
                    <a:pt x="10" y="82"/>
                  </a:lnTo>
                  <a:lnTo>
                    <a:pt x="11" y="85"/>
                  </a:lnTo>
                  <a:lnTo>
                    <a:pt x="12" y="86"/>
                  </a:lnTo>
                  <a:lnTo>
                    <a:pt x="13" y="86"/>
                  </a:lnTo>
                  <a:lnTo>
                    <a:pt x="16" y="88"/>
                  </a:lnTo>
                  <a:lnTo>
                    <a:pt x="18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54" name="Freeform 322"/>
            <p:cNvSpPr>
              <a:spLocks/>
            </p:cNvSpPr>
            <p:nvPr/>
          </p:nvSpPr>
          <p:spPr bwMode="auto">
            <a:xfrm>
              <a:off x="4070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6 h 89"/>
                <a:gd name="T6" fmla="*/ 5 w 37"/>
                <a:gd name="T7" fmla="*/ 85 h 89"/>
                <a:gd name="T8" fmla="*/ 6 w 37"/>
                <a:gd name="T9" fmla="*/ 83 h 89"/>
                <a:gd name="T10" fmla="*/ 7 w 37"/>
                <a:gd name="T11" fmla="*/ 82 h 89"/>
                <a:gd name="T12" fmla="*/ 9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3 w 37"/>
                <a:gd name="T21" fmla="*/ 64 h 89"/>
                <a:gd name="T22" fmla="*/ 16 w 37"/>
                <a:gd name="T23" fmla="*/ 54 h 89"/>
                <a:gd name="T24" fmla="*/ 18 w 37"/>
                <a:gd name="T25" fmla="*/ 45 h 89"/>
                <a:gd name="T26" fmla="*/ 18 w 37"/>
                <a:gd name="T27" fmla="*/ 0 h 89"/>
                <a:gd name="T28" fmla="*/ 18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3 w 37"/>
                <a:gd name="T35" fmla="*/ 69 h 89"/>
                <a:gd name="T36" fmla="*/ 24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8 w 37"/>
                <a:gd name="T43" fmla="*/ 82 h 89"/>
                <a:gd name="T44" fmla="*/ 29 w 37"/>
                <a:gd name="T45" fmla="*/ 83 h 89"/>
                <a:gd name="T46" fmla="*/ 31 w 37"/>
                <a:gd name="T47" fmla="*/ 85 h 89"/>
                <a:gd name="T48" fmla="*/ 32 w 37"/>
                <a:gd name="T49" fmla="*/ 86 h 89"/>
                <a:gd name="T50" fmla="*/ 34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7" y="82"/>
                  </a:lnTo>
                  <a:lnTo>
                    <a:pt x="9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29" y="83"/>
                  </a:lnTo>
                  <a:lnTo>
                    <a:pt x="31" y="85"/>
                  </a:lnTo>
                  <a:lnTo>
                    <a:pt x="32" y="86"/>
                  </a:lnTo>
                  <a:lnTo>
                    <a:pt x="34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55" name="Line 323"/>
            <p:cNvSpPr>
              <a:spLocks noChangeShapeType="1"/>
            </p:cNvSpPr>
            <p:nvPr/>
          </p:nvSpPr>
          <p:spPr bwMode="auto">
            <a:xfrm flipV="1">
              <a:off x="3868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56" name="Line 324"/>
            <p:cNvSpPr>
              <a:spLocks noChangeShapeType="1"/>
            </p:cNvSpPr>
            <p:nvPr/>
          </p:nvSpPr>
          <p:spPr bwMode="auto">
            <a:xfrm flipV="1">
              <a:off x="3978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57" name="Line 325"/>
            <p:cNvSpPr>
              <a:spLocks noChangeShapeType="1"/>
            </p:cNvSpPr>
            <p:nvPr/>
          </p:nvSpPr>
          <p:spPr bwMode="auto">
            <a:xfrm flipV="1">
              <a:off x="4088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58" name="Line 326"/>
            <p:cNvSpPr>
              <a:spLocks noChangeShapeType="1"/>
            </p:cNvSpPr>
            <p:nvPr/>
          </p:nvSpPr>
          <p:spPr bwMode="auto">
            <a:xfrm flipV="1">
              <a:off x="4199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59" name="Line 327"/>
            <p:cNvSpPr>
              <a:spLocks noChangeShapeType="1"/>
            </p:cNvSpPr>
            <p:nvPr/>
          </p:nvSpPr>
          <p:spPr bwMode="auto">
            <a:xfrm>
              <a:off x="3923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60" name="Line 328"/>
            <p:cNvSpPr>
              <a:spLocks noChangeShapeType="1"/>
            </p:cNvSpPr>
            <p:nvPr/>
          </p:nvSpPr>
          <p:spPr bwMode="auto">
            <a:xfrm>
              <a:off x="4033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61" name="Line 329"/>
            <p:cNvSpPr>
              <a:spLocks noChangeShapeType="1"/>
            </p:cNvSpPr>
            <p:nvPr/>
          </p:nvSpPr>
          <p:spPr bwMode="auto">
            <a:xfrm>
              <a:off x="4143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62" name="Freeform 330"/>
            <p:cNvSpPr>
              <a:spLocks/>
            </p:cNvSpPr>
            <p:nvPr/>
          </p:nvSpPr>
          <p:spPr bwMode="auto">
            <a:xfrm>
              <a:off x="3960" y="2640"/>
              <a:ext cx="36" cy="44"/>
            </a:xfrm>
            <a:custGeom>
              <a:avLst/>
              <a:gdLst>
                <a:gd name="T0" fmla="*/ 0 w 36"/>
                <a:gd name="T1" fmla="*/ 89 h 89"/>
                <a:gd name="T2" fmla="*/ 1 w 36"/>
                <a:gd name="T3" fmla="*/ 88 h 89"/>
                <a:gd name="T4" fmla="*/ 3 w 36"/>
                <a:gd name="T5" fmla="*/ 86 h 89"/>
                <a:gd name="T6" fmla="*/ 4 w 36"/>
                <a:gd name="T7" fmla="*/ 85 h 89"/>
                <a:gd name="T8" fmla="*/ 6 w 36"/>
                <a:gd name="T9" fmla="*/ 83 h 89"/>
                <a:gd name="T10" fmla="*/ 7 w 36"/>
                <a:gd name="T11" fmla="*/ 82 h 89"/>
                <a:gd name="T12" fmla="*/ 8 w 36"/>
                <a:gd name="T13" fmla="*/ 80 h 89"/>
                <a:gd name="T14" fmla="*/ 9 w 36"/>
                <a:gd name="T15" fmla="*/ 76 h 89"/>
                <a:gd name="T16" fmla="*/ 11 w 36"/>
                <a:gd name="T17" fmla="*/ 73 h 89"/>
                <a:gd name="T18" fmla="*/ 12 w 36"/>
                <a:gd name="T19" fmla="*/ 69 h 89"/>
                <a:gd name="T20" fmla="*/ 13 w 36"/>
                <a:gd name="T21" fmla="*/ 64 h 89"/>
                <a:gd name="T22" fmla="*/ 16 w 36"/>
                <a:gd name="T23" fmla="*/ 54 h 89"/>
                <a:gd name="T24" fmla="*/ 18 w 36"/>
                <a:gd name="T25" fmla="*/ 45 h 89"/>
                <a:gd name="T26" fmla="*/ 18 w 36"/>
                <a:gd name="T27" fmla="*/ 0 h 89"/>
                <a:gd name="T28" fmla="*/ 18 w 36"/>
                <a:gd name="T29" fmla="*/ 45 h 89"/>
                <a:gd name="T30" fmla="*/ 19 w 36"/>
                <a:gd name="T31" fmla="*/ 54 h 89"/>
                <a:gd name="T32" fmla="*/ 22 w 36"/>
                <a:gd name="T33" fmla="*/ 64 h 89"/>
                <a:gd name="T34" fmla="*/ 23 w 36"/>
                <a:gd name="T35" fmla="*/ 69 h 89"/>
                <a:gd name="T36" fmla="*/ 24 w 36"/>
                <a:gd name="T37" fmla="*/ 73 h 89"/>
                <a:gd name="T38" fmla="*/ 25 w 36"/>
                <a:gd name="T39" fmla="*/ 76 h 89"/>
                <a:gd name="T40" fmla="*/ 27 w 36"/>
                <a:gd name="T41" fmla="*/ 80 h 89"/>
                <a:gd name="T42" fmla="*/ 28 w 36"/>
                <a:gd name="T43" fmla="*/ 82 h 89"/>
                <a:gd name="T44" fmla="*/ 29 w 36"/>
                <a:gd name="T45" fmla="*/ 83 h 89"/>
                <a:gd name="T46" fmla="*/ 30 w 36"/>
                <a:gd name="T47" fmla="*/ 85 h 89"/>
                <a:gd name="T48" fmla="*/ 31 w 36"/>
                <a:gd name="T49" fmla="*/ 86 h 89"/>
                <a:gd name="T50" fmla="*/ 34 w 36"/>
                <a:gd name="T51" fmla="*/ 88 h 89"/>
                <a:gd name="T52" fmla="*/ 36 w 36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6" h="89">
                  <a:moveTo>
                    <a:pt x="0" y="89"/>
                  </a:moveTo>
                  <a:lnTo>
                    <a:pt x="1" y="88"/>
                  </a:lnTo>
                  <a:lnTo>
                    <a:pt x="3" y="86"/>
                  </a:lnTo>
                  <a:lnTo>
                    <a:pt x="4" y="85"/>
                  </a:lnTo>
                  <a:lnTo>
                    <a:pt x="6" y="83"/>
                  </a:lnTo>
                  <a:lnTo>
                    <a:pt x="7" y="82"/>
                  </a:lnTo>
                  <a:lnTo>
                    <a:pt x="8" y="80"/>
                  </a:lnTo>
                  <a:lnTo>
                    <a:pt x="9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19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5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29" y="83"/>
                  </a:lnTo>
                  <a:lnTo>
                    <a:pt x="30" y="85"/>
                  </a:lnTo>
                  <a:lnTo>
                    <a:pt x="31" y="86"/>
                  </a:lnTo>
                  <a:lnTo>
                    <a:pt x="34" y="88"/>
                  </a:lnTo>
                  <a:lnTo>
                    <a:pt x="36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63" name="Freeform 331"/>
            <p:cNvSpPr>
              <a:spLocks/>
            </p:cNvSpPr>
            <p:nvPr/>
          </p:nvSpPr>
          <p:spPr bwMode="auto">
            <a:xfrm>
              <a:off x="3849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6 h 89"/>
                <a:gd name="T6" fmla="*/ 5 w 37"/>
                <a:gd name="T7" fmla="*/ 85 h 89"/>
                <a:gd name="T8" fmla="*/ 6 w 37"/>
                <a:gd name="T9" fmla="*/ 83 h 89"/>
                <a:gd name="T10" fmla="*/ 8 w 37"/>
                <a:gd name="T11" fmla="*/ 82 h 89"/>
                <a:gd name="T12" fmla="*/ 9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3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9 w 37"/>
                <a:gd name="T25" fmla="*/ 45 h 89"/>
                <a:gd name="T26" fmla="*/ 19 w 37"/>
                <a:gd name="T27" fmla="*/ 0 h 89"/>
                <a:gd name="T28" fmla="*/ 19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4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8 w 37"/>
                <a:gd name="T43" fmla="*/ 82 h 89"/>
                <a:gd name="T44" fmla="*/ 30 w 37"/>
                <a:gd name="T45" fmla="*/ 83 h 89"/>
                <a:gd name="T46" fmla="*/ 31 w 37"/>
                <a:gd name="T47" fmla="*/ 85 h 89"/>
                <a:gd name="T48" fmla="*/ 32 w 37"/>
                <a:gd name="T49" fmla="*/ 86 h 89"/>
                <a:gd name="T50" fmla="*/ 35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8" y="82"/>
                  </a:lnTo>
                  <a:lnTo>
                    <a:pt x="9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3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9" y="45"/>
                  </a:lnTo>
                  <a:lnTo>
                    <a:pt x="19" y="0"/>
                  </a:lnTo>
                  <a:lnTo>
                    <a:pt x="19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4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30" y="83"/>
                  </a:lnTo>
                  <a:lnTo>
                    <a:pt x="31" y="85"/>
                  </a:lnTo>
                  <a:lnTo>
                    <a:pt x="32" y="86"/>
                  </a:lnTo>
                  <a:lnTo>
                    <a:pt x="35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64" name="Freeform 332"/>
            <p:cNvSpPr>
              <a:spLocks/>
            </p:cNvSpPr>
            <p:nvPr/>
          </p:nvSpPr>
          <p:spPr bwMode="auto">
            <a:xfrm>
              <a:off x="4180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6 h 89"/>
                <a:gd name="T6" fmla="*/ 5 w 37"/>
                <a:gd name="T7" fmla="*/ 85 h 89"/>
                <a:gd name="T8" fmla="*/ 6 w 37"/>
                <a:gd name="T9" fmla="*/ 83 h 89"/>
                <a:gd name="T10" fmla="*/ 8 w 37"/>
                <a:gd name="T11" fmla="*/ 82 h 89"/>
                <a:gd name="T12" fmla="*/ 9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3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9 w 37"/>
                <a:gd name="T25" fmla="*/ 45 h 89"/>
                <a:gd name="T26" fmla="*/ 19 w 37"/>
                <a:gd name="T27" fmla="*/ 0 h 89"/>
                <a:gd name="T28" fmla="*/ 19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4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8 w 37"/>
                <a:gd name="T43" fmla="*/ 82 h 89"/>
                <a:gd name="T44" fmla="*/ 30 w 37"/>
                <a:gd name="T45" fmla="*/ 83 h 89"/>
                <a:gd name="T46" fmla="*/ 31 w 37"/>
                <a:gd name="T47" fmla="*/ 85 h 89"/>
                <a:gd name="T48" fmla="*/ 32 w 37"/>
                <a:gd name="T49" fmla="*/ 86 h 89"/>
                <a:gd name="T50" fmla="*/ 35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8" y="82"/>
                  </a:lnTo>
                  <a:lnTo>
                    <a:pt x="9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3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9" y="45"/>
                  </a:lnTo>
                  <a:lnTo>
                    <a:pt x="19" y="0"/>
                  </a:lnTo>
                  <a:lnTo>
                    <a:pt x="19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4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30" y="83"/>
                  </a:lnTo>
                  <a:lnTo>
                    <a:pt x="31" y="85"/>
                  </a:lnTo>
                  <a:lnTo>
                    <a:pt x="32" y="86"/>
                  </a:lnTo>
                  <a:lnTo>
                    <a:pt x="35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65" name="Line 333"/>
            <p:cNvSpPr>
              <a:spLocks noChangeShapeType="1"/>
            </p:cNvSpPr>
            <p:nvPr/>
          </p:nvSpPr>
          <p:spPr bwMode="auto">
            <a:xfrm>
              <a:off x="3812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66" name="Freeform 334"/>
            <p:cNvSpPr>
              <a:spLocks/>
            </p:cNvSpPr>
            <p:nvPr/>
          </p:nvSpPr>
          <p:spPr bwMode="auto">
            <a:xfrm>
              <a:off x="3904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2 w 37"/>
                <a:gd name="T3" fmla="*/ 88 h 89"/>
                <a:gd name="T4" fmla="*/ 4 w 37"/>
                <a:gd name="T5" fmla="*/ 86 h 89"/>
                <a:gd name="T6" fmla="*/ 5 w 37"/>
                <a:gd name="T7" fmla="*/ 85 h 89"/>
                <a:gd name="T8" fmla="*/ 7 w 37"/>
                <a:gd name="T9" fmla="*/ 83 h 89"/>
                <a:gd name="T10" fmla="*/ 8 w 37"/>
                <a:gd name="T11" fmla="*/ 82 h 89"/>
                <a:gd name="T12" fmla="*/ 9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3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9 w 37"/>
                <a:gd name="T25" fmla="*/ 45 h 89"/>
                <a:gd name="T26" fmla="*/ 19 w 37"/>
                <a:gd name="T27" fmla="*/ 0 h 89"/>
                <a:gd name="T28" fmla="*/ 19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4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9 w 37"/>
                <a:gd name="T43" fmla="*/ 82 h 89"/>
                <a:gd name="T44" fmla="*/ 30 w 37"/>
                <a:gd name="T45" fmla="*/ 83 h 89"/>
                <a:gd name="T46" fmla="*/ 31 w 37"/>
                <a:gd name="T47" fmla="*/ 85 h 89"/>
                <a:gd name="T48" fmla="*/ 32 w 37"/>
                <a:gd name="T49" fmla="*/ 86 h 89"/>
                <a:gd name="T50" fmla="*/ 35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2" y="88"/>
                  </a:lnTo>
                  <a:lnTo>
                    <a:pt x="4" y="86"/>
                  </a:lnTo>
                  <a:lnTo>
                    <a:pt x="5" y="85"/>
                  </a:lnTo>
                  <a:lnTo>
                    <a:pt x="7" y="83"/>
                  </a:lnTo>
                  <a:lnTo>
                    <a:pt x="8" y="82"/>
                  </a:lnTo>
                  <a:lnTo>
                    <a:pt x="9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3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9" y="45"/>
                  </a:lnTo>
                  <a:lnTo>
                    <a:pt x="19" y="0"/>
                  </a:lnTo>
                  <a:lnTo>
                    <a:pt x="19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4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9" y="82"/>
                  </a:lnTo>
                  <a:lnTo>
                    <a:pt x="30" y="83"/>
                  </a:lnTo>
                  <a:lnTo>
                    <a:pt x="31" y="85"/>
                  </a:lnTo>
                  <a:lnTo>
                    <a:pt x="32" y="86"/>
                  </a:lnTo>
                  <a:lnTo>
                    <a:pt x="35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67" name="Freeform 335"/>
            <p:cNvSpPr>
              <a:spLocks/>
            </p:cNvSpPr>
            <p:nvPr/>
          </p:nvSpPr>
          <p:spPr bwMode="auto">
            <a:xfrm>
              <a:off x="4015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3 w 37"/>
                <a:gd name="T5" fmla="*/ 86 h 89"/>
                <a:gd name="T6" fmla="*/ 5 w 37"/>
                <a:gd name="T7" fmla="*/ 85 h 89"/>
                <a:gd name="T8" fmla="*/ 6 w 37"/>
                <a:gd name="T9" fmla="*/ 83 h 89"/>
                <a:gd name="T10" fmla="*/ 7 w 37"/>
                <a:gd name="T11" fmla="*/ 82 h 89"/>
                <a:gd name="T12" fmla="*/ 8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3 w 37"/>
                <a:gd name="T21" fmla="*/ 64 h 89"/>
                <a:gd name="T22" fmla="*/ 16 w 37"/>
                <a:gd name="T23" fmla="*/ 54 h 89"/>
                <a:gd name="T24" fmla="*/ 18 w 37"/>
                <a:gd name="T25" fmla="*/ 45 h 89"/>
                <a:gd name="T26" fmla="*/ 18 w 37"/>
                <a:gd name="T27" fmla="*/ 0 h 89"/>
                <a:gd name="T28" fmla="*/ 18 w 37"/>
                <a:gd name="T29" fmla="*/ 45 h 89"/>
                <a:gd name="T30" fmla="*/ 19 w 37"/>
                <a:gd name="T31" fmla="*/ 54 h 89"/>
                <a:gd name="T32" fmla="*/ 22 w 37"/>
                <a:gd name="T33" fmla="*/ 64 h 89"/>
                <a:gd name="T34" fmla="*/ 23 w 37"/>
                <a:gd name="T35" fmla="*/ 69 h 89"/>
                <a:gd name="T36" fmla="*/ 24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8 w 37"/>
                <a:gd name="T43" fmla="*/ 82 h 89"/>
                <a:gd name="T44" fmla="*/ 29 w 37"/>
                <a:gd name="T45" fmla="*/ 83 h 89"/>
                <a:gd name="T46" fmla="*/ 30 w 37"/>
                <a:gd name="T47" fmla="*/ 85 h 89"/>
                <a:gd name="T48" fmla="*/ 32 w 37"/>
                <a:gd name="T49" fmla="*/ 86 h 89"/>
                <a:gd name="T50" fmla="*/ 34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3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7" y="82"/>
                  </a:lnTo>
                  <a:lnTo>
                    <a:pt x="8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19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29" y="83"/>
                  </a:lnTo>
                  <a:lnTo>
                    <a:pt x="30" y="85"/>
                  </a:lnTo>
                  <a:lnTo>
                    <a:pt x="32" y="86"/>
                  </a:lnTo>
                  <a:lnTo>
                    <a:pt x="34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68" name="Freeform 336"/>
            <p:cNvSpPr>
              <a:spLocks/>
            </p:cNvSpPr>
            <p:nvPr/>
          </p:nvSpPr>
          <p:spPr bwMode="auto">
            <a:xfrm>
              <a:off x="4125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6 h 89"/>
                <a:gd name="T6" fmla="*/ 5 w 37"/>
                <a:gd name="T7" fmla="*/ 85 h 89"/>
                <a:gd name="T8" fmla="*/ 6 w 37"/>
                <a:gd name="T9" fmla="*/ 83 h 89"/>
                <a:gd name="T10" fmla="*/ 7 w 37"/>
                <a:gd name="T11" fmla="*/ 82 h 89"/>
                <a:gd name="T12" fmla="*/ 9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8 w 37"/>
                <a:gd name="T25" fmla="*/ 45 h 89"/>
                <a:gd name="T26" fmla="*/ 18 w 37"/>
                <a:gd name="T27" fmla="*/ 0 h 89"/>
                <a:gd name="T28" fmla="*/ 18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3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8 w 37"/>
                <a:gd name="T43" fmla="*/ 82 h 89"/>
                <a:gd name="T44" fmla="*/ 30 w 37"/>
                <a:gd name="T45" fmla="*/ 83 h 89"/>
                <a:gd name="T46" fmla="*/ 31 w 37"/>
                <a:gd name="T47" fmla="*/ 85 h 89"/>
                <a:gd name="T48" fmla="*/ 32 w 37"/>
                <a:gd name="T49" fmla="*/ 86 h 89"/>
                <a:gd name="T50" fmla="*/ 34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7" y="82"/>
                  </a:lnTo>
                  <a:lnTo>
                    <a:pt x="9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30" y="83"/>
                  </a:lnTo>
                  <a:lnTo>
                    <a:pt x="31" y="85"/>
                  </a:lnTo>
                  <a:lnTo>
                    <a:pt x="32" y="86"/>
                  </a:lnTo>
                  <a:lnTo>
                    <a:pt x="34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69" name="Freeform 337"/>
            <p:cNvSpPr>
              <a:spLocks/>
            </p:cNvSpPr>
            <p:nvPr/>
          </p:nvSpPr>
          <p:spPr bwMode="auto">
            <a:xfrm>
              <a:off x="4235" y="2640"/>
              <a:ext cx="19" cy="44"/>
            </a:xfrm>
            <a:custGeom>
              <a:avLst/>
              <a:gdLst>
                <a:gd name="T0" fmla="*/ 19 w 19"/>
                <a:gd name="T1" fmla="*/ 0 h 89"/>
                <a:gd name="T2" fmla="*/ 19 w 19"/>
                <a:gd name="T3" fmla="*/ 45 h 89"/>
                <a:gd name="T4" fmla="*/ 16 w 19"/>
                <a:gd name="T5" fmla="*/ 55 h 89"/>
                <a:gd name="T6" fmla="*/ 14 w 19"/>
                <a:gd name="T7" fmla="*/ 64 h 89"/>
                <a:gd name="T8" fmla="*/ 13 w 19"/>
                <a:gd name="T9" fmla="*/ 69 h 89"/>
                <a:gd name="T10" fmla="*/ 11 w 19"/>
                <a:gd name="T11" fmla="*/ 73 h 89"/>
                <a:gd name="T12" fmla="*/ 10 w 19"/>
                <a:gd name="T13" fmla="*/ 78 h 89"/>
                <a:gd name="T14" fmla="*/ 9 w 19"/>
                <a:gd name="T15" fmla="*/ 80 h 89"/>
                <a:gd name="T16" fmla="*/ 8 w 19"/>
                <a:gd name="T17" fmla="*/ 82 h 89"/>
                <a:gd name="T18" fmla="*/ 7 w 19"/>
                <a:gd name="T19" fmla="*/ 85 h 89"/>
                <a:gd name="T20" fmla="*/ 5 w 19"/>
                <a:gd name="T21" fmla="*/ 86 h 89"/>
                <a:gd name="T22" fmla="*/ 4 w 19"/>
                <a:gd name="T23" fmla="*/ 86 h 89"/>
                <a:gd name="T24" fmla="*/ 2 w 19"/>
                <a:gd name="T25" fmla="*/ 88 h 89"/>
                <a:gd name="T26" fmla="*/ 0 w 19"/>
                <a:gd name="T2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" h="89">
                  <a:moveTo>
                    <a:pt x="19" y="0"/>
                  </a:moveTo>
                  <a:lnTo>
                    <a:pt x="19" y="45"/>
                  </a:lnTo>
                  <a:lnTo>
                    <a:pt x="16" y="55"/>
                  </a:lnTo>
                  <a:lnTo>
                    <a:pt x="14" y="64"/>
                  </a:lnTo>
                  <a:lnTo>
                    <a:pt x="13" y="69"/>
                  </a:lnTo>
                  <a:lnTo>
                    <a:pt x="11" y="73"/>
                  </a:lnTo>
                  <a:lnTo>
                    <a:pt x="10" y="78"/>
                  </a:lnTo>
                  <a:lnTo>
                    <a:pt x="9" y="80"/>
                  </a:lnTo>
                  <a:lnTo>
                    <a:pt x="8" y="82"/>
                  </a:lnTo>
                  <a:lnTo>
                    <a:pt x="7" y="85"/>
                  </a:lnTo>
                  <a:lnTo>
                    <a:pt x="5" y="86"/>
                  </a:lnTo>
                  <a:lnTo>
                    <a:pt x="4" y="86"/>
                  </a:lnTo>
                  <a:lnTo>
                    <a:pt x="2" y="88"/>
                  </a:lnTo>
                  <a:lnTo>
                    <a:pt x="0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70" name="Freeform 338"/>
            <p:cNvSpPr>
              <a:spLocks/>
            </p:cNvSpPr>
            <p:nvPr/>
          </p:nvSpPr>
          <p:spPr bwMode="auto">
            <a:xfrm>
              <a:off x="3812" y="2640"/>
              <a:ext cx="19" cy="44"/>
            </a:xfrm>
            <a:custGeom>
              <a:avLst/>
              <a:gdLst>
                <a:gd name="T0" fmla="*/ 0 w 19"/>
                <a:gd name="T1" fmla="*/ 0 h 89"/>
                <a:gd name="T2" fmla="*/ 0 w 19"/>
                <a:gd name="T3" fmla="*/ 45 h 89"/>
                <a:gd name="T4" fmla="*/ 2 w 19"/>
                <a:gd name="T5" fmla="*/ 55 h 89"/>
                <a:gd name="T6" fmla="*/ 4 w 19"/>
                <a:gd name="T7" fmla="*/ 64 h 89"/>
                <a:gd name="T8" fmla="*/ 5 w 19"/>
                <a:gd name="T9" fmla="*/ 69 h 89"/>
                <a:gd name="T10" fmla="*/ 7 w 19"/>
                <a:gd name="T11" fmla="*/ 73 h 89"/>
                <a:gd name="T12" fmla="*/ 8 w 19"/>
                <a:gd name="T13" fmla="*/ 78 h 89"/>
                <a:gd name="T14" fmla="*/ 9 w 19"/>
                <a:gd name="T15" fmla="*/ 80 h 89"/>
                <a:gd name="T16" fmla="*/ 10 w 19"/>
                <a:gd name="T17" fmla="*/ 82 h 89"/>
                <a:gd name="T18" fmla="*/ 12 w 19"/>
                <a:gd name="T19" fmla="*/ 85 h 89"/>
                <a:gd name="T20" fmla="*/ 13 w 19"/>
                <a:gd name="T21" fmla="*/ 86 h 89"/>
                <a:gd name="T22" fmla="*/ 14 w 19"/>
                <a:gd name="T23" fmla="*/ 86 h 89"/>
                <a:gd name="T24" fmla="*/ 16 w 19"/>
                <a:gd name="T25" fmla="*/ 88 h 89"/>
                <a:gd name="T26" fmla="*/ 19 w 19"/>
                <a:gd name="T2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" h="89">
                  <a:moveTo>
                    <a:pt x="0" y="0"/>
                  </a:moveTo>
                  <a:lnTo>
                    <a:pt x="0" y="45"/>
                  </a:lnTo>
                  <a:lnTo>
                    <a:pt x="2" y="55"/>
                  </a:lnTo>
                  <a:lnTo>
                    <a:pt x="4" y="64"/>
                  </a:lnTo>
                  <a:lnTo>
                    <a:pt x="5" y="69"/>
                  </a:lnTo>
                  <a:lnTo>
                    <a:pt x="7" y="73"/>
                  </a:lnTo>
                  <a:lnTo>
                    <a:pt x="8" y="78"/>
                  </a:lnTo>
                  <a:lnTo>
                    <a:pt x="9" y="80"/>
                  </a:lnTo>
                  <a:lnTo>
                    <a:pt x="10" y="82"/>
                  </a:lnTo>
                  <a:lnTo>
                    <a:pt x="12" y="85"/>
                  </a:lnTo>
                  <a:lnTo>
                    <a:pt x="13" y="86"/>
                  </a:lnTo>
                  <a:lnTo>
                    <a:pt x="14" y="86"/>
                  </a:lnTo>
                  <a:lnTo>
                    <a:pt x="16" y="88"/>
                  </a:lnTo>
                  <a:lnTo>
                    <a:pt x="19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71" name="Freeform 339"/>
            <p:cNvSpPr>
              <a:spLocks/>
            </p:cNvSpPr>
            <p:nvPr/>
          </p:nvSpPr>
          <p:spPr bwMode="auto">
            <a:xfrm>
              <a:off x="4953" y="2640"/>
              <a:ext cx="36" cy="44"/>
            </a:xfrm>
            <a:custGeom>
              <a:avLst/>
              <a:gdLst>
                <a:gd name="T0" fmla="*/ 0 w 36"/>
                <a:gd name="T1" fmla="*/ 89 h 89"/>
                <a:gd name="T2" fmla="*/ 1 w 36"/>
                <a:gd name="T3" fmla="*/ 88 h 89"/>
                <a:gd name="T4" fmla="*/ 3 w 36"/>
                <a:gd name="T5" fmla="*/ 86 h 89"/>
                <a:gd name="T6" fmla="*/ 5 w 36"/>
                <a:gd name="T7" fmla="*/ 85 h 89"/>
                <a:gd name="T8" fmla="*/ 6 w 36"/>
                <a:gd name="T9" fmla="*/ 83 h 89"/>
                <a:gd name="T10" fmla="*/ 7 w 36"/>
                <a:gd name="T11" fmla="*/ 82 h 89"/>
                <a:gd name="T12" fmla="*/ 8 w 36"/>
                <a:gd name="T13" fmla="*/ 80 h 89"/>
                <a:gd name="T14" fmla="*/ 9 w 36"/>
                <a:gd name="T15" fmla="*/ 76 h 89"/>
                <a:gd name="T16" fmla="*/ 11 w 36"/>
                <a:gd name="T17" fmla="*/ 73 h 89"/>
                <a:gd name="T18" fmla="*/ 12 w 36"/>
                <a:gd name="T19" fmla="*/ 69 h 89"/>
                <a:gd name="T20" fmla="*/ 13 w 36"/>
                <a:gd name="T21" fmla="*/ 64 h 89"/>
                <a:gd name="T22" fmla="*/ 16 w 36"/>
                <a:gd name="T23" fmla="*/ 54 h 89"/>
                <a:gd name="T24" fmla="*/ 18 w 36"/>
                <a:gd name="T25" fmla="*/ 45 h 89"/>
                <a:gd name="T26" fmla="*/ 18 w 36"/>
                <a:gd name="T27" fmla="*/ 0 h 89"/>
                <a:gd name="T28" fmla="*/ 18 w 36"/>
                <a:gd name="T29" fmla="*/ 45 h 89"/>
                <a:gd name="T30" fmla="*/ 19 w 36"/>
                <a:gd name="T31" fmla="*/ 54 h 89"/>
                <a:gd name="T32" fmla="*/ 22 w 36"/>
                <a:gd name="T33" fmla="*/ 64 h 89"/>
                <a:gd name="T34" fmla="*/ 23 w 36"/>
                <a:gd name="T35" fmla="*/ 69 h 89"/>
                <a:gd name="T36" fmla="*/ 24 w 36"/>
                <a:gd name="T37" fmla="*/ 73 h 89"/>
                <a:gd name="T38" fmla="*/ 25 w 36"/>
                <a:gd name="T39" fmla="*/ 76 h 89"/>
                <a:gd name="T40" fmla="*/ 27 w 36"/>
                <a:gd name="T41" fmla="*/ 80 h 89"/>
                <a:gd name="T42" fmla="*/ 28 w 36"/>
                <a:gd name="T43" fmla="*/ 82 h 89"/>
                <a:gd name="T44" fmla="*/ 29 w 36"/>
                <a:gd name="T45" fmla="*/ 83 h 89"/>
                <a:gd name="T46" fmla="*/ 30 w 36"/>
                <a:gd name="T47" fmla="*/ 85 h 89"/>
                <a:gd name="T48" fmla="*/ 32 w 36"/>
                <a:gd name="T49" fmla="*/ 86 h 89"/>
                <a:gd name="T50" fmla="*/ 34 w 36"/>
                <a:gd name="T51" fmla="*/ 88 h 89"/>
                <a:gd name="T52" fmla="*/ 36 w 36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6" h="89">
                  <a:moveTo>
                    <a:pt x="0" y="89"/>
                  </a:moveTo>
                  <a:lnTo>
                    <a:pt x="1" y="88"/>
                  </a:lnTo>
                  <a:lnTo>
                    <a:pt x="3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7" y="82"/>
                  </a:lnTo>
                  <a:lnTo>
                    <a:pt x="8" y="80"/>
                  </a:lnTo>
                  <a:lnTo>
                    <a:pt x="9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19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5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29" y="83"/>
                  </a:lnTo>
                  <a:lnTo>
                    <a:pt x="30" y="85"/>
                  </a:lnTo>
                  <a:lnTo>
                    <a:pt x="32" y="86"/>
                  </a:lnTo>
                  <a:lnTo>
                    <a:pt x="34" y="88"/>
                  </a:lnTo>
                  <a:lnTo>
                    <a:pt x="36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72" name="Line 340"/>
            <p:cNvSpPr>
              <a:spLocks noChangeShapeType="1"/>
            </p:cNvSpPr>
            <p:nvPr/>
          </p:nvSpPr>
          <p:spPr bwMode="auto">
            <a:xfrm flipV="1">
              <a:off x="4750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73" name="Line 341"/>
            <p:cNvSpPr>
              <a:spLocks noChangeShapeType="1"/>
            </p:cNvSpPr>
            <p:nvPr/>
          </p:nvSpPr>
          <p:spPr bwMode="auto">
            <a:xfrm flipV="1">
              <a:off x="4861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74" name="Line 342"/>
            <p:cNvSpPr>
              <a:spLocks noChangeShapeType="1"/>
            </p:cNvSpPr>
            <p:nvPr/>
          </p:nvSpPr>
          <p:spPr bwMode="auto">
            <a:xfrm flipV="1">
              <a:off x="4971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75" name="Line 343"/>
            <p:cNvSpPr>
              <a:spLocks noChangeShapeType="1"/>
            </p:cNvSpPr>
            <p:nvPr/>
          </p:nvSpPr>
          <p:spPr bwMode="auto">
            <a:xfrm flipV="1">
              <a:off x="5081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76" name="Line 344"/>
            <p:cNvSpPr>
              <a:spLocks noChangeShapeType="1"/>
            </p:cNvSpPr>
            <p:nvPr/>
          </p:nvSpPr>
          <p:spPr bwMode="auto">
            <a:xfrm>
              <a:off x="4806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77" name="Line 345"/>
            <p:cNvSpPr>
              <a:spLocks noChangeShapeType="1"/>
            </p:cNvSpPr>
            <p:nvPr/>
          </p:nvSpPr>
          <p:spPr bwMode="auto">
            <a:xfrm>
              <a:off x="4916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78" name="Line 346"/>
            <p:cNvSpPr>
              <a:spLocks noChangeShapeType="1"/>
            </p:cNvSpPr>
            <p:nvPr/>
          </p:nvSpPr>
          <p:spPr bwMode="auto">
            <a:xfrm>
              <a:off x="5026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79" name="Freeform 347"/>
            <p:cNvSpPr>
              <a:spLocks/>
            </p:cNvSpPr>
            <p:nvPr/>
          </p:nvSpPr>
          <p:spPr bwMode="auto">
            <a:xfrm>
              <a:off x="4842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2 w 37"/>
                <a:gd name="T3" fmla="*/ 88 h 89"/>
                <a:gd name="T4" fmla="*/ 4 w 37"/>
                <a:gd name="T5" fmla="*/ 86 h 89"/>
                <a:gd name="T6" fmla="*/ 5 w 37"/>
                <a:gd name="T7" fmla="*/ 85 h 89"/>
                <a:gd name="T8" fmla="*/ 6 w 37"/>
                <a:gd name="T9" fmla="*/ 83 h 89"/>
                <a:gd name="T10" fmla="*/ 8 w 37"/>
                <a:gd name="T11" fmla="*/ 82 h 89"/>
                <a:gd name="T12" fmla="*/ 9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3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9 w 37"/>
                <a:gd name="T25" fmla="*/ 45 h 89"/>
                <a:gd name="T26" fmla="*/ 19 w 37"/>
                <a:gd name="T27" fmla="*/ 0 h 89"/>
                <a:gd name="T28" fmla="*/ 19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4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8 w 37"/>
                <a:gd name="T43" fmla="*/ 82 h 89"/>
                <a:gd name="T44" fmla="*/ 30 w 37"/>
                <a:gd name="T45" fmla="*/ 83 h 89"/>
                <a:gd name="T46" fmla="*/ 31 w 37"/>
                <a:gd name="T47" fmla="*/ 85 h 89"/>
                <a:gd name="T48" fmla="*/ 32 w 37"/>
                <a:gd name="T49" fmla="*/ 86 h 89"/>
                <a:gd name="T50" fmla="*/ 35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2" y="88"/>
                  </a:lnTo>
                  <a:lnTo>
                    <a:pt x="4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8" y="82"/>
                  </a:lnTo>
                  <a:lnTo>
                    <a:pt x="9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3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9" y="45"/>
                  </a:lnTo>
                  <a:lnTo>
                    <a:pt x="19" y="0"/>
                  </a:lnTo>
                  <a:lnTo>
                    <a:pt x="19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4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30" y="83"/>
                  </a:lnTo>
                  <a:lnTo>
                    <a:pt x="31" y="85"/>
                  </a:lnTo>
                  <a:lnTo>
                    <a:pt x="32" y="86"/>
                  </a:lnTo>
                  <a:lnTo>
                    <a:pt x="35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80" name="Freeform 348"/>
            <p:cNvSpPr>
              <a:spLocks/>
            </p:cNvSpPr>
            <p:nvPr/>
          </p:nvSpPr>
          <p:spPr bwMode="auto">
            <a:xfrm>
              <a:off x="4732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6 h 89"/>
                <a:gd name="T6" fmla="*/ 5 w 37"/>
                <a:gd name="T7" fmla="*/ 85 h 89"/>
                <a:gd name="T8" fmla="*/ 6 w 37"/>
                <a:gd name="T9" fmla="*/ 83 h 89"/>
                <a:gd name="T10" fmla="*/ 7 w 37"/>
                <a:gd name="T11" fmla="*/ 82 h 89"/>
                <a:gd name="T12" fmla="*/ 9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3 w 37"/>
                <a:gd name="T21" fmla="*/ 64 h 89"/>
                <a:gd name="T22" fmla="*/ 16 w 37"/>
                <a:gd name="T23" fmla="*/ 54 h 89"/>
                <a:gd name="T24" fmla="*/ 18 w 37"/>
                <a:gd name="T25" fmla="*/ 45 h 89"/>
                <a:gd name="T26" fmla="*/ 18 w 37"/>
                <a:gd name="T27" fmla="*/ 0 h 89"/>
                <a:gd name="T28" fmla="*/ 18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3 w 37"/>
                <a:gd name="T35" fmla="*/ 69 h 89"/>
                <a:gd name="T36" fmla="*/ 24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8 w 37"/>
                <a:gd name="T43" fmla="*/ 82 h 89"/>
                <a:gd name="T44" fmla="*/ 29 w 37"/>
                <a:gd name="T45" fmla="*/ 83 h 89"/>
                <a:gd name="T46" fmla="*/ 31 w 37"/>
                <a:gd name="T47" fmla="*/ 85 h 89"/>
                <a:gd name="T48" fmla="*/ 32 w 37"/>
                <a:gd name="T49" fmla="*/ 86 h 89"/>
                <a:gd name="T50" fmla="*/ 34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7" y="82"/>
                  </a:lnTo>
                  <a:lnTo>
                    <a:pt x="9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29" y="83"/>
                  </a:lnTo>
                  <a:lnTo>
                    <a:pt x="31" y="85"/>
                  </a:lnTo>
                  <a:lnTo>
                    <a:pt x="32" y="86"/>
                  </a:lnTo>
                  <a:lnTo>
                    <a:pt x="34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81" name="Freeform 349"/>
            <p:cNvSpPr>
              <a:spLocks/>
            </p:cNvSpPr>
            <p:nvPr/>
          </p:nvSpPr>
          <p:spPr bwMode="auto">
            <a:xfrm>
              <a:off x="5063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6 h 89"/>
                <a:gd name="T6" fmla="*/ 5 w 37"/>
                <a:gd name="T7" fmla="*/ 85 h 89"/>
                <a:gd name="T8" fmla="*/ 6 w 37"/>
                <a:gd name="T9" fmla="*/ 83 h 89"/>
                <a:gd name="T10" fmla="*/ 7 w 37"/>
                <a:gd name="T11" fmla="*/ 82 h 89"/>
                <a:gd name="T12" fmla="*/ 9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3 w 37"/>
                <a:gd name="T21" fmla="*/ 64 h 89"/>
                <a:gd name="T22" fmla="*/ 16 w 37"/>
                <a:gd name="T23" fmla="*/ 54 h 89"/>
                <a:gd name="T24" fmla="*/ 18 w 37"/>
                <a:gd name="T25" fmla="*/ 45 h 89"/>
                <a:gd name="T26" fmla="*/ 18 w 37"/>
                <a:gd name="T27" fmla="*/ 0 h 89"/>
                <a:gd name="T28" fmla="*/ 18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3 w 37"/>
                <a:gd name="T35" fmla="*/ 69 h 89"/>
                <a:gd name="T36" fmla="*/ 24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8 w 37"/>
                <a:gd name="T43" fmla="*/ 82 h 89"/>
                <a:gd name="T44" fmla="*/ 29 w 37"/>
                <a:gd name="T45" fmla="*/ 83 h 89"/>
                <a:gd name="T46" fmla="*/ 31 w 37"/>
                <a:gd name="T47" fmla="*/ 85 h 89"/>
                <a:gd name="T48" fmla="*/ 32 w 37"/>
                <a:gd name="T49" fmla="*/ 86 h 89"/>
                <a:gd name="T50" fmla="*/ 34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7" y="82"/>
                  </a:lnTo>
                  <a:lnTo>
                    <a:pt x="9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29" y="83"/>
                  </a:lnTo>
                  <a:lnTo>
                    <a:pt x="31" y="85"/>
                  </a:lnTo>
                  <a:lnTo>
                    <a:pt x="32" y="86"/>
                  </a:lnTo>
                  <a:lnTo>
                    <a:pt x="34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82" name="Line 350"/>
            <p:cNvSpPr>
              <a:spLocks noChangeShapeType="1"/>
            </p:cNvSpPr>
            <p:nvPr/>
          </p:nvSpPr>
          <p:spPr bwMode="auto">
            <a:xfrm>
              <a:off x="4695" y="2483"/>
              <a:ext cx="1" cy="157"/>
            </a:xfrm>
            <a:prstGeom prst="line">
              <a:avLst/>
            </a:prstGeom>
            <a:noFill/>
            <a:ln w="12700">
              <a:solidFill>
                <a:srgbClr val="00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83" name="Freeform 351"/>
            <p:cNvSpPr>
              <a:spLocks/>
            </p:cNvSpPr>
            <p:nvPr/>
          </p:nvSpPr>
          <p:spPr bwMode="auto">
            <a:xfrm>
              <a:off x="4787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4 w 37"/>
                <a:gd name="T5" fmla="*/ 86 h 89"/>
                <a:gd name="T6" fmla="*/ 5 w 37"/>
                <a:gd name="T7" fmla="*/ 85 h 89"/>
                <a:gd name="T8" fmla="*/ 6 w 37"/>
                <a:gd name="T9" fmla="*/ 83 h 89"/>
                <a:gd name="T10" fmla="*/ 7 w 37"/>
                <a:gd name="T11" fmla="*/ 82 h 89"/>
                <a:gd name="T12" fmla="*/ 9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9 w 37"/>
                <a:gd name="T25" fmla="*/ 45 h 89"/>
                <a:gd name="T26" fmla="*/ 19 w 37"/>
                <a:gd name="T27" fmla="*/ 0 h 89"/>
                <a:gd name="T28" fmla="*/ 19 w 37"/>
                <a:gd name="T29" fmla="*/ 45 h 89"/>
                <a:gd name="T30" fmla="*/ 20 w 37"/>
                <a:gd name="T31" fmla="*/ 54 h 89"/>
                <a:gd name="T32" fmla="*/ 22 w 37"/>
                <a:gd name="T33" fmla="*/ 64 h 89"/>
                <a:gd name="T34" fmla="*/ 23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8 w 37"/>
                <a:gd name="T43" fmla="*/ 82 h 89"/>
                <a:gd name="T44" fmla="*/ 30 w 37"/>
                <a:gd name="T45" fmla="*/ 83 h 89"/>
                <a:gd name="T46" fmla="*/ 31 w 37"/>
                <a:gd name="T47" fmla="*/ 85 h 89"/>
                <a:gd name="T48" fmla="*/ 32 w 37"/>
                <a:gd name="T49" fmla="*/ 86 h 89"/>
                <a:gd name="T50" fmla="*/ 34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4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7" y="82"/>
                  </a:lnTo>
                  <a:lnTo>
                    <a:pt x="9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9" y="45"/>
                  </a:lnTo>
                  <a:lnTo>
                    <a:pt x="19" y="0"/>
                  </a:lnTo>
                  <a:lnTo>
                    <a:pt x="19" y="45"/>
                  </a:lnTo>
                  <a:lnTo>
                    <a:pt x="20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30" y="83"/>
                  </a:lnTo>
                  <a:lnTo>
                    <a:pt x="31" y="85"/>
                  </a:lnTo>
                  <a:lnTo>
                    <a:pt x="32" y="86"/>
                  </a:lnTo>
                  <a:lnTo>
                    <a:pt x="34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84" name="Freeform 352"/>
            <p:cNvSpPr>
              <a:spLocks/>
            </p:cNvSpPr>
            <p:nvPr/>
          </p:nvSpPr>
          <p:spPr bwMode="auto">
            <a:xfrm>
              <a:off x="4897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2 w 37"/>
                <a:gd name="T3" fmla="*/ 88 h 89"/>
                <a:gd name="T4" fmla="*/ 4 w 37"/>
                <a:gd name="T5" fmla="*/ 86 h 89"/>
                <a:gd name="T6" fmla="*/ 5 w 37"/>
                <a:gd name="T7" fmla="*/ 85 h 89"/>
                <a:gd name="T8" fmla="*/ 7 w 37"/>
                <a:gd name="T9" fmla="*/ 83 h 89"/>
                <a:gd name="T10" fmla="*/ 8 w 37"/>
                <a:gd name="T11" fmla="*/ 82 h 89"/>
                <a:gd name="T12" fmla="*/ 9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3 w 37"/>
                <a:gd name="T19" fmla="*/ 69 h 89"/>
                <a:gd name="T20" fmla="*/ 14 w 37"/>
                <a:gd name="T21" fmla="*/ 64 h 89"/>
                <a:gd name="T22" fmla="*/ 16 w 37"/>
                <a:gd name="T23" fmla="*/ 54 h 89"/>
                <a:gd name="T24" fmla="*/ 19 w 37"/>
                <a:gd name="T25" fmla="*/ 45 h 89"/>
                <a:gd name="T26" fmla="*/ 19 w 37"/>
                <a:gd name="T27" fmla="*/ 0 h 89"/>
                <a:gd name="T28" fmla="*/ 19 w 37"/>
                <a:gd name="T29" fmla="*/ 45 h 89"/>
                <a:gd name="T30" fmla="*/ 20 w 37"/>
                <a:gd name="T31" fmla="*/ 54 h 89"/>
                <a:gd name="T32" fmla="*/ 23 w 37"/>
                <a:gd name="T33" fmla="*/ 64 h 89"/>
                <a:gd name="T34" fmla="*/ 24 w 37"/>
                <a:gd name="T35" fmla="*/ 69 h 89"/>
                <a:gd name="T36" fmla="*/ 25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9 w 37"/>
                <a:gd name="T43" fmla="*/ 82 h 89"/>
                <a:gd name="T44" fmla="*/ 30 w 37"/>
                <a:gd name="T45" fmla="*/ 83 h 89"/>
                <a:gd name="T46" fmla="*/ 31 w 37"/>
                <a:gd name="T47" fmla="*/ 85 h 89"/>
                <a:gd name="T48" fmla="*/ 32 w 37"/>
                <a:gd name="T49" fmla="*/ 86 h 89"/>
                <a:gd name="T50" fmla="*/ 35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2" y="88"/>
                  </a:lnTo>
                  <a:lnTo>
                    <a:pt x="4" y="86"/>
                  </a:lnTo>
                  <a:lnTo>
                    <a:pt x="5" y="85"/>
                  </a:lnTo>
                  <a:lnTo>
                    <a:pt x="7" y="83"/>
                  </a:lnTo>
                  <a:lnTo>
                    <a:pt x="8" y="82"/>
                  </a:lnTo>
                  <a:lnTo>
                    <a:pt x="9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3" y="69"/>
                  </a:lnTo>
                  <a:lnTo>
                    <a:pt x="14" y="64"/>
                  </a:lnTo>
                  <a:lnTo>
                    <a:pt x="16" y="54"/>
                  </a:lnTo>
                  <a:lnTo>
                    <a:pt x="19" y="45"/>
                  </a:lnTo>
                  <a:lnTo>
                    <a:pt x="19" y="0"/>
                  </a:lnTo>
                  <a:lnTo>
                    <a:pt x="19" y="45"/>
                  </a:lnTo>
                  <a:lnTo>
                    <a:pt x="20" y="54"/>
                  </a:lnTo>
                  <a:lnTo>
                    <a:pt x="23" y="64"/>
                  </a:lnTo>
                  <a:lnTo>
                    <a:pt x="24" y="69"/>
                  </a:lnTo>
                  <a:lnTo>
                    <a:pt x="25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9" y="82"/>
                  </a:lnTo>
                  <a:lnTo>
                    <a:pt x="30" y="83"/>
                  </a:lnTo>
                  <a:lnTo>
                    <a:pt x="31" y="85"/>
                  </a:lnTo>
                  <a:lnTo>
                    <a:pt x="32" y="86"/>
                  </a:lnTo>
                  <a:lnTo>
                    <a:pt x="35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85" name="Freeform 353"/>
            <p:cNvSpPr>
              <a:spLocks/>
            </p:cNvSpPr>
            <p:nvPr/>
          </p:nvSpPr>
          <p:spPr bwMode="auto">
            <a:xfrm>
              <a:off x="5008" y="2640"/>
              <a:ext cx="37" cy="44"/>
            </a:xfrm>
            <a:custGeom>
              <a:avLst/>
              <a:gdLst>
                <a:gd name="T0" fmla="*/ 0 w 37"/>
                <a:gd name="T1" fmla="*/ 89 h 89"/>
                <a:gd name="T2" fmla="*/ 1 w 37"/>
                <a:gd name="T3" fmla="*/ 88 h 89"/>
                <a:gd name="T4" fmla="*/ 3 w 37"/>
                <a:gd name="T5" fmla="*/ 86 h 89"/>
                <a:gd name="T6" fmla="*/ 5 w 37"/>
                <a:gd name="T7" fmla="*/ 85 h 89"/>
                <a:gd name="T8" fmla="*/ 6 w 37"/>
                <a:gd name="T9" fmla="*/ 83 h 89"/>
                <a:gd name="T10" fmla="*/ 7 w 37"/>
                <a:gd name="T11" fmla="*/ 82 h 89"/>
                <a:gd name="T12" fmla="*/ 8 w 37"/>
                <a:gd name="T13" fmla="*/ 80 h 89"/>
                <a:gd name="T14" fmla="*/ 10 w 37"/>
                <a:gd name="T15" fmla="*/ 76 h 89"/>
                <a:gd name="T16" fmla="*/ 11 w 37"/>
                <a:gd name="T17" fmla="*/ 73 h 89"/>
                <a:gd name="T18" fmla="*/ 12 w 37"/>
                <a:gd name="T19" fmla="*/ 69 h 89"/>
                <a:gd name="T20" fmla="*/ 13 w 37"/>
                <a:gd name="T21" fmla="*/ 64 h 89"/>
                <a:gd name="T22" fmla="*/ 16 w 37"/>
                <a:gd name="T23" fmla="*/ 54 h 89"/>
                <a:gd name="T24" fmla="*/ 18 w 37"/>
                <a:gd name="T25" fmla="*/ 45 h 89"/>
                <a:gd name="T26" fmla="*/ 18 w 37"/>
                <a:gd name="T27" fmla="*/ 0 h 89"/>
                <a:gd name="T28" fmla="*/ 18 w 37"/>
                <a:gd name="T29" fmla="*/ 45 h 89"/>
                <a:gd name="T30" fmla="*/ 19 w 37"/>
                <a:gd name="T31" fmla="*/ 54 h 89"/>
                <a:gd name="T32" fmla="*/ 22 w 37"/>
                <a:gd name="T33" fmla="*/ 64 h 89"/>
                <a:gd name="T34" fmla="*/ 23 w 37"/>
                <a:gd name="T35" fmla="*/ 69 h 89"/>
                <a:gd name="T36" fmla="*/ 24 w 37"/>
                <a:gd name="T37" fmla="*/ 73 h 89"/>
                <a:gd name="T38" fmla="*/ 26 w 37"/>
                <a:gd name="T39" fmla="*/ 76 h 89"/>
                <a:gd name="T40" fmla="*/ 27 w 37"/>
                <a:gd name="T41" fmla="*/ 80 h 89"/>
                <a:gd name="T42" fmla="*/ 28 w 37"/>
                <a:gd name="T43" fmla="*/ 82 h 89"/>
                <a:gd name="T44" fmla="*/ 29 w 37"/>
                <a:gd name="T45" fmla="*/ 83 h 89"/>
                <a:gd name="T46" fmla="*/ 30 w 37"/>
                <a:gd name="T47" fmla="*/ 85 h 89"/>
                <a:gd name="T48" fmla="*/ 32 w 37"/>
                <a:gd name="T49" fmla="*/ 86 h 89"/>
                <a:gd name="T50" fmla="*/ 34 w 37"/>
                <a:gd name="T51" fmla="*/ 88 h 89"/>
                <a:gd name="T52" fmla="*/ 37 w 37"/>
                <a:gd name="T53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" h="89">
                  <a:moveTo>
                    <a:pt x="0" y="89"/>
                  </a:moveTo>
                  <a:lnTo>
                    <a:pt x="1" y="88"/>
                  </a:lnTo>
                  <a:lnTo>
                    <a:pt x="3" y="86"/>
                  </a:lnTo>
                  <a:lnTo>
                    <a:pt x="5" y="85"/>
                  </a:lnTo>
                  <a:lnTo>
                    <a:pt x="6" y="83"/>
                  </a:lnTo>
                  <a:lnTo>
                    <a:pt x="7" y="82"/>
                  </a:lnTo>
                  <a:lnTo>
                    <a:pt x="8" y="80"/>
                  </a:lnTo>
                  <a:lnTo>
                    <a:pt x="10" y="76"/>
                  </a:lnTo>
                  <a:lnTo>
                    <a:pt x="11" y="73"/>
                  </a:lnTo>
                  <a:lnTo>
                    <a:pt x="12" y="69"/>
                  </a:lnTo>
                  <a:lnTo>
                    <a:pt x="13" y="64"/>
                  </a:lnTo>
                  <a:lnTo>
                    <a:pt x="16" y="54"/>
                  </a:lnTo>
                  <a:lnTo>
                    <a:pt x="18" y="45"/>
                  </a:lnTo>
                  <a:lnTo>
                    <a:pt x="18" y="0"/>
                  </a:lnTo>
                  <a:lnTo>
                    <a:pt x="18" y="45"/>
                  </a:lnTo>
                  <a:lnTo>
                    <a:pt x="19" y="54"/>
                  </a:lnTo>
                  <a:lnTo>
                    <a:pt x="22" y="64"/>
                  </a:lnTo>
                  <a:lnTo>
                    <a:pt x="23" y="69"/>
                  </a:lnTo>
                  <a:lnTo>
                    <a:pt x="24" y="73"/>
                  </a:lnTo>
                  <a:lnTo>
                    <a:pt x="26" y="76"/>
                  </a:lnTo>
                  <a:lnTo>
                    <a:pt x="27" y="80"/>
                  </a:lnTo>
                  <a:lnTo>
                    <a:pt x="28" y="82"/>
                  </a:lnTo>
                  <a:lnTo>
                    <a:pt x="29" y="83"/>
                  </a:lnTo>
                  <a:lnTo>
                    <a:pt x="30" y="85"/>
                  </a:lnTo>
                  <a:lnTo>
                    <a:pt x="32" y="86"/>
                  </a:lnTo>
                  <a:lnTo>
                    <a:pt x="34" y="88"/>
                  </a:lnTo>
                  <a:lnTo>
                    <a:pt x="37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86" name="Freeform 354"/>
            <p:cNvSpPr>
              <a:spLocks/>
            </p:cNvSpPr>
            <p:nvPr/>
          </p:nvSpPr>
          <p:spPr bwMode="auto">
            <a:xfrm>
              <a:off x="5118" y="2640"/>
              <a:ext cx="19" cy="44"/>
            </a:xfrm>
            <a:custGeom>
              <a:avLst/>
              <a:gdLst>
                <a:gd name="T0" fmla="*/ 19 w 19"/>
                <a:gd name="T1" fmla="*/ 0 h 89"/>
                <a:gd name="T2" fmla="*/ 19 w 19"/>
                <a:gd name="T3" fmla="*/ 45 h 89"/>
                <a:gd name="T4" fmla="*/ 16 w 19"/>
                <a:gd name="T5" fmla="*/ 55 h 89"/>
                <a:gd name="T6" fmla="*/ 14 w 19"/>
                <a:gd name="T7" fmla="*/ 64 h 89"/>
                <a:gd name="T8" fmla="*/ 12 w 19"/>
                <a:gd name="T9" fmla="*/ 69 h 89"/>
                <a:gd name="T10" fmla="*/ 11 w 19"/>
                <a:gd name="T11" fmla="*/ 73 h 89"/>
                <a:gd name="T12" fmla="*/ 10 w 19"/>
                <a:gd name="T13" fmla="*/ 78 h 89"/>
                <a:gd name="T14" fmla="*/ 9 w 19"/>
                <a:gd name="T15" fmla="*/ 80 h 89"/>
                <a:gd name="T16" fmla="*/ 7 w 19"/>
                <a:gd name="T17" fmla="*/ 82 h 89"/>
                <a:gd name="T18" fmla="*/ 6 w 19"/>
                <a:gd name="T19" fmla="*/ 85 h 89"/>
                <a:gd name="T20" fmla="*/ 5 w 19"/>
                <a:gd name="T21" fmla="*/ 86 h 89"/>
                <a:gd name="T22" fmla="*/ 4 w 19"/>
                <a:gd name="T23" fmla="*/ 86 h 89"/>
                <a:gd name="T24" fmla="*/ 1 w 19"/>
                <a:gd name="T25" fmla="*/ 88 h 89"/>
                <a:gd name="T26" fmla="*/ 0 w 19"/>
                <a:gd name="T2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" h="89">
                  <a:moveTo>
                    <a:pt x="19" y="0"/>
                  </a:moveTo>
                  <a:lnTo>
                    <a:pt x="19" y="45"/>
                  </a:lnTo>
                  <a:lnTo>
                    <a:pt x="16" y="55"/>
                  </a:lnTo>
                  <a:lnTo>
                    <a:pt x="14" y="64"/>
                  </a:lnTo>
                  <a:lnTo>
                    <a:pt x="12" y="69"/>
                  </a:lnTo>
                  <a:lnTo>
                    <a:pt x="11" y="73"/>
                  </a:lnTo>
                  <a:lnTo>
                    <a:pt x="10" y="78"/>
                  </a:lnTo>
                  <a:lnTo>
                    <a:pt x="9" y="80"/>
                  </a:lnTo>
                  <a:lnTo>
                    <a:pt x="7" y="82"/>
                  </a:lnTo>
                  <a:lnTo>
                    <a:pt x="6" y="85"/>
                  </a:lnTo>
                  <a:lnTo>
                    <a:pt x="5" y="86"/>
                  </a:lnTo>
                  <a:lnTo>
                    <a:pt x="4" y="86"/>
                  </a:lnTo>
                  <a:lnTo>
                    <a:pt x="1" y="88"/>
                  </a:lnTo>
                  <a:lnTo>
                    <a:pt x="0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87" name="Freeform 355"/>
            <p:cNvSpPr>
              <a:spLocks/>
            </p:cNvSpPr>
            <p:nvPr/>
          </p:nvSpPr>
          <p:spPr bwMode="auto">
            <a:xfrm>
              <a:off x="4695" y="2640"/>
              <a:ext cx="19" cy="44"/>
            </a:xfrm>
            <a:custGeom>
              <a:avLst/>
              <a:gdLst>
                <a:gd name="T0" fmla="*/ 0 w 19"/>
                <a:gd name="T1" fmla="*/ 0 h 89"/>
                <a:gd name="T2" fmla="*/ 0 w 19"/>
                <a:gd name="T3" fmla="*/ 45 h 89"/>
                <a:gd name="T4" fmla="*/ 1 w 19"/>
                <a:gd name="T5" fmla="*/ 55 h 89"/>
                <a:gd name="T6" fmla="*/ 4 w 19"/>
                <a:gd name="T7" fmla="*/ 64 h 89"/>
                <a:gd name="T8" fmla="*/ 5 w 19"/>
                <a:gd name="T9" fmla="*/ 69 h 89"/>
                <a:gd name="T10" fmla="*/ 6 w 19"/>
                <a:gd name="T11" fmla="*/ 73 h 89"/>
                <a:gd name="T12" fmla="*/ 8 w 19"/>
                <a:gd name="T13" fmla="*/ 78 h 89"/>
                <a:gd name="T14" fmla="*/ 9 w 19"/>
                <a:gd name="T15" fmla="*/ 80 h 89"/>
                <a:gd name="T16" fmla="*/ 10 w 19"/>
                <a:gd name="T17" fmla="*/ 82 h 89"/>
                <a:gd name="T18" fmla="*/ 11 w 19"/>
                <a:gd name="T19" fmla="*/ 85 h 89"/>
                <a:gd name="T20" fmla="*/ 12 w 19"/>
                <a:gd name="T21" fmla="*/ 86 h 89"/>
                <a:gd name="T22" fmla="*/ 14 w 19"/>
                <a:gd name="T23" fmla="*/ 86 h 89"/>
                <a:gd name="T24" fmla="*/ 16 w 19"/>
                <a:gd name="T25" fmla="*/ 88 h 89"/>
                <a:gd name="T26" fmla="*/ 19 w 19"/>
                <a:gd name="T2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" h="89">
                  <a:moveTo>
                    <a:pt x="0" y="0"/>
                  </a:moveTo>
                  <a:lnTo>
                    <a:pt x="0" y="45"/>
                  </a:lnTo>
                  <a:lnTo>
                    <a:pt x="1" y="55"/>
                  </a:lnTo>
                  <a:lnTo>
                    <a:pt x="4" y="64"/>
                  </a:lnTo>
                  <a:lnTo>
                    <a:pt x="5" y="69"/>
                  </a:lnTo>
                  <a:lnTo>
                    <a:pt x="6" y="73"/>
                  </a:lnTo>
                  <a:lnTo>
                    <a:pt x="8" y="78"/>
                  </a:lnTo>
                  <a:lnTo>
                    <a:pt x="9" y="80"/>
                  </a:lnTo>
                  <a:lnTo>
                    <a:pt x="10" y="82"/>
                  </a:lnTo>
                  <a:lnTo>
                    <a:pt x="11" y="85"/>
                  </a:lnTo>
                  <a:lnTo>
                    <a:pt x="12" y="86"/>
                  </a:lnTo>
                  <a:lnTo>
                    <a:pt x="14" y="86"/>
                  </a:lnTo>
                  <a:lnTo>
                    <a:pt x="16" y="88"/>
                  </a:lnTo>
                  <a:lnTo>
                    <a:pt x="19" y="89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88" name="Freeform 356"/>
            <p:cNvSpPr>
              <a:spLocks/>
            </p:cNvSpPr>
            <p:nvPr/>
          </p:nvSpPr>
          <p:spPr bwMode="auto">
            <a:xfrm>
              <a:off x="2930" y="2864"/>
              <a:ext cx="220" cy="201"/>
            </a:xfrm>
            <a:custGeom>
              <a:avLst/>
              <a:gdLst>
                <a:gd name="T0" fmla="*/ 0 w 220"/>
                <a:gd name="T1" fmla="*/ 404 h 404"/>
                <a:gd name="T2" fmla="*/ 0 w 220"/>
                <a:gd name="T3" fmla="*/ 389 h 404"/>
                <a:gd name="T4" fmla="*/ 0 w 220"/>
                <a:gd name="T5" fmla="*/ 0 h 404"/>
                <a:gd name="T6" fmla="*/ 18 w 220"/>
                <a:gd name="T7" fmla="*/ 0 h 404"/>
                <a:gd name="T8" fmla="*/ 18 w 220"/>
                <a:gd name="T9" fmla="*/ 402 h 404"/>
                <a:gd name="T10" fmla="*/ 55 w 220"/>
                <a:gd name="T11" fmla="*/ 402 h 404"/>
                <a:gd name="T12" fmla="*/ 55 w 220"/>
                <a:gd name="T13" fmla="*/ 0 h 404"/>
                <a:gd name="T14" fmla="*/ 73 w 220"/>
                <a:gd name="T15" fmla="*/ 0 h 404"/>
                <a:gd name="T16" fmla="*/ 73 w 220"/>
                <a:gd name="T17" fmla="*/ 402 h 404"/>
                <a:gd name="T18" fmla="*/ 110 w 220"/>
                <a:gd name="T19" fmla="*/ 402 h 404"/>
                <a:gd name="T20" fmla="*/ 110 w 220"/>
                <a:gd name="T21" fmla="*/ 0 h 404"/>
                <a:gd name="T22" fmla="*/ 128 w 220"/>
                <a:gd name="T23" fmla="*/ 0 h 404"/>
                <a:gd name="T24" fmla="*/ 128 w 220"/>
                <a:gd name="T25" fmla="*/ 402 h 404"/>
                <a:gd name="T26" fmla="*/ 165 w 220"/>
                <a:gd name="T27" fmla="*/ 402 h 404"/>
                <a:gd name="T28" fmla="*/ 165 w 220"/>
                <a:gd name="T29" fmla="*/ 0 h 404"/>
                <a:gd name="T30" fmla="*/ 184 w 220"/>
                <a:gd name="T31" fmla="*/ 0 h 404"/>
                <a:gd name="T32" fmla="*/ 184 w 220"/>
                <a:gd name="T33" fmla="*/ 402 h 404"/>
                <a:gd name="T34" fmla="*/ 220 w 220"/>
                <a:gd name="T35" fmla="*/ 402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20" h="404">
                  <a:moveTo>
                    <a:pt x="0" y="404"/>
                  </a:moveTo>
                  <a:lnTo>
                    <a:pt x="0" y="38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402"/>
                  </a:lnTo>
                  <a:lnTo>
                    <a:pt x="55" y="402"/>
                  </a:lnTo>
                  <a:lnTo>
                    <a:pt x="55" y="0"/>
                  </a:lnTo>
                  <a:lnTo>
                    <a:pt x="73" y="0"/>
                  </a:lnTo>
                  <a:lnTo>
                    <a:pt x="73" y="402"/>
                  </a:lnTo>
                  <a:lnTo>
                    <a:pt x="110" y="402"/>
                  </a:lnTo>
                  <a:lnTo>
                    <a:pt x="110" y="0"/>
                  </a:lnTo>
                  <a:lnTo>
                    <a:pt x="128" y="0"/>
                  </a:lnTo>
                  <a:lnTo>
                    <a:pt x="128" y="402"/>
                  </a:lnTo>
                  <a:lnTo>
                    <a:pt x="165" y="402"/>
                  </a:lnTo>
                  <a:lnTo>
                    <a:pt x="165" y="0"/>
                  </a:lnTo>
                  <a:lnTo>
                    <a:pt x="184" y="0"/>
                  </a:lnTo>
                  <a:lnTo>
                    <a:pt x="184" y="402"/>
                  </a:lnTo>
                  <a:lnTo>
                    <a:pt x="220" y="402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89" name="Freeform 357"/>
            <p:cNvSpPr>
              <a:spLocks/>
            </p:cNvSpPr>
            <p:nvPr/>
          </p:nvSpPr>
          <p:spPr bwMode="auto">
            <a:xfrm>
              <a:off x="3150" y="2864"/>
              <a:ext cx="221" cy="201"/>
            </a:xfrm>
            <a:custGeom>
              <a:avLst/>
              <a:gdLst>
                <a:gd name="T0" fmla="*/ 0 w 221"/>
                <a:gd name="T1" fmla="*/ 404 h 404"/>
                <a:gd name="T2" fmla="*/ 0 w 221"/>
                <a:gd name="T3" fmla="*/ 389 h 404"/>
                <a:gd name="T4" fmla="*/ 0 w 221"/>
                <a:gd name="T5" fmla="*/ 0 h 404"/>
                <a:gd name="T6" fmla="*/ 19 w 221"/>
                <a:gd name="T7" fmla="*/ 0 h 404"/>
                <a:gd name="T8" fmla="*/ 19 w 221"/>
                <a:gd name="T9" fmla="*/ 402 h 404"/>
                <a:gd name="T10" fmla="*/ 56 w 221"/>
                <a:gd name="T11" fmla="*/ 402 h 404"/>
                <a:gd name="T12" fmla="*/ 56 w 221"/>
                <a:gd name="T13" fmla="*/ 0 h 404"/>
                <a:gd name="T14" fmla="*/ 74 w 221"/>
                <a:gd name="T15" fmla="*/ 0 h 404"/>
                <a:gd name="T16" fmla="*/ 74 w 221"/>
                <a:gd name="T17" fmla="*/ 402 h 404"/>
                <a:gd name="T18" fmla="*/ 111 w 221"/>
                <a:gd name="T19" fmla="*/ 402 h 404"/>
                <a:gd name="T20" fmla="*/ 111 w 221"/>
                <a:gd name="T21" fmla="*/ 0 h 404"/>
                <a:gd name="T22" fmla="*/ 129 w 221"/>
                <a:gd name="T23" fmla="*/ 0 h 404"/>
                <a:gd name="T24" fmla="*/ 129 w 221"/>
                <a:gd name="T25" fmla="*/ 402 h 404"/>
                <a:gd name="T26" fmla="*/ 166 w 221"/>
                <a:gd name="T27" fmla="*/ 402 h 404"/>
                <a:gd name="T28" fmla="*/ 166 w 221"/>
                <a:gd name="T29" fmla="*/ 0 h 404"/>
                <a:gd name="T30" fmla="*/ 184 w 221"/>
                <a:gd name="T31" fmla="*/ 0 h 404"/>
                <a:gd name="T32" fmla="*/ 184 w 221"/>
                <a:gd name="T33" fmla="*/ 402 h 404"/>
                <a:gd name="T34" fmla="*/ 221 w 221"/>
                <a:gd name="T35" fmla="*/ 402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21" h="404">
                  <a:moveTo>
                    <a:pt x="0" y="404"/>
                  </a:moveTo>
                  <a:lnTo>
                    <a:pt x="0" y="389"/>
                  </a:lnTo>
                  <a:lnTo>
                    <a:pt x="0" y="0"/>
                  </a:lnTo>
                  <a:lnTo>
                    <a:pt x="19" y="0"/>
                  </a:lnTo>
                  <a:lnTo>
                    <a:pt x="19" y="402"/>
                  </a:lnTo>
                  <a:lnTo>
                    <a:pt x="56" y="402"/>
                  </a:lnTo>
                  <a:lnTo>
                    <a:pt x="56" y="0"/>
                  </a:lnTo>
                  <a:lnTo>
                    <a:pt x="74" y="0"/>
                  </a:lnTo>
                  <a:lnTo>
                    <a:pt x="74" y="402"/>
                  </a:lnTo>
                  <a:lnTo>
                    <a:pt x="111" y="402"/>
                  </a:lnTo>
                  <a:lnTo>
                    <a:pt x="111" y="0"/>
                  </a:lnTo>
                  <a:lnTo>
                    <a:pt x="129" y="0"/>
                  </a:lnTo>
                  <a:lnTo>
                    <a:pt x="129" y="402"/>
                  </a:lnTo>
                  <a:lnTo>
                    <a:pt x="166" y="402"/>
                  </a:lnTo>
                  <a:lnTo>
                    <a:pt x="166" y="0"/>
                  </a:lnTo>
                  <a:lnTo>
                    <a:pt x="184" y="0"/>
                  </a:lnTo>
                  <a:lnTo>
                    <a:pt x="184" y="402"/>
                  </a:lnTo>
                  <a:lnTo>
                    <a:pt x="221" y="402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90" name="Freeform 358"/>
            <p:cNvSpPr>
              <a:spLocks/>
            </p:cNvSpPr>
            <p:nvPr/>
          </p:nvSpPr>
          <p:spPr bwMode="auto">
            <a:xfrm>
              <a:off x="3812" y="2864"/>
              <a:ext cx="221" cy="201"/>
            </a:xfrm>
            <a:custGeom>
              <a:avLst/>
              <a:gdLst>
                <a:gd name="T0" fmla="*/ 0 w 221"/>
                <a:gd name="T1" fmla="*/ 404 h 404"/>
                <a:gd name="T2" fmla="*/ 0 w 221"/>
                <a:gd name="T3" fmla="*/ 389 h 404"/>
                <a:gd name="T4" fmla="*/ 0 w 221"/>
                <a:gd name="T5" fmla="*/ 0 h 404"/>
                <a:gd name="T6" fmla="*/ 19 w 221"/>
                <a:gd name="T7" fmla="*/ 0 h 404"/>
                <a:gd name="T8" fmla="*/ 19 w 221"/>
                <a:gd name="T9" fmla="*/ 402 h 404"/>
                <a:gd name="T10" fmla="*/ 56 w 221"/>
                <a:gd name="T11" fmla="*/ 402 h 404"/>
                <a:gd name="T12" fmla="*/ 56 w 221"/>
                <a:gd name="T13" fmla="*/ 0 h 404"/>
                <a:gd name="T14" fmla="*/ 74 w 221"/>
                <a:gd name="T15" fmla="*/ 0 h 404"/>
                <a:gd name="T16" fmla="*/ 74 w 221"/>
                <a:gd name="T17" fmla="*/ 402 h 404"/>
                <a:gd name="T18" fmla="*/ 111 w 221"/>
                <a:gd name="T19" fmla="*/ 402 h 404"/>
                <a:gd name="T20" fmla="*/ 111 w 221"/>
                <a:gd name="T21" fmla="*/ 0 h 404"/>
                <a:gd name="T22" fmla="*/ 129 w 221"/>
                <a:gd name="T23" fmla="*/ 0 h 404"/>
                <a:gd name="T24" fmla="*/ 129 w 221"/>
                <a:gd name="T25" fmla="*/ 402 h 404"/>
                <a:gd name="T26" fmla="*/ 166 w 221"/>
                <a:gd name="T27" fmla="*/ 402 h 404"/>
                <a:gd name="T28" fmla="*/ 166 w 221"/>
                <a:gd name="T29" fmla="*/ 0 h 404"/>
                <a:gd name="T30" fmla="*/ 184 w 221"/>
                <a:gd name="T31" fmla="*/ 0 h 404"/>
                <a:gd name="T32" fmla="*/ 184 w 221"/>
                <a:gd name="T33" fmla="*/ 402 h 404"/>
                <a:gd name="T34" fmla="*/ 221 w 221"/>
                <a:gd name="T35" fmla="*/ 402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21" h="404">
                  <a:moveTo>
                    <a:pt x="0" y="404"/>
                  </a:moveTo>
                  <a:lnTo>
                    <a:pt x="0" y="389"/>
                  </a:lnTo>
                  <a:lnTo>
                    <a:pt x="0" y="0"/>
                  </a:lnTo>
                  <a:lnTo>
                    <a:pt x="19" y="0"/>
                  </a:lnTo>
                  <a:lnTo>
                    <a:pt x="19" y="402"/>
                  </a:lnTo>
                  <a:lnTo>
                    <a:pt x="56" y="402"/>
                  </a:lnTo>
                  <a:lnTo>
                    <a:pt x="56" y="0"/>
                  </a:lnTo>
                  <a:lnTo>
                    <a:pt x="74" y="0"/>
                  </a:lnTo>
                  <a:lnTo>
                    <a:pt x="74" y="402"/>
                  </a:lnTo>
                  <a:lnTo>
                    <a:pt x="111" y="402"/>
                  </a:lnTo>
                  <a:lnTo>
                    <a:pt x="111" y="0"/>
                  </a:lnTo>
                  <a:lnTo>
                    <a:pt x="129" y="0"/>
                  </a:lnTo>
                  <a:lnTo>
                    <a:pt x="129" y="402"/>
                  </a:lnTo>
                  <a:lnTo>
                    <a:pt x="166" y="402"/>
                  </a:lnTo>
                  <a:lnTo>
                    <a:pt x="166" y="0"/>
                  </a:lnTo>
                  <a:lnTo>
                    <a:pt x="184" y="0"/>
                  </a:lnTo>
                  <a:lnTo>
                    <a:pt x="184" y="402"/>
                  </a:lnTo>
                  <a:lnTo>
                    <a:pt x="221" y="402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91" name="Freeform 359"/>
            <p:cNvSpPr>
              <a:spLocks/>
            </p:cNvSpPr>
            <p:nvPr/>
          </p:nvSpPr>
          <p:spPr bwMode="auto">
            <a:xfrm>
              <a:off x="4033" y="2864"/>
              <a:ext cx="221" cy="201"/>
            </a:xfrm>
            <a:custGeom>
              <a:avLst/>
              <a:gdLst>
                <a:gd name="T0" fmla="*/ 0 w 221"/>
                <a:gd name="T1" fmla="*/ 404 h 404"/>
                <a:gd name="T2" fmla="*/ 0 w 221"/>
                <a:gd name="T3" fmla="*/ 389 h 404"/>
                <a:gd name="T4" fmla="*/ 0 w 221"/>
                <a:gd name="T5" fmla="*/ 0 h 404"/>
                <a:gd name="T6" fmla="*/ 19 w 221"/>
                <a:gd name="T7" fmla="*/ 0 h 404"/>
                <a:gd name="T8" fmla="*/ 19 w 221"/>
                <a:gd name="T9" fmla="*/ 402 h 404"/>
                <a:gd name="T10" fmla="*/ 55 w 221"/>
                <a:gd name="T11" fmla="*/ 402 h 404"/>
                <a:gd name="T12" fmla="*/ 55 w 221"/>
                <a:gd name="T13" fmla="*/ 0 h 404"/>
                <a:gd name="T14" fmla="*/ 74 w 221"/>
                <a:gd name="T15" fmla="*/ 0 h 404"/>
                <a:gd name="T16" fmla="*/ 74 w 221"/>
                <a:gd name="T17" fmla="*/ 402 h 404"/>
                <a:gd name="T18" fmla="*/ 110 w 221"/>
                <a:gd name="T19" fmla="*/ 402 h 404"/>
                <a:gd name="T20" fmla="*/ 110 w 221"/>
                <a:gd name="T21" fmla="*/ 0 h 404"/>
                <a:gd name="T22" fmla="*/ 129 w 221"/>
                <a:gd name="T23" fmla="*/ 0 h 404"/>
                <a:gd name="T24" fmla="*/ 129 w 221"/>
                <a:gd name="T25" fmla="*/ 402 h 404"/>
                <a:gd name="T26" fmla="*/ 166 w 221"/>
                <a:gd name="T27" fmla="*/ 402 h 404"/>
                <a:gd name="T28" fmla="*/ 166 w 221"/>
                <a:gd name="T29" fmla="*/ 0 h 404"/>
                <a:gd name="T30" fmla="*/ 184 w 221"/>
                <a:gd name="T31" fmla="*/ 0 h 404"/>
                <a:gd name="T32" fmla="*/ 184 w 221"/>
                <a:gd name="T33" fmla="*/ 402 h 404"/>
                <a:gd name="T34" fmla="*/ 221 w 221"/>
                <a:gd name="T35" fmla="*/ 402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21" h="404">
                  <a:moveTo>
                    <a:pt x="0" y="404"/>
                  </a:moveTo>
                  <a:lnTo>
                    <a:pt x="0" y="389"/>
                  </a:lnTo>
                  <a:lnTo>
                    <a:pt x="0" y="0"/>
                  </a:lnTo>
                  <a:lnTo>
                    <a:pt x="19" y="0"/>
                  </a:lnTo>
                  <a:lnTo>
                    <a:pt x="19" y="402"/>
                  </a:lnTo>
                  <a:lnTo>
                    <a:pt x="55" y="402"/>
                  </a:lnTo>
                  <a:lnTo>
                    <a:pt x="55" y="0"/>
                  </a:lnTo>
                  <a:lnTo>
                    <a:pt x="74" y="0"/>
                  </a:lnTo>
                  <a:lnTo>
                    <a:pt x="74" y="402"/>
                  </a:lnTo>
                  <a:lnTo>
                    <a:pt x="110" y="402"/>
                  </a:lnTo>
                  <a:lnTo>
                    <a:pt x="110" y="0"/>
                  </a:lnTo>
                  <a:lnTo>
                    <a:pt x="129" y="0"/>
                  </a:lnTo>
                  <a:lnTo>
                    <a:pt x="129" y="402"/>
                  </a:lnTo>
                  <a:lnTo>
                    <a:pt x="166" y="402"/>
                  </a:lnTo>
                  <a:lnTo>
                    <a:pt x="166" y="0"/>
                  </a:lnTo>
                  <a:lnTo>
                    <a:pt x="184" y="0"/>
                  </a:lnTo>
                  <a:lnTo>
                    <a:pt x="184" y="402"/>
                  </a:lnTo>
                  <a:lnTo>
                    <a:pt x="221" y="402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92" name="Freeform 360"/>
            <p:cNvSpPr>
              <a:spLocks/>
            </p:cNvSpPr>
            <p:nvPr/>
          </p:nvSpPr>
          <p:spPr bwMode="auto">
            <a:xfrm>
              <a:off x="4695" y="2864"/>
              <a:ext cx="221" cy="201"/>
            </a:xfrm>
            <a:custGeom>
              <a:avLst/>
              <a:gdLst>
                <a:gd name="T0" fmla="*/ 0 w 221"/>
                <a:gd name="T1" fmla="*/ 404 h 404"/>
                <a:gd name="T2" fmla="*/ 0 w 221"/>
                <a:gd name="T3" fmla="*/ 389 h 404"/>
                <a:gd name="T4" fmla="*/ 0 w 221"/>
                <a:gd name="T5" fmla="*/ 0 h 404"/>
                <a:gd name="T6" fmla="*/ 19 w 221"/>
                <a:gd name="T7" fmla="*/ 0 h 404"/>
                <a:gd name="T8" fmla="*/ 19 w 221"/>
                <a:gd name="T9" fmla="*/ 402 h 404"/>
                <a:gd name="T10" fmla="*/ 55 w 221"/>
                <a:gd name="T11" fmla="*/ 402 h 404"/>
                <a:gd name="T12" fmla="*/ 55 w 221"/>
                <a:gd name="T13" fmla="*/ 0 h 404"/>
                <a:gd name="T14" fmla="*/ 74 w 221"/>
                <a:gd name="T15" fmla="*/ 0 h 404"/>
                <a:gd name="T16" fmla="*/ 74 w 221"/>
                <a:gd name="T17" fmla="*/ 402 h 404"/>
                <a:gd name="T18" fmla="*/ 111 w 221"/>
                <a:gd name="T19" fmla="*/ 402 h 404"/>
                <a:gd name="T20" fmla="*/ 111 w 221"/>
                <a:gd name="T21" fmla="*/ 0 h 404"/>
                <a:gd name="T22" fmla="*/ 129 w 221"/>
                <a:gd name="T23" fmla="*/ 0 h 404"/>
                <a:gd name="T24" fmla="*/ 129 w 221"/>
                <a:gd name="T25" fmla="*/ 402 h 404"/>
                <a:gd name="T26" fmla="*/ 166 w 221"/>
                <a:gd name="T27" fmla="*/ 402 h 404"/>
                <a:gd name="T28" fmla="*/ 166 w 221"/>
                <a:gd name="T29" fmla="*/ 0 h 404"/>
                <a:gd name="T30" fmla="*/ 184 w 221"/>
                <a:gd name="T31" fmla="*/ 0 h 404"/>
                <a:gd name="T32" fmla="*/ 184 w 221"/>
                <a:gd name="T33" fmla="*/ 402 h 404"/>
                <a:gd name="T34" fmla="*/ 221 w 221"/>
                <a:gd name="T35" fmla="*/ 402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21" h="404">
                  <a:moveTo>
                    <a:pt x="0" y="404"/>
                  </a:moveTo>
                  <a:lnTo>
                    <a:pt x="0" y="389"/>
                  </a:lnTo>
                  <a:lnTo>
                    <a:pt x="0" y="0"/>
                  </a:lnTo>
                  <a:lnTo>
                    <a:pt x="19" y="0"/>
                  </a:lnTo>
                  <a:lnTo>
                    <a:pt x="19" y="402"/>
                  </a:lnTo>
                  <a:lnTo>
                    <a:pt x="55" y="402"/>
                  </a:lnTo>
                  <a:lnTo>
                    <a:pt x="55" y="0"/>
                  </a:lnTo>
                  <a:lnTo>
                    <a:pt x="74" y="0"/>
                  </a:lnTo>
                  <a:lnTo>
                    <a:pt x="74" y="402"/>
                  </a:lnTo>
                  <a:lnTo>
                    <a:pt x="111" y="402"/>
                  </a:lnTo>
                  <a:lnTo>
                    <a:pt x="111" y="0"/>
                  </a:lnTo>
                  <a:lnTo>
                    <a:pt x="129" y="0"/>
                  </a:lnTo>
                  <a:lnTo>
                    <a:pt x="129" y="402"/>
                  </a:lnTo>
                  <a:lnTo>
                    <a:pt x="166" y="402"/>
                  </a:lnTo>
                  <a:lnTo>
                    <a:pt x="166" y="0"/>
                  </a:lnTo>
                  <a:lnTo>
                    <a:pt x="184" y="0"/>
                  </a:lnTo>
                  <a:lnTo>
                    <a:pt x="184" y="402"/>
                  </a:lnTo>
                  <a:lnTo>
                    <a:pt x="221" y="402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93" name="Freeform 361"/>
            <p:cNvSpPr>
              <a:spLocks/>
            </p:cNvSpPr>
            <p:nvPr/>
          </p:nvSpPr>
          <p:spPr bwMode="auto">
            <a:xfrm>
              <a:off x="4916" y="2864"/>
              <a:ext cx="221" cy="201"/>
            </a:xfrm>
            <a:custGeom>
              <a:avLst/>
              <a:gdLst>
                <a:gd name="T0" fmla="*/ 0 w 221"/>
                <a:gd name="T1" fmla="*/ 404 h 404"/>
                <a:gd name="T2" fmla="*/ 0 w 221"/>
                <a:gd name="T3" fmla="*/ 389 h 404"/>
                <a:gd name="T4" fmla="*/ 0 w 221"/>
                <a:gd name="T5" fmla="*/ 0 h 404"/>
                <a:gd name="T6" fmla="*/ 18 w 221"/>
                <a:gd name="T7" fmla="*/ 0 h 404"/>
                <a:gd name="T8" fmla="*/ 18 w 221"/>
                <a:gd name="T9" fmla="*/ 402 h 404"/>
                <a:gd name="T10" fmla="*/ 55 w 221"/>
                <a:gd name="T11" fmla="*/ 402 h 404"/>
                <a:gd name="T12" fmla="*/ 55 w 221"/>
                <a:gd name="T13" fmla="*/ 0 h 404"/>
                <a:gd name="T14" fmla="*/ 73 w 221"/>
                <a:gd name="T15" fmla="*/ 0 h 404"/>
                <a:gd name="T16" fmla="*/ 73 w 221"/>
                <a:gd name="T17" fmla="*/ 402 h 404"/>
                <a:gd name="T18" fmla="*/ 110 w 221"/>
                <a:gd name="T19" fmla="*/ 402 h 404"/>
                <a:gd name="T20" fmla="*/ 110 w 221"/>
                <a:gd name="T21" fmla="*/ 0 h 404"/>
                <a:gd name="T22" fmla="*/ 129 w 221"/>
                <a:gd name="T23" fmla="*/ 0 h 404"/>
                <a:gd name="T24" fmla="*/ 129 w 221"/>
                <a:gd name="T25" fmla="*/ 402 h 404"/>
                <a:gd name="T26" fmla="*/ 165 w 221"/>
                <a:gd name="T27" fmla="*/ 402 h 404"/>
                <a:gd name="T28" fmla="*/ 165 w 221"/>
                <a:gd name="T29" fmla="*/ 0 h 404"/>
                <a:gd name="T30" fmla="*/ 184 w 221"/>
                <a:gd name="T31" fmla="*/ 0 h 404"/>
                <a:gd name="T32" fmla="*/ 184 w 221"/>
                <a:gd name="T33" fmla="*/ 402 h 404"/>
                <a:gd name="T34" fmla="*/ 221 w 221"/>
                <a:gd name="T35" fmla="*/ 402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21" h="404">
                  <a:moveTo>
                    <a:pt x="0" y="404"/>
                  </a:moveTo>
                  <a:lnTo>
                    <a:pt x="0" y="38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402"/>
                  </a:lnTo>
                  <a:lnTo>
                    <a:pt x="55" y="402"/>
                  </a:lnTo>
                  <a:lnTo>
                    <a:pt x="55" y="0"/>
                  </a:lnTo>
                  <a:lnTo>
                    <a:pt x="73" y="0"/>
                  </a:lnTo>
                  <a:lnTo>
                    <a:pt x="73" y="402"/>
                  </a:lnTo>
                  <a:lnTo>
                    <a:pt x="110" y="402"/>
                  </a:lnTo>
                  <a:lnTo>
                    <a:pt x="110" y="0"/>
                  </a:lnTo>
                  <a:lnTo>
                    <a:pt x="129" y="0"/>
                  </a:lnTo>
                  <a:lnTo>
                    <a:pt x="129" y="402"/>
                  </a:lnTo>
                  <a:lnTo>
                    <a:pt x="165" y="402"/>
                  </a:lnTo>
                  <a:lnTo>
                    <a:pt x="165" y="0"/>
                  </a:lnTo>
                  <a:lnTo>
                    <a:pt x="184" y="0"/>
                  </a:lnTo>
                  <a:lnTo>
                    <a:pt x="184" y="402"/>
                  </a:lnTo>
                  <a:lnTo>
                    <a:pt x="221" y="402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94" name="Freeform 362"/>
            <p:cNvSpPr>
              <a:spLocks/>
            </p:cNvSpPr>
            <p:nvPr/>
          </p:nvSpPr>
          <p:spPr bwMode="auto">
            <a:xfrm>
              <a:off x="5137" y="2864"/>
              <a:ext cx="110" cy="201"/>
            </a:xfrm>
            <a:custGeom>
              <a:avLst/>
              <a:gdLst>
                <a:gd name="T0" fmla="*/ 0 w 110"/>
                <a:gd name="T1" fmla="*/ 404 h 404"/>
                <a:gd name="T2" fmla="*/ 0 w 110"/>
                <a:gd name="T3" fmla="*/ 390 h 404"/>
                <a:gd name="T4" fmla="*/ 0 w 110"/>
                <a:gd name="T5" fmla="*/ 0 h 404"/>
                <a:gd name="T6" fmla="*/ 18 w 110"/>
                <a:gd name="T7" fmla="*/ 0 h 404"/>
                <a:gd name="T8" fmla="*/ 18 w 110"/>
                <a:gd name="T9" fmla="*/ 402 h 404"/>
                <a:gd name="T10" fmla="*/ 36 w 110"/>
                <a:gd name="T11" fmla="*/ 402 h 404"/>
                <a:gd name="T12" fmla="*/ 36 w 110"/>
                <a:gd name="T13" fmla="*/ 0 h 404"/>
                <a:gd name="T14" fmla="*/ 55 w 110"/>
                <a:gd name="T15" fmla="*/ 0 h 404"/>
                <a:gd name="T16" fmla="*/ 55 w 110"/>
                <a:gd name="T17" fmla="*/ 402 h 404"/>
                <a:gd name="T18" fmla="*/ 73 w 110"/>
                <a:gd name="T19" fmla="*/ 402 h 404"/>
                <a:gd name="T20" fmla="*/ 73 w 110"/>
                <a:gd name="T21" fmla="*/ 0 h 404"/>
                <a:gd name="T22" fmla="*/ 91 w 110"/>
                <a:gd name="T23" fmla="*/ 0 h 404"/>
                <a:gd name="T24" fmla="*/ 91 w 110"/>
                <a:gd name="T25" fmla="*/ 402 h 404"/>
                <a:gd name="T26" fmla="*/ 110 w 110"/>
                <a:gd name="T27" fmla="*/ 402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0" h="404">
                  <a:moveTo>
                    <a:pt x="0" y="404"/>
                  </a:moveTo>
                  <a:lnTo>
                    <a:pt x="0" y="39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402"/>
                  </a:lnTo>
                  <a:lnTo>
                    <a:pt x="36" y="402"/>
                  </a:lnTo>
                  <a:lnTo>
                    <a:pt x="36" y="0"/>
                  </a:lnTo>
                  <a:lnTo>
                    <a:pt x="55" y="0"/>
                  </a:lnTo>
                  <a:lnTo>
                    <a:pt x="55" y="402"/>
                  </a:lnTo>
                  <a:lnTo>
                    <a:pt x="73" y="402"/>
                  </a:lnTo>
                  <a:lnTo>
                    <a:pt x="73" y="0"/>
                  </a:lnTo>
                  <a:lnTo>
                    <a:pt x="91" y="0"/>
                  </a:lnTo>
                  <a:lnTo>
                    <a:pt x="91" y="402"/>
                  </a:lnTo>
                  <a:lnTo>
                    <a:pt x="110" y="402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95" name="Freeform 363"/>
            <p:cNvSpPr>
              <a:spLocks/>
            </p:cNvSpPr>
            <p:nvPr/>
          </p:nvSpPr>
          <p:spPr bwMode="auto">
            <a:xfrm>
              <a:off x="5247" y="2864"/>
              <a:ext cx="110" cy="201"/>
            </a:xfrm>
            <a:custGeom>
              <a:avLst/>
              <a:gdLst>
                <a:gd name="T0" fmla="*/ 0 w 110"/>
                <a:gd name="T1" fmla="*/ 404 h 404"/>
                <a:gd name="T2" fmla="*/ 0 w 110"/>
                <a:gd name="T3" fmla="*/ 390 h 404"/>
                <a:gd name="T4" fmla="*/ 0 w 110"/>
                <a:gd name="T5" fmla="*/ 0 h 404"/>
                <a:gd name="T6" fmla="*/ 18 w 110"/>
                <a:gd name="T7" fmla="*/ 0 h 404"/>
                <a:gd name="T8" fmla="*/ 18 w 110"/>
                <a:gd name="T9" fmla="*/ 402 h 404"/>
                <a:gd name="T10" fmla="*/ 37 w 110"/>
                <a:gd name="T11" fmla="*/ 402 h 404"/>
                <a:gd name="T12" fmla="*/ 37 w 110"/>
                <a:gd name="T13" fmla="*/ 0 h 404"/>
                <a:gd name="T14" fmla="*/ 55 w 110"/>
                <a:gd name="T15" fmla="*/ 0 h 404"/>
                <a:gd name="T16" fmla="*/ 55 w 110"/>
                <a:gd name="T17" fmla="*/ 402 h 404"/>
                <a:gd name="T18" fmla="*/ 73 w 110"/>
                <a:gd name="T19" fmla="*/ 402 h 404"/>
                <a:gd name="T20" fmla="*/ 73 w 110"/>
                <a:gd name="T21" fmla="*/ 0 h 404"/>
                <a:gd name="T22" fmla="*/ 92 w 110"/>
                <a:gd name="T23" fmla="*/ 0 h 404"/>
                <a:gd name="T24" fmla="*/ 92 w 110"/>
                <a:gd name="T25" fmla="*/ 402 h 404"/>
                <a:gd name="T26" fmla="*/ 110 w 110"/>
                <a:gd name="T27" fmla="*/ 402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0" h="404">
                  <a:moveTo>
                    <a:pt x="0" y="404"/>
                  </a:moveTo>
                  <a:lnTo>
                    <a:pt x="0" y="39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402"/>
                  </a:lnTo>
                  <a:lnTo>
                    <a:pt x="37" y="402"/>
                  </a:lnTo>
                  <a:lnTo>
                    <a:pt x="37" y="0"/>
                  </a:lnTo>
                  <a:lnTo>
                    <a:pt x="55" y="0"/>
                  </a:lnTo>
                  <a:lnTo>
                    <a:pt x="55" y="402"/>
                  </a:lnTo>
                  <a:lnTo>
                    <a:pt x="73" y="402"/>
                  </a:lnTo>
                  <a:lnTo>
                    <a:pt x="73" y="0"/>
                  </a:lnTo>
                  <a:lnTo>
                    <a:pt x="92" y="0"/>
                  </a:lnTo>
                  <a:lnTo>
                    <a:pt x="92" y="402"/>
                  </a:lnTo>
                  <a:lnTo>
                    <a:pt x="110" y="402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96" name="Freeform 364"/>
            <p:cNvSpPr>
              <a:spLocks/>
            </p:cNvSpPr>
            <p:nvPr/>
          </p:nvSpPr>
          <p:spPr bwMode="auto">
            <a:xfrm>
              <a:off x="4254" y="3313"/>
              <a:ext cx="883" cy="86"/>
            </a:xfrm>
            <a:custGeom>
              <a:avLst/>
              <a:gdLst>
                <a:gd name="T0" fmla="*/ 2 w 883"/>
                <a:gd name="T1" fmla="*/ 169 h 172"/>
                <a:gd name="T2" fmla="*/ 8 w 883"/>
                <a:gd name="T3" fmla="*/ 157 h 172"/>
                <a:gd name="T4" fmla="*/ 16 w 883"/>
                <a:gd name="T5" fmla="*/ 143 h 172"/>
                <a:gd name="T6" fmla="*/ 24 w 883"/>
                <a:gd name="T7" fmla="*/ 128 h 172"/>
                <a:gd name="T8" fmla="*/ 34 w 883"/>
                <a:gd name="T9" fmla="*/ 112 h 172"/>
                <a:gd name="T10" fmla="*/ 46 w 883"/>
                <a:gd name="T11" fmla="*/ 96 h 172"/>
                <a:gd name="T12" fmla="*/ 60 w 883"/>
                <a:gd name="T13" fmla="*/ 81 h 172"/>
                <a:gd name="T14" fmla="*/ 76 w 883"/>
                <a:gd name="T15" fmla="*/ 67 h 172"/>
                <a:gd name="T16" fmla="*/ 94 w 883"/>
                <a:gd name="T17" fmla="*/ 57 h 172"/>
                <a:gd name="T18" fmla="*/ 118 w 883"/>
                <a:gd name="T19" fmla="*/ 48 h 172"/>
                <a:gd name="T20" fmla="*/ 142 w 883"/>
                <a:gd name="T21" fmla="*/ 41 h 172"/>
                <a:gd name="T22" fmla="*/ 169 w 883"/>
                <a:gd name="T23" fmla="*/ 35 h 172"/>
                <a:gd name="T24" fmla="*/ 212 w 883"/>
                <a:gd name="T25" fmla="*/ 27 h 172"/>
                <a:gd name="T26" fmla="*/ 240 w 883"/>
                <a:gd name="T27" fmla="*/ 23 h 172"/>
                <a:gd name="T28" fmla="*/ 267 w 883"/>
                <a:gd name="T29" fmla="*/ 18 h 172"/>
                <a:gd name="T30" fmla="*/ 292 w 883"/>
                <a:gd name="T31" fmla="*/ 15 h 172"/>
                <a:gd name="T32" fmla="*/ 339 w 883"/>
                <a:gd name="T33" fmla="*/ 8 h 172"/>
                <a:gd name="T34" fmla="*/ 385 w 883"/>
                <a:gd name="T35" fmla="*/ 2 h 172"/>
                <a:gd name="T36" fmla="*/ 406 w 883"/>
                <a:gd name="T37" fmla="*/ 2 h 172"/>
                <a:gd name="T38" fmla="*/ 425 w 883"/>
                <a:gd name="T39" fmla="*/ 2 h 172"/>
                <a:gd name="T40" fmla="*/ 444 w 883"/>
                <a:gd name="T41" fmla="*/ 3 h 172"/>
                <a:gd name="T42" fmla="*/ 460 w 883"/>
                <a:gd name="T43" fmla="*/ 6 h 172"/>
                <a:gd name="T44" fmla="*/ 466 w 883"/>
                <a:gd name="T45" fmla="*/ 9 h 172"/>
                <a:gd name="T46" fmla="*/ 474 w 883"/>
                <a:gd name="T47" fmla="*/ 17 h 172"/>
                <a:gd name="T48" fmla="*/ 480 w 883"/>
                <a:gd name="T49" fmla="*/ 27 h 172"/>
                <a:gd name="T50" fmla="*/ 487 w 883"/>
                <a:gd name="T51" fmla="*/ 44 h 172"/>
                <a:gd name="T52" fmla="*/ 491 w 883"/>
                <a:gd name="T53" fmla="*/ 57 h 172"/>
                <a:gd name="T54" fmla="*/ 496 w 883"/>
                <a:gd name="T55" fmla="*/ 69 h 172"/>
                <a:gd name="T56" fmla="*/ 505 w 883"/>
                <a:gd name="T57" fmla="*/ 81 h 172"/>
                <a:gd name="T58" fmla="*/ 511 w 883"/>
                <a:gd name="T59" fmla="*/ 87 h 172"/>
                <a:gd name="T60" fmla="*/ 518 w 883"/>
                <a:gd name="T61" fmla="*/ 91 h 172"/>
                <a:gd name="T62" fmla="*/ 537 w 883"/>
                <a:gd name="T63" fmla="*/ 102 h 172"/>
                <a:gd name="T64" fmla="*/ 559 w 883"/>
                <a:gd name="T65" fmla="*/ 111 h 172"/>
                <a:gd name="T66" fmla="*/ 585 w 883"/>
                <a:gd name="T67" fmla="*/ 121 h 172"/>
                <a:gd name="T68" fmla="*/ 612 w 883"/>
                <a:gd name="T69" fmla="*/ 130 h 172"/>
                <a:gd name="T70" fmla="*/ 667 w 883"/>
                <a:gd name="T71" fmla="*/ 148 h 172"/>
                <a:gd name="T72" fmla="*/ 693 w 883"/>
                <a:gd name="T73" fmla="*/ 155 h 172"/>
                <a:gd name="T74" fmla="*/ 717 w 883"/>
                <a:gd name="T75" fmla="*/ 161 h 172"/>
                <a:gd name="T76" fmla="*/ 739 w 883"/>
                <a:gd name="T77" fmla="*/ 164 h 172"/>
                <a:gd name="T78" fmla="*/ 787 w 883"/>
                <a:gd name="T79" fmla="*/ 169 h 172"/>
                <a:gd name="T80" fmla="*/ 809 w 883"/>
                <a:gd name="T81" fmla="*/ 170 h 172"/>
                <a:gd name="T82" fmla="*/ 831 w 883"/>
                <a:gd name="T83" fmla="*/ 170 h 172"/>
                <a:gd name="T84" fmla="*/ 851 w 883"/>
                <a:gd name="T85" fmla="*/ 170 h 172"/>
                <a:gd name="T86" fmla="*/ 868 w 883"/>
                <a:gd name="T87" fmla="*/ 170 h 172"/>
                <a:gd name="T88" fmla="*/ 883 w 883"/>
                <a:gd name="T89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83" h="172">
                  <a:moveTo>
                    <a:pt x="0" y="172"/>
                  </a:moveTo>
                  <a:lnTo>
                    <a:pt x="2" y="169"/>
                  </a:lnTo>
                  <a:lnTo>
                    <a:pt x="5" y="163"/>
                  </a:lnTo>
                  <a:lnTo>
                    <a:pt x="8" y="157"/>
                  </a:lnTo>
                  <a:lnTo>
                    <a:pt x="12" y="151"/>
                  </a:lnTo>
                  <a:lnTo>
                    <a:pt x="16" y="143"/>
                  </a:lnTo>
                  <a:lnTo>
                    <a:pt x="19" y="136"/>
                  </a:lnTo>
                  <a:lnTo>
                    <a:pt x="24" y="128"/>
                  </a:lnTo>
                  <a:lnTo>
                    <a:pt x="29" y="120"/>
                  </a:lnTo>
                  <a:lnTo>
                    <a:pt x="34" y="112"/>
                  </a:lnTo>
                  <a:lnTo>
                    <a:pt x="40" y="103"/>
                  </a:lnTo>
                  <a:lnTo>
                    <a:pt x="46" y="96"/>
                  </a:lnTo>
                  <a:lnTo>
                    <a:pt x="53" y="87"/>
                  </a:lnTo>
                  <a:lnTo>
                    <a:pt x="60" y="81"/>
                  </a:lnTo>
                  <a:lnTo>
                    <a:pt x="68" y="73"/>
                  </a:lnTo>
                  <a:lnTo>
                    <a:pt x="76" y="67"/>
                  </a:lnTo>
                  <a:lnTo>
                    <a:pt x="86" y="61"/>
                  </a:lnTo>
                  <a:lnTo>
                    <a:pt x="94" y="57"/>
                  </a:lnTo>
                  <a:lnTo>
                    <a:pt x="105" y="53"/>
                  </a:lnTo>
                  <a:lnTo>
                    <a:pt x="118" y="48"/>
                  </a:lnTo>
                  <a:lnTo>
                    <a:pt x="130" y="45"/>
                  </a:lnTo>
                  <a:lnTo>
                    <a:pt x="142" y="41"/>
                  </a:lnTo>
                  <a:lnTo>
                    <a:pt x="156" y="38"/>
                  </a:lnTo>
                  <a:lnTo>
                    <a:pt x="169" y="35"/>
                  </a:lnTo>
                  <a:lnTo>
                    <a:pt x="184" y="32"/>
                  </a:lnTo>
                  <a:lnTo>
                    <a:pt x="212" y="27"/>
                  </a:lnTo>
                  <a:lnTo>
                    <a:pt x="227" y="24"/>
                  </a:lnTo>
                  <a:lnTo>
                    <a:pt x="240" y="23"/>
                  </a:lnTo>
                  <a:lnTo>
                    <a:pt x="254" y="20"/>
                  </a:lnTo>
                  <a:lnTo>
                    <a:pt x="267" y="18"/>
                  </a:lnTo>
                  <a:lnTo>
                    <a:pt x="279" y="17"/>
                  </a:lnTo>
                  <a:lnTo>
                    <a:pt x="292" y="15"/>
                  </a:lnTo>
                  <a:lnTo>
                    <a:pt x="315" y="11"/>
                  </a:lnTo>
                  <a:lnTo>
                    <a:pt x="339" y="8"/>
                  </a:lnTo>
                  <a:lnTo>
                    <a:pt x="363" y="5"/>
                  </a:lnTo>
                  <a:lnTo>
                    <a:pt x="385" y="2"/>
                  </a:lnTo>
                  <a:lnTo>
                    <a:pt x="396" y="2"/>
                  </a:lnTo>
                  <a:lnTo>
                    <a:pt x="406" y="2"/>
                  </a:lnTo>
                  <a:lnTo>
                    <a:pt x="417" y="0"/>
                  </a:lnTo>
                  <a:lnTo>
                    <a:pt x="425" y="2"/>
                  </a:lnTo>
                  <a:lnTo>
                    <a:pt x="435" y="2"/>
                  </a:lnTo>
                  <a:lnTo>
                    <a:pt x="444" y="3"/>
                  </a:lnTo>
                  <a:lnTo>
                    <a:pt x="451" y="5"/>
                  </a:lnTo>
                  <a:lnTo>
                    <a:pt x="460" y="6"/>
                  </a:lnTo>
                  <a:lnTo>
                    <a:pt x="462" y="8"/>
                  </a:lnTo>
                  <a:lnTo>
                    <a:pt x="466" y="9"/>
                  </a:lnTo>
                  <a:lnTo>
                    <a:pt x="471" y="12"/>
                  </a:lnTo>
                  <a:lnTo>
                    <a:pt x="474" y="17"/>
                  </a:lnTo>
                  <a:lnTo>
                    <a:pt x="478" y="21"/>
                  </a:lnTo>
                  <a:lnTo>
                    <a:pt x="480" y="27"/>
                  </a:lnTo>
                  <a:lnTo>
                    <a:pt x="483" y="32"/>
                  </a:lnTo>
                  <a:lnTo>
                    <a:pt x="487" y="44"/>
                  </a:lnTo>
                  <a:lnTo>
                    <a:pt x="489" y="50"/>
                  </a:lnTo>
                  <a:lnTo>
                    <a:pt x="491" y="57"/>
                  </a:lnTo>
                  <a:lnTo>
                    <a:pt x="494" y="63"/>
                  </a:lnTo>
                  <a:lnTo>
                    <a:pt x="496" y="69"/>
                  </a:lnTo>
                  <a:lnTo>
                    <a:pt x="500" y="75"/>
                  </a:lnTo>
                  <a:lnTo>
                    <a:pt x="505" y="81"/>
                  </a:lnTo>
                  <a:lnTo>
                    <a:pt x="509" y="84"/>
                  </a:lnTo>
                  <a:lnTo>
                    <a:pt x="511" y="87"/>
                  </a:lnTo>
                  <a:lnTo>
                    <a:pt x="515" y="90"/>
                  </a:lnTo>
                  <a:lnTo>
                    <a:pt x="518" y="91"/>
                  </a:lnTo>
                  <a:lnTo>
                    <a:pt x="527" y="96"/>
                  </a:lnTo>
                  <a:lnTo>
                    <a:pt x="537" y="102"/>
                  </a:lnTo>
                  <a:lnTo>
                    <a:pt x="548" y="106"/>
                  </a:lnTo>
                  <a:lnTo>
                    <a:pt x="559" y="111"/>
                  </a:lnTo>
                  <a:lnTo>
                    <a:pt x="571" y="117"/>
                  </a:lnTo>
                  <a:lnTo>
                    <a:pt x="585" y="121"/>
                  </a:lnTo>
                  <a:lnTo>
                    <a:pt x="598" y="126"/>
                  </a:lnTo>
                  <a:lnTo>
                    <a:pt x="612" y="130"/>
                  </a:lnTo>
                  <a:lnTo>
                    <a:pt x="639" y="140"/>
                  </a:lnTo>
                  <a:lnTo>
                    <a:pt x="667" y="148"/>
                  </a:lnTo>
                  <a:lnTo>
                    <a:pt x="679" y="151"/>
                  </a:lnTo>
                  <a:lnTo>
                    <a:pt x="693" y="155"/>
                  </a:lnTo>
                  <a:lnTo>
                    <a:pt x="705" y="158"/>
                  </a:lnTo>
                  <a:lnTo>
                    <a:pt x="717" y="161"/>
                  </a:lnTo>
                  <a:lnTo>
                    <a:pt x="728" y="163"/>
                  </a:lnTo>
                  <a:lnTo>
                    <a:pt x="739" y="164"/>
                  </a:lnTo>
                  <a:lnTo>
                    <a:pt x="762" y="167"/>
                  </a:lnTo>
                  <a:lnTo>
                    <a:pt x="787" y="169"/>
                  </a:lnTo>
                  <a:lnTo>
                    <a:pt x="798" y="170"/>
                  </a:lnTo>
                  <a:lnTo>
                    <a:pt x="809" y="170"/>
                  </a:lnTo>
                  <a:lnTo>
                    <a:pt x="820" y="170"/>
                  </a:lnTo>
                  <a:lnTo>
                    <a:pt x="831" y="170"/>
                  </a:lnTo>
                  <a:lnTo>
                    <a:pt x="841" y="170"/>
                  </a:lnTo>
                  <a:lnTo>
                    <a:pt x="851" y="170"/>
                  </a:lnTo>
                  <a:lnTo>
                    <a:pt x="859" y="170"/>
                  </a:lnTo>
                  <a:lnTo>
                    <a:pt x="868" y="170"/>
                  </a:lnTo>
                  <a:lnTo>
                    <a:pt x="875" y="170"/>
                  </a:lnTo>
                  <a:lnTo>
                    <a:pt x="883" y="172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97" name="Freeform 365"/>
            <p:cNvSpPr>
              <a:spLocks/>
            </p:cNvSpPr>
            <p:nvPr/>
          </p:nvSpPr>
          <p:spPr bwMode="auto">
            <a:xfrm>
              <a:off x="3371" y="3313"/>
              <a:ext cx="883" cy="86"/>
            </a:xfrm>
            <a:custGeom>
              <a:avLst/>
              <a:gdLst>
                <a:gd name="T0" fmla="*/ 3 w 883"/>
                <a:gd name="T1" fmla="*/ 169 h 172"/>
                <a:gd name="T2" fmla="*/ 9 w 883"/>
                <a:gd name="T3" fmla="*/ 157 h 172"/>
                <a:gd name="T4" fmla="*/ 16 w 883"/>
                <a:gd name="T5" fmla="*/ 143 h 172"/>
                <a:gd name="T6" fmla="*/ 25 w 883"/>
                <a:gd name="T7" fmla="*/ 128 h 172"/>
                <a:gd name="T8" fmla="*/ 34 w 883"/>
                <a:gd name="T9" fmla="*/ 112 h 172"/>
                <a:gd name="T10" fmla="*/ 47 w 883"/>
                <a:gd name="T11" fmla="*/ 96 h 172"/>
                <a:gd name="T12" fmla="*/ 60 w 883"/>
                <a:gd name="T13" fmla="*/ 81 h 172"/>
                <a:gd name="T14" fmla="*/ 76 w 883"/>
                <a:gd name="T15" fmla="*/ 67 h 172"/>
                <a:gd name="T16" fmla="*/ 95 w 883"/>
                <a:gd name="T17" fmla="*/ 57 h 172"/>
                <a:gd name="T18" fmla="*/ 118 w 883"/>
                <a:gd name="T19" fmla="*/ 48 h 172"/>
                <a:gd name="T20" fmla="*/ 142 w 883"/>
                <a:gd name="T21" fmla="*/ 41 h 172"/>
                <a:gd name="T22" fmla="*/ 169 w 883"/>
                <a:gd name="T23" fmla="*/ 35 h 172"/>
                <a:gd name="T24" fmla="*/ 212 w 883"/>
                <a:gd name="T25" fmla="*/ 27 h 172"/>
                <a:gd name="T26" fmla="*/ 240 w 883"/>
                <a:gd name="T27" fmla="*/ 23 h 172"/>
                <a:gd name="T28" fmla="*/ 267 w 883"/>
                <a:gd name="T29" fmla="*/ 18 h 172"/>
                <a:gd name="T30" fmla="*/ 292 w 883"/>
                <a:gd name="T31" fmla="*/ 15 h 172"/>
                <a:gd name="T32" fmla="*/ 340 w 883"/>
                <a:gd name="T33" fmla="*/ 8 h 172"/>
                <a:gd name="T34" fmla="*/ 385 w 883"/>
                <a:gd name="T35" fmla="*/ 2 h 172"/>
                <a:gd name="T36" fmla="*/ 406 w 883"/>
                <a:gd name="T37" fmla="*/ 2 h 172"/>
                <a:gd name="T38" fmla="*/ 426 w 883"/>
                <a:gd name="T39" fmla="*/ 2 h 172"/>
                <a:gd name="T40" fmla="*/ 444 w 883"/>
                <a:gd name="T41" fmla="*/ 3 h 172"/>
                <a:gd name="T42" fmla="*/ 460 w 883"/>
                <a:gd name="T43" fmla="*/ 6 h 172"/>
                <a:gd name="T44" fmla="*/ 466 w 883"/>
                <a:gd name="T45" fmla="*/ 9 h 172"/>
                <a:gd name="T46" fmla="*/ 475 w 883"/>
                <a:gd name="T47" fmla="*/ 17 h 172"/>
                <a:gd name="T48" fmla="*/ 481 w 883"/>
                <a:gd name="T49" fmla="*/ 27 h 172"/>
                <a:gd name="T50" fmla="*/ 487 w 883"/>
                <a:gd name="T51" fmla="*/ 44 h 172"/>
                <a:gd name="T52" fmla="*/ 492 w 883"/>
                <a:gd name="T53" fmla="*/ 57 h 172"/>
                <a:gd name="T54" fmla="*/ 497 w 883"/>
                <a:gd name="T55" fmla="*/ 69 h 172"/>
                <a:gd name="T56" fmla="*/ 505 w 883"/>
                <a:gd name="T57" fmla="*/ 81 h 172"/>
                <a:gd name="T58" fmla="*/ 511 w 883"/>
                <a:gd name="T59" fmla="*/ 87 h 172"/>
                <a:gd name="T60" fmla="*/ 519 w 883"/>
                <a:gd name="T61" fmla="*/ 91 h 172"/>
                <a:gd name="T62" fmla="*/ 537 w 883"/>
                <a:gd name="T63" fmla="*/ 102 h 172"/>
                <a:gd name="T64" fmla="*/ 559 w 883"/>
                <a:gd name="T65" fmla="*/ 111 h 172"/>
                <a:gd name="T66" fmla="*/ 585 w 883"/>
                <a:gd name="T67" fmla="*/ 121 h 172"/>
                <a:gd name="T68" fmla="*/ 612 w 883"/>
                <a:gd name="T69" fmla="*/ 130 h 172"/>
                <a:gd name="T70" fmla="*/ 667 w 883"/>
                <a:gd name="T71" fmla="*/ 148 h 172"/>
                <a:gd name="T72" fmla="*/ 693 w 883"/>
                <a:gd name="T73" fmla="*/ 155 h 172"/>
                <a:gd name="T74" fmla="*/ 717 w 883"/>
                <a:gd name="T75" fmla="*/ 161 h 172"/>
                <a:gd name="T76" fmla="*/ 739 w 883"/>
                <a:gd name="T77" fmla="*/ 164 h 172"/>
                <a:gd name="T78" fmla="*/ 787 w 883"/>
                <a:gd name="T79" fmla="*/ 169 h 172"/>
                <a:gd name="T80" fmla="*/ 809 w 883"/>
                <a:gd name="T81" fmla="*/ 170 h 172"/>
                <a:gd name="T82" fmla="*/ 831 w 883"/>
                <a:gd name="T83" fmla="*/ 170 h 172"/>
                <a:gd name="T84" fmla="*/ 851 w 883"/>
                <a:gd name="T85" fmla="*/ 170 h 172"/>
                <a:gd name="T86" fmla="*/ 868 w 883"/>
                <a:gd name="T87" fmla="*/ 170 h 172"/>
                <a:gd name="T88" fmla="*/ 883 w 883"/>
                <a:gd name="T89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83" h="172">
                  <a:moveTo>
                    <a:pt x="0" y="172"/>
                  </a:moveTo>
                  <a:lnTo>
                    <a:pt x="3" y="169"/>
                  </a:lnTo>
                  <a:lnTo>
                    <a:pt x="5" y="163"/>
                  </a:lnTo>
                  <a:lnTo>
                    <a:pt x="9" y="157"/>
                  </a:lnTo>
                  <a:lnTo>
                    <a:pt x="12" y="151"/>
                  </a:lnTo>
                  <a:lnTo>
                    <a:pt x="16" y="143"/>
                  </a:lnTo>
                  <a:lnTo>
                    <a:pt x="20" y="136"/>
                  </a:lnTo>
                  <a:lnTo>
                    <a:pt x="25" y="128"/>
                  </a:lnTo>
                  <a:lnTo>
                    <a:pt x="30" y="120"/>
                  </a:lnTo>
                  <a:lnTo>
                    <a:pt x="34" y="112"/>
                  </a:lnTo>
                  <a:lnTo>
                    <a:pt x="41" y="103"/>
                  </a:lnTo>
                  <a:lnTo>
                    <a:pt x="47" y="96"/>
                  </a:lnTo>
                  <a:lnTo>
                    <a:pt x="53" y="87"/>
                  </a:lnTo>
                  <a:lnTo>
                    <a:pt x="60" y="81"/>
                  </a:lnTo>
                  <a:lnTo>
                    <a:pt x="69" y="73"/>
                  </a:lnTo>
                  <a:lnTo>
                    <a:pt x="76" y="67"/>
                  </a:lnTo>
                  <a:lnTo>
                    <a:pt x="86" y="61"/>
                  </a:lnTo>
                  <a:lnTo>
                    <a:pt x="95" y="57"/>
                  </a:lnTo>
                  <a:lnTo>
                    <a:pt x="106" y="53"/>
                  </a:lnTo>
                  <a:lnTo>
                    <a:pt x="118" y="48"/>
                  </a:lnTo>
                  <a:lnTo>
                    <a:pt x="130" y="45"/>
                  </a:lnTo>
                  <a:lnTo>
                    <a:pt x="142" y="41"/>
                  </a:lnTo>
                  <a:lnTo>
                    <a:pt x="156" y="38"/>
                  </a:lnTo>
                  <a:lnTo>
                    <a:pt x="169" y="35"/>
                  </a:lnTo>
                  <a:lnTo>
                    <a:pt x="184" y="32"/>
                  </a:lnTo>
                  <a:lnTo>
                    <a:pt x="212" y="27"/>
                  </a:lnTo>
                  <a:lnTo>
                    <a:pt x="227" y="24"/>
                  </a:lnTo>
                  <a:lnTo>
                    <a:pt x="240" y="23"/>
                  </a:lnTo>
                  <a:lnTo>
                    <a:pt x="254" y="20"/>
                  </a:lnTo>
                  <a:lnTo>
                    <a:pt x="267" y="18"/>
                  </a:lnTo>
                  <a:lnTo>
                    <a:pt x="280" y="17"/>
                  </a:lnTo>
                  <a:lnTo>
                    <a:pt x="292" y="15"/>
                  </a:lnTo>
                  <a:lnTo>
                    <a:pt x="315" y="11"/>
                  </a:lnTo>
                  <a:lnTo>
                    <a:pt x="340" y="8"/>
                  </a:lnTo>
                  <a:lnTo>
                    <a:pt x="363" y="5"/>
                  </a:lnTo>
                  <a:lnTo>
                    <a:pt x="385" y="2"/>
                  </a:lnTo>
                  <a:lnTo>
                    <a:pt x="396" y="2"/>
                  </a:lnTo>
                  <a:lnTo>
                    <a:pt x="406" y="2"/>
                  </a:lnTo>
                  <a:lnTo>
                    <a:pt x="417" y="0"/>
                  </a:lnTo>
                  <a:lnTo>
                    <a:pt x="426" y="2"/>
                  </a:lnTo>
                  <a:lnTo>
                    <a:pt x="435" y="2"/>
                  </a:lnTo>
                  <a:lnTo>
                    <a:pt x="444" y="3"/>
                  </a:lnTo>
                  <a:lnTo>
                    <a:pt x="451" y="5"/>
                  </a:lnTo>
                  <a:lnTo>
                    <a:pt x="460" y="6"/>
                  </a:lnTo>
                  <a:lnTo>
                    <a:pt x="462" y="8"/>
                  </a:lnTo>
                  <a:lnTo>
                    <a:pt x="466" y="9"/>
                  </a:lnTo>
                  <a:lnTo>
                    <a:pt x="471" y="12"/>
                  </a:lnTo>
                  <a:lnTo>
                    <a:pt x="475" y="17"/>
                  </a:lnTo>
                  <a:lnTo>
                    <a:pt x="478" y="21"/>
                  </a:lnTo>
                  <a:lnTo>
                    <a:pt x="481" y="27"/>
                  </a:lnTo>
                  <a:lnTo>
                    <a:pt x="483" y="32"/>
                  </a:lnTo>
                  <a:lnTo>
                    <a:pt x="487" y="44"/>
                  </a:lnTo>
                  <a:lnTo>
                    <a:pt x="489" y="50"/>
                  </a:lnTo>
                  <a:lnTo>
                    <a:pt x="492" y="57"/>
                  </a:lnTo>
                  <a:lnTo>
                    <a:pt x="494" y="63"/>
                  </a:lnTo>
                  <a:lnTo>
                    <a:pt x="497" y="69"/>
                  </a:lnTo>
                  <a:lnTo>
                    <a:pt x="500" y="75"/>
                  </a:lnTo>
                  <a:lnTo>
                    <a:pt x="505" y="81"/>
                  </a:lnTo>
                  <a:lnTo>
                    <a:pt x="509" y="84"/>
                  </a:lnTo>
                  <a:lnTo>
                    <a:pt x="511" y="87"/>
                  </a:lnTo>
                  <a:lnTo>
                    <a:pt x="515" y="90"/>
                  </a:lnTo>
                  <a:lnTo>
                    <a:pt x="519" y="91"/>
                  </a:lnTo>
                  <a:lnTo>
                    <a:pt x="527" y="96"/>
                  </a:lnTo>
                  <a:lnTo>
                    <a:pt x="537" y="102"/>
                  </a:lnTo>
                  <a:lnTo>
                    <a:pt x="548" y="106"/>
                  </a:lnTo>
                  <a:lnTo>
                    <a:pt x="559" y="111"/>
                  </a:lnTo>
                  <a:lnTo>
                    <a:pt x="571" y="117"/>
                  </a:lnTo>
                  <a:lnTo>
                    <a:pt x="585" y="121"/>
                  </a:lnTo>
                  <a:lnTo>
                    <a:pt x="598" y="126"/>
                  </a:lnTo>
                  <a:lnTo>
                    <a:pt x="612" y="130"/>
                  </a:lnTo>
                  <a:lnTo>
                    <a:pt x="639" y="140"/>
                  </a:lnTo>
                  <a:lnTo>
                    <a:pt x="667" y="148"/>
                  </a:lnTo>
                  <a:lnTo>
                    <a:pt x="679" y="151"/>
                  </a:lnTo>
                  <a:lnTo>
                    <a:pt x="693" y="155"/>
                  </a:lnTo>
                  <a:lnTo>
                    <a:pt x="705" y="158"/>
                  </a:lnTo>
                  <a:lnTo>
                    <a:pt x="717" y="161"/>
                  </a:lnTo>
                  <a:lnTo>
                    <a:pt x="728" y="163"/>
                  </a:lnTo>
                  <a:lnTo>
                    <a:pt x="739" y="164"/>
                  </a:lnTo>
                  <a:lnTo>
                    <a:pt x="763" y="167"/>
                  </a:lnTo>
                  <a:lnTo>
                    <a:pt x="787" y="169"/>
                  </a:lnTo>
                  <a:lnTo>
                    <a:pt x="798" y="170"/>
                  </a:lnTo>
                  <a:lnTo>
                    <a:pt x="809" y="170"/>
                  </a:lnTo>
                  <a:lnTo>
                    <a:pt x="820" y="170"/>
                  </a:lnTo>
                  <a:lnTo>
                    <a:pt x="831" y="170"/>
                  </a:lnTo>
                  <a:lnTo>
                    <a:pt x="841" y="170"/>
                  </a:lnTo>
                  <a:lnTo>
                    <a:pt x="851" y="170"/>
                  </a:lnTo>
                  <a:lnTo>
                    <a:pt x="860" y="170"/>
                  </a:lnTo>
                  <a:lnTo>
                    <a:pt x="868" y="170"/>
                  </a:lnTo>
                  <a:lnTo>
                    <a:pt x="875" y="170"/>
                  </a:lnTo>
                  <a:lnTo>
                    <a:pt x="883" y="172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98" name="Freeform 366"/>
            <p:cNvSpPr>
              <a:spLocks/>
            </p:cNvSpPr>
            <p:nvPr/>
          </p:nvSpPr>
          <p:spPr bwMode="auto">
            <a:xfrm>
              <a:off x="2672" y="3314"/>
              <a:ext cx="699" cy="85"/>
            </a:xfrm>
            <a:custGeom>
              <a:avLst/>
              <a:gdLst>
                <a:gd name="T0" fmla="*/ 0 w 699"/>
                <a:gd name="T1" fmla="*/ 30 h 170"/>
                <a:gd name="T2" fmla="*/ 107 w 699"/>
                <a:gd name="T3" fmla="*/ 13 h 170"/>
                <a:gd name="T4" fmla="*/ 117 w 699"/>
                <a:gd name="T5" fmla="*/ 12 h 170"/>
                <a:gd name="T6" fmla="*/ 127 w 699"/>
                <a:gd name="T7" fmla="*/ 10 h 170"/>
                <a:gd name="T8" fmla="*/ 136 w 699"/>
                <a:gd name="T9" fmla="*/ 9 h 170"/>
                <a:gd name="T10" fmla="*/ 147 w 699"/>
                <a:gd name="T11" fmla="*/ 7 h 170"/>
                <a:gd name="T12" fmla="*/ 158 w 699"/>
                <a:gd name="T13" fmla="*/ 6 h 170"/>
                <a:gd name="T14" fmla="*/ 171 w 699"/>
                <a:gd name="T15" fmla="*/ 4 h 170"/>
                <a:gd name="T16" fmla="*/ 194 w 699"/>
                <a:gd name="T17" fmla="*/ 3 h 170"/>
                <a:gd name="T18" fmla="*/ 205 w 699"/>
                <a:gd name="T19" fmla="*/ 1 h 170"/>
                <a:gd name="T20" fmla="*/ 217 w 699"/>
                <a:gd name="T21" fmla="*/ 0 h 170"/>
                <a:gd name="T22" fmla="*/ 228 w 699"/>
                <a:gd name="T23" fmla="*/ 0 h 170"/>
                <a:gd name="T24" fmla="*/ 239 w 699"/>
                <a:gd name="T25" fmla="*/ 0 h 170"/>
                <a:gd name="T26" fmla="*/ 249 w 699"/>
                <a:gd name="T27" fmla="*/ 0 h 170"/>
                <a:gd name="T28" fmla="*/ 259 w 699"/>
                <a:gd name="T29" fmla="*/ 1 h 170"/>
                <a:gd name="T30" fmla="*/ 268 w 699"/>
                <a:gd name="T31" fmla="*/ 3 h 170"/>
                <a:gd name="T32" fmla="*/ 275 w 699"/>
                <a:gd name="T33" fmla="*/ 4 h 170"/>
                <a:gd name="T34" fmla="*/ 279 w 699"/>
                <a:gd name="T35" fmla="*/ 6 h 170"/>
                <a:gd name="T36" fmla="*/ 281 w 699"/>
                <a:gd name="T37" fmla="*/ 7 h 170"/>
                <a:gd name="T38" fmla="*/ 286 w 699"/>
                <a:gd name="T39" fmla="*/ 10 h 170"/>
                <a:gd name="T40" fmla="*/ 291 w 699"/>
                <a:gd name="T41" fmla="*/ 15 h 170"/>
                <a:gd name="T42" fmla="*/ 295 w 699"/>
                <a:gd name="T43" fmla="*/ 19 h 170"/>
                <a:gd name="T44" fmla="*/ 297 w 699"/>
                <a:gd name="T45" fmla="*/ 25 h 170"/>
                <a:gd name="T46" fmla="*/ 299 w 699"/>
                <a:gd name="T47" fmla="*/ 30 h 170"/>
                <a:gd name="T48" fmla="*/ 303 w 699"/>
                <a:gd name="T49" fmla="*/ 42 h 170"/>
                <a:gd name="T50" fmla="*/ 304 w 699"/>
                <a:gd name="T51" fmla="*/ 48 h 170"/>
                <a:gd name="T52" fmla="*/ 307 w 699"/>
                <a:gd name="T53" fmla="*/ 55 h 170"/>
                <a:gd name="T54" fmla="*/ 309 w 699"/>
                <a:gd name="T55" fmla="*/ 61 h 170"/>
                <a:gd name="T56" fmla="*/ 313 w 699"/>
                <a:gd name="T57" fmla="*/ 67 h 170"/>
                <a:gd name="T58" fmla="*/ 317 w 699"/>
                <a:gd name="T59" fmla="*/ 73 h 170"/>
                <a:gd name="T60" fmla="*/ 322 w 699"/>
                <a:gd name="T61" fmla="*/ 79 h 170"/>
                <a:gd name="T62" fmla="*/ 324 w 699"/>
                <a:gd name="T63" fmla="*/ 82 h 170"/>
                <a:gd name="T64" fmla="*/ 328 w 699"/>
                <a:gd name="T65" fmla="*/ 85 h 170"/>
                <a:gd name="T66" fmla="*/ 331 w 699"/>
                <a:gd name="T67" fmla="*/ 88 h 170"/>
                <a:gd name="T68" fmla="*/ 335 w 699"/>
                <a:gd name="T69" fmla="*/ 89 h 170"/>
                <a:gd name="T70" fmla="*/ 344 w 699"/>
                <a:gd name="T71" fmla="*/ 94 h 170"/>
                <a:gd name="T72" fmla="*/ 353 w 699"/>
                <a:gd name="T73" fmla="*/ 100 h 170"/>
                <a:gd name="T74" fmla="*/ 363 w 699"/>
                <a:gd name="T75" fmla="*/ 104 h 170"/>
                <a:gd name="T76" fmla="*/ 375 w 699"/>
                <a:gd name="T77" fmla="*/ 109 h 170"/>
                <a:gd name="T78" fmla="*/ 388 w 699"/>
                <a:gd name="T79" fmla="*/ 115 h 170"/>
                <a:gd name="T80" fmla="*/ 400 w 699"/>
                <a:gd name="T81" fmla="*/ 119 h 170"/>
                <a:gd name="T82" fmla="*/ 413 w 699"/>
                <a:gd name="T83" fmla="*/ 124 h 170"/>
                <a:gd name="T84" fmla="*/ 427 w 699"/>
                <a:gd name="T85" fmla="*/ 128 h 170"/>
                <a:gd name="T86" fmla="*/ 455 w 699"/>
                <a:gd name="T87" fmla="*/ 138 h 170"/>
                <a:gd name="T88" fmla="*/ 482 w 699"/>
                <a:gd name="T89" fmla="*/ 146 h 170"/>
                <a:gd name="T90" fmla="*/ 496 w 699"/>
                <a:gd name="T91" fmla="*/ 149 h 170"/>
                <a:gd name="T92" fmla="*/ 509 w 699"/>
                <a:gd name="T93" fmla="*/ 153 h 170"/>
                <a:gd name="T94" fmla="*/ 521 w 699"/>
                <a:gd name="T95" fmla="*/ 156 h 170"/>
                <a:gd name="T96" fmla="*/ 532 w 699"/>
                <a:gd name="T97" fmla="*/ 159 h 170"/>
                <a:gd name="T98" fmla="*/ 545 w 699"/>
                <a:gd name="T99" fmla="*/ 161 h 170"/>
                <a:gd name="T100" fmla="*/ 556 w 699"/>
                <a:gd name="T101" fmla="*/ 162 h 170"/>
                <a:gd name="T102" fmla="*/ 579 w 699"/>
                <a:gd name="T103" fmla="*/ 165 h 170"/>
                <a:gd name="T104" fmla="*/ 602 w 699"/>
                <a:gd name="T105" fmla="*/ 167 h 170"/>
                <a:gd name="T106" fmla="*/ 615 w 699"/>
                <a:gd name="T107" fmla="*/ 168 h 170"/>
                <a:gd name="T108" fmla="*/ 626 w 699"/>
                <a:gd name="T109" fmla="*/ 168 h 170"/>
                <a:gd name="T110" fmla="*/ 637 w 699"/>
                <a:gd name="T111" fmla="*/ 168 h 170"/>
                <a:gd name="T112" fmla="*/ 646 w 699"/>
                <a:gd name="T113" fmla="*/ 168 h 170"/>
                <a:gd name="T114" fmla="*/ 657 w 699"/>
                <a:gd name="T115" fmla="*/ 168 h 170"/>
                <a:gd name="T116" fmla="*/ 667 w 699"/>
                <a:gd name="T117" fmla="*/ 168 h 170"/>
                <a:gd name="T118" fmla="*/ 676 w 699"/>
                <a:gd name="T119" fmla="*/ 168 h 170"/>
                <a:gd name="T120" fmla="*/ 684 w 699"/>
                <a:gd name="T121" fmla="*/ 168 h 170"/>
                <a:gd name="T122" fmla="*/ 692 w 699"/>
                <a:gd name="T123" fmla="*/ 168 h 170"/>
                <a:gd name="T124" fmla="*/ 699 w 699"/>
                <a:gd name="T125" fmla="*/ 17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99" h="170">
                  <a:moveTo>
                    <a:pt x="0" y="30"/>
                  </a:moveTo>
                  <a:lnTo>
                    <a:pt x="107" y="13"/>
                  </a:lnTo>
                  <a:lnTo>
                    <a:pt x="117" y="12"/>
                  </a:lnTo>
                  <a:lnTo>
                    <a:pt x="127" y="10"/>
                  </a:lnTo>
                  <a:lnTo>
                    <a:pt x="136" y="9"/>
                  </a:lnTo>
                  <a:lnTo>
                    <a:pt x="147" y="7"/>
                  </a:lnTo>
                  <a:lnTo>
                    <a:pt x="158" y="6"/>
                  </a:lnTo>
                  <a:lnTo>
                    <a:pt x="171" y="4"/>
                  </a:lnTo>
                  <a:lnTo>
                    <a:pt x="194" y="3"/>
                  </a:lnTo>
                  <a:lnTo>
                    <a:pt x="205" y="1"/>
                  </a:lnTo>
                  <a:lnTo>
                    <a:pt x="217" y="0"/>
                  </a:lnTo>
                  <a:lnTo>
                    <a:pt x="228" y="0"/>
                  </a:lnTo>
                  <a:lnTo>
                    <a:pt x="239" y="0"/>
                  </a:lnTo>
                  <a:lnTo>
                    <a:pt x="249" y="0"/>
                  </a:lnTo>
                  <a:lnTo>
                    <a:pt x="259" y="1"/>
                  </a:lnTo>
                  <a:lnTo>
                    <a:pt x="268" y="3"/>
                  </a:lnTo>
                  <a:lnTo>
                    <a:pt x="275" y="4"/>
                  </a:lnTo>
                  <a:lnTo>
                    <a:pt x="279" y="6"/>
                  </a:lnTo>
                  <a:lnTo>
                    <a:pt x="281" y="7"/>
                  </a:lnTo>
                  <a:lnTo>
                    <a:pt x="286" y="10"/>
                  </a:lnTo>
                  <a:lnTo>
                    <a:pt x="291" y="15"/>
                  </a:lnTo>
                  <a:lnTo>
                    <a:pt x="295" y="19"/>
                  </a:lnTo>
                  <a:lnTo>
                    <a:pt x="297" y="25"/>
                  </a:lnTo>
                  <a:lnTo>
                    <a:pt x="299" y="30"/>
                  </a:lnTo>
                  <a:lnTo>
                    <a:pt x="303" y="42"/>
                  </a:lnTo>
                  <a:lnTo>
                    <a:pt x="304" y="48"/>
                  </a:lnTo>
                  <a:lnTo>
                    <a:pt x="307" y="55"/>
                  </a:lnTo>
                  <a:lnTo>
                    <a:pt x="309" y="61"/>
                  </a:lnTo>
                  <a:lnTo>
                    <a:pt x="313" y="67"/>
                  </a:lnTo>
                  <a:lnTo>
                    <a:pt x="317" y="73"/>
                  </a:lnTo>
                  <a:lnTo>
                    <a:pt x="322" y="79"/>
                  </a:lnTo>
                  <a:lnTo>
                    <a:pt x="324" y="82"/>
                  </a:lnTo>
                  <a:lnTo>
                    <a:pt x="328" y="85"/>
                  </a:lnTo>
                  <a:lnTo>
                    <a:pt x="331" y="88"/>
                  </a:lnTo>
                  <a:lnTo>
                    <a:pt x="335" y="89"/>
                  </a:lnTo>
                  <a:lnTo>
                    <a:pt x="344" y="94"/>
                  </a:lnTo>
                  <a:lnTo>
                    <a:pt x="353" y="100"/>
                  </a:lnTo>
                  <a:lnTo>
                    <a:pt x="363" y="104"/>
                  </a:lnTo>
                  <a:lnTo>
                    <a:pt x="375" y="109"/>
                  </a:lnTo>
                  <a:lnTo>
                    <a:pt x="388" y="115"/>
                  </a:lnTo>
                  <a:lnTo>
                    <a:pt x="400" y="119"/>
                  </a:lnTo>
                  <a:lnTo>
                    <a:pt x="413" y="124"/>
                  </a:lnTo>
                  <a:lnTo>
                    <a:pt x="427" y="128"/>
                  </a:lnTo>
                  <a:lnTo>
                    <a:pt x="455" y="138"/>
                  </a:lnTo>
                  <a:lnTo>
                    <a:pt x="482" y="146"/>
                  </a:lnTo>
                  <a:lnTo>
                    <a:pt x="496" y="149"/>
                  </a:lnTo>
                  <a:lnTo>
                    <a:pt x="509" y="153"/>
                  </a:lnTo>
                  <a:lnTo>
                    <a:pt x="521" y="156"/>
                  </a:lnTo>
                  <a:lnTo>
                    <a:pt x="532" y="159"/>
                  </a:lnTo>
                  <a:lnTo>
                    <a:pt x="545" y="161"/>
                  </a:lnTo>
                  <a:lnTo>
                    <a:pt x="556" y="162"/>
                  </a:lnTo>
                  <a:lnTo>
                    <a:pt x="579" y="165"/>
                  </a:lnTo>
                  <a:lnTo>
                    <a:pt x="602" y="167"/>
                  </a:lnTo>
                  <a:lnTo>
                    <a:pt x="615" y="168"/>
                  </a:lnTo>
                  <a:lnTo>
                    <a:pt x="626" y="168"/>
                  </a:lnTo>
                  <a:lnTo>
                    <a:pt x="637" y="168"/>
                  </a:lnTo>
                  <a:lnTo>
                    <a:pt x="646" y="168"/>
                  </a:lnTo>
                  <a:lnTo>
                    <a:pt x="657" y="168"/>
                  </a:lnTo>
                  <a:lnTo>
                    <a:pt x="667" y="168"/>
                  </a:lnTo>
                  <a:lnTo>
                    <a:pt x="676" y="168"/>
                  </a:lnTo>
                  <a:lnTo>
                    <a:pt x="684" y="168"/>
                  </a:lnTo>
                  <a:lnTo>
                    <a:pt x="692" y="168"/>
                  </a:lnTo>
                  <a:lnTo>
                    <a:pt x="699" y="17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7999" name="Freeform 367"/>
            <p:cNvSpPr>
              <a:spLocks/>
            </p:cNvSpPr>
            <p:nvPr/>
          </p:nvSpPr>
          <p:spPr bwMode="auto">
            <a:xfrm>
              <a:off x="5137" y="3325"/>
              <a:ext cx="257" cy="74"/>
            </a:xfrm>
            <a:custGeom>
              <a:avLst/>
              <a:gdLst>
                <a:gd name="T0" fmla="*/ 0 w 257"/>
                <a:gd name="T1" fmla="*/ 148 h 148"/>
                <a:gd name="T2" fmla="*/ 1 w 257"/>
                <a:gd name="T3" fmla="*/ 145 h 148"/>
                <a:gd name="T4" fmla="*/ 4 w 257"/>
                <a:gd name="T5" fmla="*/ 140 h 148"/>
                <a:gd name="T6" fmla="*/ 7 w 257"/>
                <a:gd name="T7" fmla="*/ 136 h 148"/>
                <a:gd name="T8" fmla="*/ 11 w 257"/>
                <a:gd name="T9" fmla="*/ 130 h 148"/>
                <a:gd name="T10" fmla="*/ 14 w 257"/>
                <a:gd name="T11" fmla="*/ 124 h 148"/>
                <a:gd name="T12" fmla="*/ 18 w 257"/>
                <a:gd name="T13" fmla="*/ 116 h 148"/>
                <a:gd name="T14" fmla="*/ 27 w 257"/>
                <a:gd name="T15" fmla="*/ 103 h 148"/>
                <a:gd name="T16" fmla="*/ 36 w 257"/>
                <a:gd name="T17" fmla="*/ 88 h 148"/>
                <a:gd name="T18" fmla="*/ 41 w 257"/>
                <a:gd name="T19" fmla="*/ 81 h 148"/>
                <a:gd name="T20" fmla="*/ 46 w 257"/>
                <a:gd name="T21" fmla="*/ 75 h 148"/>
                <a:gd name="T22" fmla="*/ 51 w 257"/>
                <a:gd name="T23" fmla="*/ 67 h 148"/>
                <a:gd name="T24" fmla="*/ 57 w 257"/>
                <a:gd name="T25" fmla="*/ 61 h 148"/>
                <a:gd name="T26" fmla="*/ 62 w 257"/>
                <a:gd name="T27" fmla="*/ 57 h 148"/>
                <a:gd name="T28" fmla="*/ 67 w 257"/>
                <a:gd name="T29" fmla="*/ 52 h 148"/>
                <a:gd name="T30" fmla="*/ 73 w 257"/>
                <a:gd name="T31" fmla="*/ 48 h 148"/>
                <a:gd name="T32" fmla="*/ 78 w 257"/>
                <a:gd name="T33" fmla="*/ 45 h 148"/>
                <a:gd name="T34" fmla="*/ 90 w 257"/>
                <a:gd name="T35" fmla="*/ 37 h 148"/>
                <a:gd name="T36" fmla="*/ 103 w 257"/>
                <a:gd name="T37" fmla="*/ 33 h 148"/>
                <a:gd name="T38" fmla="*/ 116 w 257"/>
                <a:gd name="T39" fmla="*/ 29 h 148"/>
                <a:gd name="T40" fmla="*/ 128 w 257"/>
                <a:gd name="T41" fmla="*/ 24 h 148"/>
                <a:gd name="T42" fmla="*/ 142 w 257"/>
                <a:gd name="T43" fmla="*/ 21 h 148"/>
                <a:gd name="T44" fmla="*/ 154 w 257"/>
                <a:gd name="T45" fmla="*/ 18 h 148"/>
                <a:gd name="T46" fmla="*/ 166 w 257"/>
                <a:gd name="T47" fmla="*/ 15 h 148"/>
                <a:gd name="T48" fmla="*/ 179 w 257"/>
                <a:gd name="T49" fmla="*/ 12 h 148"/>
                <a:gd name="T50" fmla="*/ 192 w 257"/>
                <a:gd name="T51" fmla="*/ 9 h 148"/>
                <a:gd name="T52" fmla="*/ 204 w 257"/>
                <a:gd name="T53" fmla="*/ 8 h 148"/>
                <a:gd name="T54" fmla="*/ 217 w 257"/>
                <a:gd name="T55" fmla="*/ 5 h 148"/>
                <a:gd name="T56" fmla="*/ 228 w 257"/>
                <a:gd name="T57" fmla="*/ 3 h 148"/>
                <a:gd name="T58" fmla="*/ 234 w 257"/>
                <a:gd name="T59" fmla="*/ 3 h 148"/>
                <a:gd name="T60" fmla="*/ 239 w 257"/>
                <a:gd name="T61" fmla="*/ 2 h 148"/>
                <a:gd name="T62" fmla="*/ 244 w 257"/>
                <a:gd name="T63" fmla="*/ 2 h 148"/>
                <a:gd name="T64" fmla="*/ 248 w 257"/>
                <a:gd name="T65" fmla="*/ 2 h 148"/>
                <a:gd name="T66" fmla="*/ 252 w 257"/>
                <a:gd name="T67" fmla="*/ 0 h 148"/>
                <a:gd name="T68" fmla="*/ 257 w 257"/>
                <a:gd name="T69" fmla="*/ 0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7" h="148">
                  <a:moveTo>
                    <a:pt x="0" y="148"/>
                  </a:moveTo>
                  <a:lnTo>
                    <a:pt x="1" y="145"/>
                  </a:lnTo>
                  <a:lnTo>
                    <a:pt x="4" y="140"/>
                  </a:lnTo>
                  <a:lnTo>
                    <a:pt x="7" y="136"/>
                  </a:lnTo>
                  <a:lnTo>
                    <a:pt x="11" y="130"/>
                  </a:lnTo>
                  <a:lnTo>
                    <a:pt x="14" y="124"/>
                  </a:lnTo>
                  <a:lnTo>
                    <a:pt x="18" y="116"/>
                  </a:lnTo>
                  <a:lnTo>
                    <a:pt x="27" y="103"/>
                  </a:lnTo>
                  <a:lnTo>
                    <a:pt x="36" y="88"/>
                  </a:lnTo>
                  <a:lnTo>
                    <a:pt x="41" y="81"/>
                  </a:lnTo>
                  <a:lnTo>
                    <a:pt x="46" y="75"/>
                  </a:lnTo>
                  <a:lnTo>
                    <a:pt x="51" y="67"/>
                  </a:lnTo>
                  <a:lnTo>
                    <a:pt x="57" y="61"/>
                  </a:lnTo>
                  <a:lnTo>
                    <a:pt x="62" y="57"/>
                  </a:lnTo>
                  <a:lnTo>
                    <a:pt x="67" y="52"/>
                  </a:lnTo>
                  <a:lnTo>
                    <a:pt x="73" y="48"/>
                  </a:lnTo>
                  <a:lnTo>
                    <a:pt x="78" y="45"/>
                  </a:lnTo>
                  <a:lnTo>
                    <a:pt x="90" y="37"/>
                  </a:lnTo>
                  <a:lnTo>
                    <a:pt x="103" y="33"/>
                  </a:lnTo>
                  <a:lnTo>
                    <a:pt x="116" y="29"/>
                  </a:lnTo>
                  <a:lnTo>
                    <a:pt x="128" y="24"/>
                  </a:lnTo>
                  <a:lnTo>
                    <a:pt x="142" y="21"/>
                  </a:lnTo>
                  <a:lnTo>
                    <a:pt x="154" y="18"/>
                  </a:lnTo>
                  <a:lnTo>
                    <a:pt x="166" y="15"/>
                  </a:lnTo>
                  <a:lnTo>
                    <a:pt x="179" y="12"/>
                  </a:lnTo>
                  <a:lnTo>
                    <a:pt x="192" y="9"/>
                  </a:lnTo>
                  <a:lnTo>
                    <a:pt x="204" y="8"/>
                  </a:lnTo>
                  <a:lnTo>
                    <a:pt x="217" y="5"/>
                  </a:lnTo>
                  <a:lnTo>
                    <a:pt x="228" y="3"/>
                  </a:lnTo>
                  <a:lnTo>
                    <a:pt x="234" y="3"/>
                  </a:lnTo>
                  <a:lnTo>
                    <a:pt x="239" y="2"/>
                  </a:lnTo>
                  <a:lnTo>
                    <a:pt x="244" y="2"/>
                  </a:lnTo>
                  <a:lnTo>
                    <a:pt x="248" y="2"/>
                  </a:lnTo>
                  <a:lnTo>
                    <a:pt x="252" y="0"/>
                  </a:lnTo>
                  <a:lnTo>
                    <a:pt x="25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00" name="Freeform 368"/>
            <p:cNvSpPr>
              <a:spLocks noEditPoints="1"/>
            </p:cNvSpPr>
            <p:nvPr/>
          </p:nvSpPr>
          <p:spPr bwMode="auto">
            <a:xfrm>
              <a:off x="2672" y="3453"/>
              <a:ext cx="2759" cy="25"/>
            </a:xfrm>
            <a:custGeom>
              <a:avLst/>
              <a:gdLst>
                <a:gd name="T0" fmla="*/ 0 w 2759"/>
                <a:gd name="T1" fmla="*/ 18 h 49"/>
                <a:gd name="T2" fmla="*/ 2728 w 2759"/>
                <a:gd name="T3" fmla="*/ 18 h 49"/>
                <a:gd name="T4" fmla="*/ 2728 w 2759"/>
                <a:gd name="T5" fmla="*/ 32 h 49"/>
                <a:gd name="T6" fmla="*/ 0 w 2759"/>
                <a:gd name="T7" fmla="*/ 32 h 49"/>
                <a:gd name="T8" fmla="*/ 0 w 2759"/>
                <a:gd name="T9" fmla="*/ 18 h 49"/>
                <a:gd name="T10" fmla="*/ 2717 w 2759"/>
                <a:gd name="T11" fmla="*/ 0 h 49"/>
                <a:gd name="T12" fmla="*/ 2759 w 2759"/>
                <a:gd name="T13" fmla="*/ 26 h 49"/>
                <a:gd name="T14" fmla="*/ 2717 w 2759"/>
                <a:gd name="T15" fmla="*/ 49 h 49"/>
                <a:gd name="T16" fmla="*/ 2717 w 2759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59" h="49">
                  <a:moveTo>
                    <a:pt x="0" y="18"/>
                  </a:moveTo>
                  <a:lnTo>
                    <a:pt x="2728" y="18"/>
                  </a:lnTo>
                  <a:lnTo>
                    <a:pt x="2728" y="32"/>
                  </a:lnTo>
                  <a:lnTo>
                    <a:pt x="0" y="32"/>
                  </a:lnTo>
                  <a:lnTo>
                    <a:pt x="0" y="18"/>
                  </a:lnTo>
                  <a:close/>
                  <a:moveTo>
                    <a:pt x="2717" y="0"/>
                  </a:moveTo>
                  <a:lnTo>
                    <a:pt x="2759" y="26"/>
                  </a:lnTo>
                  <a:lnTo>
                    <a:pt x="2717" y="49"/>
                  </a:lnTo>
                  <a:lnTo>
                    <a:pt x="2717" y="0"/>
                  </a:lnTo>
                  <a:close/>
                </a:path>
              </a:pathLst>
            </a:custGeom>
            <a:solidFill>
              <a:srgbClr val="000000"/>
            </a:solidFill>
            <a:ln w="12700" cmpd="sng">
              <a:solidFill>
                <a:schemeClr val="hlink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8001" name="Freeform 369"/>
            <p:cNvSpPr>
              <a:spLocks noEditPoints="1"/>
            </p:cNvSpPr>
            <p:nvPr/>
          </p:nvSpPr>
          <p:spPr bwMode="auto">
            <a:xfrm>
              <a:off x="2666" y="3334"/>
              <a:ext cx="2750" cy="6"/>
            </a:xfrm>
            <a:custGeom>
              <a:avLst/>
              <a:gdLst>
                <a:gd name="T0" fmla="*/ 49 w 2750"/>
                <a:gd name="T1" fmla="*/ 0 h 12"/>
                <a:gd name="T2" fmla="*/ 92 w 2750"/>
                <a:gd name="T3" fmla="*/ 6 h 12"/>
                <a:gd name="T4" fmla="*/ 130 w 2750"/>
                <a:gd name="T5" fmla="*/ 12 h 12"/>
                <a:gd name="T6" fmla="*/ 167 w 2750"/>
                <a:gd name="T7" fmla="*/ 12 h 12"/>
                <a:gd name="T8" fmla="*/ 205 w 2750"/>
                <a:gd name="T9" fmla="*/ 6 h 12"/>
                <a:gd name="T10" fmla="*/ 249 w 2750"/>
                <a:gd name="T11" fmla="*/ 0 h 12"/>
                <a:gd name="T12" fmla="*/ 313 w 2750"/>
                <a:gd name="T13" fmla="*/ 0 h 12"/>
                <a:gd name="T14" fmla="*/ 357 w 2750"/>
                <a:gd name="T15" fmla="*/ 2 h 12"/>
                <a:gd name="T16" fmla="*/ 399 w 2750"/>
                <a:gd name="T17" fmla="*/ 9 h 12"/>
                <a:gd name="T18" fmla="*/ 435 w 2750"/>
                <a:gd name="T19" fmla="*/ 12 h 12"/>
                <a:gd name="T20" fmla="*/ 472 w 2750"/>
                <a:gd name="T21" fmla="*/ 11 h 12"/>
                <a:gd name="T22" fmla="*/ 513 w 2750"/>
                <a:gd name="T23" fmla="*/ 3 h 12"/>
                <a:gd name="T24" fmla="*/ 558 w 2750"/>
                <a:gd name="T25" fmla="*/ 0 h 12"/>
                <a:gd name="T26" fmla="*/ 619 w 2750"/>
                <a:gd name="T27" fmla="*/ 0 h 12"/>
                <a:gd name="T28" fmla="*/ 665 w 2750"/>
                <a:gd name="T29" fmla="*/ 3 h 12"/>
                <a:gd name="T30" fmla="*/ 704 w 2750"/>
                <a:gd name="T31" fmla="*/ 11 h 12"/>
                <a:gd name="T32" fmla="*/ 742 w 2750"/>
                <a:gd name="T33" fmla="*/ 12 h 12"/>
                <a:gd name="T34" fmla="*/ 777 w 2750"/>
                <a:gd name="T35" fmla="*/ 9 h 12"/>
                <a:gd name="T36" fmla="*/ 820 w 2750"/>
                <a:gd name="T37" fmla="*/ 2 h 12"/>
                <a:gd name="T38" fmla="*/ 864 w 2750"/>
                <a:gd name="T39" fmla="*/ 0 h 12"/>
                <a:gd name="T40" fmla="*/ 928 w 2750"/>
                <a:gd name="T41" fmla="*/ 0 h 12"/>
                <a:gd name="T42" fmla="*/ 972 w 2750"/>
                <a:gd name="T43" fmla="*/ 6 h 12"/>
                <a:gd name="T44" fmla="*/ 1009 w 2750"/>
                <a:gd name="T45" fmla="*/ 12 h 12"/>
                <a:gd name="T46" fmla="*/ 1046 w 2750"/>
                <a:gd name="T47" fmla="*/ 12 h 12"/>
                <a:gd name="T48" fmla="*/ 1084 w 2750"/>
                <a:gd name="T49" fmla="*/ 6 h 12"/>
                <a:gd name="T50" fmla="*/ 1128 w 2750"/>
                <a:gd name="T51" fmla="*/ 0 h 12"/>
                <a:gd name="T52" fmla="*/ 1192 w 2750"/>
                <a:gd name="T53" fmla="*/ 0 h 12"/>
                <a:gd name="T54" fmla="*/ 1236 w 2750"/>
                <a:gd name="T55" fmla="*/ 2 h 12"/>
                <a:gd name="T56" fmla="*/ 1278 w 2750"/>
                <a:gd name="T57" fmla="*/ 9 h 12"/>
                <a:gd name="T58" fmla="*/ 1314 w 2750"/>
                <a:gd name="T59" fmla="*/ 12 h 12"/>
                <a:gd name="T60" fmla="*/ 1351 w 2750"/>
                <a:gd name="T61" fmla="*/ 11 h 12"/>
                <a:gd name="T62" fmla="*/ 1392 w 2750"/>
                <a:gd name="T63" fmla="*/ 3 h 12"/>
                <a:gd name="T64" fmla="*/ 1437 w 2750"/>
                <a:gd name="T65" fmla="*/ 0 h 12"/>
                <a:gd name="T66" fmla="*/ 1498 w 2750"/>
                <a:gd name="T67" fmla="*/ 0 h 12"/>
                <a:gd name="T68" fmla="*/ 1544 w 2750"/>
                <a:gd name="T69" fmla="*/ 3 h 12"/>
                <a:gd name="T70" fmla="*/ 1584 w 2750"/>
                <a:gd name="T71" fmla="*/ 11 h 12"/>
                <a:gd name="T72" fmla="*/ 1621 w 2750"/>
                <a:gd name="T73" fmla="*/ 12 h 12"/>
                <a:gd name="T74" fmla="*/ 1656 w 2750"/>
                <a:gd name="T75" fmla="*/ 9 h 12"/>
                <a:gd name="T76" fmla="*/ 1699 w 2750"/>
                <a:gd name="T77" fmla="*/ 2 h 12"/>
                <a:gd name="T78" fmla="*/ 1744 w 2750"/>
                <a:gd name="T79" fmla="*/ 0 h 12"/>
                <a:gd name="T80" fmla="*/ 1807 w 2750"/>
                <a:gd name="T81" fmla="*/ 0 h 12"/>
                <a:gd name="T82" fmla="*/ 1851 w 2750"/>
                <a:gd name="T83" fmla="*/ 6 h 12"/>
                <a:gd name="T84" fmla="*/ 1888 w 2750"/>
                <a:gd name="T85" fmla="*/ 12 h 12"/>
                <a:gd name="T86" fmla="*/ 1925 w 2750"/>
                <a:gd name="T87" fmla="*/ 12 h 12"/>
                <a:gd name="T88" fmla="*/ 1963 w 2750"/>
                <a:gd name="T89" fmla="*/ 6 h 12"/>
                <a:gd name="T90" fmla="*/ 2007 w 2750"/>
                <a:gd name="T91" fmla="*/ 0 h 12"/>
                <a:gd name="T92" fmla="*/ 2071 w 2750"/>
                <a:gd name="T93" fmla="*/ 0 h 12"/>
                <a:gd name="T94" fmla="*/ 2115 w 2750"/>
                <a:gd name="T95" fmla="*/ 2 h 12"/>
                <a:gd name="T96" fmla="*/ 2157 w 2750"/>
                <a:gd name="T97" fmla="*/ 9 h 12"/>
                <a:gd name="T98" fmla="*/ 2193 w 2750"/>
                <a:gd name="T99" fmla="*/ 12 h 12"/>
                <a:gd name="T100" fmla="*/ 2230 w 2750"/>
                <a:gd name="T101" fmla="*/ 11 h 12"/>
                <a:gd name="T102" fmla="*/ 2271 w 2750"/>
                <a:gd name="T103" fmla="*/ 3 h 12"/>
                <a:gd name="T104" fmla="*/ 2316 w 2750"/>
                <a:gd name="T105" fmla="*/ 0 h 12"/>
                <a:gd name="T106" fmla="*/ 2377 w 2750"/>
                <a:gd name="T107" fmla="*/ 0 h 12"/>
                <a:gd name="T108" fmla="*/ 2423 w 2750"/>
                <a:gd name="T109" fmla="*/ 3 h 12"/>
                <a:gd name="T110" fmla="*/ 2463 w 2750"/>
                <a:gd name="T111" fmla="*/ 11 h 12"/>
                <a:gd name="T112" fmla="*/ 2500 w 2750"/>
                <a:gd name="T113" fmla="*/ 12 h 12"/>
                <a:gd name="T114" fmla="*/ 2536 w 2750"/>
                <a:gd name="T115" fmla="*/ 9 h 12"/>
                <a:gd name="T116" fmla="*/ 2578 w 2750"/>
                <a:gd name="T117" fmla="*/ 2 h 12"/>
                <a:gd name="T118" fmla="*/ 2623 w 2750"/>
                <a:gd name="T119" fmla="*/ 0 h 12"/>
                <a:gd name="T120" fmla="*/ 2686 w 2750"/>
                <a:gd name="T121" fmla="*/ 0 h 12"/>
                <a:gd name="T122" fmla="*/ 2730 w 2750"/>
                <a:gd name="T12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50" h="12">
                  <a:moveTo>
                    <a:pt x="6" y="0"/>
                  </a:moveTo>
                  <a:lnTo>
                    <a:pt x="6" y="0"/>
                  </a:lnTo>
                  <a:lnTo>
                    <a:pt x="8" y="0"/>
                  </a:lnTo>
                  <a:lnTo>
                    <a:pt x="10" y="2"/>
                  </a:lnTo>
                  <a:lnTo>
                    <a:pt x="10" y="3"/>
                  </a:lnTo>
                  <a:lnTo>
                    <a:pt x="11" y="6"/>
                  </a:lnTo>
                  <a:lnTo>
                    <a:pt x="10" y="9"/>
                  </a:lnTo>
                  <a:lnTo>
                    <a:pt x="10" y="11"/>
                  </a:lnTo>
                  <a:lnTo>
                    <a:pt x="8" y="12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4" y="12"/>
                  </a:lnTo>
                  <a:lnTo>
                    <a:pt x="3" y="11"/>
                  </a:lnTo>
                  <a:lnTo>
                    <a:pt x="1" y="9"/>
                  </a:lnTo>
                  <a:lnTo>
                    <a:pt x="0" y="6"/>
                  </a:lnTo>
                  <a:lnTo>
                    <a:pt x="1" y="3"/>
                  </a:lnTo>
                  <a:lnTo>
                    <a:pt x="3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6" y="0"/>
                  </a:lnTo>
                  <a:close/>
                  <a:moveTo>
                    <a:pt x="26" y="0"/>
                  </a:moveTo>
                  <a:lnTo>
                    <a:pt x="26" y="0"/>
                  </a:lnTo>
                  <a:lnTo>
                    <a:pt x="28" y="0"/>
                  </a:lnTo>
                  <a:lnTo>
                    <a:pt x="30" y="2"/>
                  </a:lnTo>
                  <a:lnTo>
                    <a:pt x="31" y="3"/>
                  </a:lnTo>
                  <a:lnTo>
                    <a:pt x="31" y="6"/>
                  </a:lnTo>
                  <a:lnTo>
                    <a:pt x="31" y="9"/>
                  </a:lnTo>
                  <a:lnTo>
                    <a:pt x="30" y="11"/>
                  </a:lnTo>
                  <a:lnTo>
                    <a:pt x="28" y="12"/>
                  </a:lnTo>
                  <a:lnTo>
                    <a:pt x="26" y="12"/>
                  </a:lnTo>
                  <a:lnTo>
                    <a:pt x="26" y="12"/>
                  </a:lnTo>
                  <a:lnTo>
                    <a:pt x="25" y="12"/>
                  </a:lnTo>
                  <a:lnTo>
                    <a:pt x="22" y="11"/>
                  </a:lnTo>
                  <a:lnTo>
                    <a:pt x="21" y="9"/>
                  </a:lnTo>
                  <a:lnTo>
                    <a:pt x="21" y="6"/>
                  </a:lnTo>
                  <a:lnTo>
                    <a:pt x="21" y="3"/>
                  </a:lnTo>
                  <a:lnTo>
                    <a:pt x="22" y="2"/>
                  </a:lnTo>
                  <a:lnTo>
                    <a:pt x="25" y="0"/>
                  </a:lnTo>
                  <a:lnTo>
                    <a:pt x="26" y="0"/>
                  </a:lnTo>
                  <a:lnTo>
                    <a:pt x="26" y="0"/>
                  </a:lnTo>
                  <a:close/>
                  <a:moveTo>
                    <a:pt x="47" y="0"/>
                  </a:moveTo>
                  <a:lnTo>
                    <a:pt x="47" y="0"/>
                  </a:lnTo>
                  <a:lnTo>
                    <a:pt x="49" y="0"/>
                  </a:lnTo>
                  <a:lnTo>
                    <a:pt x="50" y="2"/>
                  </a:lnTo>
                  <a:lnTo>
                    <a:pt x="52" y="3"/>
                  </a:lnTo>
                  <a:lnTo>
                    <a:pt x="52" y="6"/>
                  </a:lnTo>
                  <a:lnTo>
                    <a:pt x="52" y="9"/>
                  </a:lnTo>
                  <a:lnTo>
                    <a:pt x="50" y="11"/>
                  </a:lnTo>
                  <a:lnTo>
                    <a:pt x="49" y="12"/>
                  </a:lnTo>
                  <a:lnTo>
                    <a:pt x="47" y="12"/>
                  </a:lnTo>
                  <a:lnTo>
                    <a:pt x="47" y="12"/>
                  </a:lnTo>
                  <a:lnTo>
                    <a:pt x="44" y="12"/>
                  </a:lnTo>
                  <a:lnTo>
                    <a:pt x="43" y="11"/>
                  </a:lnTo>
                  <a:lnTo>
                    <a:pt x="42" y="9"/>
                  </a:lnTo>
                  <a:lnTo>
                    <a:pt x="42" y="6"/>
                  </a:lnTo>
                  <a:lnTo>
                    <a:pt x="42" y="3"/>
                  </a:lnTo>
                  <a:lnTo>
                    <a:pt x="43" y="2"/>
                  </a:lnTo>
                  <a:lnTo>
                    <a:pt x="44" y="0"/>
                  </a:lnTo>
                  <a:lnTo>
                    <a:pt x="47" y="0"/>
                  </a:lnTo>
                  <a:lnTo>
                    <a:pt x="47" y="0"/>
                  </a:lnTo>
                  <a:close/>
                  <a:moveTo>
                    <a:pt x="68" y="0"/>
                  </a:moveTo>
                  <a:lnTo>
                    <a:pt x="68" y="0"/>
                  </a:lnTo>
                  <a:lnTo>
                    <a:pt x="69" y="0"/>
                  </a:lnTo>
                  <a:lnTo>
                    <a:pt x="71" y="2"/>
                  </a:lnTo>
                  <a:lnTo>
                    <a:pt x="71" y="3"/>
                  </a:lnTo>
                  <a:lnTo>
                    <a:pt x="73" y="6"/>
                  </a:lnTo>
                  <a:lnTo>
                    <a:pt x="71" y="9"/>
                  </a:lnTo>
                  <a:lnTo>
                    <a:pt x="71" y="11"/>
                  </a:lnTo>
                  <a:lnTo>
                    <a:pt x="69" y="12"/>
                  </a:lnTo>
                  <a:lnTo>
                    <a:pt x="68" y="12"/>
                  </a:lnTo>
                  <a:lnTo>
                    <a:pt x="68" y="12"/>
                  </a:lnTo>
                  <a:lnTo>
                    <a:pt x="65" y="12"/>
                  </a:lnTo>
                  <a:lnTo>
                    <a:pt x="64" y="11"/>
                  </a:lnTo>
                  <a:lnTo>
                    <a:pt x="63" y="9"/>
                  </a:lnTo>
                  <a:lnTo>
                    <a:pt x="61" y="6"/>
                  </a:lnTo>
                  <a:lnTo>
                    <a:pt x="63" y="3"/>
                  </a:lnTo>
                  <a:lnTo>
                    <a:pt x="64" y="2"/>
                  </a:lnTo>
                  <a:lnTo>
                    <a:pt x="65" y="0"/>
                  </a:lnTo>
                  <a:lnTo>
                    <a:pt x="68" y="0"/>
                  </a:lnTo>
                  <a:lnTo>
                    <a:pt x="68" y="0"/>
                  </a:lnTo>
                  <a:close/>
                  <a:moveTo>
                    <a:pt x="87" y="0"/>
                  </a:moveTo>
                  <a:lnTo>
                    <a:pt x="87" y="0"/>
                  </a:lnTo>
                  <a:lnTo>
                    <a:pt x="90" y="0"/>
                  </a:lnTo>
                  <a:lnTo>
                    <a:pt x="91" y="2"/>
                  </a:lnTo>
                  <a:lnTo>
                    <a:pt x="92" y="3"/>
                  </a:lnTo>
                  <a:lnTo>
                    <a:pt x="92" y="6"/>
                  </a:lnTo>
                  <a:lnTo>
                    <a:pt x="92" y="9"/>
                  </a:lnTo>
                  <a:lnTo>
                    <a:pt x="91" y="11"/>
                  </a:lnTo>
                  <a:lnTo>
                    <a:pt x="90" y="12"/>
                  </a:lnTo>
                  <a:lnTo>
                    <a:pt x="87" y="12"/>
                  </a:lnTo>
                  <a:lnTo>
                    <a:pt x="87" y="12"/>
                  </a:lnTo>
                  <a:lnTo>
                    <a:pt x="86" y="12"/>
                  </a:lnTo>
                  <a:lnTo>
                    <a:pt x="84" y="11"/>
                  </a:lnTo>
                  <a:lnTo>
                    <a:pt x="82" y="9"/>
                  </a:lnTo>
                  <a:lnTo>
                    <a:pt x="82" y="6"/>
                  </a:lnTo>
                  <a:lnTo>
                    <a:pt x="82" y="3"/>
                  </a:lnTo>
                  <a:lnTo>
                    <a:pt x="84" y="2"/>
                  </a:lnTo>
                  <a:lnTo>
                    <a:pt x="86" y="0"/>
                  </a:lnTo>
                  <a:lnTo>
                    <a:pt x="87" y="0"/>
                  </a:lnTo>
                  <a:lnTo>
                    <a:pt x="87" y="0"/>
                  </a:lnTo>
                  <a:close/>
                  <a:moveTo>
                    <a:pt x="108" y="0"/>
                  </a:moveTo>
                  <a:lnTo>
                    <a:pt x="108" y="0"/>
                  </a:lnTo>
                  <a:lnTo>
                    <a:pt x="111" y="0"/>
                  </a:lnTo>
                  <a:lnTo>
                    <a:pt x="112" y="2"/>
                  </a:lnTo>
                  <a:lnTo>
                    <a:pt x="113" y="3"/>
                  </a:lnTo>
                  <a:lnTo>
                    <a:pt x="113" y="6"/>
                  </a:lnTo>
                  <a:lnTo>
                    <a:pt x="113" y="9"/>
                  </a:lnTo>
                  <a:lnTo>
                    <a:pt x="112" y="11"/>
                  </a:lnTo>
                  <a:lnTo>
                    <a:pt x="111" y="12"/>
                  </a:lnTo>
                  <a:lnTo>
                    <a:pt x="108" y="12"/>
                  </a:lnTo>
                  <a:lnTo>
                    <a:pt x="108" y="12"/>
                  </a:lnTo>
                  <a:lnTo>
                    <a:pt x="106" y="12"/>
                  </a:lnTo>
                  <a:lnTo>
                    <a:pt x="104" y="11"/>
                  </a:lnTo>
                  <a:lnTo>
                    <a:pt x="103" y="9"/>
                  </a:lnTo>
                  <a:lnTo>
                    <a:pt x="103" y="6"/>
                  </a:lnTo>
                  <a:lnTo>
                    <a:pt x="103" y="3"/>
                  </a:lnTo>
                  <a:lnTo>
                    <a:pt x="104" y="2"/>
                  </a:lnTo>
                  <a:lnTo>
                    <a:pt x="106" y="0"/>
                  </a:lnTo>
                  <a:lnTo>
                    <a:pt x="108" y="0"/>
                  </a:lnTo>
                  <a:lnTo>
                    <a:pt x="108" y="0"/>
                  </a:lnTo>
                  <a:close/>
                  <a:moveTo>
                    <a:pt x="129" y="0"/>
                  </a:moveTo>
                  <a:lnTo>
                    <a:pt x="129" y="0"/>
                  </a:lnTo>
                  <a:lnTo>
                    <a:pt x="130" y="0"/>
                  </a:lnTo>
                  <a:lnTo>
                    <a:pt x="133" y="2"/>
                  </a:lnTo>
                  <a:lnTo>
                    <a:pt x="133" y="3"/>
                  </a:lnTo>
                  <a:lnTo>
                    <a:pt x="134" y="6"/>
                  </a:lnTo>
                  <a:lnTo>
                    <a:pt x="133" y="9"/>
                  </a:lnTo>
                  <a:lnTo>
                    <a:pt x="133" y="11"/>
                  </a:lnTo>
                  <a:lnTo>
                    <a:pt x="130" y="12"/>
                  </a:lnTo>
                  <a:lnTo>
                    <a:pt x="129" y="12"/>
                  </a:lnTo>
                  <a:lnTo>
                    <a:pt x="129" y="12"/>
                  </a:lnTo>
                  <a:lnTo>
                    <a:pt x="126" y="12"/>
                  </a:lnTo>
                  <a:lnTo>
                    <a:pt x="125" y="11"/>
                  </a:lnTo>
                  <a:lnTo>
                    <a:pt x="124" y="9"/>
                  </a:lnTo>
                  <a:lnTo>
                    <a:pt x="124" y="6"/>
                  </a:lnTo>
                  <a:lnTo>
                    <a:pt x="124" y="3"/>
                  </a:lnTo>
                  <a:lnTo>
                    <a:pt x="125" y="2"/>
                  </a:lnTo>
                  <a:lnTo>
                    <a:pt x="126" y="0"/>
                  </a:lnTo>
                  <a:lnTo>
                    <a:pt x="129" y="0"/>
                  </a:lnTo>
                  <a:lnTo>
                    <a:pt x="129" y="0"/>
                  </a:lnTo>
                  <a:close/>
                  <a:moveTo>
                    <a:pt x="149" y="0"/>
                  </a:moveTo>
                  <a:lnTo>
                    <a:pt x="149" y="0"/>
                  </a:lnTo>
                  <a:lnTo>
                    <a:pt x="151" y="0"/>
                  </a:lnTo>
                  <a:lnTo>
                    <a:pt x="152" y="2"/>
                  </a:lnTo>
                  <a:lnTo>
                    <a:pt x="153" y="3"/>
                  </a:lnTo>
                  <a:lnTo>
                    <a:pt x="155" y="6"/>
                  </a:lnTo>
                  <a:lnTo>
                    <a:pt x="153" y="9"/>
                  </a:lnTo>
                  <a:lnTo>
                    <a:pt x="152" y="11"/>
                  </a:lnTo>
                  <a:lnTo>
                    <a:pt x="151" y="12"/>
                  </a:lnTo>
                  <a:lnTo>
                    <a:pt x="149" y="12"/>
                  </a:lnTo>
                  <a:lnTo>
                    <a:pt x="149" y="12"/>
                  </a:lnTo>
                  <a:lnTo>
                    <a:pt x="147" y="12"/>
                  </a:lnTo>
                  <a:lnTo>
                    <a:pt x="145" y="11"/>
                  </a:lnTo>
                  <a:lnTo>
                    <a:pt x="144" y="9"/>
                  </a:lnTo>
                  <a:lnTo>
                    <a:pt x="144" y="6"/>
                  </a:lnTo>
                  <a:lnTo>
                    <a:pt x="144" y="3"/>
                  </a:lnTo>
                  <a:lnTo>
                    <a:pt x="145" y="2"/>
                  </a:lnTo>
                  <a:lnTo>
                    <a:pt x="147" y="0"/>
                  </a:lnTo>
                  <a:lnTo>
                    <a:pt x="149" y="0"/>
                  </a:lnTo>
                  <a:lnTo>
                    <a:pt x="149" y="0"/>
                  </a:lnTo>
                  <a:close/>
                  <a:moveTo>
                    <a:pt x="169" y="0"/>
                  </a:moveTo>
                  <a:lnTo>
                    <a:pt x="169" y="0"/>
                  </a:lnTo>
                  <a:lnTo>
                    <a:pt x="172" y="0"/>
                  </a:lnTo>
                  <a:lnTo>
                    <a:pt x="173" y="2"/>
                  </a:lnTo>
                  <a:lnTo>
                    <a:pt x="174" y="3"/>
                  </a:lnTo>
                  <a:lnTo>
                    <a:pt x="174" y="6"/>
                  </a:lnTo>
                  <a:lnTo>
                    <a:pt x="174" y="9"/>
                  </a:lnTo>
                  <a:lnTo>
                    <a:pt x="173" y="11"/>
                  </a:lnTo>
                  <a:lnTo>
                    <a:pt x="172" y="12"/>
                  </a:lnTo>
                  <a:lnTo>
                    <a:pt x="169" y="12"/>
                  </a:lnTo>
                  <a:lnTo>
                    <a:pt x="169" y="12"/>
                  </a:lnTo>
                  <a:lnTo>
                    <a:pt x="167" y="12"/>
                  </a:lnTo>
                  <a:lnTo>
                    <a:pt x="166" y="11"/>
                  </a:lnTo>
                  <a:lnTo>
                    <a:pt x="164" y="9"/>
                  </a:lnTo>
                  <a:lnTo>
                    <a:pt x="164" y="6"/>
                  </a:lnTo>
                  <a:lnTo>
                    <a:pt x="164" y="3"/>
                  </a:lnTo>
                  <a:lnTo>
                    <a:pt x="166" y="2"/>
                  </a:lnTo>
                  <a:lnTo>
                    <a:pt x="167" y="0"/>
                  </a:lnTo>
                  <a:lnTo>
                    <a:pt x="169" y="0"/>
                  </a:lnTo>
                  <a:lnTo>
                    <a:pt x="169" y="0"/>
                  </a:lnTo>
                  <a:close/>
                  <a:moveTo>
                    <a:pt x="190" y="0"/>
                  </a:moveTo>
                  <a:lnTo>
                    <a:pt x="190" y="0"/>
                  </a:lnTo>
                  <a:lnTo>
                    <a:pt x="191" y="0"/>
                  </a:lnTo>
                  <a:lnTo>
                    <a:pt x="194" y="2"/>
                  </a:lnTo>
                  <a:lnTo>
                    <a:pt x="194" y="3"/>
                  </a:lnTo>
                  <a:lnTo>
                    <a:pt x="195" y="6"/>
                  </a:lnTo>
                  <a:lnTo>
                    <a:pt x="194" y="9"/>
                  </a:lnTo>
                  <a:lnTo>
                    <a:pt x="194" y="11"/>
                  </a:lnTo>
                  <a:lnTo>
                    <a:pt x="191" y="12"/>
                  </a:lnTo>
                  <a:lnTo>
                    <a:pt x="190" y="12"/>
                  </a:lnTo>
                  <a:lnTo>
                    <a:pt x="190" y="12"/>
                  </a:lnTo>
                  <a:lnTo>
                    <a:pt x="188" y="12"/>
                  </a:lnTo>
                  <a:lnTo>
                    <a:pt x="187" y="11"/>
                  </a:lnTo>
                  <a:lnTo>
                    <a:pt x="185" y="9"/>
                  </a:lnTo>
                  <a:lnTo>
                    <a:pt x="185" y="6"/>
                  </a:lnTo>
                  <a:lnTo>
                    <a:pt x="185" y="3"/>
                  </a:lnTo>
                  <a:lnTo>
                    <a:pt x="187" y="2"/>
                  </a:lnTo>
                  <a:lnTo>
                    <a:pt x="188" y="0"/>
                  </a:lnTo>
                  <a:lnTo>
                    <a:pt x="190" y="0"/>
                  </a:lnTo>
                  <a:lnTo>
                    <a:pt x="190" y="0"/>
                  </a:lnTo>
                  <a:close/>
                  <a:moveTo>
                    <a:pt x="210" y="0"/>
                  </a:moveTo>
                  <a:lnTo>
                    <a:pt x="210" y="0"/>
                  </a:lnTo>
                  <a:lnTo>
                    <a:pt x="212" y="0"/>
                  </a:lnTo>
                  <a:lnTo>
                    <a:pt x="213" y="2"/>
                  </a:lnTo>
                  <a:lnTo>
                    <a:pt x="215" y="3"/>
                  </a:lnTo>
                  <a:lnTo>
                    <a:pt x="216" y="6"/>
                  </a:lnTo>
                  <a:lnTo>
                    <a:pt x="215" y="9"/>
                  </a:lnTo>
                  <a:lnTo>
                    <a:pt x="213" y="11"/>
                  </a:lnTo>
                  <a:lnTo>
                    <a:pt x="212" y="12"/>
                  </a:lnTo>
                  <a:lnTo>
                    <a:pt x="210" y="12"/>
                  </a:lnTo>
                  <a:lnTo>
                    <a:pt x="210" y="12"/>
                  </a:lnTo>
                  <a:lnTo>
                    <a:pt x="209" y="12"/>
                  </a:lnTo>
                  <a:lnTo>
                    <a:pt x="206" y="11"/>
                  </a:lnTo>
                  <a:lnTo>
                    <a:pt x="205" y="9"/>
                  </a:lnTo>
                  <a:lnTo>
                    <a:pt x="205" y="6"/>
                  </a:lnTo>
                  <a:lnTo>
                    <a:pt x="205" y="3"/>
                  </a:lnTo>
                  <a:lnTo>
                    <a:pt x="206" y="2"/>
                  </a:lnTo>
                  <a:lnTo>
                    <a:pt x="209" y="0"/>
                  </a:lnTo>
                  <a:lnTo>
                    <a:pt x="210" y="0"/>
                  </a:lnTo>
                  <a:lnTo>
                    <a:pt x="210" y="0"/>
                  </a:lnTo>
                  <a:close/>
                  <a:moveTo>
                    <a:pt x="231" y="0"/>
                  </a:moveTo>
                  <a:lnTo>
                    <a:pt x="231" y="0"/>
                  </a:lnTo>
                  <a:lnTo>
                    <a:pt x="233" y="0"/>
                  </a:lnTo>
                  <a:lnTo>
                    <a:pt x="234" y="2"/>
                  </a:lnTo>
                  <a:lnTo>
                    <a:pt x="236" y="3"/>
                  </a:lnTo>
                  <a:lnTo>
                    <a:pt x="236" y="6"/>
                  </a:lnTo>
                  <a:lnTo>
                    <a:pt x="236" y="9"/>
                  </a:lnTo>
                  <a:lnTo>
                    <a:pt x="234" y="11"/>
                  </a:lnTo>
                  <a:lnTo>
                    <a:pt x="233" y="12"/>
                  </a:lnTo>
                  <a:lnTo>
                    <a:pt x="231" y="12"/>
                  </a:lnTo>
                  <a:lnTo>
                    <a:pt x="231" y="12"/>
                  </a:lnTo>
                  <a:lnTo>
                    <a:pt x="228" y="12"/>
                  </a:lnTo>
                  <a:lnTo>
                    <a:pt x="227" y="11"/>
                  </a:lnTo>
                  <a:lnTo>
                    <a:pt x="226" y="9"/>
                  </a:lnTo>
                  <a:lnTo>
                    <a:pt x="226" y="6"/>
                  </a:lnTo>
                  <a:lnTo>
                    <a:pt x="226" y="3"/>
                  </a:lnTo>
                  <a:lnTo>
                    <a:pt x="227" y="2"/>
                  </a:lnTo>
                  <a:lnTo>
                    <a:pt x="228" y="0"/>
                  </a:lnTo>
                  <a:lnTo>
                    <a:pt x="231" y="0"/>
                  </a:lnTo>
                  <a:lnTo>
                    <a:pt x="231" y="0"/>
                  </a:lnTo>
                  <a:close/>
                  <a:moveTo>
                    <a:pt x="251" y="0"/>
                  </a:moveTo>
                  <a:lnTo>
                    <a:pt x="251" y="0"/>
                  </a:lnTo>
                  <a:lnTo>
                    <a:pt x="253" y="0"/>
                  </a:lnTo>
                  <a:lnTo>
                    <a:pt x="255" y="2"/>
                  </a:lnTo>
                  <a:lnTo>
                    <a:pt x="256" y="3"/>
                  </a:lnTo>
                  <a:lnTo>
                    <a:pt x="256" y="6"/>
                  </a:lnTo>
                  <a:lnTo>
                    <a:pt x="256" y="9"/>
                  </a:lnTo>
                  <a:lnTo>
                    <a:pt x="255" y="11"/>
                  </a:lnTo>
                  <a:lnTo>
                    <a:pt x="253" y="12"/>
                  </a:lnTo>
                  <a:lnTo>
                    <a:pt x="251" y="12"/>
                  </a:lnTo>
                  <a:lnTo>
                    <a:pt x="251" y="12"/>
                  </a:lnTo>
                  <a:lnTo>
                    <a:pt x="249" y="12"/>
                  </a:lnTo>
                  <a:lnTo>
                    <a:pt x="248" y="11"/>
                  </a:lnTo>
                  <a:lnTo>
                    <a:pt x="247" y="9"/>
                  </a:lnTo>
                  <a:lnTo>
                    <a:pt x="247" y="6"/>
                  </a:lnTo>
                  <a:lnTo>
                    <a:pt x="247" y="3"/>
                  </a:lnTo>
                  <a:lnTo>
                    <a:pt x="248" y="2"/>
                  </a:lnTo>
                  <a:lnTo>
                    <a:pt x="249" y="0"/>
                  </a:lnTo>
                  <a:lnTo>
                    <a:pt x="251" y="0"/>
                  </a:lnTo>
                  <a:lnTo>
                    <a:pt x="251" y="0"/>
                  </a:lnTo>
                  <a:close/>
                  <a:moveTo>
                    <a:pt x="271" y="0"/>
                  </a:moveTo>
                  <a:lnTo>
                    <a:pt x="271" y="0"/>
                  </a:lnTo>
                  <a:lnTo>
                    <a:pt x="274" y="0"/>
                  </a:lnTo>
                  <a:lnTo>
                    <a:pt x="275" y="2"/>
                  </a:lnTo>
                  <a:lnTo>
                    <a:pt x="276" y="3"/>
                  </a:lnTo>
                  <a:lnTo>
                    <a:pt x="277" y="6"/>
                  </a:lnTo>
                  <a:lnTo>
                    <a:pt x="276" y="9"/>
                  </a:lnTo>
                  <a:lnTo>
                    <a:pt x="275" y="11"/>
                  </a:lnTo>
                  <a:lnTo>
                    <a:pt x="274" y="12"/>
                  </a:lnTo>
                  <a:lnTo>
                    <a:pt x="271" y="12"/>
                  </a:lnTo>
                  <a:lnTo>
                    <a:pt x="271" y="12"/>
                  </a:lnTo>
                  <a:lnTo>
                    <a:pt x="270" y="12"/>
                  </a:lnTo>
                  <a:lnTo>
                    <a:pt x="267" y="11"/>
                  </a:lnTo>
                  <a:lnTo>
                    <a:pt x="266" y="9"/>
                  </a:lnTo>
                  <a:lnTo>
                    <a:pt x="266" y="6"/>
                  </a:lnTo>
                  <a:lnTo>
                    <a:pt x="266" y="3"/>
                  </a:lnTo>
                  <a:lnTo>
                    <a:pt x="267" y="2"/>
                  </a:lnTo>
                  <a:lnTo>
                    <a:pt x="270" y="0"/>
                  </a:lnTo>
                  <a:lnTo>
                    <a:pt x="271" y="0"/>
                  </a:lnTo>
                  <a:lnTo>
                    <a:pt x="271" y="0"/>
                  </a:lnTo>
                  <a:close/>
                  <a:moveTo>
                    <a:pt x="292" y="0"/>
                  </a:moveTo>
                  <a:lnTo>
                    <a:pt x="292" y="0"/>
                  </a:lnTo>
                  <a:lnTo>
                    <a:pt x="294" y="0"/>
                  </a:lnTo>
                  <a:lnTo>
                    <a:pt x="296" y="2"/>
                  </a:lnTo>
                  <a:lnTo>
                    <a:pt x="297" y="3"/>
                  </a:lnTo>
                  <a:lnTo>
                    <a:pt x="297" y="6"/>
                  </a:lnTo>
                  <a:lnTo>
                    <a:pt x="297" y="9"/>
                  </a:lnTo>
                  <a:lnTo>
                    <a:pt x="296" y="11"/>
                  </a:lnTo>
                  <a:lnTo>
                    <a:pt x="294" y="12"/>
                  </a:lnTo>
                  <a:lnTo>
                    <a:pt x="292" y="12"/>
                  </a:lnTo>
                  <a:lnTo>
                    <a:pt x="292" y="12"/>
                  </a:lnTo>
                  <a:lnTo>
                    <a:pt x="290" y="12"/>
                  </a:lnTo>
                  <a:lnTo>
                    <a:pt x="288" y="11"/>
                  </a:lnTo>
                  <a:lnTo>
                    <a:pt x="287" y="9"/>
                  </a:lnTo>
                  <a:lnTo>
                    <a:pt x="287" y="6"/>
                  </a:lnTo>
                  <a:lnTo>
                    <a:pt x="287" y="3"/>
                  </a:lnTo>
                  <a:lnTo>
                    <a:pt x="288" y="2"/>
                  </a:lnTo>
                  <a:lnTo>
                    <a:pt x="290" y="0"/>
                  </a:lnTo>
                  <a:lnTo>
                    <a:pt x="292" y="0"/>
                  </a:lnTo>
                  <a:lnTo>
                    <a:pt x="292" y="0"/>
                  </a:lnTo>
                  <a:close/>
                  <a:moveTo>
                    <a:pt x="313" y="0"/>
                  </a:moveTo>
                  <a:lnTo>
                    <a:pt x="313" y="0"/>
                  </a:lnTo>
                  <a:lnTo>
                    <a:pt x="314" y="0"/>
                  </a:lnTo>
                  <a:lnTo>
                    <a:pt x="316" y="2"/>
                  </a:lnTo>
                  <a:lnTo>
                    <a:pt x="318" y="3"/>
                  </a:lnTo>
                  <a:lnTo>
                    <a:pt x="318" y="6"/>
                  </a:lnTo>
                  <a:lnTo>
                    <a:pt x="318" y="9"/>
                  </a:lnTo>
                  <a:lnTo>
                    <a:pt x="316" y="11"/>
                  </a:lnTo>
                  <a:lnTo>
                    <a:pt x="314" y="12"/>
                  </a:lnTo>
                  <a:lnTo>
                    <a:pt x="313" y="12"/>
                  </a:lnTo>
                  <a:lnTo>
                    <a:pt x="313" y="12"/>
                  </a:lnTo>
                  <a:lnTo>
                    <a:pt x="310" y="12"/>
                  </a:lnTo>
                  <a:lnTo>
                    <a:pt x="309" y="11"/>
                  </a:lnTo>
                  <a:lnTo>
                    <a:pt x="308" y="9"/>
                  </a:lnTo>
                  <a:lnTo>
                    <a:pt x="308" y="6"/>
                  </a:lnTo>
                  <a:lnTo>
                    <a:pt x="308" y="3"/>
                  </a:lnTo>
                  <a:lnTo>
                    <a:pt x="309" y="2"/>
                  </a:lnTo>
                  <a:lnTo>
                    <a:pt x="310" y="0"/>
                  </a:lnTo>
                  <a:lnTo>
                    <a:pt x="313" y="0"/>
                  </a:lnTo>
                  <a:lnTo>
                    <a:pt x="313" y="0"/>
                  </a:lnTo>
                  <a:close/>
                  <a:moveTo>
                    <a:pt x="332" y="0"/>
                  </a:moveTo>
                  <a:lnTo>
                    <a:pt x="332" y="0"/>
                  </a:lnTo>
                  <a:lnTo>
                    <a:pt x="335" y="0"/>
                  </a:lnTo>
                  <a:lnTo>
                    <a:pt x="336" y="2"/>
                  </a:lnTo>
                  <a:lnTo>
                    <a:pt x="337" y="3"/>
                  </a:lnTo>
                  <a:lnTo>
                    <a:pt x="339" y="6"/>
                  </a:lnTo>
                  <a:lnTo>
                    <a:pt x="337" y="9"/>
                  </a:lnTo>
                  <a:lnTo>
                    <a:pt x="336" y="11"/>
                  </a:lnTo>
                  <a:lnTo>
                    <a:pt x="335" y="12"/>
                  </a:lnTo>
                  <a:lnTo>
                    <a:pt x="332" y="12"/>
                  </a:lnTo>
                  <a:lnTo>
                    <a:pt x="332" y="12"/>
                  </a:lnTo>
                  <a:lnTo>
                    <a:pt x="331" y="12"/>
                  </a:lnTo>
                  <a:lnTo>
                    <a:pt x="329" y="11"/>
                  </a:lnTo>
                  <a:lnTo>
                    <a:pt x="329" y="9"/>
                  </a:lnTo>
                  <a:lnTo>
                    <a:pt x="328" y="6"/>
                  </a:lnTo>
                  <a:lnTo>
                    <a:pt x="329" y="3"/>
                  </a:lnTo>
                  <a:lnTo>
                    <a:pt x="329" y="2"/>
                  </a:lnTo>
                  <a:lnTo>
                    <a:pt x="331" y="0"/>
                  </a:lnTo>
                  <a:lnTo>
                    <a:pt x="332" y="0"/>
                  </a:lnTo>
                  <a:lnTo>
                    <a:pt x="332" y="0"/>
                  </a:lnTo>
                  <a:close/>
                  <a:moveTo>
                    <a:pt x="353" y="0"/>
                  </a:moveTo>
                  <a:lnTo>
                    <a:pt x="353" y="0"/>
                  </a:lnTo>
                  <a:lnTo>
                    <a:pt x="356" y="0"/>
                  </a:lnTo>
                  <a:lnTo>
                    <a:pt x="357" y="2"/>
                  </a:lnTo>
                  <a:lnTo>
                    <a:pt x="358" y="3"/>
                  </a:lnTo>
                  <a:lnTo>
                    <a:pt x="358" y="6"/>
                  </a:lnTo>
                  <a:lnTo>
                    <a:pt x="358" y="9"/>
                  </a:lnTo>
                  <a:lnTo>
                    <a:pt x="357" y="11"/>
                  </a:lnTo>
                  <a:lnTo>
                    <a:pt x="356" y="12"/>
                  </a:lnTo>
                  <a:lnTo>
                    <a:pt x="353" y="12"/>
                  </a:lnTo>
                  <a:lnTo>
                    <a:pt x="353" y="12"/>
                  </a:lnTo>
                  <a:lnTo>
                    <a:pt x="351" y="12"/>
                  </a:lnTo>
                  <a:lnTo>
                    <a:pt x="350" y="11"/>
                  </a:lnTo>
                  <a:lnTo>
                    <a:pt x="348" y="9"/>
                  </a:lnTo>
                  <a:lnTo>
                    <a:pt x="348" y="6"/>
                  </a:lnTo>
                  <a:lnTo>
                    <a:pt x="348" y="3"/>
                  </a:lnTo>
                  <a:lnTo>
                    <a:pt x="350" y="2"/>
                  </a:lnTo>
                  <a:lnTo>
                    <a:pt x="351" y="0"/>
                  </a:lnTo>
                  <a:lnTo>
                    <a:pt x="353" y="0"/>
                  </a:lnTo>
                  <a:lnTo>
                    <a:pt x="353" y="0"/>
                  </a:lnTo>
                  <a:close/>
                  <a:moveTo>
                    <a:pt x="374" y="0"/>
                  </a:moveTo>
                  <a:lnTo>
                    <a:pt x="374" y="0"/>
                  </a:lnTo>
                  <a:lnTo>
                    <a:pt x="375" y="0"/>
                  </a:lnTo>
                  <a:lnTo>
                    <a:pt x="378" y="2"/>
                  </a:lnTo>
                  <a:lnTo>
                    <a:pt x="379" y="3"/>
                  </a:lnTo>
                  <a:lnTo>
                    <a:pt x="379" y="6"/>
                  </a:lnTo>
                  <a:lnTo>
                    <a:pt x="379" y="9"/>
                  </a:lnTo>
                  <a:lnTo>
                    <a:pt x="378" y="11"/>
                  </a:lnTo>
                  <a:lnTo>
                    <a:pt x="375" y="12"/>
                  </a:lnTo>
                  <a:lnTo>
                    <a:pt x="374" y="12"/>
                  </a:lnTo>
                  <a:lnTo>
                    <a:pt x="374" y="12"/>
                  </a:lnTo>
                  <a:lnTo>
                    <a:pt x="372" y="12"/>
                  </a:lnTo>
                  <a:lnTo>
                    <a:pt x="370" y="11"/>
                  </a:lnTo>
                  <a:lnTo>
                    <a:pt x="369" y="9"/>
                  </a:lnTo>
                  <a:lnTo>
                    <a:pt x="369" y="6"/>
                  </a:lnTo>
                  <a:lnTo>
                    <a:pt x="369" y="3"/>
                  </a:lnTo>
                  <a:lnTo>
                    <a:pt x="370" y="2"/>
                  </a:lnTo>
                  <a:lnTo>
                    <a:pt x="372" y="0"/>
                  </a:lnTo>
                  <a:lnTo>
                    <a:pt x="374" y="0"/>
                  </a:lnTo>
                  <a:lnTo>
                    <a:pt x="374" y="0"/>
                  </a:lnTo>
                  <a:close/>
                  <a:moveTo>
                    <a:pt x="394" y="0"/>
                  </a:moveTo>
                  <a:lnTo>
                    <a:pt x="394" y="0"/>
                  </a:lnTo>
                  <a:lnTo>
                    <a:pt x="396" y="0"/>
                  </a:lnTo>
                  <a:lnTo>
                    <a:pt x="397" y="2"/>
                  </a:lnTo>
                  <a:lnTo>
                    <a:pt x="399" y="3"/>
                  </a:lnTo>
                  <a:lnTo>
                    <a:pt x="400" y="6"/>
                  </a:lnTo>
                  <a:lnTo>
                    <a:pt x="399" y="9"/>
                  </a:lnTo>
                  <a:lnTo>
                    <a:pt x="397" y="11"/>
                  </a:lnTo>
                  <a:lnTo>
                    <a:pt x="396" y="12"/>
                  </a:lnTo>
                  <a:lnTo>
                    <a:pt x="394" y="12"/>
                  </a:lnTo>
                  <a:lnTo>
                    <a:pt x="394" y="12"/>
                  </a:lnTo>
                  <a:lnTo>
                    <a:pt x="392" y="12"/>
                  </a:lnTo>
                  <a:lnTo>
                    <a:pt x="390" y="11"/>
                  </a:lnTo>
                  <a:lnTo>
                    <a:pt x="390" y="9"/>
                  </a:lnTo>
                  <a:lnTo>
                    <a:pt x="389" y="6"/>
                  </a:lnTo>
                  <a:lnTo>
                    <a:pt x="390" y="3"/>
                  </a:lnTo>
                  <a:lnTo>
                    <a:pt x="390" y="2"/>
                  </a:lnTo>
                  <a:lnTo>
                    <a:pt x="392" y="0"/>
                  </a:lnTo>
                  <a:lnTo>
                    <a:pt x="394" y="0"/>
                  </a:lnTo>
                  <a:lnTo>
                    <a:pt x="394" y="0"/>
                  </a:lnTo>
                  <a:close/>
                  <a:moveTo>
                    <a:pt x="415" y="0"/>
                  </a:moveTo>
                  <a:lnTo>
                    <a:pt x="415" y="0"/>
                  </a:lnTo>
                  <a:lnTo>
                    <a:pt x="417" y="0"/>
                  </a:lnTo>
                  <a:lnTo>
                    <a:pt x="418" y="2"/>
                  </a:lnTo>
                  <a:lnTo>
                    <a:pt x="419" y="3"/>
                  </a:lnTo>
                  <a:lnTo>
                    <a:pt x="419" y="6"/>
                  </a:lnTo>
                  <a:lnTo>
                    <a:pt x="419" y="9"/>
                  </a:lnTo>
                  <a:lnTo>
                    <a:pt x="418" y="11"/>
                  </a:lnTo>
                  <a:lnTo>
                    <a:pt x="417" y="12"/>
                  </a:lnTo>
                  <a:lnTo>
                    <a:pt x="415" y="12"/>
                  </a:lnTo>
                  <a:lnTo>
                    <a:pt x="415" y="12"/>
                  </a:lnTo>
                  <a:lnTo>
                    <a:pt x="412" y="12"/>
                  </a:lnTo>
                  <a:lnTo>
                    <a:pt x="411" y="11"/>
                  </a:lnTo>
                  <a:lnTo>
                    <a:pt x="410" y="9"/>
                  </a:lnTo>
                  <a:lnTo>
                    <a:pt x="410" y="6"/>
                  </a:lnTo>
                  <a:lnTo>
                    <a:pt x="410" y="3"/>
                  </a:lnTo>
                  <a:lnTo>
                    <a:pt x="411" y="2"/>
                  </a:lnTo>
                  <a:lnTo>
                    <a:pt x="412" y="0"/>
                  </a:lnTo>
                  <a:lnTo>
                    <a:pt x="415" y="0"/>
                  </a:lnTo>
                  <a:lnTo>
                    <a:pt x="415" y="0"/>
                  </a:lnTo>
                  <a:close/>
                  <a:moveTo>
                    <a:pt x="435" y="0"/>
                  </a:moveTo>
                  <a:lnTo>
                    <a:pt x="435" y="0"/>
                  </a:lnTo>
                  <a:lnTo>
                    <a:pt x="437" y="0"/>
                  </a:lnTo>
                  <a:lnTo>
                    <a:pt x="439" y="2"/>
                  </a:lnTo>
                  <a:lnTo>
                    <a:pt x="440" y="3"/>
                  </a:lnTo>
                  <a:lnTo>
                    <a:pt x="440" y="6"/>
                  </a:lnTo>
                  <a:lnTo>
                    <a:pt x="440" y="9"/>
                  </a:lnTo>
                  <a:lnTo>
                    <a:pt x="439" y="11"/>
                  </a:lnTo>
                  <a:lnTo>
                    <a:pt x="437" y="12"/>
                  </a:lnTo>
                  <a:lnTo>
                    <a:pt x="435" y="12"/>
                  </a:lnTo>
                  <a:lnTo>
                    <a:pt x="435" y="12"/>
                  </a:lnTo>
                  <a:lnTo>
                    <a:pt x="433" y="12"/>
                  </a:lnTo>
                  <a:lnTo>
                    <a:pt x="432" y="11"/>
                  </a:lnTo>
                  <a:lnTo>
                    <a:pt x="430" y="9"/>
                  </a:lnTo>
                  <a:lnTo>
                    <a:pt x="430" y="6"/>
                  </a:lnTo>
                  <a:lnTo>
                    <a:pt x="430" y="3"/>
                  </a:lnTo>
                  <a:lnTo>
                    <a:pt x="432" y="2"/>
                  </a:lnTo>
                  <a:lnTo>
                    <a:pt x="433" y="0"/>
                  </a:lnTo>
                  <a:lnTo>
                    <a:pt x="435" y="0"/>
                  </a:lnTo>
                  <a:lnTo>
                    <a:pt x="435" y="0"/>
                  </a:lnTo>
                  <a:close/>
                  <a:moveTo>
                    <a:pt x="455" y="0"/>
                  </a:moveTo>
                  <a:lnTo>
                    <a:pt x="455" y="0"/>
                  </a:lnTo>
                  <a:lnTo>
                    <a:pt x="457" y="0"/>
                  </a:lnTo>
                  <a:lnTo>
                    <a:pt x="459" y="2"/>
                  </a:lnTo>
                  <a:lnTo>
                    <a:pt x="460" y="3"/>
                  </a:lnTo>
                  <a:lnTo>
                    <a:pt x="461" y="6"/>
                  </a:lnTo>
                  <a:lnTo>
                    <a:pt x="460" y="9"/>
                  </a:lnTo>
                  <a:lnTo>
                    <a:pt x="459" y="11"/>
                  </a:lnTo>
                  <a:lnTo>
                    <a:pt x="457" y="12"/>
                  </a:lnTo>
                  <a:lnTo>
                    <a:pt x="455" y="12"/>
                  </a:lnTo>
                  <a:lnTo>
                    <a:pt x="455" y="12"/>
                  </a:lnTo>
                  <a:lnTo>
                    <a:pt x="454" y="12"/>
                  </a:lnTo>
                  <a:lnTo>
                    <a:pt x="451" y="11"/>
                  </a:lnTo>
                  <a:lnTo>
                    <a:pt x="451" y="9"/>
                  </a:lnTo>
                  <a:lnTo>
                    <a:pt x="450" y="6"/>
                  </a:lnTo>
                  <a:lnTo>
                    <a:pt x="451" y="3"/>
                  </a:lnTo>
                  <a:lnTo>
                    <a:pt x="451" y="2"/>
                  </a:lnTo>
                  <a:lnTo>
                    <a:pt x="454" y="0"/>
                  </a:lnTo>
                  <a:lnTo>
                    <a:pt x="455" y="0"/>
                  </a:lnTo>
                  <a:lnTo>
                    <a:pt x="455" y="0"/>
                  </a:lnTo>
                  <a:close/>
                  <a:moveTo>
                    <a:pt x="476" y="0"/>
                  </a:moveTo>
                  <a:lnTo>
                    <a:pt x="476" y="0"/>
                  </a:lnTo>
                  <a:lnTo>
                    <a:pt x="478" y="0"/>
                  </a:lnTo>
                  <a:lnTo>
                    <a:pt x="480" y="2"/>
                  </a:lnTo>
                  <a:lnTo>
                    <a:pt x="481" y="3"/>
                  </a:lnTo>
                  <a:lnTo>
                    <a:pt x="481" y="6"/>
                  </a:lnTo>
                  <a:lnTo>
                    <a:pt x="481" y="9"/>
                  </a:lnTo>
                  <a:lnTo>
                    <a:pt x="480" y="11"/>
                  </a:lnTo>
                  <a:lnTo>
                    <a:pt x="478" y="12"/>
                  </a:lnTo>
                  <a:lnTo>
                    <a:pt x="476" y="12"/>
                  </a:lnTo>
                  <a:lnTo>
                    <a:pt x="476" y="12"/>
                  </a:lnTo>
                  <a:lnTo>
                    <a:pt x="473" y="12"/>
                  </a:lnTo>
                  <a:lnTo>
                    <a:pt x="472" y="11"/>
                  </a:lnTo>
                  <a:lnTo>
                    <a:pt x="471" y="9"/>
                  </a:lnTo>
                  <a:lnTo>
                    <a:pt x="471" y="6"/>
                  </a:lnTo>
                  <a:lnTo>
                    <a:pt x="471" y="3"/>
                  </a:lnTo>
                  <a:lnTo>
                    <a:pt x="472" y="2"/>
                  </a:lnTo>
                  <a:lnTo>
                    <a:pt x="473" y="0"/>
                  </a:lnTo>
                  <a:lnTo>
                    <a:pt x="476" y="0"/>
                  </a:lnTo>
                  <a:lnTo>
                    <a:pt x="476" y="0"/>
                  </a:lnTo>
                  <a:close/>
                  <a:moveTo>
                    <a:pt x="497" y="0"/>
                  </a:moveTo>
                  <a:lnTo>
                    <a:pt x="497" y="0"/>
                  </a:lnTo>
                  <a:lnTo>
                    <a:pt x="498" y="0"/>
                  </a:lnTo>
                  <a:lnTo>
                    <a:pt x="500" y="2"/>
                  </a:lnTo>
                  <a:lnTo>
                    <a:pt x="502" y="3"/>
                  </a:lnTo>
                  <a:lnTo>
                    <a:pt x="502" y="6"/>
                  </a:lnTo>
                  <a:lnTo>
                    <a:pt x="502" y="9"/>
                  </a:lnTo>
                  <a:lnTo>
                    <a:pt x="500" y="11"/>
                  </a:lnTo>
                  <a:lnTo>
                    <a:pt x="498" y="12"/>
                  </a:lnTo>
                  <a:lnTo>
                    <a:pt x="497" y="12"/>
                  </a:lnTo>
                  <a:lnTo>
                    <a:pt x="497" y="12"/>
                  </a:lnTo>
                  <a:lnTo>
                    <a:pt x="494" y="12"/>
                  </a:lnTo>
                  <a:lnTo>
                    <a:pt x="493" y="11"/>
                  </a:lnTo>
                  <a:lnTo>
                    <a:pt x="492" y="9"/>
                  </a:lnTo>
                  <a:lnTo>
                    <a:pt x="492" y="6"/>
                  </a:lnTo>
                  <a:lnTo>
                    <a:pt x="492" y="3"/>
                  </a:lnTo>
                  <a:lnTo>
                    <a:pt x="493" y="2"/>
                  </a:lnTo>
                  <a:lnTo>
                    <a:pt x="494" y="0"/>
                  </a:lnTo>
                  <a:lnTo>
                    <a:pt x="497" y="0"/>
                  </a:lnTo>
                  <a:lnTo>
                    <a:pt x="497" y="0"/>
                  </a:lnTo>
                  <a:close/>
                  <a:moveTo>
                    <a:pt x="516" y="0"/>
                  </a:moveTo>
                  <a:lnTo>
                    <a:pt x="518" y="0"/>
                  </a:lnTo>
                  <a:lnTo>
                    <a:pt x="519" y="0"/>
                  </a:lnTo>
                  <a:lnTo>
                    <a:pt x="520" y="2"/>
                  </a:lnTo>
                  <a:lnTo>
                    <a:pt x="521" y="3"/>
                  </a:lnTo>
                  <a:lnTo>
                    <a:pt x="522" y="6"/>
                  </a:lnTo>
                  <a:lnTo>
                    <a:pt x="521" y="9"/>
                  </a:lnTo>
                  <a:lnTo>
                    <a:pt x="520" y="11"/>
                  </a:lnTo>
                  <a:lnTo>
                    <a:pt x="519" y="12"/>
                  </a:lnTo>
                  <a:lnTo>
                    <a:pt x="518" y="12"/>
                  </a:lnTo>
                  <a:lnTo>
                    <a:pt x="516" y="12"/>
                  </a:lnTo>
                  <a:lnTo>
                    <a:pt x="515" y="12"/>
                  </a:lnTo>
                  <a:lnTo>
                    <a:pt x="513" y="11"/>
                  </a:lnTo>
                  <a:lnTo>
                    <a:pt x="513" y="9"/>
                  </a:lnTo>
                  <a:lnTo>
                    <a:pt x="511" y="6"/>
                  </a:lnTo>
                  <a:lnTo>
                    <a:pt x="513" y="3"/>
                  </a:lnTo>
                  <a:lnTo>
                    <a:pt x="513" y="2"/>
                  </a:lnTo>
                  <a:lnTo>
                    <a:pt x="515" y="0"/>
                  </a:lnTo>
                  <a:lnTo>
                    <a:pt x="516" y="0"/>
                  </a:lnTo>
                  <a:lnTo>
                    <a:pt x="516" y="0"/>
                  </a:lnTo>
                  <a:close/>
                  <a:moveTo>
                    <a:pt x="537" y="0"/>
                  </a:moveTo>
                  <a:lnTo>
                    <a:pt x="537" y="0"/>
                  </a:lnTo>
                  <a:lnTo>
                    <a:pt x="540" y="0"/>
                  </a:lnTo>
                  <a:lnTo>
                    <a:pt x="541" y="2"/>
                  </a:lnTo>
                  <a:lnTo>
                    <a:pt x="542" y="3"/>
                  </a:lnTo>
                  <a:lnTo>
                    <a:pt x="542" y="6"/>
                  </a:lnTo>
                  <a:lnTo>
                    <a:pt x="542" y="9"/>
                  </a:lnTo>
                  <a:lnTo>
                    <a:pt x="541" y="11"/>
                  </a:lnTo>
                  <a:lnTo>
                    <a:pt x="540" y="12"/>
                  </a:lnTo>
                  <a:lnTo>
                    <a:pt x="537" y="12"/>
                  </a:lnTo>
                  <a:lnTo>
                    <a:pt x="537" y="12"/>
                  </a:lnTo>
                  <a:lnTo>
                    <a:pt x="535" y="12"/>
                  </a:lnTo>
                  <a:lnTo>
                    <a:pt x="533" y="11"/>
                  </a:lnTo>
                  <a:lnTo>
                    <a:pt x="532" y="9"/>
                  </a:lnTo>
                  <a:lnTo>
                    <a:pt x="532" y="6"/>
                  </a:lnTo>
                  <a:lnTo>
                    <a:pt x="532" y="3"/>
                  </a:lnTo>
                  <a:lnTo>
                    <a:pt x="533" y="2"/>
                  </a:lnTo>
                  <a:lnTo>
                    <a:pt x="535" y="0"/>
                  </a:lnTo>
                  <a:lnTo>
                    <a:pt x="537" y="0"/>
                  </a:lnTo>
                  <a:lnTo>
                    <a:pt x="537" y="0"/>
                  </a:lnTo>
                  <a:close/>
                  <a:moveTo>
                    <a:pt x="558" y="0"/>
                  </a:moveTo>
                  <a:lnTo>
                    <a:pt x="558" y="0"/>
                  </a:lnTo>
                  <a:lnTo>
                    <a:pt x="559" y="0"/>
                  </a:lnTo>
                  <a:lnTo>
                    <a:pt x="562" y="2"/>
                  </a:lnTo>
                  <a:lnTo>
                    <a:pt x="563" y="3"/>
                  </a:lnTo>
                  <a:lnTo>
                    <a:pt x="563" y="6"/>
                  </a:lnTo>
                  <a:lnTo>
                    <a:pt x="563" y="9"/>
                  </a:lnTo>
                  <a:lnTo>
                    <a:pt x="562" y="11"/>
                  </a:lnTo>
                  <a:lnTo>
                    <a:pt x="559" y="12"/>
                  </a:lnTo>
                  <a:lnTo>
                    <a:pt x="558" y="12"/>
                  </a:lnTo>
                  <a:lnTo>
                    <a:pt x="558" y="12"/>
                  </a:lnTo>
                  <a:lnTo>
                    <a:pt x="556" y="12"/>
                  </a:lnTo>
                  <a:lnTo>
                    <a:pt x="554" y="11"/>
                  </a:lnTo>
                  <a:lnTo>
                    <a:pt x="553" y="9"/>
                  </a:lnTo>
                  <a:lnTo>
                    <a:pt x="553" y="6"/>
                  </a:lnTo>
                  <a:lnTo>
                    <a:pt x="553" y="3"/>
                  </a:lnTo>
                  <a:lnTo>
                    <a:pt x="554" y="2"/>
                  </a:lnTo>
                  <a:lnTo>
                    <a:pt x="556" y="0"/>
                  </a:lnTo>
                  <a:lnTo>
                    <a:pt x="558" y="0"/>
                  </a:lnTo>
                  <a:lnTo>
                    <a:pt x="558" y="0"/>
                  </a:lnTo>
                  <a:close/>
                  <a:moveTo>
                    <a:pt x="579" y="0"/>
                  </a:moveTo>
                  <a:lnTo>
                    <a:pt x="579" y="0"/>
                  </a:lnTo>
                  <a:lnTo>
                    <a:pt x="580" y="0"/>
                  </a:lnTo>
                  <a:lnTo>
                    <a:pt x="581" y="2"/>
                  </a:lnTo>
                  <a:lnTo>
                    <a:pt x="583" y="3"/>
                  </a:lnTo>
                  <a:lnTo>
                    <a:pt x="584" y="6"/>
                  </a:lnTo>
                  <a:lnTo>
                    <a:pt x="583" y="9"/>
                  </a:lnTo>
                  <a:lnTo>
                    <a:pt x="581" y="11"/>
                  </a:lnTo>
                  <a:lnTo>
                    <a:pt x="580" y="12"/>
                  </a:lnTo>
                  <a:lnTo>
                    <a:pt x="579" y="12"/>
                  </a:lnTo>
                  <a:lnTo>
                    <a:pt x="579" y="12"/>
                  </a:lnTo>
                  <a:lnTo>
                    <a:pt x="576" y="12"/>
                  </a:lnTo>
                  <a:lnTo>
                    <a:pt x="575" y="11"/>
                  </a:lnTo>
                  <a:lnTo>
                    <a:pt x="574" y="9"/>
                  </a:lnTo>
                  <a:lnTo>
                    <a:pt x="573" y="6"/>
                  </a:lnTo>
                  <a:lnTo>
                    <a:pt x="574" y="3"/>
                  </a:lnTo>
                  <a:lnTo>
                    <a:pt x="575" y="2"/>
                  </a:lnTo>
                  <a:lnTo>
                    <a:pt x="576" y="0"/>
                  </a:lnTo>
                  <a:lnTo>
                    <a:pt x="579" y="0"/>
                  </a:lnTo>
                  <a:lnTo>
                    <a:pt x="579" y="0"/>
                  </a:lnTo>
                  <a:close/>
                  <a:moveTo>
                    <a:pt x="598" y="0"/>
                  </a:moveTo>
                  <a:lnTo>
                    <a:pt x="598" y="0"/>
                  </a:lnTo>
                  <a:lnTo>
                    <a:pt x="601" y="0"/>
                  </a:lnTo>
                  <a:lnTo>
                    <a:pt x="602" y="2"/>
                  </a:lnTo>
                  <a:lnTo>
                    <a:pt x="603" y="3"/>
                  </a:lnTo>
                  <a:lnTo>
                    <a:pt x="603" y="6"/>
                  </a:lnTo>
                  <a:lnTo>
                    <a:pt x="603" y="9"/>
                  </a:lnTo>
                  <a:lnTo>
                    <a:pt x="602" y="11"/>
                  </a:lnTo>
                  <a:lnTo>
                    <a:pt x="601" y="12"/>
                  </a:lnTo>
                  <a:lnTo>
                    <a:pt x="598" y="12"/>
                  </a:lnTo>
                  <a:lnTo>
                    <a:pt x="598" y="12"/>
                  </a:lnTo>
                  <a:lnTo>
                    <a:pt x="597" y="12"/>
                  </a:lnTo>
                  <a:lnTo>
                    <a:pt x="595" y="11"/>
                  </a:lnTo>
                  <a:lnTo>
                    <a:pt x="594" y="9"/>
                  </a:lnTo>
                  <a:lnTo>
                    <a:pt x="594" y="6"/>
                  </a:lnTo>
                  <a:lnTo>
                    <a:pt x="594" y="3"/>
                  </a:lnTo>
                  <a:lnTo>
                    <a:pt x="595" y="2"/>
                  </a:lnTo>
                  <a:lnTo>
                    <a:pt x="597" y="0"/>
                  </a:lnTo>
                  <a:lnTo>
                    <a:pt x="598" y="0"/>
                  </a:lnTo>
                  <a:lnTo>
                    <a:pt x="598" y="0"/>
                  </a:lnTo>
                  <a:close/>
                  <a:moveTo>
                    <a:pt x="619" y="0"/>
                  </a:moveTo>
                  <a:lnTo>
                    <a:pt x="619" y="0"/>
                  </a:lnTo>
                  <a:lnTo>
                    <a:pt x="621" y="0"/>
                  </a:lnTo>
                  <a:lnTo>
                    <a:pt x="623" y="2"/>
                  </a:lnTo>
                  <a:lnTo>
                    <a:pt x="624" y="3"/>
                  </a:lnTo>
                  <a:lnTo>
                    <a:pt x="624" y="6"/>
                  </a:lnTo>
                  <a:lnTo>
                    <a:pt x="624" y="9"/>
                  </a:lnTo>
                  <a:lnTo>
                    <a:pt x="623" y="11"/>
                  </a:lnTo>
                  <a:lnTo>
                    <a:pt x="621" y="12"/>
                  </a:lnTo>
                  <a:lnTo>
                    <a:pt x="619" y="12"/>
                  </a:lnTo>
                  <a:lnTo>
                    <a:pt x="619" y="12"/>
                  </a:lnTo>
                  <a:lnTo>
                    <a:pt x="617" y="12"/>
                  </a:lnTo>
                  <a:lnTo>
                    <a:pt x="616" y="11"/>
                  </a:lnTo>
                  <a:lnTo>
                    <a:pt x="614" y="9"/>
                  </a:lnTo>
                  <a:lnTo>
                    <a:pt x="614" y="6"/>
                  </a:lnTo>
                  <a:lnTo>
                    <a:pt x="614" y="3"/>
                  </a:lnTo>
                  <a:lnTo>
                    <a:pt x="616" y="2"/>
                  </a:lnTo>
                  <a:lnTo>
                    <a:pt x="617" y="0"/>
                  </a:lnTo>
                  <a:lnTo>
                    <a:pt x="619" y="0"/>
                  </a:lnTo>
                  <a:lnTo>
                    <a:pt x="619" y="0"/>
                  </a:lnTo>
                  <a:close/>
                  <a:moveTo>
                    <a:pt x="640" y="0"/>
                  </a:moveTo>
                  <a:lnTo>
                    <a:pt x="640" y="0"/>
                  </a:lnTo>
                  <a:lnTo>
                    <a:pt x="641" y="0"/>
                  </a:lnTo>
                  <a:lnTo>
                    <a:pt x="643" y="2"/>
                  </a:lnTo>
                  <a:lnTo>
                    <a:pt x="644" y="3"/>
                  </a:lnTo>
                  <a:lnTo>
                    <a:pt x="645" y="6"/>
                  </a:lnTo>
                  <a:lnTo>
                    <a:pt x="644" y="9"/>
                  </a:lnTo>
                  <a:lnTo>
                    <a:pt x="643" y="11"/>
                  </a:lnTo>
                  <a:lnTo>
                    <a:pt x="641" y="12"/>
                  </a:lnTo>
                  <a:lnTo>
                    <a:pt x="640" y="12"/>
                  </a:lnTo>
                  <a:lnTo>
                    <a:pt x="640" y="12"/>
                  </a:lnTo>
                  <a:lnTo>
                    <a:pt x="638" y="12"/>
                  </a:lnTo>
                  <a:lnTo>
                    <a:pt x="636" y="11"/>
                  </a:lnTo>
                  <a:lnTo>
                    <a:pt x="635" y="9"/>
                  </a:lnTo>
                  <a:lnTo>
                    <a:pt x="634" y="6"/>
                  </a:lnTo>
                  <a:lnTo>
                    <a:pt x="635" y="3"/>
                  </a:lnTo>
                  <a:lnTo>
                    <a:pt x="636" y="2"/>
                  </a:lnTo>
                  <a:lnTo>
                    <a:pt x="638" y="0"/>
                  </a:lnTo>
                  <a:lnTo>
                    <a:pt x="640" y="0"/>
                  </a:lnTo>
                  <a:lnTo>
                    <a:pt x="640" y="0"/>
                  </a:lnTo>
                  <a:close/>
                  <a:moveTo>
                    <a:pt x="660" y="0"/>
                  </a:moveTo>
                  <a:lnTo>
                    <a:pt x="660" y="0"/>
                  </a:lnTo>
                  <a:lnTo>
                    <a:pt x="662" y="0"/>
                  </a:lnTo>
                  <a:lnTo>
                    <a:pt x="663" y="2"/>
                  </a:lnTo>
                  <a:lnTo>
                    <a:pt x="665" y="3"/>
                  </a:lnTo>
                  <a:lnTo>
                    <a:pt x="665" y="6"/>
                  </a:lnTo>
                  <a:lnTo>
                    <a:pt x="665" y="9"/>
                  </a:lnTo>
                  <a:lnTo>
                    <a:pt x="663" y="11"/>
                  </a:lnTo>
                  <a:lnTo>
                    <a:pt x="662" y="12"/>
                  </a:lnTo>
                  <a:lnTo>
                    <a:pt x="660" y="12"/>
                  </a:lnTo>
                  <a:lnTo>
                    <a:pt x="660" y="12"/>
                  </a:lnTo>
                  <a:lnTo>
                    <a:pt x="659" y="12"/>
                  </a:lnTo>
                  <a:lnTo>
                    <a:pt x="656" y="11"/>
                  </a:lnTo>
                  <a:lnTo>
                    <a:pt x="655" y="9"/>
                  </a:lnTo>
                  <a:lnTo>
                    <a:pt x="655" y="6"/>
                  </a:lnTo>
                  <a:lnTo>
                    <a:pt x="655" y="3"/>
                  </a:lnTo>
                  <a:lnTo>
                    <a:pt x="656" y="2"/>
                  </a:lnTo>
                  <a:lnTo>
                    <a:pt x="659" y="0"/>
                  </a:lnTo>
                  <a:lnTo>
                    <a:pt x="660" y="0"/>
                  </a:lnTo>
                  <a:lnTo>
                    <a:pt x="660" y="0"/>
                  </a:lnTo>
                  <a:close/>
                  <a:moveTo>
                    <a:pt x="681" y="0"/>
                  </a:moveTo>
                  <a:lnTo>
                    <a:pt x="681" y="0"/>
                  </a:lnTo>
                  <a:lnTo>
                    <a:pt x="682" y="0"/>
                  </a:lnTo>
                  <a:lnTo>
                    <a:pt x="684" y="2"/>
                  </a:lnTo>
                  <a:lnTo>
                    <a:pt x="685" y="3"/>
                  </a:lnTo>
                  <a:lnTo>
                    <a:pt x="685" y="6"/>
                  </a:lnTo>
                  <a:lnTo>
                    <a:pt x="685" y="9"/>
                  </a:lnTo>
                  <a:lnTo>
                    <a:pt x="684" y="11"/>
                  </a:lnTo>
                  <a:lnTo>
                    <a:pt x="682" y="12"/>
                  </a:lnTo>
                  <a:lnTo>
                    <a:pt x="681" y="12"/>
                  </a:lnTo>
                  <a:lnTo>
                    <a:pt x="681" y="12"/>
                  </a:lnTo>
                  <a:lnTo>
                    <a:pt x="678" y="12"/>
                  </a:lnTo>
                  <a:lnTo>
                    <a:pt x="677" y="11"/>
                  </a:lnTo>
                  <a:lnTo>
                    <a:pt x="676" y="9"/>
                  </a:lnTo>
                  <a:lnTo>
                    <a:pt x="676" y="6"/>
                  </a:lnTo>
                  <a:lnTo>
                    <a:pt x="676" y="3"/>
                  </a:lnTo>
                  <a:lnTo>
                    <a:pt x="677" y="2"/>
                  </a:lnTo>
                  <a:lnTo>
                    <a:pt x="678" y="0"/>
                  </a:lnTo>
                  <a:lnTo>
                    <a:pt x="681" y="0"/>
                  </a:lnTo>
                  <a:lnTo>
                    <a:pt x="681" y="0"/>
                  </a:lnTo>
                  <a:close/>
                  <a:moveTo>
                    <a:pt x="701" y="0"/>
                  </a:moveTo>
                  <a:lnTo>
                    <a:pt x="701" y="0"/>
                  </a:lnTo>
                  <a:lnTo>
                    <a:pt x="703" y="0"/>
                  </a:lnTo>
                  <a:lnTo>
                    <a:pt x="704" y="2"/>
                  </a:lnTo>
                  <a:lnTo>
                    <a:pt x="705" y="3"/>
                  </a:lnTo>
                  <a:lnTo>
                    <a:pt x="706" y="6"/>
                  </a:lnTo>
                  <a:lnTo>
                    <a:pt x="705" y="9"/>
                  </a:lnTo>
                  <a:lnTo>
                    <a:pt x="704" y="11"/>
                  </a:lnTo>
                  <a:lnTo>
                    <a:pt x="703" y="12"/>
                  </a:lnTo>
                  <a:lnTo>
                    <a:pt x="701" y="12"/>
                  </a:lnTo>
                  <a:lnTo>
                    <a:pt x="701" y="12"/>
                  </a:lnTo>
                  <a:lnTo>
                    <a:pt x="699" y="12"/>
                  </a:lnTo>
                  <a:lnTo>
                    <a:pt x="698" y="11"/>
                  </a:lnTo>
                  <a:lnTo>
                    <a:pt x="697" y="9"/>
                  </a:lnTo>
                  <a:lnTo>
                    <a:pt x="695" y="6"/>
                  </a:lnTo>
                  <a:lnTo>
                    <a:pt x="697" y="3"/>
                  </a:lnTo>
                  <a:lnTo>
                    <a:pt x="698" y="2"/>
                  </a:lnTo>
                  <a:lnTo>
                    <a:pt x="699" y="0"/>
                  </a:lnTo>
                  <a:lnTo>
                    <a:pt x="701" y="0"/>
                  </a:lnTo>
                  <a:lnTo>
                    <a:pt x="701" y="0"/>
                  </a:lnTo>
                  <a:close/>
                  <a:moveTo>
                    <a:pt x="721" y="0"/>
                  </a:moveTo>
                  <a:lnTo>
                    <a:pt x="721" y="0"/>
                  </a:lnTo>
                  <a:lnTo>
                    <a:pt x="724" y="0"/>
                  </a:lnTo>
                  <a:lnTo>
                    <a:pt x="725" y="2"/>
                  </a:lnTo>
                  <a:lnTo>
                    <a:pt x="726" y="3"/>
                  </a:lnTo>
                  <a:lnTo>
                    <a:pt x="726" y="6"/>
                  </a:lnTo>
                  <a:lnTo>
                    <a:pt x="726" y="9"/>
                  </a:lnTo>
                  <a:lnTo>
                    <a:pt x="725" y="11"/>
                  </a:lnTo>
                  <a:lnTo>
                    <a:pt x="724" y="12"/>
                  </a:lnTo>
                  <a:lnTo>
                    <a:pt x="721" y="12"/>
                  </a:lnTo>
                  <a:lnTo>
                    <a:pt x="721" y="12"/>
                  </a:lnTo>
                  <a:lnTo>
                    <a:pt x="720" y="12"/>
                  </a:lnTo>
                  <a:lnTo>
                    <a:pt x="717" y="11"/>
                  </a:lnTo>
                  <a:lnTo>
                    <a:pt x="716" y="9"/>
                  </a:lnTo>
                  <a:lnTo>
                    <a:pt x="716" y="6"/>
                  </a:lnTo>
                  <a:lnTo>
                    <a:pt x="716" y="3"/>
                  </a:lnTo>
                  <a:lnTo>
                    <a:pt x="717" y="2"/>
                  </a:lnTo>
                  <a:lnTo>
                    <a:pt x="720" y="0"/>
                  </a:lnTo>
                  <a:lnTo>
                    <a:pt x="721" y="0"/>
                  </a:lnTo>
                  <a:lnTo>
                    <a:pt x="721" y="0"/>
                  </a:lnTo>
                  <a:close/>
                  <a:moveTo>
                    <a:pt x="742" y="0"/>
                  </a:moveTo>
                  <a:lnTo>
                    <a:pt x="742" y="0"/>
                  </a:lnTo>
                  <a:lnTo>
                    <a:pt x="743" y="0"/>
                  </a:lnTo>
                  <a:lnTo>
                    <a:pt x="746" y="2"/>
                  </a:lnTo>
                  <a:lnTo>
                    <a:pt x="747" y="3"/>
                  </a:lnTo>
                  <a:lnTo>
                    <a:pt x="747" y="6"/>
                  </a:lnTo>
                  <a:lnTo>
                    <a:pt x="747" y="9"/>
                  </a:lnTo>
                  <a:lnTo>
                    <a:pt x="746" y="11"/>
                  </a:lnTo>
                  <a:lnTo>
                    <a:pt x="743" y="12"/>
                  </a:lnTo>
                  <a:lnTo>
                    <a:pt x="742" y="12"/>
                  </a:lnTo>
                  <a:lnTo>
                    <a:pt x="742" y="12"/>
                  </a:lnTo>
                  <a:lnTo>
                    <a:pt x="739" y="12"/>
                  </a:lnTo>
                  <a:lnTo>
                    <a:pt x="738" y="11"/>
                  </a:lnTo>
                  <a:lnTo>
                    <a:pt x="737" y="9"/>
                  </a:lnTo>
                  <a:lnTo>
                    <a:pt x="737" y="6"/>
                  </a:lnTo>
                  <a:lnTo>
                    <a:pt x="737" y="3"/>
                  </a:lnTo>
                  <a:lnTo>
                    <a:pt x="738" y="2"/>
                  </a:lnTo>
                  <a:lnTo>
                    <a:pt x="739" y="0"/>
                  </a:lnTo>
                  <a:lnTo>
                    <a:pt x="742" y="0"/>
                  </a:lnTo>
                  <a:lnTo>
                    <a:pt x="742" y="0"/>
                  </a:lnTo>
                  <a:close/>
                  <a:moveTo>
                    <a:pt x="763" y="0"/>
                  </a:moveTo>
                  <a:lnTo>
                    <a:pt x="763" y="0"/>
                  </a:lnTo>
                  <a:lnTo>
                    <a:pt x="764" y="0"/>
                  </a:lnTo>
                  <a:lnTo>
                    <a:pt x="766" y="2"/>
                  </a:lnTo>
                  <a:lnTo>
                    <a:pt x="766" y="3"/>
                  </a:lnTo>
                  <a:lnTo>
                    <a:pt x="768" y="6"/>
                  </a:lnTo>
                  <a:lnTo>
                    <a:pt x="766" y="9"/>
                  </a:lnTo>
                  <a:lnTo>
                    <a:pt x="766" y="11"/>
                  </a:lnTo>
                  <a:lnTo>
                    <a:pt x="764" y="12"/>
                  </a:lnTo>
                  <a:lnTo>
                    <a:pt x="763" y="12"/>
                  </a:lnTo>
                  <a:lnTo>
                    <a:pt x="763" y="12"/>
                  </a:lnTo>
                  <a:lnTo>
                    <a:pt x="760" y="12"/>
                  </a:lnTo>
                  <a:lnTo>
                    <a:pt x="759" y="11"/>
                  </a:lnTo>
                  <a:lnTo>
                    <a:pt x="758" y="9"/>
                  </a:lnTo>
                  <a:lnTo>
                    <a:pt x="757" y="6"/>
                  </a:lnTo>
                  <a:lnTo>
                    <a:pt x="758" y="3"/>
                  </a:lnTo>
                  <a:lnTo>
                    <a:pt x="759" y="2"/>
                  </a:lnTo>
                  <a:lnTo>
                    <a:pt x="760" y="0"/>
                  </a:lnTo>
                  <a:lnTo>
                    <a:pt x="763" y="0"/>
                  </a:lnTo>
                  <a:lnTo>
                    <a:pt x="763" y="0"/>
                  </a:lnTo>
                  <a:close/>
                  <a:moveTo>
                    <a:pt x="782" y="0"/>
                  </a:moveTo>
                  <a:lnTo>
                    <a:pt x="782" y="0"/>
                  </a:lnTo>
                  <a:lnTo>
                    <a:pt x="785" y="0"/>
                  </a:lnTo>
                  <a:lnTo>
                    <a:pt x="786" y="2"/>
                  </a:lnTo>
                  <a:lnTo>
                    <a:pt x="787" y="3"/>
                  </a:lnTo>
                  <a:lnTo>
                    <a:pt x="787" y="6"/>
                  </a:lnTo>
                  <a:lnTo>
                    <a:pt x="787" y="9"/>
                  </a:lnTo>
                  <a:lnTo>
                    <a:pt x="786" y="11"/>
                  </a:lnTo>
                  <a:lnTo>
                    <a:pt x="785" y="12"/>
                  </a:lnTo>
                  <a:lnTo>
                    <a:pt x="782" y="12"/>
                  </a:lnTo>
                  <a:lnTo>
                    <a:pt x="782" y="12"/>
                  </a:lnTo>
                  <a:lnTo>
                    <a:pt x="781" y="12"/>
                  </a:lnTo>
                  <a:lnTo>
                    <a:pt x="779" y="11"/>
                  </a:lnTo>
                  <a:lnTo>
                    <a:pt x="777" y="9"/>
                  </a:lnTo>
                  <a:lnTo>
                    <a:pt x="777" y="6"/>
                  </a:lnTo>
                  <a:lnTo>
                    <a:pt x="777" y="3"/>
                  </a:lnTo>
                  <a:lnTo>
                    <a:pt x="779" y="2"/>
                  </a:lnTo>
                  <a:lnTo>
                    <a:pt x="781" y="0"/>
                  </a:lnTo>
                  <a:lnTo>
                    <a:pt x="782" y="0"/>
                  </a:lnTo>
                  <a:lnTo>
                    <a:pt x="782" y="0"/>
                  </a:lnTo>
                  <a:close/>
                  <a:moveTo>
                    <a:pt x="803" y="0"/>
                  </a:moveTo>
                  <a:lnTo>
                    <a:pt x="803" y="0"/>
                  </a:lnTo>
                  <a:lnTo>
                    <a:pt x="806" y="0"/>
                  </a:lnTo>
                  <a:lnTo>
                    <a:pt x="807" y="2"/>
                  </a:lnTo>
                  <a:lnTo>
                    <a:pt x="808" y="3"/>
                  </a:lnTo>
                  <a:lnTo>
                    <a:pt x="808" y="6"/>
                  </a:lnTo>
                  <a:lnTo>
                    <a:pt x="808" y="9"/>
                  </a:lnTo>
                  <a:lnTo>
                    <a:pt x="807" y="11"/>
                  </a:lnTo>
                  <a:lnTo>
                    <a:pt x="806" y="12"/>
                  </a:lnTo>
                  <a:lnTo>
                    <a:pt x="803" y="12"/>
                  </a:lnTo>
                  <a:lnTo>
                    <a:pt x="803" y="12"/>
                  </a:lnTo>
                  <a:lnTo>
                    <a:pt x="801" y="12"/>
                  </a:lnTo>
                  <a:lnTo>
                    <a:pt x="800" y="11"/>
                  </a:lnTo>
                  <a:lnTo>
                    <a:pt x="798" y="9"/>
                  </a:lnTo>
                  <a:lnTo>
                    <a:pt x="798" y="6"/>
                  </a:lnTo>
                  <a:lnTo>
                    <a:pt x="798" y="3"/>
                  </a:lnTo>
                  <a:lnTo>
                    <a:pt x="800" y="2"/>
                  </a:lnTo>
                  <a:lnTo>
                    <a:pt x="801" y="0"/>
                  </a:lnTo>
                  <a:lnTo>
                    <a:pt x="803" y="0"/>
                  </a:lnTo>
                  <a:lnTo>
                    <a:pt x="803" y="0"/>
                  </a:lnTo>
                  <a:close/>
                  <a:moveTo>
                    <a:pt x="824" y="0"/>
                  </a:moveTo>
                  <a:lnTo>
                    <a:pt x="824" y="0"/>
                  </a:lnTo>
                  <a:lnTo>
                    <a:pt x="825" y="0"/>
                  </a:lnTo>
                  <a:lnTo>
                    <a:pt x="828" y="2"/>
                  </a:lnTo>
                  <a:lnTo>
                    <a:pt x="828" y="3"/>
                  </a:lnTo>
                  <a:lnTo>
                    <a:pt x="829" y="6"/>
                  </a:lnTo>
                  <a:lnTo>
                    <a:pt x="828" y="9"/>
                  </a:lnTo>
                  <a:lnTo>
                    <a:pt x="828" y="11"/>
                  </a:lnTo>
                  <a:lnTo>
                    <a:pt x="825" y="12"/>
                  </a:lnTo>
                  <a:lnTo>
                    <a:pt x="824" y="12"/>
                  </a:lnTo>
                  <a:lnTo>
                    <a:pt x="824" y="12"/>
                  </a:lnTo>
                  <a:lnTo>
                    <a:pt x="822" y="12"/>
                  </a:lnTo>
                  <a:lnTo>
                    <a:pt x="820" y="11"/>
                  </a:lnTo>
                  <a:lnTo>
                    <a:pt x="819" y="9"/>
                  </a:lnTo>
                  <a:lnTo>
                    <a:pt x="818" y="6"/>
                  </a:lnTo>
                  <a:lnTo>
                    <a:pt x="819" y="3"/>
                  </a:lnTo>
                  <a:lnTo>
                    <a:pt x="820" y="2"/>
                  </a:lnTo>
                  <a:lnTo>
                    <a:pt x="822" y="0"/>
                  </a:lnTo>
                  <a:lnTo>
                    <a:pt x="824" y="0"/>
                  </a:lnTo>
                  <a:lnTo>
                    <a:pt x="824" y="0"/>
                  </a:lnTo>
                  <a:close/>
                  <a:moveTo>
                    <a:pt x="844" y="0"/>
                  </a:moveTo>
                  <a:lnTo>
                    <a:pt x="844" y="0"/>
                  </a:lnTo>
                  <a:lnTo>
                    <a:pt x="846" y="0"/>
                  </a:lnTo>
                  <a:lnTo>
                    <a:pt x="847" y="2"/>
                  </a:lnTo>
                  <a:lnTo>
                    <a:pt x="849" y="3"/>
                  </a:lnTo>
                  <a:lnTo>
                    <a:pt x="849" y="6"/>
                  </a:lnTo>
                  <a:lnTo>
                    <a:pt x="849" y="9"/>
                  </a:lnTo>
                  <a:lnTo>
                    <a:pt x="847" y="11"/>
                  </a:lnTo>
                  <a:lnTo>
                    <a:pt x="846" y="12"/>
                  </a:lnTo>
                  <a:lnTo>
                    <a:pt x="844" y="12"/>
                  </a:lnTo>
                  <a:lnTo>
                    <a:pt x="844" y="12"/>
                  </a:lnTo>
                  <a:lnTo>
                    <a:pt x="842" y="12"/>
                  </a:lnTo>
                  <a:lnTo>
                    <a:pt x="840" y="11"/>
                  </a:lnTo>
                  <a:lnTo>
                    <a:pt x="839" y="9"/>
                  </a:lnTo>
                  <a:lnTo>
                    <a:pt x="839" y="6"/>
                  </a:lnTo>
                  <a:lnTo>
                    <a:pt x="839" y="3"/>
                  </a:lnTo>
                  <a:lnTo>
                    <a:pt x="840" y="2"/>
                  </a:lnTo>
                  <a:lnTo>
                    <a:pt x="842" y="0"/>
                  </a:lnTo>
                  <a:lnTo>
                    <a:pt x="844" y="0"/>
                  </a:lnTo>
                  <a:lnTo>
                    <a:pt x="844" y="0"/>
                  </a:lnTo>
                  <a:close/>
                  <a:moveTo>
                    <a:pt x="864" y="0"/>
                  </a:moveTo>
                  <a:lnTo>
                    <a:pt x="864" y="0"/>
                  </a:lnTo>
                  <a:lnTo>
                    <a:pt x="867" y="0"/>
                  </a:lnTo>
                  <a:lnTo>
                    <a:pt x="868" y="2"/>
                  </a:lnTo>
                  <a:lnTo>
                    <a:pt x="869" y="3"/>
                  </a:lnTo>
                  <a:lnTo>
                    <a:pt x="869" y="6"/>
                  </a:lnTo>
                  <a:lnTo>
                    <a:pt x="869" y="9"/>
                  </a:lnTo>
                  <a:lnTo>
                    <a:pt x="868" y="11"/>
                  </a:lnTo>
                  <a:lnTo>
                    <a:pt x="867" y="12"/>
                  </a:lnTo>
                  <a:lnTo>
                    <a:pt x="864" y="12"/>
                  </a:lnTo>
                  <a:lnTo>
                    <a:pt x="864" y="12"/>
                  </a:lnTo>
                  <a:lnTo>
                    <a:pt x="862" y="12"/>
                  </a:lnTo>
                  <a:lnTo>
                    <a:pt x="861" y="11"/>
                  </a:lnTo>
                  <a:lnTo>
                    <a:pt x="860" y="9"/>
                  </a:lnTo>
                  <a:lnTo>
                    <a:pt x="860" y="6"/>
                  </a:lnTo>
                  <a:lnTo>
                    <a:pt x="860" y="3"/>
                  </a:lnTo>
                  <a:lnTo>
                    <a:pt x="861" y="2"/>
                  </a:lnTo>
                  <a:lnTo>
                    <a:pt x="862" y="0"/>
                  </a:lnTo>
                  <a:lnTo>
                    <a:pt x="864" y="0"/>
                  </a:lnTo>
                  <a:lnTo>
                    <a:pt x="864" y="0"/>
                  </a:lnTo>
                  <a:close/>
                  <a:moveTo>
                    <a:pt x="885" y="0"/>
                  </a:moveTo>
                  <a:lnTo>
                    <a:pt x="885" y="0"/>
                  </a:lnTo>
                  <a:lnTo>
                    <a:pt x="887" y="0"/>
                  </a:lnTo>
                  <a:lnTo>
                    <a:pt x="889" y="2"/>
                  </a:lnTo>
                  <a:lnTo>
                    <a:pt x="889" y="3"/>
                  </a:lnTo>
                  <a:lnTo>
                    <a:pt x="890" y="6"/>
                  </a:lnTo>
                  <a:lnTo>
                    <a:pt x="889" y="9"/>
                  </a:lnTo>
                  <a:lnTo>
                    <a:pt x="889" y="11"/>
                  </a:lnTo>
                  <a:lnTo>
                    <a:pt x="887" y="12"/>
                  </a:lnTo>
                  <a:lnTo>
                    <a:pt x="885" y="12"/>
                  </a:lnTo>
                  <a:lnTo>
                    <a:pt x="885" y="12"/>
                  </a:lnTo>
                  <a:lnTo>
                    <a:pt x="883" y="12"/>
                  </a:lnTo>
                  <a:lnTo>
                    <a:pt x="882" y="11"/>
                  </a:lnTo>
                  <a:lnTo>
                    <a:pt x="880" y="9"/>
                  </a:lnTo>
                  <a:lnTo>
                    <a:pt x="879" y="6"/>
                  </a:lnTo>
                  <a:lnTo>
                    <a:pt x="880" y="3"/>
                  </a:lnTo>
                  <a:lnTo>
                    <a:pt x="882" y="2"/>
                  </a:lnTo>
                  <a:lnTo>
                    <a:pt x="883" y="0"/>
                  </a:lnTo>
                  <a:lnTo>
                    <a:pt x="885" y="0"/>
                  </a:lnTo>
                  <a:lnTo>
                    <a:pt x="885" y="0"/>
                  </a:lnTo>
                  <a:close/>
                  <a:moveTo>
                    <a:pt x="905" y="0"/>
                  </a:moveTo>
                  <a:lnTo>
                    <a:pt x="905" y="0"/>
                  </a:lnTo>
                  <a:lnTo>
                    <a:pt x="907" y="0"/>
                  </a:lnTo>
                  <a:lnTo>
                    <a:pt x="909" y="2"/>
                  </a:lnTo>
                  <a:lnTo>
                    <a:pt x="910" y="3"/>
                  </a:lnTo>
                  <a:lnTo>
                    <a:pt x="910" y="6"/>
                  </a:lnTo>
                  <a:lnTo>
                    <a:pt x="910" y="9"/>
                  </a:lnTo>
                  <a:lnTo>
                    <a:pt x="909" y="11"/>
                  </a:lnTo>
                  <a:lnTo>
                    <a:pt x="907" y="12"/>
                  </a:lnTo>
                  <a:lnTo>
                    <a:pt x="905" y="12"/>
                  </a:lnTo>
                  <a:lnTo>
                    <a:pt x="905" y="12"/>
                  </a:lnTo>
                  <a:lnTo>
                    <a:pt x="904" y="12"/>
                  </a:lnTo>
                  <a:lnTo>
                    <a:pt x="901" y="11"/>
                  </a:lnTo>
                  <a:lnTo>
                    <a:pt x="900" y="9"/>
                  </a:lnTo>
                  <a:lnTo>
                    <a:pt x="900" y="6"/>
                  </a:lnTo>
                  <a:lnTo>
                    <a:pt x="900" y="3"/>
                  </a:lnTo>
                  <a:lnTo>
                    <a:pt x="901" y="2"/>
                  </a:lnTo>
                  <a:lnTo>
                    <a:pt x="904" y="0"/>
                  </a:lnTo>
                  <a:lnTo>
                    <a:pt x="905" y="0"/>
                  </a:lnTo>
                  <a:lnTo>
                    <a:pt x="905" y="0"/>
                  </a:lnTo>
                  <a:close/>
                  <a:moveTo>
                    <a:pt x="926" y="0"/>
                  </a:moveTo>
                  <a:lnTo>
                    <a:pt x="926" y="0"/>
                  </a:lnTo>
                  <a:lnTo>
                    <a:pt x="928" y="0"/>
                  </a:lnTo>
                  <a:lnTo>
                    <a:pt x="929" y="2"/>
                  </a:lnTo>
                  <a:lnTo>
                    <a:pt x="931" y="3"/>
                  </a:lnTo>
                  <a:lnTo>
                    <a:pt x="931" y="6"/>
                  </a:lnTo>
                  <a:lnTo>
                    <a:pt x="931" y="9"/>
                  </a:lnTo>
                  <a:lnTo>
                    <a:pt x="929" y="11"/>
                  </a:lnTo>
                  <a:lnTo>
                    <a:pt x="928" y="12"/>
                  </a:lnTo>
                  <a:lnTo>
                    <a:pt x="926" y="12"/>
                  </a:lnTo>
                  <a:lnTo>
                    <a:pt x="926" y="12"/>
                  </a:lnTo>
                  <a:lnTo>
                    <a:pt x="923" y="12"/>
                  </a:lnTo>
                  <a:lnTo>
                    <a:pt x="922" y="11"/>
                  </a:lnTo>
                  <a:lnTo>
                    <a:pt x="921" y="9"/>
                  </a:lnTo>
                  <a:lnTo>
                    <a:pt x="921" y="6"/>
                  </a:lnTo>
                  <a:lnTo>
                    <a:pt x="921" y="3"/>
                  </a:lnTo>
                  <a:lnTo>
                    <a:pt x="922" y="2"/>
                  </a:lnTo>
                  <a:lnTo>
                    <a:pt x="923" y="0"/>
                  </a:lnTo>
                  <a:lnTo>
                    <a:pt x="926" y="0"/>
                  </a:lnTo>
                  <a:lnTo>
                    <a:pt x="926" y="0"/>
                  </a:lnTo>
                  <a:close/>
                  <a:moveTo>
                    <a:pt x="947" y="0"/>
                  </a:moveTo>
                  <a:lnTo>
                    <a:pt x="947" y="0"/>
                  </a:lnTo>
                  <a:lnTo>
                    <a:pt x="948" y="0"/>
                  </a:lnTo>
                  <a:lnTo>
                    <a:pt x="950" y="2"/>
                  </a:lnTo>
                  <a:lnTo>
                    <a:pt x="950" y="3"/>
                  </a:lnTo>
                  <a:lnTo>
                    <a:pt x="952" y="6"/>
                  </a:lnTo>
                  <a:lnTo>
                    <a:pt x="950" y="9"/>
                  </a:lnTo>
                  <a:lnTo>
                    <a:pt x="950" y="11"/>
                  </a:lnTo>
                  <a:lnTo>
                    <a:pt x="948" y="12"/>
                  </a:lnTo>
                  <a:lnTo>
                    <a:pt x="947" y="12"/>
                  </a:lnTo>
                  <a:lnTo>
                    <a:pt x="947" y="12"/>
                  </a:lnTo>
                  <a:lnTo>
                    <a:pt x="944" y="12"/>
                  </a:lnTo>
                  <a:lnTo>
                    <a:pt x="943" y="11"/>
                  </a:lnTo>
                  <a:lnTo>
                    <a:pt x="942" y="9"/>
                  </a:lnTo>
                  <a:lnTo>
                    <a:pt x="942" y="6"/>
                  </a:lnTo>
                  <a:lnTo>
                    <a:pt x="942" y="3"/>
                  </a:lnTo>
                  <a:lnTo>
                    <a:pt x="943" y="2"/>
                  </a:lnTo>
                  <a:lnTo>
                    <a:pt x="944" y="0"/>
                  </a:lnTo>
                  <a:lnTo>
                    <a:pt x="947" y="0"/>
                  </a:lnTo>
                  <a:lnTo>
                    <a:pt x="947" y="0"/>
                  </a:lnTo>
                  <a:close/>
                  <a:moveTo>
                    <a:pt x="966" y="0"/>
                  </a:moveTo>
                  <a:lnTo>
                    <a:pt x="966" y="0"/>
                  </a:lnTo>
                  <a:lnTo>
                    <a:pt x="969" y="0"/>
                  </a:lnTo>
                  <a:lnTo>
                    <a:pt x="970" y="2"/>
                  </a:lnTo>
                  <a:lnTo>
                    <a:pt x="971" y="3"/>
                  </a:lnTo>
                  <a:lnTo>
                    <a:pt x="972" y="6"/>
                  </a:lnTo>
                  <a:lnTo>
                    <a:pt x="971" y="9"/>
                  </a:lnTo>
                  <a:lnTo>
                    <a:pt x="970" y="11"/>
                  </a:lnTo>
                  <a:lnTo>
                    <a:pt x="969" y="12"/>
                  </a:lnTo>
                  <a:lnTo>
                    <a:pt x="966" y="12"/>
                  </a:lnTo>
                  <a:lnTo>
                    <a:pt x="966" y="12"/>
                  </a:lnTo>
                  <a:lnTo>
                    <a:pt x="965" y="12"/>
                  </a:lnTo>
                  <a:lnTo>
                    <a:pt x="963" y="11"/>
                  </a:lnTo>
                  <a:lnTo>
                    <a:pt x="961" y="9"/>
                  </a:lnTo>
                  <a:lnTo>
                    <a:pt x="961" y="6"/>
                  </a:lnTo>
                  <a:lnTo>
                    <a:pt x="961" y="3"/>
                  </a:lnTo>
                  <a:lnTo>
                    <a:pt x="963" y="2"/>
                  </a:lnTo>
                  <a:lnTo>
                    <a:pt x="965" y="0"/>
                  </a:lnTo>
                  <a:lnTo>
                    <a:pt x="966" y="0"/>
                  </a:lnTo>
                  <a:lnTo>
                    <a:pt x="966" y="0"/>
                  </a:lnTo>
                  <a:close/>
                  <a:moveTo>
                    <a:pt x="987" y="0"/>
                  </a:moveTo>
                  <a:lnTo>
                    <a:pt x="987" y="0"/>
                  </a:lnTo>
                  <a:lnTo>
                    <a:pt x="990" y="0"/>
                  </a:lnTo>
                  <a:lnTo>
                    <a:pt x="991" y="2"/>
                  </a:lnTo>
                  <a:lnTo>
                    <a:pt x="992" y="3"/>
                  </a:lnTo>
                  <a:lnTo>
                    <a:pt x="992" y="6"/>
                  </a:lnTo>
                  <a:lnTo>
                    <a:pt x="992" y="9"/>
                  </a:lnTo>
                  <a:lnTo>
                    <a:pt x="991" y="11"/>
                  </a:lnTo>
                  <a:lnTo>
                    <a:pt x="990" y="12"/>
                  </a:lnTo>
                  <a:lnTo>
                    <a:pt x="987" y="12"/>
                  </a:lnTo>
                  <a:lnTo>
                    <a:pt x="987" y="12"/>
                  </a:lnTo>
                  <a:lnTo>
                    <a:pt x="985" y="12"/>
                  </a:lnTo>
                  <a:lnTo>
                    <a:pt x="983" y="11"/>
                  </a:lnTo>
                  <a:lnTo>
                    <a:pt x="982" y="9"/>
                  </a:lnTo>
                  <a:lnTo>
                    <a:pt x="982" y="6"/>
                  </a:lnTo>
                  <a:lnTo>
                    <a:pt x="982" y="3"/>
                  </a:lnTo>
                  <a:lnTo>
                    <a:pt x="983" y="2"/>
                  </a:lnTo>
                  <a:lnTo>
                    <a:pt x="985" y="0"/>
                  </a:lnTo>
                  <a:lnTo>
                    <a:pt x="987" y="0"/>
                  </a:lnTo>
                  <a:lnTo>
                    <a:pt x="987" y="0"/>
                  </a:lnTo>
                  <a:close/>
                  <a:moveTo>
                    <a:pt x="1008" y="0"/>
                  </a:moveTo>
                  <a:lnTo>
                    <a:pt x="1008" y="0"/>
                  </a:lnTo>
                  <a:lnTo>
                    <a:pt x="1009" y="0"/>
                  </a:lnTo>
                  <a:lnTo>
                    <a:pt x="1012" y="2"/>
                  </a:lnTo>
                  <a:lnTo>
                    <a:pt x="1012" y="3"/>
                  </a:lnTo>
                  <a:lnTo>
                    <a:pt x="1013" y="6"/>
                  </a:lnTo>
                  <a:lnTo>
                    <a:pt x="1012" y="9"/>
                  </a:lnTo>
                  <a:lnTo>
                    <a:pt x="1012" y="11"/>
                  </a:lnTo>
                  <a:lnTo>
                    <a:pt x="1009" y="12"/>
                  </a:lnTo>
                  <a:lnTo>
                    <a:pt x="1008" y="12"/>
                  </a:lnTo>
                  <a:lnTo>
                    <a:pt x="1008" y="12"/>
                  </a:lnTo>
                  <a:lnTo>
                    <a:pt x="1005" y="12"/>
                  </a:lnTo>
                  <a:lnTo>
                    <a:pt x="1004" y="11"/>
                  </a:lnTo>
                  <a:lnTo>
                    <a:pt x="1003" y="9"/>
                  </a:lnTo>
                  <a:lnTo>
                    <a:pt x="1003" y="6"/>
                  </a:lnTo>
                  <a:lnTo>
                    <a:pt x="1003" y="3"/>
                  </a:lnTo>
                  <a:lnTo>
                    <a:pt x="1004" y="2"/>
                  </a:lnTo>
                  <a:lnTo>
                    <a:pt x="1005" y="0"/>
                  </a:lnTo>
                  <a:lnTo>
                    <a:pt x="1008" y="0"/>
                  </a:lnTo>
                  <a:lnTo>
                    <a:pt x="1008" y="0"/>
                  </a:lnTo>
                  <a:close/>
                  <a:moveTo>
                    <a:pt x="1028" y="0"/>
                  </a:moveTo>
                  <a:lnTo>
                    <a:pt x="1028" y="0"/>
                  </a:lnTo>
                  <a:lnTo>
                    <a:pt x="1030" y="0"/>
                  </a:lnTo>
                  <a:lnTo>
                    <a:pt x="1031" y="2"/>
                  </a:lnTo>
                  <a:lnTo>
                    <a:pt x="1032" y="3"/>
                  </a:lnTo>
                  <a:lnTo>
                    <a:pt x="1034" y="6"/>
                  </a:lnTo>
                  <a:lnTo>
                    <a:pt x="1032" y="9"/>
                  </a:lnTo>
                  <a:lnTo>
                    <a:pt x="1031" y="11"/>
                  </a:lnTo>
                  <a:lnTo>
                    <a:pt x="1030" y="12"/>
                  </a:lnTo>
                  <a:lnTo>
                    <a:pt x="1028" y="12"/>
                  </a:lnTo>
                  <a:lnTo>
                    <a:pt x="1028" y="12"/>
                  </a:lnTo>
                  <a:lnTo>
                    <a:pt x="1026" y="12"/>
                  </a:lnTo>
                  <a:lnTo>
                    <a:pt x="1024" y="11"/>
                  </a:lnTo>
                  <a:lnTo>
                    <a:pt x="1023" y="9"/>
                  </a:lnTo>
                  <a:lnTo>
                    <a:pt x="1023" y="6"/>
                  </a:lnTo>
                  <a:lnTo>
                    <a:pt x="1023" y="3"/>
                  </a:lnTo>
                  <a:lnTo>
                    <a:pt x="1024" y="2"/>
                  </a:lnTo>
                  <a:lnTo>
                    <a:pt x="1026" y="0"/>
                  </a:lnTo>
                  <a:lnTo>
                    <a:pt x="1028" y="0"/>
                  </a:lnTo>
                  <a:lnTo>
                    <a:pt x="1028" y="0"/>
                  </a:lnTo>
                  <a:close/>
                  <a:moveTo>
                    <a:pt x="1048" y="0"/>
                  </a:moveTo>
                  <a:lnTo>
                    <a:pt x="1048" y="0"/>
                  </a:lnTo>
                  <a:lnTo>
                    <a:pt x="1051" y="0"/>
                  </a:lnTo>
                  <a:lnTo>
                    <a:pt x="1052" y="2"/>
                  </a:lnTo>
                  <a:lnTo>
                    <a:pt x="1053" y="3"/>
                  </a:lnTo>
                  <a:lnTo>
                    <a:pt x="1053" y="6"/>
                  </a:lnTo>
                  <a:lnTo>
                    <a:pt x="1053" y="9"/>
                  </a:lnTo>
                  <a:lnTo>
                    <a:pt x="1052" y="11"/>
                  </a:lnTo>
                  <a:lnTo>
                    <a:pt x="1051" y="12"/>
                  </a:lnTo>
                  <a:lnTo>
                    <a:pt x="1048" y="12"/>
                  </a:lnTo>
                  <a:lnTo>
                    <a:pt x="1048" y="12"/>
                  </a:lnTo>
                  <a:lnTo>
                    <a:pt x="1046" y="12"/>
                  </a:lnTo>
                  <a:lnTo>
                    <a:pt x="1045" y="11"/>
                  </a:lnTo>
                  <a:lnTo>
                    <a:pt x="1043" y="9"/>
                  </a:lnTo>
                  <a:lnTo>
                    <a:pt x="1043" y="6"/>
                  </a:lnTo>
                  <a:lnTo>
                    <a:pt x="1043" y="3"/>
                  </a:lnTo>
                  <a:lnTo>
                    <a:pt x="1045" y="2"/>
                  </a:lnTo>
                  <a:lnTo>
                    <a:pt x="1046" y="0"/>
                  </a:lnTo>
                  <a:lnTo>
                    <a:pt x="1048" y="0"/>
                  </a:lnTo>
                  <a:lnTo>
                    <a:pt x="1048" y="0"/>
                  </a:lnTo>
                  <a:close/>
                  <a:moveTo>
                    <a:pt x="1069" y="0"/>
                  </a:moveTo>
                  <a:lnTo>
                    <a:pt x="1069" y="0"/>
                  </a:lnTo>
                  <a:lnTo>
                    <a:pt x="1070" y="0"/>
                  </a:lnTo>
                  <a:lnTo>
                    <a:pt x="1073" y="2"/>
                  </a:lnTo>
                  <a:lnTo>
                    <a:pt x="1074" y="3"/>
                  </a:lnTo>
                  <a:lnTo>
                    <a:pt x="1074" y="6"/>
                  </a:lnTo>
                  <a:lnTo>
                    <a:pt x="1074" y="9"/>
                  </a:lnTo>
                  <a:lnTo>
                    <a:pt x="1073" y="11"/>
                  </a:lnTo>
                  <a:lnTo>
                    <a:pt x="1070" y="12"/>
                  </a:lnTo>
                  <a:lnTo>
                    <a:pt x="1069" y="12"/>
                  </a:lnTo>
                  <a:lnTo>
                    <a:pt x="1069" y="12"/>
                  </a:lnTo>
                  <a:lnTo>
                    <a:pt x="1067" y="12"/>
                  </a:lnTo>
                  <a:lnTo>
                    <a:pt x="1066" y="11"/>
                  </a:lnTo>
                  <a:lnTo>
                    <a:pt x="1064" y="9"/>
                  </a:lnTo>
                  <a:lnTo>
                    <a:pt x="1064" y="6"/>
                  </a:lnTo>
                  <a:lnTo>
                    <a:pt x="1064" y="3"/>
                  </a:lnTo>
                  <a:lnTo>
                    <a:pt x="1066" y="2"/>
                  </a:lnTo>
                  <a:lnTo>
                    <a:pt x="1067" y="0"/>
                  </a:lnTo>
                  <a:lnTo>
                    <a:pt x="1069" y="0"/>
                  </a:lnTo>
                  <a:lnTo>
                    <a:pt x="1069" y="0"/>
                  </a:lnTo>
                  <a:close/>
                  <a:moveTo>
                    <a:pt x="1089" y="0"/>
                  </a:moveTo>
                  <a:lnTo>
                    <a:pt x="1089" y="0"/>
                  </a:lnTo>
                  <a:lnTo>
                    <a:pt x="1091" y="0"/>
                  </a:lnTo>
                  <a:lnTo>
                    <a:pt x="1093" y="2"/>
                  </a:lnTo>
                  <a:lnTo>
                    <a:pt x="1094" y="3"/>
                  </a:lnTo>
                  <a:lnTo>
                    <a:pt x="1095" y="6"/>
                  </a:lnTo>
                  <a:lnTo>
                    <a:pt x="1094" y="9"/>
                  </a:lnTo>
                  <a:lnTo>
                    <a:pt x="1093" y="11"/>
                  </a:lnTo>
                  <a:lnTo>
                    <a:pt x="1091" y="12"/>
                  </a:lnTo>
                  <a:lnTo>
                    <a:pt x="1089" y="12"/>
                  </a:lnTo>
                  <a:lnTo>
                    <a:pt x="1089" y="12"/>
                  </a:lnTo>
                  <a:lnTo>
                    <a:pt x="1088" y="12"/>
                  </a:lnTo>
                  <a:lnTo>
                    <a:pt x="1085" y="11"/>
                  </a:lnTo>
                  <a:lnTo>
                    <a:pt x="1084" y="9"/>
                  </a:lnTo>
                  <a:lnTo>
                    <a:pt x="1084" y="6"/>
                  </a:lnTo>
                  <a:lnTo>
                    <a:pt x="1084" y="3"/>
                  </a:lnTo>
                  <a:lnTo>
                    <a:pt x="1085" y="2"/>
                  </a:lnTo>
                  <a:lnTo>
                    <a:pt x="1088" y="0"/>
                  </a:lnTo>
                  <a:lnTo>
                    <a:pt x="1089" y="0"/>
                  </a:lnTo>
                  <a:lnTo>
                    <a:pt x="1089" y="0"/>
                  </a:lnTo>
                  <a:close/>
                  <a:moveTo>
                    <a:pt x="1110" y="0"/>
                  </a:moveTo>
                  <a:lnTo>
                    <a:pt x="1110" y="0"/>
                  </a:lnTo>
                  <a:lnTo>
                    <a:pt x="1112" y="0"/>
                  </a:lnTo>
                  <a:lnTo>
                    <a:pt x="1113" y="2"/>
                  </a:lnTo>
                  <a:lnTo>
                    <a:pt x="1115" y="3"/>
                  </a:lnTo>
                  <a:lnTo>
                    <a:pt x="1115" y="6"/>
                  </a:lnTo>
                  <a:lnTo>
                    <a:pt x="1115" y="9"/>
                  </a:lnTo>
                  <a:lnTo>
                    <a:pt x="1113" y="11"/>
                  </a:lnTo>
                  <a:lnTo>
                    <a:pt x="1112" y="12"/>
                  </a:lnTo>
                  <a:lnTo>
                    <a:pt x="1110" y="12"/>
                  </a:lnTo>
                  <a:lnTo>
                    <a:pt x="1110" y="12"/>
                  </a:lnTo>
                  <a:lnTo>
                    <a:pt x="1107" y="12"/>
                  </a:lnTo>
                  <a:lnTo>
                    <a:pt x="1106" y="11"/>
                  </a:lnTo>
                  <a:lnTo>
                    <a:pt x="1105" y="9"/>
                  </a:lnTo>
                  <a:lnTo>
                    <a:pt x="1105" y="6"/>
                  </a:lnTo>
                  <a:lnTo>
                    <a:pt x="1105" y="3"/>
                  </a:lnTo>
                  <a:lnTo>
                    <a:pt x="1106" y="2"/>
                  </a:lnTo>
                  <a:lnTo>
                    <a:pt x="1107" y="0"/>
                  </a:lnTo>
                  <a:lnTo>
                    <a:pt x="1110" y="0"/>
                  </a:lnTo>
                  <a:lnTo>
                    <a:pt x="1110" y="0"/>
                  </a:lnTo>
                  <a:close/>
                  <a:moveTo>
                    <a:pt x="1131" y="0"/>
                  </a:moveTo>
                  <a:lnTo>
                    <a:pt x="1131" y="0"/>
                  </a:lnTo>
                  <a:lnTo>
                    <a:pt x="1132" y="0"/>
                  </a:lnTo>
                  <a:lnTo>
                    <a:pt x="1134" y="2"/>
                  </a:lnTo>
                  <a:lnTo>
                    <a:pt x="1135" y="3"/>
                  </a:lnTo>
                  <a:lnTo>
                    <a:pt x="1135" y="6"/>
                  </a:lnTo>
                  <a:lnTo>
                    <a:pt x="1135" y="9"/>
                  </a:lnTo>
                  <a:lnTo>
                    <a:pt x="1134" y="11"/>
                  </a:lnTo>
                  <a:lnTo>
                    <a:pt x="1132" y="12"/>
                  </a:lnTo>
                  <a:lnTo>
                    <a:pt x="1131" y="12"/>
                  </a:lnTo>
                  <a:lnTo>
                    <a:pt x="1131" y="12"/>
                  </a:lnTo>
                  <a:lnTo>
                    <a:pt x="1128" y="12"/>
                  </a:lnTo>
                  <a:lnTo>
                    <a:pt x="1127" y="11"/>
                  </a:lnTo>
                  <a:lnTo>
                    <a:pt x="1126" y="9"/>
                  </a:lnTo>
                  <a:lnTo>
                    <a:pt x="1126" y="6"/>
                  </a:lnTo>
                  <a:lnTo>
                    <a:pt x="1126" y="3"/>
                  </a:lnTo>
                  <a:lnTo>
                    <a:pt x="1127" y="2"/>
                  </a:lnTo>
                  <a:lnTo>
                    <a:pt x="1128" y="0"/>
                  </a:lnTo>
                  <a:lnTo>
                    <a:pt x="1131" y="0"/>
                  </a:lnTo>
                  <a:lnTo>
                    <a:pt x="1131" y="0"/>
                  </a:lnTo>
                  <a:close/>
                  <a:moveTo>
                    <a:pt x="1150" y="0"/>
                  </a:moveTo>
                  <a:lnTo>
                    <a:pt x="1150" y="0"/>
                  </a:lnTo>
                  <a:lnTo>
                    <a:pt x="1153" y="0"/>
                  </a:lnTo>
                  <a:lnTo>
                    <a:pt x="1154" y="2"/>
                  </a:lnTo>
                  <a:lnTo>
                    <a:pt x="1155" y="3"/>
                  </a:lnTo>
                  <a:lnTo>
                    <a:pt x="1156" y="6"/>
                  </a:lnTo>
                  <a:lnTo>
                    <a:pt x="1155" y="9"/>
                  </a:lnTo>
                  <a:lnTo>
                    <a:pt x="1154" y="11"/>
                  </a:lnTo>
                  <a:lnTo>
                    <a:pt x="1153" y="12"/>
                  </a:lnTo>
                  <a:lnTo>
                    <a:pt x="1150" y="12"/>
                  </a:lnTo>
                  <a:lnTo>
                    <a:pt x="1150" y="12"/>
                  </a:lnTo>
                  <a:lnTo>
                    <a:pt x="1149" y="12"/>
                  </a:lnTo>
                  <a:lnTo>
                    <a:pt x="1146" y="11"/>
                  </a:lnTo>
                  <a:lnTo>
                    <a:pt x="1146" y="9"/>
                  </a:lnTo>
                  <a:lnTo>
                    <a:pt x="1145" y="6"/>
                  </a:lnTo>
                  <a:lnTo>
                    <a:pt x="1146" y="3"/>
                  </a:lnTo>
                  <a:lnTo>
                    <a:pt x="1146" y="2"/>
                  </a:lnTo>
                  <a:lnTo>
                    <a:pt x="1149" y="0"/>
                  </a:lnTo>
                  <a:lnTo>
                    <a:pt x="1150" y="0"/>
                  </a:lnTo>
                  <a:lnTo>
                    <a:pt x="1150" y="0"/>
                  </a:lnTo>
                  <a:close/>
                  <a:moveTo>
                    <a:pt x="1171" y="0"/>
                  </a:moveTo>
                  <a:lnTo>
                    <a:pt x="1171" y="0"/>
                  </a:lnTo>
                  <a:lnTo>
                    <a:pt x="1173" y="0"/>
                  </a:lnTo>
                  <a:lnTo>
                    <a:pt x="1175" y="2"/>
                  </a:lnTo>
                  <a:lnTo>
                    <a:pt x="1176" y="3"/>
                  </a:lnTo>
                  <a:lnTo>
                    <a:pt x="1176" y="6"/>
                  </a:lnTo>
                  <a:lnTo>
                    <a:pt x="1176" y="9"/>
                  </a:lnTo>
                  <a:lnTo>
                    <a:pt x="1175" y="11"/>
                  </a:lnTo>
                  <a:lnTo>
                    <a:pt x="1173" y="12"/>
                  </a:lnTo>
                  <a:lnTo>
                    <a:pt x="1171" y="12"/>
                  </a:lnTo>
                  <a:lnTo>
                    <a:pt x="1171" y="12"/>
                  </a:lnTo>
                  <a:lnTo>
                    <a:pt x="1169" y="12"/>
                  </a:lnTo>
                  <a:lnTo>
                    <a:pt x="1167" y="11"/>
                  </a:lnTo>
                  <a:lnTo>
                    <a:pt x="1166" y="9"/>
                  </a:lnTo>
                  <a:lnTo>
                    <a:pt x="1166" y="6"/>
                  </a:lnTo>
                  <a:lnTo>
                    <a:pt x="1166" y="3"/>
                  </a:lnTo>
                  <a:lnTo>
                    <a:pt x="1167" y="2"/>
                  </a:lnTo>
                  <a:lnTo>
                    <a:pt x="1169" y="0"/>
                  </a:lnTo>
                  <a:lnTo>
                    <a:pt x="1171" y="0"/>
                  </a:lnTo>
                  <a:lnTo>
                    <a:pt x="1171" y="0"/>
                  </a:lnTo>
                  <a:close/>
                  <a:moveTo>
                    <a:pt x="1192" y="0"/>
                  </a:moveTo>
                  <a:lnTo>
                    <a:pt x="1192" y="0"/>
                  </a:lnTo>
                  <a:lnTo>
                    <a:pt x="1193" y="0"/>
                  </a:lnTo>
                  <a:lnTo>
                    <a:pt x="1196" y="2"/>
                  </a:lnTo>
                  <a:lnTo>
                    <a:pt x="1197" y="3"/>
                  </a:lnTo>
                  <a:lnTo>
                    <a:pt x="1197" y="6"/>
                  </a:lnTo>
                  <a:lnTo>
                    <a:pt x="1197" y="9"/>
                  </a:lnTo>
                  <a:lnTo>
                    <a:pt x="1196" y="11"/>
                  </a:lnTo>
                  <a:lnTo>
                    <a:pt x="1193" y="12"/>
                  </a:lnTo>
                  <a:lnTo>
                    <a:pt x="1192" y="12"/>
                  </a:lnTo>
                  <a:lnTo>
                    <a:pt x="1192" y="12"/>
                  </a:lnTo>
                  <a:lnTo>
                    <a:pt x="1189" y="12"/>
                  </a:lnTo>
                  <a:lnTo>
                    <a:pt x="1188" y="11"/>
                  </a:lnTo>
                  <a:lnTo>
                    <a:pt x="1187" y="9"/>
                  </a:lnTo>
                  <a:lnTo>
                    <a:pt x="1187" y="6"/>
                  </a:lnTo>
                  <a:lnTo>
                    <a:pt x="1187" y="3"/>
                  </a:lnTo>
                  <a:lnTo>
                    <a:pt x="1188" y="2"/>
                  </a:lnTo>
                  <a:lnTo>
                    <a:pt x="1189" y="0"/>
                  </a:lnTo>
                  <a:lnTo>
                    <a:pt x="1192" y="0"/>
                  </a:lnTo>
                  <a:lnTo>
                    <a:pt x="1192" y="0"/>
                  </a:lnTo>
                  <a:close/>
                  <a:moveTo>
                    <a:pt x="1211" y="0"/>
                  </a:moveTo>
                  <a:lnTo>
                    <a:pt x="1211" y="0"/>
                  </a:lnTo>
                  <a:lnTo>
                    <a:pt x="1214" y="0"/>
                  </a:lnTo>
                  <a:lnTo>
                    <a:pt x="1215" y="2"/>
                  </a:lnTo>
                  <a:lnTo>
                    <a:pt x="1216" y="3"/>
                  </a:lnTo>
                  <a:lnTo>
                    <a:pt x="1218" y="6"/>
                  </a:lnTo>
                  <a:lnTo>
                    <a:pt x="1216" y="9"/>
                  </a:lnTo>
                  <a:lnTo>
                    <a:pt x="1215" y="11"/>
                  </a:lnTo>
                  <a:lnTo>
                    <a:pt x="1214" y="12"/>
                  </a:lnTo>
                  <a:lnTo>
                    <a:pt x="1211" y="12"/>
                  </a:lnTo>
                  <a:lnTo>
                    <a:pt x="1211" y="12"/>
                  </a:lnTo>
                  <a:lnTo>
                    <a:pt x="1210" y="12"/>
                  </a:lnTo>
                  <a:lnTo>
                    <a:pt x="1208" y="11"/>
                  </a:lnTo>
                  <a:lnTo>
                    <a:pt x="1208" y="9"/>
                  </a:lnTo>
                  <a:lnTo>
                    <a:pt x="1207" y="6"/>
                  </a:lnTo>
                  <a:lnTo>
                    <a:pt x="1208" y="3"/>
                  </a:lnTo>
                  <a:lnTo>
                    <a:pt x="1208" y="2"/>
                  </a:lnTo>
                  <a:lnTo>
                    <a:pt x="1210" y="0"/>
                  </a:lnTo>
                  <a:lnTo>
                    <a:pt x="1211" y="0"/>
                  </a:lnTo>
                  <a:lnTo>
                    <a:pt x="1211" y="0"/>
                  </a:lnTo>
                  <a:close/>
                  <a:moveTo>
                    <a:pt x="1232" y="0"/>
                  </a:moveTo>
                  <a:lnTo>
                    <a:pt x="1232" y="0"/>
                  </a:lnTo>
                  <a:lnTo>
                    <a:pt x="1235" y="0"/>
                  </a:lnTo>
                  <a:lnTo>
                    <a:pt x="1236" y="2"/>
                  </a:lnTo>
                  <a:lnTo>
                    <a:pt x="1237" y="3"/>
                  </a:lnTo>
                  <a:lnTo>
                    <a:pt x="1237" y="6"/>
                  </a:lnTo>
                  <a:lnTo>
                    <a:pt x="1237" y="9"/>
                  </a:lnTo>
                  <a:lnTo>
                    <a:pt x="1236" y="11"/>
                  </a:lnTo>
                  <a:lnTo>
                    <a:pt x="1235" y="12"/>
                  </a:lnTo>
                  <a:lnTo>
                    <a:pt x="1232" y="12"/>
                  </a:lnTo>
                  <a:lnTo>
                    <a:pt x="1232" y="12"/>
                  </a:lnTo>
                  <a:lnTo>
                    <a:pt x="1230" y="12"/>
                  </a:lnTo>
                  <a:lnTo>
                    <a:pt x="1229" y="11"/>
                  </a:lnTo>
                  <a:lnTo>
                    <a:pt x="1227" y="9"/>
                  </a:lnTo>
                  <a:lnTo>
                    <a:pt x="1227" y="6"/>
                  </a:lnTo>
                  <a:lnTo>
                    <a:pt x="1227" y="3"/>
                  </a:lnTo>
                  <a:lnTo>
                    <a:pt x="1229" y="2"/>
                  </a:lnTo>
                  <a:lnTo>
                    <a:pt x="1230" y="0"/>
                  </a:lnTo>
                  <a:lnTo>
                    <a:pt x="1232" y="0"/>
                  </a:lnTo>
                  <a:lnTo>
                    <a:pt x="1232" y="0"/>
                  </a:lnTo>
                  <a:close/>
                  <a:moveTo>
                    <a:pt x="1253" y="0"/>
                  </a:moveTo>
                  <a:lnTo>
                    <a:pt x="1253" y="0"/>
                  </a:lnTo>
                  <a:lnTo>
                    <a:pt x="1254" y="0"/>
                  </a:lnTo>
                  <a:lnTo>
                    <a:pt x="1257" y="2"/>
                  </a:lnTo>
                  <a:lnTo>
                    <a:pt x="1258" y="3"/>
                  </a:lnTo>
                  <a:lnTo>
                    <a:pt x="1258" y="6"/>
                  </a:lnTo>
                  <a:lnTo>
                    <a:pt x="1258" y="9"/>
                  </a:lnTo>
                  <a:lnTo>
                    <a:pt x="1257" y="11"/>
                  </a:lnTo>
                  <a:lnTo>
                    <a:pt x="1254" y="12"/>
                  </a:lnTo>
                  <a:lnTo>
                    <a:pt x="1253" y="12"/>
                  </a:lnTo>
                  <a:lnTo>
                    <a:pt x="1253" y="12"/>
                  </a:lnTo>
                  <a:lnTo>
                    <a:pt x="1251" y="12"/>
                  </a:lnTo>
                  <a:lnTo>
                    <a:pt x="1249" y="11"/>
                  </a:lnTo>
                  <a:lnTo>
                    <a:pt x="1248" y="9"/>
                  </a:lnTo>
                  <a:lnTo>
                    <a:pt x="1248" y="6"/>
                  </a:lnTo>
                  <a:lnTo>
                    <a:pt x="1248" y="3"/>
                  </a:lnTo>
                  <a:lnTo>
                    <a:pt x="1249" y="2"/>
                  </a:lnTo>
                  <a:lnTo>
                    <a:pt x="1251" y="0"/>
                  </a:lnTo>
                  <a:lnTo>
                    <a:pt x="1253" y="0"/>
                  </a:lnTo>
                  <a:lnTo>
                    <a:pt x="1253" y="0"/>
                  </a:lnTo>
                  <a:close/>
                  <a:moveTo>
                    <a:pt x="1273" y="0"/>
                  </a:moveTo>
                  <a:lnTo>
                    <a:pt x="1273" y="0"/>
                  </a:lnTo>
                  <a:lnTo>
                    <a:pt x="1275" y="0"/>
                  </a:lnTo>
                  <a:lnTo>
                    <a:pt x="1276" y="2"/>
                  </a:lnTo>
                  <a:lnTo>
                    <a:pt x="1278" y="3"/>
                  </a:lnTo>
                  <a:lnTo>
                    <a:pt x="1279" y="6"/>
                  </a:lnTo>
                  <a:lnTo>
                    <a:pt x="1278" y="9"/>
                  </a:lnTo>
                  <a:lnTo>
                    <a:pt x="1276" y="11"/>
                  </a:lnTo>
                  <a:lnTo>
                    <a:pt x="1275" y="12"/>
                  </a:lnTo>
                  <a:lnTo>
                    <a:pt x="1273" y="12"/>
                  </a:lnTo>
                  <a:lnTo>
                    <a:pt x="1273" y="12"/>
                  </a:lnTo>
                  <a:lnTo>
                    <a:pt x="1272" y="12"/>
                  </a:lnTo>
                  <a:lnTo>
                    <a:pt x="1269" y="11"/>
                  </a:lnTo>
                  <a:lnTo>
                    <a:pt x="1269" y="9"/>
                  </a:lnTo>
                  <a:lnTo>
                    <a:pt x="1268" y="6"/>
                  </a:lnTo>
                  <a:lnTo>
                    <a:pt x="1269" y="3"/>
                  </a:lnTo>
                  <a:lnTo>
                    <a:pt x="1269" y="2"/>
                  </a:lnTo>
                  <a:lnTo>
                    <a:pt x="1272" y="0"/>
                  </a:lnTo>
                  <a:lnTo>
                    <a:pt x="1273" y="0"/>
                  </a:lnTo>
                  <a:lnTo>
                    <a:pt x="1273" y="0"/>
                  </a:lnTo>
                  <a:close/>
                  <a:moveTo>
                    <a:pt x="1294" y="0"/>
                  </a:moveTo>
                  <a:lnTo>
                    <a:pt x="1294" y="0"/>
                  </a:lnTo>
                  <a:lnTo>
                    <a:pt x="1296" y="0"/>
                  </a:lnTo>
                  <a:lnTo>
                    <a:pt x="1297" y="2"/>
                  </a:lnTo>
                  <a:lnTo>
                    <a:pt x="1298" y="3"/>
                  </a:lnTo>
                  <a:lnTo>
                    <a:pt x="1298" y="6"/>
                  </a:lnTo>
                  <a:lnTo>
                    <a:pt x="1298" y="9"/>
                  </a:lnTo>
                  <a:lnTo>
                    <a:pt x="1297" y="11"/>
                  </a:lnTo>
                  <a:lnTo>
                    <a:pt x="1296" y="12"/>
                  </a:lnTo>
                  <a:lnTo>
                    <a:pt x="1294" y="12"/>
                  </a:lnTo>
                  <a:lnTo>
                    <a:pt x="1294" y="12"/>
                  </a:lnTo>
                  <a:lnTo>
                    <a:pt x="1291" y="12"/>
                  </a:lnTo>
                  <a:lnTo>
                    <a:pt x="1290" y="11"/>
                  </a:lnTo>
                  <a:lnTo>
                    <a:pt x="1289" y="9"/>
                  </a:lnTo>
                  <a:lnTo>
                    <a:pt x="1289" y="6"/>
                  </a:lnTo>
                  <a:lnTo>
                    <a:pt x="1289" y="3"/>
                  </a:lnTo>
                  <a:lnTo>
                    <a:pt x="1290" y="2"/>
                  </a:lnTo>
                  <a:lnTo>
                    <a:pt x="1291" y="0"/>
                  </a:lnTo>
                  <a:lnTo>
                    <a:pt x="1294" y="0"/>
                  </a:lnTo>
                  <a:lnTo>
                    <a:pt x="1294" y="0"/>
                  </a:lnTo>
                  <a:close/>
                  <a:moveTo>
                    <a:pt x="1314" y="0"/>
                  </a:moveTo>
                  <a:lnTo>
                    <a:pt x="1314" y="0"/>
                  </a:lnTo>
                  <a:lnTo>
                    <a:pt x="1316" y="0"/>
                  </a:lnTo>
                  <a:lnTo>
                    <a:pt x="1318" y="2"/>
                  </a:lnTo>
                  <a:lnTo>
                    <a:pt x="1319" y="3"/>
                  </a:lnTo>
                  <a:lnTo>
                    <a:pt x="1319" y="6"/>
                  </a:lnTo>
                  <a:lnTo>
                    <a:pt x="1319" y="9"/>
                  </a:lnTo>
                  <a:lnTo>
                    <a:pt x="1318" y="11"/>
                  </a:lnTo>
                  <a:lnTo>
                    <a:pt x="1316" y="12"/>
                  </a:lnTo>
                  <a:lnTo>
                    <a:pt x="1314" y="12"/>
                  </a:lnTo>
                  <a:lnTo>
                    <a:pt x="1314" y="12"/>
                  </a:lnTo>
                  <a:lnTo>
                    <a:pt x="1312" y="12"/>
                  </a:lnTo>
                  <a:lnTo>
                    <a:pt x="1311" y="11"/>
                  </a:lnTo>
                  <a:lnTo>
                    <a:pt x="1310" y="9"/>
                  </a:lnTo>
                  <a:lnTo>
                    <a:pt x="1310" y="6"/>
                  </a:lnTo>
                  <a:lnTo>
                    <a:pt x="1310" y="3"/>
                  </a:lnTo>
                  <a:lnTo>
                    <a:pt x="1311" y="2"/>
                  </a:lnTo>
                  <a:lnTo>
                    <a:pt x="1312" y="0"/>
                  </a:lnTo>
                  <a:lnTo>
                    <a:pt x="1314" y="0"/>
                  </a:lnTo>
                  <a:lnTo>
                    <a:pt x="1314" y="0"/>
                  </a:lnTo>
                  <a:close/>
                  <a:moveTo>
                    <a:pt x="1334" y="0"/>
                  </a:moveTo>
                  <a:lnTo>
                    <a:pt x="1335" y="0"/>
                  </a:lnTo>
                  <a:lnTo>
                    <a:pt x="1336" y="0"/>
                  </a:lnTo>
                  <a:lnTo>
                    <a:pt x="1338" y="2"/>
                  </a:lnTo>
                  <a:lnTo>
                    <a:pt x="1339" y="3"/>
                  </a:lnTo>
                  <a:lnTo>
                    <a:pt x="1340" y="6"/>
                  </a:lnTo>
                  <a:lnTo>
                    <a:pt x="1339" y="9"/>
                  </a:lnTo>
                  <a:lnTo>
                    <a:pt x="1338" y="11"/>
                  </a:lnTo>
                  <a:lnTo>
                    <a:pt x="1336" y="12"/>
                  </a:lnTo>
                  <a:lnTo>
                    <a:pt x="1335" y="12"/>
                  </a:lnTo>
                  <a:lnTo>
                    <a:pt x="1334" y="12"/>
                  </a:lnTo>
                  <a:lnTo>
                    <a:pt x="1333" y="12"/>
                  </a:lnTo>
                  <a:lnTo>
                    <a:pt x="1330" y="11"/>
                  </a:lnTo>
                  <a:lnTo>
                    <a:pt x="1330" y="9"/>
                  </a:lnTo>
                  <a:lnTo>
                    <a:pt x="1329" y="6"/>
                  </a:lnTo>
                  <a:lnTo>
                    <a:pt x="1330" y="3"/>
                  </a:lnTo>
                  <a:lnTo>
                    <a:pt x="1330" y="2"/>
                  </a:lnTo>
                  <a:lnTo>
                    <a:pt x="1333" y="0"/>
                  </a:lnTo>
                  <a:lnTo>
                    <a:pt x="1334" y="0"/>
                  </a:lnTo>
                  <a:lnTo>
                    <a:pt x="1334" y="0"/>
                  </a:lnTo>
                  <a:close/>
                  <a:moveTo>
                    <a:pt x="1355" y="0"/>
                  </a:moveTo>
                  <a:lnTo>
                    <a:pt x="1355" y="0"/>
                  </a:lnTo>
                  <a:lnTo>
                    <a:pt x="1357" y="0"/>
                  </a:lnTo>
                  <a:lnTo>
                    <a:pt x="1359" y="2"/>
                  </a:lnTo>
                  <a:lnTo>
                    <a:pt x="1360" y="3"/>
                  </a:lnTo>
                  <a:lnTo>
                    <a:pt x="1360" y="6"/>
                  </a:lnTo>
                  <a:lnTo>
                    <a:pt x="1360" y="9"/>
                  </a:lnTo>
                  <a:lnTo>
                    <a:pt x="1359" y="11"/>
                  </a:lnTo>
                  <a:lnTo>
                    <a:pt x="1357" y="12"/>
                  </a:lnTo>
                  <a:lnTo>
                    <a:pt x="1355" y="12"/>
                  </a:lnTo>
                  <a:lnTo>
                    <a:pt x="1355" y="12"/>
                  </a:lnTo>
                  <a:lnTo>
                    <a:pt x="1352" y="12"/>
                  </a:lnTo>
                  <a:lnTo>
                    <a:pt x="1351" y="11"/>
                  </a:lnTo>
                  <a:lnTo>
                    <a:pt x="1350" y="9"/>
                  </a:lnTo>
                  <a:lnTo>
                    <a:pt x="1350" y="6"/>
                  </a:lnTo>
                  <a:lnTo>
                    <a:pt x="1350" y="3"/>
                  </a:lnTo>
                  <a:lnTo>
                    <a:pt x="1351" y="2"/>
                  </a:lnTo>
                  <a:lnTo>
                    <a:pt x="1352" y="0"/>
                  </a:lnTo>
                  <a:lnTo>
                    <a:pt x="1355" y="0"/>
                  </a:lnTo>
                  <a:lnTo>
                    <a:pt x="1355" y="0"/>
                  </a:lnTo>
                  <a:close/>
                  <a:moveTo>
                    <a:pt x="1376" y="0"/>
                  </a:moveTo>
                  <a:lnTo>
                    <a:pt x="1376" y="0"/>
                  </a:lnTo>
                  <a:lnTo>
                    <a:pt x="1377" y="0"/>
                  </a:lnTo>
                  <a:lnTo>
                    <a:pt x="1379" y="2"/>
                  </a:lnTo>
                  <a:lnTo>
                    <a:pt x="1381" y="3"/>
                  </a:lnTo>
                  <a:lnTo>
                    <a:pt x="1381" y="6"/>
                  </a:lnTo>
                  <a:lnTo>
                    <a:pt x="1381" y="9"/>
                  </a:lnTo>
                  <a:lnTo>
                    <a:pt x="1379" y="11"/>
                  </a:lnTo>
                  <a:lnTo>
                    <a:pt x="1377" y="12"/>
                  </a:lnTo>
                  <a:lnTo>
                    <a:pt x="1376" y="12"/>
                  </a:lnTo>
                  <a:lnTo>
                    <a:pt x="1376" y="12"/>
                  </a:lnTo>
                  <a:lnTo>
                    <a:pt x="1373" y="12"/>
                  </a:lnTo>
                  <a:lnTo>
                    <a:pt x="1372" y="11"/>
                  </a:lnTo>
                  <a:lnTo>
                    <a:pt x="1371" y="9"/>
                  </a:lnTo>
                  <a:lnTo>
                    <a:pt x="1371" y="6"/>
                  </a:lnTo>
                  <a:lnTo>
                    <a:pt x="1371" y="3"/>
                  </a:lnTo>
                  <a:lnTo>
                    <a:pt x="1372" y="2"/>
                  </a:lnTo>
                  <a:lnTo>
                    <a:pt x="1373" y="0"/>
                  </a:lnTo>
                  <a:lnTo>
                    <a:pt x="1376" y="0"/>
                  </a:lnTo>
                  <a:lnTo>
                    <a:pt x="1376" y="0"/>
                  </a:lnTo>
                  <a:close/>
                  <a:moveTo>
                    <a:pt x="1397" y="0"/>
                  </a:moveTo>
                  <a:lnTo>
                    <a:pt x="1397" y="0"/>
                  </a:lnTo>
                  <a:lnTo>
                    <a:pt x="1398" y="0"/>
                  </a:lnTo>
                  <a:lnTo>
                    <a:pt x="1399" y="2"/>
                  </a:lnTo>
                  <a:lnTo>
                    <a:pt x="1400" y="3"/>
                  </a:lnTo>
                  <a:lnTo>
                    <a:pt x="1401" y="6"/>
                  </a:lnTo>
                  <a:lnTo>
                    <a:pt x="1400" y="9"/>
                  </a:lnTo>
                  <a:lnTo>
                    <a:pt x="1399" y="11"/>
                  </a:lnTo>
                  <a:lnTo>
                    <a:pt x="1398" y="12"/>
                  </a:lnTo>
                  <a:lnTo>
                    <a:pt x="1397" y="12"/>
                  </a:lnTo>
                  <a:lnTo>
                    <a:pt x="1397" y="12"/>
                  </a:lnTo>
                  <a:lnTo>
                    <a:pt x="1394" y="12"/>
                  </a:lnTo>
                  <a:lnTo>
                    <a:pt x="1393" y="11"/>
                  </a:lnTo>
                  <a:lnTo>
                    <a:pt x="1392" y="9"/>
                  </a:lnTo>
                  <a:lnTo>
                    <a:pt x="1390" y="6"/>
                  </a:lnTo>
                  <a:lnTo>
                    <a:pt x="1392" y="3"/>
                  </a:lnTo>
                  <a:lnTo>
                    <a:pt x="1393" y="2"/>
                  </a:lnTo>
                  <a:lnTo>
                    <a:pt x="1394" y="0"/>
                  </a:lnTo>
                  <a:lnTo>
                    <a:pt x="1397" y="0"/>
                  </a:lnTo>
                  <a:lnTo>
                    <a:pt x="1397" y="0"/>
                  </a:lnTo>
                  <a:close/>
                  <a:moveTo>
                    <a:pt x="1416" y="0"/>
                  </a:moveTo>
                  <a:lnTo>
                    <a:pt x="1416" y="0"/>
                  </a:lnTo>
                  <a:lnTo>
                    <a:pt x="1419" y="0"/>
                  </a:lnTo>
                  <a:lnTo>
                    <a:pt x="1420" y="2"/>
                  </a:lnTo>
                  <a:lnTo>
                    <a:pt x="1421" y="3"/>
                  </a:lnTo>
                  <a:lnTo>
                    <a:pt x="1421" y="6"/>
                  </a:lnTo>
                  <a:lnTo>
                    <a:pt x="1421" y="9"/>
                  </a:lnTo>
                  <a:lnTo>
                    <a:pt x="1420" y="11"/>
                  </a:lnTo>
                  <a:lnTo>
                    <a:pt x="1419" y="12"/>
                  </a:lnTo>
                  <a:lnTo>
                    <a:pt x="1416" y="12"/>
                  </a:lnTo>
                  <a:lnTo>
                    <a:pt x="1416" y="12"/>
                  </a:lnTo>
                  <a:lnTo>
                    <a:pt x="1415" y="12"/>
                  </a:lnTo>
                  <a:lnTo>
                    <a:pt x="1413" y="11"/>
                  </a:lnTo>
                  <a:lnTo>
                    <a:pt x="1411" y="9"/>
                  </a:lnTo>
                  <a:lnTo>
                    <a:pt x="1411" y="6"/>
                  </a:lnTo>
                  <a:lnTo>
                    <a:pt x="1411" y="3"/>
                  </a:lnTo>
                  <a:lnTo>
                    <a:pt x="1413" y="2"/>
                  </a:lnTo>
                  <a:lnTo>
                    <a:pt x="1415" y="0"/>
                  </a:lnTo>
                  <a:lnTo>
                    <a:pt x="1416" y="0"/>
                  </a:lnTo>
                  <a:lnTo>
                    <a:pt x="1416" y="0"/>
                  </a:lnTo>
                  <a:close/>
                  <a:moveTo>
                    <a:pt x="1437" y="0"/>
                  </a:moveTo>
                  <a:lnTo>
                    <a:pt x="1437" y="0"/>
                  </a:lnTo>
                  <a:lnTo>
                    <a:pt x="1438" y="0"/>
                  </a:lnTo>
                  <a:lnTo>
                    <a:pt x="1441" y="2"/>
                  </a:lnTo>
                  <a:lnTo>
                    <a:pt x="1442" y="3"/>
                  </a:lnTo>
                  <a:lnTo>
                    <a:pt x="1442" y="6"/>
                  </a:lnTo>
                  <a:lnTo>
                    <a:pt x="1442" y="9"/>
                  </a:lnTo>
                  <a:lnTo>
                    <a:pt x="1441" y="11"/>
                  </a:lnTo>
                  <a:lnTo>
                    <a:pt x="1438" y="12"/>
                  </a:lnTo>
                  <a:lnTo>
                    <a:pt x="1437" y="12"/>
                  </a:lnTo>
                  <a:lnTo>
                    <a:pt x="1437" y="12"/>
                  </a:lnTo>
                  <a:lnTo>
                    <a:pt x="1435" y="12"/>
                  </a:lnTo>
                  <a:lnTo>
                    <a:pt x="1433" y="11"/>
                  </a:lnTo>
                  <a:lnTo>
                    <a:pt x="1432" y="9"/>
                  </a:lnTo>
                  <a:lnTo>
                    <a:pt x="1432" y="6"/>
                  </a:lnTo>
                  <a:lnTo>
                    <a:pt x="1432" y="3"/>
                  </a:lnTo>
                  <a:lnTo>
                    <a:pt x="1433" y="2"/>
                  </a:lnTo>
                  <a:lnTo>
                    <a:pt x="1435" y="0"/>
                  </a:lnTo>
                  <a:lnTo>
                    <a:pt x="1437" y="0"/>
                  </a:lnTo>
                  <a:lnTo>
                    <a:pt x="1437" y="0"/>
                  </a:lnTo>
                  <a:close/>
                  <a:moveTo>
                    <a:pt x="1458" y="0"/>
                  </a:moveTo>
                  <a:lnTo>
                    <a:pt x="1458" y="0"/>
                  </a:lnTo>
                  <a:lnTo>
                    <a:pt x="1459" y="0"/>
                  </a:lnTo>
                  <a:lnTo>
                    <a:pt x="1460" y="2"/>
                  </a:lnTo>
                  <a:lnTo>
                    <a:pt x="1462" y="3"/>
                  </a:lnTo>
                  <a:lnTo>
                    <a:pt x="1463" y="6"/>
                  </a:lnTo>
                  <a:lnTo>
                    <a:pt x="1462" y="9"/>
                  </a:lnTo>
                  <a:lnTo>
                    <a:pt x="1460" y="11"/>
                  </a:lnTo>
                  <a:lnTo>
                    <a:pt x="1459" y="12"/>
                  </a:lnTo>
                  <a:lnTo>
                    <a:pt x="1458" y="12"/>
                  </a:lnTo>
                  <a:lnTo>
                    <a:pt x="1458" y="12"/>
                  </a:lnTo>
                  <a:lnTo>
                    <a:pt x="1455" y="12"/>
                  </a:lnTo>
                  <a:lnTo>
                    <a:pt x="1454" y="11"/>
                  </a:lnTo>
                  <a:lnTo>
                    <a:pt x="1453" y="9"/>
                  </a:lnTo>
                  <a:lnTo>
                    <a:pt x="1452" y="6"/>
                  </a:lnTo>
                  <a:lnTo>
                    <a:pt x="1453" y="3"/>
                  </a:lnTo>
                  <a:lnTo>
                    <a:pt x="1454" y="2"/>
                  </a:lnTo>
                  <a:lnTo>
                    <a:pt x="1455" y="0"/>
                  </a:lnTo>
                  <a:lnTo>
                    <a:pt x="1458" y="0"/>
                  </a:lnTo>
                  <a:lnTo>
                    <a:pt x="1458" y="0"/>
                  </a:lnTo>
                  <a:close/>
                  <a:moveTo>
                    <a:pt x="1477" y="0"/>
                  </a:moveTo>
                  <a:lnTo>
                    <a:pt x="1477" y="0"/>
                  </a:lnTo>
                  <a:lnTo>
                    <a:pt x="1480" y="0"/>
                  </a:lnTo>
                  <a:lnTo>
                    <a:pt x="1481" y="2"/>
                  </a:lnTo>
                  <a:lnTo>
                    <a:pt x="1482" y="3"/>
                  </a:lnTo>
                  <a:lnTo>
                    <a:pt x="1482" y="6"/>
                  </a:lnTo>
                  <a:lnTo>
                    <a:pt x="1482" y="9"/>
                  </a:lnTo>
                  <a:lnTo>
                    <a:pt x="1481" y="11"/>
                  </a:lnTo>
                  <a:lnTo>
                    <a:pt x="1480" y="12"/>
                  </a:lnTo>
                  <a:lnTo>
                    <a:pt x="1477" y="12"/>
                  </a:lnTo>
                  <a:lnTo>
                    <a:pt x="1477" y="12"/>
                  </a:lnTo>
                  <a:lnTo>
                    <a:pt x="1476" y="12"/>
                  </a:lnTo>
                  <a:lnTo>
                    <a:pt x="1474" y="11"/>
                  </a:lnTo>
                  <a:lnTo>
                    <a:pt x="1473" y="9"/>
                  </a:lnTo>
                  <a:lnTo>
                    <a:pt x="1473" y="6"/>
                  </a:lnTo>
                  <a:lnTo>
                    <a:pt x="1473" y="3"/>
                  </a:lnTo>
                  <a:lnTo>
                    <a:pt x="1474" y="2"/>
                  </a:lnTo>
                  <a:lnTo>
                    <a:pt x="1476" y="0"/>
                  </a:lnTo>
                  <a:lnTo>
                    <a:pt x="1477" y="0"/>
                  </a:lnTo>
                  <a:lnTo>
                    <a:pt x="1477" y="0"/>
                  </a:lnTo>
                  <a:close/>
                  <a:moveTo>
                    <a:pt x="1498" y="0"/>
                  </a:moveTo>
                  <a:lnTo>
                    <a:pt x="1498" y="0"/>
                  </a:lnTo>
                  <a:lnTo>
                    <a:pt x="1500" y="0"/>
                  </a:lnTo>
                  <a:lnTo>
                    <a:pt x="1502" y="2"/>
                  </a:lnTo>
                  <a:lnTo>
                    <a:pt x="1503" y="3"/>
                  </a:lnTo>
                  <a:lnTo>
                    <a:pt x="1503" y="6"/>
                  </a:lnTo>
                  <a:lnTo>
                    <a:pt x="1503" y="9"/>
                  </a:lnTo>
                  <a:lnTo>
                    <a:pt x="1502" y="11"/>
                  </a:lnTo>
                  <a:lnTo>
                    <a:pt x="1500" y="12"/>
                  </a:lnTo>
                  <a:lnTo>
                    <a:pt x="1498" y="12"/>
                  </a:lnTo>
                  <a:lnTo>
                    <a:pt x="1498" y="12"/>
                  </a:lnTo>
                  <a:lnTo>
                    <a:pt x="1496" y="12"/>
                  </a:lnTo>
                  <a:lnTo>
                    <a:pt x="1495" y="11"/>
                  </a:lnTo>
                  <a:lnTo>
                    <a:pt x="1493" y="9"/>
                  </a:lnTo>
                  <a:lnTo>
                    <a:pt x="1493" y="6"/>
                  </a:lnTo>
                  <a:lnTo>
                    <a:pt x="1493" y="3"/>
                  </a:lnTo>
                  <a:lnTo>
                    <a:pt x="1495" y="2"/>
                  </a:lnTo>
                  <a:lnTo>
                    <a:pt x="1496" y="0"/>
                  </a:lnTo>
                  <a:lnTo>
                    <a:pt x="1498" y="0"/>
                  </a:lnTo>
                  <a:lnTo>
                    <a:pt x="1498" y="0"/>
                  </a:lnTo>
                  <a:close/>
                  <a:moveTo>
                    <a:pt x="1519" y="0"/>
                  </a:moveTo>
                  <a:lnTo>
                    <a:pt x="1519" y="0"/>
                  </a:lnTo>
                  <a:lnTo>
                    <a:pt x="1520" y="0"/>
                  </a:lnTo>
                  <a:lnTo>
                    <a:pt x="1522" y="2"/>
                  </a:lnTo>
                  <a:lnTo>
                    <a:pt x="1523" y="3"/>
                  </a:lnTo>
                  <a:lnTo>
                    <a:pt x="1524" y="6"/>
                  </a:lnTo>
                  <a:lnTo>
                    <a:pt x="1523" y="9"/>
                  </a:lnTo>
                  <a:lnTo>
                    <a:pt x="1522" y="11"/>
                  </a:lnTo>
                  <a:lnTo>
                    <a:pt x="1520" y="12"/>
                  </a:lnTo>
                  <a:lnTo>
                    <a:pt x="1519" y="12"/>
                  </a:lnTo>
                  <a:lnTo>
                    <a:pt x="1519" y="12"/>
                  </a:lnTo>
                  <a:lnTo>
                    <a:pt x="1517" y="12"/>
                  </a:lnTo>
                  <a:lnTo>
                    <a:pt x="1515" y="11"/>
                  </a:lnTo>
                  <a:lnTo>
                    <a:pt x="1514" y="9"/>
                  </a:lnTo>
                  <a:lnTo>
                    <a:pt x="1513" y="6"/>
                  </a:lnTo>
                  <a:lnTo>
                    <a:pt x="1514" y="3"/>
                  </a:lnTo>
                  <a:lnTo>
                    <a:pt x="1515" y="2"/>
                  </a:lnTo>
                  <a:lnTo>
                    <a:pt x="1517" y="0"/>
                  </a:lnTo>
                  <a:lnTo>
                    <a:pt x="1519" y="0"/>
                  </a:lnTo>
                  <a:lnTo>
                    <a:pt x="1519" y="0"/>
                  </a:lnTo>
                  <a:close/>
                  <a:moveTo>
                    <a:pt x="1539" y="0"/>
                  </a:moveTo>
                  <a:lnTo>
                    <a:pt x="1539" y="0"/>
                  </a:lnTo>
                  <a:lnTo>
                    <a:pt x="1541" y="0"/>
                  </a:lnTo>
                  <a:lnTo>
                    <a:pt x="1542" y="2"/>
                  </a:lnTo>
                  <a:lnTo>
                    <a:pt x="1544" y="3"/>
                  </a:lnTo>
                  <a:lnTo>
                    <a:pt x="1544" y="6"/>
                  </a:lnTo>
                  <a:lnTo>
                    <a:pt x="1544" y="9"/>
                  </a:lnTo>
                  <a:lnTo>
                    <a:pt x="1542" y="11"/>
                  </a:lnTo>
                  <a:lnTo>
                    <a:pt x="1541" y="12"/>
                  </a:lnTo>
                  <a:lnTo>
                    <a:pt x="1539" y="12"/>
                  </a:lnTo>
                  <a:lnTo>
                    <a:pt x="1539" y="12"/>
                  </a:lnTo>
                  <a:lnTo>
                    <a:pt x="1538" y="12"/>
                  </a:lnTo>
                  <a:lnTo>
                    <a:pt x="1535" y="11"/>
                  </a:lnTo>
                  <a:lnTo>
                    <a:pt x="1534" y="9"/>
                  </a:lnTo>
                  <a:lnTo>
                    <a:pt x="1534" y="6"/>
                  </a:lnTo>
                  <a:lnTo>
                    <a:pt x="1534" y="3"/>
                  </a:lnTo>
                  <a:lnTo>
                    <a:pt x="1535" y="2"/>
                  </a:lnTo>
                  <a:lnTo>
                    <a:pt x="1538" y="0"/>
                  </a:lnTo>
                  <a:lnTo>
                    <a:pt x="1539" y="0"/>
                  </a:lnTo>
                  <a:lnTo>
                    <a:pt x="1539" y="0"/>
                  </a:lnTo>
                  <a:close/>
                  <a:moveTo>
                    <a:pt x="1560" y="0"/>
                  </a:moveTo>
                  <a:lnTo>
                    <a:pt x="1560" y="0"/>
                  </a:lnTo>
                  <a:lnTo>
                    <a:pt x="1561" y="0"/>
                  </a:lnTo>
                  <a:lnTo>
                    <a:pt x="1563" y="2"/>
                  </a:lnTo>
                  <a:lnTo>
                    <a:pt x="1565" y="3"/>
                  </a:lnTo>
                  <a:lnTo>
                    <a:pt x="1565" y="6"/>
                  </a:lnTo>
                  <a:lnTo>
                    <a:pt x="1565" y="9"/>
                  </a:lnTo>
                  <a:lnTo>
                    <a:pt x="1563" y="11"/>
                  </a:lnTo>
                  <a:lnTo>
                    <a:pt x="1561" y="12"/>
                  </a:lnTo>
                  <a:lnTo>
                    <a:pt x="1560" y="12"/>
                  </a:lnTo>
                  <a:lnTo>
                    <a:pt x="1560" y="12"/>
                  </a:lnTo>
                  <a:lnTo>
                    <a:pt x="1557" y="12"/>
                  </a:lnTo>
                  <a:lnTo>
                    <a:pt x="1556" y="11"/>
                  </a:lnTo>
                  <a:lnTo>
                    <a:pt x="1555" y="9"/>
                  </a:lnTo>
                  <a:lnTo>
                    <a:pt x="1555" y="6"/>
                  </a:lnTo>
                  <a:lnTo>
                    <a:pt x="1555" y="3"/>
                  </a:lnTo>
                  <a:lnTo>
                    <a:pt x="1556" y="2"/>
                  </a:lnTo>
                  <a:lnTo>
                    <a:pt x="1557" y="0"/>
                  </a:lnTo>
                  <a:lnTo>
                    <a:pt x="1560" y="0"/>
                  </a:lnTo>
                  <a:lnTo>
                    <a:pt x="1560" y="0"/>
                  </a:lnTo>
                  <a:close/>
                  <a:moveTo>
                    <a:pt x="1580" y="0"/>
                  </a:moveTo>
                  <a:lnTo>
                    <a:pt x="1580" y="0"/>
                  </a:lnTo>
                  <a:lnTo>
                    <a:pt x="1582" y="0"/>
                  </a:lnTo>
                  <a:lnTo>
                    <a:pt x="1584" y="2"/>
                  </a:lnTo>
                  <a:lnTo>
                    <a:pt x="1584" y="3"/>
                  </a:lnTo>
                  <a:lnTo>
                    <a:pt x="1585" y="6"/>
                  </a:lnTo>
                  <a:lnTo>
                    <a:pt x="1584" y="9"/>
                  </a:lnTo>
                  <a:lnTo>
                    <a:pt x="1584" y="11"/>
                  </a:lnTo>
                  <a:lnTo>
                    <a:pt x="1582" y="12"/>
                  </a:lnTo>
                  <a:lnTo>
                    <a:pt x="1580" y="12"/>
                  </a:lnTo>
                  <a:lnTo>
                    <a:pt x="1580" y="12"/>
                  </a:lnTo>
                  <a:lnTo>
                    <a:pt x="1578" y="12"/>
                  </a:lnTo>
                  <a:lnTo>
                    <a:pt x="1577" y="11"/>
                  </a:lnTo>
                  <a:lnTo>
                    <a:pt x="1576" y="9"/>
                  </a:lnTo>
                  <a:lnTo>
                    <a:pt x="1574" y="6"/>
                  </a:lnTo>
                  <a:lnTo>
                    <a:pt x="1576" y="3"/>
                  </a:lnTo>
                  <a:lnTo>
                    <a:pt x="1577" y="2"/>
                  </a:lnTo>
                  <a:lnTo>
                    <a:pt x="1578" y="0"/>
                  </a:lnTo>
                  <a:lnTo>
                    <a:pt x="1580" y="0"/>
                  </a:lnTo>
                  <a:lnTo>
                    <a:pt x="1580" y="0"/>
                  </a:lnTo>
                  <a:close/>
                  <a:moveTo>
                    <a:pt x="1600" y="0"/>
                  </a:moveTo>
                  <a:lnTo>
                    <a:pt x="1600" y="0"/>
                  </a:lnTo>
                  <a:lnTo>
                    <a:pt x="1603" y="0"/>
                  </a:lnTo>
                  <a:lnTo>
                    <a:pt x="1604" y="2"/>
                  </a:lnTo>
                  <a:lnTo>
                    <a:pt x="1605" y="3"/>
                  </a:lnTo>
                  <a:lnTo>
                    <a:pt x="1605" y="6"/>
                  </a:lnTo>
                  <a:lnTo>
                    <a:pt x="1605" y="9"/>
                  </a:lnTo>
                  <a:lnTo>
                    <a:pt x="1604" y="11"/>
                  </a:lnTo>
                  <a:lnTo>
                    <a:pt x="1603" y="12"/>
                  </a:lnTo>
                  <a:lnTo>
                    <a:pt x="1600" y="12"/>
                  </a:lnTo>
                  <a:lnTo>
                    <a:pt x="1600" y="12"/>
                  </a:lnTo>
                  <a:lnTo>
                    <a:pt x="1599" y="12"/>
                  </a:lnTo>
                  <a:lnTo>
                    <a:pt x="1596" y="11"/>
                  </a:lnTo>
                  <a:lnTo>
                    <a:pt x="1595" y="9"/>
                  </a:lnTo>
                  <a:lnTo>
                    <a:pt x="1595" y="6"/>
                  </a:lnTo>
                  <a:lnTo>
                    <a:pt x="1595" y="3"/>
                  </a:lnTo>
                  <a:lnTo>
                    <a:pt x="1596" y="2"/>
                  </a:lnTo>
                  <a:lnTo>
                    <a:pt x="1599" y="0"/>
                  </a:lnTo>
                  <a:lnTo>
                    <a:pt x="1600" y="0"/>
                  </a:lnTo>
                  <a:lnTo>
                    <a:pt x="1600" y="0"/>
                  </a:lnTo>
                  <a:close/>
                  <a:moveTo>
                    <a:pt x="1621" y="0"/>
                  </a:moveTo>
                  <a:lnTo>
                    <a:pt x="1621" y="0"/>
                  </a:lnTo>
                  <a:lnTo>
                    <a:pt x="1623" y="0"/>
                  </a:lnTo>
                  <a:lnTo>
                    <a:pt x="1625" y="2"/>
                  </a:lnTo>
                  <a:lnTo>
                    <a:pt x="1626" y="3"/>
                  </a:lnTo>
                  <a:lnTo>
                    <a:pt x="1626" y="6"/>
                  </a:lnTo>
                  <a:lnTo>
                    <a:pt x="1626" y="9"/>
                  </a:lnTo>
                  <a:lnTo>
                    <a:pt x="1625" y="11"/>
                  </a:lnTo>
                  <a:lnTo>
                    <a:pt x="1623" y="12"/>
                  </a:lnTo>
                  <a:lnTo>
                    <a:pt x="1621" y="12"/>
                  </a:lnTo>
                  <a:lnTo>
                    <a:pt x="1621" y="12"/>
                  </a:lnTo>
                  <a:lnTo>
                    <a:pt x="1618" y="12"/>
                  </a:lnTo>
                  <a:lnTo>
                    <a:pt x="1617" y="11"/>
                  </a:lnTo>
                  <a:lnTo>
                    <a:pt x="1616" y="9"/>
                  </a:lnTo>
                  <a:lnTo>
                    <a:pt x="1616" y="6"/>
                  </a:lnTo>
                  <a:lnTo>
                    <a:pt x="1616" y="3"/>
                  </a:lnTo>
                  <a:lnTo>
                    <a:pt x="1617" y="2"/>
                  </a:lnTo>
                  <a:lnTo>
                    <a:pt x="1618" y="0"/>
                  </a:lnTo>
                  <a:lnTo>
                    <a:pt x="1621" y="0"/>
                  </a:lnTo>
                  <a:lnTo>
                    <a:pt x="1621" y="0"/>
                  </a:lnTo>
                  <a:close/>
                  <a:moveTo>
                    <a:pt x="1642" y="0"/>
                  </a:moveTo>
                  <a:lnTo>
                    <a:pt x="1642" y="0"/>
                  </a:lnTo>
                  <a:lnTo>
                    <a:pt x="1643" y="0"/>
                  </a:lnTo>
                  <a:lnTo>
                    <a:pt x="1645" y="2"/>
                  </a:lnTo>
                  <a:lnTo>
                    <a:pt x="1645" y="3"/>
                  </a:lnTo>
                  <a:lnTo>
                    <a:pt x="1647" y="6"/>
                  </a:lnTo>
                  <a:lnTo>
                    <a:pt x="1645" y="9"/>
                  </a:lnTo>
                  <a:lnTo>
                    <a:pt x="1645" y="11"/>
                  </a:lnTo>
                  <a:lnTo>
                    <a:pt x="1643" y="12"/>
                  </a:lnTo>
                  <a:lnTo>
                    <a:pt x="1642" y="12"/>
                  </a:lnTo>
                  <a:lnTo>
                    <a:pt x="1642" y="12"/>
                  </a:lnTo>
                  <a:lnTo>
                    <a:pt x="1639" y="12"/>
                  </a:lnTo>
                  <a:lnTo>
                    <a:pt x="1638" y="11"/>
                  </a:lnTo>
                  <a:lnTo>
                    <a:pt x="1637" y="9"/>
                  </a:lnTo>
                  <a:lnTo>
                    <a:pt x="1636" y="6"/>
                  </a:lnTo>
                  <a:lnTo>
                    <a:pt x="1637" y="3"/>
                  </a:lnTo>
                  <a:lnTo>
                    <a:pt x="1638" y="2"/>
                  </a:lnTo>
                  <a:lnTo>
                    <a:pt x="1639" y="0"/>
                  </a:lnTo>
                  <a:lnTo>
                    <a:pt x="1642" y="0"/>
                  </a:lnTo>
                  <a:lnTo>
                    <a:pt x="1642" y="0"/>
                  </a:lnTo>
                  <a:close/>
                  <a:moveTo>
                    <a:pt x="1661" y="0"/>
                  </a:moveTo>
                  <a:lnTo>
                    <a:pt x="1661" y="0"/>
                  </a:lnTo>
                  <a:lnTo>
                    <a:pt x="1664" y="0"/>
                  </a:lnTo>
                  <a:lnTo>
                    <a:pt x="1665" y="2"/>
                  </a:lnTo>
                  <a:lnTo>
                    <a:pt x="1666" y="3"/>
                  </a:lnTo>
                  <a:lnTo>
                    <a:pt x="1666" y="6"/>
                  </a:lnTo>
                  <a:lnTo>
                    <a:pt x="1666" y="9"/>
                  </a:lnTo>
                  <a:lnTo>
                    <a:pt x="1665" y="11"/>
                  </a:lnTo>
                  <a:lnTo>
                    <a:pt x="1664" y="12"/>
                  </a:lnTo>
                  <a:lnTo>
                    <a:pt x="1661" y="12"/>
                  </a:lnTo>
                  <a:lnTo>
                    <a:pt x="1661" y="12"/>
                  </a:lnTo>
                  <a:lnTo>
                    <a:pt x="1660" y="12"/>
                  </a:lnTo>
                  <a:lnTo>
                    <a:pt x="1658" y="11"/>
                  </a:lnTo>
                  <a:lnTo>
                    <a:pt x="1656" y="9"/>
                  </a:lnTo>
                  <a:lnTo>
                    <a:pt x="1656" y="6"/>
                  </a:lnTo>
                  <a:lnTo>
                    <a:pt x="1656" y="3"/>
                  </a:lnTo>
                  <a:lnTo>
                    <a:pt x="1658" y="2"/>
                  </a:lnTo>
                  <a:lnTo>
                    <a:pt x="1660" y="0"/>
                  </a:lnTo>
                  <a:lnTo>
                    <a:pt x="1661" y="0"/>
                  </a:lnTo>
                  <a:lnTo>
                    <a:pt x="1661" y="0"/>
                  </a:lnTo>
                  <a:close/>
                  <a:moveTo>
                    <a:pt x="1682" y="0"/>
                  </a:moveTo>
                  <a:lnTo>
                    <a:pt x="1682" y="0"/>
                  </a:lnTo>
                  <a:lnTo>
                    <a:pt x="1685" y="0"/>
                  </a:lnTo>
                  <a:lnTo>
                    <a:pt x="1686" y="2"/>
                  </a:lnTo>
                  <a:lnTo>
                    <a:pt x="1687" y="3"/>
                  </a:lnTo>
                  <a:lnTo>
                    <a:pt x="1687" y="6"/>
                  </a:lnTo>
                  <a:lnTo>
                    <a:pt x="1687" y="9"/>
                  </a:lnTo>
                  <a:lnTo>
                    <a:pt x="1686" y="11"/>
                  </a:lnTo>
                  <a:lnTo>
                    <a:pt x="1685" y="12"/>
                  </a:lnTo>
                  <a:lnTo>
                    <a:pt x="1682" y="12"/>
                  </a:lnTo>
                  <a:lnTo>
                    <a:pt x="1682" y="12"/>
                  </a:lnTo>
                  <a:lnTo>
                    <a:pt x="1680" y="12"/>
                  </a:lnTo>
                  <a:lnTo>
                    <a:pt x="1679" y="11"/>
                  </a:lnTo>
                  <a:lnTo>
                    <a:pt x="1677" y="9"/>
                  </a:lnTo>
                  <a:lnTo>
                    <a:pt x="1677" y="6"/>
                  </a:lnTo>
                  <a:lnTo>
                    <a:pt x="1677" y="3"/>
                  </a:lnTo>
                  <a:lnTo>
                    <a:pt x="1679" y="2"/>
                  </a:lnTo>
                  <a:lnTo>
                    <a:pt x="1680" y="0"/>
                  </a:lnTo>
                  <a:lnTo>
                    <a:pt x="1682" y="0"/>
                  </a:lnTo>
                  <a:lnTo>
                    <a:pt x="1682" y="0"/>
                  </a:lnTo>
                  <a:close/>
                  <a:moveTo>
                    <a:pt x="1703" y="0"/>
                  </a:moveTo>
                  <a:lnTo>
                    <a:pt x="1703" y="0"/>
                  </a:lnTo>
                  <a:lnTo>
                    <a:pt x="1704" y="0"/>
                  </a:lnTo>
                  <a:lnTo>
                    <a:pt x="1707" y="2"/>
                  </a:lnTo>
                  <a:lnTo>
                    <a:pt x="1707" y="3"/>
                  </a:lnTo>
                  <a:lnTo>
                    <a:pt x="1708" y="6"/>
                  </a:lnTo>
                  <a:lnTo>
                    <a:pt x="1707" y="9"/>
                  </a:lnTo>
                  <a:lnTo>
                    <a:pt x="1707" y="11"/>
                  </a:lnTo>
                  <a:lnTo>
                    <a:pt x="1704" y="12"/>
                  </a:lnTo>
                  <a:lnTo>
                    <a:pt x="1703" y="12"/>
                  </a:lnTo>
                  <a:lnTo>
                    <a:pt x="1703" y="12"/>
                  </a:lnTo>
                  <a:lnTo>
                    <a:pt x="1701" y="12"/>
                  </a:lnTo>
                  <a:lnTo>
                    <a:pt x="1699" y="11"/>
                  </a:lnTo>
                  <a:lnTo>
                    <a:pt x="1698" y="9"/>
                  </a:lnTo>
                  <a:lnTo>
                    <a:pt x="1697" y="6"/>
                  </a:lnTo>
                  <a:lnTo>
                    <a:pt x="1698" y="3"/>
                  </a:lnTo>
                  <a:lnTo>
                    <a:pt x="1699" y="2"/>
                  </a:lnTo>
                  <a:lnTo>
                    <a:pt x="1701" y="0"/>
                  </a:lnTo>
                  <a:lnTo>
                    <a:pt x="1703" y="0"/>
                  </a:lnTo>
                  <a:lnTo>
                    <a:pt x="1703" y="0"/>
                  </a:lnTo>
                  <a:close/>
                  <a:moveTo>
                    <a:pt x="1723" y="0"/>
                  </a:moveTo>
                  <a:lnTo>
                    <a:pt x="1723" y="0"/>
                  </a:lnTo>
                  <a:lnTo>
                    <a:pt x="1725" y="0"/>
                  </a:lnTo>
                  <a:lnTo>
                    <a:pt x="1726" y="2"/>
                  </a:lnTo>
                  <a:lnTo>
                    <a:pt x="1728" y="3"/>
                  </a:lnTo>
                  <a:lnTo>
                    <a:pt x="1728" y="6"/>
                  </a:lnTo>
                  <a:lnTo>
                    <a:pt x="1728" y="9"/>
                  </a:lnTo>
                  <a:lnTo>
                    <a:pt x="1726" y="11"/>
                  </a:lnTo>
                  <a:lnTo>
                    <a:pt x="1725" y="12"/>
                  </a:lnTo>
                  <a:lnTo>
                    <a:pt x="1723" y="12"/>
                  </a:lnTo>
                  <a:lnTo>
                    <a:pt x="1723" y="12"/>
                  </a:lnTo>
                  <a:lnTo>
                    <a:pt x="1721" y="12"/>
                  </a:lnTo>
                  <a:lnTo>
                    <a:pt x="1719" y="11"/>
                  </a:lnTo>
                  <a:lnTo>
                    <a:pt x="1718" y="9"/>
                  </a:lnTo>
                  <a:lnTo>
                    <a:pt x="1718" y="6"/>
                  </a:lnTo>
                  <a:lnTo>
                    <a:pt x="1718" y="3"/>
                  </a:lnTo>
                  <a:lnTo>
                    <a:pt x="1719" y="2"/>
                  </a:lnTo>
                  <a:lnTo>
                    <a:pt x="1721" y="0"/>
                  </a:lnTo>
                  <a:lnTo>
                    <a:pt x="1723" y="0"/>
                  </a:lnTo>
                  <a:lnTo>
                    <a:pt x="1723" y="0"/>
                  </a:lnTo>
                  <a:close/>
                  <a:moveTo>
                    <a:pt x="1744" y="0"/>
                  </a:moveTo>
                  <a:lnTo>
                    <a:pt x="1744" y="0"/>
                  </a:lnTo>
                  <a:lnTo>
                    <a:pt x="1746" y="0"/>
                  </a:lnTo>
                  <a:lnTo>
                    <a:pt x="1747" y="2"/>
                  </a:lnTo>
                  <a:lnTo>
                    <a:pt x="1748" y="3"/>
                  </a:lnTo>
                  <a:lnTo>
                    <a:pt x="1748" y="6"/>
                  </a:lnTo>
                  <a:lnTo>
                    <a:pt x="1748" y="9"/>
                  </a:lnTo>
                  <a:lnTo>
                    <a:pt x="1747" y="11"/>
                  </a:lnTo>
                  <a:lnTo>
                    <a:pt x="1746" y="12"/>
                  </a:lnTo>
                  <a:lnTo>
                    <a:pt x="1744" y="12"/>
                  </a:lnTo>
                  <a:lnTo>
                    <a:pt x="1744" y="12"/>
                  </a:lnTo>
                  <a:lnTo>
                    <a:pt x="1741" y="12"/>
                  </a:lnTo>
                  <a:lnTo>
                    <a:pt x="1740" y="11"/>
                  </a:lnTo>
                  <a:lnTo>
                    <a:pt x="1739" y="9"/>
                  </a:lnTo>
                  <a:lnTo>
                    <a:pt x="1739" y="6"/>
                  </a:lnTo>
                  <a:lnTo>
                    <a:pt x="1739" y="3"/>
                  </a:lnTo>
                  <a:lnTo>
                    <a:pt x="1740" y="2"/>
                  </a:lnTo>
                  <a:lnTo>
                    <a:pt x="1741" y="0"/>
                  </a:lnTo>
                  <a:lnTo>
                    <a:pt x="1744" y="0"/>
                  </a:lnTo>
                  <a:lnTo>
                    <a:pt x="1744" y="0"/>
                  </a:lnTo>
                  <a:close/>
                  <a:moveTo>
                    <a:pt x="1764" y="0"/>
                  </a:moveTo>
                  <a:lnTo>
                    <a:pt x="1764" y="0"/>
                  </a:lnTo>
                  <a:lnTo>
                    <a:pt x="1766" y="0"/>
                  </a:lnTo>
                  <a:lnTo>
                    <a:pt x="1768" y="2"/>
                  </a:lnTo>
                  <a:lnTo>
                    <a:pt x="1768" y="3"/>
                  </a:lnTo>
                  <a:lnTo>
                    <a:pt x="1769" y="6"/>
                  </a:lnTo>
                  <a:lnTo>
                    <a:pt x="1768" y="9"/>
                  </a:lnTo>
                  <a:lnTo>
                    <a:pt x="1768" y="11"/>
                  </a:lnTo>
                  <a:lnTo>
                    <a:pt x="1766" y="12"/>
                  </a:lnTo>
                  <a:lnTo>
                    <a:pt x="1764" y="12"/>
                  </a:lnTo>
                  <a:lnTo>
                    <a:pt x="1764" y="12"/>
                  </a:lnTo>
                  <a:lnTo>
                    <a:pt x="1762" y="12"/>
                  </a:lnTo>
                  <a:lnTo>
                    <a:pt x="1761" y="11"/>
                  </a:lnTo>
                  <a:lnTo>
                    <a:pt x="1759" y="9"/>
                  </a:lnTo>
                  <a:lnTo>
                    <a:pt x="1759" y="6"/>
                  </a:lnTo>
                  <a:lnTo>
                    <a:pt x="1759" y="3"/>
                  </a:lnTo>
                  <a:lnTo>
                    <a:pt x="1761" y="2"/>
                  </a:lnTo>
                  <a:lnTo>
                    <a:pt x="1762" y="0"/>
                  </a:lnTo>
                  <a:lnTo>
                    <a:pt x="1764" y="0"/>
                  </a:lnTo>
                  <a:lnTo>
                    <a:pt x="1764" y="0"/>
                  </a:lnTo>
                  <a:close/>
                  <a:moveTo>
                    <a:pt x="1784" y="0"/>
                  </a:moveTo>
                  <a:lnTo>
                    <a:pt x="1784" y="0"/>
                  </a:lnTo>
                  <a:lnTo>
                    <a:pt x="1786" y="0"/>
                  </a:lnTo>
                  <a:lnTo>
                    <a:pt x="1788" y="2"/>
                  </a:lnTo>
                  <a:lnTo>
                    <a:pt x="1789" y="3"/>
                  </a:lnTo>
                  <a:lnTo>
                    <a:pt x="1790" y="6"/>
                  </a:lnTo>
                  <a:lnTo>
                    <a:pt x="1789" y="9"/>
                  </a:lnTo>
                  <a:lnTo>
                    <a:pt x="1788" y="11"/>
                  </a:lnTo>
                  <a:lnTo>
                    <a:pt x="1786" y="12"/>
                  </a:lnTo>
                  <a:lnTo>
                    <a:pt x="1784" y="12"/>
                  </a:lnTo>
                  <a:lnTo>
                    <a:pt x="1784" y="12"/>
                  </a:lnTo>
                  <a:lnTo>
                    <a:pt x="1783" y="12"/>
                  </a:lnTo>
                  <a:lnTo>
                    <a:pt x="1780" y="11"/>
                  </a:lnTo>
                  <a:lnTo>
                    <a:pt x="1779" y="9"/>
                  </a:lnTo>
                  <a:lnTo>
                    <a:pt x="1779" y="6"/>
                  </a:lnTo>
                  <a:lnTo>
                    <a:pt x="1779" y="3"/>
                  </a:lnTo>
                  <a:lnTo>
                    <a:pt x="1780" y="2"/>
                  </a:lnTo>
                  <a:lnTo>
                    <a:pt x="1783" y="0"/>
                  </a:lnTo>
                  <a:lnTo>
                    <a:pt x="1784" y="0"/>
                  </a:lnTo>
                  <a:lnTo>
                    <a:pt x="1784" y="0"/>
                  </a:lnTo>
                  <a:close/>
                  <a:moveTo>
                    <a:pt x="1805" y="0"/>
                  </a:moveTo>
                  <a:lnTo>
                    <a:pt x="1805" y="0"/>
                  </a:lnTo>
                  <a:lnTo>
                    <a:pt x="1807" y="0"/>
                  </a:lnTo>
                  <a:lnTo>
                    <a:pt x="1808" y="2"/>
                  </a:lnTo>
                  <a:lnTo>
                    <a:pt x="1810" y="3"/>
                  </a:lnTo>
                  <a:lnTo>
                    <a:pt x="1810" y="6"/>
                  </a:lnTo>
                  <a:lnTo>
                    <a:pt x="1810" y="9"/>
                  </a:lnTo>
                  <a:lnTo>
                    <a:pt x="1808" y="11"/>
                  </a:lnTo>
                  <a:lnTo>
                    <a:pt x="1807" y="12"/>
                  </a:lnTo>
                  <a:lnTo>
                    <a:pt x="1805" y="12"/>
                  </a:lnTo>
                  <a:lnTo>
                    <a:pt x="1805" y="12"/>
                  </a:lnTo>
                  <a:lnTo>
                    <a:pt x="1802" y="12"/>
                  </a:lnTo>
                  <a:lnTo>
                    <a:pt x="1801" y="11"/>
                  </a:lnTo>
                  <a:lnTo>
                    <a:pt x="1800" y="9"/>
                  </a:lnTo>
                  <a:lnTo>
                    <a:pt x="1800" y="6"/>
                  </a:lnTo>
                  <a:lnTo>
                    <a:pt x="1800" y="3"/>
                  </a:lnTo>
                  <a:lnTo>
                    <a:pt x="1801" y="2"/>
                  </a:lnTo>
                  <a:lnTo>
                    <a:pt x="1802" y="0"/>
                  </a:lnTo>
                  <a:lnTo>
                    <a:pt x="1805" y="0"/>
                  </a:lnTo>
                  <a:lnTo>
                    <a:pt x="1805" y="0"/>
                  </a:lnTo>
                  <a:close/>
                  <a:moveTo>
                    <a:pt x="1826" y="0"/>
                  </a:moveTo>
                  <a:lnTo>
                    <a:pt x="1826" y="0"/>
                  </a:lnTo>
                  <a:lnTo>
                    <a:pt x="1827" y="0"/>
                  </a:lnTo>
                  <a:lnTo>
                    <a:pt x="1829" y="2"/>
                  </a:lnTo>
                  <a:lnTo>
                    <a:pt x="1829" y="3"/>
                  </a:lnTo>
                  <a:lnTo>
                    <a:pt x="1831" y="6"/>
                  </a:lnTo>
                  <a:lnTo>
                    <a:pt x="1829" y="9"/>
                  </a:lnTo>
                  <a:lnTo>
                    <a:pt x="1829" y="11"/>
                  </a:lnTo>
                  <a:lnTo>
                    <a:pt x="1827" y="12"/>
                  </a:lnTo>
                  <a:lnTo>
                    <a:pt x="1826" y="12"/>
                  </a:lnTo>
                  <a:lnTo>
                    <a:pt x="1826" y="12"/>
                  </a:lnTo>
                  <a:lnTo>
                    <a:pt x="1823" y="12"/>
                  </a:lnTo>
                  <a:lnTo>
                    <a:pt x="1822" y="11"/>
                  </a:lnTo>
                  <a:lnTo>
                    <a:pt x="1821" y="9"/>
                  </a:lnTo>
                  <a:lnTo>
                    <a:pt x="1821" y="6"/>
                  </a:lnTo>
                  <a:lnTo>
                    <a:pt x="1821" y="3"/>
                  </a:lnTo>
                  <a:lnTo>
                    <a:pt x="1822" y="2"/>
                  </a:lnTo>
                  <a:lnTo>
                    <a:pt x="1823" y="0"/>
                  </a:lnTo>
                  <a:lnTo>
                    <a:pt x="1826" y="0"/>
                  </a:lnTo>
                  <a:lnTo>
                    <a:pt x="1826" y="0"/>
                  </a:lnTo>
                  <a:close/>
                  <a:moveTo>
                    <a:pt x="1845" y="0"/>
                  </a:moveTo>
                  <a:lnTo>
                    <a:pt x="1845" y="0"/>
                  </a:lnTo>
                  <a:lnTo>
                    <a:pt x="1848" y="0"/>
                  </a:lnTo>
                  <a:lnTo>
                    <a:pt x="1849" y="2"/>
                  </a:lnTo>
                  <a:lnTo>
                    <a:pt x="1850" y="3"/>
                  </a:lnTo>
                  <a:lnTo>
                    <a:pt x="1851" y="6"/>
                  </a:lnTo>
                  <a:lnTo>
                    <a:pt x="1850" y="9"/>
                  </a:lnTo>
                  <a:lnTo>
                    <a:pt x="1849" y="11"/>
                  </a:lnTo>
                  <a:lnTo>
                    <a:pt x="1848" y="12"/>
                  </a:lnTo>
                  <a:lnTo>
                    <a:pt x="1845" y="12"/>
                  </a:lnTo>
                  <a:lnTo>
                    <a:pt x="1845" y="12"/>
                  </a:lnTo>
                  <a:lnTo>
                    <a:pt x="1844" y="12"/>
                  </a:lnTo>
                  <a:lnTo>
                    <a:pt x="1842" y="11"/>
                  </a:lnTo>
                  <a:lnTo>
                    <a:pt x="1840" y="9"/>
                  </a:lnTo>
                  <a:lnTo>
                    <a:pt x="1840" y="6"/>
                  </a:lnTo>
                  <a:lnTo>
                    <a:pt x="1840" y="3"/>
                  </a:lnTo>
                  <a:lnTo>
                    <a:pt x="1842" y="2"/>
                  </a:lnTo>
                  <a:lnTo>
                    <a:pt x="1844" y="0"/>
                  </a:lnTo>
                  <a:lnTo>
                    <a:pt x="1845" y="0"/>
                  </a:lnTo>
                  <a:lnTo>
                    <a:pt x="1845" y="0"/>
                  </a:lnTo>
                  <a:close/>
                  <a:moveTo>
                    <a:pt x="1866" y="0"/>
                  </a:moveTo>
                  <a:lnTo>
                    <a:pt x="1866" y="0"/>
                  </a:lnTo>
                  <a:lnTo>
                    <a:pt x="1869" y="0"/>
                  </a:lnTo>
                  <a:lnTo>
                    <a:pt x="1870" y="2"/>
                  </a:lnTo>
                  <a:lnTo>
                    <a:pt x="1871" y="3"/>
                  </a:lnTo>
                  <a:lnTo>
                    <a:pt x="1871" y="6"/>
                  </a:lnTo>
                  <a:lnTo>
                    <a:pt x="1871" y="9"/>
                  </a:lnTo>
                  <a:lnTo>
                    <a:pt x="1870" y="11"/>
                  </a:lnTo>
                  <a:lnTo>
                    <a:pt x="1869" y="12"/>
                  </a:lnTo>
                  <a:lnTo>
                    <a:pt x="1866" y="12"/>
                  </a:lnTo>
                  <a:lnTo>
                    <a:pt x="1866" y="12"/>
                  </a:lnTo>
                  <a:lnTo>
                    <a:pt x="1864" y="12"/>
                  </a:lnTo>
                  <a:lnTo>
                    <a:pt x="1862" y="11"/>
                  </a:lnTo>
                  <a:lnTo>
                    <a:pt x="1861" y="9"/>
                  </a:lnTo>
                  <a:lnTo>
                    <a:pt x="1861" y="6"/>
                  </a:lnTo>
                  <a:lnTo>
                    <a:pt x="1861" y="3"/>
                  </a:lnTo>
                  <a:lnTo>
                    <a:pt x="1862" y="2"/>
                  </a:lnTo>
                  <a:lnTo>
                    <a:pt x="1864" y="0"/>
                  </a:lnTo>
                  <a:lnTo>
                    <a:pt x="1866" y="0"/>
                  </a:lnTo>
                  <a:lnTo>
                    <a:pt x="1866" y="0"/>
                  </a:lnTo>
                  <a:close/>
                  <a:moveTo>
                    <a:pt x="1887" y="0"/>
                  </a:moveTo>
                  <a:lnTo>
                    <a:pt x="1887" y="0"/>
                  </a:lnTo>
                  <a:lnTo>
                    <a:pt x="1888" y="0"/>
                  </a:lnTo>
                  <a:lnTo>
                    <a:pt x="1891" y="2"/>
                  </a:lnTo>
                  <a:lnTo>
                    <a:pt x="1892" y="3"/>
                  </a:lnTo>
                  <a:lnTo>
                    <a:pt x="1892" y="6"/>
                  </a:lnTo>
                  <a:lnTo>
                    <a:pt x="1892" y="9"/>
                  </a:lnTo>
                  <a:lnTo>
                    <a:pt x="1891" y="11"/>
                  </a:lnTo>
                  <a:lnTo>
                    <a:pt x="1888" y="12"/>
                  </a:lnTo>
                  <a:lnTo>
                    <a:pt x="1887" y="12"/>
                  </a:lnTo>
                  <a:lnTo>
                    <a:pt x="1887" y="12"/>
                  </a:lnTo>
                  <a:lnTo>
                    <a:pt x="1885" y="12"/>
                  </a:lnTo>
                  <a:lnTo>
                    <a:pt x="1883" y="11"/>
                  </a:lnTo>
                  <a:lnTo>
                    <a:pt x="1882" y="9"/>
                  </a:lnTo>
                  <a:lnTo>
                    <a:pt x="1882" y="6"/>
                  </a:lnTo>
                  <a:lnTo>
                    <a:pt x="1882" y="3"/>
                  </a:lnTo>
                  <a:lnTo>
                    <a:pt x="1883" y="2"/>
                  </a:lnTo>
                  <a:lnTo>
                    <a:pt x="1885" y="0"/>
                  </a:lnTo>
                  <a:lnTo>
                    <a:pt x="1887" y="0"/>
                  </a:lnTo>
                  <a:lnTo>
                    <a:pt x="1887" y="0"/>
                  </a:lnTo>
                  <a:close/>
                  <a:moveTo>
                    <a:pt x="1907" y="0"/>
                  </a:moveTo>
                  <a:lnTo>
                    <a:pt x="1907" y="0"/>
                  </a:lnTo>
                  <a:lnTo>
                    <a:pt x="1909" y="0"/>
                  </a:lnTo>
                  <a:lnTo>
                    <a:pt x="1910" y="2"/>
                  </a:lnTo>
                  <a:lnTo>
                    <a:pt x="1911" y="3"/>
                  </a:lnTo>
                  <a:lnTo>
                    <a:pt x="1913" y="6"/>
                  </a:lnTo>
                  <a:lnTo>
                    <a:pt x="1911" y="9"/>
                  </a:lnTo>
                  <a:lnTo>
                    <a:pt x="1910" y="11"/>
                  </a:lnTo>
                  <a:lnTo>
                    <a:pt x="1909" y="12"/>
                  </a:lnTo>
                  <a:lnTo>
                    <a:pt x="1907" y="12"/>
                  </a:lnTo>
                  <a:lnTo>
                    <a:pt x="1907" y="12"/>
                  </a:lnTo>
                  <a:lnTo>
                    <a:pt x="1905" y="12"/>
                  </a:lnTo>
                  <a:lnTo>
                    <a:pt x="1903" y="11"/>
                  </a:lnTo>
                  <a:lnTo>
                    <a:pt x="1902" y="9"/>
                  </a:lnTo>
                  <a:lnTo>
                    <a:pt x="1902" y="6"/>
                  </a:lnTo>
                  <a:lnTo>
                    <a:pt x="1902" y="3"/>
                  </a:lnTo>
                  <a:lnTo>
                    <a:pt x="1903" y="2"/>
                  </a:lnTo>
                  <a:lnTo>
                    <a:pt x="1905" y="0"/>
                  </a:lnTo>
                  <a:lnTo>
                    <a:pt x="1907" y="0"/>
                  </a:lnTo>
                  <a:lnTo>
                    <a:pt x="1907" y="0"/>
                  </a:lnTo>
                  <a:close/>
                  <a:moveTo>
                    <a:pt x="1927" y="0"/>
                  </a:moveTo>
                  <a:lnTo>
                    <a:pt x="1927" y="0"/>
                  </a:lnTo>
                  <a:lnTo>
                    <a:pt x="1930" y="0"/>
                  </a:lnTo>
                  <a:lnTo>
                    <a:pt x="1931" y="2"/>
                  </a:lnTo>
                  <a:lnTo>
                    <a:pt x="1932" y="3"/>
                  </a:lnTo>
                  <a:lnTo>
                    <a:pt x="1932" y="6"/>
                  </a:lnTo>
                  <a:lnTo>
                    <a:pt x="1932" y="9"/>
                  </a:lnTo>
                  <a:lnTo>
                    <a:pt x="1931" y="11"/>
                  </a:lnTo>
                  <a:lnTo>
                    <a:pt x="1930" y="12"/>
                  </a:lnTo>
                  <a:lnTo>
                    <a:pt x="1927" y="12"/>
                  </a:lnTo>
                  <a:lnTo>
                    <a:pt x="1927" y="12"/>
                  </a:lnTo>
                  <a:lnTo>
                    <a:pt x="1925" y="12"/>
                  </a:lnTo>
                  <a:lnTo>
                    <a:pt x="1924" y="11"/>
                  </a:lnTo>
                  <a:lnTo>
                    <a:pt x="1923" y="9"/>
                  </a:lnTo>
                  <a:lnTo>
                    <a:pt x="1923" y="6"/>
                  </a:lnTo>
                  <a:lnTo>
                    <a:pt x="1923" y="3"/>
                  </a:lnTo>
                  <a:lnTo>
                    <a:pt x="1924" y="2"/>
                  </a:lnTo>
                  <a:lnTo>
                    <a:pt x="1925" y="0"/>
                  </a:lnTo>
                  <a:lnTo>
                    <a:pt x="1927" y="0"/>
                  </a:lnTo>
                  <a:lnTo>
                    <a:pt x="1927" y="0"/>
                  </a:lnTo>
                  <a:close/>
                  <a:moveTo>
                    <a:pt x="1948" y="0"/>
                  </a:moveTo>
                  <a:lnTo>
                    <a:pt x="1948" y="0"/>
                  </a:lnTo>
                  <a:lnTo>
                    <a:pt x="1949" y="0"/>
                  </a:lnTo>
                  <a:lnTo>
                    <a:pt x="1952" y="2"/>
                  </a:lnTo>
                  <a:lnTo>
                    <a:pt x="1953" y="3"/>
                  </a:lnTo>
                  <a:lnTo>
                    <a:pt x="1953" y="6"/>
                  </a:lnTo>
                  <a:lnTo>
                    <a:pt x="1953" y="9"/>
                  </a:lnTo>
                  <a:lnTo>
                    <a:pt x="1952" y="11"/>
                  </a:lnTo>
                  <a:lnTo>
                    <a:pt x="1949" y="12"/>
                  </a:lnTo>
                  <a:lnTo>
                    <a:pt x="1948" y="12"/>
                  </a:lnTo>
                  <a:lnTo>
                    <a:pt x="1948" y="12"/>
                  </a:lnTo>
                  <a:lnTo>
                    <a:pt x="1946" y="12"/>
                  </a:lnTo>
                  <a:lnTo>
                    <a:pt x="1945" y="11"/>
                  </a:lnTo>
                  <a:lnTo>
                    <a:pt x="1943" y="9"/>
                  </a:lnTo>
                  <a:lnTo>
                    <a:pt x="1943" y="6"/>
                  </a:lnTo>
                  <a:lnTo>
                    <a:pt x="1943" y="3"/>
                  </a:lnTo>
                  <a:lnTo>
                    <a:pt x="1945" y="2"/>
                  </a:lnTo>
                  <a:lnTo>
                    <a:pt x="1946" y="0"/>
                  </a:lnTo>
                  <a:lnTo>
                    <a:pt x="1948" y="0"/>
                  </a:lnTo>
                  <a:lnTo>
                    <a:pt x="1948" y="0"/>
                  </a:lnTo>
                  <a:close/>
                  <a:moveTo>
                    <a:pt x="1968" y="0"/>
                  </a:moveTo>
                  <a:lnTo>
                    <a:pt x="1968" y="0"/>
                  </a:lnTo>
                  <a:lnTo>
                    <a:pt x="1970" y="0"/>
                  </a:lnTo>
                  <a:lnTo>
                    <a:pt x="1972" y="2"/>
                  </a:lnTo>
                  <a:lnTo>
                    <a:pt x="1973" y="3"/>
                  </a:lnTo>
                  <a:lnTo>
                    <a:pt x="1974" y="6"/>
                  </a:lnTo>
                  <a:lnTo>
                    <a:pt x="1973" y="9"/>
                  </a:lnTo>
                  <a:lnTo>
                    <a:pt x="1972" y="11"/>
                  </a:lnTo>
                  <a:lnTo>
                    <a:pt x="1970" y="12"/>
                  </a:lnTo>
                  <a:lnTo>
                    <a:pt x="1968" y="12"/>
                  </a:lnTo>
                  <a:lnTo>
                    <a:pt x="1968" y="12"/>
                  </a:lnTo>
                  <a:lnTo>
                    <a:pt x="1967" y="12"/>
                  </a:lnTo>
                  <a:lnTo>
                    <a:pt x="1964" y="11"/>
                  </a:lnTo>
                  <a:lnTo>
                    <a:pt x="1964" y="9"/>
                  </a:lnTo>
                  <a:lnTo>
                    <a:pt x="1963" y="6"/>
                  </a:lnTo>
                  <a:lnTo>
                    <a:pt x="1964" y="3"/>
                  </a:lnTo>
                  <a:lnTo>
                    <a:pt x="1964" y="2"/>
                  </a:lnTo>
                  <a:lnTo>
                    <a:pt x="1967" y="0"/>
                  </a:lnTo>
                  <a:lnTo>
                    <a:pt x="1968" y="0"/>
                  </a:lnTo>
                  <a:lnTo>
                    <a:pt x="1968" y="0"/>
                  </a:lnTo>
                  <a:close/>
                  <a:moveTo>
                    <a:pt x="1989" y="0"/>
                  </a:moveTo>
                  <a:lnTo>
                    <a:pt x="1989" y="0"/>
                  </a:lnTo>
                  <a:lnTo>
                    <a:pt x="1991" y="0"/>
                  </a:lnTo>
                  <a:lnTo>
                    <a:pt x="1992" y="2"/>
                  </a:lnTo>
                  <a:lnTo>
                    <a:pt x="1994" y="3"/>
                  </a:lnTo>
                  <a:lnTo>
                    <a:pt x="1994" y="6"/>
                  </a:lnTo>
                  <a:lnTo>
                    <a:pt x="1994" y="9"/>
                  </a:lnTo>
                  <a:lnTo>
                    <a:pt x="1992" y="11"/>
                  </a:lnTo>
                  <a:lnTo>
                    <a:pt x="1991" y="12"/>
                  </a:lnTo>
                  <a:lnTo>
                    <a:pt x="1989" y="12"/>
                  </a:lnTo>
                  <a:lnTo>
                    <a:pt x="1989" y="12"/>
                  </a:lnTo>
                  <a:lnTo>
                    <a:pt x="1986" y="12"/>
                  </a:lnTo>
                  <a:lnTo>
                    <a:pt x="1985" y="11"/>
                  </a:lnTo>
                  <a:lnTo>
                    <a:pt x="1984" y="9"/>
                  </a:lnTo>
                  <a:lnTo>
                    <a:pt x="1984" y="6"/>
                  </a:lnTo>
                  <a:lnTo>
                    <a:pt x="1984" y="3"/>
                  </a:lnTo>
                  <a:lnTo>
                    <a:pt x="1985" y="2"/>
                  </a:lnTo>
                  <a:lnTo>
                    <a:pt x="1986" y="0"/>
                  </a:lnTo>
                  <a:lnTo>
                    <a:pt x="1989" y="0"/>
                  </a:lnTo>
                  <a:lnTo>
                    <a:pt x="1989" y="0"/>
                  </a:lnTo>
                  <a:close/>
                  <a:moveTo>
                    <a:pt x="2010" y="0"/>
                  </a:moveTo>
                  <a:lnTo>
                    <a:pt x="2010" y="0"/>
                  </a:lnTo>
                  <a:lnTo>
                    <a:pt x="2011" y="0"/>
                  </a:lnTo>
                  <a:lnTo>
                    <a:pt x="2013" y="2"/>
                  </a:lnTo>
                  <a:lnTo>
                    <a:pt x="2014" y="3"/>
                  </a:lnTo>
                  <a:lnTo>
                    <a:pt x="2014" y="6"/>
                  </a:lnTo>
                  <a:lnTo>
                    <a:pt x="2014" y="9"/>
                  </a:lnTo>
                  <a:lnTo>
                    <a:pt x="2013" y="11"/>
                  </a:lnTo>
                  <a:lnTo>
                    <a:pt x="2011" y="12"/>
                  </a:lnTo>
                  <a:lnTo>
                    <a:pt x="2010" y="12"/>
                  </a:lnTo>
                  <a:lnTo>
                    <a:pt x="2010" y="12"/>
                  </a:lnTo>
                  <a:lnTo>
                    <a:pt x="2007" y="12"/>
                  </a:lnTo>
                  <a:lnTo>
                    <a:pt x="2006" y="11"/>
                  </a:lnTo>
                  <a:lnTo>
                    <a:pt x="2005" y="9"/>
                  </a:lnTo>
                  <a:lnTo>
                    <a:pt x="2005" y="6"/>
                  </a:lnTo>
                  <a:lnTo>
                    <a:pt x="2005" y="3"/>
                  </a:lnTo>
                  <a:lnTo>
                    <a:pt x="2006" y="2"/>
                  </a:lnTo>
                  <a:lnTo>
                    <a:pt x="2007" y="0"/>
                  </a:lnTo>
                  <a:lnTo>
                    <a:pt x="2010" y="0"/>
                  </a:lnTo>
                  <a:lnTo>
                    <a:pt x="2010" y="0"/>
                  </a:lnTo>
                  <a:close/>
                  <a:moveTo>
                    <a:pt x="2029" y="0"/>
                  </a:moveTo>
                  <a:lnTo>
                    <a:pt x="2029" y="0"/>
                  </a:lnTo>
                  <a:lnTo>
                    <a:pt x="2032" y="0"/>
                  </a:lnTo>
                  <a:lnTo>
                    <a:pt x="2033" y="2"/>
                  </a:lnTo>
                  <a:lnTo>
                    <a:pt x="2034" y="3"/>
                  </a:lnTo>
                  <a:lnTo>
                    <a:pt x="2035" y="6"/>
                  </a:lnTo>
                  <a:lnTo>
                    <a:pt x="2034" y="9"/>
                  </a:lnTo>
                  <a:lnTo>
                    <a:pt x="2033" y="11"/>
                  </a:lnTo>
                  <a:lnTo>
                    <a:pt x="2032" y="12"/>
                  </a:lnTo>
                  <a:lnTo>
                    <a:pt x="2029" y="12"/>
                  </a:lnTo>
                  <a:lnTo>
                    <a:pt x="2029" y="12"/>
                  </a:lnTo>
                  <a:lnTo>
                    <a:pt x="2028" y="12"/>
                  </a:lnTo>
                  <a:lnTo>
                    <a:pt x="2025" y="11"/>
                  </a:lnTo>
                  <a:lnTo>
                    <a:pt x="2025" y="9"/>
                  </a:lnTo>
                  <a:lnTo>
                    <a:pt x="2024" y="6"/>
                  </a:lnTo>
                  <a:lnTo>
                    <a:pt x="2025" y="3"/>
                  </a:lnTo>
                  <a:lnTo>
                    <a:pt x="2025" y="2"/>
                  </a:lnTo>
                  <a:lnTo>
                    <a:pt x="2028" y="0"/>
                  </a:lnTo>
                  <a:lnTo>
                    <a:pt x="2029" y="0"/>
                  </a:lnTo>
                  <a:lnTo>
                    <a:pt x="2029" y="0"/>
                  </a:lnTo>
                  <a:close/>
                  <a:moveTo>
                    <a:pt x="2050" y="0"/>
                  </a:moveTo>
                  <a:lnTo>
                    <a:pt x="2050" y="0"/>
                  </a:lnTo>
                  <a:lnTo>
                    <a:pt x="2052" y="0"/>
                  </a:lnTo>
                  <a:lnTo>
                    <a:pt x="2054" y="2"/>
                  </a:lnTo>
                  <a:lnTo>
                    <a:pt x="2055" y="3"/>
                  </a:lnTo>
                  <a:lnTo>
                    <a:pt x="2055" y="6"/>
                  </a:lnTo>
                  <a:lnTo>
                    <a:pt x="2055" y="9"/>
                  </a:lnTo>
                  <a:lnTo>
                    <a:pt x="2054" y="11"/>
                  </a:lnTo>
                  <a:lnTo>
                    <a:pt x="2052" y="12"/>
                  </a:lnTo>
                  <a:lnTo>
                    <a:pt x="2050" y="12"/>
                  </a:lnTo>
                  <a:lnTo>
                    <a:pt x="2050" y="12"/>
                  </a:lnTo>
                  <a:lnTo>
                    <a:pt x="2048" y="12"/>
                  </a:lnTo>
                  <a:lnTo>
                    <a:pt x="2046" y="11"/>
                  </a:lnTo>
                  <a:lnTo>
                    <a:pt x="2045" y="9"/>
                  </a:lnTo>
                  <a:lnTo>
                    <a:pt x="2045" y="6"/>
                  </a:lnTo>
                  <a:lnTo>
                    <a:pt x="2045" y="3"/>
                  </a:lnTo>
                  <a:lnTo>
                    <a:pt x="2046" y="2"/>
                  </a:lnTo>
                  <a:lnTo>
                    <a:pt x="2048" y="0"/>
                  </a:lnTo>
                  <a:lnTo>
                    <a:pt x="2050" y="0"/>
                  </a:lnTo>
                  <a:lnTo>
                    <a:pt x="2050" y="0"/>
                  </a:lnTo>
                  <a:close/>
                  <a:moveTo>
                    <a:pt x="2071" y="0"/>
                  </a:moveTo>
                  <a:lnTo>
                    <a:pt x="2071" y="0"/>
                  </a:lnTo>
                  <a:lnTo>
                    <a:pt x="2072" y="0"/>
                  </a:lnTo>
                  <a:lnTo>
                    <a:pt x="2075" y="2"/>
                  </a:lnTo>
                  <a:lnTo>
                    <a:pt x="2076" y="3"/>
                  </a:lnTo>
                  <a:lnTo>
                    <a:pt x="2076" y="6"/>
                  </a:lnTo>
                  <a:lnTo>
                    <a:pt x="2076" y="9"/>
                  </a:lnTo>
                  <a:lnTo>
                    <a:pt x="2075" y="11"/>
                  </a:lnTo>
                  <a:lnTo>
                    <a:pt x="2072" y="12"/>
                  </a:lnTo>
                  <a:lnTo>
                    <a:pt x="2071" y="12"/>
                  </a:lnTo>
                  <a:lnTo>
                    <a:pt x="2071" y="12"/>
                  </a:lnTo>
                  <a:lnTo>
                    <a:pt x="2068" y="12"/>
                  </a:lnTo>
                  <a:lnTo>
                    <a:pt x="2067" y="11"/>
                  </a:lnTo>
                  <a:lnTo>
                    <a:pt x="2066" y="9"/>
                  </a:lnTo>
                  <a:lnTo>
                    <a:pt x="2066" y="6"/>
                  </a:lnTo>
                  <a:lnTo>
                    <a:pt x="2066" y="3"/>
                  </a:lnTo>
                  <a:lnTo>
                    <a:pt x="2067" y="2"/>
                  </a:lnTo>
                  <a:lnTo>
                    <a:pt x="2068" y="0"/>
                  </a:lnTo>
                  <a:lnTo>
                    <a:pt x="2071" y="0"/>
                  </a:lnTo>
                  <a:lnTo>
                    <a:pt x="2071" y="0"/>
                  </a:lnTo>
                  <a:close/>
                  <a:moveTo>
                    <a:pt x="2090" y="0"/>
                  </a:moveTo>
                  <a:lnTo>
                    <a:pt x="2090" y="0"/>
                  </a:lnTo>
                  <a:lnTo>
                    <a:pt x="2093" y="0"/>
                  </a:lnTo>
                  <a:lnTo>
                    <a:pt x="2094" y="2"/>
                  </a:lnTo>
                  <a:lnTo>
                    <a:pt x="2095" y="3"/>
                  </a:lnTo>
                  <a:lnTo>
                    <a:pt x="2097" y="6"/>
                  </a:lnTo>
                  <a:lnTo>
                    <a:pt x="2095" y="9"/>
                  </a:lnTo>
                  <a:lnTo>
                    <a:pt x="2094" y="11"/>
                  </a:lnTo>
                  <a:lnTo>
                    <a:pt x="2093" y="12"/>
                  </a:lnTo>
                  <a:lnTo>
                    <a:pt x="2090" y="12"/>
                  </a:lnTo>
                  <a:lnTo>
                    <a:pt x="2090" y="12"/>
                  </a:lnTo>
                  <a:lnTo>
                    <a:pt x="2089" y="12"/>
                  </a:lnTo>
                  <a:lnTo>
                    <a:pt x="2087" y="11"/>
                  </a:lnTo>
                  <a:lnTo>
                    <a:pt x="2087" y="9"/>
                  </a:lnTo>
                  <a:lnTo>
                    <a:pt x="2086" y="6"/>
                  </a:lnTo>
                  <a:lnTo>
                    <a:pt x="2087" y="3"/>
                  </a:lnTo>
                  <a:lnTo>
                    <a:pt x="2087" y="2"/>
                  </a:lnTo>
                  <a:lnTo>
                    <a:pt x="2089" y="0"/>
                  </a:lnTo>
                  <a:lnTo>
                    <a:pt x="2090" y="0"/>
                  </a:lnTo>
                  <a:lnTo>
                    <a:pt x="2090" y="0"/>
                  </a:lnTo>
                  <a:close/>
                  <a:moveTo>
                    <a:pt x="2111" y="0"/>
                  </a:moveTo>
                  <a:lnTo>
                    <a:pt x="2111" y="0"/>
                  </a:lnTo>
                  <a:lnTo>
                    <a:pt x="2114" y="0"/>
                  </a:lnTo>
                  <a:lnTo>
                    <a:pt x="2115" y="2"/>
                  </a:lnTo>
                  <a:lnTo>
                    <a:pt x="2116" y="3"/>
                  </a:lnTo>
                  <a:lnTo>
                    <a:pt x="2116" y="6"/>
                  </a:lnTo>
                  <a:lnTo>
                    <a:pt x="2116" y="9"/>
                  </a:lnTo>
                  <a:lnTo>
                    <a:pt x="2115" y="11"/>
                  </a:lnTo>
                  <a:lnTo>
                    <a:pt x="2114" y="12"/>
                  </a:lnTo>
                  <a:lnTo>
                    <a:pt x="2111" y="12"/>
                  </a:lnTo>
                  <a:lnTo>
                    <a:pt x="2111" y="12"/>
                  </a:lnTo>
                  <a:lnTo>
                    <a:pt x="2109" y="12"/>
                  </a:lnTo>
                  <a:lnTo>
                    <a:pt x="2108" y="11"/>
                  </a:lnTo>
                  <a:lnTo>
                    <a:pt x="2106" y="9"/>
                  </a:lnTo>
                  <a:lnTo>
                    <a:pt x="2106" y="6"/>
                  </a:lnTo>
                  <a:lnTo>
                    <a:pt x="2106" y="3"/>
                  </a:lnTo>
                  <a:lnTo>
                    <a:pt x="2108" y="2"/>
                  </a:lnTo>
                  <a:lnTo>
                    <a:pt x="2109" y="0"/>
                  </a:lnTo>
                  <a:lnTo>
                    <a:pt x="2111" y="0"/>
                  </a:lnTo>
                  <a:lnTo>
                    <a:pt x="2111" y="0"/>
                  </a:lnTo>
                  <a:close/>
                  <a:moveTo>
                    <a:pt x="2132" y="0"/>
                  </a:moveTo>
                  <a:lnTo>
                    <a:pt x="2132" y="0"/>
                  </a:lnTo>
                  <a:lnTo>
                    <a:pt x="2133" y="0"/>
                  </a:lnTo>
                  <a:lnTo>
                    <a:pt x="2136" y="2"/>
                  </a:lnTo>
                  <a:lnTo>
                    <a:pt x="2137" y="3"/>
                  </a:lnTo>
                  <a:lnTo>
                    <a:pt x="2137" y="6"/>
                  </a:lnTo>
                  <a:lnTo>
                    <a:pt x="2137" y="9"/>
                  </a:lnTo>
                  <a:lnTo>
                    <a:pt x="2136" y="11"/>
                  </a:lnTo>
                  <a:lnTo>
                    <a:pt x="2133" y="12"/>
                  </a:lnTo>
                  <a:lnTo>
                    <a:pt x="2132" y="12"/>
                  </a:lnTo>
                  <a:lnTo>
                    <a:pt x="2132" y="12"/>
                  </a:lnTo>
                  <a:lnTo>
                    <a:pt x="2130" y="12"/>
                  </a:lnTo>
                  <a:lnTo>
                    <a:pt x="2128" y="11"/>
                  </a:lnTo>
                  <a:lnTo>
                    <a:pt x="2127" y="9"/>
                  </a:lnTo>
                  <a:lnTo>
                    <a:pt x="2127" y="6"/>
                  </a:lnTo>
                  <a:lnTo>
                    <a:pt x="2127" y="3"/>
                  </a:lnTo>
                  <a:lnTo>
                    <a:pt x="2128" y="2"/>
                  </a:lnTo>
                  <a:lnTo>
                    <a:pt x="2130" y="0"/>
                  </a:lnTo>
                  <a:lnTo>
                    <a:pt x="2132" y="0"/>
                  </a:lnTo>
                  <a:lnTo>
                    <a:pt x="2132" y="0"/>
                  </a:lnTo>
                  <a:close/>
                  <a:moveTo>
                    <a:pt x="2153" y="0"/>
                  </a:moveTo>
                  <a:lnTo>
                    <a:pt x="2153" y="0"/>
                  </a:lnTo>
                  <a:lnTo>
                    <a:pt x="2154" y="0"/>
                  </a:lnTo>
                  <a:lnTo>
                    <a:pt x="2155" y="2"/>
                  </a:lnTo>
                  <a:lnTo>
                    <a:pt x="2157" y="3"/>
                  </a:lnTo>
                  <a:lnTo>
                    <a:pt x="2158" y="6"/>
                  </a:lnTo>
                  <a:lnTo>
                    <a:pt x="2157" y="9"/>
                  </a:lnTo>
                  <a:lnTo>
                    <a:pt x="2155" y="11"/>
                  </a:lnTo>
                  <a:lnTo>
                    <a:pt x="2154" y="12"/>
                  </a:lnTo>
                  <a:lnTo>
                    <a:pt x="2153" y="12"/>
                  </a:lnTo>
                  <a:lnTo>
                    <a:pt x="2153" y="12"/>
                  </a:lnTo>
                  <a:lnTo>
                    <a:pt x="2151" y="12"/>
                  </a:lnTo>
                  <a:lnTo>
                    <a:pt x="2149" y="11"/>
                  </a:lnTo>
                  <a:lnTo>
                    <a:pt x="2148" y="9"/>
                  </a:lnTo>
                  <a:lnTo>
                    <a:pt x="2147" y="6"/>
                  </a:lnTo>
                  <a:lnTo>
                    <a:pt x="2148" y="3"/>
                  </a:lnTo>
                  <a:lnTo>
                    <a:pt x="2149" y="2"/>
                  </a:lnTo>
                  <a:lnTo>
                    <a:pt x="2151" y="0"/>
                  </a:lnTo>
                  <a:lnTo>
                    <a:pt x="2153" y="0"/>
                  </a:lnTo>
                  <a:lnTo>
                    <a:pt x="2153" y="0"/>
                  </a:lnTo>
                  <a:close/>
                  <a:moveTo>
                    <a:pt x="2173" y="0"/>
                  </a:moveTo>
                  <a:lnTo>
                    <a:pt x="2173" y="0"/>
                  </a:lnTo>
                  <a:lnTo>
                    <a:pt x="2175" y="0"/>
                  </a:lnTo>
                  <a:lnTo>
                    <a:pt x="2176" y="2"/>
                  </a:lnTo>
                  <a:lnTo>
                    <a:pt x="2178" y="3"/>
                  </a:lnTo>
                  <a:lnTo>
                    <a:pt x="2178" y="6"/>
                  </a:lnTo>
                  <a:lnTo>
                    <a:pt x="2178" y="9"/>
                  </a:lnTo>
                  <a:lnTo>
                    <a:pt x="2176" y="11"/>
                  </a:lnTo>
                  <a:lnTo>
                    <a:pt x="2175" y="12"/>
                  </a:lnTo>
                  <a:lnTo>
                    <a:pt x="2173" y="12"/>
                  </a:lnTo>
                  <a:lnTo>
                    <a:pt x="2173" y="12"/>
                  </a:lnTo>
                  <a:lnTo>
                    <a:pt x="2170" y="12"/>
                  </a:lnTo>
                  <a:lnTo>
                    <a:pt x="2169" y="11"/>
                  </a:lnTo>
                  <a:lnTo>
                    <a:pt x="2168" y="9"/>
                  </a:lnTo>
                  <a:lnTo>
                    <a:pt x="2168" y="6"/>
                  </a:lnTo>
                  <a:lnTo>
                    <a:pt x="2168" y="3"/>
                  </a:lnTo>
                  <a:lnTo>
                    <a:pt x="2169" y="2"/>
                  </a:lnTo>
                  <a:lnTo>
                    <a:pt x="2170" y="0"/>
                  </a:lnTo>
                  <a:lnTo>
                    <a:pt x="2173" y="0"/>
                  </a:lnTo>
                  <a:lnTo>
                    <a:pt x="2173" y="0"/>
                  </a:lnTo>
                  <a:close/>
                  <a:moveTo>
                    <a:pt x="2193" y="0"/>
                  </a:moveTo>
                  <a:lnTo>
                    <a:pt x="2193" y="0"/>
                  </a:lnTo>
                  <a:lnTo>
                    <a:pt x="2195" y="0"/>
                  </a:lnTo>
                  <a:lnTo>
                    <a:pt x="2197" y="2"/>
                  </a:lnTo>
                  <a:lnTo>
                    <a:pt x="2198" y="3"/>
                  </a:lnTo>
                  <a:lnTo>
                    <a:pt x="2198" y="6"/>
                  </a:lnTo>
                  <a:lnTo>
                    <a:pt x="2198" y="9"/>
                  </a:lnTo>
                  <a:lnTo>
                    <a:pt x="2197" y="11"/>
                  </a:lnTo>
                  <a:lnTo>
                    <a:pt x="2195" y="12"/>
                  </a:lnTo>
                  <a:lnTo>
                    <a:pt x="2193" y="12"/>
                  </a:lnTo>
                  <a:lnTo>
                    <a:pt x="2193" y="12"/>
                  </a:lnTo>
                  <a:lnTo>
                    <a:pt x="2191" y="12"/>
                  </a:lnTo>
                  <a:lnTo>
                    <a:pt x="2190" y="11"/>
                  </a:lnTo>
                  <a:lnTo>
                    <a:pt x="2189" y="9"/>
                  </a:lnTo>
                  <a:lnTo>
                    <a:pt x="2189" y="6"/>
                  </a:lnTo>
                  <a:lnTo>
                    <a:pt x="2189" y="3"/>
                  </a:lnTo>
                  <a:lnTo>
                    <a:pt x="2190" y="2"/>
                  </a:lnTo>
                  <a:lnTo>
                    <a:pt x="2191" y="0"/>
                  </a:lnTo>
                  <a:lnTo>
                    <a:pt x="2193" y="0"/>
                  </a:lnTo>
                  <a:lnTo>
                    <a:pt x="2193" y="0"/>
                  </a:lnTo>
                  <a:close/>
                  <a:moveTo>
                    <a:pt x="2214" y="0"/>
                  </a:moveTo>
                  <a:lnTo>
                    <a:pt x="2214" y="0"/>
                  </a:lnTo>
                  <a:lnTo>
                    <a:pt x="2216" y="0"/>
                  </a:lnTo>
                  <a:lnTo>
                    <a:pt x="2217" y="2"/>
                  </a:lnTo>
                  <a:lnTo>
                    <a:pt x="2218" y="3"/>
                  </a:lnTo>
                  <a:lnTo>
                    <a:pt x="2219" y="6"/>
                  </a:lnTo>
                  <a:lnTo>
                    <a:pt x="2218" y="9"/>
                  </a:lnTo>
                  <a:lnTo>
                    <a:pt x="2217" y="11"/>
                  </a:lnTo>
                  <a:lnTo>
                    <a:pt x="2216" y="12"/>
                  </a:lnTo>
                  <a:lnTo>
                    <a:pt x="2214" y="12"/>
                  </a:lnTo>
                  <a:lnTo>
                    <a:pt x="2214" y="12"/>
                  </a:lnTo>
                  <a:lnTo>
                    <a:pt x="2212" y="12"/>
                  </a:lnTo>
                  <a:lnTo>
                    <a:pt x="2211" y="11"/>
                  </a:lnTo>
                  <a:lnTo>
                    <a:pt x="2209" y="9"/>
                  </a:lnTo>
                  <a:lnTo>
                    <a:pt x="2208" y="6"/>
                  </a:lnTo>
                  <a:lnTo>
                    <a:pt x="2209" y="3"/>
                  </a:lnTo>
                  <a:lnTo>
                    <a:pt x="2211" y="2"/>
                  </a:lnTo>
                  <a:lnTo>
                    <a:pt x="2212" y="0"/>
                  </a:lnTo>
                  <a:lnTo>
                    <a:pt x="2214" y="0"/>
                  </a:lnTo>
                  <a:lnTo>
                    <a:pt x="2214" y="0"/>
                  </a:lnTo>
                  <a:close/>
                  <a:moveTo>
                    <a:pt x="2234" y="0"/>
                  </a:moveTo>
                  <a:lnTo>
                    <a:pt x="2234" y="0"/>
                  </a:lnTo>
                  <a:lnTo>
                    <a:pt x="2236" y="0"/>
                  </a:lnTo>
                  <a:lnTo>
                    <a:pt x="2238" y="2"/>
                  </a:lnTo>
                  <a:lnTo>
                    <a:pt x="2239" y="3"/>
                  </a:lnTo>
                  <a:lnTo>
                    <a:pt x="2239" y="6"/>
                  </a:lnTo>
                  <a:lnTo>
                    <a:pt x="2239" y="9"/>
                  </a:lnTo>
                  <a:lnTo>
                    <a:pt x="2238" y="11"/>
                  </a:lnTo>
                  <a:lnTo>
                    <a:pt x="2236" y="12"/>
                  </a:lnTo>
                  <a:lnTo>
                    <a:pt x="2234" y="12"/>
                  </a:lnTo>
                  <a:lnTo>
                    <a:pt x="2234" y="12"/>
                  </a:lnTo>
                  <a:lnTo>
                    <a:pt x="2233" y="12"/>
                  </a:lnTo>
                  <a:lnTo>
                    <a:pt x="2230" y="11"/>
                  </a:lnTo>
                  <a:lnTo>
                    <a:pt x="2229" y="9"/>
                  </a:lnTo>
                  <a:lnTo>
                    <a:pt x="2229" y="6"/>
                  </a:lnTo>
                  <a:lnTo>
                    <a:pt x="2229" y="3"/>
                  </a:lnTo>
                  <a:lnTo>
                    <a:pt x="2230" y="2"/>
                  </a:lnTo>
                  <a:lnTo>
                    <a:pt x="2233" y="0"/>
                  </a:lnTo>
                  <a:lnTo>
                    <a:pt x="2234" y="0"/>
                  </a:lnTo>
                  <a:lnTo>
                    <a:pt x="2234" y="0"/>
                  </a:lnTo>
                  <a:close/>
                  <a:moveTo>
                    <a:pt x="2255" y="0"/>
                  </a:moveTo>
                  <a:lnTo>
                    <a:pt x="2255" y="0"/>
                  </a:lnTo>
                  <a:lnTo>
                    <a:pt x="2256" y="0"/>
                  </a:lnTo>
                  <a:lnTo>
                    <a:pt x="2258" y="2"/>
                  </a:lnTo>
                  <a:lnTo>
                    <a:pt x="2260" y="3"/>
                  </a:lnTo>
                  <a:lnTo>
                    <a:pt x="2260" y="6"/>
                  </a:lnTo>
                  <a:lnTo>
                    <a:pt x="2260" y="9"/>
                  </a:lnTo>
                  <a:lnTo>
                    <a:pt x="2258" y="11"/>
                  </a:lnTo>
                  <a:lnTo>
                    <a:pt x="2256" y="12"/>
                  </a:lnTo>
                  <a:lnTo>
                    <a:pt x="2255" y="12"/>
                  </a:lnTo>
                  <a:lnTo>
                    <a:pt x="2255" y="12"/>
                  </a:lnTo>
                  <a:lnTo>
                    <a:pt x="2252" y="12"/>
                  </a:lnTo>
                  <a:lnTo>
                    <a:pt x="2251" y="11"/>
                  </a:lnTo>
                  <a:lnTo>
                    <a:pt x="2250" y="9"/>
                  </a:lnTo>
                  <a:lnTo>
                    <a:pt x="2250" y="6"/>
                  </a:lnTo>
                  <a:lnTo>
                    <a:pt x="2250" y="3"/>
                  </a:lnTo>
                  <a:lnTo>
                    <a:pt x="2251" y="2"/>
                  </a:lnTo>
                  <a:lnTo>
                    <a:pt x="2252" y="0"/>
                  </a:lnTo>
                  <a:lnTo>
                    <a:pt x="2255" y="0"/>
                  </a:lnTo>
                  <a:lnTo>
                    <a:pt x="2255" y="0"/>
                  </a:lnTo>
                  <a:close/>
                  <a:moveTo>
                    <a:pt x="2276" y="0"/>
                  </a:moveTo>
                  <a:lnTo>
                    <a:pt x="2276" y="0"/>
                  </a:lnTo>
                  <a:lnTo>
                    <a:pt x="2277" y="0"/>
                  </a:lnTo>
                  <a:lnTo>
                    <a:pt x="2278" y="2"/>
                  </a:lnTo>
                  <a:lnTo>
                    <a:pt x="2279" y="3"/>
                  </a:lnTo>
                  <a:lnTo>
                    <a:pt x="2281" y="6"/>
                  </a:lnTo>
                  <a:lnTo>
                    <a:pt x="2279" y="9"/>
                  </a:lnTo>
                  <a:lnTo>
                    <a:pt x="2278" y="11"/>
                  </a:lnTo>
                  <a:lnTo>
                    <a:pt x="2277" y="12"/>
                  </a:lnTo>
                  <a:lnTo>
                    <a:pt x="2276" y="12"/>
                  </a:lnTo>
                  <a:lnTo>
                    <a:pt x="2276" y="12"/>
                  </a:lnTo>
                  <a:lnTo>
                    <a:pt x="2273" y="12"/>
                  </a:lnTo>
                  <a:lnTo>
                    <a:pt x="2272" y="11"/>
                  </a:lnTo>
                  <a:lnTo>
                    <a:pt x="2271" y="9"/>
                  </a:lnTo>
                  <a:lnTo>
                    <a:pt x="2269" y="6"/>
                  </a:lnTo>
                  <a:lnTo>
                    <a:pt x="2271" y="3"/>
                  </a:lnTo>
                  <a:lnTo>
                    <a:pt x="2272" y="2"/>
                  </a:lnTo>
                  <a:lnTo>
                    <a:pt x="2273" y="0"/>
                  </a:lnTo>
                  <a:lnTo>
                    <a:pt x="2276" y="0"/>
                  </a:lnTo>
                  <a:lnTo>
                    <a:pt x="2276" y="0"/>
                  </a:lnTo>
                  <a:close/>
                  <a:moveTo>
                    <a:pt x="2295" y="0"/>
                  </a:moveTo>
                  <a:lnTo>
                    <a:pt x="2295" y="0"/>
                  </a:lnTo>
                  <a:lnTo>
                    <a:pt x="2298" y="0"/>
                  </a:lnTo>
                  <a:lnTo>
                    <a:pt x="2299" y="2"/>
                  </a:lnTo>
                  <a:lnTo>
                    <a:pt x="2300" y="3"/>
                  </a:lnTo>
                  <a:lnTo>
                    <a:pt x="2300" y="6"/>
                  </a:lnTo>
                  <a:lnTo>
                    <a:pt x="2300" y="9"/>
                  </a:lnTo>
                  <a:lnTo>
                    <a:pt x="2299" y="11"/>
                  </a:lnTo>
                  <a:lnTo>
                    <a:pt x="2298" y="12"/>
                  </a:lnTo>
                  <a:lnTo>
                    <a:pt x="2295" y="12"/>
                  </a:lnTo>
                  <a:lnTo>
                    <a:pt x="2295" y="12"/>
                  </a:lnTo>
                  <a:lnTo>
                    <a:pt x="2294" y="12"/>
                  </a:lnTo>
                  <a:lnTo>
                    <a:pt x="2292" y="11"/>
                  </a:lnTo>
                  <a:lnTo>
                    <a:pt x="2290" y="9"/>
                  </a:lnTo>
                  <a:lnTo>
                    <a:pt x="2290" y="6"/>
                  </a:lnTo>
                  <a:lnTo>
                    <a:pt x="2290" y="3"/>
                  </a:lnTo>
                  <a:lnTo>
                    <a:pt x="2292" y="2"/>
                  </a:lnTo>
                  <a:lnTo>
                    <a:pt x="2294" y="0"/>
                  </a:lnTo>
                  <a:lnTo>
                    <a:pt x="2295" y="0"/>
                  </a:lnTo>
                  <a:lnTo>
                    <a:pt x="2295" y="0"/>
                  </a:lnTo>
                  <a:close/>
                  <a:moveTo>
                    <a:pt x="2316" y="0"/>
                  </a:moveTo>
                  <a:lnTo>
                    <a:pt x="2316" y="0"/>
                  </a:lnTo>
                  <a:lnTo>
                    <a:pt x="2317" y="0"/>
                  </a:lnTo>
                  <a:lnTo>
                    <a:pt x="2320" y="2"/>
                  </a:lnTo>
                  <a:lnTo>
                    <a:pt x="2321" y="3"/>
                  </a:lnTo>
                  <a:lnTo>
                    <a:pt x="2321" y="6"/>
                  </a:lnTo>
                  <a:lnTo>
                    <a:pt x="2321" y="9"/>
                  </a:lnTo>
                  <a:lnTo>
                    <a:pt x="2320" y="11"/>
                  </a:lnTo>
                  <a:lnTo>
                    <a:pt x="2317" y="12"/>
                  </a:lnTo>
                  <a:lnTo>
                    <a:pt x="2316" y="12"/>
                  </a:lnTo>
                  <a:lnTo>
                    <a:pt x="2316" y="12"/>
                  </a:lnTo>
                  <a:lnTo>
                    <a:pt x="2314" y="12"/>
                  </a:lnTo>
                  <a:lnTo>
                    <a:pt x="2312" y="11"/>
                  </a:lnTo>
                  <a:lnTo>
                    <a:pt x="2311" y="9"/>
                  </a:lnTo>
                  <a:lnTo>
                    <a:pt x="2311" y="6"/>
                  </a:lnTo>
                  <a:lnTo>
                    <a:pt x="2311" y="3"/>
                  </a:lnTo>
                  <a:lnTo>
                    <a:pt x="2312" y="2"/>
                  </a:lnTo>
                  <a:lnTo>
                    <a:pt x="2314" y="0"/>
                  </a:lnTo>
                  <a:lnTo>
                    <a:pt x="2316" y="0"/>
                  </a:lnTo>
                  <a:lnTo>
                    <a:pt x="2316" y="0"/>
                  </a:lnTo>
                  <a:close/>
                  <a:moveTo>
                    <a:pt x="2337" y="0"/>
                  </a:moveTo>
                  <a:lnTo>
                    <a:pt x="2337" y="0"/>
                  </a:lnTo>
                  <a:lnTo>
                    <a:pt x="2338" y="0"/>
                  </a:lnTo>
                  <a:lnTo>
                    <a:pt x="2341" y="2"/>
                  </a:lnTo>
                  <a:lnTo>
                    <a:pt x="2341" y="3"/>
                  </a:lnTo>
                  <a:lnTo>
                    <a:pt x="2342" y="6"/>
                  </a:lnTo>
                  <a:lnTo>
                    <a:pt x="2341" y="9"/>
                  </a:lnTo>
                  <a:lnTo>
                    <a:pt x="2341" y="11"/>
                  </a:lnTo>
                  <a:lnTo>
                    <a:pt x="2338" y="12"/>
                  </a:lnTo>
                  <a:lnTo>
                    <a:pt x="2337" y="12"/>
                  </a:lnTo>
                  <a:lnTo>
                    <a:pt x="2337" y="12"/>
                  </a:lnTo>
                  <a:lnTo>
                    <a:pt x="2334" y="12"/>
                  </a:lnTo>
                  <a:lnTo>
                    <a:pt x="2333" y="11"/>
                  </a:lnTo>
                  <a:lnTo>
                    <a:pt x="2332" y="9"/>
                  </a:lnTo>
                  <a:lnTo>
                    <a:pt x="2331" y="6"/>
                  </a:lnTo>
                  <a:lnTo>
                    <a:pt x="2332" y="3"/>
                  </a:lnTo>
                  <a:lnTo>
                    <a:pt x="2333" y="2"/>
                  </a:lnTo>
                  <a:lnTo>
                    <a:pt x="2334" y="0"/>
                  </a:lnTo>
                  <a:lnTo>
                    <a:pt x="2337" y="0"/>
                  </a:lnTo>
                  <a:lnTo>
                    <a:pt x="2337" y="0"/>
                  </a:lnTo>
                  <a:close/>
                  <a:moveTo>
                    <a:pt x="2357" y="0"/>
                  </a:moveTo>
                  <a:lnTo>
                    <a:pt x="2357" y="0"/>
                  </a:lnTo>
                  <a:lnTo>
                    <a:pt x="2359" y="0"/>
                  </a:lnTo>
                  <a:lnTo>
                    <a:pt x="2360" y="2"/>
                  </a:lnTo>
                  <a:lnTo>
                    <a:pt x="2361" y="3"/>
                  </a:lnTo>
                  <a:lnTo>
                    <a:pt x="2361" y="6"/>
                  </a:lnTo>
                  <a:lnTo>
                    <a:pt x="2361" y="9"/>
                  </a:lnTo>
                  <a:lnTo>
                    <a:pt x="2360" y="11"/>
                  </a:lnTo>
                  <a:lnTo>
                    <a:pt x="2359" y="12"/>
                  </a:lnTo>
                  <a:lnTo>
                    <a:pt x="2357" y="12"/>
                  </a:lnTo>
                  <a:lnTo>
                    <a:pt x="2357" y="12"/>
                  </a:lnTo>
                  <a:lnTo>
                    <a:pt x="2355" y="12"/>
                  </a:lnTo>
                  <a:lnTo>
                    <a:pt x="2353" y="11"/>
                  </a:lnTo>
                  <a:lnTo>
                    <a:pt x="2352" y="9"/>
                  </a:lnTo>
                  <a:lnTo>
                    <a:pt x="2352" y="6"/>
                  </a:lnTo>
                  <a:lnTo>
                    <a:pt x="2352" y="3"/>
                  </a:lnTo>
                  <a:lnTo>
                    <a:pt x="2353" y="2"/>
                  </a:lnTo>
                  <a:lnTo>
                    <a:pt x="2355" y="0"/>
                  </a:lnTo>
                  <a:lnTo>
                    <a:pt x="2357" y="0"/>
                  </a:lnTo>
                  <a:lnTo>
                    <a:pt x="2357" y="0"/>
                  </a:lnTo>
                  <a:close/>
                  <a:moveTo>
                    <a:pt x="2377" y="0"/>
                  </a:moveTo>
                  <a:lnTo>
                    <a:pt x="2377" y="0"/>
                  </a:lnTo>
                  <a:lnTo>
                    <a:pt x="2379" y="0"/>
                  </a:lnTo>
                  <a:lnTo>
                    <a:pt x="2381" y="2"/>
                  </a:lnTo>
                  <a:lnTo>
                    <a:pt x="2382" y="3"/>
                  </a:lnTo>
                  <a:lnTo>
                    <a:pt x="2382" y="6"/>
                  </a:lnTo>
                  <a:lnTo>
                    <a:pt x="2382" y="9"/>
                  </a:lnTo>
                  <a:lnTo>
                    <a:pt x="2381" y="11"/>
                  </a:lnTo>
                  <a:lnTo>
                    <a:pt x="2379" y="12"/>
                  </a:lnTo>
                  <a:lnTo>
                    <a:pt x="2377" y="12"/>
                  </a:lnTo>
                  <a:lnTo>
                    <a:pt x="2377" y="12"/>
                  </a:lnTo>
                  <a:lnTo>
                    <a:pt x="2375" y="12"/>
                  </a:lnTo>
                  <a:lnTo>
                    <a:pt x="2374" y="11"/>
                  </a:lnTo>
                  <a:lnTo>
                    <a:pt x="2372" y="9"/>
                  </a:lnTo>
                  <a:lnTo>
                    <a:pt x="2372" y="6"/>
                  </a:lnTo>
                  <a:lnTo>
                    <a:pt x="2372" y="3"/>
                  </a:lnTo>
                  <a:lnTo>
                    <a:pt x="2374" y="2"/>
                  </a:lnTo>
                  <a:lnTo>
                    <a:pt x="2375" y="0"/>
                  </a:lnTo>
                  <a:lnTo>
                    <a:pt x="2377" y="0"/>
                  </a:lnTo>
                  <a:lnTo>
                    <a:pt x="2377" y="0"/>
                  </a:lnTo>
                  <a:close/>
                  <a:moveTo>
                    <a:pt x="2398" y="0"/>
                  </a:moveTo>
                  <a:lnTo>
                    <a:pt x="2398" y="0"/>
                  </a:lnTo>
                  <a:lnTo>
                    <a:pt x="2399" y="0"/>
                  </a:lnTo>
                  <a:lnTo>
                    <a:pt x="2402" y="2"/>
                  </a:lnTo>
                  <a:lnTo>
                    <a:pt x="2402" y="3"/>
                  </a:lnTo>
                  <a:lnTo>
                    <a:pt x="2403" y="6"/>
                  </a:lnTo>
                  <a:lnTo>
                    <a:pt x="2402" y="9"/>
                  </a:lnTo>
                  <a:lnTo>
                    <a:pt x="2402" y="11"/>
                  </a:lnTo>
                  <a:lnTo>
                    <a:pt x="2399" y="12"/>
                  </a:lnTo>
                  <a:lnTo>
                    <a:pt x="2398" y="12"/>
                  </a:lnTo>
                  <a:lnTo>
                    <a:pt x="2398" y="12"/>
                  </a:lnTo>
                  <a:lnTo>
                    <a:pt x="2396" y="12"/>
                  </a:lnTo>
                  <a:lnTo>
                    <a:pt x="2395" y="11"/>
                  </a:lnTo>
                  <a:lnTo>
                    <a:pt x="2393" y="9"/>
                  </a:lnTo>
                  <a:lnTo>
                    <a:pt x="2392" y="6"/>
                  </a:lnTo>
                  <a:lnTo>
                    <a:pt x="2393" y="3"/>
                  </a:lnTo>
                  <a:lnTo>
                    <a:pt x="2395" y="2"/>
                  </a:lnTo>
                  <a:lnTo>
                    <a:pt x="2396" y="0"/>
                  </a:lnTo>
                  <a:lnTo>
                    <a:pt x="2398" y="0"/>
                  </a:lnTo>
                  <a:lnTo>
                    <a:pt x="2398" y="0"/>
                  </a:lnTo>
                  <a:close/>
                  <a:moveTo>
                    <a:pt x="2418" y="0"/>
                  </a:moveTo>
                  <a:lnTo>
                    <a:pt x="2418" y="0"/>
                  </a:lnTo>
                  <a:lnTo>
                    <a:pt x="2420" y="0"/>
                  </a:lnTo>
                  <a:lnTo>
                    <a:pt x="2421" y="2"/>
                  </a:lnTo>
                  <a:lnTo>
                    <a:pt x="2423" y="3"/>
                  </a:lnTo>
                  <a:lnTo>
                    <a:pt x="2423" y="6"/>
                  </a:lnTo>
                  <a:lnTo>
                    <a:pt x="2423" y="9"/>
                  </a:lnTo>
                  <a:lnTo>
                    <a:pt x="2421" y="11"/>
                  </a:lnTo>
                  <a:lnTo>
                    <a:pt x="2420" y="12"/>
                  </a:lnTo>
                  <a:lnTo>
                    <a:pt x="2418" y="12"/>
                  </a:lnTo>
                  <a:lnTo>
                    <a:pt x="2418" y="12"/>
                  </a:lnTo>
                  <a:lnTo>
                    <a:pt x="2417" y="12"/>
                  </a:lnTo>
                  <a:lnTo>
                    <a:pt x="2414" y="11"/>
                  </a:lnTo>
                  <a:lnTo>
                    <a:pt x="2413" y="9"/>
                  </a:lnTo>
                  <a:lnTo>
                    <a:pt x="2413" y="6"/>
                  </a:lnTo>
                  <a:lnTo>
                    <a:pt x="2413" y="3"/>
                  </a:lnTo>
                  <a:lnTo>
                    <a:pt x="2414" y="2"/>
                  </a:lnTo>
                  <a:lnTo>
                    <a:pt x="2417" y="0"/>
                  </a:lnTo>
                  <a:lnTo>
                    <a:pt x="2418" y="0"/>
                  </a:lnTo>
                  <a:lnTo>
                    <a:pt x="2418" y="0"/>
                  </a:lnTo>
                  <a:close/>
                  <a:moveTo>
                    <a:pt x="2439" y="0"/>
                  </a:moveTo>
                  <a:lnTo>
                    <a:pt x="2439" y="0"/>
                  </a:lnTo>
                  <a:lnTo>
                    <a:pt x="2441" y="0"/>
                  </a:lnTo>
                  <a:lnTo>
                    <a:pt x="2442" y="2"/>
                  </a:lnTo>
                  <a:lnTo>
                    <a:pt x="2444" y="3"/>
                  </a:lnTo>
                  <a:lnTo>
                    <a:pt x="2444" y="6"/>
                  </a:lnTo>
                  <a:lnTo>
                    <a:pt x="2444" y="9"/>
                  </a:lnTo>
                  <a:lnTo>
                    <a:pt x="2442" y="11"/>
                  </a:lnTo>
                  <a:lnTo>
                    <a:pt x="2441" y="12"/>
                  </a:lnTo>
                  <a:lnTo>
                    <a:pt x="2439" y="12"/>
                  </a:lnTo>
                  <a:lnTo>
                    <a:pt x="2439" y="12"/>
                  </a:lnTo>
                  <a:lnTo>
                    <a:pt x="2436" y="12"/>
                  </a:lnTo>
                  <a:lnTo>
                    <a:pt x="2435" y="11"/>
                  </a:lnTo>
                  <a:lnTo>
                    <a:pt x="2434" y="9"/>
                  </a:lnTo>
                  <a:lnTo>
                    <a:pt x="2434" y="6"/>
                  </a:lnTo>
                  <a:lnTo>
                    <a:pt x="2434" y="3"/>
                  </a:lnTo>
                  <a:lnTo>
                    <a:pt x="2435" y="2"/>
                  </a:lnTo>
                  <a:lnTo>
                    <a:pt x="2436" y="0"/>
                  </a:lnTo>
                  <a:lnTo>
                    <a:pt x="2439" y="0"/>
                  </a:lnTo>
                  <a:lnTo>
                    <a:pt x="2439" y="0"/>
                  </a:lnTo>
                  <a:close/>
                  <a:moveTo>
                    <a:pt x="2459" y="0"/>
                  </a:moveTo>
                  <a:lnTo>
                    <a:pt x="2459" y="0"/>
                  </a:lnTo>
                  <a:lnTo>
                    <a:pt x="2461" y="0"/>
                  </a:lnTo>
                  <a:lnTo>
                    <a:pt x="2463" y="2"/>
                  </a:lnTo>
                  <a:lnTo>
                    <a:pt x="2463" y="3"/>
                  </a:lnTo>
                  <a:lnTo>
                    <a:pt x="2464" y="6"/>
                  </a:lnTo>
                  <a:lnTo>
                    <a:pt x="2463" y="9"/>
                  </a:lnTo>
                  <a:lnTo>
                    <a:pt x="2463" y="11"/>
                  </a:lnTo>
                  <a:lnTo>
                    <a:pt x="2461" y="12"/>
                  </a:lnTo>
                  <a:lnTo>
                    <a:pt x="2459" y="12"/>
                  </a:lnTo>
                  <a:lnTo>
                    <a:pt x="2459" y="12"/>
                  </a:lnTo>
                  <a:lnTo>
                    <a:pt x="2457" y="12"/>
                  </a:lnTo>
                  <a:lnTo>
                    <a:pt x="2456" y="11"/>
                  </a:lnTo>
                  <a:lnTo>
                    <a:pt x="2455" y="9"/>
                  </a:lnTo>
                  <a:lnTo>
                    <a:pt x="2453" y="6"/>
                  </a:lnTo>
                  <a:lnTo>
                    <a:pt x="2455" y="3"/>
                  </a:lnTo>
                  <a:lnTo>
                    <a:pt x="2456" y="2"/>
                  </a:lnTo>
                  <a:lnTo>
                    <a:pt x="2457" y="0"/>
                  </a:lnTo>
                  <a:lnTo>
                    <a:pt x="2459" y="0"/>
                  </a:lnTo>
                  <a:lnTo>
                    <a:pt x="2459" y="0"/>
                  </a:lnTo>
                  <a:close/>
                  <a:moveTo>
                    <a:pt x="2479" y="0"/>
                  </a:moveTo>
                  <a:lnTo>
                    <a:pt x="2479" y="0"/>
                  </a:lnTo>
                  <a:lnTo>
                    <a:pt x="2482" y="0"/>
                  </a:lnTo>
                  <a:lnTo>
                    <a:pt x="2483" y="2"/>
                  </a:lnTo>
                  <a:lnTo>
                    <a:pt x="2484" y="3"/>
                  </a:lnTo>
                  <a:lnTo>
                    <a:pt x="2484" y="6"/>
                  </a:lnTo>
                  <a:lnTo>
                    <a:pt x="2484" y="9"/>
                  </a:lnTo>
                  <a:lnTo>
                    <a:pt x="2483" y="11"/>
                  </a:lnTo>
                  <a:lnTo>
                    <a:pt x="2482" y="12"/>
                  </a:lnTo>
                  <a:lnTo>
                    <a:pt x="2479" y="12"/>
                  </a:lnTo>
                  <a:lnTo>
                    <a:pt x="2479" y="12"/>
                  </a:lnTo>
                  <a:lnTo>
                    <a:pt x="2478" y="12"/>
                  </a:lnTo>
                  <a:lnTo>
                    <a:pt x="2475" y="11"/>
                  </a:lnTo>
                  <a:lnTo>
                    <a:pt x="2474" y="9"/>
                  </a:lnTo>
                  <a:lnTo>
                    <a:pt x="2474" y="6"/>
                  </a:lnTo>
                  <a:lnTo>
                    <a:pt x="2474" y="3"/>
                  </a:lnTo>
                  <a:lnTo>
                    <a:pt x="2475" y="2"/>
                  </a:lnTo>
                  <a:lnTo>
                    <a:pt x="2478" y="0"/>
                  </a:lnTo>
                  <a:lnTo>
                    <a:pt x="2479" y="0"/>
                  </a:lnTo>
                  <a:lnTo>
                    <a:pt x="2479" y="0"/>
                  </a:lnTo>
                  <a:close/>
                  <a:moveTo>
                    <a:pt x="2500" y="0"/>
                  </a:moveTo>
                  <a:lnTo>
                    <a:pt x="2500" y="0"/>
                  </a:lnTo>
                  <a:lnTo>
                    <a:pt x="2502" y="0"/>
                  </a:lnTo>
                  <a:lnTo>
                    <a:pt x="2504" y="2"/>
                  </a:lnTo>
                  <a:lnTo>
                    <a:pt x="2505" y="3"/>
                  </a:lnTo>
                  <a:lnTo>
                    <a:pt x="2505" y="6"/>
                  </a:lnTo>
                  <a:lnTo>
                    <a:pt x="2505" y="9"/>
                  </a:lnTo>
                  <a:lnTo>
                    <a:pt x="2504" y="11"/>
                  </a:lnTo>
                  <a:lnTo>
                    <a:pt x="2502" y="12"/>
                  </a:lnTo>
                  <a:lnTo>
                    <a:pt x="2500" y="12"/>
                  </a:lnTo>
                  <a:lnTo>
                    <a:pt x="2500" y="12"/>
                  </a:lnTo>
                  <a:lnTo>
                    <a:pt x="2498" y="12"/>
                  </a:lnTo>
                  <a:lnTo>
                    <a:pt x="2496" y="11"/>
                  </a:lnTo>
                  <a:lnTo>
                    <a:pt x="2495" y="9"/>
                  </a:lnTo>
                  <a:lnTo>
                    <a:pt x="2495" y="6"/>
                  </a:lnTo>
                  <a:lnTo>
                    <a:pt x="2495" y="3"/>
                  </a:lnTo>
                  <a:lnTo>
                    <a:pt x="2496" y="2"/>
                  </a:lnTo>
                  <a:lnTo>
                    <a:pt x="2498" y="0"/>
                  </a:lnTo>
                  <a:lnTo>
                    <a:pt x="2500" y="0"/>
                  </a:lnTo>
                  <a:lnTo>
                    <a:pt x="2500" y="0"/>
                  </a:lnTo>
                  <a:close/>
                  <a:moveTo>
                    <a:pt x="2521" y="0"/>
                  </a:moveTo>
                  <a:lnTo>
                    <a:pt x="2521" y="0"/>
                  </a:lnTo>
                  <a:lnTo>
                    <a:pt x="2522" y="0"/>
                  </a:lnTo>
                  <a:lnTo>
                    <a:pt x="2524" y="2"/>
                  </a:lnTo>
                  <a:lnTo>
                    <a:pt x="2524" y="3"/>
                  </a:lnTo>
                  <a:lnTo>
                    <a:pt x="2526" y="6"/>
                  </a:lnTo>
                  <a:lnTo>
                    <a:pt x="2524" y="9"/>
                  </a:lnTo>
                  <a:lnTo>
                    <a:pt x="2524" y="11"/>
                  </a:lnTo>
                  <a:lnTo>
                    <a:pt x="2522" y="12"/>
                  </a:lnTo>
                  <a:lnTo>
                    <a:pt x="2521" y="12"/>
                  </a:lnTo>
                  <a:lnTo>
                    <a:pt x="2521" y="12"/>
                  </a:lnTo>
                  <a:lnTo>
                    <a:pt x="2518" y="12"/>
                  </a:lnTo>
                  <a:lnTo>
                    <a:pt x="2517" y="11"/>
                  </a:lnTo>
                  <a:lnTo>
                    <a:pt x="2516" y="9"/>
                  </a:lnTo>
                  <a:lnTo>
                    <a:pt x="2515" y="6"/>
                  </a:lnTo>
                  <a:lnTo>
                    <a:pt x="2516" y="3"/>
                  </a:lnTo>
                  <a:lnTo>
                    <a:pt x="2517" y="2"/>
                  </a:lnTo>
                  <a:lnTo>
                    <a:pt x="2518" y="0"/>
                  </a:lnTo>
                  <a:lnTo>
                    <a:pt x="2521" y="0"/>
                  </a:lnTo>
                  <a:lnTo>
                    <a:pt x="2521" y="0"/>
                  </a:lnTo>
                  <a:close/>
                  <a:moveTo>
                    <a:pt x="2540" y="0"/>
                  </a:moveTo>
                  <a:lnTo>
                    <a:pt x="2540" y="0"/>
                  </a:lnTo>
                  <a:lnTo>
                    <a:pt x="2543" y="0"/>
                  </a:lnTo>
                  <a:lnTo>
                    <a:pt x="2544" y="2"/>
                  </a:lnTo>
                  <a:lnTo>
                    <a:pt x="2545" y="3"/>
                  </a:lnTo>
                  <a:lnTo>
                    <a:pt x="2547" y="6"/>
                  </a:lnTo>
                  <a:lnTo>
                    <a:pt x="2545" y="9"/>
                  </a:lnTo>
                  <a:lnTo>
                    <a:pt x="2544" y="11"/>
                  </a:lnTo>
                  <a:lnTo>
                    <a:pt x="2543" y="12"/>
                  </a:lnTo>
                  <a:lnTo>
                    <a:pt x="2540" y="12"/>
                  </a:lnTo>
                  <a:lnTo>
                    <a:pt x="2540" y="12"/>
                  </a:lnTo>
                  <a:lnTo>
                    <a:pt x="2539" y="12"/>
                  </a:lnTo>
                  <a:lnTo>
                    <a:pt x="2537" y="11"/>
                  </a:lnTo>
                  <a:lnTo>
                    <a:pt x="2536" y="9"/>
                  </a:lnTo>
                  <a:lnTo>
                    <a:pt x="2536" y="6"/>
                  </a:lnTo>
                  <a:lnTo>
                    <a:pt x="2536" y="3"/>
                  </a:lnTo>
                  <a:lnTo>
                    <a:pt x="2537" y="2"/>
                  </a:lnTo>
                  <a:lnTo>
                    <a:pt x="2539" y="0"/>
                  </a:lnTo>
                  <a:lnTo>
                    <a:pt x="2540" y="0"/>
                  </a:lnTo>
                  <a:lnTo>
                    <a:pt x="2540" y="0"/>
                  </a:lnTo>
                  <a:close/>
                  <a:moveTo>
                    <a:pt x="2561" y="0"/>
                  </a:moveTo>
                  <a:lnTo>
                    <a:pt x="2561" y="0"/>
                  </a:lnTo>
                  <a:lnTo>
                    <a:pt x="2564" y="0"/>
                  </a:lnTo>
                  <a:lnTo>
                    <a:pt x="2565" y="2"/>
                  </a:lnTo>
                  <a:lnTo>
                    <a:pt x="2566" y="3"/>
                  </a:lnTo>
                  <a:lnTo>
                    <a:pt x="2566" y="6"/>
                  </a:lnTo>
                  <a:lnTo>
                    <a:pt x="2566" y="9"/>
                  </a:lnTo>
                  <a:lnTo>
                    <a:pt x="2565" y="11"/>
                  </a:lnTo>
                  <a:lnTo>
                    <a:pt x="2564" y="12"/>
                  </a:lnTo>
                  <a:lnTo>
                    <a:pt x="2561" y="12"/>
                  </a:lnTo>
                  <a:lnTo>
                    <a:pt x="2561" y="12"/>
                  </a:lnTo>
                  <a:lnTo>
                    <a:pt x="2559" y="12"/>
                  </a:lnTo>
                  <a:lnTo>
                    <a:pt x="2558" y="11"/>
                  </a:lnTo>
                  <a:lnTo>
                    <a:pt x="2556" y="9"/>
                  </a:lnTo>
                  <a:lnTo>
                    <a:pt x="2556" y="6"/>
                  </a:lnTo>
                  <a:lnTo>
                    <a:pt x="2556" y="3"/>
                  </a:lnTo>
                  <a:lnTo>
                    <a:pt x="2558" y="2"/>
                  </a:lnTo>
                  <a:lnTo>
                    <a:pt x="2559" y="0"/>
                  </a:lnTo>
                  <a:lnTo>
                    <a:pt x="2561" y="0"/>
                  </a:lnTo>
                  <a:lnTo>
                    <a:pt x="2561" y="0"/>
                  </a:lnTo>
                  <a:close/>
                  <a:moveTo>
                    <a:pt x="2582" y="0"/>
                  </a:moveTo>
                  <a:lnTo>
                    <a:pt x="2582" y="0"/>
                  </a:lnTo>
                  <a:lnTo>
                    <a:pt x="2583" y="0"/>
                  </a:lnTo>
                  <a:lnTo>
                    <a:pt x="2586" y="2"/>
                  </a:lnTo>
                  <a:lnTo>
                    <a:pt x="2586" y="3"/>
                  </a:lnTo>
                  <a:lnTo>
                    <a:pt x="2587" y="6"/>
                  </a:lnTo>
                  <a:lnTo>
                    <a:pt x="2586" y="9"/>
                  </a:lnTo>
                  <a:lnTo>
                    <a:pt x="2586" y="11"/>
                  </a:lnTo>
                  <a:lnTo>
                    <a:pt x="2583" y="12"/>
                  </a:lnTo>
                  <a:lnTo>
                    <a:pt x="2582" y="12"/>
                  </a:lnTo>
                  <a:lnTo>
                    <a:pt x="2582" y="12"/>
                  </a:lnTo>
                  <a:lnTo>
                    <a:pt x="2580" y="12"/>
                  </a:lnTo>
                  <a:lnTo>
                    <a:pt x="2578" y="11"/>
                  </a:lnTo>
                  <a:lnTo>
                    <a:pt x="2577" y="9"/>
                  </a:lnTo>
                  <a:lnTo>
                    <a:pt x="2577" y="6"/>
                  </a:lnTo>
                  <a:lnTo>
                    <a:pt x="2577" y="3"/>
                  </a:lnTo>
                  <a:lnTo>
                    <a:pt x="2578" y="2"/>
                  </a:lnTo>
                  <a:lnTo>
                    <a:pt x="2580" y="0"/>
                  </a:lnTo>
                  <a:lnTo>
                    <a:pt x="2582" y="0"/>
                  </a:lnTo>
                  <a:lnTo>
                    <a:pt x="2582" y="0"/>
                  </a:lnTo>
                  <a:close/>
                  <a:moveTo>
                    <a:pt x="2602" y="0"/>
                  </a:moveTo>
                  <a:lnTo>
                    <a:pt x="2602" y="0"/>
                  </a:lnTo>
                  <a:lnTo>
                    <a:pt x="2604" y="0"/>
                  </a:lnTo>
                  <a:lnTo>
                    <a:pt x="2605" y="2"/>
                  </a:lnTo>
                  <a:lnTo>
                    <a:pt x="2607" y="3"/>
                  </a:lnTo>
                  <a:lnTo>
                    <a:pt x="2608" y="6"/>
                  </a:lnTo>
                  <a:lnTo>
                    <a:pt x="2607" y="9"/>
                  </a:lnTo>
                  <a:lnTo>
                    <a:pt x="2605" y="11"/>
                  </a:lnTo>
                  <a:lnTo>
                    <a:pt x="2604" y="12"/>
                  </a:lnTo>
                  <a:lnTo>
                    <a:pt x="2602" y="12"/>
                  </a:lnTo>
                  <a:lnTo>
                    <a:pt x="2602" y="12"/>
                  </a:lnTo>
                  <a:lnTo>
                    <a:pt x="2600" y="12"/>
                  </a:lnTo>
                  <a:lnTo>
                    <a:pt x="2598" y="11"/>
                  </a:lnTo>
                  <a:lnTo>
                    <a:pt x="2597" y="9"/>
                  </a:lnTo>
                  <a:lnTo>
                    <a:pt x="2597" y="6"/>
                  </a:lnTo>
                  <a:lnTo>
                    <a:pt x="2597" y="3"/>
                  </a:lnTo>
                  <a:lnTo>
                    <a:pt x="2598" y="2"/>
                  </a:lnTo>
                  <a:lnTo>
                    <a:pt x="2600" y="0"/>
                  </a:lnTo>
                  <a:lnTo>
                    <a:pt x="2602" y="0"/>
                  </a:lnTo>
                  <a:lnTo>
                    <a:pt x="2602" y="0"/>
                  </a:lnTo>
                  <a:close/>
                  <a:moveTo>
                    <a:pt x="2623" y="0"/>
                  </a:moveTo>
                  <a:lnTo>
                    <a:pt x="2623" y="0"/>
                  </a:lnTo>
                  <a:lnTo>
                    <a:pt x="2625" y="0"/>
                  </a:lnTo>
                  <a:lnTo>
                    <a:pt x="2626" y="2"/>
                  </a:lnTo>
                  <a:lnTo>
                    <a:pt x="2627" y="3"/>
                  </a:lnTo>
                  <a:lnTo>
                    <a:pt x="2627" y="6"/>
                  </a:lnTo>
                  <a:lnTo>
                    <a:pt x="2627" y="9"/>
                  </a:lnTo>
                  <a:lnTo>
                    <a:pt x="2626" y="11"/>
                  </a:lnTo>
                  <a:lnTo>
                    <a:pt x="2625" y="12"/>
                  </a:lnTo>
                  <a:lnTo>
                    <a:pt x="2623" y="12"/>
                  </a:lnTo>
                  <a:lnTo>
                    <a:pt x="2623" y="12"/>
                  </a:lnTo>
                  <a:lnTo>
                    <a:pt x="2620" y="12"/>
                  </a:lnTo>
                  <a:lnTo>
                    <a:pt x="2619" y="11"/>
                  </a:lnTo>
                  <a:lnTo>
                    <a:pt x="2618" y="9"/>
                  </a:lnTo>
                  <a:lnTo>
                    <a:pt x="2618" y="6"/>
                  </a:lnTo>
                  <a:lnTo>
                    <a:pt x="2618" y="3"/>
                  </a:lnTo>
                  <a:lnTo>
                    <a:pt x="2619" y="2"/>
                  </a:lnTo>
                  <a:lnTo>
                    <a:pt x="2620" y="0"/>
                  </a:lnTo>
                  <a:lnTo>
                    <a:pt x="2623" y="0"/>
                  </a:lnTo>
                  <a:lnTo>
                    <a:pt x="2623" y="0"/>
                  </a:lnTo>
                  <a:close/>
                  <a:moveTo>
                    <a:pt x="2643" y="0"/>
                  </a:moveTo>
                  <a:lnTo>
                    <a:pt x="2643" y="0"/>
                  </a:lnTo>
                  <a:lnTo>
                    <a:pt x="2645" y="0"/>
                  </a:lnTo>
                  <a:lnTo>
                    <a:pt x="2647" y="2"/>
                  </a:lnTo>
                  <a:lnTo>
                    <a:pt x="2648" y="3"/>
                  </a:lnTo>
                  <a:lnTo>
                    <a:pt x="2648" y="6"/>
                  </a:lnTo>
                  <a:lnTo>
                    <a:pt x="2648" y="9"/>
                  </a:lnTo>
                  <a:lnTo>
                    <a:pt x="2647" y="11"/>
                  </a:lnTo>
                  <a:lnTo>
                    <a:pt x="2645" y="12"/>
                  </a:lnTo>
                  <a:lnTo>
                    <a:pt x="2643" y="12"/>
                  </a:lnTo>
                  <a:lnTo>
                    <a:pt x="2643" y="12"/>
                  </a:lnTo>
                  <a:lnTo>
                    <a:pt x="2641" y="12"/>
                  </a:lnTo>
                  <a:lnTo>
                    <a:pt x="2640" y="11"/>
                  </a:lnTo>
                  <a:lnTo>
                    <a:pt x="2638" y="9"/>
                  </a:lnTo>
                  <a:lnTo>
                    <a:pt x="2638" y="6"/>
                  </a:lnTo>
                  <a:lnTo>
                    <a:pt x="2638" y="3"/>
                  </a:lnTo>
                  <a:lnTo>
                    <a:pt x="2640" y="2"/>
                  </a:lnTo>
                  <a:lnTo>
                    <a:pt x="2641" y="0"/>
                  </a:lnTo>
                  <a:lnTo>
                    <a:pt x="2643" y="0"/>
                  </a:lnTo>
                  <a:lnTo>
                    <a:pt x="2643" y="0"/>
                  </a:lnTo>
                  <a:close/>
                  <a:moveTo>
                    <a:pt x="2663" y="0"/>
                  </a:moveTo>
                  <a:lnTo>
                    <a:pt x="2663" y="0"/>
                  </a:lnTo>
                  <a:lnTo>
                    <a:pt x="2665" y="0"/>
                  </a:lnTo>
                  <a:lnTo>
                    <a:pt x="2667" y="2"/>
                  </a:lnTo>
                  <a:lnTo>
                    <a:pt x="2668" y="3"/>
                  </a:lnTo>
                  <a:lnTo>
                    <a:pt x="2669" y="6"/>
                  </a:lnTo>
                  <a:lnTo>
                    <a:pt x="2668" y="9"/>
                  </a:lnTo>
                  <a:lnTo>
                    <a:pt x="2667" y="11"/>
                  </a:lnTo>
                  <a:lnTo>
                    <a:pt x="2665" y="12"/>
                  </a:lnTo>
                  <a:lnTo>
                    <a:pt x="2663" y="12"/>
                  </a:lnTo>
                  <a:lnTo>
                    <a:pt x="2663" y="12"/>
                  </a:lnTo>
                  <a:lnTo>
                    <a:pt x="2662" y="12"/>
                  </a:lnTo>
                  <a:lnTo>
                    <a:pt x="2659" y="11"/>
                  </a:lnTo>
                  <a:lnTo>
                    <a:pt x="2658" y="9"/>
                  </a:lnTo>
                  <a:lnTo>
                    <a:pt x="2658" y="6"/>
                  </a:lnTo>
                  <a:lnTo>
                    <a:pt x="2658" y="3"/>
                  </a:lnTo>
                  <a:lnTo>
                    <a:pt x="2659" y="2"/>
                  </a:lnTo>
                  <a:lnTo>
                    <a:pt x="2662" y="0"/>
                  </a:lnTo>
                  <a:lnTo>
                    <a:pt x="2663" y="0"/>
                  </a:lnTo>
                  <a:lnTo>
                    <a:pt x="2663" y="0"/>
                  </a:lnTo>
                  <a:close/>
                  <a:moveTo>
                    <a:pt x="2684" y="0"/>
                  </a:moveTo>
                  <a:lnTo>
                    <a:pt x="2684" y="0"/>
                  </a:lnTo>
                  <a:lnTo>
                    <a:pt x="2686" y="0"/>
                  </a:lnTo>
                  <a:lnTo>
                    <a:pt x="2688" y="2"/>
                  </a:lnTo>
                  <a:lnTo>
                    <a:pt x="2689" y="3"/>
                  </a:lnTo>
                  <a:lnTo>
                    <a:pt x="2689" y="6"/>
                  </a:lnTo>
                  <a:lnTo>
                    <a:pt x="2689" y="9"/>
                  </a:lnTo>
                  <a:lnTo>
                    <a:pt x="2688" y="11"/>
                  </a:lnTo>
                  <a:lnTo>
                    <a:pt x="2686" y="12"/>
                  </a:lnTo>
                  <a:lnTo>
                    <a:pt x="2684" y="12"/>
                  </a:lnTo>
                  <a:lnTo>
                    <a:pt x="2684" y="12"/>
                  </a:lnTo>
                  <a:lnTo>
                    <a:pt x="2681" y="12"/>
                  </a:lnTo>
                  <a:lnTo>
                    <a:pt x="2680" y="11"/>
                  </a:lnTo>
                  <a:lnTo>
                    <a:pt x="2679" y="9"/>
                  </a:lnTo>
                  <a:lnTo>
                    <a:pt x="2679" y="6"/>
                  </a:lnTo>
                  <a:lnTo>
                    <a:pt x="2679" y="3"/>
                  </a:lnTo>
                  <a:lnTo>
                    <a:pt x="2680" y="2"/>
                  </a:lnTo>
                  <a:lnTo>
                    <a:pt x="2681" y="0"/>
                  </a:lnTo>
                  <a:lnTo>
                    <a:pt x="2684" y="0"/>
                  </a:lnTo>
                  <a:lnTo>
                    <a:pt x="2684" y="0"/>
                  </a:lnTo>
                  <a:close/>
                  <a:moveTo>
                    <a:pt x="2705" y="0"/>
                  </a:moveTo>
                  <a:lnTo>
                    <a:pt x="2705" y="0"/>
                  </a:lnTo>
                  <a:lnTo>
                    <a:pt x="2706" y="0"/>
                  </a:lnTo>
                  <a:lnTo>
                    <a:pt x="2708" y="2"/>
                  </a:lnTo>
                  <a:lnTo>
                    <a:pt x="2710" y="3"/>
                  </a:lnTo>
                  <a:lnTo>
                    <a:pt x="2710" y="6"/>
                  </a:lnTo>
                  <a:lnTo>
                    <a:pt x="2710" y="9"/>
                  </a:lnTo>
                  <a:lnTo>
                    <a:pt x="2708" y="11"/>
                  </a:lnTo>
                  <a:lnTo>
                    <a:pt x="2706" y="12"/>
                  </a:lnTo>
                  <a:lnTo>
                    <a:pt x="2705" y="12"/>
                  </a:lnTo>
                  <a:lnTo>
                    <a:pt x="2705" y="12"/>
                  </a:lnTo>
                  <a:lnTo>
                    <a:pt x="2702" y="12"/>
                  </a:lnTo>
                  <a:lnTo>
                    <a:pt x="2701" y="11"/>
                  </a:lnTo>
                  <a:lnTo>
                    <a:pt x="2700" y="9"/>
                  </a:lnTo>
                  <a:lnTo>
                    <a:pt x="2700" y="6"/>
                  </a:lnTo>
                  <a:lnTo>
                    <a:pt x="2700" y="3"/>
                  </a:lnTo>
                  <a:lnTo>
                    <a:pt x="2701" y="2"/>
                  </a:lnTo>
                  <a:lnTo>
                    <a:pt x="2702" y="0"/>
                  </a:lnTo>
                  <a:lnTo>
                    <a:pt x="2705" y="0"/>
                  </a:lnTo>
                  <a:lnTo>
                    <a:pt x="2705" y="0"/>
                  </a:lnTo>
                  <a:close/>
                  <a:moveTo>
                    <a:pt x="2724" y="0"/>
                  </a:moveTo>
                  <a:lnTo>
                    <a:pt x="2724" y="0"/>
                  </a:lnTo>
                  <a:lnTo>
                    <a:pt x="2727" y="0"/>
                  </a:lnTo>
                  <a:lnTo>
                    <a:pt x="2728" y="2"/>
                  </a:lnTo>
                  <a:lnTo>
                    <a:pt x="2729" y="3"/>
                  </a:lnTo>
                  <a:lnTo>
                    <a:pt x="2730" y="6"/>
                  </a:lnTo>
                  <a:lnTo>
                    <a:pt x="2729" y="9"/>
                  </a:lnTo>
                  <a:lnTo>
                    <a:pt x="2728" y="11"/>
                  </a:lnTo>
                  <a:lnTo>
                    <a:pt x="2727" y="12"/>
                  </a:lnTo>
                  <a:lnTo>
                    <a:pt x="2724" y="12"/>
                  </a:lnTo>
                  <a:lnTo>
                    <a:pt x="2724" y="12"/>
                  </a:lnTo>
                  <a:lnTo>
                    <a:pt x="2723" y="12"/>
                  </a:lnTo>
                  <a:lnTo>
                    <a:pt x="2721" y="11"/>
                  </a:lnTo>
                  <a:lnTo>
                    <a:pt x="2719" y="9"/>
                  </a:lnTo>
                  <a:lnTo>
                    <a:pt x="2719" y="6"/>
                  </a:lnTo>
                  <a:lnTo>
                    <a:pt x="2719" y="3"/>
                  </a:lnTo>
                  <a:lnTo>
                    <a:pt x="2721" y="2"/>
                  </a:lnTo>
                  <a:lnTo>
                    <a:pt x="2723" y="0"/>
                  </a:lnTo>
                  <a:lnTo>
                    <a:pt x="2724" y="0"/>
                  </a:lnTo>
                  <a:lnTo>
                    <a:pt x="2724" y="0"/>
                  </a:lnTo>
                  <a:close/>
                  <a:moveTo>
                    <a:pt x="2745" y="0"/>
                  </a:moveTo>
                  <a:lnTo>
                    <a:pt x="2745" y="0"/>
                  </a:lnTo>
                  <a:lnTo>
                    <a:pt x="2748" y="0"/>
                  </a:lnTo>
                  <a:lnTo>
                    <a:pt x="2749" y="2"/>
                  </a:lnTo>
                  <a:lnTo>
                    <a:pt x="2750" y="3"/>
                  </a:lnTo>
                  <a:lnTo>
                    <a:pt x="2750" y="6"/>
                  </a:lnTo>
                  <a:lnTo>
                    <a:pt x="2750" y="9"/>
                  </a:lnTo>
                  <a:lnTo>
                    <a:pt x="2749" y="11"/>
                  </a:lnTo>
                  <a:lnTo>
                    <a:pt x="2748" y="12"/>
                  </a:lnTo>
                  <a:lnTo>
                    <a:pt x="2745" y="12"/>
                  </a:lnTo>
                  <a:lnTo>
                    <a:pt x="2745" y="12"/>
                  </a:lnTo>
                  <a:lnTo>
                    <a:pt x="2743" y="12"/>
                  </a:lnTo>
                  <a:lnTo>
                    <a:pt x="2741" y="11"/>
                  </a:lnTo>
                  <a:lnTo>
                    <a:pt x="2740" y="9"/>
                  </a:lnTo>
                  <a:lnTo>
                    <a:pt x="2740" y="6"/>
                  </a:lnTo>
                  <a:lnTo>
                    <a:pt x="2740" y="3"/>
                  </a:lnTo>
                  <a:lnTo>
                    <a:pt x="2741" y="2"/>
                  </a:lnTo>
                  <a:lnTo>
                    <a:pt x="2743" y="0"/>
                  </a:lnTo>
                  <a:lnTo>
                    <a:pt x="2745" y="0"/>
                  </a:lnTo>
                  <a:lnTo>
                    <a:pt x="2745" y="0"/>
                  </a:lnTo>
                  <a:close/>
                </a:path>
              </a:pathLst>
            </a:custGeom>
            <a:solidFill>
              <a:srgbClr val="000000"/>
            </a:solidFill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8002" name="Freeform 370"/>
            <p:cNvSpPr>
              <a:spLocks noEditPoints="1"/>
            </p:cNvSpPr>
            <p:nvPr/>
          </p:nvSpPr>
          <p:spPr bwMode="auto">
            <a:xfrm>
              <a:off x="2666" y="3364"/>
              <a:ext cx="2750" cy="6"/>
            </a:xfrm>
            <a:custGeom>
              <a:avLst/>
              <a:gdLst>
                <a:gd name="T0" fmla="*/ 49 w 2750"/>
                <a:gd name="T1" fmla="*/ 0 h 12"/>
                <a:gd name="T2" fmla="*/ 92 w 2750"/>
                <a:gd name="T3" fmla="*/ 6 h 12"/>
                <a:gd name="T4" fmla="*/ 130 w 2750"/>
                <a:gd name="T5" fmla="*/ 12 h 12"/>
                <a:gd name="T6" fmla="*/ 167 w 2750"/>
                <a:gd name="T7" fmla="*/ 12 h 12"/>
                <a:gd name="T8" fmla="*/ 205 w 2750"/>
                <a:gd name="T9" fmla="*/ 6 h 12"/>
                <a:gd name="T10" fmla="*/ 249 w 2750"/>
                <a:gd name="T11" fmla="*/ 0 h 12"/>
                <a:gd name="T12" fmla="*/ 313 w 2750"/>
                <a:gd name="T13" fmla="*/ 0 h 12"/>
                <a:gd name="T14" fmla="*/ 357 w 2750"/>
                <a:gd name="T15" fmla="*/ 1 h 12"/>
                <a:gd name="T16" fmla="*/ 399 w 2750"/>
                <a:gd name="T17" fmla="*/ 9 h 12"/>
                <a:gd name="T18" fmla="*/ 435 w 2750"/>
                <a:gd name="T19" fmla="*/ 12 h 12"/>
                <a:gd name="T20" fmla="*/ 472 w 2750"/>
                <a:gd name="T21" fmla="*/ 10 h 12"/>
                <a:gd name="T22" fmla="*/ 513 w 2750"/>
                <a:gd name="T23" fmla="*/ 3 h 12"/>
                <a:gd name="T24" fmla="*/ 558 w 2750"/>
                <a:gd name="T25" fmla="*/ 0 h 12"/>
                <a:gd name="T26" fmla="*/ 619 w 2750"/>
                <a:gd name="T27" fmla="*/ 0 h 12"/>
                <a:gd name="T28" fmla="*/ 665 w 2750"/>
                <a:gd name="T29" fmla="*/ 3 h 12"/>
                <a:gd name="T30" fmla="*/ 704 w 2750"/>
                <a:gd name="T31" fmla="*/ 10 h 12"/>
                <a:gd name="T32" fmla="*/ 742 w 2750"/>
                <a:gd name="T33" fmla="*/ 12 h 12"/>
                <a:gd name="T34" fmla="*/ 777 w 2750"/>
                <a:gd name="T35" fmla="*/ 9 h 12"/>
                <a:gd name="T36" fmla="*/ 820 w 2750"/>
                <a:gd name="T37" fmla="*/ 1 h 12"/>
                <a:gd name="T38" fmla="*/ 864 w 2750"/>
                <a:gd name="T39" fmla="*/ 0 h 12"/>
                <a:gd name="T40" fmla="*/ 928 w 2750"/>
                <a:gd name="T41" fmla="*/ 0 h 12"/>
                <a:gd name="T42" fmla="*/ 972 w 2750"/>
                <a:gd name="T43" fmla="*/ 6 h 12"/>
                <a:gd name="T44" fmla="*/ 1009 w 2750"/>
                <a:gd name="T45" fmla="*/ 12 h 12"/>
                <a:gd name="T46" fmla="*/ 1046 w 2750"/>
                <a:gd name="T47" fmla="*/ 12 h 12"/>
                <a:gd name="T48" fmla="*/ 1084 w 2750"/>
                <a:gd name="T49" fmla="*/ 6 h 12"/>
                <a:gd name="T50" fmla="*/ 1128 w 2750"/>
                <a:gd name="T51" fmla="*/ 0 h 12"/>
                <a:gd name="T52" fmla="*/ 1192 w 2750"/>
                <a:gd name="T53" fmla="*/ 0 h 12"/>
                <a:gd name="T54" fmla="*/ 1236 w 2750"/>
                <a:gd name="T55" fmla="*/ 1 h 12"/>
                <a:gd name="T56" fmla="*/ 1278 w 2750"/>
                <a:gd name="T57" fmla="*/ 9 h 12"/>
                <a:gd name="T58" fmla="*/ 1314 w 2750"/>
                <a:gd name="T59" fmla="*/ 12 h 12"/>
                <a:gd name="T60" fmla="*/ 1351 w 2750"/>
                <a:gd name="T61" fmla="*/ 10 h 12"/>
                <a:gd name="T62" fmla="*/ 1392 w 2750"/>
                <a:gd name="T63" fmla="*/ 3 h 12"/>
                <a:gd name="T64" fmla="*/ 1437 w 2750"/>
                <a:gd name="T65" fmla="*/ 0 h 12"/>
                <a:gd name="T66" fmla="*/ 1498 w 2750"/>
                <a:gd name="T67" fmla="*/ 0 h 12"/>
                <a:gd name="T68" fmla="*/ 1544 w 2750"/>
                <a:gd name="T69" fmla="*/ 3 h 12"/>
                <a:gd name="T70" fmla="*/ 1584 w 2750"/>
                <a:gd name="T71" fmla="*/ 10 h 12"/>
                <a:gd name="T72" fmla="*/ 1621 w 2750"/>
                <a:gd name="T73" fmla="*/ 12 h 12"/>
                <a:gd name="T74" fmla="*/ 1656 w 2750"/>
                <a:gd name="T75" fmla="*/ 9 h 12"/>
                <a:gd name="T76" fmla="*/ 1699 w 2750"/>
                <a:gd name="T77" fmla="*/ 1 h 12"/>
                <a:gd name="T78" fmla="*/ 1744 w 2750"/>
                <a:gd name="T79" fmla="*/ 0 h 12"/>
                <a:gd name="T80" fmla="*/ 1807 w 2750"/>
                <a:gd name="T81" fmla="*/ 0 h 12"/>
                <a:gd name="T82" fmla="*/ 1851 w 2750"/>
                <a:gd name="T83" fmla="*/ 6 h 12"/>
                <a:gd name="T84" fmla="*/ 1888 w 2750"/>
                <a:gd name="T85" fmla="*/ 12 h 12"/>
                <a:gd name="T86" fmla="*/ 1925 w 2750"/>
                <a:gd name="T87" fmla="*/ 12 h 12"/>
                <a:gd name="T88" fmla="*/ 1963 w 2750"/>
                <a:gd name="T89" fmla="*/ 6 h 12"/>
                <a:gd name="T90" fmla="*/ 2007 w 2750"/>
                <a:gd name="T91" fmla="*/ 0 h 12"/>
                <a:gd name="T92" fmla="*/ 2071 w 2750"/>
                <a:gd name="T93" fmla="*/ 0 h 12"/>
                <a:gd name="T94" fmla="*/ 2115 w 2750"/>
                <a:gd name="T95" fmla="*/ 1 h 12"/>
                <a:gd name="T96" fmla="*/ 2157 w 2750"/>
                <a:gd name="T97" fmla="*/ 9 h 12"/>
                <a:gd name="T98" fmla="*/ 2193 w 2750"/>
                <a:gd name="T99" fmla="*/ 12 h 12"/>
                <a:gd name="T100" fmla="*/ 2230 w 2750"/>
                <a:gd name="T101" fmla="*/ 10 h 12"/>
                <a:gd name="T102" fmla="*/ 2271 w 2750"/>
                <a:gd name="T103" fmla="*/ 3 h 12"/>
                <a:gd name="T104" fmla="*/ 2316 w 2750"/>
                <a:gd name="T105" fmla="*/ 0 h 12"/>
                <a:gd name="T106" fmla="*/ 2377 w 2750"/>
                <a:gd name="T107" fmla="*/ 0 h 12"/>
                <a:gd name="T108" fmla="*/ 2423 w 2750"/>
                <a:gd name="T109" fmla="*/ 3 h 12"/>
                <a:gd name="T110" fmla="*/ 2463 w 2750"/>
                <a:gd name="T111" fmla="*/ 10 h 12"/>
                <a:gd name="T112" fmla="*/ 2500 w 2750"/>
                <a:gd name="T113" fmla="*/ 12 h 12"/>
                <a:gd name="T114" fmla="*/ 2536 w 2750"/>
                <a:gd name="T115" fmla="*/ 9 h 12"/>
                <a:gd name="T116" fmla="*/ 2578 w 2750"/>
                <a:gd name="T117" fmla="*/ 1 h 12"/>
                <a:gd name="T118" fmla="*/ 2623 w 2750"/>
                <a:gd name="T119" fmla="*/ 0 h 12"/>
                <a:gd name="T120" fmla="*/ 2686 w 2750"/>
                <a:gd name="T121" fmla="*/ 0 h 12"/>
                <a:gd name="T122" fmla="*/ 2730 w 2750"/>
                <a:gd name="T12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50" h="12">
                  <a:moveTo>
                    <a:pt x="6" y="0"/>
                  </a:moveTo>
                  <a:lnTo>
                    <a:pt x="6" y="0"/>
                  </a:lnTo>
                  <a:lnTo>
                    <a:pt x="8" y="0"/>
                  </a:lnTo>
                  <a:lnTo>
                    <a:pt x="10" y="1"/>
                  </a:lnTo>
                  <a:lnTo>
                    <a:pt x="10" y="3"/>
                  </a:lnTo>
                  <a:lnTo>
                    <a:pt x="11" y="6"/>
                  </a:lnTo>
                  <a:lnTo>
                    <a:pt x="10" y="9"/>
                  </a:lnTo>
                  <a:lnTo>
                    <a:pt x="10" y="10"/>
                  </a:lnTo>
                  <a:lnTo>
                    <a:pt x="8" y="12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4" y="12"/>
                  </a:lnTo>
                  <a:lnTo>
                    <a:pt x="3" y="10"/>
                  </a:lnTo>
                  <a:lnTo>
                    <a:pt x="1" y="9"/>
                  </a:lnTo>
                  <a:lnTo>
                    <a:pt x="0" y="6"/>
                  </a:lnTo>
                  <a:lnTo>
                    <a:pt x="1" y="3"/>
                  </a:lnTo>
                  <a:lnTo>
                    <a:pt x="3" y="1"/>
                  </a:lnTo>
                  <a:lnTo>
                    <a:pt x="4" y="0"/>
                  </a:lnTo>
                  <a:lnTo>
                    <a:pt x="6" y="0"/>
                  </a:lnTo>
                  <a:lnTo>
                    <a:pt x="6" y="0"/>
                  </a:lnTo>
                  <a:close/>
                  <a:moveTo>
                    <a:pt x="26" y="0"/>
                  </a:moveTo>
                  <a:lnTo>
                    <a:pt x="26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1" y="3"/>
                  </a:lnTo>
                  <a:lnTo>
                    <a:pt x="31" y="6"/>
                  </a:lnTo>
                  <a:lnTo>
                    <a:pt x="31" y="9"/>
                  </a:lnTo>
                  <a:lnTo>
                    <a:pt x="30" y="10"/>
                  </a:lnTo>
                  <a:lnTo>
                    <a:pt x="28" y="12"/>
                  </a:lnTo>
                  <a:lnTo>
                    <a:pt x="26" y="12"/>
                  </a:lnTo>
                  <a:lnTo>
                    <a:pt x="26" y="12"/>
                  </a:lnTo>
                  <a:lnTo>
                    <a:pt x="25" y="12"/>
                  </a:lnTo>
                  <a:lnTo>
                    <a:pt x="22" y="10"/>
                  </a:lnTo>
                  <a:lnTo>
                    <a:pt x="21" y="9"/>
                  </a:lnTo>
                  <a:lnTo>
                    <a:pt x="21" y="6"/>
                  </a:lnTo>
                  <a:lnTo>
                    <a:pt x="21" y="3"/>
                  </a:lnTo>
                  <a:lnTo>
                    <a:pt x="22" y="1"/>
                  </a:lnTo>
                  <a:lnTo>
                    <a:pt x="25" y="0"/>
                  </a:lnTo>
                  <a:lnTo>
                    <a:pt x="26" y="0"/>
                  </a:lnTo>
                  <a:lnTo>
                    <a:pt x="26" y="0"/>
                  </a:lnTo>
                  <a:close/>
                  <a:moveTo>
                    <a:pt x="47" y="0"/>
                  </a:moveTo>
                  <a:lnTo>
                    <a:pt x="47" y="0"/>
                  </a:lnTo>
                  <a:lnTo>
                    <a:pt x="49" y="0"/>
                  </a:lnTo>
                  <a:lnTo>
                    <a:pt x="50" y="1"/>
                  </a:lnTo>
                  <a:lnTo>
                    <a:pt x="52" y="3"/>
                  </a:lnTo>
                  <a:lnTo>
                    <a:pt x="52" y="6"/>
                  </a:lnTo>
                  <a:lnTo>
                    <a:pt x="52" y="9"/>
                  </a:lnTo>
                  <a:lnTo>
                    <a:pt x="50" y="10"/>
                  </a:lnTo>
                  <a:lnTo>
                    <a:pt x="49" y="12"/>
                  </a:lnTo>
                  <a:lnTo>
                    <a:pt x="47" y="12"/>
                  </a:lnTo>
                  <a:lnTo>
                    <a:pt x="47" y="12"/>
                  </a:lnTo>
                  <a:lnTo>
                    <a:pt x="44" y="12"/>
                  </a:lnTo>
                  <a:lnTo>
                    <a:pt x="43" y="10"/>
                  </a:lnTo>
                  <a:lnTo>
                    <a:pt x="42" y="9"/>
                  </a:lnTo>
                  <a:lnTo>
                    <a:pt x="42" y="6"/>
                  </a:lnTo>
                  <a:lnTo>
                    <a:pt x="42" y="3"/>
                  </a:lnTo>
                  <a:lnTo>
                    <a:pt x="43" y="1"/>
                  </a:lnTo>
                  <a:lnTo>
                    <a:pt x="44" y="0"/>
                  </a:lnTo>
                  <a:lnTo>
                    <a:pt x="47" y="0"/>
                  </a:lnTo>
                  <a:lnTo>
                    <a:pt x="47" y="0"/>
                  </a:lnTo>
                  <a:close/>
                  <a:moveTo>
                    <a:pt x="68" y="0"/>
                  </a:moveTo>
                  <a:lnTo>
                    <a:pt x="68" y="0"/>
                  </a:lnTo>
                  <a:lnTo>
                    <a:pt x="69" y="0"/>
                  </a:lnTo>
                  <a:lnTo>
                    <a:pt x="71" y="1"/>
                  </a:lnTo>
                  <a:lnTo>
                    <a:pt x="71" y="3"/>
                  </a:lnTo>
                  <a:lnTo>
                    <a:pt x="73" y="6"/>
                  </a:lnTo>
                  <a:lnTo>
                    <a:pt x="71" y="9"/>
                  </a:lnTo>
                  <a:lnTo>
                    <a:pt x="71" y="10"/>
                  </a:lnTo>
                  <a:lnTo>
                    <a:pt x="69" y="12"/>
                  </a:lnTo>
                  <a:lnTo>
                    <a:pt x="68" y="12"/>
                  </a:lnTo>
                  <a:lnTo>
                    <a:pt x="68" y="12"/>
                  </a:lnTo>
                  <a:lnTo>
                    <a:pt x="65" y="12"/>
                  </a:lnTo>
                  <a:lnTo>
                    <a:pt x="64" y="10"/>
                  </a:lnTo>
                  <a:lnTo>
                    <a:pt x="63" y="9"/>
                  </a:lnTo>
                  <a:lnTo>
                    <a:pt x="61" y="6"/>
                  </a:lnTo>
                  <a:lnTo>
                    <a:pt x="63" y="3"/>
                  </a:lnTo>
                  <a:lnTo>
                    <a:pt x="64" y="1"/>
                  </a:lnTo>
                  <a:lnTo>
                    <a:pt x="65" y="0"/>
                  </a:lnTo>
                  <a:lnTo>
                    <a:pt x="68" y="0"/>
                  </a:lnTo>
                  <a:lnTo>
                    <a:pt x="68" y="0"/>
                  </a:lnTo>
                  <a:close/>
                  <a:moveTo>
                    <a:pt x="87" y="0"/>
                  </a:moveTo>
                  <a:lnTo>
                    <a:pt x="87" y="0"/>
                  </a:lnTo>
                  <a:lnTo>
                    <a:pt x="90" y="0"/>
                  </a:lnTo>
                  <a:lnTo>
                    <a:pt x="91" y="1"/>
                  </a:lnTo>
                  <a:lnTo>
                    <a:pt x="92" y="3"/>
                  </a:lnTo>
                  <a:lnTo>
                    <a:pt x="92" y="6"/>
                  </a:lnTo>
                  <a:lnTo>
                    <a:pt x="92" y="9"/>
                  </a:lnTo>
                  <a:lnTo>
                    <a:pt x="91" y="10"/>
                  </a:lnTo>
                  <a:lnTo>
                    <a:pt x="90" y="12"/>
                  </a:lnTo>
                  <a:lnTo>
                    <a:pt x="87" y="12"/>
                  </a:lnTo>
                  <a:lnTo>
                    <a:pt x="87" y="12"/>
                  </a:lnTo>
                  <a:lnTo>
                    <a:pt x="86" y="12"/>
                  </a:lnTo>
                  <a:lnTo>
                    <a:pt x="84" y="10"/>
                  </a:lnTo>
                  <a:lnTo>
                    <a:pt x="82" y="9"/>
                  </a:lnTo>
                  <a:lnTo>
                    <a:pt x="82" y="6"/>
                  </a:lnTo>
                  <a:lnTo>
                    <a:pt x="82" y="3"/>
                  </a:lnTo>
                  <a:lnTo>
                    <a:pt x="84" y="1"/>
                  </a:lnTo>
                  <a:lnTo>
                    <a:pt x="86" y="0"/>
                  </a:lnTo>
                  <a:lnTo>
                    <a:pt x="87" y="0"/>
                  </a:lnTo>
                  <a:lnTo>
                    <a:pt x="87" y="0"/>
                  </a:lnTo>
                  <a:close/>
                  <a:moveTo>
                    <a:pt x="108" y="0"/>
                  </a:moveTo>
                  <a:lnTo>
                    <a:pt x="108" y="0"/>
                  </a:lnTo>
                  <a:lnTo>
                    <a:pt x="111" y="0"/>
                  </a:lnTo>
                  <a:lnTo>
                    <a:pt x="112" y="1"/>
                  </a:lnTo>
                  <a:lnTo>
                    <a:pt x="113" y="3"/>
                  </a:lnTo>
                  <a:lnTo>
                    <a:pt x="113" y="6"/>
                  </a:lnTo>
                  <a:lnTo>
                    <a:pt x="113" y="9"/>
                  </a:lnTo>
                  <a:lnTo>
                    <a:pt x="112" y="10"/>
                  </a:lnTo>
                  <a:lnTo>
                    <a:pt x="111" y="12"/>
                  </a:lnTo>
                  <a:lnTo>
                    <a:pt x="108" y="12"/>
                  </a:lnTo>
                  <a:lnTo>
                    <a:pt x="108" y="12"/>
                  </a:lnTo>
                  <a:lnTo>
                    <a:pt x="106" y="12"/>
                  </a:lnTo>
                  <a:lnTo>
                    <a:pt x="104" y="10"/>
                  </a:lnTo>
                  <a:lnTo>
                    <a:pt x="103" y="9"/>
                  </a:lnTo>
                  <a:lnTo>
                    <a:pt x="103" y="6"/>
                  </a:lnTo>
                  <a:lnTo>
                    <a:pt x="103" y="3"/>
                  </a:lnTo>
                  <a:lnTo>
                    <a:pt x="104" y="1"/>
                  </a:lnTo>
                  <a:lnTo>
                    <a:pt x="106" y="0"/>
                  </a:lnTo>
                  <a:lnTo>
                    <a:pt x="108" y="0"/>
                  </a:lnTo>
                  <a:lnTo>
                    <a:pt x="108" y="0"/>
                  </a:lnTo>
                  <a:close/>
                  <a:moveTo>
                    <a:pt x="129" y="0"/>
                  </a:moveTo>
                  <a:lnTo>
                    <a:pt x="129" y="0"/>
                  </a:lnTo>
                  <a:lnTo>
                    <a:pt x="130" y="0"/>
                  </a:lnTo>
                  <a:lnTo>
                    <a:pt x="133" y="1"/>
                  </a:lnTo>
                  <a:lnTo>
                    <a:pt x="133" y="3"/>
                  </a:lnTo>
                  <a:lnTo>
                    <a:pt x="134" y="6"/>
                  </a:lnTo>
                  <a:lnTo>
                    <a:pt x="133" y="9"/>
                  </a:lnTo>
                  <a:lnTo>
                    <a:pt x="133" y="10"/>
                  </a:lnTo>
                  <a:lnTo>
                    <a:pt x="130" y="12"/>
                  </a:lnTo>
                  <a:lnTo>
                    <a:pt x="129" y="12"/>
                  </a:lnTo>
                  <a:lnTo>
                    <a:pt x="129" y="12"/>
                  </a:lnTo>
                  <a:lnTo>
                    <a:pt x="126" y="12"/>
                  </a:lnTo>
                  <a:lnTo>
                    <a:pt x="125" y="10"/>
                  </a:lnTo>
                  <a:lnTo>
                    <a:pt x="124" y="9"/>
                  </a:lnTo>
                  <a:lnTo>
                    <a:pt x="124" y="6"/>
                  </a:lnTo>
                  <a:lnTo>
                    <a:pt x="124" y="3"/>
                  </a:lnTo>
                  <a:lnTo>
                    <a:pt x="125" y="1"/>
                  </a:lnTo>
                  <a:lnTo>
                    <a:pt x="126" y="0"/>
                  </a:lnTo>
                  <a:lnTo>
                    <a:pt x="129" y="0"/>
                  </a:lnTo>
                  <a:lnTo>
                    <a:pt x="129" y="0"/>
                  </a:lnTo>
                  <a:close/>
                  <a:moveTo>
                    <a:pt x="149" y="0"/>
                  </a:moveTo>
                  <a:lnTo>
                    <a:pt x="149" y="0"/>
                  </a:lnTo>
                  <a:lnTo>
                    <a:pt x="151" y="0"/>
                  </a:lnTo>
                  <a:lnTo>
                    <a:pt x="152" y="1"/>
                  </a:lnTo>
                  <a:lnTo>
                    <a:pt x="153" y="3"/>
                  </a:lnTo>
                  <a:lnTo>
                    <a:pt x="155" y="6"/>
                  </a:lnTo>
                  <a:lnTo>
                    <a:pt x="153" y="9"/>
                  </a:lnTo>
                  <a:lnTo>
                    <a:pt x="152" y="10"/>
                  </a:lnTo>
                  <a:lnTo>
                    <a:pt x="151" y="12"/>
                  </a:lnTo>
                  <a:lnTo>
                    <a:pt x="149" y="12"/>
                  </a:lnTo>
                  <a:lnTo>
                    <a:pt x="149" y="12"/>
                  </a:lnTo>
                  <a:lnTo>
                    <a:pt x="147" y="12"/>
                  </a:lnTo>
                  <a:lnTo>
                    <a:pt x="145" y="10"/>
                  </a:lnTo>
                  <a:lnTo>
                    <a:pt x="144" y="9"/>
                  </a:lnTo>
                  <a:lnTo>
                    <a:pt x="144" y="6"/>
                  </a:lnTo>
                  <a:lnTo>
                    <a:pt x="144" y="3"/>
                  </a:lnTo>
                  <a:lnTo>
                    <a:pt x="145" y="1"/>
                  </a:lnTo>
                  <a:lnTo>
                    <a:pt x="147" y="0"/>
                  </a:lnTo>
                  <a:lnTo>
                    <a:pt x="149" y="0"/>
                  </a:lnTo>
                  <a:lnTo>
                    <a:pt x="149" y="0"/>
                  </a:lnTo>
                  <a:close/>
                  <a:moveTo>
                    <a:pt x="169" y="0"/>
                  </a:moveTo>
                  <a:lnTo>
                    <a:pt x="169" y="0"/>
                  </a:lnTo>
                  <a:lnTo>
                    <a:pt x="172" y="0"/>
                  </a:lnTo>
                  <a:lnTo>
                    <a:pt x="173" y="1"/>
                  </a:lnTo>
                  <a:lnTo>
                    <a:pt x="174" y="3"/>
                  </a:lnTo>
                  <a:lnTo>
                    <a:pt x="174" y="6"/>
                  </a:lnTo>
                  <a:lnTo>
                    <a:pt x="174" y="9"/>
                  </a:lnTo>
                  <a:lnTo>
                    <a:pt x="173" y="10"/>
                  </a:lnTo>
                  <a:lnTo>
                    <a:pt x="172" y="12"/>
                  </a:lnTo>
                  <a:lnTo>
                    <a:pt x="169" y="12"/>
                  </a:lnTo>
                  <a:lnTo>
                    <a:pt x="169" y="12"/>
                  </a:lnTo>
                  <a:lnTo>
                    <a:pt x="167" y="12"/>
                  </a:lnTo>
                  <a:lnTo>
                    <a:pt x="166" y="10"/>
                  </a:lnTo>
                  <a:lnTo>
                    <a:pt x="164" y="9"/>
                  </a:lnTo>
                  <a:lnTo>
                    <a:pt x="164" y="6"/>
                  </a:lnTo>
                  <a:lnTo>
                    <a:pt x="164" y="3"/>
                  </a:lnTo>
                  <a:lnTo>
                    <a:pt x="166" y="1"/>
                  </a:lnTo>
                  <a:lnTo>
                    <a:pt x="167" y="0"/>
                  </a:lnTo>
                  <a:lnTo>
                    <a:pt x="169" y="0"/>
                  </a:lnTo>
                  <a:lnTo>
                    <a:pt x="169" y="0"/>
                  </a:lnTo>
                  <a:close/>
                  <a:moveTo>
                    <a:pt x="190" y="0"/>
                  </a:moveTo>
                  <a:lnTo>
                    <a:pt x="190" y="0"/>
                  </a:lnTo>
                  <a:lnTo>
                    <a:pt x="191" y="0"/>
                  </a:lnTo>
                  <a:lnTo>
                    <a:pt x="194" y="1"/>
                  </a:lnTo>
                  <a:lnTo>
                    <a:pt x="194" y="3"/>
                  </a:lnTo>
                  <a:lnTo>
                    <a:pt x="195" y="6"/>
                  </a:lnTo>
                  <a:lnTo>
                    <a:pt x="194" y="9"/>
                  </a:lnTo>
                  <a:lnTo>
                    <a:pt x="194" y="10"/>
                  </a:lnTo>
                  <a:lnTo>
                    <a:pt x="191" y="12"/>
                  </a:lnTo>
                  <a:lnTo>
                    <a:pt x="190" y="12"/>
                  </a:lnTo>
                  <a:lnTo>
                    <a:pt x="190" y="12"/>
                  </a:lnTo>
                  <a:lnTo>
                    <a:pt x="188" y="12"/>
                  </a:lnTo>
                  <a:lnTo>
                    <a:pt x="187" y="10"/>
                  </a:lnTo>
                  <a:lnTo>
                    <a:pt x="185" y="9"/>
                  </a:lnTo>
                  <a:lnTo>
                    <a:pt x="185" y="6"/>
                  </a:lnTo>
                  <a:lnTo>
                    <a:pt x="185" y="3"/>
                  </a:lnTo>
                  <a:lnTo>
                    <a:pt x="187" y="1"/>
                  </a:lnTo>
                  <a:lnTo>
                    <a:pt x="188" y="0"/>
                  </a:lnTo>
                  <a:lnTo>
                    <a:pt x="190" y="0"/>
                  </a:lnTo>
                  <a:lnTo>
                    <a:pt x="190" y="0"/>
                  </a:lnTo>
                  <a:close/>
                  <a:moveTo>
                    <a:pt x="210" y="0"/>
                  </a:moveTo>
                  <a:lnTo>
                    <a:pt x="210" y="0"/>
                  </a:lnTo>
                  <a:lnTo>
                    <a:pt x="212" y="0"/>
                  </a:lnTo>
                  <a:lnTo>
                    <a:pt x="213" y="1"/>
                  </a:lnTo>
                  <a:lnTo>
                    <a:pt x="215" y="3"/>
                  </a:lnTo>
                  <a:lnTo>
                    <a:pt x="216" y="6"/>
                  </a:lnTo>
                  <a:lnTo>
                    <a:pt x="215" y="9"/>
                  </a:lnTo>
                  <a:lnTo>
                    <a:pt x="213" y="10"/>
                  </a:lnTo>
                  <a:lnTo>
                    <a:pt x="212" y="12"/>
                  </a:lnTo>
                  <a:lnTo>
                    <a:pt x="210" y="12"/>
                  </a:lnTo>
                  <a:lnTo>
                    <a:pt x="210" y="12"/>
                  </a:lnTo>
                  <a:lnTo>
                    <a:pt x="209" y="12"/>
                  </a:lnTo>
                  <a:lnTo>
                    <a:pt x="206" y="10"/>
                  </a:lnTo>
                  <a:lnTo>
                    <a:pt x="205" y="9"/>
                  </a:lnTo>
                  <a:lnTo>
                    <a:pt x="205" y="6"/>
                  </a:lnTo>
                  <a:lnTo>
                    <a:pt x="205" y="3"/>
                  </a:lnTo>
                  <a:lnTo>
                    <a:pt x="206" y="1"/>
                  </a:lnTo>
                  <a:lnTo>
                    <a:pt x="209" y="0"/>
                  </a:lnTo>
                  <a:lnTo>
                    <a:pt x="210" y="0"/>
                  </a:lnTo>
                  <a:lnTo>
                    <a:pt x="210" y="0"/>
                  </a:lnTo>
                  <a:close/>
                  <a:moveTo>
                    <a:pt x="231" y="0"/>
                  </a:moveTo>
                  <a:lnTo>
                    <a:pt x="231" y="0"/>
                  </a:lnTo>
                  <a:lnTo>
                    <a:pt x="233" y="0"/>
                  </a:lnTo>
                  <a:lnTo>
                    <a:pt x="234" y="1"/>
                  </a:lnTo>
                  <a:lnTo>
                    <a:pt x="236" y="3"/>
                  </a:lnTo>
                  <a:lnTo>
                    <a:pt x="236" y="6"/>
                  </a:lnTo>
                  <a:lnTo>
                    <a:pt x="236" y="9"/>
                  </a:lnTo>
                  <a:lnTo>
                    <a:pt x="234" y="10"/>
                  </a:lnTo>
                  <a:lnTo>
                    <a:pt x="233" y="12"/>
                  </a:lnTo>
                  <a:lnTo>
                    <a:pt x="231" y="12"/>
                  </a:lnTo>
                  <a:lnTo>
                    <a:pt x="231" y="12"/>
                  </a:lnTo>
                  <a:lnTo>
                    <a:pt x="228" y="12"/>
                  </a:lnTo>
                  <a:lnTo>
                    <a:pt x="227" y="10"/>
                  </a:lnTo>
                  <a:lnTo>
                    <a:pt x="226" y="9"/>
                  </a:lnTo>
                  <a:lnTo>
                    <a:pt x="226" y="6"/>
                  </a:lnTo>
                  <a:lnTo>
                    <a:pt x="226" y="3"/>
                  </a:lnTo>
                  <a:lnTo>
                    <a:pt x="227" y="1"/>
                  </a:lnTo>
                  <a:lnTo>
                    <a:pt x="228" y="0"/>
                  </a:lnTo>
                  <a:lnTo>
                    <a:pt x="231" y="0"/>
                  </a:lnTo>
                  <a:lnTo>
                    <a:pt x="231" y="0"/>
                  </a:lnTo>
                  <a:close/>
                  <a:moveTo>
                    <a:pt x="251" y="0"/>
                  </a:moveTo>
                  <a:lnTo>
                    <a:pt x="251" y="0"/>
                  </a:lnTo>
                  <a:lnTo>
                    <a:pt x="253" y="0"/>
                  </a:lnTo>
                  <a:lnTo>
                    <a:pt x="255" y="1"/>
                  </a:lnTo>
                  <a:lnTo>
                    <a:pt x="256" y="3"/>
                  </a:lnTo>
                  <a:lnTo>
                    <a:pt x="256" y="6"/>
                  </a:lnTo>
                  <a:lnTo>
                    <a:pt x="256" y="9"/>
                  </a:lnTo>
                  <a:lnTo>
                    <a:pt x="255" y="10"/>
                  </a:lnTo>
                  <a:lnTo>
                    <a:pt x="253" y="12"/>
                  </a:lnTo>
                  <a:lnTo>
                    <a:pt x="251" y="12"/>
                  </a:lnTo>
                  <a:lnTo>
                    <a:pt x="251" y="12"/>
                  </a:lnTo>
                  <a:lnTo>
                    <a:pt x="249" y="12"/>
                  </a:lnTo>
                  <a:lnTo>
                    <a:pt x="248" y="10"/>
                  </a:lnTo>
                  <a:lnTo>
                    <a:pt x="247" y="9"/>
                  </a:lnTo>
                  <a:lnTo>
                    <a:pt x="247" y="6"/>
                  </a:lnTo>
                  <a:lnTo>
                    <a:pt x="247" y="3"/>
                  </a:lnTo>
                  <a:lnTo>
                    <a:pt x="248" y="1"/>
                  </a:lnTo>
                  <a:lnTo>
                    <a:pt x="249" y="0"/>
                  </a:lnTo>
                  <a:lnTo>
                    <a:pt x="251" y="0"/>
                  </a:lnTo>
                  <a:lnTo>
                    <a:pt x="251" y="0"/>
                  </a:lnTo>
                  <a:close/>
                  <a:moveTo>
                    <a:pt x="271" y="0"/>
                  </a:moveTo>
                  <a:lnTo>
                    <a:pt x="271" y="0"/>
                  </a:lnTo>
                  <a:lnTo>
                    <a:pt x="274" y="0"/>
                  </a:lnTo>
                  <a:lnTo>
                    <a:pt x="275" y="1"/>
                  </a:lnTo>
                  <a:lnTo>
                    <a:pt x="276" y="3"/>
                  </a:lnTo>
                  <a:lnTo>
                    <a:pt x="277" y="6"/>
                  </a:lnTo>
                  <a:lnTo>
                    <a:pt x="276" y="9"/>
                  </a:lnTo>
                  <a:lnTo>
                    <a:pt x="275" y="10"/>
                  </a:lnTo>
                  <a:lnTo>
                    <a:pt x="274" y="12"/>
                  </a:lnTo>
                  <a:lnTo>
                    <a:pt x="271" y="12"/>
                  </a:lnTo>
                  <a:lnTo>
                    <a:pt x="271" y="12"/>
                  </a:lnTo>
                  <a:lnTo>
                    <a:pt x="270" y="12"/>
                  </a:lnTo>
                  <a:lnTo>
                    <a:pt x="267" y="10"/>
                  </a:lnTo>
                  <a:lnTo>
                    <a:pt x="266" y="9"/>
                  </a:lnTo>
                  <a:lnTo>
                    <a:pt x="266" y="6"/>
                  </a:lnTo>
                  <a:lnTo>
                    <a:pt x="266" y="3"/>
                  </a:lnTo>
                  <a:lnTo>
                    <a:pt x="267" y="1"/>
                  </a:lnTo>
                  <a:lnTo>
                    <a:pt x="270" y="0"/>
                  </a:lnTo>
                  <a:lnTo>
                    <a:pt x="271" y="0"/>
                  </a:lnTo>
                  <a:lnTo>
                    <a:pt x="271" y="0"/>
                  </a:lnTo>
                  <a:close/>
                  <a:moveTo>
                    <a:pt x="292" y="0"/>
                  </a:moveTo>
                  <a:lnTo>
                    <a:pt x="292" y="0"/>
                  </a:lnTo>
                  <a:lnTo>
                    <a:pt x="294" y="0"/>
                  </a:lnTo>
                  <a:lnTo>
                    <a:pt x="296" y="1"/>
                  </a:lnTo>
                  <a:lnTo>
                    <a:pt x="297" y="3"/>
                  </a:lnTo>
                  <a:lnTo>
                    <a:pt x="297" y="6"/>
                  </a:lnTo>
                  <a:lnTo>
                    <a:pt x="297" y="9"/>
                  </a:lnTo>
                  <a:lnTo>
                    <a:pt x="296" y="10"/>
                  </a:lnTo>
                  <a:lnTo>
                    <a:pt x="294" y="12"/>
                  </a:lnTo>
                  <a:lnTo>
                    <a:pt x="292" y="12"/>
                  </a:lnTo>
                  <a:lnTo>
                    <a:pt x="292" y="12"/>
                  </a:lnTo>
                  <a:lnTo>
                    <a:pt x="290" y="12"/>
                  </a:lnTo>
                  <a:lnTo>
                    <a:pt x="288" y="10"/>
                  </a:lnTo>
                  <a:lnTo>
                    <a:pt x="287" y="9"/>
                  </a:lnTo>
                  <a:lnTo>
                    <a:pt x="287" y="6"/>
                  </a:lnTo>
                  <a:lnTo>
                    <a:pt x="287" y="3"/>
                  </a:lnTo>
                  <a:lnTo>
                    <a:pt x="288" y="1"/>
                  </a:lnTo>
                  <a:lnTo>
                    <a:pt x="290" y="0"/>
                  </a:lnTo>
                  <a:lnTo>
                    <a:pt x="292" y="0"/>
                  </a:lnTo>
                  <a:lnTo>
                    <a:pt x="292" y="0"/>
                  </a:lnTo>
                  <a:close/>
                  <a:moveTo>
                    <a:pt x="313" y="0"/>
                  </a:moveTo>
                  <a:lnTo>
                    <a:pt x="313" y="0"/>
                  </a:lnTo>
                  <a:lnTo>
                    <a:pt x="314" y="0"/>
                  </a:lnTo>
                  <a:lnTo>
                    <a:pt x="316" y="1"/>
                  </a:lnTo>
                  <a:lnTo>
                    <a:pt x="318" y="3"/>
                  </a:lnTo>
                  <a:lnTo>
                    <a:pt x="318" y="6"/>
                  </a:lnTo>
                  <a:lnTo>
                    <a:pt x="318" y="9"/>
                  </a:lnTo>
                  <a:lnTo>
                    <a:pt x="316" y="10"/>
                  </a:lnTo>
                  <a:lnTo>
                    <a:pt x="314" y="12"/>
                  </a:lnTo>
                  <a:lnTo>
                    <a:pt x="313" y="12"/>
                  </a:lnTo>
                  <a:lnTo>
                    <a:pt x="313" y="12"/>
                  </a:lnTo>
                  <a:lnTo>
                    <a:pt x="310" y="12"/>
                  </a:lnTo>
                  <a:lnTo>
                    <a:pt x="309" y="10"/>
                  </a:lnTo>
                  <a:lnTo>
                    <a:pt x="308" y="9"/>
                  </a:lnTo>
                  <a:lnTo>
                    <a:pt x="308" y="6"/>
                  </a:lnTo>
                  <a:lnTo>
                    <a:pt x="308" y="3"/>
                  </a:lnTo>
                  <a:lnTo>
                    <a:pt x="309" y="1"/>
                  </a:lnTo>
                  <a:lnTo>
                    <a:pt x="310" y="0"/>
                  </a:lnTo>
                  <a:lnTo>
                    <a:pt x="313" y="0"/>
                  </a:lnTo>
                  <a:lnTo>
                    <a:pt x="313" y="0"/>
                  </a:lnTo>
                  <a:close/>
                  <a:moveTo>
                    <a:pt x="332" y="0"/>
                  </a:moveTo>
                  <a:lnTo>
                    <a:pt x="332" y="0"/>
                  </a:lnTo>
                  <a:lnTo>
                    <a:pt x="335" y="0"/>
                  </a:lnTo>
                  <a:lnTo>
                    <a:pt x="336" y="1"/>
                  </a:lnTo>
                  <a:lnTo>
                    <a:pt x="337" y="3"/>
                  </a:lnTo>
                  <a:lnTo>
                    <a:pt x="339" y="6"/>
                  </a:lnTo>
                  <a:lnTo>
                    <a:pt x="337" y="9"/>
                  </a:lnTo>
                  <a:lnTo>
                    <a:pt x="336" y="10"/>
                  </a:lnTo>
                  <a:lnTo>
                    <a:pt x="335" y="12"/>
                  </a:lnTo>
                  <a:lnTo>
                    <a:pt x="332" y="12"/>
                  </a:lnTo>
                  <a:lnTo>
                    <a:pt x="332" y="12"/>
                  </a:lnTo>
                  <a:lnTo>
                    <a:pt x="331" y="12"/>
                  </a:lnTo>
                  <a:lnTo>
                    <a:pt x="329" y="10"/>
                  </a:lnTo>
                  <a:lnTo>
                    <a:pt x="329" y="9"/>
                  </a:lnTo>
                  <a:lnTo>
                    <a:pt x="328" y="6"/>
                  </a:lnTo>
                  <a:lnTo>
                    <a:pt x="329" y="3"/>
                  </a:lnTo>
                  <a:lnTo>
                    <a:pt x="329" y="1"/>
                  </a:lnTo>
                  <a:lnTo>
                    <a:pt x="331" y="0"/>
                  </a:lnTo>
                  <a:lnTo>
                    <a:pt x="332" y="0"/>
                  </a:lnTo>
                  <a:lnTo>
                    <a:pt x="332" y="0"/>
                  </a:lnTo>
                  <a:close/>
                  <a:moveTo>
                    <a:pt x="353" y="0"/>
                  </a:moveTo>
                  <a:lnTo>
                    <a:pt x="353" y="0"/>
                  </a:lnTo>
                  <a:lnTo>
                    <a:pt x="356" y="0"/>
                  </a:lnTo>
                  <a:lnTo>
                    <a:pt x="357" y="1"/>
                  </a:lnTo>
                  <a:lnTo>
                    <a:pt x="358" y="3"/>
                  </a:lnTo>
                  <a:lnTo>
                    <a:pt x="358" y="6"/>
                  </a:lnTo>
                  <a:lnTo>
                    <a:pt x="358" y="9"/>
                  </a:lnTo>
                  <a:lnTo>
                    <a:pt x="357" y="10"/>
                  </a:lnTo>
                  <a:lnTo>
                    <a:pt x="356" y="12"/>
                  </a:lnTo>
                  <a:lnTo>
                    <a:pt x="353" y="12"/>
                  </a:lnTo>
                  <a:lnTo>
                    <a:pt x="353" y="12"/>
                  </a:lnTo>
                  <a:lnTo>
                    <a:pt x="351" y="12"/>
                  </a:lnTo>
                  <a:lnTo>
                    <a:pt x="350" y="10"/>
                  </a:lnTo>
                  <a:lnTo>
                    <a:pt x="348" y="9"/>
                  </a:lnTo>
                  <a:lnTo>
                    <a:pt x="348" y="6"/>
                  </a:lnTo>
                  <a:lnTo>
                    <a:pt x="348" y="3"/>
                  </a:lnTo>
                  <a:lnTo>
                    <a:pt x="350" y="1"/>
                  </a:lnTo>
                  <a:lnTo>
                    <a:pt x="351" y="0"/>
                  </a:lnTo>
                  <a:lnTo>
                    <a:pt x="353" y="0"/>
                  </a:lnTo>
                  <a:lnTo>
                    <a:pt x="353" y="0"/>
                  </a:lnTo>
                  <a:close/>
                  <a:moveTo>
                    <a:pt x="374" y="0"/>
                  </a:moveTo>
                  <a:lnTo>
                    <a:pt x="374" y="0"/>
                  </a:lnTo>
                  <a:lnTo>
                    <a:pt x="375" y="0"/>
                  </a:lnTo>
                  <a:lnTo>
                    <a:pt x="378" y="1"/>
                  </a:lnTo>
                  <a:lnTo>
                    <a:pt x="379" y="3"/>
                  </a:lnTo>
                  <a:lnTo>
                    <a:pt x="379" y="6"/>
                  </a:lnTo>
                  <a:lnTo>
                    <a:pt x="379" y="9"/>
                  </a:lnTo>
                  <a:lnTo>
                    <a:pt x="378" y="10"/>
                  </a:lnTo>
                  <a:lnTo>
                    <a:pt x="375" y="12"/>
                  </a:lnTo>
                  <a:lnTo>
                    <a:pt x="374" y="12"/>
                  </a:lnTo>
                  <a:lnTo>
                    <a:pt x="374" y="12"/>
                  </a:lnTo>
                  <a:lnTo>
                    <a:pt x="372" y="12"/>
                  </a:lnTo>
                  <a:lnTo>
                    <a:pt x="370" y="10"/>
                  </a:lnTo>
                  <a:lnTo>
                    <a:pt x="369" y="9"/>
                  </a:lnTo>
                  <a:lnTo>
                    <a:pt x="369" y="6"/>
                  </a:lnTo>
                  <a:lnTo>
                    <a:pt x="369" y="3"/>
                  </a:lnTo>
                  <a:lnTo>
                    <a:pt x="370" y="1"/>
                  </a:lnTo>
                  <a:lnTo>
                    <a:pt x="372" y="0"/>
                  </a:lnTo>
                  <a:lnTo>
                    <a:pt x="374" y="0"/>
                  </a:lnTo>
                  <a:lnTo>
                    <a:pt x="374" y="0"/>
                  </a:lnTo>
                  <a:close/>
                  <a:moveTo>
                    <a:pt x="394" y="0"/>
                  </a:moveTo>
                  <a:lnTo>
                    <a:pt x="394" y="0"/>
                  </a:lnTo>
                  <a:lnTo>
                    <a:pt x="396" y="0"/>
                  </a:lnTo>
                  <a:lnTo>
                    <a:pt x="397" y="1"/>
                  </a:lnTo>
                  <a:lnTo>
                    <a:pt x="399" y="3"/>
                  </a:lnTo>
                  <a:lnTo>
                    <a:pt x="400" y="6"/>
                  </a:lnTo>
                  <a:lnTo>
                    <a:pt x="399" y="9"/>
                  </a:lnTo>
                  <a:lnTo>
                    <a:pt x="397" y="10"/>
                  </a:lnTo>
                  <a:lnTo>
                    <a:pt x="396" y="12"/>
                  </a:lnTo>
                  <a:lnTo>
                    <a:pt x="394" y="12"/>
                  </a:lnTo>
                  <a:lnTo>
                    <a:pt x="394" y="12"/>
                  </a:lnTo>
                  <a:lnTo>
                    <a:pt x="392" y="12"/>
                  </a:lnTo>
                  <a:lnTo>
                    <a:pt x="390" y="10"/>
                  </a:lnTo>
                  <a:lnTo>
                    <a:pt x="390" y="9"/>
                  </a:lnTo>
                  <a:lnTo>
                    <a:pt x="389" y="6"/>
                  </a:lnTo>
                  <a:lnTo>
                    <a:pt x="390" y="3"/>
                  </a:lnTo>
                  <a:lnTo>
                    <a:pt x="390" y="1"/>
                  </a:lnTo>
                  <a:lnTo>
                    <a:pt x="392" y="0"/>
                  </a:lnTo>
                  <a:lnTo>
                    <a:pt x="394" y="0"/>
                  </a:lnTo>
                  <a:lnTo>
                    <a:pt x="394" y="0"/>
                  </a:lnTo>
                  <a:close/>
                  <a:moveTo>
                    <a:pt x="415" y="0"/>
                  </a:moveTo>
                  <a:lnTo>
                    <a:pt x="415" y="0"/>
                  </a:lnTo>
                  <a:lnTo>
                    <a:pt x="417" y="0"/>
                  </a:lnTo>
                  <a:lnTo>
                    <a:pt x="418" y="1"/>
                  </a:lnTo>
                  <a:lnTo>
                    <a:pt x="419" y="3"/>
                  </a:lnTo>
                  <a:lnTo>
                    <a:pt x="419" y="6"/>
                  </a:lnTo>
                  <a:lnTo>
                    <a:pt x="419" y="9"/>
                  </a:lnTo>
                  <a:lnTo>
                    <a:pt x="418" y="10"/>
                  </a:lnTo>
                  <a:lnTo>
                    <a:pt x="417" y="12"/>
                  </a:lnTo>
                  <a:lnTo>
                    <a:pt x="415" y="12"/>
                  </a:lnTo>
                  <a:lnTo>
                    <a:pt x="415" y="12"/>
                  </a:lnTo>
                  <a:lnTo>
                    <a:pt x="412" y="12"/>
                  </a:lnTo>
                  <a:lnTo>
                    <a:pt x="411" y="10"/>
                  </a:lnTo>
                  <a:lnTo>
                    <a:pt x="410" y="9"/>
                  </a:lnTo>
                  <a:lnTo>
                    <a:pt x="410" y="6"/>
                  </a:lnTo>
                  <a:lnTo>
                    <a:pt x="410" y="3"/>
                  </a:lnTo>
                  <a:lnTo>
                    <a:pt x="411" y="1"/>
                  </a:lnTo>
                  <a:lnTo>
                    <a:pt x="412" y="0"/>
                  </a:lnTo>
                  <a:lnTo>
                    <a:pt x="415" y="0"/>
                  </a:lnTo>
                  <a:lnTo>
                    <a:pt x="415" y="0"/>
                  </a:lnTo>
                  <a:close/>
                  <a:moveTo>
                    <a:pt x="435" y="0"/>
                  </a:moveTo>
                  <a:lnTo>
                    <a:pt x="435" y="0"/>
                  </a:lnTo>
                  <a:lnTo>
                    <a:pt x="437" y="0"/>
                  </a:lnTo>
                  <a:lnTo>
                    <a:pt x="439" y="1"/>
                  </a:lnTo>
                  <a:lnTo>
                    <a:pt x="440" y="3"/>
                  </a:lnTo>
                  <a:lnTo>
                    <a:pt x="440" y="6"/>
                  </a:lnTo>
                  <a:lnTo>
                    <a:pt x="440" y="9"/>
                  </a:lnTo>
                  <a:lnTo>
                    <a:pt x="439" y="10"/>
                  </a:lnTo>
                  <a:lnTo>
                    <a:pt x="437" y="12"/>
                  </a:lnTo>
                  <a:lnTo>
                    <a:pt x="435" y="12"/>
                  </a:lnTo>
                  <a:lnTo>
                    <a:pt x="435" y="12"/>
                  </a:lnTo>
                  <a:lnTo>
                    <a:pt x="433" y="12"/>
                  </a:lnTo>
                  <a:lnTo>
                    <a:pt x="432" y="10"/>
                  </a:lnTo>
                  <a:lnTo>
                    <a:pt x="430" y="9"/>
                  </a:lnTo>
                  <a:lnTo>
                    <a:pt x="430" y="6"/>
                  </a:lnTo>
                  <a:lnTo>
                    <a:pt x="430" y="3"/>
                  </a:lnTo>
                  <a:lnTo>
                    <a:pt x="432" y="1"/>
                  </a:lnTo>
                  <a:lnTo>
                    <a:pt x="433" y="0"/>
                  </a:lnTo>
                  <a:lnTo>
                    <a:pt x="435" y="0"/>
                  </a:lnTo>
                  <a:lnTo>
                    <a:pt x="435" y="0"/>
                  </a:lnTo>
                  <a:close/>
                  <a:moveTo>
                    <a:pt x="455" y="0"/>
                  </a:moveTo>
                  <a:lnTo>
                    <a:pt x="455" y="0"/>
                  </a:lnTo>
                  <a:lnTo>
                    <a:pt x="457" y="0"/>
                  </a:lnTo>
                  <a:lnTo>
                    <a:pt x="459" y="1"/>
                  </a:lnTo>
                  <a:lnTo>
                    <a:pt x="460" y="3"/>
                  </a:lnTo>
                  <a:lnTo>
                    <a:pt x="461" y="6"/>
                  </a:lnTo>
                  <a:lnTo>
                    <a:pt x="460" y="9"/>
                  </a:lnTo>
                  <a:lnTo>
                    <a:pt x="459" y="10"/>
                  </a:lnTo>
                  <a:lnTo>
                    <a:pt x="457" y="12"/>
                  </a:lnTo>
                  <a:lnTo>
                    <a:pt x="455" y="12"/>
                  </a:lnTo>
                  <a:lnTo>
                    <a:pt x="455" y="12"/>
                  </a:lnTo>
                  <a:lnTo>
                    <a:pt x="454" y="12"/>
                  </a:lnTo>
                  <a:lnTo>
                    <a:pt x="451" y="10"/>
                  </a:lnTo>
                  <a:lnTo>
                    <a:pt x="451" y="9"/>
                  </a:lnTo>
                  <a:lnTo>
                    <a:pt x="450" y="6"/>
                  </a:lnTo>
                  <a:lnTo>
                    <a:pt x="451" y="3"/>
                  </a:lnTo>
                  <a:lnTo>
                    <a:pt x="451" y="1"/>
                  </a:lnTo>
                  <a:lnTo>
                    <a:pt x="454" y="0"/>
                  </a:lnTo>
                  <a:lnTo>
                    <a:pt x="455" y="0"/>
                  </a:lnTo>
                  <a:lnTo>
                    <a:pt x="455" y="0"/>
                  </a:lnTo>
                  <a:close/>
                  <a:moveTo>
                    <a:pt x="476" y="0"/>
                  </a:moveTo>
                  <a:lnTo>
                    <a:pt x="476" y="0"/>
                  </a:lnTo>
                  <a:lnTo>
                    <a:pt x="478" y="0"/>
                  </a:lnTo>
                  <a:lnTo>
                    <a:pt x="480" y="1"/>
                  </a:lnTo>
                  <a:lnTo>
                    <a:pt x="481" y="3"/>
                  </a:lnTo>
                  <a:lnTo>
                    <a:pt x="481" y="6"/>
                  </a:lnTo>
                  <a:lnTo>
                    <a:pt x="481" y="9"/>
                  </a:lnTo>
                  <a:lnTo>
                    <a:pt x="480" y="10"/>
                  </a:lnTo>
                  <a:lnTo>
                    <a:pt x="478" y="12"/>
                  </a:lnTo>
                  <a:lnTo>
                    <a:pt x="476" y="12"/>
                  </a:lnTo>
                  <a:lnTo>
                    <a:pt x="476" y="12"/>
                  </a:lnTo>
                  <a:lnTo>
                    <a:pt x="473" y="12"/>
                  </a:lnTo>
                  <a:lnTo>
                    <a:pt x="472" y="10"/>
                  </a:lnTo>
                  <a:lnTo>
                    <a:pt x="471" y="9"/>
                  </a:lnTo>
                  <a:lnTo>
                    <a:pt x="471" y="6"/>
                  </a:lnTo>
                  <a:lnTo>
                    <a:pt x="471" y="3"/>
                  </a:lnTo>
                  <a:lnTo>
                    <a:pt x="472" y="1"/>
                  </a:lnTo>
                  <a:lnTo>
                    <a:pt x="473" y="0"/>
                  </a:lnTo>
                  <a:lnTo>
                    <a:pt x="476" y="0"/>
                  </a:lnTo>
                  <a:lnTo>
                    <a:pt x="476" y="0"/>
                  </a:lnTo>
                  <a:close/>
                  <a:moveTo>
                    <a:pt x="497" y="0"/>
                  </a:moveTo>
                  <a:lnTo>
                    <a:pt x="497" y="0"/>
                  </a:lnTo>
                  <a:lnTo>
                    <a:pt x="498" y="0"/>
                  </a:lnTo>
                  <a:lnTo>
                    <a:pt x="500" y="1"/>
                  </a:lnTo>
                  <a:lnTo>
                    <a:pt x="502" y="3"/>
                  </a:lnTo>
                  <a:lnTo>
                    <a:pt x="502" y="6"/>
                  </a:lnTo>
                  <a:lnTo>
                    <a:pt x="502" y="9"/>
                  </a:lnTo>
                  <a:lnTo>
                    <a:pt x="500" y="10"/>
                  </a:lnTo>
                  <a:lnTo>
                    <a:pt x="498" y="12"/>
                  </a:lnTo>
                  <a:lnTo>
                    <a:pt x="497" y="12"/>
                  </a:lnTo>
                  <a:lnTo>
                    <a:pt x="497" y="12"/>
                  </a:lnTo>
                  <a:lnTo>
                    <a:pt x="494" y="12"/>
                  </a:lnTo>
                  <a:lnTo>
                    <a:pt x="493" y="10"/>
                  </a:lnTo>
                  <a:lnTo>
                    <a:pt x="492" y="9"/>
                  </a:lnTo>
                  <a:lnTo>
                    <a:pt x="492" y="6"/>
                  </a:lnTo>
                  <a:lnTo>
                    <a:pt x="492" y="3"/>
                  </a:lnTo>
                  <a:lnTo>
                    <a:pt x="493" y="1"/>
                  </a:lnTo>
                  <a:lnTo>
                    <a:pt x="494" y="0"/>
                  </a:lnTo>
                  <a:lnTo>
                    <a:pt x="497" y="0"/>
                  </a:lnTo>
                  <a:lnTo>
                    <a:pt x="497" y="0"/>
                  </a:lnTo>
                  <a:close/>
                  <a:moveTo>
                    <a:pt x="516" y="0"/>
                  </a:moveTo>
                  <a:lnTo>
                    <a:pt x="518" y="0"/>
                  </a:lnTo>
                  <a:lnTo>
                    <a:pt x="519" y="0"/>
                  </a:lnTo>
                  <a:lnTo>
                    <a:pt x="520" y="1"/>
                  </a:lnTo>
                  <a:lnTo>
                    <a:pt x="521" y="3"/>
                  </a:lnTo>
                  <a:lnTo>
                    <a:pt x="522" y="6"/>
                  </a:lnTo>
                  <a:lnTo>
                    <a:pt x="521" y="9"/>
                  </a:lnTo>
                  <a:lnTo>
                    <a:pt x="520" y="10"/>
                  </a:lnTo>
                  <a:lnTo>
                    <a:pt x="519" y="12"/>
                  </a:lnTo>
                  <a:lnTo>
                    <a:pt x="518" y="12"/>
                  </a:lnTo>
                  <a:lnTo>
                    <a:pt x="516" y="12"/>
                  </a:lnTo>
                  <a:lnTo>
                    <a:pt x="515" y="12"/>
                  </a:lnTo>
                  <a:lnTo>
                    <a:pt x="513" y="10"/>
                  </a:lnTo>
                  <a:lnTo>
                    <a:pt x="513" y="9"/>
                  </a:lnTo>
                  <a:lnTo>
                    <a:pt x="511" y="6"/>
                  </a:lnTo>
                  <a:lnTo>
                    <a:pt x="513" y="3"/>
                  </a:lnTo>
                  <a:lnTo>
                    <a:pt x="513" y="1"/>
                  </a:lnTo>
                  <a:lnTo>
                    <a:pt x="515" y="0"/>
                  </a:lnTo>
                  <a:lnTo>
                    <a:pt x="516" y="0"/>
                  </a:lnTo>
                  <a:lnTo>
                    <a:pt x="516" y="0"/>
                  </a:lnTo>
                  <a:close/>
                  <a:moveTo>
                    <a:pt x="537" y="0"/>
                  </a:moveTo>
                  <a:lnTo>
                    <a:pt x="537" y="0"/>
                  </a:lnTo>
                  <a:lnTo>
                    <a:pt x="540" y="0"/>
                  </a:lnTo>
                  <a:lnTo>
                    <a:pt x="541" y="1"/>
                  </a:lnTo>
                  <a:lnTo>
                    <a:pt x="542" y="3"/>
                  </a:lnTo>
                  <a:lnTo>
                    <a:pt x="542" y="6"/>
                  </a:lnTo>
                  <a:lnTo>
                    <a:pt x="542" y="9"/>
                  </a:lnTo>
                  <a:lnTo>
                    <a:pt x="541" y="10"/>
                  </a:lnTo>
                  <a:lnTo>
                    <a:pt x="540" y="12"/>
                  </a:lnTo>
                  <a:lnTo>
                    <a:pt x="537" y="12"/>
                  </a:lnTo>
                  <a:lnTo>
                    <a:pt x="537" y="12"/>
                  </a:lnTo>
                  <a:lnTo>
                    <a:pt x="535" y="12"/>
                  </a:lnTo>
                  <a:lnTo>
                    <a:pt x="533" y="10"/>
                  </a:lnTo>
                  <a:lnTo>
                    <a:pt x="532" y="9"/>
                  </a:lnTo>
                  <a:lnTo>
                    <a:pt x="532" y="6"/>
                  </a:lnTo>
                  <a:lnTo>
                    <a:pt x="532" y="3"/>
                  </a:lnTo>
                  <a:lnTo>
                    <a:pt x="533" y="1"/>
                  </a:lnTo>
                  <a:lnTo>
                    <a:pt x="535" y="0"/>
                  </a:lnTo>
                  <a:lnTo>
                    <a:pt x="537" y="0"/>
                  </a:lnTo>
                  <a:lnTo>
                    <a:pt x="537" y="0"/>
                  </a:lnTo>
                  <a:close/>
                  <a:moveTo>
                    <a:pt x="558" y="0"/>
                  </a:moveTo>
                  <a:lnTo>
                    <a:pt x="558" y="0"/>
                  </a:lnTo>
                  <a:lnTo>
                    <a:pt x="559" y="0"/>
                  </a:lnTo>
                  <a:lnTo>
                    <a:pt x="562" y="1"/>
                  </a:lnTo>
                  <a:lnTo>
                    <a:pt x="563" y="3"/>
                  </a:lnTo>
                  <a:lnTo>
                    <a:pt x="563" y="6"/>
                  </a:lnTo>
                  <a:lnTo>
                    <a:pt x="563" y="9"/>
                  </a:lnTo>
                  <a:lnTo>
                    <a:pt x="562" y="10"/>
                  </a:lnTo>
                  <a:lnTo>
                    <a:pt x="559" y="12"/>
                  </a:lnTo>
                  <a:lnTo>
                    <a:pt x="558" y="12"/>
                  </a:lnTo>
                  <a:lnTo>
                    <a:pt x="558" y="12"/>
                  </a:lnTo>
                  <a:lnTo>
                    <a:pt x="556" y="12"/>
                  </a:lnTo>
                  <a:lnTo>
                    <a:pt x="554" y="10"/>
                  </a:lnTo>
                  <a:lnTo>
                    <a:pt x="553" y="9"/>
                  </a:lnTo>
                  <a:lnTo>
                    <a:pt x="553" y="6"/>
                  </a:lnTo>
                  <a:lnTo>
                    <a:pt x="553" y="3"/>
                  </a:lnTo>
                  <a:lnTo>
                    <a:pt x="554" y="1"/>
                  </a:lnTo>
                  <a:lnTo>
                    <a:pt x="556" y="0"/>
                  </a:lnTo>
                  <a:lnTo>
                    <a:pt x="558" y="0"/>
                  </a:lnTo>
                  <a:lnTo>
                    <a:pt x="558" y="0"/>
                  </a:lnTo>
                  <a:close/>
                  <a:moveTo>
                    <a:pt x="579" y="0"/>
                  </a:moveTo>
                  <a:lnTo>
                    <a:pt x="579" y="0"/>
                  </a:lnTo>
                  <a:lnTo>
                    <a:pt x="580" y="0"/>
                  </a:lnTo>
                  <a:lnTo>
                    <a:pt x="581" y="1"/>
                  </a:lnTo>
                  <a:lnTo>
                    <a:pt x="583" y="3"/>
                  </a:lnTo>
                  <a:lnTo>
                    <a:pt x="584" y="6"/>
                  </a:lnTo>
                  <a:lnTo>
                    <a:pt x="583" y="9"/>
                  </a:lnTo>
                  <a:lnTo>
                    <a:pt x="581" y="10"/>
                  </a:lnTo>
                  <a:lnTo>
                    <a:pt x="580" y="12"/>
                  </a:lnTo>
                  <a:lnTo>
                    <a:pt x="579" y="12"/>
                  </a:lnTo>
                  <a:lnTo>
                    <a:pt x="579" y="12"/>
                  </a:lnTo>
                  <a:lnTo>
                    <a:pt x="576" y="12"/>
                  </a:lnTo>
                  <a:lnTo>
                    <a:pt x="575" y="10"/>
                  </a:lnTo>
                  <a:lnTo>
                    <a:pt x="574" y="9"/>
                  </a:lnTo>
                  <a:lnTo>
                    <a:pt x="573" y="6"/>
                  </a:lnTo>
                  <a:lnTo>
                    <a:pt x="574" y="3"/>
                  </a:lnTo>
                  <a:lnTo>
                    <a:pt x="575" y="1"/>
                  </a:lnTo>
                  <a:lnTo>
                    <a:pt x="576" y="0"/>
                  </a:lnTo>
                  <a:lnTo>
                    <a:pt x="579" y="0"/>
                  </a:lnTo>
                  <a:lnTo>
                    <a:pt x="579" y="0"/>
                  </a:lnTo>
                  <a:close/>
                  <a:moveTo>
                    <a:pt x="598" y="0"/>
                  </a:moveTo>
                  <a:lnTo>
                    <a:pt x="598" y="0"/>
                  </a:lnTo>
                  <a:lnTo>
                    <a:pt x="601" y="0"/>
                  </a:lnTo>
                  <a:lnTo>
                    <a:pt x="602" y="1"/>
                  </a:lnTo>
                  <a:lnTo>
                    <a:pt x="603" y="3"/>
                  </a:lnTo>
                  <a:lnTo>
                    <a:pt x="603" y="6"/>
                  </a:lnTo>
                  <a:lnTo>
                    <a:pt x="603" y="9"/>
                  </a:lnTo>
                  <a:lnTo>
                    <a:pt x="602" y="10"/>
                  </a:lnTo>
                  <a:lnTo>
                    <a:pt x="601" y="12"/>
                  </a:lnTo>
                  <a:lnTo>
                    <a:pt x="598" y="12"/>
                  </a:lnTo>
                  <a:lnTo>
                    <a:pt x="598" y="12"/>
                  </a:lnTo>
                  <a:lnTo>
                    <a:pt x="597" y="12"/>
                  </a:lnTo>
                  <a:lnTo>
                    <a:pt x="595" y="10"/>
                  </a:lnTo>
                  <a:lnTo>
                    <a:pt x="594" y="9"/>
                  </a:lnTo>
                  <a:lnTo>
                    <a:pt x="594" y="6"/>
                  </a:lnTo>
                  <a:lnTo>
                    <a:pt x="594" y="3"/>
                  </a:lnTo>
                  <a:lnTo>
                    <a:pt x="595" y="1"/>
                  </a:lnTo>
                  <a:lnTo>
                    <a:pt x="597" y="0"/>
                  </a:lnTo>
                  <a:lnTo>
                    <a:pt x="598" y="0"/>
                  </a:lnTo>
                  <a:lnTo>
                    <a:pt x="598" y="0"/>
                  </a:lnTo>
                  <a:close/>
                  <a:moveTo>
                    <a:pt x="619" y="0"/>
                  </a:moveTo>
                  <a:lnTo>
                    <a:pt x="619" y="0"/>
                  </a:lnTo>
                  <a:lnTo>
                    <a:pt x="621" y="0"/>
                  </a:lnTo>
                  <a:lnTo>
                    <a:pt x="623" y="1"/>
                  </a:lnTo>
                  <a:lnTo>
                    <a:pt x="624" y="3"/>
                  </a:lnTo>
                  <a:lnTo>
                    <a:pt x="624" y="6"/>
                  </a:lnTo>
                  <a:lnTo>
                    <a:pt x="624" y="9"/>
                  </a:lnTo>
                  <a:lnTo>
                    <a:pt x="623" y="10"/>
                  </a:lnTo>
                  <a:lnTo>
                    <a:pt x="621" y="12"/>
                  </a:lnTo>
                  <a:lnTo>
                    <a:pt x="619" y="12"/>
                  </a:lnTo>
                  <a:lnTo>
                    <a:pt x="619" y="12"/>
                  </a:lnTo>
                  <a:lnTo>
                    <a:pt x="617" y="12"/>
                  </a:lnTo>
                  <a:lnTo>
                    <a:pt x="616" y="10"/>
                  </a:lnTo>
                  <a:lnTo>
                    <a:pt x="614" y="9"/>
                  </a:lnTo>
                  <a:lnTo>
                    <a:pt x="614" y="6"/>
                  </a:lnTo>
                  <a:lnTo>
                    <a:pt x="614" y="3"/>
                  </a:lnTo>
                  <a:lnTo>
                    <a:pt x="616" y="1"/>
                  </a:lnTo>
                  <a:lnTo>
                    <a:pt x="617" y="0"/>
                  </a:lnTo>
                  <a:lnTo>
                    <a:pt x="619" y="0"/>
                  </a:lnTo>
                  <a:lnTo>
                    <a:pt x="619" y="0"/>
                  </a:lnTo>
                  <a:close/>
                  <a:moveTo>
                    <a:pt x="640" y="0"/>
                  </a:moveTo>
                  <a:lnTo>
                    <a:pt x="640" y="0"/>
                  </a:lnTo>
                  <a:lnTo>
                    <a:pt x="641" y="0"/>
                  </a:lnTo>
                  <a:lnTo>
                    <a:pt x="643" y="1"/>
                  </a:lnTo>
                  <a:lnTo>
                    <a:pt x="644" y="3"/>
                  </a:lnTo>
                  <a:lnTo>
                    <a:pt x="645" y="6"/>
                  </a:lnTo>
                  <a:lnTo>
                    <a:pt x="644" y="9"/>
                  </a:lnTo>
                  <a:lnTo>
                    <a:pt x="643" y="10"/>
                  </a:lnTo>
                  <a:lnTo>
                    <a:pt x="641" y="12"/>
                  </a:lnTo>
                  <a:lnTo>
                    <a:pt x="640" y="12"/>
                  </a:lnTo>
                  <a:lnTo>
                    <a:pt x="640" y="12"/>
                  </a:lnTo>
                  <a:lnTo>
                    <a:pt x="638" y="12"/>
                  </a:lnTo>
                  <a:lnTo>
                    <a:pt x="636" y="10"/>
                  </a:lnTo>
                  <a:lnTo>
                    <a:pt x="635" y="9"/>
                  </a:lnTo>
                  <a:lnTo>
                    <a:pt x="634" y="6"/>
                  </a:lnTo>
                  <a:lnTo>
                    <a:pt x="635" y="3"/>
                  </a:lnTo>
                  <a:lnTo>
                    <a:pt x="636" y="1"/>
                  </a:lnTo>
                  <a:lnTo>
                    <a:pt x="638" y="0"/>
                  </a:lnTo>
                  <a:lnTo>
                    <a:pt x="640" y="0"/>
                  </a:lnTo>
                  <a:lnTo>
                    <a:pt x="640" y="0"/>
                  </a:lnTo>
                  <a:close/>
                  <a:moveTo>
                    <a:pt x="660" y="0"/>
                  </a:moveTo>
                  <a:lnTo>
                    <a:pt x="660" y="0"/>
                  </a:lnTo>
                  <a:lnTo>
                    <a:pt x="662" y="0"/>
                  </a:lnTo>
                  <a:lnTo>
                    <a:pt x="663" y="1"/>
                  </a:lnTo>
                  <a:lnTo>
                    <a:pt x="665" y="3"/>
                  </a:lnTo>
                  <a:lnTo>
                    <a:pt x="665" y="6"/>
                  </a:lnTo>
                  <a:lnTo>
                    <a:pt x="665" y="9"/>
                  </a:lnTo>
                  <a:lnTo>
                    <a:pt x="663" y="10"/>
                  </a:lnTo>
                  <a:lnTo>
                    <a:pt x="662" y="12"/>
                  </a:lnTo>
                  <a:lnTo>
                    <a:pt x="660" y="12"/>
                  </a:lnTo>
                  <a:lnTo>
                    <a:pt x="660" y="12"/>
                  </a:lnTo>
                  <a:lnTo>
                    <a:pt x="659" y="12"/>
                  </a:lnTo>
                  <a:lnTo>
                    <a:pt x="656" y="10"/>
                  </a:lnTo>
                  <a:lnTo>
                    <a:pt x="655" y="9"/>
                  </a:lnTo>
                  <a:lnTo>
                    <a:pt x="655" y="6"/>
                  </a:lnTo>
                  <a:lnTo>
                    <a:pt x="655" y="3"/>
                  </a:lnTo>
                  <a:lnTo>
                    <a:pt x="656" y="1"/>
                  </a:lnTo>
                  <a:lnTo>
                    <a:pt x="659" y="0"/>
                  </a:lnTo>
                  <a:lnTo>
                    <a:pt x="660" y="0"/>
                  </a:lnTo>
                  <a:lnTo>
                    <a:pt x="660" y="0"/>
                  </a:lnTo>
                  <a:close/>
                  <a:moveTo>
                    <a:pt x="681" y="0"/>
                  </a:moveTo>
                  <a:lnTo>
                    <a:pt x="681" y="0"/>
                  </a:lnTo>
                  <a:lnTo>
                    <a:pt x="682" y="0"/>
                  </a:lnTo>
                  <a:lnTo>
                    <a:pt x="684" y="1"/>
                  </a:lnTo>
                  <a:lnTo>
                    <a:pt x="685" y="3"/>
                  </a:lnTo>
                  <a:lnTo>
                    <a:pt x="685" y="6"/>
                  </a:lnTo>
                  <a:lnTo>
                    <a:pt x="685" y="9"/>
                  </a:lnTo>
                  <a:lnTo>
                    <a:pt x="684" y="10"/>
                  </a:lnTo>
                  <a:lnTo>
                    <a:pt x="682" y="12"/>
                  </a:lnTo>
                  <a:lnTo>
                    <a:pt x="681" y="12"/>
                  </a:lnTo>
                  <a:lnTo>
                    <a:pt x="681" y="12"/>
                  </a:lnTo>
                  <a:lnTo>
                    <a:pt x="678" y="12"/>
                  </a:lnTo>
                  <a:lnTo>
                    <a:pt x="677" y="10"/>
                  </a:lnTo>
                  <a:lnTo>
                    <a:pt x="676" y="9"/>
                  </a:lnTo>
                  <a:lnTo>
                    <a:pt x="676" y="6"/>
                  </a:lnTo>
                  <a:lnTo>
                    <a:pt x="676" y="3"/>
                  </a:lnTo>
                  <a:lnTo>
                    <a:pt x="677" y="1"/>
                  </a:lnTo>
                  <a:lnTo>
                    <a:pt x="678" y="0"/>
                  </a:lnTo>
                  <a:lnTo>
                    <a:pt x="681" y="0"/>
                  </a:lnTo>
                  <a:lnTo>
                    <a:pt x="681" y="0"/>
                  </a:lnTo>
                  <a:close/>
                  <a:moveTo>
                    <a:pt x="701" y="0"/>
                  </a:moveTo>
                  <a:lnTo>
                    <a:pt x="701" y="0"/>
                  </a:lnTo>
                  <a:lnTo>
                    <a:pt x="703" y="0"/>
                  </a:lnTo>
                  <a:lnTo>
                    <a:pt x="704" y="1"/>
                  </a:lnTo>
                  <a:lnTo>
                    <a:pt x="705" y="3"/>
                  </a:lnTo>
                  <a:lnTo>
                    <a:pt x="706" y="6"/>
                  </a:lnTo>
                  <a:lnTo>
                    <a:pt x="705" y="9"/>
                  </a:lnTo>
                  <a:lnTo>
                    <a:pt x="704" y="10"/>
                  </a:lnTo>
                  <a:lnTo>
                    <a:pt x="703" y="12"/>
                  </a:lnTo>
                  <a:lnTo>
                    <a:pt x="701" y="12"/>
                  </a:lnTo>
                  <a:lnTo>
                    <a:pt x="701" y="12"/>
                  </a:lnTo>
                  <a:lnTo>
                    <a:pt x="699" y="12"/>
                  </a:lnTo>
                  <a:lnTo>
                    <a:pt x="698" y="10"/>
                  </a:lnTo>
                  <a:lnTo>
                    <a:pt x="697" y="9"/>
                  </a:lnTo>
                  <a:lnTo>
                    <a:pt x="695" y="6"/>
                  </a:lnTo>
                  <a:lnTo>
                    <a:pt x="697" y="3"/>
                  </a:lnTo>
                  <a:lnTo>
                    <a:pt x="698" y="1"/>
                  </a:lnTo>
                  <a:lnTo>
                    <a:pt x="699" y="0"/>
                  </a:lnTo>
                  <a:lnTo>
                    <a:pt x="701" y="0"/>
                  </a:lnTo>
                  <a:lnTo>
                    <a:pt x="701" y="0"/>
                  </a:lnTo>
                  <a:close/>
                  <a:moveTo>
                    <a:pt x="721" y="0"/>
                  </a:moveTo>
                  <a:lnTo>
                    <a:pt x="721" y="0"/>
                  </a:lnTo>
                  <a:lnTo>
                    <a:pt x="724" y="0"/>
                  </a:lnTo>
                  <a:lnTo>
                    <a:pt x="725" y="1"/>
                  </a:lnTo>
                  <a:lnTo>
                    <a:pt x="726" y="3"/>
                  </a:lnTo>
                  <a:lnTo>
                    <a:pt x="726" y="6"/>
                  </a:lnTo>
                  <a:lnTo>
                    <a:pt x="726" y="9"/>
                  </a:lnTo>
                  <a:lnTo>
                    <a:pt x="725" y="10"/>
                  </a:lnTo>
                  <a:lnTo>
                    <a:pt x="724" y="12"/>
                  </a:lnTo>
                  <a:lnTo>
                    <a:pt x="721" y="12"/>
                  </a:lnTo>
                  <a:lnTo>
                    <a:pt x="721" y="12"/>
                  </a:lnTo>
                  <a:lnTo>
                    <a:pt x="720" y="12"/>
                  </a:lnTo>
                  <a:lnTo>
                    <a:pt x="717" y="10"/>
                  </a:lnTo>
                  <a:lnTo>
                    <a:pt x="716" y="9"/>
                  </a:lnTo>
                  <a:lnTo>
                    <a:pt x="716" y="6"/>
                  </a:lnTo>
                  <a:lnTo>
                    <a:pt x="716" y="3"/>
                  </a:lnTo>
                  <a:lnTo>
                    <a:pt x="717" y="1"/>
                  </a:lnTo>
                  <a:lnTo>
                    <a:pt x="720" y="0"/>
                  </a:lnTo>
                  <a:lnTo>
                    <a:pt x="721" y="0"/>
                  </a:lnTo>
                  <a:lnTo>
                    <a:pt x="721" y="0"/>
                  </a:lnTo>
                  <a:close/>
                  <a:moveTo>
                    <a:pt x="742" y="0"/>
                  </a:moveTo>
                  <a:lnTo>
                    <a:pt x="742" y="0"/>
                  </a:lnTo>
                  <a:lnTo>
                    <a:pt x="743" y="0"/>
                  </a:lnTo>
                  <a:lnTo>
                    <a:pt x="746" y="1"/>
                  </a:lnTo>
                  <a:lnTo>
                    <a:pt x="747" y="3"/>
                  </a:lnTo>
                  <a:lnTo>
                    <a:pt x="747" y="6"/>
                  </a:lnTo>
                  <a:lnTo>
                    <a:pt x="747" y="9"/>
                  </a:lnTo>
                  <a:lnTo>
                    <a:pt x="746" y="10"/>
                  </a:lnTo>
                  <a:lnTo>
                    <a:pt x="743" y="12"/>
                  </a:lnTo>
                  <a:lnTo>
                    <a:pt x="742" y="12"/>
                  </a:lnTo>
                  <a:lnTo>
                    <a:pt x="742" y="12"/>
                  </a:lnTo>
                  <a:lnTo>
                    <a:pt x="739" y="12"/>
                  </a:lnTo>
                  <a:lnTo>
                    <a:pt x="738" y="10"/>
                  </a:lnTo>
                  <a:lnTo>
                    <a:pt x="737" y="9"/>
                  </a:lnTo>
                  <a:lnTo>
                    <a:pt x="737" y="6"/>
                  </a:lnTo>
                  <a:lnTo>
                    <a:pt x="737" y="3"/>
                  </a:lnTo>
                  <a:lnTo>
                    <a:pt x="738" y="1"/>
                  </a:lnTo>
                  <a:lnTo>
                    <a:pt x="739" y="0"/>
                  </a:lnTo>
                  <a:lnTo>
                    <a:pt x="742" y="0"/>
                  </a:lnTo>
                  <a:lnTo>
                    <a:pt x="742" y="0"/>
                  </a:lnTo>
                  <a:close/>
                  <a:moveTo>
                    <a:pt x="763" y="0"/>
                  </a:moveTo>
                  <a:lnTo>
                    <a:pt x="763" y="0"/>
                  </a:lnTo>
                  <a:lnTo>
                    <a:pt x="764" y="0"/>
                  </a:lnTo>
                  <a:lnTo>
                    <a:pt x="766" y="1"/>
                  </a:lnTo>
                  <a:lnTo>
                    <a:pt x="766" y="3"/>
                  </a:lnTo>
                  <a:lnTo>
                    <a:pt x="768" y="6"/>
                  </a:lnTo>
                  <a:lnTo>
                    <a:pt x="766" y="9"/>
                  </a:lnTo>
                  <a:lnTo>
                    <a:pt x="766" y="10"/>
                  </a:lnTo>
                  <a:lnTo>
                    <a:pt x="764" y="12"/>
                  </a:lnTo>
                  <a:lnTo>
                    <a:pt x="763" y="12"/>
                  </a:lnTo>
                  <a:lnTo>
                    <a:pt x="763" y="12"/>
                  </a:lnTo>
                  <a:lnTo>
                    <a:pt x="760" y="12"/>
                  </a:lnTo>
                  <a:lnTo>
                    <a:pt x="759" y="10"/>
                  </a:lnTo>
                  <a:lnTo>
                    <a:pt x="758" y="9"/>
                  </a:lnTo>
                  <a:lnTo>
                    <a:pt x="757" y="6"/>
                  </a:lnTo>
                  <a:lnTo>
                    <a:pt x="758" y="3"/>
                  </a:lnTo>
                  <a:lnTo>
                    <a:pt x="759" y="1"/>
                  </a:lnTo>
                  <a:lnTo>
                    <a:pt x="760" y="0"/>
                  </a:lnTo>
                  <a:lnTo>
                    <a:pt x="763" y="0"/>
                  </a:lnTo>
                  <a:lnTo>
                    <a:pt x="763" y="0"/>
                  </a:lnTo>
                  <a:close/>
                  <a:moveTo>
                    <a:pt x="782" y="0"/>
                  </a:moveTo>
                  <a:lnTo>
                    <a:pt x="782" y="0"/>
                  </a:lnTo>
                  <a:lnTo>
                    <a:pt x="785" y="0"/>
                  </a:lnTo>
                  <a:lnTo>
                    <a:pt x="786" y="1"/>
                  </a:lnTo>
                  <a:lnTo>
                    <a:pt x="787" y="3"/>
                  </a:lnTo>
                  <a:lnTo>
                    <a:pt x="787" y="6"/>
                  </a:lnTo>
                  <a:lnTo>
                    <a:pt x="787" y="9"/>
                  </a:lnTo>
                  <a:lnTo>
                    <a:pt x="786" y="10"/>
                  </a:lnTo>
                  <a:lnTo>
                    <a:pt x="785" y="12"/>
                  </a:lnTo>
                  <a:lnTo>
                    <a:pt x="782" y="12"/>
                  </a:lnTo>
                  <a:lnTo>
                    <a:pt x="782" y="12"/>
                  </a:lnTo>
                  <a:lnTo>
                    <a:pt x="781" y="12"/>
                  </a:lnTo>
                  <a:lnTo>
                    <a:pt x="779" y="10"/>
                  </a:lnTo>
                  <a:lnTo>
                    <a:pt x="777" y="9"/>
                  </a:lnTo>
                  <a:lnTo>
                    <a:pt x="777" y="6"/>
                  </a:lnTo>
                  <a:lnTo>
                    <a:pt x="777" y="3"/>
                  </a:lnTo>
                  <a:lnTo>
                    <a:pt x="779" y="1"/>
                  </a:lnTo>
                  <a:lnTo>
                    <a:pt x="781" y="0"/>
                  </a:lnTo>
                  <a:lnTo>
                    <a:pt x="782" y="0"/>
                  </a:lnTo>
                  <a:lnTo>
                    <a:pt x="782" y="0"/>
                  </a:lnTo>
                  <a:close/>
                  <a:moveTo>
                    <a:pt x="803" y="0"/>
                  </a:moveTo>
                  <a:lnTo>
                    <a:pt x="803" y="0"/>
                  </a:lnTo>
                  <a:lnTo>
                    <a:pt x="806" y="0"/>
                  </a:lnTo>
                  <a:lnTo>
                    <a:pt x="807" y="1"/>
                  </a:lnTo>
                  <a:lnTo>
                    <a:pt x="808" y="3"/>
                  </a:lnTo>
                  <a:lnTo>
                    <a:pt x="808" y="6"/>
                  </a:lnTo>
                  <a:lnTo>
                    <a:pt x="808" y="9"/>
                  </a:lnTo>
                  <a:lnTo>
                    <a:pt x="807" y="10"/>
                  </a:lnTo>
                  <a:lnTo>
                    <a:pt x="806" y="12"/>
                  </a:lnTo>
                  <a:lnTo>
                    <a:pt x="803" y="12"/>
                  </a:lnTo>
                  <a:lnTo>
                    <a:pt x="803" y="12"/>
                  </a:lnTo>
                  <a:lnTo>
                    <a:pt x="801" y="12"/>
                  </a:lnTo>
                  <a:lnTo>
                    <a:pt x="800" y="10"/>
                  </a:lnTo>
                  <a:lnTo>
                    <a:pt x="798" y="9"/>
                  </a:lnTo>
                  <a:lnTo>
                    <a:pt x="798" y="6"/>
                  </a:lnTo>
                  <a:lnTo>
                    <a:pt x="798" y="3"/>
                  </a:lnTo>
                  <a:lnTo>
                    <a:pt x="800" y="1"/>
                  </a:lnTo>
                  <a:lnTo>
                    <a:pt x="801" y="0"/>
                  </a:lnTo>
                  <a:lnTo>
                    <a:pt x="803" y="0"/>
                  </a:lnTo>
                  <a:lnTo>
                    <a:pt x="803" y="0"/>
                  </a:lnTo>
                  <a:close/>
                  <a:moveTo>
                    <a:pt x="824" y="0"/>
                  </a:moveTo>
                  <a:lnTo>
                    <a:pt x="824" y="0"/>
                  </a:lnTo>
                  <a:lnTo>
                    <a:pt x="825" y="0"/>
                  </a:lnTo>
                  <a:lnTo>
                    <a:pt x="828" y="1"/>
                  </a:lnTo>
                  <a:lnTo>
                    <a:pt x="828" y="3"/>
                  </a:lnTo>
                  <a:lnTo>
                    <a:pt x="829" y="6"/>
                  </a:lnTo>
                  <a:lnTo>
                    <a:pt x="828" y="9"/>
                  </a:lnTo>
                  <a:lnTo>
                    <a:pt x="828" y="10"/>
                  </a:lnTo>
                  <a:lnTo>
                    <a:pt x="825" y="12"/>
                  </a:lnTo>
                  <a:lnTo>
                    <a:pt x="824" y="12"/>
                  </a:lnTo>
                  <a:lnTo>
                    <a:pt x="824" y="12"/>
                  </a:lnTo>
                  <a:lnTo>
                    <a:pt x="822" y="12"/>
                  </a:lnTo>
                  <a:lnTo>
                    <a:pt x="820" y="10"/>
                  </a:lnTo>
                  <a:lnTo>
                    <a:pt x="819" y="9"/>
                  </a:lnTo>
                  <a:lnTo>
                    <a:pt x="818" y="6"/>
                  </a:lnTo>
                  <a:lnTo>
                    <a:pt x="819" y="3"/>
                  </a:lnTo>
                  <a:lnTo>
                    <a:pt x="820" y="1"/>
                  </a:lnTo>
                  <a:lnTo>
                    <a:pt x="822" y="0"/>
                  </a:lnTo>
                  <a:lnTo>
                    <a:pt x="824" y="0"/>
                  </a:lnTo>
                  <a:lnTo>
                    <a:pt x="824" y="0"/>
                  </a:lnTo>
                  <a:close/>
                  <a:moveTo>
                    <a:pt x="844" y="0"/>
                  </a:moveTo>
                  <a:lnTo>
                    <a:pt x="844" y="0"/>
                  </a:lnTo>
                  <a:lnTo>
                    <a:pt x="846" y="0"/>
                  </a:lnTo>
                  <a:lnTo>
                    <a:pt x="847" y="1"/>
                  </a:lnTo>
                  <a:lnTo>
                    <a:pt x="849" y="3"/>
                  </a:lnTo>
                  <a:lnTo>
                    <a:pt x="849" y="6"/>
                  </a:lnTo>
                  <a:lnTo>
                    <a:pt x="849" y="9"/>
                  </a:lnTo>
                  <a:lnTo>
                    <a:pt x="847" y="10"/>
                  </a:lnTo>
                  <a:lnTo>
                    <a:pt x="846" y="12"/>
                  </a:lnTo>
                  <a:lnTo>
                    <a:pt x="844" y="12"/>
                  </a:lnTo>
                  <a:lnTo>
                    <a:pt x="844" y="12"/>
                  </a:lnTo>
                  <a:lnTo>
                    <a:pt x="842" y="12"/>
                  </a:lnTo>
                  <a:lnTo>
                    <a:pt x="840" y="10"/>
                  </a:lnTo>
                  <a:lnTo>
                    <a:pt x="839" y="9"/>
                  </a:lnTo>
                  <a:lnTo>
                    <a:pt x="839" y="6"/>
                  </a:lnTo>
                  <a:lnTo>
                    <a:pt x="839" y="3"/>
                  </a:lnTo>
                  <a:lnTo>
                    <a:pt x="840" y="1"/>
                  </a:lnTo>
                  <a:lnTo>
                    <a:pt x="842" y="0"/>
                  </a:lnTo>
                  <a:lnTo>
                    <a:pt x="844" y="0"/>
                  </a:lnTo>
                  <a:lnTo>
                    <a:pt x="844" y="0"/>
                  </a:lnTo>
                  <a:close/>
                  <a:moveTo>
                    <a:pt x="864" y="0"/>
                  </a:moveTo>
                  <a:lnTo>
                    <a:pt x="864" y="0"/>
                  </a:lnTo>
                  <a:lnTo>
                    <a:pt x="867" y="0"/>
                  </a:lnTo>
                  <a:lnTo>
                    <a:pt x="868" y="1"/>
                  </a:lnTo>
                  <a:lnTo>
                    <a:pt x="869" y="3"/>
                  </a:lnTo>
                  <a:lnTo>
                    <a:pt x="869" y="6"/>
                  </a:lnTo>
                  <a:lnTo>
                    <a:pt x="869" y="9"/>
                  </a:lnTo>
                  <a:lnTo>
                    <a:pt x="868" y="10"/>
                  </a:lnTo>
                  <a:lnTo>
                    <a:pt x="867" y="12"/>
                  </a:lnTo>
                  <a:lnTo>
                    <a:pt x="864" y="12"/>
                  </a:lnTo>
                  <a:lnTo>
                    <a:pt x="864" y="12"/>
                  </a:lnTo>
                  <a:lnTo>
                    <a:pt x="862" y="12"/>
                  </a:lnTo>
                  <a:lnTo>
                    <a:pt x="861" y="10"/>
                  </a:lnTo>
                  <a:lnTo>
                    <a:pt x="860" y="9"/>
                  </a:lnTo>
                  <a:lnTo>
                    <a:pt x="860" y="6"/>
                  </a:lnTo>
                  <a:lnTo>
                    <a:pt x="860" y="3"/>
                  </a:lnTo>
                  <a:lnTo>
                    <a:pt x="861" y="1"/>
                  </a:lnTo>
                  <a:lnTo>
                    <a:pt x="862" y="0"/>
                  </a:lnTo>
                  <a:lnTo>
                    <a:pt x="864" y="0"/>
                  </a:lnTo>
                  <a:lnTo>
                    <a:pt x="864" y="0"/>
                  </a:lnTo>
                  <a:close/>
                  <a:moveTo>
                    <a:pt x="885" y="0"/>
                  </a:moveTo>
                  <a:lnTo>
                    <a:pt x="885" y="0"/>
                  </a:lnTo>
                  <a:lnTo>
                    <a:pt x="887" y="0"/>
                  </a:lnTo>
                  <a:lnTo>
                    <a:pt x="889" y="1"/>
                  </a:lnTo>
                  <a:lnTo>
                    <a:pt x="889" y="3"/>
                  </a:lnTo>
                  <a:lnTo>
                    <a:pt x="890" y="6"/>
                  </a:lnTo>
                  <a:lnTo>
                    <a:pt x="889" y="9"/>
                  </a:lnTo>
                  <a:lnTo>
                    <a:pt x="889" y="10"/>
                  </a:lnTo>
                  <a:lnTo>
                    <a:pt x="887" y="12"/>
                  </a:lnTo>
                  <a:lnTo>
                    <a:pt x="885" y="12"/>
                  </a:lnTo>
                  <a:lnTo>
                    <a:pt x="885" y="12"/>
                  </a:lnTo>
                  <a:lnTo>
                    <a:pt x="883" y="12"/>
                  </a:lnTo>
                  <a:lnTo>
                    <a:pt x="882" y="10"/>
                  </a:lnTo>
                  <a:lnTo>
                    <a:pt x="880" y="9"/>
                  </a:lnTo>
                  <a:lnTo>
                    <a:pt x="879" y="6"/>
                  </a:lnTo>
                  <a:lnTo>
                    <a:pt x="880" y="3"/>
                  </a:lnTo>
                  <a:lnTo>
                    <a:pt x="882" y="1"/>
                  </a:lnTo>
                  <a:lnTo>
                    <a:pt x="883" y="0"/>
                  </a:lnTo>
                  <a:lnTo>
                    <a:pt x="885" y="0"/>
                  </a:lnTo>
                  <a:lnTo>
                    <a:pt x="885" y="0"/>
                  </a:lnTo>
                  <a:close/>
                  <a:moveTo>
                    <a:pt x="905" y="0"/>
                  </a:moveTo>
                  <a:lnTo>
                    <a:pt x="905" y="0"/>
                  </a:lnTo>
                  <a:lnTo>
                    <a:pt x="907" y="0"/>
                  </a:lnTo>
                  <a:lnTo>
                    <a:pt x="909" y="1"/>
                  </a:lnTo>
                  <a:lnTo>
                    <a:pt x="910" y="3"/>
                  </a:lnTo>
                  <a:lnTo>
                    <a:pt x="910" y="6"/>
                  </a:lnTo>
                  <a:lnTo>
                    <a:pt x="910" y="9"/>
                  </a:lnTo>
                  <a:lnTo>
                    <a:pt x="909" y="10"/>
                  </a:lnTo>
                  <a:lnTo>
                    <a:pt x="907" y="12"/>
                  </a:lnTo>
                  <a:lnTo>
                    <a:pt x="905" y="12"/>
                  </a:lnTo>
                  <a:lnTo>
                    <a:pt x="905" y="12"/>
                  </a:lnTo>
                  <a:lnTo>
                    <a:pt x="904" y="12"/>
                  </a:lnTo>
                  <a:lnTo>
                    <a:pt x="901" y="10"/>
                  </a:lnTo>
                  <a:lnTo>
                    <a:pt x="900" y="9"/>
                  </a:lnTo>
                  <a:lnTo>
                    <a:pt x="900" y="6"/>
                  </a:lnTo>
                  <a:lnTo>
                    <a:pt x="900" y="3"/>
                  </a:lnTo>
                  <a:lnTo>
                    <a:pt x="901" y="1"/>
                  </a:lnTo>
                  <a:lnTo>
                    <a:pt x="904" y="0"/>
                  </a:lnTo>
                  <a:lnTo>
                    <a:pt x="905" y="0"/>
                  </a:lnTo>
                  <a:lnTo>
                    <a:pt x="905" y="0"/>
                  </a:lnTo>
                  <a:close/>
                  <a:moveTo>
                    <a:pt x="926" y="0"/>
                  </a:moveTo>
                  <a:lnTo>
                    <a:pt x="926" y="0"/>
                  </a:lnTo>
                  <a:lnTo>
                    <a:pt x="928" y="0"/>
                  </a:lnTo>
                  <a:lnTo>
                    <a:pt x="929" y="1"/>
                  </a:lnTo>
                  <a:lnTo>
                    <a:pt x="931" y="3"/>
                  </a:lnTo>
                  <a:lnTo>
                    <a:pt x="931" y="6"/>
                  </a:lnTo>
                  <a:lnTo>
                    <a:pt x="931" y="9"/>
                  </a:lnTo>
                  <a:lnTo>
                    <a:pt x="929" y="10"/>
                  </a:lnTo>
                  <a:lnTo>
                    <a:pt x="928" y="12"/>
                  </a:lnTo>
                  <a:lnTo>
                    <a:pt x="926" y="12"/>
                  </a:lnTo>
                  <a:lnTo>
                    <a:pt x="926" y="12"/>
                  </a:lnTo>
                  <a:lnTo>
                    <a:pt x="923" y="12"/>
                  </a:lnTo>
                  <a:lnTo>
                    <a:pt x="922" y="10"/>
                  </a:lnTo>
                  <a:lnTo>
                    <a:pt x="921" y="9"/>
                  </a:lnTo>
                  <a:lnTo>
                    <a:pt x="921" y="6"/>
                  </a:lnTo>
                  <a:lnTo>
                    <a:pt x="921" y="3"/>
                  </a:lnTo>
                  <a:lnTo>
                    <a:pt x="922" y="1"/>
                  </a:lnTo>
                  <a:lnTo>
                    <a:pt x="923" y="0"/>
                  </a:lnTo>
                  <a:lnTo>
                    <a:pt x="926" y="0"/>
                  </a:lnTo>
                  <a:lnTo>
                    <a:pt x="926" y="0"/>
                  </a:lnTo>
                  <a:close/>
                  <a:moveTo>
                    <a:pt x="947" y="0"/>
                  </a:moveTo>
                  <a:lnTo>
                    <a:pt x="947" y="0"/>
                  </a:lnTo>
                  <a:lnTo>
                    <a:pt x="948" y="0"/>
                  </a:lnTo>
                  <a:lnTo>
                    <a:pt x="950" y="1"/>
                  </a:lnTo>
                  <a:lnTo>
                    <a:pt x="950" y="3"/>
                  </a:lnTo>
                  <a:lnTo>
                    <a:pt x="952" y="6"/>
                  </a:lnTo>
                  <a:lnTo>
                    <a:pt x="950" y="9"/>
                  </a:lnTo>
                  <a:lnTo>
                    <a:pt x="950" y="10"/>
                  </a:lnTo>
                  <a:lnTo>
                    <a:pt x="948" y="12"/>
                  </a:lnTo>
                  <a:lnTo>
                    <a:pt x="947" y="12"/>
                  </a:lnTo>
                  <a:lnTo>
                    <a:pt x="947" y="12"/>
                  </a:lnTo>
                  <a:lnTo>
                    <a:pt x="944" y="12"/>
                  </a:lnTo>
                  <a:lnTo>
                    <a:pt x="943" y="10"/>
                  </a:lnTo>
                  <a:lnTo>
                    <a:pt x="942" y="9"/>
                  </a:lnTo>
                  <a:lnTo>
                    <a:pt x="942" y="6"/>
                  </a:lnTo>
                  <a:lnTo>
                    <a:pt x="942" y="3"/>
                  </a:lnTo>
                  <a:lnTo>
                    <a:pt x="943" y="1"/>
                  </a:lnTo>
                  <a:lnTo>
                    <a:pt x="944" y="0"/>
                  </a:lnTo>
                  <a:lnTo>
                    <a:pt x="947" y="0"/>
                  </a:lnTo>
                  <a:lnTo>
                    <a:pt x="947" y="0"/>
                  </a:lnTo>
                  <a:close/>
                  <a:moveTo>
                    <a:pt x="966" y="0"/>
                  </a:moveTo>
                  <a:lnTo>
                    <a:pt x="966" y="0"/>
                  </a:lnTo>
                  <a:lnTo>
                    <a:pt x="969" y="0"/>
                  </a:lnTo>
                  <a:lnTo>
                    <a:pt x="970" y="1"/>
                  </a:lnTo>
                  <a:lnTo>
                    <a:pt x="971" y="3"/>
                  </a:lnTo>
                  <a:lnTo>
                    <a:pt x="972" y="6"/>
                  </a:lnTo>
                  <a:lnTo>
                    <a:pt x="971" y="9"/>
                  </a:lnTo>
                  <a:lnTo>
                    <a:pt x="970" y="10"/>
                  </a:lnTo>
                  <a:lnTo>
                    <a:pt x="969" y="12"/>
                  </a:lnTo>
                  <a:lnTo>
                    <a:pt x="966" y="12"/>
                  </a:lnTo>
                  <a:lnTo>
                    <a:pt x="966" y="12"/>
                  </a:lnTo>
                  <a:lnTo>
                    <a:pt x="965" y="12"/>
                  </a:lnTo>
                  <a:lnTo>
                    <a:pt x="963" y="10"/>
                  </a:lnTo>
                  <a:lnTo>
                    <a:pt x="961" y="9"/>
                  </a:lnTo>
                  <a:lnTo>
                    <a:pt x="961" y="6"/>
                  </a:lnTo>
                  <a:lnTo>
                    <a:pt x="961" y="3"/>
                  </a:lnTo>
                  <a:lnTo>
                    <a:pt x="963" y="1"/>
                  </a:lnTo>
                  <a:lnTo>
                    <a:pt x="965" y="0"/>
                  </a:lnTo>
                  <a:lnTo>
                    <a:pt x="966" y="0"/>
                  </a:lnTo>
                  <a:lnTo>
                    <a:pt x="966" y="0"/>
                  </a:lnTo>
                  <a:close/>
                  <a:moveTo>
                    <a:pt x="987" y="0"/>
                  </a:moveTo>
                  <a:lnTo>
                    <a:pt x="987" y="0"/>
                  </a:lnTo>
                  <a:lnTo>
                    <a:pt x="990" y="0"/>
                  </a:lnTo>
                  <a:lnTo>
                    <a:pt x="991" y="1"/>
                  </a:lnTo>
                  <a:lnTo>
                    <a:pt x="992" y="3"/>
                  </a:lnTo>
                  <a:lnTo>
                    <a:pt x="992" y="6"/>
                  </a:lnTo>
                  <a:lnTo>
                    <a:pt x="992" y="9"/>
                  </a:lnTo>
                  <a:lnTo>
                    <a:pt x="991" y="10"/>
                  </a:lnTo>
                  <a:lnTo>
                    <a:pt x="990" y="12"/>
                  </a:lnTo>
                  <a:lnTo>
                    <a:pt x="987" y="12"/>
                  </a:lnTo>
                  <a:lnTo>
                    <a:pt x="987" y="12"/>
                  </a:lnTo>
                  <a:lnTo>
                    <a:pt x="985" y="12"/>
                  </a:lnTo>
                  <a:lnTo>
                    <a:pt x="983" y="10"/>
                  </a:lnTo>
                  <a:lnTo>
                    <a:pt x="982" y="9"/>
                  </a:lnTo>
                  <a:lnTo>
                    <a:pt x="982" y="6"/>
                  </a:lnTo>
                  <a:lnTo>
                    <a:pt x="982" y="3"/>
                  </a:lnTo>
                  <a:lnTo>
                    <a:pt x="983" y="1"/>
                  </a:lnTo>
                  <a:lnTo>
                    <a:pt x="985" y="0"/>
                  </a:lnTo>
                  <a:lnTo>
                    <a:pt x="987" y="0"/>
                  </a:lnTo>
                  <a:lnTo>
                    <a:pt x="987" y="0"/>
                  </a:lnTo>
                  <a:close/>
                  <a:moveTo>
                    <a:pt x="1008" y="0"/>
                  </a:moveTo>
                  <a:lnTo>
                    <a:pt x="1008" y="0"/>
                  </a:lnTo>
                  <a:lnTo>
                    <a:pt x="1009" y="0"/>
                  </a:lnTo>
                  <a:lnTo>
                    <a:pt x="1012" y="1"/>
                  </a:lnTo>
                  <a:lnTo>
                    <a:pt x="1012" y="3"/>
                  </a:lnTo>
                  <a:lnTo>
                    <a:pt x="1013" y="6"/>
                  </a:lnTo>
                  <a:lnTo>
                    <a:pt x="1012" y="9"/>
                  </a:lnTo>
                  <a:lnTo>
                    <a:pt x="1012" y="10"/>
                  </a:lnTo>
                  <a:lnTo>
                    <a:pt x="1009" y="12"/>
                  </a:lnTo>
                  <a:lnTo>
                    <a:pt x="1008" y="12"/>
                  </a:lnTo>
                  <a:lnTo>
                    <a:pt x="1008" y="12"/>
                  </a:lnTo>
                  <a:lnTo>
                    <a:pt x="1005" y="12"/>
                  </a:lnTo>
                  <a:lnTo>
                    <a:pt x="1004" y="10"/>
                  </a:lnTo>
                  <a:lnTo>
                    <a:pt x="1003" y="9"/>
                  </a:lnTo>
                  <a:lnTo>
                    <a:pt x="1003" y="6"/>
                  </a:lnTo>
                  <a:lnTo>
                    <a:pt x="1003" y="3"/>
                  </a:lnTo>
                  <a:lnTo>
                    <a:pt x="1004" y="1"/>
                  </a:lnTo>
                  <a:lnTo>
                    <a:pt x="1005" y="0"/>
                  </a:lnTo>
                  <a:lnTo>
                    <a:pt x="1008" y="0"/>
                  </a:lnTo>
                  <a:lnTo>
                    <a:pt x="1008" y="0"/>
                  </a:lnTo>
                  <a:close/>
                  <a:moveTo>
                    <a:pt x="1028" y="0"/>
                  </a:moveTo>
                  <a:lnTo>
                    <a:pt x="1028" y="0"/>
                  </a:lnTo>
                  <a:lnTo>
                    <a:pt x="1030" y="0"/>
                  </a:lnTo>
                  <a:lnTo>
                    <a:pt x="1031" y="1"/>
                  </a:lnTo>
                  <a:lnTo>
                    <a:pt x="1032" y="3"/>
                  </a:lnTo>
                  <a:lnTo>
                    <a:pt x="1034" y="6"/>
                  </a:lnTo>
                  <a:lnTo>
                    <a:pt x="1032" y="9"/>
                  </a:lnTo>
                  <a:lnTo>
                    <a:pt x="1031" y="10"/>
                  </a:lnTo>
                  <a:lnTo>
                    <a:pt x="1030" y="12"/>
                  </a:lnTo>
                  <a:lnTo>
                    <a:pt x="1028" y="12"/>
                  </a:lnTo>
                  <a:lnTo>
                    <a:pt x="1028" y="12"/>
                  </a:lnTo>
                  <a:lnTo>
                    <a:pt x="1026" y="12"/>
                  </a:lnTo>
                  <a:lnTo>
                    <a:pt x="1024" y="10"/>
                  </a:lnTo>
                  <a:lnTo>
                    <a:pt x="1023" y="9"/>
                  </a:lnTo>
                  <a:lnTo>
                    <a:pt x="1023" y="6"/>
                  </a:lnTo>
                  <a:lnTo>
                    <a:pt x="1023" y="3"/>
                  </a:lnTo>
                  <a:lnTo>
                    <a:pt x="1024" y="1"/>
                  </a:lnTo>
                  <a:lnTo>
                    <a:pt x="1026" y="0"/>
                  </a:lnTo>
                  <a:lnTo>
                    <a:pt x="1028" y="0"/>
                  </a:lnTo>
                  <a:lnTo>
                    <a:pt x="1028" y="0"/>
                  </a:lnTo>
                  <a:close/>
                  <a:moveTo>
                    <a:pt x="1048" y="0"/>
                  </a:moveTo>
                  <a:lnTo>
                    <a:pt x="1048" y="0"/>
                  </a:lnTo>
                  <a:lnTo>
                    <a:pt x="1051" y="0"/>
                  </a:lnTo>
                  <a:lnTo>
                    <a:pt x="1052" y="1"/>
                  </a:lnTo>
                  <a:lnTo>
                    <a:pt x="1053" y="3"/>
                  </a:lnTo>
                  <a:lnTo>
                    <a:pt x="1053" y="6"/>
                  </a:lnTo>
                  <a:lnTo>
                    <a:pt x="1053" y="9"/>
                  </a:lnTo>
                  <a:lnTo>
                    <a:pt x="1052" y="10"/>
                  </a:lnTo>
                  <a:lnTo>
                    <a:pt x="1051" y="12"/>
                  </a:lnTo>
                  <a:lnTo>
                    <a:pt x="1048" y="12"/>
                  </a:lnTo>
                  <a:lnTo>
                    <a:pt x="1048" y="12"/>
                  </a:lnTo>
                  <a:lnTo>
                    <a:pt x="1046" y="12"/>
                  </a:lnTo>
                  <a:lnTo>
                    <a:pt x="1045" y="10"/>
                  </a:lnTo>
                  <a:lnTo>
                    <a:pt x="1043" y="9"/>
                  </a:lnTo>
                  <a:lnTo>
                    <a:pt x="1043" y="6"/>
                  </a:lnTo>
                  <a:lnTo>
                    <a:pt x="1043" y="3"/>
                  </a:lnTo>
                  <a:lnTo>
                    <a:pt x="1045" y="1"/>
                  </a:lnTo>
                  <a:lnTo>
                    <a:pt x="1046" y="0"/>
                  </a:lnTo>
                  <a:lnTo>
                    <a:pt x="1048" y="0"/>
                  </a:lnTo>
                  <a:lnTo>
                    <a:pt x="1048" y="0"/>
                  </a:lnTo>
                  <a:close/>
                  <a:moveTo>
                    <a:pt x="1069" y="0"/>
                  </a:moveTo>
                  <a:lnTo>
                    <a:pt x="1069" y="0"/>
                  </a:lnTo>
                  <a:lnTo>
                    <a:pt x="1070" y="0"/>
                  </a:lnTo>
                  <a:lnTo>
                    <a:pt x="1073" y="1"/>
                  </a:lnTo>
                  <a:lnTo>
                    <a:pt x="1074" y="3"/>
                  </a:lnTo>
                  <a:lnTo>
                    <a:pt x="1074" y="6"/>
                  </a:lnTo>
                  <a:lnTo>
                    <a:pt x="1074" y="9"/>
                  </a:lnTo>
                  <a:lnTo>
                    <a:pt x="1073" y="10"/>
                  </a:lnTo>
                  <a:lnTo>
                    <a:pt x="1070" y="12"/>
                  </a:lnTo>
                  <a:lnTo>
                    <a:pt x="1069" y="12"/>
                  </a:lnTo>
                  <a:lnTo>
                    <a:pt x="1069" y="12"/>
                  </a:lnTo>
                  <a:lnTo>
                    <a:pt x="1067" y="12"/>
                  </a:lnTo>
                  <a:lnTo>
                    <a:pt x="1066" y="10"/>
                  </a:lnTo>
                  <a:lnTo>
                    <a:pt x="1064" y="9"/>
                  </a:lnTo>
                  <a:lnTo>
                    <a:pt x="1064" y="6"/>
                  </a:lnTo>
                  <a:lnTo>
                    <a:pt x="1064" y="3"/>
                  </a:lnTo>
                  <a:lnTo>
                    <a:pt x="1066" y="1"/>
                  </a:lnTo>
                  <a:lnTo>
                    <a:pt x="1067" y="0"/>
                  </a:lnTo>
                  <a:lnTo>
                    <a:pt x="1069" y="0"/>
                  </a:lnTo>
                  <a:lnTo>
                    <a:pt x="1069" y="0"/>
                  </a:lnTo>
                  <a:close/>
                  <a:moveTo>
                    <a:pt x="1089" y="0"/>
                  </a:moveTo>
                  <a:lnTo>
                    <a:pt x="1089" y="0"/>
                  </a:lnTo>
                  <a:lnTo>
                    <a:pt x="1091" y="0"/>
                  </a:lnTo>
                  <a:lnTo>
                    <a:pt x="1093" y="1"/>
                  </a:lnTo>
                  <a:lnTo>
                    <a:pt x="1094" y="3"/>
                  </a:lnTo>
                  <a:lnTo>
                    <a:pt x="1095" y="6"/>
                  </a:lnTo>
                  <a:lnTo>
                    <a:pt x="1094" y="9"/>
                  </a:lnTo>
                  <a:lnTo>
                    <a:pt x="1093" y="10"/>
                  </a:lnTo>
                  <a:lnTo>
                    <a:pt x="1091" y="12"/>
                  </a:lnTo>
                  <a:lnTo>
                    <a:pt x="1089" y="12"/>
                  </a:lnTo>
                  <a:lnTo>
                    <a:pt x="1089" y="12"/>
                  </a:lnTo>
                  <a:lnTo>
                    <a:pt x="1088" y="12"/>
                  </a:lnTo>
                  <a:lnTo>
                    <a:pt x="1085" y="10"/>
                  </a:lnTo>
                  <a:lnTo>
                    <a:pt x="1084" y="9"/>
                  </a:lnTo>
                  <a:lnTo>
                    <a:pt x="1084" y="6"/>
                  </a:lnTo>
                  <a:lnTo>
                    <a:pt x="1084" y="3"/>
                  </a:lnTo>
                  <a:lnTo>
                    <a:pt x="1085" y="1"/>
                  </a:lnTo>
                  <a:lnTo>
                    <a:pt x="1088" y="0"/>
                  </a:lnTo>
                  <a:lnTo>
                    <a:pt x="1089" y="0"/>
                  </a:lnTo>
                  <a:lnTo>
                    <a:pt x="1089" y="0"/>
                  </a:lnTo>
                  <a:close/>
                  <a:moveTo>
                    <a:pt x="1110" y="0"/>
                  </a:moveTo>
                  <a:lnTo>
                    <a:pt x="1110" y="0"/>
                  </a:lnTo>
                  <a:lnTo>
                    <a:pt x="1112" y="0"/>
                  </a:lnTo>
                  <a:lnTo>
                    <a:pt x="1113" y="1"/>
                  </a:lnTo>
                  <a:lnTo>
                    <a:pt x="1115" y="3"/>
                  </a:lnTo>
                  <a:lnTo>
                    <a:pt x="1115" y="6"/>
                  </a:lnTo>
                  <a:lnTo>
                    <a:pt x="1115" y="9"/>
                  </a:lnTo>
                  <a:lnTo>
                    <a:pt x="1113" y="10"/>
                  </a:lnTo>
                  <a:lnTo>
                    <a:pt x="1112" y="12"/>
                  </a:lnTo>
                  <a:lnTo>
                    <a:pt x="1110" y="12"/>
                  </a:lnTo>
                  <a:lnTo>
                    <a:pt x="1110" y="12"/>
                  </a:lnTo>
                  <a:lnTo>
                    <a:pt x="1107" y="12"/>
                  </a:lnTo>
                  <a:lnTo>
                    <a:pt x="1106" y="10"/>
                  </a:lnTo>
                  <a:lnTo>
                    <a:pt x="1105" y="9"/>
                  </a:lnTo>
                  <a:lnTo>
                    <a:pt x="1105" y="6"/>
                  </a:lnTo>
                  <a:lnTo>
                    <a:pt x="1105" y="3"/>
                  </a:lnTo>
                  <a:lnTo>
                    <a:pt x="1106" y="1"/>
                  </a:lnTo>
                  <a:lnTo>
                    <a:pt x="1107" y="0"/>
                  </a:lnTo>
                  <a:lnTo>
                    <a:pt x="1110" y="0"/>
                  </a:lnTo>
                  <a:lnTo>
                    <a:pt x="1110" y="0"/>
                  </a:lnTo>
                  <a:close/>
                  <a:moveTo>
                    <a:pt x="1131" y="0"/>
                  </a:moveTo>
                  <a:lnTo>
                    <a:pt x="1131" y="0"/>
                  </a:lnTo>
                  <a:lnTo>
                    <a:pt x="1132" y="0"/>
                  </a:lnTo>
                  <a:lnTo>
                    <a:pt x="1134" y="1"/>
                  </a:lnTo>
                  <a:lnTo>
                    <a:pt x="1135" y="3"/>
                  </a:lnTo>
                  <a:lnTo>
                    <a:pt x="1135" y="6"/>
                  </a:lnTo>
                  <a:lnTo>
                    <a:pt x="1135" y="9"/>
                  </a:lnTo>
                  <a:lnTo>
                    <a:pt x="1134" y="10"/>
                  </a:lnTo>
                  <a:lnTo>
                    <a:pt x="1132" y="12"/>
                  </a:lnTo>
                  <a:lnTo>
                    <a:pt x="1131" y="12"/>
                  </a:lnTo>
                  <a:lnTo>
                    <a:pt x="1131" y="12"/>
                  </a:lnTo>
                  <a:lnTo>
                    <a:pt x="1128" y="12"/>
                  </a:lnTo>
                  <a:lnTo>
                    <a:pt x="1127" y="10"/>
                  </a:lnTo>
                  <a:lnTo>
                    <a:pt x="1126" y="9"/>
                  </a:lnTo>
                  <a:lnTo>
                    <a:pt x="1126" y="6"/>
                  </a:lnTo>
                  <a:lnTo>
                    <a:pt x="1126" y="3"/>
                  </a:lnTo>
                  <a:lnTo>
                    <a:pt x="1127" y="1"/>
                  </a:lnTo>
                  <a:lnTo>
                    <a:pt x="1128" y="0"/>
                  </a:lnTo>
                  <a:lnTo>
                    <a:pt x="1131" y="0"/>
                  </a:lnTo>
                  <a:lnTo>
                    <a:pt x="1131" y="0"/>
                  </a:lnTo>
                  <a:close/>
                  <a:moveTo>
                    <a:pt x="1150" y="0"/>
                  </a:moveTo>
                  <a:lnTo>
                    <a:pt x="1150" y="0"/>
                  </a:lnTo>
                  <a:lnTo>
                    <a:pt x="1153" y="0"/>
                  </a:lnTo>
                  <a:lnTo>
                    <a:pt x="1154" y="1"/>
                  </a:lnTo>
                  <a:lnTo>
                    <a:pt x="1155" y="3"/>
                  </a:lnTo>
                  <a:lnTo>
                    <a:pt x="1156" y="6"/>
                  </a:lnTo>
                  <a:lnTo>
                    <a:pt x="1155" y="9"/>
                  </a:lnTo>
                  <a:lnTo>
                    <a:pt x="1154" y="10"/>
                  </a:lnTo>
                  <a:lnTo>
                    <a:pt x="1153" y="12"/>
                  </a:lnTo>
                  <a:lnTo>
                    <a:pt x="1150" y="12"/>
                  </a:lnTo>
                  <a:lnTo>
                    <a:pt x="1150" y="12"/>
                  </a:lnTo>
                  <a:lnTo>
                    <a:pt x="1149" y="12"/>
                  </a:lnTo>
                  <a:lnTo>
                    <a:pt x="1146" y="10"/>
                  </a:lnTo>
                  <a:lnTo>
                    <a:pt x="1146" y="9"/>
                  </a:lnTo>
                  <a:lnTo>
                    <a:pt x="1145" y="6"/>
                  </a:lnTo>
                  <a:lnTo>
                    <a:pt x="1146" y="3"/>
                  </a:lnTo>
                  <a:lnTo>
                    <a:pt x="1146" y="1"/>
                  </a:lnTo>
                  <a:lnTo>
                    <a:pt x="1149" y="0"/>
                  </a:lnTo>
                  <a:lnTo>
                    <a:pt x="1150" y="0"/>
                  </a:lnTo>
                  <a:lnTo>
                    <a:pt x="1150" y="0"/>
                  </a:lnTo>
                  <a:close/>
                  <a:moveTo>
                    <a:pt x="1171" y="0"/>
                  </a:moveTo>
                  <a:lnTo>
                    <a:pt x="1171" y="0"/>
                  </a:lnTo>
                  <a:lnTo>
                    <a:pt x="1173" y="0"/>
                  </a:lnTo>
                  <a:lnTo>
                    <a:pt x="1175" y="1"/>
                  </a:lnTo>
                  <a:lnTo>
                    <a:pt x="1176" y="3"/>
                  </a:lnTo>
                  <a:lnTo>
                    <a:pt x="1176" y="6"/>
                  </a:lnTo>
                  <a:lnTo>
                    <a:pt x="1176" y="9"/>
                  </a:lnTo>
                  <a:lnTo>
                    <a:pt x="1175" y="10"/>
                  </a:lnTo>
                  <a:lnTo>
                    <a:pt x="1173" y="12"/>
                  </a:lnTo>
                  <a:lnTo>
                    <a:pt x="1171" y="12"/>
                  </a:lnTo>
                  <a:lnTo>
                    <a:pt x="1171" y="12"/>
                  </a:lnTo>
                  <a:lnTo>
                    <a:pt x="1169" y="12"/>
                  </a:lnTo>
                  <a:lnTo>
                    <a:pt x="1167" y="10"/>
                  </a:lnTo>
                  <a:lnTo>
                    <a:pt x="1166" y="9"/>
                  </a:lnTo>
                  <a:lnTo>
                    <a:pt x="1166" y="6"/>
                  </a:lnTo>
                  <a:lnTo>
                    <a:pt x="1166" y="3"/>
                  </a:lnTo>
                  <a:lnTo>
                    <a:pt x="1167" y="1"/>
                  </a:lnTo>
                  <a:lnTo>
                    <a:pt x="1169" y="0"/>
                  </a:lnTo>
                  <a:lnTo>
                    <a:pt x="1171" y="0"/>
                  </a:lnTo>
                  <a:lnTo>
                    <a:pt x="1171" y="0"/>
                  </a:lnTo>
                  <a:close/>
                  <a:moveTo>
                    <a:pt x="1192" y="0"/>
                  </a:moveTo>
                  <a:lnTo>
                    <a:pt x="1192" y="0"/>
                  </a:lnTo>
                  <a:lnTo>
                    <a:pt x="1193" y="0"/>
                  </a:lnTo>
                  <a:lnTo>
                    <a:pt x="1196" y="1"/>
                  </a:lnTo>
                  <a:lnTo>
                    <a:pt x="1197" y="3"/>
                  </a:lnTo>
                  <a:lnTo>
                    <a:pt x="1197" y="6"/>
                  </a:lnTo>
                  <a:lnTo>
                    <a:pt x="1197" y="9"/>
                  </a:lnTo>
                  <a:lnTo>
                    <a:pt x="1196" y="10"/>
                  </a:lnTo>
                  <a:lnTo>
                    <a:pt x="1193" y="12"/>
                  </a:lnTo>
                  <a:lnTo>
                    <a:pt x="1192" y="12"/>
                  </a:lnTo>
                  <a:lnTo>
                    <a:pt x="1192" y="12"/>
                  </a:lnTo>
                  <a:lnTo>
                    <a:pt x="1189" y="12"/>
                  </a:lnTo>
                  <a:lnTo>
                    <a:pt x="1188" y="10"/>
                  </a:lnTo>
                  <a:lnTo>
                    <a:pt x="1187" y="9"/>
                  </a:lnTo>
                  <a:lnTo>
                    <a:pt x="1187" y="6"/>
                  </a:lnTo>
                  <a:lnTo>
                    <a:pt x="1187" y="3"/>
                  </a:lnTo>
                  <a:lnTo>
                    <a:pt x="1188" y="1"/>
                  </a:lnTo>
                  <a:lnTo>
                    <a:pt x="1189" y="0"/>
                  </a:lnTo>
                  <a:lnTo>
                    <a:pt x="1192" y="0"/>
                  </a:lnTo>
                  <a:lnTo>
                    <a:pt x="1192" y="0"/>
                  </a:lnTo>
                  <a:close/>
                  <a:moveTo>
                    <a:pt x="1211" y="0"/>
                  </a:moveTo>
                  <a:lnTo>
                    <a:pt x="1211" y="0"/>
                  </a:lnTo>
                  <a:lnTo>
                    <a:pt x="1214" y="0"/>
                  </a:lnTo>
                  <a:lnTo>
                    <a:pt x="1215" y="1"/>
                  </a:lnTo>
                  <a:lnTo>
                    <a:pt x="1216" y="3"/>
                  </a:lnTo>
                  <a:lnTo>
                    <a:pt x="1218" y="6"/>
                  </a:lnTo>
                  <a:lnTo>
                    <a:pt x="1216" y="9"/>
                  </a:lnTo>
                  <a:lnTo>
                    <a:pt x="1215" y="10"/>
                  </a:lnTo>
                  <a:lnTo>
                    <a:pt x="1214" y="12"/>
                  </a:lnTo>
                  <a:lnTo>
                    <a:pt x="1211" y="12"/>
                  </a:lnTo>
                  <a:lnTo>
                    <a:pt x="1211" y="12"/>
                  </a:lnTo>
                  <a:lnTo>
                    <a:pt x="1210" y="12"/>
                  </a:lnTo>
                  <a:lnTo>
                    <a:pt x="1208" y="10"/>
                  </a:lnTo>
                  <a:lnTo>
                    <a:pt x="1208" y="9"/>
                  </a:lnTo>
                  <a:lnTo>
                    <a:pt x="1207" y="6"/>
                  </a:lnTo>
                  <a:lnTo>
                    <a:pt x="1208" y="3"/>
                  </a:lnTo>
                  <a:lnTo>
                    <a:pt x="1208" y="1"/>
                  </a:lnTo>
                  <a:lnTo>
                    <a:pt x="1210" y="0"/>
                  </a:lnTo>
                  <a:lnTo>
                    <a:pt x="1211" y="0"/>
                  </a:lnTo>
                  <a:lnTo>
                    <a:pt x="1211" y="0"/>
                  </a:lnTo>
                  <a:close/>
                  <a:moveTo>
                    <a:pt x="1232" y="0"/>
                  </a:moveTo>
                  <a:lnTo>
                    <a:pt x="1232" y="0"/>
                  </a:lnTo>
                  <a:lnTo>
                    <a:pt x="1235" y="0"/>
                  </a:lnTo>
                  <a:lnTo>
                    <a:pt x="1236" y="1"/>
                  </a:lnTo>
                  <a:lnTo>
                    <a:pt x="1237" y="3"/>
                  </a:lnTo>
                  <a:lnTo>
                    <a:pt x="1237" y="6"/>
                  </a:lnTo>
                  <a:lnTo>
                    <a:pt x="1237" y="9"/>
                  </a:lnTo>
                  <a:lnTo>
                    <a:pt x="1236" y="10"/>
                  </a:lnTo>
                  <a:lnTo>
                    <a:pt x="1235" y="12"/>
                  </a:lnTo>
                  <a:lnTo>
                    <a:pt x="1232" y="12"/>
                  </a:lnTo>
                  <a:lnTo>
                    <a:pt x="1232" y="12"/>
                  </a:lnTo>
                  <a:lnTo>
                    <a:pt x="1230" y="12"/>
                  </a:lnTo>
                  <a:lnTo>
                    <a:pt x="1229" y="10"/>
                  </a:lnTo>
                  <a:lnTo>
                    <a:pt x="1227" y="9"/>
                  </a:lnTo>
                  <a:lnTo>
                    <a:pt x="1227" y="6"/>
                  </a:lnTo>
                  <a:lnTo>
                    <a:pt x="1227" y="3"/>
                  </a:lnTo>
                  <a:lnTo>
                    <a:pt x="1229" y="1"/>
                  </a:lnTo>
                  <a:lnTo>
                    <a:pt x="1230" y="0"/>
                  </a:lnTo>
                  <a:lnTo>
                    <a:pt x="1232" y="0"/>
                  </a:lnTo>
                  <a:lnTo>
                    <a:pt x="1232" y="0"/>
                  </a:lnTo>
                  <a:close/>
                  <a:moveTo>
                    <a:pt x="1253" y="0"/>
                  </a:moveTo>
                  <a:lnTo>
                    <a:pt x="1253" y="0"/>
                  </a:lnTo>
                  <a:lnTo>
                    <a:pt x="1254" y="0"/>
                  </a:lnTo>
                  <a:lnTo>
                    <a:pt x="1257" y="1"/>
                  </a:lnTo>
                  <a:lnTo>
                    <a:pt x="1258" y="3"/>
                  </a:lnTo>
                  <a:lnTo>
                    <a:pt x="1258" y="6"/>
                  </a:lnTo>
                  <a:lnTo>
                    <a:pt x="1258" y="9"/>
                  </a:lnTo>
                  <a:lnTo>
                    <a:pt x="1257" y="10"/>
                  </a:lnTo>
                  <a:lnTo>
                    <a:pt x="1254" y="12"/>
                  </a:lnTo>
                  <a:lnTo>
                    <a:pt x="1253" y="12"/>
                  </a:lnTo>
                  <a:lnTo>
                    <a:pt x="1253" y="12"/>
                  </a:lnTo>
                  <a:lnTo>
                    <a:pt x="1251" y="12"/>
                  </a:lnTo>
                  <a:lnTo>
                    <a:pt x="1249" y="10"/>
                  </a:lnTo>
                  <a:lnTo>
                    <a:pt x="1248" y="9"/>
                  </a:lnTo>
                  <a:lnTo>
                    <a:pt x="1248" y="6"/>
                  </a:lnTo>
                  <a:lnTo>
                    <a:pt x="1248" y="3"/>
                  </a:lnTo>
                  <a:lnTo>
                    <a:pt x="1249" y="1"/>
                  </a:lnTo>
                  <a:lnTo>
                    <a:pt x="1251" y="0"/>
                  </a:lnTo>
                  <a:lnTo>
                    <a:pt x="1253" y="0"/>
                  </a:lnTo>
                  <a:lnTo>
                    <a:pt x="1253" y="0"/>
                  </a:lnTo>
                  <a:close/>
                  <a:moveTo>
                    <a:pt x="1273" y="0"/>
                  </a:moveTo>
                  <a:lnTo>
                    <a:pt x="1273" y="0"/>
                  </a:lnTo>
                  <a:lnTo>
                    <a:pt x="1275" y="0"/>
                  </a:lnTo>
                  <a:lnTo>
                    <a:pt x="1276" y="1"/>
                  </a:lnTo>
                  <a:lnTo>
                    <a:pt x="1278" y="3"/>
                  </a:lnTo>
                  <a:lnTo>
                    <a:pt x="1279" y="6"/>
                  </a:lnTo>
                  <a:lnTo>
                    <a:pt x="1278" y="9"/>
                  </a:lnTo>
                  <a:lnTo>
                    <a:pt x="1276" y="10"/>
                  </a:lnTo>
                  <a:lnTo>
                    <a:pt x="1275" y="12"/>
                  </a:lnTo>
                  <a:lnTo>
                    <a:pt x="1273" y="12"/>
                  </a:lnTo>
                  <a:lnTo>
                    <a:pt x="1273" y="12"/>
                  </a:lnTo>
                  <a:lnTo>
                    <a:pt x="1272" y="12"/>
                  </a:lnTo>
                  <a:lnTo>
                    <a:pt x="1269" y="10"/>
                  </a:lnTo>
                  <a:lnTo>
                    <a:pt x="1269" y="9"/>
                  </a:lnTo>
                  <a:lnTo>
                    <a:pt x="1268" y="6"/>
                  </a:lnTo>
                  <a:lnTo>
                    <a:pt x="1269" y="3"/>
                  </a:lnTo>
                  <a:lnTo>
                    <a:pt x="1269" y="1"/>
                  </a:lnTo>
                  <a:lnTo>
                    <a:pt x="1272" y="0"/>
                  </a:lnTo>
                  <a:lnTo>
                    <a:pt x="1273" y="0"/>
                  </a:lnTo>
                  <a:lnTo>
                    <a:pt x="1273" y="0"/>
                  </a:lnTo>
                  <a:close/>
                  <a:moveTo>
                    <a:pt x="1294" y="0"/>
                  </a:moveTo>
                  <a:lnTo>
                    <a:pt x="1294" y="0"/>
                  </a:lnTo>
                  <a:lnTo>
                    <a:pt x="1296" y="0"/>
                  </a:lnTo>
                  <a:lnTo>
                    <a:pt x="1297" y="1"/>
                  </a:lnTo>
                  <a:lnTo>
                    <a:pt x="1298" y="3"/>
                  </a:lnTo>
                  <a:lnTo>
                    <a:pt x="1298" y="6"/>
                  </a:lnTo>
                  <a:lnTo>
                    <a:pt x="1298" y="9"/>
                  </a:lnTo>
                  <a:lnTo>
                    <a:pt x="1297" y="10"/>
                  </a:lnTo>
                  <a:lnTo>
                    <a:pt x="1296" y="12"/>
                  </a:lnTo>
                  <a:lnTo>
                    <a:pt x="1294" y="12"/>
                  </a:lnTo>
                  <a:lnTo>
                    <a:pt x="1294" y="12"/>
                  </a:lnTo>
                  <a:lnTo>
                    <a:pt x="1291" y="12"/>
                  </a:lnTo>
                  <a:lnTo>
                    <a:pt x="1290" y="10"/>
                  </a:lnTo>
                  <a:lnTo>
                    <a:pt x="1289" y="9"/>
                  </a:lnTo>
                  <a:lnTo>
                    <a:pt x="1289" y="6"/>
                  </a:lnTo>
                  <a:lnTo>
                    <a:pt x="1289" y="3"/>
                  </a:lnTo>
                  <a:lnTo>
                    <a:pt x="1290" y="1"/>
                  </a:lnTo>
                  <a:lnTo>
                    <a:pt x="1291" y="0"/>
                  </a:lnTo>
                  <a:lnTo>
                    <a:pt x="1294" y="0"/>
                  </a:lnTo>
                  <a:lnTo>
                    <a:pt x="1294" y="0"/>
                  </a:lnTo>
                  <a:close/>
                  <a:moveTo>
                    <a:pt x="1314" y="0"/>
                  </a:moveTo>
                  <a:lnTo>
                    <a:pt x="1314" y="0"/>
                  </a:lnTo>
                  <a:lnTo>
                    <a:pt x="1316" y="0"/>
                  </a:lnTo>
                  <a:lnTo>
                    <a:pt x="1318" y="1"/>
                  </a:lnTo>
                  <a:lnTo>
                    <a:pt x="1319" y="3"/>
                  </a:lnTo>
                  <a:lnTo>
                    <a:pt x="1319" y="6"/>
                  </a:lnTo>
                  <a:lnTo>
                    <a:pt x="1319" y="9"/>
                  </a:lnTo>
                  <a:lnTo>
                    <a:pt x="1318" y="10"/>
                  </a:lnTo>
                  <a:lnTo>
                    <a:pt x="1316" y="12"/>
                  </a:lnTo>
                  <a:lnTo>
                    <a:pt x="1314" y="12"/>
                  </a:lnTo>
                  <a:lnTo>
                    <a:pt x="1314" y="12"/>
                  </a:lnTo>
                  <a:lnTo>
                    <a:pt x="1312" y="12"/>
                  </a:lnTo>
                  <a:lnTo>
                    <a:pt x="1311" y="10"/>
                  </a:lnTo>
                  <a:lnTo>
                    <a:pt x="1310" y="9"/>
                  </a:lnTo>
                  <a:lnTo>
                    <a:pt x="1310" y="6"/>
                  </a:lnTo>
                  <a:lnTo>
                    <a:pt x="1310" y="3"/>
                  </a:lnTo>
                  <a:lnTo>
                    <a:pt x="1311" y="1"/>
                  </a:lnTo>
                  <a:lnTo>
                    <a:pt x="1312" y="0"/>
                  </a:lnTo>
                  <a:lnTo>
                    <a:pt x="1314" y="0"/>
                  </a:lnTo>
                  <a:lnTo>
                    <a:pt x="1314" y="0"/>
                  </a:lnTo>
                  <a:close/>
                  <a:moveTo>
                    <a:pt x="1334" y="0"/>
                  </a:moveTo>
                  <a:lnTo>
                    <a:pt x="1335" y="0"/>
                  </a:lnTo>
                  <a:lnTo>
                    <a:pt x="1336" y="0"/>
                  </a:lnTo>
                  <a:lnTo>
                    <a:pt x="1338" y="1"/>
                  </a:lnTo>
                  <a:lnTo>
                    <a:pt x="1339" y="3"/>
                  </a:lnTo>
                  <a:lnTo>
                    <a:pt x="1340" y="6"/>
                  </a:lnTo>
                  <a:lnTo>
                    <a:pt x="1339" y="9"/>
                  </a:lnTo>
                  <a:lnTo>
                    <a:pt x="1338" y="10"/>
                  </a:lnTo>
                  <a:lnTo>
                    <a:pt x="1336" y="12"/>
                  </a:lnTo>
                  <a:lnTo>
                    <a:pt x="1335" y="12"/>
                  </a:lnTo>
                  <a:lnTo>
                    <a:pt x="1334" y="12"/>
                  </a:lnTo>
                  <a:lnTo>
                    <a:pt x="1333" y="12"/>
                  </a:lnTo>
                  <a:lnTo>
                    <a:pt x="1330" y="10"/>
                  </a:lnTo>
                  <a:lnTo>
                    <a:pt x="1330" y="9"/>
                  </a:lnTo>
                  <a:lnTo>
                    <a:pt x="1329" y="6"/>
                  </a:lnTo>
                  <a:lnTo>
                    <a:pt x="1330" y="3"/>
                  </a:lnTo>
                  <a:lnTo>
                    <a:pt x="1330" y="1"/>
                  </a:lnTo>
                  <a:lnTo>
                    <a:pt x="1333" y="0"/>
                  </a:lnTo>
                  <a:lnTo>
                    <a:pt x="1334" y="0"/>
                  </a:lnTo>
                  <a:lnTo>
                    <a:pt x="1334" y="0"/>
                  </a:lnTo>
                  <a:close/>
                  <a:moveTo>
                    <a:pt x="1355" y="0"/>
                  </a:moveTo>
                  <a:lnTo>
                    <a:pt x="1355" y="0"/>
                  </a:lnTo>
                  <a:lnTo>
                    <a:pt x="1357" y="0"/>
                  </a:lnTo>
                  <a:lnTo>
                    <a:pt x="1359" y="1"/>
                  </a:lnTo>
                  <a:lnTo>
                    <a:pt x="1360" y="3"/>
                  </a:lnTo>
                  <a:lnTo>
                    <a:pt x="1360" y="6"/>
                  </a:lnTo>
                  <a:lnTo>
                    <a:pt x="1360" y="9"/>
                  </a:lnTo>
                  <a:lnTo>
                    <a:pt x="1359" y="10"/>
                  </a:lnTo>
                  <a:lnTo>
                    <a:pt x="1357" y="12"/>
                  </a:lnTo>
                  <a:lnTo>
                    <a:pt x="1355" y="12"/>
                  </a:lnTo>
                  <a:lnTo>
                    <a:pt x="1355" y="12"/>
                  </a:lnTo>
                  <a:lnTo>
                    <a:pt x="1352" y="12"/>
                  </a:lnTo>
                  <a:lnTo>
                    <a:pt x="1351" y="10"/>
                  </a:lnTo>
                  <a:lnTo>
                    <a:pt x="1350" y="9"/>
                  </a:lnTo>
                  <a:lnTo>
                    <a:pt x="1350" y="6"/>
                  </a:lnTo>
                  <a:lnTo>
                    <a:pt x="1350" y="3"/>
                  </a:lnTo>
                  <a:lnTo>
                    <a:pt x="1351" y="1"/>
                  </a:lnTo>
                  <a:lnTo>
                    <a:pt x="1352" y="0"/>
                  </a:lnTo>
                  <a:lnTo>
                    <a:pt x="1355" y="0"/>
                  </a:lnTo>
                  <a:lnTo>
                    <a:pt x="1355" y="0"/>
                  </a:lnTo>
                  <a:close/>
                  <a:moveTo>
                    <a:pt x="1376" y="0"/>
                  </a:moveTo>
                  <a:lnTo>
                    <a:pt x="1376" y="0"/>
                  </a:lnTo>
                  <a:lnTo>
                    <a:pt x="1377" y="0"/>
                  </a:lnTo>
                  <a:lnTo>
                    <a:pt x="1379" y="1"/>
                  </a:lnTo>
                  <a:lnTo>
                    <a:pt x="1381" y="3"/>
                  </a:lnTo>
                  <a:lnTo>
                    <a:pt x="1381" y="6"/>
                  </a:lnTo>
                  <a:lnTo>
                    <a:pt x="1381" y="9"/>
                  </a:lnTo>
                  <a:lnTo>
                    <a:pt x="1379" y="10"/>
                  </a:lnTo>
                  <a:lnTo>
                    <a:pt x="1377" y="12"/>
                  </a:lnTo>
                  <a:lnTo>
                    <a:pt x="1376" y="12"/>
                  </a:lnTo>
                  <a:lnTo>
                    <a:pt x="1376" y="12"/>
                  </a:lnTo>
                  <a:lnTo>
                    <a:pt x="1373" y="12"/>
                  </a:lnTo>
                  <a:lnTo>
                    <a:pt x="1372" y="10"/>
                  </a:lnTo>
                  <a:lnTo>
                    <a:pt x="1371" y="9"/>
                  </a:lnTo>
                  <a:lnTo>
                    <a:pt x="1371" y="6"/>
                  </a:lnTo>
                  <a:lnTo>
                    <a:pt x="1371" y="3"/>
                  </a:lnTo>
                  <a:lnTo>
                    <a:pt x="1372" y="1"/>
                  </a:lnTo>
                  <a:lnTo>
                    <a:pt x="1373" y="0"/>
                  </a:lnTo>
                  <a:lnTo>
                    <a:pt x="1376" y="0"/>
                  </a:lnTo>
                  <a:lnTo>
                    <a:pt x="1376" y="0"/>
                  </a:lnTo>
                  <a:close/>
                  <a:moveTo>
                    <a:pt x="1397" y="0"/>
                  </a:moveTo>
                  <a:lnTo>
                    <a:pt x="1397" y="0"/>
                  </a:lnTo>
                  <a:lnTo>
                    <a:pt x="1398" y="0"/>
                  </a:lnTo>
                  <a:lnTo>
                    <a:pt x="1399" y="1"/>
                  </a:lnTo>
                  <a:lnTo>
                    <a:pt x="1400" y="3"/>
                  </a:lnTo>
                  <a:lnTo>
                    <a:pt x="1401" y="6"/>
                  </a:lnTo>
                  <a:lnTo>
                    <a:pt x="1400" y="9"/>
                  </a:lnTo>
                  <a:lnTo>
                    <a:pt x="1399" y="10"/>
                  </a:lnTo>
                  <a:lnTo>
                    <a:pt x="1398" y="12"/>
                  </a:lnTo>
                  <a:lnTo>
                    <a:pt x="1397" y="12"/>
                  </a:lnTo>
                  <a:lnTo>
                    <a:pt x="1397" y="12"/>
                  </a:lnTo>
                  <a:lnTo>
                    <a:pt x="1394" y="12"/>
                  </a:lnTo>
                  <a:lnTo>
                    <a:pt x="1393" y="10"/>
                  </a:lnTo>
                  <a:lnTo>
                    <a:pt x="1392" y="9"/>
                  </a:lnTo>
                  <a:lnTo>
                    <a:pt x="1390" y="6"/>
                  </a:lnTo>
                  <a:lnTo>
                    <a:pt x="1392" y="3"/>
                  </a:lnTo>
                  <a:lnTo>
                    <a:pt x="1393" y="1"/>
                  </a:lnTo>
                  <a:lnTo>
                    <a:pt x="1394" y="0"/>
                  </a:lnTo>
                  <a:lnTo>
                    <a:pt x="1397" y="0"/>
                  </a:lnTo>
                  <a:lnTo>
                    <a:pt x="1397" y="0"/>
                  </a:lnTo>
                  <a:close/>
                  <a:moveTo>
                    <a:pt x="1416" y="0"/>
                  </a:moveTo>
                  <a:lnTo>
                    <a:pt x="1416" y="0"/>
                  </a:lnTo>
                  <a:lnTo>
                    <a:pt x="1419" y="0"/>
                  </a:lnTo>
                  <a:lnTo>
                    <a:pt x="1420" y="1"/>
                  </a:lnTo>
                  <a:lnTo>
                    <a:pt x="1421" y="3"/>
                  </a:lnTo>
                  <a:lnTo>
                    <a:pt x="1421" y="6"/>
                  </a:lnTo>
                  <a:lnTo>
                    <a:pt x="1421" y="9"/>
                  </a:lnTo>
                  <a:lnTo>
                    <a:pt x="1420" y="10"/>
                  </a:lnTo>
                  <a:lnTo>
                    <a:pt x="1419" y="12"/>
                  </a:lnTo>
                  <a:lnTo>
                    <a:pt x="1416" y="12"/>
                  </a:lnTo>
                  <a:lnTo>
                    <a:pt x="1416" y="12"/>
                  </a:lnTo>
                  <a:lnTo>
                    <a:pt x="1415" y="12"/>
                  </a:lnTo>
                  <a:lnTo>
                    <a:pt x="1413" y="10"/>
                  </a:lnTo>
                  <a:lnTo>
                    <a:pt x="1411" y="9"/>
                  </a:lnTo>
                  <a:lnTo>
                    <a:pt x="1411" y="6"/>
                  </a:lnTo>
                  <a:lnTo>
                    <a:pt x="1411" y="3"/>
                  </a:lnTo>
                  <a:lnTo>
                    <a:pt x="1413" y="1"/>
                  </a:lnTo>
                  <a:lnTo>
                    <a:pt x="1415" y="0"/>
                  </a:lnTo>
                  <a:lnTo>
                    <a:pt x="1416" y="0"/>
                  </a:lnTo>
                  <a:lnTo>
                    <a:pt x="1416" y="0"/>
                  </a:lnTo>
                  <a:close/>
                  <a:moveTo>
                    <a:pt x="1437" y="0"/>
                  </a:moveTo>
                  <a:lnTo>
                    <a:pt x="1437" y="0"/>
                  </a:lnTo>
                  <a:lnTo>
                    <a:pt x="1438" y="0"/>
                  </a:lnTo>
                  <a:lnTo>
                    <a:pt x="1441" y="1"/>
                  </a:lnTo>
                  <a:lnTo>
                    <a:pt x="1442" y="3"/>
                  </a:lnTo>
                  <a:lnTo>
                    <a:pt x="1442" y="6"/>
                  </a:lnTo>
                  <a:lnTo>
                    <a:pt x="1442" y="9"/>
                  </a:lnTo>
                  <a:lnTo>
                    <a:pt x="1441" y="10"/>
                  </a:lnTo>
                  <a:lnTo>
                    <a:pt x="1438" y="12"/>
                  </a:lnTo>
                  <a:lnTo>
                    <a:pt x="1437" y="12"/>
                  </a:lnTo>
                  <a:lnTo>
                    <a:pt x="1437" y="12"/>
                  </a:lnTo>
                  <a:lnTo>
                    <a:pt x="1435" y="12"/>
                  </a:lnTo>
                  <a:lnTo>
                    <a:pt x="1433" y="10"/>
                  </a:lnTo>
                  <a:lnTo>
                    <a:pt x="1432" y="9"/>
                  </a:lnTo>
                  <a:lnTo>
                    <a:pt x="1432" y="6"/>
                  </a:lnTo>
                  <a:lnTo>
                    <a:pt x="1432" y="3"/>
                  </a:lnTo>
                  <a:lnTo>
                    <a:pt x="1433" y="1"/>
                  </a:lnTo>
                  <a:lnTo>
                    <a:pt x="1435" y="0"/>
                  </a:lnTo>
                  <a:lnTo>
                    <a:pt x="1437" y="0"/>
                  </a:lnTo>
                  <a:lnTo>
                    <a:pt x="1437" y="0"/>
                  </a:lnTo>
                  <a:close/>
                  <a:moveTo>
                    <a:pt x="1458" y="0"/>
                  </a:moveTo>
                  <a:lnTo>
                    <a:pt x="1458" y="0"/>
                  </a:lnTo>
                  <a:lnTo>
                    <a:pt x="1459" y="0"/>
                  </a:lnTo>
                  <a:lnTo>
                    <a:pt x="1460" y="1"/>
                  </a:lnTo>
                  <a:lnTo>
                    <a:pt x="1462" y="3"/>
                  </a:lnTo>
                  <a:lnTo>
                    <a:pt x="1463" y="6"/>
                  </a:lnTo>
                  <a:lnTo>
                    <a:pt x="1462" y="9"/>
                  </a:lnTo>
                  <a:lnTo>
                    <a:pt x="1460" y="10"/>
                  </a:lnTo>
                  <a:lnTo>
                    <a:pt x="1459" y="12"/>
                  </a:lnTo>
                  <a:lnTo>
                    <a:pt x="1458" y="12"/>
                  </a:lnTo>
                  <a:lnTo>
                    <a:pt x="1458" y="12"/>
                  </a:lnTo>
                  <a:lnTo>
                    <a:pt x="1455" y="12"/>
                  </a:lnTo>
                  <a:lnTo>
                    <a:pt x="1454" y="10"/>
                  </a:lnTo>
                  <a:lnTo>
                    <a:pt x="1453" y="9"/>
                  </a:lnTo>
                  <a:lnTo>
                    <a:pt x="1452" y="6"/>
                  </a:lnTo>
                  <a:lnTo>
                    <a:pt x="1453" y="3"/>
                  </a:lnTo>
                  <a:lnTo>
                    <a:pt x="1454" y="1"/>
                  </a:lnTo>
                  <a:lnTo>
                    <a:pt x="1455" y="0"/>
                  </a:lnTo>
                  <a:lnTo>
                    <a:pt x="1458" y="0"/>
                  </a:lnTo>
                  <a:lnTo>
                    <a:pt x="1458" y="0"/>
                  </a:lnTo>
                  <a:close/>
                  <a:moveTo>
                    <a:pt x="1477" y="0"/>
                  </a:moveTo>
                  <a:lnTo>
                    <a:pt x="1477" y="0"/>
                  </a:lnTo>
                  <a:lnTo>
                    <a:pt x="1480" y="0"/>
                  </a:lnTo>
                  <a:lnTo>
                    <a:pt x="1481" y="1"/>
                  </a:lnTo>
                  <a:lnTo>
                    <a:pt x="1482" y="3"/>
                  </a:lnTo>
                  <a:lnTo>
                    <a:pt x="1482" y="6"/>
                  </a:lnTo>
                  <a:lnTo>
                    <a:pt x="1482" y="9"/>
                  </a:lnTo>
                  <a:lnTo>
                    <a:pt x="1481" y="10"/>
                  </a:lnTo>
                  <a:lnTo>
                    <a:pt x="1480" y="12"/>
                  </a:lnTo>
                  <a:lnTo>
                    <a:pt x="1477" y="12"/>
                  </a:lnTo>
                  <a:lnTo>
                    <a:pt x="1477" y="12"/>
                  </a:lnTo>
                  <a:lnTo>
                    <a:pt x="1476" y="12"/>
                  </a:lnTo>
                  <a:lnTo>
                    <a:pt x="1474" y="10"/>
                  </a:lnTo>
                  <a:lnTo>
                    <a:pt x="1473" y="9"/>
                  </a:lnTo>
                  <a:lnTo>
                    <a:pt x="1473" y="6"/>
                  </a:lnTo>
                  <a:lnTo>
                    <a:pt x="1473" y="3"/>
                  </a:lnTo>
                  <a:lnTo>
                    <a:pt x="1474" y="1"/>
                  </a:lnTo>
                  <a:lnTo>
                    <a:pt x="1476" y="0"/>
                  </a:lnTo>
                  <a:lnTo>
                    <a:pt x="1477" y="0"/>
                  </a:lnTo>
                  <a:lnTo>
                    <a:pt x="1477" y="0"/>
                  </a:lnTo>
                  <a:close/>
                  <a:moveTo>
                    <a:pt x="1498" y="0"/>
                  </a:moveTo>
                  <a:lnTo>
                    <a:pt x="1498" y="0"/>
                  </a:lnTo>
                  <a:lnTo>
                    <a:pt x="1500" y="0"/>
                  </a:lnTo>
                  <a:lnTo>
                    <a:pt x="1502" y="1"/>
                  </a:lnTo>
                  <a:lnTo>
                    <a:pt x="1503" y="3"/>
                  </a:lnTo>
                  <a:lnTo>
                    <a:pt x="1503" y="6"/>
                  </a:lnTo>
                  <a:lnTo>
                    <a:pt x="1503" y="9"/>
                  </a:lnTo>
                  <a:lnTo>
                    <a:pt x="1502" y="10"/>
                  </a:lnTo>
                  <a:lnTo>
                    <a:pt x="1500" y="12"/>
                  </a:lnTo>
                  <a:lnTo>
                    <a:pt x="1498" y="12"/>
                  </a:lnTo>
                  <a:lnTo>
                    <a:pt x="1498" y="12"/>
                  </a:lnTo>
                  <a:lnTo>
                    <a:pt x="1496" y="12"/>
                  </a:lnTo>
                  <a:lnTo>
                    <a:pt x="1495" y="10"/>
                  </a:lnTo>
                  <a:lnTo>
                    <a:pt x="1493" y="9"/>
                  </a:lnTo>
                  <a:lnTo>
                    <a:pt x="1493" y="6"/>
                  </a:lnTo>
                  <a:lnTo>
                    <a:pt x="1493" y="3"/>
                  </a:lnTo>
                  <a:lnTo>
                    <a:pt x="1495" y="1"/>
                  </a:lnTo>
                  <a:lnTo>
                    <a:pt x="1496" y="0"/>
                  </a:lnTo>
                  <a:lnTo>
                    <a:pt x="1498" y="0"/>
                  </a:lnTo>
                  <a:lnTo>
                    <a:pt x="1498" y="0"/>
                  </a:lnTo>
                  <a:close/>
                  <a:moveTo>
                    <a:pt x="1519" y="0"/>
                  </a:moveTo>
                  <a:lnTo>
                    <a:pt x="1519" y="0"/>
                  </a:lnTo>
                  <a:lnTo>
                    <a:pt x="1520" y="0"/>
                  </a:lnTo>
                  <a:lnTo>
                    <a:pt x="1522" y="1"/>
                  </a:lnTo>
                  <a:lnTo>
                    <a:pt x="1523" y="3"/>
                  </a:lnTo>
                  <a:lnTo>
                    <a:pt x="1524" y="6"/>
                  </a:lnTo>
                  <a:lnTo>
                    <a:pt x="1523" y="9"/>
                  </a:lnTo>
                  <a:lnTo>
                    <a:pt x="1522" y="10"/>
                  </a:lnTo>
                  <a:lnTo>
                    <a:pt x="1520" y="12"/>
                  </a:lnTo>
                  <a:lnTo>
                    <a:pt x="1519" y="12"/>
                  </a:lnTo>
                  <a:lnTo>
                    <a:pt x="1519" y="12"/>
                  </a:lnTo>
                  <a:lnTo>
                    <a:pt x="1517" y="12"/>
                  </a:lnTo>
                  <a:lnTo>
                    <a:pt x="1515" y="10"/>
                  </a:lnTo>
                  <a:lnTo>
                    <a:pt x="1514" y="9"/>
                  </a:lnTo>
                  <a:lnTo>
                    <a:pt x="1513" y="6"/>
                  </a:lnTo>
                  <a:lnTo>
                    <a:pt x="1514" y="3"/>
                  </a:lnTo>
                  <a:lnTo>
                    <a:pt x="1515" y="1"/>
                  </a:lnTo>
                  <a:lnTo>
                    <a:pt x="1517" y="0"/>
                  </a:lnTo>
                  <a:lnTo>
                    <a:pt x="1519" y="0"/>
                  </a:lnTo>
                  <a:lnTo>
                    <a:pt x="1519" y="0"/>
                  </a:lnTo>
                  <a:close/>
                  <a:moveTo>
                    <a:pt x="1539" y="0"/>
                  </a:moveTo>
                  <a:lnTo>
                    <a:pt x="1539" y="0"/>
                  </a:lnTo>
                  <a:lnTo>
                    <a:pt x="1541" y="0"/>
                  </a:lnTo>
                  <a:lnTo>
                    <a:pt x="1542" y="1"/>
                  </a:lnTo>
                  <a:lnTo>
                    <a:pt x="1544" y="3"/>
                  </a:lnTo>
                  <a:lnTo>
                    <a:pt x="1544" y="6"/>
                  </a:lnTo>
                  <a:lnTo>
                    <a:pt x="1544" y="9"/>
                  </a:lnTo>
                  <a:lnTo>
                    <a:pt x="1542" y="10"/>
                  </a:lnTo>
                  <a:lnTo>
                    <a:pt x="1541" y="12"/>
                  </a:lnTo>
                  <a:lnTo>
                    <a:pt x="1539" y="12"/>
                  </a:lnTo>
                  <a:lnTo>
                    <a:pt x="1539" y="12"/>
                  </a:lnTo>
                  <a:lnTo>
                    <a:pt x="1538" y="12"/>
                  </a:lnTo>
                  <a:lnTo>
                    <a:pt x="1535" y="10"/>
                  </a:lnTo>
                  <a:lnTo>
                    <a:pt x="1534" y="9"/>
                  </a:lnTo>
                  <a:lnTo>
                    <a:pt x="1534" y="6"/>
                  </a:lnTo>
                  <a:lnTo>
                    <a:pt x="1534" y="3"/>
                  </a:lnTo>
                  <a:lnTo>
                    <a:pt x="1535" y="1"/>
                  </a:lnTo>
                  <a:lnTo>
                    <a:pt x="1538" y="0"/>
                  </a:lnTo>
                  <a:lnTo>
                    <a:pt x="1539" y="0"/>
                  </a:lnTo>
                  <a:lnTo>
                    <a:pt x="1539" y="0"/>
                  </a:lnTo>
                  <a:close/>
                  <a:moveTo>
                    <a:pt x="1560" y="0"/>
                  </a:moveTo>
                  <a:lnTo>
                    <a:pt x="1560" y="0"/>
                  </a:lnTo>
                  <a:lnTo>
                    <a:pt x="1561" y="0"/>
                  </a:lnTo>
                  <a:lnTo>
                    <a:pt x="1563" y="1"/>
                  </a:lnTo>
                  <a:lnTo>
                    <a:pt x="1565" y="3"/>
                  </a:lnTo>
                  <a:lnTo>
                    <a:pt x="1565" y="6"/>
                  </a:lnTo>
                  <a:lnTo>
                    <a:pt x="1565" y="9"/>
                  </a:lnTo>
                  <a:lnTo>
                    <a:pt x="1563" y="10"/>
                  </a:lnTo>
                  <a:lnTo>
                    <a:pt x="1561" y="12"/>
                  </a:lnTo>
                  <a:lnTo>
                    <a:pt x="1560" y="12"/>
                  </a:lnTo>
                  <a:lnTo>
                    <a:pt x="1560" y="12"/>
                  </a:lnTo>
                  <a:lnTo>
                    <a:pt x="1557" y="12"/>
                  </a:lnTo>
                  <a:lnTo>
                    <a:pt x="1556" y="10"/>
                  </a:lnTo>
                  <a:lnTo>
                    <a:pt x="1555" y="9"/>
                  </a:lnTo>
                  <a:lnTo>
                    <a:pt x="1555" y="6"/>
                  </a:lnTo>
                  <a:lnTo>
                    <a:pt x="1555" y="3"/>
                  </a:lnTo>
                  <a:lnTo>
                    <a:pt x="1556" y="1"/>
                  </a:lnTo>
                  <a:lnTo>
                    <a:pt x="1557" y="0"/>
                  </a:lnTo>
                  <a:lnTo>
                    <a:pt x="1560" y="0"/>
                  </a:lnTo>
                  <a:lnTo>
                    <a:pt x="1560" y="0"/>
                  </a:lnTo>
                  <a:close/>
                  <a:moveTo>
                    <a:pt x="1580" y="0"/>
                  </a:moveTo>
                  <a:lnTo>
                    <a:pt x="1580" y="0"/>
                  </a:lnTo>
                  <a:lnTo>
                    <a:pt x="1582" y="0"/>
                  </a:lnTo>
                  <a:lnTo>
                    <a:pt x="1584" y="1"/>
                  </a:lnTo>
                  <a:lnTo>
                    <a:pt x="1584" y="3"/>
                  </a:lnTo>
                  <a:lnTo>
                    <a:pt x="1585" y="6"/>
                  </a:lnTo>
                  <a:lnTo>
                    <a:pt x="1584" y="9"/>
                  </a:lnTo>
                  <a:lnTo>
                    <a:pt x="1584" y="10"/>
                  </a:lnTo>
                  <a:lnTo>
                    <a:pt x="1582" y="12"/>
                  </a:lnTo>
                  <a:lnTo>
                    <a:pt x="1580" y="12"/>
                  </a:lnTo>
                  <a:lnTo>
                    <a:pt x="1580" y="12"/>
                  </a:lnTo>
                  <a:lnTo>
                    <a:pt x="1578" y="12"/>
                  </a:lnTo>
                  <a:lnTo>
                    <a:pt x="1577" y="10"/>
                  </a:lnTo>
                  <a:lnTo>
                    <a:pt x="1576" y="9"/>
                  </a:lnTo>
                  <a:lnTo>
                    <a:pt x="1574" y="6"/>
                  </a:lnTo>
                  <a:lnTo>
                    <a:pt x="1576" y="3"/>
                  </a:lnTo>
                  <a:lnTo>
                    <a:pt x="1577" y="1"/>
                  </a:lnTo>
                  <a:lnTo>
                    <a:pt x="1578" y="0"/>
                  </a:lnTo>
                  <a:lnTo>
                    <a:pt x="1580" y="0"/>
                  </a:lnTo>
                  <a:lnTo>
                    <a:pt x="1580" y="0"/>
                  </a:lnTo>
                  <a:close/>
                  <a:moveTo>
                    <a:pt x="1600" y="0"/>
                  </a:moveTo>
                  <a:lnTo>
                    <a:pt x="1600" y="0"/>
                  </a:lnTo>
                  <a:lnTo>
                    <a:pt x="1603" y="0"/>
                  </a:lnTo>
                  <a:lnTo>
                    <a:pt x="1604" y="1"/>
                  </a:lnTo>
                  <a:lnTo>
                    <a:pt x="1605" y="3"/>
                  </a:lnTo>
                  <a:lnTo>
                    <a:pt x="1605" y="6"/>
                  </a:lnTo>
                  <a:lnTo>
                    <a:pt x="1605" y="9"/>
                  </a:lnTo>
                  <a:lnTo>
                    <a:pt x="1604" y="10"/>
                  </a:lnTo>
                  <a:lnTo>
                    <a:pt x="1603" y="12"/>
                  </a:lnTo>
                  <a:lnTo>
                    <a:pt x="1600" y="12"/>
                  </a:lnTo>
                  <a:lnTo>
                    <a:pt x="1600" y="12"/>
                  </a:lnTo>
                  <a:lnTo>
                    <a:pt x="1599" y="12"/>
                  </a:lnTo>
                  <a:lnTo>
                    <a:pt x="1596" y="10"/>
                  </a:lnTo>
                  <a:lnTo>
                    <a:pt x="1595" y="9"/>
                  </a:lnTo>
                  <a:lnTo>
                    <a:pt x="1595" y="6"/>
                  </a:lnTo>
                  <a:lnTo>
                    <a:pt x="1595" y="3"/>
                  </a:lnTo>
                  <a:lnTo>
                    <a:pt x="1596" y="1"/>
                  </a:lnTo>
                  <a:lnTo>
                    <a:pt x="1599" y="0"/>
                  </a:lnTo>
                  <a:lnTo>
                    <a:pt x="1600" y="0"/>
                  </a:lnTo>
                  <a:lnTo>
                    <a:pt x="1600" y="0"/>
                  </a:lnTo>
                  <a:close/>
                  <a:moveTo>
                    <a:pt x="1621" y="0"/>
                  </a:moveTo>
                  <a:lnTo>
                    <a:pt x="1621" y="0"/>
                  </a:lnTo>
                  <a:lnTo>
                    <a:pt x="1623" y="0"/>
                  </a:lnTo>
                  <a:lnTo>
                    <a:pt x="1625" y="1"/>
                  </a:lnTo>
                  <a:lnTo>
                    <a:pt x="1626" y="3"/>
                  </a:lnTo>
                  <a:lnTo>
                    <a:pt x="1626" y="6"/>
                  </a:lnTo>
                  <a:lnTo>
                    <a:pt x="1626" y="9"/>
                  </a:lnTo>
                  <a:lnTo>
                    <a:pt x="1625" y="10"/>
                  </a:lnTo>
                  <a:lnTo>
                    <a:pt x="1623" y="12"/>
                  </a:lnTo>
                  <a:lnTo>
                    <a:pt x="1621" y="12"/>
                  </a:lnTo>
                  <a:lnTo>
                    <a:pt x="1621" y="12"/>
                  </a:lnTo>
                  <a:lnTo>
                    <a:pt x="1618" y="12"/>
                  </a:lnTo>
                  <a:lnTo>
                    <a:pt x="1617" y="10"/>
                  </a:lnTo>
                  <a:lnTo>
                    <a:pt x="1616" y="9"/>
                  </a:lnTo>
                  <a:lnTo>
                    <a:pt x="1616" y="6"/>
                  </a:lnTo>
                  <a:lnTo>
                    <a:pt x="1616" y="3"/>
                  </a:lnTo>
                  <a:lnTo>
                    <a:pt x="1617" y="1"/>
                  </a:lnTo>
                  <a:lnTo>
                    <a:pt x="1618" y="0"/>
                  </a:lnTo>
                  <a:lnTo>
                    <a:pt x="1621" y="0"/>
                  </a:lnTo>
                  <a:lnTo>
                    <a:pt x="1621" y="0"/>
                  </a:lnTo>
                  <a:close/>
                  <a:moveTo>
                    <a:pt x="1642" y="0"/>
                  </a:moveTo>
                  <a:lnTo>
                    <a:pt x="1642" y="0"/>
                  </a:lnTo>
                  <a:lnTo>
                    <a:pt x="1643" y="0"/>
                  </a:lnTo>
                  <a:lnTo>
                    <a:pt x="1645" y="1"/>
                  </a:lnTo>
                  <a:lnTo>
                    <a:pt x="1645" y="3"/>
                  </a:lnTo>
                  <a:lnTo>
                    <a:pt x="1647" y="6"/>
                  </a:lnTo>
                  <a:lnTo>
                    <a:pt x="1645" y="9"/>
                  </a:lnTo>
                  <a:lnTo>
                    <a:pt x="1645" y="10"/>
                  </a:lnTo>
                  <a:lnTo>
                    <a:pt x="1643" y="12"/>
                  </a:lnTo>
                  <a:lnTo>
                    <a:pt x="1642" y="12"/>
                  </a:lnTo>
                  <a:lnTo>
                    <a:pt x="1642" y="12"/>
                  </a:lnTo>
                  <a:lnTo>
                    <a:pt x="1639" y="12"/>
                  </a:lnTo>
                  <a:lnTo>
                    <a:pt x="1638" y="10"/>
                  </a:lnTo>
                  <a:lnTo>
                    <a:pt x="1637" y="9"/>
                  </a:lnTo>
                  <a:lnTo>
                    <a:pt x="1636" y="6"/>
                  </a:lnTo>
                  <a:lnTo>
                    <a:pt x="1637" y="3"/>
                  </a:lnTo>
                  <a:lnTo>
                    <a:pt x="1638" y="1"/>
                  </a:lnTo>
                  <a:lnTo>
                    <a:pt x="1639" y="0"/>
                  </a:lnTo>
                  <a:lnTo>
                    <a:pt x="1642" y="0"/>
                  </a:lnTo>
                  <a:lnTo>
                    <a:pt x="1642" y="0"/>
                  </a:lnTo>
                  <a:close/>
                  <a:moveTo>
                    <a:pt x="1661" y="0"/>
                  </a:moveTo>
                  <a:lnTo>
                    <a:pt x="1661" y="0"/>
                  </a:lnTo>
                  <a:lnTo>
                    <a:pt x="1664" y="0"/>
                  </a:lnTo>
                  <a:lnTo>
                    <a:pt x="1665" y="1"/>
                  </a:lnTo>
                  <a:lnTo>
                    <a:pt x="1666" y="3"/>
                  </a:lnTo>
                  <a:lnTo>
                    <a:pt x="1666" y="6"/>
                  </a:lnTo>
                  <a:lnTo>
                    <a:pt x="1666" y="9"/>
                  </a:lnTo>
                  <a:lnTo>
                    <a:pt x="1665" y="10"/>
                  </a:lnTo>
                  <a:lnTo>
                    <a:pt x="1664" y="12"/>
                  </a:lnTo>
                  <a:lnTo>
                    <a:pt x="1661" y="12"/>
                  </a:lnTo>
                  <a:lnTo>
                    <a:pt x="1661" y="12"/>
                  </a:lnTo>
                  <a:lnTo>
                    <a:pt x="1660" y="12"/>
                  </a:lnTo>
                  <a:lnTo>
                    <a:pt x="1658" y="10"/>
                  </a:lnTo>
                  <a:lnTo>
                    <a:pt x="1656" y="9"/>
                  </a:lnTo>
                  <a:lnTo>
                    <a:pt x="1656" y="6"/>
                  </a:lnTo>
                  <a:lnTo>
                    <a:pt x="1656" y="3"/>
                  </a:lnTo>
                  <a:lnTo>
                    <a:pt x="1658" y="1"/>
                  </a:lnTo>
                  <a:lnTo>
                    <a:pt x="1660" y="0"/>
                  </a:lnTo>
                  <a:lnTo>
                    <a:pt x="1661" y="0"/>
                  </a:lnTo>
                  <a:lnTo>
                    <a:pt x="1661" y="0"/>
                  </a:lnTo>
                  <a:close/>
                  <a:moveTo>
                    <a:pt x="1682" y="0"/>
                  </a:moveTo>
                  <a:lnTo>
                    <a:pt x="1682" y="0"/>
                  </a:lnTo>
                  <a:lnTo>
                    <a:pt x="1685" y="0"/>
                  </a:lnTo>
                  <a:lnTo>
                    <a:pt x="1686" y="1"/>
                  </a:lnTo>
                  <a:lnTo>
                    <a:pt x="1687" y="3"/>
                  </a:lnTo>
                  <a:lnTo>
                    <a:pt x="1687" y="6"/>
                  </a:lnTo>
                  <a:lnTo>
                    <a:pt x="1687" y="9"/>
                  </a:lnTo>
                  <a:lnTo>
                    <a:pt x="1686" y="10"/>
                  </a:lnTo>
                  <a:lnTo>
                    <a:pt x="1685" y="12"/>
                  </a:lnTo>
                  <a:lnTo>
                    <a:pt x="1682" y="12"/>
                  </a:lnTo>
                  <a:lnTo>
                    <a:pt x="1682" y="12"/>
                  </a:lnTo>
                  <a:lnTo>
                    <a:pt x="1680" y="12"/>
                  </a:lnTo>
                  <a:lnTo>
                    <a:pt x="1679" y="10"/>
                  </a:lnTo>
                  <a:lnTo>
                    <a:pt x="1677" y="9"/>
                  </a:lnTo>
                  <a:lnTo>
                    <a:pt x="1677" y="6"/>
                  </a:lnTo>
                  <a:lnTo>
                    <a:pt x="1677" y="3"/>
                  </a:lnTo>
                  <a:lnTo>
                    <a:pt x="1679" y="1"/>
                  </a:lnTo>
                  <a:lnTo>
                    <a:pt x="1680" y="0"/>
                  </a:lnTo>
                  <a:lnTo>
                    <a:pt x="1682" y="0"/>
                  </a:lnTo>
                  <a:lnTo>
                    <a:pt x="1682" y="0"/>
                  </a:lnTo>
                  <a:close/>
                  <a:moveTo>
                    <a:pt x="1703" y="0"/>
                  </a:moveTo>
                  <a:lnTo>
                    <a:pt x="1703" y="0"/>
                  </a:lnTo>
                  <a:lnTo>
                    <a:pt x="1704" y="0"/>
                  </a:lnTo>
                  <a:lnTo>
                    <a:pt x="1707" y="1"/>
                  </a:lnTo>
                  <a:lnTo>
                    <a:pt x="1707" y="3"/>
                  </a:lnTo>
                  <a:lnTo>
                    <a:pt x="1708" y="6"/>
                  </a:lnTo>
                  <a:lnTo>
                    <a:pt x="1707" y="9"/>
                  </a:lnTo>
                  <a:lnTo>
                    <a:pt x="1707" y="10"/>
                  </a:lnTo>
                  <a:lnTo>
                    <a:pt x="1704" y="12"/>
                  </a:lnTo>
                  <a:lnTo>
                    <a:pt x="1703" y="12"/>
                  </a:lnTo>
                  <a:lnTo>
                    <a:pt x="1703" y="12"/>
                  </a:lnTo>
                  <a:lnTo>
                    <a:pt x="1701" y="12"/>
                  </a:lnTo>
                  <a:lnTo>
                    <a:pt x="1699" y="10"/>
                  </a:lnTo>
                  <a:lnTo>
                    <a:pt x="1698" y="9"/>
                  </a:lnTo>
                  <a:lnTo>
                    <a:pt x="1697" y="6"/>
                  </a:lnTo>
                  <a:lnTo>
                    <a:pt x="1698" y="3"/>
                  </a:lnTo>
                  <a:lnTo>
                    <a:pt x="1699" y="1"/>
                  </a:lnTo>
                  <a:lnTo>
                    <a:pt x="1701" y="0"/>
                  </a:lnTo>
                  <a:lnTo>
                    <a:pt x="1703" y="0"/>
                  </a:lnTo>
                  <a:lnTo>
                    <a:pt x="1703" y="0"/>
                  </a:lnTo>
                  <a:close/>
                  <a:moveTo>
                    <a:pt x="1723" y="0"/>
                  </a:moveTo>
                  <a:lnTo>
                    <a:pt x="1723" y="0"/>
                  </a:lnTo>
                  <a:lnTo>
                    <a:pt x="1725" y="0"/>
                  </a:lnTo>
                  <a:lnTo>
                    <a:pt x="1726" y="1"/>
                  </a:lnTo>
                  <a:lnTo>
                    <a:pt x="1728" y="3"/>
                  </a:lnTo>
                  <a:lnTo>
                    <a:pt x="1728" y="6"/>
                  </a:lnTo>
                  <a:lnTo>
                    <a:pt x="1728" y="9"/>
                  </a:lnTo>
                  <a:lnTo>
                    <a:pt x="1726" y="10"/>
                  </a:lnTo>
                  <a:lnTo>
                    <a:pt x="1725" y="12"/>
                  </a:lnTo>
                  <a:lnTo>
                    <a:pt x="1723" y="12"/>
                  </a:lnTo>
                  <a:lnTo>
                    <a:pt x="1723" y="12"/>
                  </a:lnTo>
                  <a:lnTo>
                    <a:pt x="1721" y="12"/>
                  </a:lnTo>
                  <a:lnTo>
                    <a:pt x="1719" y="10"/>
                  </a:lnTo>
                  <a:lnTo>
                    <a:pt x="1718" y="9"/>
                  </a:lnTo>
                  <a:lnTo>
                    <a:pt x="1718" y="6"/>
                  </a:lnTo>
                  <a:lnTo>
                    <a:pt x="1718" y="3"/>
                  </a:lnTo>
                  <a:lnTo>
                    <a:pt x="1719" y="1"/>
                  </a:lnTo>
                  <a:lnTo>
                    <a:pt x="1721" y="0"/>
                  </a:lnTo>
                  <a:lnTo>
                    <a:pt x="1723" y="0"/>
                  </a:lnTo>
                  <a:lnTo>
                    <a:pt x="1723" y="0"/>
                  </a:lnTo>
                  <a:close/>
                  <a:moveTo>
                    <a:pt x="1744" y="0"/>
                  </a:moveTo>
                  <a:lnTo>
                    <a:pt x="1744" y="0"/>
                  </a:lnTo>
                  <a:lnTo>
                    <a:pt x="1746" y="0"/>
                  </a:lnTo>
                  <a:lnTo>
                    <a:pt x="1747" y="1"/>
                  </a:lnTo>
                  <a:lnTo>
                    <a:pt x="1748" y="3"/>
                  </a:lnTo>
                  <a:lnTo>
                    <a:pt x="1748" y="6"/>
                  </a:lnTo>
                  <a:lnTo>
                    <a:pt x="1748" y="9"/>
                  </a:lnTo>
                  <a:lnTo>
                    <a:pt x="1747" y="10"/>
                  </a:lnTo>
                  <a:lnTo>
                    <a:pt x="1746" y="12"/>
                  </a:lnTo>
                  <a:lnTo>
                    <a:pt x="1744" y="12"/>
                  </a:lnTo>
                  <a:lnTo>
                    <a:pt x="1744" y="12"/>
                  </a:lnTo>
                  <a:lnTo>
                    <a:pt x="1741" y="12"/>
                  </a:lnTo>
                  <a:lnTo>
                    <a:pt x="1740" y="10"/>
                  </a:lnTo>
                  <a:lnTo>
                    <a:pt x="1739" y="9"/>
                  </a:lnTo>
                  <a:lnTo>
                    <a:pt x="1739" y="6"/>
                  </a:lnTo>
                  <a:lnTo>
                    <a:pt x="1739" y="3"/>
                  </a:lnTo>
                  <a:lnTo>
                    <a:pt x="1740" y="1"/>
                  </a:lnTo>
                  <a:lnTo>
                    <a:pt x="1741" y="0"/>
                  </a:lnTo>
                  <a:lnTo>
                    <a:pt x="1744" y="0"/>
                  </a:lnTo>
                  <a:lnTo>
                    <a:pt x="1744" y="0"/>
                  </a:lnTo>
                  <a:close/>
                  <a:moveTo>
                    <a:pt x="1764" y="0"/>
                  </a:moveTo>
                  <a:lnTo>
                    <a:pt x="1764" y="0"/>
                  </a:lnTo>
                  <a:lnTo>
                    <a:pt x="1766" y="0"/>
                  </a:lnTo>
                  <a:lnTo>
                    <a:pt x="1768" y="1"/>
                  </a:lnTo>
                  <a:lnTo>
                    <a:pt x="1768" y="3"/>
                  </a:lnTo>
                  <a:lnTo>
                    <a:pt x="1769" y="6"/>
                  </a:lnTo>
                  <a:lnTo>
                    <a:pt x="1768" y="9"/>
                  </a:lnTo>
                  <a:lnTo>
                    <a:pt x="1768" y="10"/>
                  </a:lnTo>
                  <a:lnTo>
                    <a:pt x="1766" y="12"/>
                  </a:lnTo>
                  <a:lnTo>
                    <a:pt x="1764" y="12"/>
                  </a:lnTo>
                  <a:lnTo>
                    <a:pt x="1764" y="12"/>
                  </a:lnTo>
                  <a:lnTo>
                    <a:pt x="1762" y="12"/>
                  </a:lnTo>
                  <a:lnTo>
                    <a:pt x="1761" y="10"/>
                  </a:lnTo>
                  <a:lnTo>
                    <a:pt x="1759" y="9"/>
                  </a:lnTo>
                  <a:lnTo>
                    <a:pt x="1759" y="6"/>
                  </a:lnTo>
                  <a:lnTo>
                    <a:pt x="1759" y="3"/>
                  </a:lnTo>
                  <a:lnTo>
                    <a:pt x="1761" y="1"/>
                  </a:lnTo>
                  <a:lnTo>
                    <a:pt x="1762" y="0"/>
                  </a:lnTo>
                  <a:lnTo>
                    <a:pt x="1764" y="0"/>
                  </a:lnTo>
                  <a:lnTo>
                    <a:pt x="1764" y="0"/>
                  </a:lnTo>
                  <a:close/>
                  <a:moveTo>
                    <a:pt x="1784" y="0"/>
                  </a:moveTo>
                  <a:lnTo>
                    <a:pt x="1784" y="0"/>
                  </a:lnTo>
                  <a:lnTo>
                    <a:pt x="1786" y="0"/>
                  </a:lnTo>
                  <a:lnTo>
                    <a:pt x="1788" y="1"/>
                  </a:lnTo>
                  <a:lnTo>
                    <a:pt x="1789" y="3"/>
                  </a:lnTo>
                  <a:lnTo>
                    <a:pt x="1790" y="6"/>
                  </a:lnTo>
                  <a:lnTo>
                    <a:pt x="1789" y="9"/>
                  </a:lnTo>
                  <a:lnTo>
                    <a:pt x="1788" y="10"/>
                  </a:lnTo>
                  <a:lnTo>
                    <a:pt x="1786" y="12"/>
                  </a:lnTo>
                  <a:lnTo>
                    <a:pt x="1784" y="12"/>
                  </a:lnTo>
                  <a:lnTo>
                    <a:pt x="1784" y="12"/>
                  </a:lnTo>
                  <a:lnTo>
                    <a:pt x="1783" y="12"/>
                  </a:lnTo>
                  <a:lnTo>
                    <a:pt x="1780" y="10"/>
                  </a:lnTo>
                  <a:lnTo>
                    <a:pt x="1779" y="9"/>
                  </a:lnTo>
                  <a:lnTo>
                    <a:pt x="1779" y="6"/>
                  </a:lnTo>
                  <a:lnTo>
                    <a:pt x="1779" y="3"/>
                  </a:lnTo>
                  <a:lnTo>
                    <a:pt x="1780" y="1"/>
                  </a:lnTo>
                  <a:lnTo>
                    <a:pt x="1783" y="0"/>
                  </a:lnTo>
                  <a:lnTo>
                    <a:pt x="1784" y="0"/>
                  </a:lnTo>
                  <a:lnTo>
                    <a:pt x="1784" y="0"/>
                  </a:lnTo>
                  <a:close/>
                  <a:moveTo>
                    <a:pt x="1805" y="0"/>
                  </a:moveTo>
                  <a:lnTo>
                    <a:pt x="1805" y="0"/>
                  </a:lnTo>
                  <a:lnTo>
                    <a:pt x="1807" y="0"/>
                  </a:lnTo>
                  <a:lnTo>
                    <a:pt x="1808" y="1"/>
                  </a:lnTo>
                  <a:lnTo>
                    <a:pt x="1810" y="3"/>
                  </a:lnTo>
                  <a:lnTo>
                    <a:pt x="1810" y="6"/>
                  </a:lnTo>
                  <a:lnTo>
                    <a:pt x="1810" y="9"/>
                  </a:lnTo>
                  <a:lnTo>
                    <a:pt x="1808" y="10"/>
                  </a:lnTo>
                  <a:lnTo>
                    <a:pt x="1807" y="12"/>
                  </a:lnTo>
                  <a:lnTo>
                    <a:pt x="1805" y="12"/>
                  </a:lnTo>
                  <a:lnTo>
                    <a:pt x="1805" y="12"/>
                  </a:lnTo>
                  <a:lnTo>
                    <a:pt x="1802" y="12"/>
                  </a:lnTo>
                  <a:lnTo>
                    <a:pt x="1801" y="10"/>
                  </a:lnTo>
                  <a:lnTo>
                    <a:pt x="1800" y="9"/>
                  </a:lnTo>
                  <a:lnTo>
                    <a:pt x="1800" y="6"/>
                  </a:lnTo>
                  <a:lnTo>
                    <a:pt x="1800" y="3"/>
                  </a:lnTo>
                  <a:lnTo>
                    <a:pt x="1801" y="1"/>
                  </a:lnTo>
                  <a:lnTo>
                    <a:pt x="1802" y="0"/>
                  </a:lnTo>
                  <a:lnTo>
                    <a:pt x="1805" y="0"/>
                  </a:lnTo>
                  <a:lnTo>
                    <a:pt x="1805" y="0"/>
                  </a:lnTo>
                  <a:close/>
                  <a:moveTo>
                    <a:pt x="1826" y="0"/>
                  </a:moveTo>
                  <a:lnTo>
                    <a:pt x="1826" y="0"/>
                  </a:lnTo>
                  <a:lnTo>
                    <a:pt x="1827" y="0"/>
                  </a:lnTo>
                  <a:lnTo>
                    <a:pt x="1829" y="1"/>
                  </a:lnTo>
                  <a:lnTo>
                    <a:pt x="1829" y="3"/>
                  </a:lnTo>
                  <a:lnTo>
                    <a:pt x="1831" y="6"/>
                  </a:lnTo>
                  <a:lnTo>
                    <a:pt x="1829" y="9"/>
                  </a:lnTo>
                  <a:lnTo>
                    <a:pt x="1829" y="10"/>
                  </a:lnTo>
                  <a:lnTo>
                    <a:pt x="1827" y="12"/>
                  </a:lnTo>
                  <a:lnTo>
                    <a:pt x="1826" y="12"/>
                  </a:lnTo>
                  <a:lnTo>
                    <a:pt x="1826" y="12"/>
                  </a:lnTo>
                  <a:lnTo>
                    <a:pt x="1823" y="12"/>
                  </a:lnTo>
                  <a:lnTo>
                    <a:pt x="1822" y="10"/>
                  </a:lnTo>
                  <a:lnTo>
                    <a:pt x="1821" y="9"/>
                  </a:lnTo>
                  <a:lnTo>
                    <a:pt x="1821" y="6"/>
                  </a:lnTo>
                  <a:lnTo>
                    <a:pt x="1821" y="3"/>
                  </a:lnTo>
                  <a:lnTo>
                    <a:pt x="1822" y="1"/>
                  </a:lnTo>
                  <a:lnTo>
                    <a:pt x="1823" y="0"/>
                  </a:lnTo>
                  <a:lnTo>
                    <a:pt x="1826" y="0"/>
                  </a:lnTo>
                  <a:lnTo>
                    <a:pt x="1826" y="0"/>
                  </a:lnTo>
                  <a:close/>
                  <a:moveTo>
                    <a:pt x="1845" y="0"/>
                  </a:moveTo>
                  <a:lnTo>
                    <a:pt x="1845" y="0"/>
                  </a:lnTo>
                  <a:lnTo>
                    <a:pt x="1848" y="0"/>
                  </a:lnTo>
                  <a:lnTo>
                    <a:pt x="1849" y="1"/>
                  </a:lnTo>
                  <a:lnTo>
                    <a:pt x="1850" y="3"/>
                  </a:lnTo>
                  <a:lnTo>
                    <a:pt x="1851" y="6"/>
                  </a:lnTo>
                  <a:lnTo>
                    <a:pt x="1850" y="9"/>
                  </a:lnTo>
                  <a:lnTo>
                    <a:pt x="1849" y="10"/>
                  </a:lnTo>
                  <a:lnTo>
                    <a:pt x="1848" y="12"/>
                  </a:lnTo>
                  <a:lnTo>
                    <a:pt x="1845" y="12"/>
                  </a:lnTo>
                  <a:lnTo>
                    <a:pt x="1845" y="12"/>
                  </a:lnTo>
                  <a:lnTo>
                    <a:pt x="1844" y="12"/>
                  </a:lnTo>
                  <a:lnTo>
                    <a:pt x="1842" y="10"/>
                  </a:lnTo>
                  <a:lnTo>
                    <a:pt x="1840" y="9"/>
                  </a:lnTo>
                  <a:lnTo>
                    <a:pt x="1840" y="6"/>
                  </a:lnTo>
                  <a:lnTo>
                    <a:pt x="1840" y="3"/>
                  </a:lnTo>
                  <a:lnTo>
                    <a:pt x="1842" y="1"/>
                  </a:lnTo>
                  <a:lnTo>
                    <a:pt x="1844" y="0"/>
                  </a:lnTo>
                  <a:lnTo>
                    <a:pt x="1845" y="0"/>
                  </a:lnTo>
                  <a:lnTo>
                    <a:pt x="1845" y="0"/>
                  </a:lnTo>
                  <a:close/>
                  <a:moveTo>
                    <a:pt x="1866" y="0"/>
                  </a:moveTo>
                  <a:lnTo>
                    <a:pt x="1866" y="0"/>
                  </a:lnTo>
                  <a:lnTo>
                    <a:pt x="1869" y="0"/>
                  </a:lnTo>
                  <a:lnTo>
                    <a:pt x="1870" y="1"/>
                  </a:lnTo>
                  <a:lnTo>
                    <a:pt x="1871" y="3"/>
                  </a:lnTo>
                  <a:lnTo>
                    <a:pt x="1871" y="6"/>
                  </a:lnTo>
                  <a:lnTo>
                    <a:pt x="1871" y="9"/>
                  </a:lnTo>
                  <a:lnTo>
                    <a:pt x="1870" y="10"/>
                  </a:lnTo>
                  <a:lnTo>
                    <a:pt x="1869" y="12"/>
                  </a:lnTo>
                  <a:lnTo>
                    <a:pt x="1866" y="12"/>
                  </a:lnTo>
                  <a:lnTo>
                    <a:pt x="1866" y="12"/>
                  </a:lnTo>
                  <a:lnTo>
                    <a:pt x="1864" y="12"/>
                  </a:lnTo>
                  <a:lnTo>
                    <a:pt x="1862" y="10"/>
                  </a:lnTo>
                  <a:lnTo>
                    <a:pt x="1861" y="9"/>
                  </a:lnTo>
                  <a:lnTo>
                    <a:pt x="1861" y="6"/>
                  </a:lnTo>
                  <a:lnTo>
                    <a:pt x="1861" y="3"/>
                  </a:lnTo>
                  <a:lnTo>
                    <a:pt x="1862" y="1"/>
                  </a:lnTo>
                  <a:lnTo>
                    <a:pt x="1864" y="0"/>
                  </a:lnTo>
                  <a:lnTo>
                    <a:pt x="1866" y="0"/>
                  </a:lnTo>
                  <a:lnTo>
                    <a:pt x="1866" y="0"/>
                  </a:lnTo>
                  <a:close/>
                  <a:moveTo>
                    <a:pt x="1887" y="0"/>
                  </a:moveTo>
                  <a:lnTo>
                    <a:pt x="1887" y="0"/>
                  </a:lnTo>
                  <a:lnTo>
                    <a:pt x="1888" y="0"/>
                  </a:lnTo>
                  <a:lnTo>
                    <a:pt x="1891" y="1"/>
                  </a:lnTo>
                  <a:lnTo>
                    <a:pt x="1892" y="3"/>
                  </a:lnTo>
                  <a:lnTo>
                    <a:pt x="1892" y="6"/>
                  </a:lnTo>
                  <a:lnTo>
                    <a:pt x="1892" y="9"/>
                  </a:lnTo>
                  <a:lnTo>
                    <a:pt x="1891" y="10"/>
                  </a:lnTo>
                  <a:lnTo>
                    <a:pt x="1888" y="12"/>
                  </a:lnTo>
                  <a:lnTo>
                    <a:pt x="1887" y="12"/>
                  </a:lnTo>
                  <a:lnTo>
                    <a:pt x="1887" y="12"/>
                  </a:lnTo>
                  <a:lnTo>
                    <a:pt x="1885" y="12"/>
                  </a:lnTo>
                  <a:lnTo>
                    <a:pt x="1883" y="10"/>
                  </a:lnTo>
                  <a:lnTo>
                    <a:pt x="1882" y="9"/>
                  </a:lnTo>
                  <a:lnTo>
                    <a:pt x="1882" y="6"/>
                  </a:lnTo>
                  <a:lnTo>
                    <a:pt x="1882" y="3"/>
                  </a:lnTo>
                  <a:lnTo>
                    <a:pt x="1883" y="1"/>
                  </a:lnTo>
                  <a:lnTo>
                    <a:pt x="1885" y="0"/>
                  </a:lnTo>
                  <a:lnTo>
                    <a:pt x="1887" y="0"/>
                  </a:lnTo>
                  <a:lnTo>
                    <a:pt x="1887" y="0"/>
                  </a:lnTo>
                  <a:close/>
                  <a:moveTo>
                    <a:pt x="1907" y="0"/>
                  </a:moveTo>
                  <a:lnTo>
                    <a:pt x="1907" y="0"/>
                  </a:lnTo>
                  <a:lnTo>
                    <a:pt x="1909" y="0"/>
                  </a:lnTo>
                  <a:lnTo>
                    <a:pt x="1910" y="1"/>
                  </a:lnTo>
                  <a:lnTo>
                    <a:pt x="1911" y="3"/>
                  </a:lnTo>
                  <a:lnTo>
                    <a:pt x="1913" y="6"/>
                  </a:lnTo>
                  <a:lnTo>
                    <a:pt x="1911" y="9"/>
                  </a:lnTo>
                  <a:lnTo>
                    <a:pt x="1910" y="10"/>
                  </a:lnTo>
                  <a:lnTo>
                    <a:pt x="1909" y="12"/>
                  </a:lnTo>
                  <a:lnTo>
                    <a:pt x="1907" y="12"/>
                  </a:lnTo>
                  <a:lnTo>
                    <a:pt x="1907" y="12"/>
                  </a:lnTo>
                  <a:lnTo>
                    <a:pt x="1905" y="12"/>
                  </a:lnTo>
                  <a:lnTo>
                    <a:pt x="1903" y="10"/>
                  </a:lnTo>
                  <a:lnTo>
                    <a:pt x="1902" y="9"/>
                  </a:lnTo>
                  <a:lnTo>
                    <a:pt x="1902" y="6"/>
                  </a:lnTo>
                  <a:lnTo>
                    <a:pt x="1902" y="3"/>
                  </a:lnTo>
                  <a:lnTo>
                    <a:pt x="1903" y="1"/>
                  </a:lnTo>
                  <a:lnTo>
                    <a:pt x="1905" y="0"/>
                  </a:lnTo>
                  <a:lnTo>
                    <a:pt x="1907" y="0"/>
                  </a:lnTo>
                  <a:lnTo>
                    <a:pt x="1907" y="0"/>
                  </a:lnTo>
                  <a:close/>
                  <a:moveTo>
                    <a:pt x="1927" y="0"/>
                  </a:moveTo>
                  <a:lnTo>
                    <a:pt x="1927" y="0"/>
                  </a:lnTo>
                  <a:lnTo>
                    <a:pt x="1930" y="0"/>
                  </a:lnTo>
                  <a:lnTo>
                    <a:pt x="1931" y="1"/>
                  </a:lnTo>
                  <a:lnTo>
                    <a:pt x="1932" y="3"/>
                  </a:lnTo>
                  <a:lnTo>
                    <a:pt x="1932" y="6"/>
                  </a:lnTo>
                  <a:lnTo>
                    <a:pt x="1932" y="9"/>
                  </a:lnTo>
                  <a:lnTo>
                    <a:pt x="1931" y="10"/>
                  </a:lnTo>
                  <a:lnTo>
                    <a:pt x="1930" y="12"/>
                  </a:lnTo>
                  <a:lnTo>
                    <a:pt x="1927" y="12"/>
                  </a:lnTo>
                  <a:lnTo>
                    <a:pt x="1927" y="12"/>
                  </a:lnTo>
                  <a:lnTo>
                    <a:pt x="1925" y="12"/>
                  </a:lnTo>
                  <a:lnTo>
                    <a:pt x="1924" y="10"/>
                  </a:lnTo>
                  <a:lnTo>
                    <a:pt x="1923" y="9"/>
                  </a:lnTo>
                  <a:lnTo>
                    <a:pt x="1923" y="6"/>
                  </a:lnTo>
                  <a:lnTo>
                    <a:pt x="1923" y="3"/>
                  </a:lnTo>
                  <a:lnTo>
                    <a:pt x="1924" y="1"/>
                  </a:lnTo>
                  <a:lnTo>
                    <a:pt x="1925" y="0"/>
                  </a:lnTo>
                  <a:lnTo>
                    <a:pt x="1927" y="0"/>
                  </a:lnTo>
                  <a:lnTo>
                    <a:pt x="1927" y="0"/>
                  </a:lnTo>
                  <a:close/>
                  <a:moveTo>
                    <a:pt x="1948" y="0"/>
                  </a:moveTo>
                  <a:lnTo>
                    <a:pt x="1948" y="0"/>
                  </a:lnTo>
                  <a:lnTo>
                    <a:pt x="1949" y="0"/>
                  </a:lnTo>
                  <a:lnTo>
                    <a:pt x="1952" y="1"/>
                  </a:lnTo>
                  <a:lnTo>
                    <a:pt x="1953" y="3"/>
                  </a:lnTo>
                  <a:lnTo>
                    <a:pt x="1953" y="6"/>
                  </a:lnTo>
                  <a:lnTo>
                    <a:pt x="1953" y="9"/>
                  </a:lnTo>
                  <a:lnTo>
                    <a:pt x="1952" y="10"/>
                  </a:lnTo>
                  <a:lnTo>
                    <a:pt x="1949" y="12"/>
                  </a:lnTo>
                  <a:lnTo>
                    <a:pt x="1948" y="12"/>
                  </a:lnTo>
                  <a:lnTo>
                    <a:pt x="1948" y="12"/>
                  </a:lnTo>
                  <a:lnTo>
                    <a:pt x="1946" y="12"/>
                  </a:lnTo>
                  <a:lnTo>
                    <a:pt x="1945" y="10"/>
                  </a:lnTo>
                  <a:lnTo>
                    <a:pt x="1943" y="9"/>
                  </a:lnTo>
                  <a:lnTo>
                    <a:pt x="1943" y="6"/>
                  </a:lnTo>
                  <a:lnTo>
                    <a:pt x="1943" y="3"/>
                  </a:lnTo>
                  <a:lnTo>
                    <a:pt x="1945" y="1"/>
                  </a:lnTo>
                  <a:lnTo>
                    <a:pt x="1946" y="0"/>
                  </a:lnTo>
                  <a:lnTo>
                    <a:pt x="1948" y="0"/>
                  </a:lnTo>
                  <a:lnTo>
                    <a:pt x="1948" y="0"/>
                  </a:lnTo>
                  <a:close/>
                  <a:moveTo>
                    <a:pt x="1968" y="0"/>
                  </a:moveTo>
                  <a:lnTo>
                    <a:pt x="1968" y="0"/>
                  </a:lnTo>
                  <a:lnTo>
                    <a:pt x="1970" y="0"/>
                  </a:lnTo>
                  <a:lnTo>
                    <a:pt x="1972" y="1"/>
                  </a:lnTo>
                  <a:lnTo>
                    <a:pt x="1973" y="3"/>
                  </a:lnTo>
                  <a:lnTo>
                    <a:pt x="1974" y="6"/>
                  </a:lnTo>
                  <a:lnTo>
                    <a:pt x="1973" y="9"/>
                  </a:lnTo>
                  <a:lnTo>
                    <a:pt x="1972" y="10"/>
                  </a:lnTo>
                  <a:lnTo>
                    <a:pt x="1970" y="12"/>
                  </a:lnTo>
                  <a:lnTo>
                    <a:pt x="1968" y="12"/>
                  </a:lnTo>
                  <a:lnTo>
                    <a:pt x="1968" y="12"/>
                  </a:lnTo>
                  <a:lnTo>
                    <a:pt x="1967" y="12"/>
                  </a:lnTo>
                  <a:lnTo>
                    <a:pt x="1964" y="10"/>
                  </a:lnTo>
                  <a:lnTo>
                    <a:pt x="1964" y="9"/>
                  </a:lnTo>
                  <a:lnTo>
                    <a:pt x="1963" y="6"/>
                  </a:lnTo>
                  <a:lnTo>
                    <a:pt x="1964" y="3"/>
                  </a:lnTo>
                  <a:lnTo>
                    <a:pt x="1964" y="1"/>
                  </a:lnTo>
                  <a:lnTo>
                    <a:pt x="1967" y="0"/>
                  </a:lnTo>
                  <a:lnTo>
                    <a:pt x="1968" y="0"/>
                  </a:lnTo>
                  <a:lnTo>
                    <a:pt x="1968" y="0"/>
                  </a:lnTo>
                  <a:close/>
                  <a:moveTo>
                    <a:pt x="1989" y="0"/>
                  </a:moveTo>
                  <a:lnTo>
                    <a:pt x="1989" y="0"/>
                  </a:lnTo>
                  <a:lnTo>
                    <a:pt x="1991" y="0"/>
                  </a:lnTo>
                  <a:lnTo>
                    <a:pt x="1992" y="1"/>
                  </a:lnTo>
                  <a:lnTo>
                    <a:pt x="1994" y="3"/>
                  </a:lnTo>
                  <a:lnTo>
                    <a:pt x="1994" y="6"/>
                  </a:lnTo>
                  <a:lnTo>
                    <a:pt x="1994" y="9"/>
                  </a:lnTo>
                  <a:lnTo>
                    <a:pt x="1992" y="10"/>
                  </a:lnTo>
                  <a:lnTo>
                    <a:pt x="1991" y="12"/>
                  </a:lnTo>
                  <a:lnTo>
                    <a:pt x="1989" y="12"/>
                  </a:lnTo>
                  <a:lnTo>
                    <a:pt x="1989" y="12"/>
                  </a:lnTo>
                  <a:lnTo>
                    <a:pt x="1986" y="12"/>
                  </a:lnTo>
                  <a:lnTo>
                    <a:pt x="1985" y="10"/>
                  </a:lnTo>
                  <a:lnTo>
                    <a:pt x="1984" y="9"/>
                  </a:lnTo>
                  <a:lnTo>
                    <a:pt x="1984" y="6"/>
                  </a:lnTo>
                  <a:lnTo>
                    <a:pt x="1984" y="3"/>
                  </a:lnTo>
                  <a:lnTo>
                    <a:pt x="1985" y="1"/>
                  </a:lnTo>
                  <a:lnTo>
                    <a:pt x="1986" y="0"/>
                  </a:lnTo>
                  <a:lnTo>
                    <a:pt x="1989" y="0"/>
                  </a:lnTo>
                  <a:lnTo>
                    <a:pt x="1989" y="0"/>
                  </a:lnTo>
                  <a:close/>
                  <a:moveTo>
                    <a:pt x="2010" y="0"/>
                  </a:moveTo>
                  <a:lnTo>
                    <a:pt x="2010" y="0"/>
                  </a:lnTo>
                  <a:lnTo>
                    <a:pt x="2011" y="0"/>
                  </a:lnTo>
                  <a:lnTo>
                    <a:pt x="2013" y="1"/>
                  </a:lnTo>
                  <a:lnTo>
                    <a:pt x="2014" y="3"/>
                  </a:lnTo>
                  <a:lnTo>
                    <a:pt x="2014" y="6"/>
                  </a:lnTo>
                  <a:lnTo>
                    <a:pt x="2014" y="9"/>
                  </a:lnTo>
                  <a:lnTo>
                    <a:pt x="2013" y="10"/>
                  </a:lnTo>
                  <a:lnTo>
                    <a:pt x="2011" y="12"/>
                  </a:lnTo>
                  <a:lnTo>
                    <a:pt x="2010" y="12"/>
                  </a:lnTo>
                  <a:lnTo>
                    <a:pt x="2010" y="12"/>
                  </a:lnTo>
                  <a:lnTo>
                    <a:pt x="2007" y="12"/>
                  </a:lnTo>
                  <a:lnTo>
                    <a:pt x="2006" y="10"/>
                  </a:lnTo>
                  <a:lnTo>
                    <a:pt x="2005" y="9"/>
                  </a:lnTo>
                  <a:lnTo>
                    <a:pt x="2005" y="6"/>
                  </a:lnTo>
                  <a:lnTo>
                    <a:pt x="2005" y="3"/>
                  </a:lnTo>
                  <a:lnTo>
                    <a:pt x="2006" y="1"/>
                  </a:lnTo>
                  <a:lnTo>
                    <a:pt x="2007" y="0"/>
                  </a:lnTo>
                  <a:lnTo>
                    <a:pt x="2010" y="0"/>
                  </a:lnTo>
                  <a:lnTo>
                    <a:pt x="2010" y="0"/>
                  </a:lnTo>
                  <a:close/>
                  <a:moveTo>
                    <a:pt x="2029" y="0"/>
                  </a:moveTo>
                  <a:lnTo>
                    <a:pt x="2029" y="0"/>
                  </a:lnTo>
                  <a:lnTo>
                    <a:pt x="2032" y="0"/>
                  </a:lnTo>
                  <a:lnTo>
                    <a:pt x="2033" y="1"/>
                  </a:lnTo>
                  <a:lnTo>
                    <a:pt x="2034" y="3"/>
                  </a:lnTo>
                  <a:lnTo>
                    <a:pt x="2035" y="6"/>
                  </a:lnTo>
                  <a:lnTo>
                    <a:pt x="2034" y="9"/>
                  </a:lnTo>
                  <a:lnTo>
                    <a:pt x="2033" y="10"/>
                  </a:lnTo>
                  <a:lnTo>
                    <a:pt x="2032" y="12"/>
                  </a:lnTo>
                  <a:lnTo>
                    <a:pt x="2029" y="12"/>
                  </a:lnTo>
                  <a:lnTo>
                    <a:pt x="2029" y="12"/>
                  </a:lnTo>
                  <a:lnTo>
                    <a:pt x="2028" y="12"/>
                  </a:lnTo>
                  <a:lnTo>
                    <a:pt x="2025" y="10"/>
                  </a:lnTo>
                  <a:lnTo>
                    <a:pt x="2025" y="9"/>
                  </a:lnTo>
                  <a:lnTo>
                    <a:pt x="2024" y="6"/>
                  </a:lnTo>
                  <a:lnTo>
                    <a:pt x="2025" y="3"/>
                  </a:lnTo>
                  <a:lnTo>
                    <a:pt x="2025" y="1"/>
                  </a:lnTo>
                  <a:lnTo>
                    <a:pt x="2028" y="0"/>
                  </a:lnTo>
                  <a:lnTo>
                    <a:pt x="2029" y="0"/>
                  </a:lnTo>
                  <a:lnTo>
                    <a:pt x="2029" y="0"/>
                  </a:lnTo>
                  <a:close/>
                  <a:moveTo>
                    <a:pt x="2050" y="0"/>
                  </a:moveTo>
                  <a:lnTo>
                    <a:pt x="2050" y="0"/>
                  </a:lnTo>
                  <a:lnTo>
                    <a:pt x="2052" y="0"/>
                  </a:lnTo>
                  <a:lnTo>
                    <a:pt x="2054" y="1"/>
                  </a:lnTo>
                  <a:lnTo>
                    <a:pt x="2055" y="3"/>
                  </a:lnTo>
                  <a:lnTo>
                    <a:pt x="2055" y="6"/>
                  </a:lnTo>
                  <a:lnTo>
                    <a:pt x="2055" y="9"/>
                  </a:lnTo>
                  <a:lnTo>
                    <a:pt x="2054" y="10"/>
                  </a:lnTo>
                  <a:lnTo>
                    <a:pt x="2052" y="12"/>
                  </a:lnTo>
                  <a:lnTo>
                    <a:pt x="2050" y="12"/>
                  </a:lnTo>
                  <a:lnTo>
                    <a:pt x="2050" y="12"/>
                  </a:lnTo>
                  <a:lnTo>
                    <a:pt x="2048" y="12"/>
                  </a:lnTo>
                  <a:lnTo>
                    <a:pt x="2046" y="10"/>
                  </a:lnTo>
                  <a:lnTo>
                    <a:pt x="2045" y="9"/>
                  </a:lnTo>
                  <a:lnTo>
                    <a:pt x="2045" y="6"/>
                  </a:lnTo>
                  <a:lnTo>
                    <a:pt x="2045" y="3"/>
                  </a:lnTo>
                  <a:lnTo>
                    <a:pt x="2046" y="1"/>
                  </a:lnTo>
                  <a:lnTo>
                    <a:pt x="2048" y="0"/>
                  </a:lnTo>
                  <a:lnTo>
                    <a:pt x="2050" y="0"/>
                  </a:lnTo>
                  <a:lnTo>
                    <a:pt x="2050" y="0"/>
                  </a:lnTo>
                  <a:close/>
                  <a:moveTo>
                    <a:pt x="2071" y="0"/>
                  </a:moveTo>
                  <a:lnTo>
                    <a:pt x="2071" y="0"/>
                  </a:lnTo>
                  <a:lnTo>
                    <a:pt x="2072" y="0"/>
                  </a:lnTo>
                  <a:lnTo>
                    <a:pt x="2075" y="1"/>
                  </a:lnTo>
                  <a:lnTo>
                    <a:pt x="2076" y="3"/>
                  </a:lnTo>
                  <a:lnTo>
                    <a:pt x="2076" y="6"/>
                  </a:lnTo>
                  <a:lnTo>
                    <a:pt x="2076" y="9"/>
                  </a:lnTo>
                  <a:lnTo>
                    <a:pt x="2075" y="10"/>
                  </a:lnTo>
                  <a:lnTo>
                    <a:pt x="2072" y="12"/>
                  </a:lnTo>
                  <a:lnTo>
                    <a:pt x="2071" y="12"/>
                  </a:lnTo>
                  <a:lnTo>
                    <a:pt x="2071" y="12"/>
                  </a:lnTo>
                  <a:lnTo>
                    <a:pt x="2068" y="12"/>
                  </a:lnTo>
                  <a:lnTo>
                    <a:pt x="2067" y="10"/>
                  </a:lnTo>
                  <a:lnTo>
                    <a:pt x="2066" y="9"/>
                  </a:lnTo>
                  <a:lnTo>
                    <a:pt x="2066" y="6"/>
                  </a:lnTo>
                  <a:lnTo>
                    <a:pt x="2066" y="3"/>
                  </a:lnTo>
                  <a:lnTo>
                    <a:pt x="2067" y="1"/>
                  </a:lnTo>
                  <a:lnTo>
                    <a:pt x="2068" y="0"/>
                  </a:lnTo>
                  <a:lnTo>
                    <a:pt x="2071" y="0"/>
                  </a:lnTo>
                  <a:lnTo>
                    <a:pt x="2071" y="0"/>
                  </a:lnTo>
                  <a:close/>
                  <a:moveTo>
                    <a:pt x="2090" y="0"/>
                  </a:moveTo>
                  <a:lnTo>
                    <a:pt x="2090" y="0"/>
                  </a:lnTo>
                  <a:lnTo>
                    <a:pt x="2093" y="0"/>
                  </a:lnTo>
                  <a:lnTo>
                    <a:pt x="2094" y="1"/>
                  </a:lnTo>
                  <a:lnTo>
                    <a:pt x="2095" y="3"/>
                  </a:lnTo>
                  <a:lnTo>
                    <a:pt x="2097" y="6"/>
                  </a:lnTo>
                  <a:lnTo>
                    <a:pt x="2095" y="9"/>
                  </a:lnTo>
                  <a:lnTo>
                    <a:pt x="2094" y="10"/>
                  </a:lnTo>
                  <a:lnTo>
                    <a:pt x="2093" y="12"/>
                  </a:lnTo>
                  <a:lnTo>
                    <a:pt x="2090" y="12"/>
                  </a:lnTo>
                  <a:lnTo>
                    <a:pt x="2090" y="12"/>
                  </a:lnTo>
                  <a:lnTo>
                    <a:pt x="2089" y="12"/>
                  </a:lnTo>
                  <a:lnTo>
                    <a:pt x="2087" y="10"/>
                  </a:lnTo>
                  <a:lnTo>
                    <a:pt x="2087" y="9"/>
                  </a:lnTo>
                  <a:lnTo>
                    <a:pt x="2086" y="6"/>
                  </a:lnTo>
                  <a:lnTo>
                    <a:pt x="2087" y="3"/>
                  </a:lnTo>
                  <a:lnTo>
                    <a:pt x="2087" y="1"/>
                  </a:lnTo>
                  <a:lnTo>
                    <a:pt x="2089" y="0"/>
                  </a:lnTo>
                  <a:lnTo>
                    <a:pt x="2090" y="0"/>
                  </a:lnTo>
                  <a:lnTo>
                    <a:pt x="2090" y="0"/>
                  </a:lnTo>
                  <a:close/>
                  <a:moveTo>
                    <a:pt x="2111" y="0"/>
                  </a:moveTo>
                  <a:lnTo>
                    <a:pt x="2111" y="0"/>
                  </a:lnTo>
                  <a:lnTo>
                    <a:pt x="2114" y="0"/>
                  </a:lnTo>
                  <a:lnTo>
                    <a:pt x="2115" y="1"/>
                  </a:lnTo>
                  <a:lnTo>
                    <a:pt x="2116" y="3"/>
                  </a:lnTo>
                  <a:lnTo>
                    <a:pt x="2116" y="6"/>
                  </a:lnTo>
                  <a:lnTo>
                    <a:pt x="2116" y="9"/>
                  </a:lnTo>
                  <a:lnTo>
                    <a:pt x="2115" y="10"/>
                  </a:lnTo>
                  <a:lnTo>
                    <a:pt x="2114" y="12"/>
                  </a:lnTo>
                  <a:lnTo>
                    <a:pt x="2111" y="12"/>
                  </a:lnTo>
                  <a:lnTo>
                    <a:pt x="2111" y="12"/>
                  </a:lnTo>
                  <a:lnTo>
                    <a:pt x="2109" y="12"/>
                  </a:lnTo>
                  <a:lnTo>
                    <a:pt x="2108" y="10"/>
                  </a:lnTo>
                  <a:lnTo>
                    <a:pt x="2106" y="9"/>
                  </a:lnTo>
                  <a:lnTo>
                    <a:pt x="2106" y="6"/>
                  </a:lnTo>
                  <a:lnTo>
                    <a:pt x="2106" y="3"/>
                  </a:lnTo>
                  <a:lnTo>
                    <a:pt x="2108" y="1"/>
                  </a:lnTo>
                  <a:lnTo>
                    <a:pt x="2109" y="0"/>
                  </a:lnTo>
                  <a:lnTo>
                    <a:pt x="2111" y="0"/>
                  </a:lnTo>
                  <a:lnTo>
                    <a:pt x="2111" y="0"/>
                  </a:lnTo>
                  <a:close/>
                  <a:moveTo>
                    <a:pt x="2132" y="0"/>
                  </a:moveTo>
                  <a:lnTo>
                    <a:pt x="2132" y="0"/>
                  </a:lnTo>
                  <a:lnTo>
                    <a:pt x="2133" y="0"/>
                  </a:lnTo>
                  <a:lnTo>
                    <a:pt x="2136" y="1"/>
                  </a:lnTo>
                  <a:lnTo>
                    <a:pt x="2137" y="3"/>
                  </a:lnTo>
                  <a:lnTo>
                    <a:pt x="2137" y="6"/>
                  </a:lnTo>
                  <a:lnTo>
                    <a:pt x="2137" y="9"/>
                  </a:lnTo>
                  <a:lnTo>
                    <a:pt x="2136" y="10"/>
                  </a:lnTo>
                  <a:lnTo>
                    <a:pt x="2133" y="12"/>
                  </a:lnTo>
                  <a:lnTo>
                    <a:pt x="2132" y="12"/>
                  </a:lnTo>
                  <a:lnTo>
                    <a:pt x="2132" y="12"/>
                  </a:lnTo>
                  <a:lnTo>
                    <a:pt x="2130" y="12"/>
                  </a:lnTo>
                  <a:lnTo>
                    <a:pt x="2128" y="10"/>
                  </a:lnTo>
                  <a:lnTo>
                    <a:pt x="2127" y="9"/>
                  </a:lnTo>
                  <a:lnTo>
                    <a:pt x="2127" y="6"/>
                  </a:lnTo>
                  <a:lnTo>
                    <a:pt x="2127" y="3"/>
                  </a:lnTo>
                  <a:lnTo>
                    <a:pt x="2128" y="1"/>
                  </a:lnTo>
                  <a:lnTo>
                    <a:pt x="2130" y="0"/>
                  </a:lnTo>
                  <a:lnTo>
                    <a:pt x="2132" y="0"/>
                  </a:lnTo>
                  <a:lnTo>
                    <a:pt x="2132" y="0"/>
                  </a:lnTo>
                  <a:close/>
                  <a:moveTo>
                    <a:pt x="2153" y="0"/>
                  </a:moveTo>
                  <a:lnTo>
                    <a:pt x="2153" y="0"/>
                  </a:lnTo>
                  <a:lnTo>
                    <a:pt x="2154" y="0"/>
                  </a:lnTo>
                  <a:lnTo>
                    <a:pt x="2155" y="1"/>
                  </a:lnTo>
                  <a:lnTo>
                    <a:pt x="2157" y="3"/>
                  </a:lnTo>
                  <a:lnTo>
                    <a:pt x="2158" y="6"/>
                  </a:lnTo>
                  <a:lnTo>
                    <a:pt x="2157" y="9"/>
                  </a:lnTo>
                  <a:lnTo>
                    <a:pt x="2155" y="10"/>
                  </a:lnTo>
                  <a:lnTo>
                    <a:pt x="2154" y="12"/>
                  </a:lnTo>
                  <a:lnTo>
                    <a:pt x="2153" y="12"/>
                  </a:lnTo>
                  <a:lnTo>
                    <a:pt x="2153" y="12"/>
                  </a:lnTo>
                  <a:lnTo>
                    <a:pt x="2151" y="12"/>
                  </a:lnTo>
                  <a:lnTo>
                    <a:pt x="2149" y="10"/>
                  </a:lnTo>
                  <a:lnTo>
                    <a:pt x="2148" y="9"/>
                  </a:lnTo>
                  <a:lnTo>
                    <a:pt x="2147" y="6"/>
                  </a:lnTo>
                  <a:lnTo>
                    <a:pt x="2148" y="3"/>
                  </a:lnTo>
                  <a:lnTo>
                    <a:pt x="2149" y="1"/>
                  </a:lnTo>
                  <a:lnTo>
                    <a:pt x="2151" y="0"/>
                  </a:lnTo>
                  <a:lnTo>
                    <a:pt x="2153" y="0"/>
                  </a:lnTo>
                  <a:lnTo>
                    <a:pt x="2153" y="0"/>
                  </a:lnTo>
                  <a:close/>
                  <a:moveTo>
                    <a:pt x="2173" y="0"/>
                  </a:moveTo>
                  <a:lnTo>
                    <a:pt x="2173" y="0"/>
                  </a:lnTo>
                  <a:lnTo>
                    <a:pt x="2175" y="0"/>
                  </a:lnTo>
                  <a:lnTo>
                    <a:pt x="2176" y="1"/>
                  </a:lnTo>
                  <a:lnTo>
                    <a:pt x="2178" y="3"/>
                  </a:lnTo>
                  <a:lnTo>
                    <a:pt x="2178" y="6"/>
                  </a:lnTo>
                  <a:lnTo>
                    <a:pt x="2178" y="9"/>
                  </a:lnTo>
                  <a:lnTo>
                    <a:pt x="2176" y="10"/>
                  </a:lnTo>
                  <a:lnTo>
                    <a:pt x="2175" y="12"/>
                  </a:lnTo>
                  <a:lnTo>
                    <a:pt x="2173" y="12"/>
                  </a:lnTo>
                  <a:lnTo>
                    <a:pt x="2173" y="12"/>
                  </a:lnTo>
                  <a:lnTo>
                    <a:pt x="2170" y="12"/>
                  </a:lnTo>
                  <a:lnTo>
                    <a:pt x="2169" y="10"/>
                  </a:lnTo>
                  <a:lnTo>
                    <a:pt x="2168" y="9"/>
                  </a:lnTo>
                  <a:lnTo>
                    <a:pt x="2168" y="6"/>
                  </a:lnTo>
                  <a:lnTo>
                    <a:pt x="2168" y="3"/>
                  </a:lnTo>
                  <a:lnTo>
                    <a:pt x="2169" y="1"/>
                  </a:lnTo>
                  <a:lnTo>
                    <a:pt x="2170" y="0"/>
                  </a:lnTo>
                  <a:lnTo>
                    <a:pt x="2173" y="0"/>
                  </a:lnTo>
                  <a:lnTo>
                    <a:pt x="2173" y="0"/>
                  </a:lnTo>
                  <a:close/>
                  <a:moveTo>
                    <a:pt x="2193" y="0"/>
                  </a:moveTo>
                  <a:lnTo>
                    <a:pt x="2193" y="0"/>
                  </a:lnTo>
                  <a:lnTo>
                    <a:pt x="2195" y="0"/>
                  </a:lnTo>
                  <a:lnTo>
                    <a:pt x="2197" y="1"/>
                  </a:lnTo>
                  <a:lnTo>
                    <a:pt x="2198" y="3"/>
                  </a:lnTo>
                  <a:lnTo>
                    <a:pt x="2198" y="6"/>
                  </a:lnTo>
                  <a:lnTo>
                    <a:pt x="2198" y="9"/>
                  </a:lnTo>
                  <a:lnTo>
                    <a:pt x="2197" y="10"/>
                  </a:lnTo>
                  <a:lnTo>
                    <a:pt x="2195" y="12"/>
                  </a:lnTo>
                  <a:lnTo>
                    <a:pt x="2193" y="12"/>
                  </a:lnTo>
                  <a:lnTo>
                    <a:pt x="2193" y="12"/>
                  </a:lnTo>
                  <a:lnTo>
                    <a:pt x="2191" y="12"/>
                  </a:lnTo>
                  <a:lnTo>
                    <a:pt x="2190" y="10"/>
                  </a:lnTo>
                  <a:lnTo>
                    <a:pt x="2189" y="9"/>
                  </a:lnTo>
                  <a:lnTo>
                    <a:pt x="2189" y="6"/>
                  </a:lnTo>
                  <a:lnTo>
                    <a:pt x="2189" y="3"/>
                  </a:lnTo>
                  <a:lnTo>
                    <a:pt x="2190" y="1"/>
                  </a:lnTo>
                  <a:lnTo>
                    <a:pt x="2191" y="0"/>
                  </a:lnTo>
                  <a:lnTo>
                    <a:pt x="2193" y="0"/>
                  </a:lnTo>
                  <a:lnTo>
                    <a:pt x="2193" y="0"/>
                  </a:lnTo>
                  <a:close/>
                  <a:moveTo>
                    <a:pt x="2214" y="0"/>
                  </a:moveTo>
                  <a:lnTo>
                    <a:pt x="2214" y="0"/>
                  </a:lnTo>
                  <a:lnTo>
                    <a:pt x="2216" y="0"/>
                  </a:lnTo>
                  <a:lnTo>
                    <a:pt x="2217" y="1"/>
                  </a:lnTo>
                  <a:lnTo>
                    <a:pt x="2218" y="3"/>
                  </a:lnTo>
                  <a:lnTo>
                    <a:pt x="2219" y="6"/>
                  </a:lnTo>
                  <a:lnTo>
                    <a:pt x="2218" y="9"/>
                  </a:lnTo>
                  <a:lnTo>
                    <a:pt x="2217" y="10"/>
                  </a:lnTo>
                  <a:lnTo>
                    <a:pt x="2216" y="12"/>
                  </a:lnTo>
                  <a:lnTo>
                    <a:pt x="2214" y="12"/>
                  </a:lnTo>
                  <a:lnTo>
                    <a:pt x="2214" y="12"/>
                  </a:lnTo>
                  <a:lnTo>
                    <a:pt x="2212" y="12"/>
                  </a:lnTo>
                  <a:lnTo>
                    <a:pt x="2211" y="10"/>
                  </a:lnTo>
                  <a:lnTo>
                    <a:pt x="2209" y="9"/>
                  </a:lnTo>
                  <a:lnTo>
                    <a:pt x="2208" y="6"/>
                  </a:lnTo>
                  <a:lnTo>
                    <a:pt x="2209" y="3"/>
                  </a:lnTo>
                  <a:lnTo>
                    <a:pt x="2211" y="1"/>
                  </a:lnTo>
                  <a:lnTo>
                    <a:pt x="2212" y="0"/>
                  </a:lnTo>
                  <a:lnTo>
                    <a:pt x="2214" y="0"/>
                  </a:lnTo>
                  <a:lnTo>
                    <a:pt x="2214" y="0"/>
                  </a:lnTo>
                  <a:close/>
                  <a:moveTo>
                    <a:pt x="2234" y="0"/>
                  </a:moveTo>
                  <a:lnTo>
                    <a:pt x="2234" y="0"/>
                  </a:lnTo>
                  <a:lnTo>
                    <a:pt x="2236" y="0"/>
                  </a:lnTo>
                  <a:lnTo>
                    <a:pt x="2238" y="1"/>
                  </a:lnTo>
                  <a:lnTo>
                    <a:pt x="2239" y="3"/>
                  </a:lnTo>
                  <a:lnTo>
                    <a:pt x="2239" y="6"/>
                  </a:lnTo>
                  <a:lnTo>
                    <a:pt x="2239" y="9"/>
                  </a:lnTo>
                  <a:lnTo>
                    <a:pt x="2238" y="10"/>
                  </a:lnTo>
                  <a:lnTo>
                    <a:pt x="2236" y="12"/>
                  </a:lnTo>
                  <a:lnTo>
                    <a:pt x="2234" y="12"/>
                  </a:lnTo>
                  <a:lnTo>
                    <a:pt x="2234" y="12"/>
                  </a:lnTo>
                  <a:lnTo>
                    <a:pt x="2233" y="12"/>
                  </a:lnTo>
                  <a:lnTo>
                    <a:pt x="2230" y="10"/>
                  </a:lnTo>
                  <a:lnTo>
                    <a:pt x="2229" y="9"/>
                  </a:lnTo>
                  <a:lnTo>
                    <a:pt x="2229" y="6"/>
                  </a:lnTo>
                  <a:lnTo>
                    <a:pt x="2229" y="3"/>
                  </a:lnTo>
                  <a:lnTo>
                    <a:pt x="2230" y="1"/>
                  </a:lnTo>
                  <a:lnTo>
                    <a:pt x="2233" y="0"/>
                  </a:lnTo>
                  <a:lnTo>
                    <a:pt x="2234" y="0"/>
                  </a:lnTo>
                  <a:lnTo>
                    <a:pt x="2234" y="0"/>
                  </a:lnTo>
                  <a:close/>
                  <a:moveTo>
                    <a:pt x="2255" y="0"/>
                  </a:moveTo>
                  <a:lnTo>
                    <a:pt x="2255" y="0"/>
                  </a:lnTo>
                  <a:lnTo>
                    <a:pt x="2256" y="0"/>
                  </a:lnTo>
                  <a:lnTo>
                    <a:pt x="2258" y="1"/>
                  </a:lnTo>
                  <a:lnTo>
                    <a:pt x="2260" y="3"/>
                  </a:lnTo>
                  <a:lnTo>
                    <a:pt x="2260" y="6"/>
                  </a:lnTo>
                  <a:lnTo>
                    <a:pt x="2260" y="9"/>
                  </a:lnTo>
                  <a:lnTo>
                    <a:pt x="2258" y="10"/>
                  </a:lnTo>
                  <a:lnTo>
                    <a:pt x="2256" y="12"/>
                  </a:lnTo>
                  <a:lnTo>
                    <a:pt x="2255" y="12"/>
                  </a:lnTo>
                  <a:lnTo>
                    <a:pt x="2255" y="12"/>
                  </a:lnTo>
                  <a:lnTo>
                    <a:pt x="2252" y="12"/>
                  </a:lnTo>
                  <a:lnTo>
                    <a:pt x="2251" y="10"/>
                  </a:lnTo>
                  <a:lnTo>
                    <a:pt x="2250" y="9"/>
                  </a:lnTo>
                  <a:lnTo>
                    <a:pt x="2250" y="6"/>
                  </a:lnTo>
                  <a:lnTo>
                    <a:pt x="2250" y="3"/>
                  </a:lnTo>
                  <a:lnTo>
                    <a:pt x="2251" y="1"/>
                  </a:lnTo>
                  <a:lnTo>
                    <a:pt x="2252" y="0"/>
                  </a:lnTo>
                  <a:lnTo>
                    <a:pt x="2255" y="0"/>
                  </a:lnTo>
                  <a:lnTo>
                    <a:pt x="2255" y="0"/>
                  </a:lnTo>
                  <a:close/>
                  <a:moveTo>
                    <a:pt x="2276" y="0"/>
                  </a:moveTo>
                  <a:lnTo>
                    <a:pt x="2276" y="0"/>
                  </a:lnTo>
                  <a:lnTo>
                    <a:pt x="2277" y="0"/>
                  </a:lnTo>
                  <a:lnTo>
                    <a:pt x="2278" y="1"/>
                  </a:lnTo>
                  <a:lnTo>
                    <a:pt x="2279" y="3"/>
                  </a:lnTo>
                  <a:lnTo>
                    <a:pt x="2281" y="6"/>
                  </a:lnTo>
                  <a:lnTo>
                    <a:pt x="2279" y="9"/>
                  </a:lnTo>
                  <a:lnTo>
                    <a:pt x="2278" y="10"/>
                  </a:lnTo>
                  <a:lnTo>
                    <a:pt x="2277" y="12"/>
                  </a:lnTo>
                  <a:lnTo>
                    <a:pt x="2276" y="12"/>
                  </a:lnTo>
                  <a:lnTo>
                    <a:pt x="2276" y="12"/>
                  </a:lnTo>
                  <a:lnTo>
                    <a:pt x="2273" y="12"/>
                  </a:lnTo>
                  <a:lnTo>
                    <a:pt x="2272" y="10"/>
                  </a:lnTo>
                  <a:lnTo>
                    <a:pt x="2271" y="9"/>
                  </a:lnTo>
                  <a:lnTo>
                    <a:pt x="2269" y="6"/>
                  </a:lnTo>
                  <a:lnTo>
                    <a:pt x="2271" y="3"/>
                  </a:lnTo>
                  <a:lnTo>
                    <a:pt x="2272" y="1"/>
                  </a:lnTo>
                  <a:lnTo>
                    <a:pt x="2273" y="0"/>
                  </a:lnTo>
                  <a:lnTo>
                    <a:pt x="2276" y="0"/>
                  </a:lnTo>
                  <a:lnTo>
                    <a:pt x="2276" y="0"/>
                  </a:lnTo>
                  <a:close/>
                  <a:moveTo>
                    <a:pt x="2295" y="0"/>
                  </a:moveTo>
                  <a:lnTo>
                    <a:pt x="2295" y="0"/>
                  </a:lnTo>
                  <a:lnTo>
                    <a:pt x="2298" y="0"/>
                  </a:lnTo>
                  <a:lnTo>
                    <a:pt x="2299" y="1"/>
                  </a:lnTo>
                  <a:lnTo>
                    <a:pt x="2300" y="3"/>
                  </a:lnTo>
                  <a:lnTo>
                    <a:pt x="2300" y="6"/>
                  </a:lnTo>
                  <a:lnTo>
                    <a:pt x="2300" y="9"/>
                  </a:lnTo>
                  <a:lnTo>
                    <a:pt x="2299" y="10"/>
                  </a:lnTo>
                  <a:lnTo>
                    <a:pt x="2298" y="12"/>
                  </a:lnTo>
                  <a:lnTo>
                    <a:pt x="2295" y="12"/>
                  </a:lnTo>
                  <a:lnTo>
                    <a:pt x="2295" y="12"/>
                  </a:lnTo>
                  <a:lnTo>
                    <a:pt x="2294" y="12"/>
                  </a:lnTo>
                  <a:lnTo>
                    <a:pt x="2292" y="10"/>
                  </a:lnTo>
                  <a:lnTo>
                    <a:pt x="2290" y="9"/>
                  </a:lnTo>
                  <a:lnTo>
                    <a:pt x="2290" y="6"/>
                  </a:lnTo>
                  <a:lnTo>
                    <a:pt x="2290" y="3"/>
                  </a:lnTo>
                  <a:lnTo>
                    <a:pt x="2292" y="1"/>
                  </a:lnTo>
                  <a:lnTo>
                    <a:pt x="2294" y="0"/>
                  </a:lnTo>
                  <a:lnTo>
                    <a:pt x="2295" y="0"/>
                  </a:lnTo>
                  <a:lnTo>
                    <a:pt x="2295" y="0"/>
                  </a:lnTo>
                  <a:close/>
                  <a:moveTo>
                    <a:pt x="2316" y="0"/>
                  </a:moveTo>
                  <a:lnTo>
                    <a:pt x="2316" y="0"/>
                  </a:lnTo>
                  <a:lnTo>
                    <a:pt x="2317" y="0"/>
                  </a:lnTo>
                  <a:lnTo>
                    <a:pt x="2320" y="1"/>
                  </a:lnTo>
                  <a:lnTo>
                    <a:pt x="2321" y="3"/>
                  </a:lnTo>
                  <a:lnTo>
                    <a:pt x="2321" y="6"/>
                  </a:lnTo>
                  <a:lnTo>
                    <a:pt x="2321" y="9"/>
                  </a:lnTo>
                  <a:lnTo>
                    <a:pt x="2320" y="10"/>
                  </a:lnTo>
                  <a:lnTo>
                    <a:pt x="2317" y="12"/>
                  </a:lnTo>
                  <a:lnTo>
                    <a:pt x="2316" y="12"/>
                  </a:lnTo>
                  <a:lnTo>
                    <a:pt x="2316" y="12"/>
                  </a:lnTo>
                  <a:lnTo>
                    <a:pt x="2314" y="12"/>
                  </a:lnTo>
                  <a:lnTo>
                    <a:pt x="2312" y="10"/>
                  </a:lnTo>
                  <a:lnTo>
                    <a:pt x="2311" y="9"/>
                  </a:lnTo>
                  <a:lnTo>
                    <a:pt x="2311" y="6"/>
                  </a:lnTo>
                  <a:lnTo>
                    <a:pt x="2311" y="3"/>
                  </a:lnTo>
                  <a:lnTo>
                    <a:pt x="2312" y="1"/>
                  </a:lnTo>
                  <a:lnTo>
                    <a:pt x="2314" y="0"/>
                  </a:lnTo>
                  <a:lnTo>
                    <a:pt x="2316" y="0"/>
                  </a:lnTo>
                  <a:lnTo>
                    <a:pt x="2316" y="0"/>
                  </a:lnTo>
                  <a:close/>
                  <a:moveTo>
                    <a:pt x="2337" y="0"/>
                  </a:moveTo>
                  <a:lnTo>
                    <a:pt x="2337" y="0"/>
                  </a:lnTo>
                  <a:lnTo>
                    <a:pt x="2338" y="0"/>
                  </a:lnTo>
                  <a:lnTo>
                    <a:pt x="2341" y="1"/>
                  </a:lnTo>
                  <a:lnTo>
                    <a:pt x="2341" y="3"/>
                  </a:lnTo>
                  <a:lnTo>
                    <a:pt x="2342" y="6"/>
                  </a:lnTo>
                  <a:lnTo>
                    <a:pt x="2341" y="9"/>
                  </a:lnTo>
                  <a:lnTo>
                    <a:pt x="2341" y="10"/>
                  </a:lnTo>
                  <a:lnTo>
                    <a:pt x="2338" y="12"/>
                  </a:lnTo>
                  <a:lnTo>
                    <a:pt x="2337" y="12"/>
                  </a:lnTo>
                  <a:lnTo>
                    <a:pt x="2337" y="12"/>
                  </a:lnTo>
                  <a:lnTo>
                    <a:pt x="2334" y="12"/>
                  </a:lnTo>
                  <a:lnTo>
                    <a:pt x="2333" y="10"/>
                  </a:lnTo>
                  <a:lnTo>
                    <a:pt x="2332" y="9"/>
                  </a:lnTo>
                  <a:lnTo>
                    <a:pt x="2331" y="6"/>
                  </a:lnTo>
                  <a:lnTo>
                    <a:pt x="2332" y="3"/>
                  </a:lnTo>
                  <a:lnTo>
                    <a:pt x="2333" y="1"/>
                  </a:lnTo>
                  <a:lnTo>
                    <a:pt x="2334" y="0"/>
                  </a:lnTo>
                  <a:lnTo>
                    <a:pt x="2337" y="0"/>
                  </a:lnTo>
                  <a:lnTo>
                    <a:pt x="2337" y="0"/>
                  </a:lnTo>
                  <a:close/>
                  <a:moveTo>
                    <a:pt x="2357" y="0"/>
                  </a:moveTo>
                  <a:lnTo>
                    <a:pt x="2357" y="0"/>
                  </a:lnTo>
                  <a:lnTo>
                    <a:pt x="2359" y="0"/>
                  </a:lnTo>
                  <a:lnTo>
                    <a:pt x="2360" y="1"/>
                  </a:lnTo>
                  <a:lnTo>
                    <a:pt x="2361" y="3"/>
                  </a:lnTo>
                  <a:lnTo>
                    <a:pt x="2361" y="6"/>
                  </a:lnTo>
                  <a:lnTo>
                    <a:pt x="2361" y="9"/>
                  </a:lnTo>
                  <a:lnTo>
                    <a:pt x="2360" y="10"/>
                  </a:lnTo>
                  <a:lnTo>
                    <a:pt x="2359" y="12"/>
                  </a:lnTo>
                  <a:lnTo>
                    <a:pt x="2357" y="12"/>
                  </a:lnTo>
                  <a:lnTo>
                    <a:pt x="2357" y="12"/>
                  </a:lnTo>
                  <a:lnTo>
                    <a:pt x="2355" y="12"/>
                  </a:lnTo>
                  <a:lnTo>
                    <a:pt x="2353" y="10"/>
                  </a:lnTo>
                  <a:lnTo>
                    <a:pt x="2352" y="9"/>
                  </a:lnTo>
                  <a:lnTo>
                    <a:pt x="2352" y="6"/>
                  </a:lnTo>
                  <a:lnTo>
                    <a:pt x="2352" y="3"/>
                  </a:lnTo>
                  <a:lnTo>
                    <a:pt x="2353" y="1"/>
                  </a:lnTo>
                  <a:lnTo>
                    <a:pt x="2355" y="0"/>
                  </a:lnTo>
                  <a:lnTo>
                    <a:pt x="2357" y="0"/>
                  </a:lnTo>
                  <a:lnTo>
                    <a:pt x="2357" y="0"/>
                  </a:lnTo>
                  <a:close/>
                  <a:moveTo>
                    <a:pt x="2377" y="0"/>
                  </a:moveTo>
                  <a:lnTo>
                    <a:pt x="2377" y="0"/>
                  </a:lnTo>
                  <a:lnTo>
                    <a:pt x="2379" y="0"/>
                  </a:lnTo>
                  <a:lnTo>
                    <a:pt x="2381" y="1"/>
                  </a:lnTo>
                  <a:lnTo>
                    <a:pt x="2382" y="3"/>
                  </a:lnTo>
                  <a:lnTo>
                    <a:pt x="2382" y="6"/>
                  </a:lnTo>
                  <a:lnTo>
                    <a:pt x="2382" y="9"/>
                  </a:lnTo>
                  <a:lnTo>
                    <a:pt x="2381" y="10"/>
                  </a:lnTo>
                  <a:lnTo>
                    <a:pt x="2379" y="12"/>
                  </a:lnTo>
                  <a:lnTo>
                    <a:pt x="2377" y="12"/>
                  </a:lnTo>
                  <a:lnTo>
                    <a:pt x="2377" y="12"/>
                  </a:lnTo>
                  <a:lnTo>
                    <a:pt x="2375" y="12"/>
                  </a:lnTo>
                  <a:lnTo>
                    <a:pt x="2374" y="10"/>
                  </a:lnTo>
                  <a:lnTo>
                    <a:pt x="2372" y="9"/>
                  </a:lnTo>
                  <a:lnTo>
                    <a:pt x="2372" y="6"/>
                  </a:lnTo>
                  <a:lnTo>
                    <a:pt x="2372" y="3"/>
                  </a:lnTo>
                  <a:lnTo>
                    <a:pt x="2374" y="1"/>
                  </a:lnTo>
                  <a:lnTo>
                    <a:pt x="2375" y="0"/>
                  </a:lnTo>
                  <a:lnTo>
                    <a:pt x="2377" y="0"/>
                  </a:lnTo>
                  <a:lnTo>
                    <a:pt x="2377" y="0"/>
                  </a:lnTo>
                  <a:close/>
                  <a:moveTo>
                    <a:pt x="2398" y="0"/>
                  </a:moveTo>
                  <a:lnTo>
                    <a:pt x="2398" y="0"/>
                  </a:lnTo>
                  <a:lnTo>
                    <a:pt x="2399" y="0"/>
                  </a:lnTo>
                  <a:lnTo>
                    <a:pt x="2402" y="1"/>
                  </a:lnTo>
                  <a:lnTo>
                    <a:pt x="2402" y="3"/>
                  </a:lnTo>
                  <a:lnTo>
                    <a:pt x="2403" y="6"/>
                  </a:lnTo>
                  <a:lnTo>
                    <a:pt x="2402" y="9"/>
                  </a:lnTo>
                  <a:lnTo>
                    <a:pt x="2402" y="10"/>
                  </a:lnTo>
                  <a:lnTo>
                    <a:pt x="2399" y="12"/>
                  </a:lnTo>
                  <a:lnTo>
                    <a:pt x="2398" y="12"/>
                  </a:lnTo>
                  <a:lnTo>
                    <a:pt x="2398" y="12"/>
                  </a:lnTo>
                  <a:lnTo>
                    <a:pt x="2396" y="12"/>
                  </a:lnTo>
                  <a:lnTo>
                    <a:pt x="2395" y="10"/>
                  </a:lnTo>
                  <a:lnTo>
                    <a:pt x="2393" y="9"/>
                  </a:lnTo>
                  <a:lnTo>
                    <a:pt x="2392" y="6"/>
                  </a:lnTo>
                  <a:lnTo>
                    <a:pt x="2393" y="3"/>
                  </a:lnTo>
                  <a:lnTo>
                    <a:pt x="2395" y="1"/>
                  </a:lnTo>
                  <a:lnTo>
                    <a:pt x="2396" y="0"/>
                  </a:lnTo>
                  <a:lnTo>
                    <a:pt x="2398" y="0"/>
                  </a:lnTo>
                  <a:lnTo>
                    <a:pt x="2398" y="0"/>
                  </a:lnTo>
                  <a:close/>
                  <a:moveTo>
                    <a:pt x="2418" y="0"/>
                  </a:moveTo>
                  <a:lnTo>
                    <a:pt x="2418" y="0"/>
                  </a:lnTo>
                  <a:lnTo>
                    <a:pt x="2420" y="0"/>
                  </a:lnTo>
                  <a:lnTo>
                    <a:pt x="2421" y="1"/>
                  </a:lnTo>
                  <a:lnTo>
                    <a:pt x="2423" y="3"/>
                  </a:lnTo>
                  <a:lnTo>
                    <a:pt x="2423" y="6"/>
                  </a:lnTo>
                  <a:lnTo>
                    <a:pt x="2423" y="9"/>
                  </a:lnTo>
                  <a:lnTo>
                    <a:pt x="2421" y="10"/>
                  </a:lnTo>
                  <a:lnTo>
                    <a:pt x="2420" y="12"/>
                  </a:lnTo>
                  <a:lnTo>
                    <a:pt x="2418" y="12"/>
                  </a:lnTo>
                  <a:lnTo>
                    <a:pt x="2418" y="12"/>
                  </a:lnTo>
                  <a:lnTo>
                    <a:pt x="2417" y="12"/>
                  </a:lnTo>
                  <a:lnTo>
                    <a:pt x="2414" y="10"/>
                  </a:lnTo>
                  <a:lnTo>
                    <a:pt x="2413" y="9"/>
                  </a:lnTo>
                  <a:lnTo>
                    <a:pt x="2413" y="6"/>
                  </a:lnTo>
                  <a:lnTo>
                    <a:pt x="2413" y="3"/>
                  </a:lnTo>
                  <a:lnTo>
                    <a:pt x="2414" y="1"/>
                  </a:lnTo>
                  <a:lnTo>
                    <a:pt x="2417" y="0"/>
                  </a:lnTo>
                  <a:lnTo>
                    <a:pt x="2418" y="0"/>
                  </a:lnTo>
                  <a:lnTo>
                    <a:pt x="2418" y="0"/>
                  </a:lnTo>
                  <a:close/>
                  <a:moveTo>
                    <a:pt x="2439" y="0"/>
                  </a:moveTo>
                  <a:lnTo>
                    <a:pt x="2439" y="0"/>
                  </a:lnTo>
                  <a:lnTo>
                    <a:pt x="2441" y="0"/>
                  </a:lnTo>
                  <a:lnTo>
                    <a:pt x="2442" y="1"/>
                  </a:lnTo>
                  <a:lnTo>
                    <a:pt x="2444" y="3"/>
                  </a:lnTo>
                  <a:lnTo>
                    <a:pt x="2444" y="6"/>
                  </a:lnTo>
                  <a:lnTo>
                    <a:pt x="2444" y="9"/>
                  </a:lnTo>
                  <a:lnTo>
                    <a:pt x="2442" y="10"/>
                  </a:lnTo>
                  <a:lnTo>
                    <a:pt x="2441" y="12"/>
                  </a:lnTo>
                  <a:lnTo>
                    <a:pt x="2439" y="12"/>
                  </a:lnTo>
                  <a:lnTo>
                    <a:pt x="2439" y="12"/>
                  </a:lnTo>
                  <a:lnTo>
                    <a:pt x="2436" y="12"/>
                  </a:lnTo>
                  <a:lnTo>
                    <a:pt x="2435" y="10"/>
                  </a:lnTo>
                  <a:lnTo>
                    <a:pt x="2434" y="9"/>
                  </a:lnTo>
                  <a:lnTo>
                    <a:pt x="2434" y="6"/>
                  </a:lnTo>
                  <a:lnTo>
                    <a:pt x="2434" y="3"/>
                  </a:lnTo>
                  <a:lnTo>
                    <a:pt x="2435" y="1"/>
                  </a:lnTo>
                  <a:lnTo>
                    <a:pt x="2436" y="0"/>
                  </a:lnTo>
                  <a:lnTo>
                    <a:pt x="2439" y="0"/>
                  </a:lnTo>
                  <a:lnTo>
                    <a:pt x="2439" y="0"/>
                  </a:lnTo>
                  <a:close/>
                  <a:moveTo>
                    <a:pt x="2459" y="0"/>
                  </a:moveTo>
                  <a:lnTo>
                    <a:pt x="2459" y="0"/>
                  </a:lnTo>
                  <a:lnTo>
                    <a:pt x="2461" y="0"/>
                  </a:lnTo>
                  <a:lnTo>
                    <a:pt x="2463" y="1"/>
                  </a:lnTo>
                  <a:lnTo>
                    <a:pt x="2463" y="3"/>
                  </a:lnTo>
                  <a:lnTo>
                    <a:pt x="2464" y="6"/>
                  </a:lnTo>
                  <a:lnTo>
                    <a:pt x="2463" y="9"/>
                  </a:lnTo>
                  <a:lnTo>
                    <a:pt x="2463" y="10"/>
                  </a:lnTo>
                  <a:lnTo>
                    <a:pt x="2461" y="12"/>
                  </a:lnTo>
                  <a:lnTo>
                    <a:pt x="2459" y="12"/>
                  </a:lnTo>
                  <a:lnTo>
                    <a:pt x="2459" y="12"/>
                  </a:lnTo>
                  <a:lnTo>
                    <a:pt x="2457" y="12"/>
                  </a:lnTo>
                  <a:lnTo>
                    <a:pt x="2456" y="10"/>
                  </a:lnTo>
                  <a:lnTo>
                    <a:pt x="2455" y="9"/>
                  </a:lnTo>
                  <a:lnTo>
                    <a:pt x="2453" y="6"/>
                  </a:lnTo>
                  <a:lnTo>
                    <a:pt x="2455" y="3"/>
                  </a:lnTo>
                  <a:lnTo>
                    <a:pt x="2456" y="1"/>
                  </a:lnTo>
                  <a:lnTo>
                    <a:pt x="2457" y="0"/>
                  </a:lnTo>
                  <a:lnTo>
                    <a:pt x="2459" y="0"/>
                  </a:lnTo>
                  <a:lnTo>
                    <a:pt x="2459" y="0"/>
                  </a:lnTo>
                  <a:close/>
                  <a:moveTo>
                    <a:pt x="2479" y="0"/>
                  </a:moveTo>
                  <a:lnTo>
                    <a:pt x="2479" y="0"/>
                  </a:lnTo>
                  <a:lnTo>
                    <a:pt x="2482" y="0"/>
                  </a:lnTo>
                  <a:lnTo>
                    <a:pt x="2483" y="1"/>
                  </a:lnTo>
                  <a:lnTo>
                    <a:pt x="2484" y="3"/>
                  </a:lnTo>
                  <a:lnTo>
                    <a:pt x="2484" y="6"/>
                  </a:lnTo>
                  <a:lnTo>
                    <a:pt x="2484" y="9"/>
                  </a:lnTo>
                  <a:lnTo>
                    <a:pt x="2483" y="10"/>
                  </a:lnTo>
                  <a:lnTo>
                    <a:pt x="2482" y="12"/>
                  </a:lnTo>
                  <a:lnTo>
                    <a:pt x="2479" y="12"/>
                  </a:lnTo>
                  <a:lnTo>
                    <a:pt x="2479" y="12"/>
                  </a:lnTo>
                  <a:lnTo>
                    <a:pt x="2478" y="12"/>
                  </a:lnTo>
                  <a:lnTo>
                    <a:pt x="2475" y="10"/>
                  </a:lnTo>
                  <a:lnTo>
                    <a:pt x="2474" y="9"/>
                  </a:lnTo>
                  <a:lnTo>
                    <a:pt x="2474" y="6"/>
                  </a:lnTo>
                  <a:lnTo>
                    <a:pt x="2474" y="3"/>
                  </a:lnTo>
                  <a:lnTo>
                    <a:pt x="2475" y="1"/>
                  </a:lnTo>
                  <a:lnTo>
                    <a:pt x="2478" y="0"/>
                  </a:lnTo>
                  <a:lnTo>
                    <a:pt x="2479" y="0"/>
                  </a:lnTo>
                  <a:lnTo>
                    <a:pt x="2479" y="0"/>
                  </a:lnTo>
                  <a:close/>
                  <a:moveTo>
                    <a:pt x="2500" y="0"/>
                  </a:moveTo>
                  <a:lnTo>
                    <a:pt x="2500" y="0"/>
                  </a:lnTo>
                  <a:lnTo>
                    <a:pt x="2502" y="0"/>
                  </a:lnTo>
                  <a:lnTo>
                    <a:pt x="2504" y="1"/>
                  </a:lnTo>
                  <a:lnTo>
                    <a:pt x="2505" y="3"/>
                  </a:lnTo>
                  <a:lnTo>
                    <a:pt x="2505" y="6"/>
                  </a:lnTo>
                  <a:lnTo>
                    <a:pt x="2505" y="9"/>
                  </a:lnTo>
                  <a:lnTo>
                    <a:pt x="2504" y="10"/>
                  </a:lnTo>
                  <a:lnTo>
                    <a:pt x="2502" y="12"/>
                  </a:lnTo>
                  <a:lnTo>
                    <a:pt x="2500" y="12"/>
                  </a:lnTo>
                  <a:lnTo>
                    <a:pt x="2500" y="12"/>
                  </a:lnTo>
                  <a:lnTo>
                    <a:pt x="2498" y="12"/>
                  </a:lnTo>
                  <a:lnTo>
                    <a:pt x="2496" y="10"/>
                  </a:lnTo>
                  <a:lnTo>
                    <a:pt x="2495" y="9"/>
                  </a:lnTo>
                  <a:lnTo>
                    <a:pt x="2495" y="6"/>
                  </a:lnTo>
                  <a:lnTo>
                    <a:pt x="2495" y="3"/>
                  </a:lnTo>
                  <a:lnTo>
                    <a:pt x="2496" y="1"/>
                  </a:lnTo>
                  <a:lnTo>
                    <a:pt x="2498" y="0"/>
                  </a:lnTo>
                  <a:lnTo>
                    <a:pt x="2500" y="0"/>
                  </a:lnTo>
                  <a:lnTo>
                    <a:pt x="2500" y="0"/>
                  </a:lnTo>
                  <a:close/>
                  <a:moveTo>
                    <a:pt x="2521" y="0"/>
                  </a:moveTo>
                  <a:lnTo>
                    <a:pt x="2521" y="0"/>
                  </a:lnTo>
                  <a:lnTo>
                    <a:pt x="2522" y="0"/>
                  </a:lnTo>
                  <a:lnTo>
                    <a:pt x="2524" y="1"/>
                  </a:lnTo>
                  <a:lnTo>
                    <a:pt x="2524" y="3"/>
                  </a:lnTo>
                  <a:lnTo>
                    <a:pt x="2526" y="6"/>
                  </a:lnTo>
                  <a:lnTo>
                    <a:pt x="2524" y="9"/>
                  </a:lnTo>
                  <a:lnTo>
                    <a:pt x="2524" y="10"/>
                  </a:lnTo>
                  <a:lnTo>
                    <a:pt x="2522" y="12"/>
                  </a:lnTo>
                  <a:lnTo>
                    <a:pt x="2521" y="12"/>
                  </a:lnTo>
                  <a:lnTo>
                    <a:pt x="2521" y="12"/>
                  </a:lnTo>
                  <a:lnTo>
                    <a:pt x="2518" y="12"/>
                  </a:lnTo>
                  <a:lnTo>
                    <a:pt x="2517" y="10"/>
                  </a:lnTo>
                  <a:lnTo>
                    <a:pt x="2516" y="9"/>
                  </a:lnTo>
                  <a:lnTo>
                    <a:pt x="2515" y="6"/>
                  </a:lnTo>
                  <a:lnTo>
                    <a:pt x="2516" y="3"/>
                  </a:lnTo>
                  <a:lnTo>
                    <a:pt x="2517" y="1"/>
                  </a:lnTo>
                  <a:lnTo>
                    <a:pt x="2518" y="0"/>
                  </a:lnTo>
                  <a:lnTo>
                    <a:pt x="2521" y="0"/>
                  </a:lnTo>
                  <a:lnTo>
                    <a:pt x="2521" y="0"/>
                  </a:lnTo>
                  <a:close/>
                  <a:moveTo>
                    <a:pt x="2540" y="0"/>
                  </a:moveTo>
                  <a:lnTo>
                    <a:pt x="2540" y="0"/>
                  </a:lnTo>
                  <a:lnTo>
                    <a:pt x="2543" y="0"/>
                  </a:lnTo>
                  <a:lnTo>
                    <a:pt x="2544" y="1"/>
                  </a:lnTo>
                  <a:lnTo>
                    <a:pt x="2545" y="3"/>
                  </a:lnTo>
                  <a:lnTo>
                    <a:pt x="2547" y="6"/>
                  </a:lnTo>
                  <a:lnTo>
                    <a:pt x="2545" y="9"/>
                  </a:lnTo>
                  <a:lnTo>
                    <a:pt x="2544" y="10"/>
                  </a:lnTo>
                  <a:lnTo>
                    <a:pt x="2543" y="12"/>
                  </a:lnTo>
                  <a:lnTo>
                    <a:pt x="2540" y="12"/>
                  </a:lnTo>
                  <a:lnTo>
                    <a:pt x="2540" y="12"/>
                  </a:lnTo>
                  <a:lnTo>
                    <a:pt x="2539" y="12"/>
                  </a:lnTo>
                  <a:lnTo>
                    <a:pt x="2537" y="10"/>
                  </a:lnTo>
                  <a:lnTo>
                    <a:pt x="2536" y="9"/>
                  </a:lnTo>
                  <a:lnTo>
                    <a:pt x="2536" y="6"/>
                  </a:lnTo>
                  <a:lnTo>
                    <a:pt x="2536" y="3"/>
                  </a:lnTo>
                  <a:lnTo>
                    <a:pt x="2537" y="1"/>
                  </a:lnTo>
                  <a:lnTo>
                    <a:pt x="2539" y="0"/>
                  </a:lnTo>
                  <a:lnTo>
                    <a:pt x="2540" y="0"/>
                  </a:lnTo>
                  <a:lnTo>
                    <a:pt x="2540" y="0"/>
                  </a:lnTo>
                  <a:close/>
                  <a:moveTo>
                    <a:pt x="2561" y="0"/>
                  </a:moveTo>
                  <a:lnTo>
                    <a:pt x="2561" y="0"/>
                  </a:lnTo>
                  <a:lnTo>
                    <a:pt x="2564" y="0"/>
                  </a:lnTo>
                  <a:lnTo>
                    <a:pt x="2565" y="1"/>
                  </a:lnTo>
                  <a:lnTo>
                    <a:pt x="2566" y="3"/>
                  </a:lnTo>
                  <a:lnTo>
                    <a:pt x="2566" y="6"/>
                  </a:lnTo>
                  <a:lnTo>
                    <a:pt x="2566" y="9"/>
                  </a:lnTo>
                  <a:lnTo>
                    <a:pt x="2565" y="10"/>
                  </a:lnTo>
                  <a:lnTo>
                    <a:pt x="2564" y="12"/>
                  </a:lnTo>
                  <a:lnTo>
                    <a:pt x="2561" y="12"/>
                  </a:lnTo>
                  <a:lnTo>
                    <a:pt x="2561" y="12"/>
                  </a:lnTo>
                  <a:lnTo>
                    <a:pt x="2559" y="12"/>
                  </a:lnTo>
                  <a:lnTo>
                    <a:pt x="2558" y="10"/>
                  </a:lnTo>
                  <a:lnTo>
                    <a:pt x="2556" y="9"/>
                  </a:lnTo>
                  <a:lnTo>
                    <a:pt x="2556" y="6"/>
                  </a:lnTo>
                  <a:lnTo>
                    <a:pt x="2556" y="3"/>
                  </a:lnTo>
                  <a:lnTo>
                    <a:pt x="2558" y="1"/>
                  </a:lnTo>
                  <a:lnTo>
                    <a:pt x="2559" y="0"/>
                  </a:lnTo>
                  <a:lnTo>
                    <a:pt x="2561" y="0"/>
                  </a:lnTo>
                  <a:lnTo>
                    <a:pt x="2561" y="0"/>
                  </a:lnTo>
                  <a:close/>
                  <a:moveTo>
                    <a:pt x="2582" y="0"/>
                  </a:moveTo>
                  <a:lnTo>
                    <a:pt x="2582" y="0"/>
                  </a:lnTo>
                  <a:lnTo>
                    <a:pt x="2583" y="0"/>
                  </a:lnTo>
                  <a:lnTo>
                    <a:pt x="2586" y="1"/>
                  </a:lnTo>
                  <a:lnTo>
                    <a:pt x="2586" y="3"/>
                  </a:lnTo>
                  <a:lnTo>
                    <a:pt x="2587" y="6"/>
                  </a:lnTo>
                  <a:lnTo>
                    <a:pt x="2586" y="9"/>
                  </a:lnTo>
                  <a:lnTo>
                    <a:pt x="2586" y="10"/>
                  </a:lnTo>
                  <a:lnTo>
                    <a:pt x="2583" y="12"/>
                  </a:lnTo>
                  <a:lnTo>
                    <a:pt x="2582" y="12"/>
                  </a:lnTo>
                  <a:lnTo>
                    <a:pt x="2582" y="12"/>
                  </a:lnTo>
                  <a:lnTo>
                    <a:pt x="2580" y="12"/>
                  </a:lnTo>
                  <a:lnTo>
                    <a:pt x="2578" y="10"/>
                  </a:lnTo>
                  <a:lnTo>
                    <a:pt x="2577" y="9"/>
                  </a:lnTo>
                  <a:lnTo>
                    <a:pt x="2577" y="6"/>
                  </a:lnTo>
                  <a:lnTo>
                    <a:pt x="2577" y="3"/>
                  </a:lnTo>
                  <a:lnTo>
                    <a:pt x="2578" y="1"/>
                  </a:lnTo>
                  <a:lnTo>
                    <a:pt x="2580" y="0"/>
                  </a:lnTo>
                  <a:lnTo>
                    <a:pt x="2582" y="0"/>
                  </a:lnTo>
                  <a:lnTo>
                    <a:pt x="2582" y="0"/>
                  </a:lnTo>
                  <a:close/>
                  <a:moveTo>
                    <a:pt x="2602" y="0"/>
                  </a:moveTo>
                  <a:lnTo>
                    <a:pt x="2602" y="0"/>
                  </a:lnTo>
                  <a:lnTo>
                    <a:pt x="2604" y="0"/>
                  </a:lnTo>
                  <a:lnTo>
                    <a:pt x="2605" y="1"/>
                  </a:lnTo>
                  <a:lnTo>
                    <a:pt x="2607" y="3"/>
                  </a:lnTo>
                  <a:lnTo>
                    <a:pt x="2608" y="6"/>
                  </a:lnTo>
                  <a:lnTo>
                    <a:pt x="2607" y="9"/>
                  </a:lnTo>
                  <a:lnTo>
                    <a:pt x="2605" y="10"/>
                  </a:lnTo>
                  <a:lnTo>
                    <a:pt x="2604" y="12"/>
                  </a:lnTo>
                  <a:lnTo>
                    <a:pt x="2602" y="12"/>
                  </a:lnTo>
                  <a:lnTo>
                    <a:pt x="2602" y="12"/>
                  </a:lnTo>
                  <a:lnTo>
                    <a:pt x="2600" y="12"/>
                  </a:lnTo>
                  <a:lnTo>
                    <a:pt x="2598" y="10"/>
                  </a:lnTo>
                  <a:lnTo>
                    <a:pt x="2597" y="9"/>
                  </a:lnTo>
                  <a:lnTo>
                    <a:pt x="2597" y="6"/>
                  </a:lnTo>
                  <a:lnTo>
                    <a:pt x="2597" y="3"/>
                  </a:lnTo>
                  <a:lnTo>
                    <a:pt x="2598" y="1"/>
                  </a:lnTo>
                  <a:lnTo>
                    <a:pt x="2600" y="0"/>
                  </a:lnTo>
                  <a:lnTo>
                    <a:pt x="2602" y="0"/>
                  </a:lnTo>
                  <a:lnTo>
                    <a:pt x="2602" y="0"/>
                  </a:lnTo>
                  <a:close/>
                  <a:moveTo>
                    <a:pt x="2623" y="0"/>
                  </a:moveTo>
                  <a:lnTo>
                    <a:pt x="2623" y="0"/>
                  </a:lnTo>
                  <a:lnTo>
                    <a:pt x="2625" y="0"/>
                  </a:lnTo>
                  <a:lnTo>
                    <a:pt x="2626" y="1"/>
                  </a:lnTo>
                  <a:lnTo>
                    <a:pt x="2627" y="3"/>
                  </a:lnTo>
                  <a:lnTo>
                    <a:pt x="2627" y="6"/>
                  </a:lnTo>
                  <a:lnTo>
                    <a:pt x="2627" y="9"/>
                  </a:lnTo>
                  <a:lnTo>
                    <a:pt x="2626" y="10"/>
                  </a:lnTo>
                  <a:lnTo>
                    <a:pt x="2625" y="12"/>
                  </a:lnTo>
                  <a:lnTo>
                    <a:pt x="2623" y="12"/>
                  </a:lnTo>
                  <a:lnTo>
                    <a:pt x="2623" y="12"/>
                  </a:lnTo>
                  <a:lnTo>
                    <a:pt x="2620" y="12"/>
                  </a:lnTo>
                  <a:lnTo>
                    <a:pt x="2619" y="10"/>
                  </a:lnTo>
                  <a:lnTo>
                    <a:pt x="2618" y="9"/>
                  </a:lnTo>
                  <a:lnTo>
                    <a:pt x="2618" y="6"/>
                  </a:lnTo>
                  <a:lnTo>
                    <a:pt x="2618" y="3"/>
                  </a:lnTo>
                  <a:lnTo>
                    <a:pt x="2619" y="1"/>
                  </a:lnTo>
                  <a:lnTo>
                    <a:pt x="2620" y="0"/>
                  </a:lnTo>
                  <a:lnTo>
                    <a:pt x="2623" y="0"/>
                  </a:lnTo>
                  <a:lnTo>
                    <a:pt x="2623" y="0"/>
                  </a:lnTo>
                  <a:close/>
                  <a:moveTo>
                    <a:pt x="2643" y="0"/>
                  </a:moveTo>
                  <a:lnTo>
                    <a:pt x="2643" y="0"/>
                  </a:lnTo>
                  <a:lnTo>
                    <a:pt x="2645" y="0"/>
                  </a:lnTo>
                  <a:lnTo>
                    <a:pt x="2647" y="1"/>
                  </a:lnTo>
                  <a:lnTo>
                    <a:pt x="2648" y="3"/>
                  </a:lnTo>
                  <a:lnTo>
                    <a:pt x="2648" y="6"/>
                  </a:lnTo>
                  <a:lnTo>
                    <a:pt x="2648" y="9"/>
                  </a:lnTo>
                  <a:lnTo>
                    <a:pt x="2647" y="10"/>
                  </a:lnTo>
                  <a:lnTo>
                    <a:pt x="2645" y="12"/>
                  </a:lnTo>
                  <a:lnTo>
                    <a:pt x="2643" y="12"/>
                  </a:lnTo>
                  <a:lnTo>
                    <a:pt x="2643" y="12"/>
                  </a:lnTo>
                  <a:lnTo>
                    <a:pt x="2641" y="12"/>
                  </a:lnTo>
                  <a:lnTo>
                    <a:pt x="2640" y="10"/>
                  </a:lnTo>
                  <a:lnTo>
                    <a:pt x="2638" y="9"/>
                  </a:lnTo>
                  <a:lnTo>
                    <a:pt x="2638" y="6"/>
                  </a:lnTo>
                  <a:lnTo>
                    <a:pt x="2638" y="3"/>
                  </a:lnTo>
                  <a:lnTo>
                    <a:pt x="2640" y="1"/>
                  </a:lnTo>
                  <a:lnTo>
                    <a:pt x="2641" y="0"/>
                  </a:lnTo>
                  <a:lnTo>
                    <a:pt x="2643" y="0"/>
                  </a:lnTo>
                  <a:lnTo>
                    <a:pt x="2643" y="0"/>
                  </a:lnTo>
                  <a:close/>
                  <a:moveTo>
                    <a:pt x="2663" y="0"/>
                  </a:moveTo>
                  <a:lnTo>
                    <a:pt x="2663" y="0"/>
                  </a:lnTo>
                  <a:lnTo>
                    <a:pt x="2665" y="0"/>
                  </a:lnTo>
                  <a:lnTo>
                    <a:pt x="2667" y="1"/>
                  </a:lnTo>
                  <a:lnTo>
                    <a:pt x="2668" y="3"/>
                  </a:lnTo>
                  <a:lnTo>
                    <a:pt x="2669" y="6"/>
                  </a:lnTo>
                  <a:lnTo>
                    <a:pt x="2668" y="9"/>
                  </a:lnTo>
                  <a:lnTo>
                    <a:pt x="2667" y="10"/>
                  </a:lnTo>
                  <a:lnTo>
                    <a:pt x="2665" y="12"/>
                  </a:lnTo>
                  <a:lnTo>
                    <a:pt x="2663" y="12"/>
                  </a:lnTo>
                  <a:lnTo>
                    <a:pt x="2663" y="12"/>
                  </a:lnTo>
                  <a:lnTo>
                    <a:pt x="2662" y="12"/>
                  </a:lnTo>
                  <a:lnTo>
                    <a:pt x="2659" y="10"/>
                  </a:lnTo>
                  <a:lnTo>
                    <a:pt x="2658" y="9"/>
                  </a:lnTo>
                  <a:lnTo>
                    <a:pt x="2658" y="6"/>
                  </a:lnTo>
                  <a:lnTo>
                    <a:pt x="2658" y="3"/>
                  </a:lnTo>
                  <a:lnTo>
                    <a:pt x="2659" y="1"/>
                  </a:lnTo>
                  <a:lnTo>
                    <a:pt x="2662" y="0"/>
                  </a:lnTo>
                  <a:lnTo>
                    <a:pt x="2663" y="0"/>
                  </a:lnTo>
                  <a:lnTo>
                    <a:pt x="2663" y="0"/>
                  </a:lnTo>
                  <a:close/>
                  <a:moveTo>
                    <a:pt x="2684" y="0"/>
                  </a:moveTo>
                  <a:lnTo>
                    <a:pt x="2684" y="0"/>
                  </a:lnTo>
                  <a:lnTo>
                    <a:pt x="2686" y="0"/>
                  </a:lnTo>
                  <a:lnTo>
                    <a:pt x="2688" y="1"/>
                  </a:lnTo>
                  <a:lnTo>
                    <a:pt x="2689" y="3"/>
                  </a:lnTo>
                  <a:lnTo>
                    <a:pt x="2689" y="6"/>
                  </a:lnTo>
                  <a:lnTo>
                    <a:pt x="2689" y="9"/>
                  </a:lnTo>
                  <a:lnTo>
                    <a:pt x="2688" y="10"/>
                  </a:lnTo>
                  <a:lnTo>
                    <a:pt x="2686" y="12"/>
                  </a:lnTo>
                  <a:lnTo>
                    <a:pt x="2684" y="12"/>
                  </a:lnTo>
                  <a:lnTo>
                    <a:pt x="2684" y="12"/>
                  </a:lnTo>
                  <a:lnTo>
                    <a:pt x="2681" y="12"/>
                  </a:lnTo>
                  <a:lnTo>
                    <a:pt x="2680" y="10"/>
                  </a:lnTo>
                  <a:lnTo>
                    <a:pt x="2679" y="9"/>
                  </a:lnTo>
                  <a:lnTo>
                    <a:pt x="2679" y="6"/>
                  </a:lnTo>
                  <a:lnTo>
                    <a:pt x="2679" y="3"/>
                  </a:lnTo>
                  <a:lnTo>
                    <a:pt x="2680" y="1"/>
                  </a:lnTo>
                  <a:lnTo>
                    <a:pt x="2681" y="0"/>
                  </a:lnTo>
                  <a:lnTo>
                    <a:pt x="2684" y="0"/>
                  </a:lnTo>
                  <a:lnTo>
                    <a:pt x="2684" y="0"/>
                  </a:lnTo>
                  <a:close/>
                  <a:moveTo>
                    <a:pt x="2705" y="0"/>
                  </a:moveTo>
                  <a:lnTo>
                    <a:pt x="2705" y="0"/>
                  </a:lnTo>
                  <a:lnTo>
                    <a:pt x="2706" y="0"/>
                  </a:lnTo>
                  <a:lnTo>
                    <a:pt x="2708" y="1"/>
                  </a:lnTo>
                  <a:lnTo>
                    <a:pt x="2710" y="3"/>
                  </a:lnTo>
                  <a:lnTo>
                    <a:pt x="2710" y="6"/>
                  </a:lnTo>
                  <a:lnTo>
                    <a:pt x="2710" y="9"/>
                  </a:lnTo>
                  <a:lnTo>
                    <a:pt x="2708" y="10"/>
                  </a:lnTo>
                  <a:lnTo>
                    <a:pt x="2706" y="12"/>
                  </a:lnTo>
                  <a:lnTo>
                    <a:pt x="2705" y="12"/>
                  </a:lnTo>
                  <a:lnTo>
                    <a:pt x="2705" y="12"/>
                  </a:lnTo>
                  <a:lnTo>
                    <a:pt x="2702" y="12"/>
                  </a:lnTo>
                  <a:lnTo>
                    <a:pt x="2701" y="10"/>
                  </a:lnTo>
                  <a:lnTo>
                    <a:pt x="2700" y="9"/>
                  </a:lnTo>
                  <a:lnTo>
                    <a:pt x="2700" y="6"/>
                  </a:lnTo>
                  <a:lnTo>
                    <a:pt x="2700" y="3"/>
                  </a:lnTo>
                  <a:lnTo>
                    <a:pt x="2701" y="1"/>
                  </a:lnTo>
                  <a:lnTo>
                    <a:pt x="2702" y="0"/>
                  </a:lnTo>
                  <a:lnTo>
                    <a:pt x="2705" y="0"/>
                  </a:lnTo>
                  <a:lnTo>
                    <a:pt x="2705" y="0"/>
                  </a:lnTo>
                  <a:close/>
                  <a:moveTo>
                    <a:pt x="2724" y="0"/>
                  </a:moveTo>
                  <a:lnTo>
                    <a:pt x="2724" y="0"/>
                  </a:lnTo>
                  <a:lnTo>
                    <a:pt x="2727" y="0"/>
                  </a:lnTo>
                  <a:lnTo>
                    <a:pt x="2728" y="1"/>
                  </a:lnTo>
                  <a:lnTo>
                    <a:pt x="2729" y="3"/>
                  </a:lnTo>
                  <a:lnTo>
                    <a:pt x="2730" y="6"/>
                  </a:lnTo>
                  <a:lnTo>
                    <a:pt x="2729" y="9"/>
                  </a:lnTo>
                  <a:lnTo>
                    <a:pt x="2728" y="10"/>
                  </a:lnTo>
                  <a:lnTo>
                    <a:pt x="2727" y="12"/>
                  </a:lnTo>
                  <a:lnTo>
                    <a:pt x="2724" y="12"/>
                  </a:lnTo>
                  <a:lnTo>
                    <a:pt x="2724" y="12"/>
                  </a:lnTo>
                  <a:lnTo>
                    <a:pt x="2723" y="12"/>
                  </a:lnTo>
                  <a:lnTo>
                    <a:pt x="2721" y="10"/>
                  </a:lnTo>
                  <a:lnTo>
                    <a:pt x="2719" y="9"/>
                  </a:lnTo>
                  <a:lnTo>
                    <a:pt x="2719" y="6"/>
                  </a:lnTo>
                  <a:lnTo>
                    <a:pt x="2719" y="3"/>
                  </a:lnTo>
                  <a:lnTo>
                    <a:pt x="2721" y="1"/>
                  </a:lnTo>
                  <a:lnTo>
                    <a:pt x="2723" y="0"/>
                  </a:lnTo>
                  <a:lnTo>
                    <a:pt x="2724" y="0"/>
                  </a:lnTo>
                  <a:lnTo>
                    <a:pt x="2724" y="0"/>
                  </a:lnTo>
                  <a:close/>
                  <a:moveTo>
                    <a:pt x="2745" y="0"/>
                  </a:moveTo>
                  <a:lnTo>
                    <a:pt x="2745" y="0"/>
                  </a:lnTo>
                  <a:lnTo>
                    <a:pt x="2748" y="0"/>
                  </a:lnTo>
                  <a:lnTo>
                    <a:pt x="2749" y="1"/>
                  </a:lnTo>
                  <a:lnTo>
                    <a:pt x="2750" y="3"/>
                  </a:lnTo>
                  <a:lnTo>
                    <a:pt x="2750" y="6"/>
                  </a:lnTo>
                  <a:lnTo>
                    <a:pt x="2750" y="9"/>
                  </a:lnTo>
                  <a:lnTo>
                    <a:pt x="2749" y="10"/>
                  </a:lnTo>
                  <a:lnTo>
                    <a:pt x="2748" y="12"/>
                  </a:lnTo>
                  <a:lnTo>
                    <a:pt x="2745" y="12"/>
                  </a:lnTo>
                  <a:lnTo>
                    <a:pt x="2745" y="12"/>
                  </a:lnTo>
                  <a:lnTo>
                    <a:pt x="2743" y="12"/>
                  </a:lnTo>
                  <a:lnTo>
                    <a:pt x="2741" y="10"/>
                  </a:lnTo>
                  <a:lnTo>
                    <a:pt x="2740" y="9"/>
                  </a:lnTo>
                  <a:lnTo>
                    <a:pt x="2740" y="6"/>
                  </a:lnTo>
                  <a:lnTo>
                    <a:pt x="2740" y="3"/>
                  </a:lnTo>
                  <a:lnTo>
                    <a:pt x="2741" y="1"/>
                  </a:lnTo>
                  <a:lnTo>
                    <a:pt x="2743" y="0"/>
                  </a:lnTo>
                  <a:lnTo>
                    <a:pt x="2745" y="0"/>
                  </a:lnTo>
                  <a:lnTo>
                    <a:pt x="2745" y="0"/>
                  </a:lnTo>
                  <a:close/>
                </a:path>
              </a:pathLst>
            </a:custGeom>
            <a:solidFill>
              <a:srgbClr val="000000"/>
            </a:solidFill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8003" name="Freeform 371"/>
            <p:cNvSpPr>
              <a:spLocks noEditPoints="1"/>
            </p:cNvSpPr>
            <p:nvPr/>
          </p:nvSpPr>
          <p:spPr bwMode="auto">
            <a:xfrm>
              <a:off x="2672" y="3766"/>
              <a:ext cx="2759" cy="24"/>
            </a:xfrm>
            <a:custGeom>
              <a:avLst/>
              <a:gdLst>
                <a:gd name="T0" fmla="*/ 0 w 2759"/>
                <a:gd name="T1" fmla="*/ 19 h 49"/>
                <a:gd name="T2" fmla="*/ 2728 w 2759"/>
                <a:gd name="T3" fmla="*/ 19 h 49"/>
                <a:gd name="T4" fmla="*/ 2728 w 2759"/>
                <a:gd name="T5" fmla="*/ 31 h 49"/>
                <a:gd name="T6" fmla="*/ 0 w 2759"/>
                <a:gd name="T7" fmla="*/ 31 h 49"/>
                <a:gd name="T8" fmla="*/ 0 w 2759"/>
                <a:gd name="T9" fmla="*/ 19 h 49"/>
                <a:gd name="T10" fmla="*/ 2717 w 2759"/>
                <a:gd name="T11" fmla="*/ 0 h 49"/>
                <a:gd name="T12" fmla="*/ 2759 w 2759"/>
                <a:gd name="T13" fmla="*/ 25 h 49"/>
                <a:gd name="T14" fmla="*/ 2717 w 2759"/>
                <a:gd name="T15" fmla="*/ 49 h 49"/>
                <a:gd name="T16" fmla="*/ 2717 w 2759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59" h="49">
                  <a:moveTo>
                    <a:pt x="0" y="19"/>
                  </a:moveTo>
                  <a:lnTo>
                    <a:pt x="2728" y="19"/>
                  </a:lnTo>
                  <a:lnTo>
                    <a:pt x="2728" y="31"/>
                  </a:lnTo>
                  <a:lnTo>
                    <a:pt x="0" y="31"/>
                  </a:lnTo>
                  <a:lnTo>
                    <a:pt x="0" y="19"/>
                  </a:lnTo>
                  <a:close/>
                  <a:moveTo>
                    <a:pt x="2717" y="0"/>
                  </a:moveTo>
                  <a:lnTo>
                    <a:pt x="2759" y="25"/>
                  </a:lnTo>
                  <a:lnTo>
                    <a:pt x="2717" y="49"/>
                  </a:lnTo>
                  <a:lnTo>
                    <a:pt x="2717" y="0"/>
                  </a:lnTo>
                  <a:close/>
                </a:path>
              </a:pathLst>
            </a:custGeom>
            <a:solidFill>
              <a:srgbClr val="000000"/>
            </a:solidFill>
            <a:ln w="12700" cmpd="sng">
              <a:solidFill>
                <a:srgbClr val="CCEC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8004" name="Freeform 372"/>
            <p:cNvSpPr>
              <a:spLocks/>
            </p:cNvSpPr>
            <p:nvPr/>
          </p:nvSpPr>
          <p:spPr bwMode="auto">
            <a:xfrm>
              <a:off x="2709" y="1389"/>
              <a:ext cx="37" cy="223"/>
            </a:xfrm>
            <a:custGeom>
              <a:avLst/>
              <a:gdLst>
                <a:gd name="T0" fmla="*/ 0 w 37"/>
                <a:gd name="T1" fmla="*/ 442 h 447"/>
                <a:gd name="T2" fmla="*/ 0 w 37"/>
                <a:gd name="T3" fmla="*/ 433 h 447"/>
                <a:gd name="T4" fmla="*/ 0 w 37"/>
                <a:gd name="T5" fmla="*/ 423 h 447"/>
                <a:gd name="T6" fmla="*/ 0 w 37"/>
                <a:gd name="T7" fmla="*/ 405 h 447"/>
                <a:gd name="T8" fmla="*/ 1 w 37"/>
                <a:gd name="T9" fmla="*/ 377 h 447"/>
                <a:gd name="T10" fmla="*/ 3 w 37"/>
                <a:gd name="T11" fmla="*/ 344 h 447"/>
                <a:gd name="T12" fmla="*/ 4 w 37"/>
                <a:gd name="T13" fmla="*/ 296 h 447"/>
                <a:gd name="T14" fmla="*/ 5 w 37"/>
                <a:gd name="T15" fmla="*/ 263 h 447"/>
                <a:gd name="T16" fmla="*/ 5 w 37"/>
                <a:gd name="T17" fmla="*/ 235 h 447"/>
                <a:gd name="T18" fmla="*/ 6 w 37"/>
                <a:gd name="T19" fmla="*/ 199 h 447"/>
                <a:gd name="T20" fmla="*/ 7 w 37"/>
                <a:gd name="T21" fmla="*/ 155 h 447"/>
                <a:gd name="T22" fmla="*/ 10 w 37"/>
                <a:gd name="T23" fmla="*/ 113 h 447"/>
                <a:gd name="T24" fmla="*/ 10 w 37"/>
                <a:gd name="T25" fmla="*/ 95 h 447"/>
                <a:gd name="T26" fmla="*/ 11 w 37"/>
                <a:gd name="T27" fmla="*/ 77 h 447"/>
                <a:gd name="T28" fmla="*/ 12 w 37"/>
                <a:gd name="T29" fmla="*/ 62 h 447"/>
                <a:gd name="T30" fmla="*/ 14 w 37"/>
                <a:gd name="T31" fmla="*/ 37 h 447"/>
                <a:gd name="T32" fmla="*/ 14 w 37"/>
                <a:gd name="T33" fmla="*/ 27 h 447"/>
                <a:gd name="T34" fmla="*/ 15 w 37"/>
                <a:gd name="T35" fmla="*/ 16 h 447"/>
                <a:gd name="T36" fmla="*/ 16 w 37"/>
                <a:gd name="T37" fmla="*/ 9 h 447"/>
                <a:gd name="T38" fmla="*/ 16 w 37"/>
                <a:gd name="T39" fmla="*/ 4 h 447"/>
                <a:gd name="T40" fmla="*/ 17 w 37"/>
                <a:gd name="T41" fmla="*/ 0 h 447"/>
                <a:gd name="T42" fmla="*/ 18 w 37"/>
                <a:gd name="T43" fmla="*/ 0 h 447"/>
                <a:gd name="T44" fmla="*/ 18 w 37"/>
                <a:gd name="T45" fmla="*/ 0 h 447"/>
                <a:gd name="T46" fmla="*/ 20 w 37"/>
                <a:gd name="T47" fmla="*/ 4 h 447"/>
                <a:gd name="T48" fmla="*/ 20 w 37"/>
                <a:gd name="T49" fmla="*/ 9 h 447"/>
                <a:gd name="T50" fmla="*/ 21 w 37"/>
                <a:gd name="T51" fmla="*/ 18 h 447"/>
                <a:gd name="T52" fmla="*/ 22 w 37"/>
                <a:gd name="T53" fmla="*/ 27 h 447"/>
                <a:gd name="T54" fmla="*/ 22 w 37"/>
                <a:gd name="T55" fmla="*/ 37 h 447"/>
                <a:gd name="T56" fmla="*/ 25 w 37"/>
                <a:gd name="T57" fmla="*/ 62 h 447"/>
                <a:gd name="T58" fmla="*/ 25 w 37"/>
                <a:gd name="T59" fmla="*/ 77 h 447"/>
                <a:gd name="T60" fmla="*/ 26 w 37"/>
                <a:gd name="T61" fmla="*/ 95 h 447"/>
                <a:gd name="T62" fmla="*/ 27 w 37"/>
                <a:gd name="T63" fmla="*/ 113 h 447"/>
                <a:gd name="T64" fmla="*/ 30 w 37"/>
                <a:gd name="T65" fmla="*/ 153 h 447"/>
                <a:gd name="T66" fmla="*/ 31 w 37"/>
                <a:gd name="T67" fmla="*/ 199 h 447"/>
                <a:gd name="T68" fmla="*/ 32 w 37"/>
                <a:gd name="T69" fmla="*/ 235 h 447"/>
                <a:gd name="T70" fmla="*/ 33 w 37"/>
                <a:gd name="T71" fmla="*/ 263 h 447"/>
                <a:gd name="T72" fmla="*/ 33 w 37"/>
                <a:gd name="T73" fmla="*/ 293 h 447"/>
                <a:gd name="T74" fmla="*/ 34 w 37"/>
                <a:gd name="T75" fmla="*/ 341 h 447"/>
                <a:gd name="T76" fmla="*/ 34 w 37"/>
                <a:gd name="T77" fmla="*/ 372 h 447"/>
                <a:gd name="T78" fmla="*/ 36 w 37"/>
                <a:gd name="T79" fmla="*/ 400 h 447"/>
                <a:gd name="T80" fmla="*/ 36 w 37"/>
                <a:gd name="T81" fmla="*/ 426 h 447"/>
                <a:gd name="T82" fmla="*/ 36 w 37"/>
                <a:gd name="T83" fmla="*/ 44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7" h="447">
                  <a:moveTo>
                    <a:pt x="0" y="447"/>
                  </a:moveTo>
                  <a:lnTo>
                    <a:pt x="0" y="442"/>
                  </a:lnTo>
                  <a:lnTo>
                    <a:pt x="0" y="438"/>
                  </a:lnTo>
                  <a:lnTo>
                    <a:pt x="0" y="433"/>
                  </a:lnTo>
                  <a:lnTo>
                    <a:pt x="0" y="429"/>
                  </a:lnTo>
                  <a:lnTo>
                    <a:pt x="0" y="423"/>
                  </a:lnTo>
                  <a:lnTo>
                    <a:pt x="0" y="417"/>
                  </a:lnTo>
                  <a:lnTo>
                    <a:pt x="0" y="405"/>
                  </a:lnTo>
                  <a:lnTo>
                    <a:pt x="1" y="390"/>
                  </a:lnTo>
                  <a:lnTo>
                    <a:pt x="1" y="377"/>
                  </a:lnTo>
                  <a:lnTo>
                    <a:pt x="1" y="360"/>
                  </a:lnTo>
                  <a:lnTo>
                    <a:pt x="3" y="344"/>
                  </a:lnTo>
                  <a:lnTo>
                    <a:pt x="3" y="311"/>
                  </a:lnTo>
                  <a:lnTo>
                    <a:pt x="4" y="296"/>
                  </a:lnTo>
                  <a:lnTo>
                    <a:pt x="4" y="280"/>
                  </a:lnTo>
                  <a:lnTo>
                    <a:pt x="5" y="263"/>
                  </a:lnTo>
                  <a:lnTo>
                    <a:pt x="5" y="250"/>
                  </a:lnTo>
                  <a:lnTo>
                    <a:pt x="5" y="235"/>
                  </a:lnTo>
                  <a:lnTo>
                    <a:pt x="6" y="223"/>
                  </a:lnTo>
                  <a:lnTo>
                    <a:pt x="6" y="199"/>
                  </a:lnTo>
                  <a:lnTo>
                    <a:pt x="7" y="177"/>
                  </a:lnTo>
                  <a:lnTo>
                    <a:pt x="7" y="155"/>
                  </a:lnTo>
                  <a:lnTo>
                    <a:pt x="9" y="132"/>
                  </a:lnTo>
                  <a:lnTo>
                    <a:pt x="10" y="113"/>
                  </a:lnTo>
                  <a:lnTo>
                    <a:pt x="10" y="104"/>
                  </a:lnTo>
                  <a:lnTo>
                    <a:pt x="10" y="95"/>
                  </a:lnTo>
                  <a:lnTo>
                    <a:pt x="11" y="86"/>
                  </a:lnTo>
                  <a:lnTo>
                    <a:pt x="11" y="77"/>
                  </a:lnTo>
                  <a:lnTo>
                    <a:pt x="11" y="70"/>
                  </a:lnTo>
                  <a:lnTo>
                    <a:pt x="12" y="62"/>
                  </a:lnTo>
                  <a:lnTo>
                    <a:pt x="12" y="49"/>
                  </a:lnTo>
                  <a:lnTo>
                    <a:pt x="14" y="37"/>
                  </a:lnTo>
                  <a:lnTo>
                    <a:pt x="14" y="31"/>
                  </a:lnTo>
                  <a:lnTo>
                    <a:pt x="14" y="27"/>
                  </a:lnTo>
                  <a:lnTo>
                    <a:pt x="15" y="21"/>
                  </a:lnTo>
                  <a:lnTo>
                    <a:pt x="15" y="16"/>
                  </a:lnTo>
                  <a:lnTo>
                    <a:pt x="15" y="13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6" y="4"/>
                  </a:lnTo>
                  <a:lnTo>
                    <a:pt x="17" y="1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1"/>
                  </a:lnTo>
                  <a:lnTo>
                    <a:pt x="20" y="4"/>
                  </a:lnTo>
                  <a:lnTo>
                    <a:pt x="20" y="6"/>
                  </a:lnTo>
                  <a:lnTo>
                    <a:pt x="20" y="9"/>
                  </a:lnTo>
                  <a:lnTo>
                    <a:pt x="21" y="13"/>
                  </a:lnTo>
                  <a:lnTo>
                    <a:pt x="21" y="18"/>
                  </a:lnTo>
                  <a:lnTo>
                    <a:pt x="21" y="22"/>
                  </a:lnTo>
                  <a:lnTo>
                    <a:pt x="22" y="27"/>
                  </a:lnTo>
                  <a:lnTo>
                    <a:pt x="22" y="31"/>
                  </a:lnTo>
                  <a:lnTo>
                    <a:pt x="22" y="37"/>
                  </a:lnTo>
                  <a:lnTo>
                    <a:pt x="23" y="49"/>
                  </a:lnTo>
                  <a:lnTo>
                    <a:pt x="25" y="62"/>
                  </a:lnTo>
                  <a:lnTo>
                    <a:pt x="25" y="70"/>
                  </a:lnTo>
                  <a:lnTo>
                    <a:pt x="25" y="77"/>
                  </a:lnTo>
                  <a:lnTo>
                    <a:pt x="26" y="86"/>
                  </a:lnTo>
                  <a:lnTo>
                    <a:pt x="26" y="95"/>
                  </a:lnTo>
                  <a:lnTo>
                    <a:pt x="26" y="104"/>
                  </a:lnTo>
                  <a:lnTo>
                    <a:pt x="27" y="113"/>
                  </a:lnTo>
                  <a:lnTo>
                    <a:pt x="28" y="132"/>
                  </a:lnTo>
                  <a:lnTo>
                    <a:pt x="30" y="153"/>
                  </a:lnTo>
                  <a:lnTo>
                    <a:pt x="30" y="176"/>
                  </a:lnTo>
                  <a:lnTo>
                    <a:pt x="31" y="199"/>
                  </a:lnTo>
                  <a:lnTo>
                    <a:pt x="32" y="223"/>
                  </a:lnTo>
                  <a:lnTo>
                    <a:pt x="32" y="235"/>
                  </a:lnTo>
                  <a:lnTo>
                    <a:pt x="32" y="249"/>
                  </a:lnTo>
                  <a:lnTo>
                    <a:pt x="33" y="263"/>
                  </a:lnTo>
                  <a:lnTo>
                    <a:pt x="33" y="278"/>
                  </a:lnTo>
                  <a:lnTo>
                    <a:pt x="33" y="293"/>
                  </a:lnTo>
                  <a:lnTo>
                    <a:pt x="33" y="310"/>
                  </a:lnTo>
                  <a:lnTo>
                    <a:pt x="34" y="341"/>
                  </a:lnTo>
                  <a:lnTo>
                    <a:pt x="34" y="356"/>
                  </a:lnTo>
                  <a:lnTo>
                    <a:pt x="34" y="372"/>
                  </a:lnTo>
                  <a:lnTo>
                    <a:pt x="36" y="387"/>
                  </a:lnTo>
                  <a:lnTo>
                    <a:pt x="36" y="400"/>
                  </a:lnTo>
                  <a:lnTo>
                    <a:pt x="36" y="414"/>
                  </a:lnTo>
                  <a:lnTo>
                    <a:pt x="36" y="426"/>
                  </a:lnTo>
                  <a:lnTo>
                    <a:pt x="36" y="436"/>
                  </a:lnTo>
                  <a:lnTo>
                    <a:pt x="36" y="441"/>
                  </a:lnTo>
                  <a:lnTo>
                    <a:pt x="37" y="447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05" name="Freeform 373"/>
            <p:cNvSpPr>
              <a:spLocks/>
            </p:cNvSpPr>
            <p:nvPr/>
          </p:nvSpPr>
          <p:spPr bwMode="auto">
            <a:xfrm>
              <a:off x="2783" y="1389"/>
              <a:ext cx="36" cy="223"/>
            </a:xfrm>
            <a:custGeom>
              <a:avLst/>
              <a:gdLst>
                <a:gd name="T0" fmla="*/ 0 w 36"/>
                <a:gd name="T1" fmla="*/ 442 h 447"/>
                <a:gd name="T2" fmla="*/ 0 w 36"/>
                <a:gd name="T3" fmla="*/ 433 h 447"/>
                <a:gd name="T4" fmla="*/ 0 w 36"/>
                <a:gd name="T5" fmla="*/ 423 h 447"/>
                <a:gd name="T6" fmla="*/ 0 w 36"/>
                <a:gd name="T7" fmla="*/ 405 h 447"/>
                <a:gd name="T8" fmla="*/ 1 w 36"/>
                <a:gd name="T9" fmla="*/ 377 h 447"/>
                <a:gd name="T10" fmla="*/ 2 w 36"/>
                <a:gd name="T11" fmla="*/ 344 h 447"/>
                <a:gd name="T12" fmla="*/ 3 w 36"/>
                <a:gd name="T13" fmla="*/ 296 h 447"/>
                <a:gd name="T14" fmla="*/ 5 w 36"/>
                <a:gd name="T15" fmla="*/ 263 h 447"/>
                <a:gd name="T16" fmla="*/ 5 w 36"/>
                <a:gd name="T17" fmla="*/ 235 h 447"/>
                <a:gd name="T18" fmla="*/ 6 w 36"/>
                <a:gd name="T19" fmla="*/ 199 h 447"/>
                <a:gd name="T20" fmla="*/ 7 w 36"/>
                <a:gd name="T21" fmla="*/ 155 h 447"/>
                <a:gd name="T22" fmla="*/ 9 w 36"/>
                <a:gd name="T23" fmla="*/ 113 h 447"/>
                <a:gd name="T24" fmla="*/ 9 w 36"/>
                <a:gd name="T25" fmla="*/ 95 h 447"/>
                <a:gd name="T26" fmla="*/ 11 w 36"/>
                <a:gd name="T27" fmla="*/ 77 h 447"/>
                <a:gd name="T28" fmla="*/ 12 w 36"/>
                <a:gd name="T29" fmla="*/ 62 h 447"/>
                <a:gd name="T30" fmla="*/ 13 w 36"/>
                <a:gd name="T31" fmla="*/ 37 h 447"/>
                <a:gd name="T32" fmla="*/ 13 w 36"/>
                <a:gd name="T33" fmla="*/ 27 h 447"/>
                <a:gd name="T34" fmla="*/ 14 w 36"/>
                <a:gd name="T35" fmla="*/ 16 h 447"/>
                <a:gd name="T36" fmla="*/ 16 w 36"/>
                <a:gd name="T37" fmla="*/ 9 h 447"/>
                <a:gd name="T38" fmla="*/ 16 w 36"/>
                <a:gd name="T39" fmla="*/ 4 h 447"/>
                <a:gd name="T40" fmla="*/ 17 w 36"/>
                <a:gd name="T41" fmla="*/ 0 h 447"/>
                <a:gd name="T42" fmla="*/ 18 w 36"/>
                <a:gd name="T43" fmla="*/ 0 h 447"/>
                <a:gd name="T44" fmla="*/ 18 w 36"/>
                <a:gd name="T45" fmla="*/ 0 h 447"/>
                <a:gd name="T46" fmla="*/ 19 w 36"/>
                <a:gd name="T47" fmla="*/ 4 h 447"/>
                <a:gd name="T48" fmla="*/ 19 w 36"/>
                <a:gd name="T49" fmla="*/ 9 h 447"/>
                <a:gd name="T50" fmla="*/ 20 w 36"/>
                <a:gd name="T51" fmla="*/ 18 h 447"/>
                <a:gd name="T52" fmla="*/ 22 w 36"/>
                <a:gd name="T53" fmla="*/ 27 h 447"/>
                <a:gd name="T54" fmla="*/ 22 w 36"/>
                <a:gd name="T55" fmla="*/ 37 h 447"/>
                <a:gd name="T56" fmla="*/ 24 w 36"/>
                <a:gd name="T57" fmla="*/ 62 h 447"/>
                <a:gd name="T58" fmla="*/ 24 w 36"/>
                <a:gd name="T59" fmla="*/ 77 h 447"/>
                <a:gd name="T60" fmla="*/ 25 w 36"/>
                <a:gd name="T61" fmla="*/ 95 h 447"/>
                <a:gd name="T62" fmla="*/ 27 w 36"/>
                <a:gd name="T63" fmla="*/ 113 h 447"/>
                <a:gd name="T64" fmla="*/ 29 w 36"/>
                <a:gd name="T65" fmla="*/ 153 h 447"/>
                <a:gd name="T66" fmla="*/ 30 w 36"/>
                <a:gd name="T67" fmla="*/ 199 h 447"/>
                <a:gd name="T68" fmla="*/ 32 w 36"/>
                <a:gd name="T69" fmla="*/ 235 h 447"/>
                <a:gd name="T70" fmla="*/ 33 w 36"/>
                <a:gd name="T71" fmla="*/ 263 h 447"/>
                <a:gd name="T72" fmla="*/ 33 w 36"/>
                <a:gd name="T73" fmla="*/ 293 h 447"/>
                <a:gd name="T74" fmla="*/ 34 w 36"/>
                <a:gd name="T75" fmla="*/ 341 h 447"/>
                <a:gd name="T76" fmla="*/ 34 w 36"/>
                <a:gd name="T77" fmla="*/ 372 h 447"/>
                <a:gd name="T78" fmla="*/ 35 w 36"/>
                <a:gd name="T79" fmla="*/ 400 h 447"/>
                <a:gd name="T80" fmla="*/ 35 w 36"/>
                <a:gd name="T81" fmla="*/ 426 h 447"/>
                <a:gd name="T82" fmla="*/ 35 w 36"/>
                <a:gd name="T83" fmla="*/ 44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6" h="447">
                  <a:moveTo>
                    <a:pt x="0" y="447"/>
                  </a:moveTo>
                  <a:lnTo>
                    <a:pt x="0" y="442"/>
                  </a:lnTo>
                  <a:lnTo>
                    <a:pt x="0" y="438"/>
                  </a:lnTo>
                  <a:lnTo>
                    <a:pt x="0" y="433"/>
                  </a:lnTo>
                  <a:lnTo>
                    <a:pt x="0" y="429"/>
                  </a:lnTo>
                  <a:lnTo>
                    <a:pt x="0" y="423"/>
                  </a:lnTo>
                  <a:lnTo>
                    <a:pt x="0" y="417"/>
                  </a:lnTo>
                  <a:lnTo>
                    <a:pt x="0" y="405"/>
                  </a:lnTo>
                  <a:lnTo>
                    <a:pt x="1" y="390"/>
                  </a:lnTo>
                  <a:lnTo>
                    <a:pt x="1" y="377"/>
                  </a:lnTo>
                  <a:lnTo>
                    <a:pt x="1" y="360"/>
                  </a:lnTo>
                  <a:lnTo>
                    <a:pt x="2" y="344"/>
                  </a:lnTo>
                  <a:lnTo>
                    <a:pt x="2" y="311"/>
                  </a:lnTo>
                  <a:lnTo>
                    <a:pt x="3" y="296"/>
                  </a:lnTo>
                  <a:lnTo>
                    <a:pt x="3" y="280"/>
                  </a:lnTo>
                  <a:lnTo>
                    <a:pt x="5" y="263"/>
                  </a:lnTo>
                  <a:lnTo>
                    <a:pt x="5" y="250"/>
                  </a:lnTo>
                  <a:lnTo>
                    <a:pt x="5" y="235"/>
                  </a:lnTo>
                  <a:lnTo>
                    <a:pt x="6" y="223"/>
                  </a:lnTo>
                  <a:lnTo>
                    <a:pt x="6" y="199"/>
                  </a:lnTo>
                  <a:lnTo>
                    <a:pt x="7" y="177"/>
                  </a:lnTo>
                  <a:lnTo>
                    <a:pt x="7" y="155"/>
                  </a:lnTo>
                  <a:lnTo>
                    <a:pt x="8" y="132"/>
                  </a:lnTo>
                  <a:lnTo>
                    <a:pt x="9" y="113"/>
                  </a:lnTo>
                  <a:lnTo>
                    <a:pt x="9" y="104"/>
                  </a:lnTo>
                  <a:lnTo>
                    <a:pt x="9" y="95"/>
                  </a:lnTo>
                  <a:lnTo>
                    <a:pt x="11" y="86"/>
                  </a:lnTo>
                  <a:lnTo>
                    <a:pt x="11" y="77"/>
                  </a:lnTo>
                  <a:lnTo>
                    <a:pt x="11" y="70"/>
                  </a:lnTo>
                  <a:lnTo>
                    <a:pt x="12" y="62"/>
                  </a:lnTo>
                  <a:lnTo>
                    <a:pt x="12" y="49"/>
                  </a:lnTo>
                  <a:lnTo>
                    <a:pt x="13" y="37"/>
                  </a:lnTo>
                  <a:lnTo>
                    <a:pt x="13" y="31"/>
                  </a:lnTo>
                  <a:lnTo>
                    <a:pt x="13" y="27"/>
                  </a:lnTo>
                  <a:lnTo>
                    <a:pt x="14" y="21"/>
                  </a:lnTo>
                  <a:lnTo>
                    <a:pt x="14" y="16"/>
                  </a:lnTo>
                  <a:lnTo>
                    <a:pt x="14" y="13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6" y="4"/>
                  </a:lnTo>
                  <a:lnTo>
                    <a:pt x="17" y="1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1"/>
                  </a:lnTo>
                  <a:lnTo>
                    <a:pt x="19" y="4"/>
                  </a:lnTo>
                  <a:lnTo>
                    <a:pt x="19" y="6"/>
                  </a:lnTo>
                  <a:lnTo>
                    <a:pt x="19" y="9"/>
                  </a:lnTo>
                  <a:lnTo>
                    <a:pt x="20" y="13"/>
                  </a:lnTo>
                  <a:lnTo>
                    <a:pt x="20" y="18"/>
                  </a:lnTo>
                  <a:lnTo>
                    <a:pt x="20" y="22"/>
                  </a:lnTo>
                  <a:lnTo>
                    <a:pt x="22" y="27"/>
                  </a:lnTo>
                  <a:lnTo>
                    <a:pt x="22" y="31"/>
                  </a:lnTo>
                  <a:lnTo>
                    <a:pt x="22" y="37"/>
                  </a:lnTo>
                  <a:lnTo>
                    <a:pt x="23" y="49"/>
                  </a:lnTo>
                  <a:lnTo>
                    <a:pt x="24" y="62"/>
                  </a:lnTo>
                  <a:lnTo>
                    <a:pt x="24" y="70"/>
                  </a:lnTo>
                  <a:lnTo>
                    <a:pt x="24" y="77"/>
                  </a:lnTo>
                  <a:lnTo>
                    <a:pt x="25" y="86"/>
                  </a:lnTo>
                  <a:lnTo>
                    <a:pt x="25" y="95"/>
                  </a:lnTo>
                  <a:lnTo>
                    <a:pt x="25" y="104"/>
                  </a:lnTo>
                  <a:lnTo>
                    <a:pt x="27" y="113"/>
                  </a:lnTo>
                  <a:lnTo>
                    <a:pt x="28" y="132"/>
                  </a:lnTo>
                  <a:lnTo>
                    <a:pt x="29" y="153"/>
                  </a:lnTo>
                  <a:lnTo>
                    <a:pt x="29" y="176"/>
                  </a:lnTo>
                  <a:lnTo>
                    <a:pt x="30" y="199"/>
                  </a:lnTo>
                  <a:lnTo>
                    <a:pt x="32" y="223"/>
                  </a:lnTo>
                  <a:lnTo>
                    <a:pt x="32" y="235"/>
                  </a:lnTo>
                  <a:lnTo>
                    <a:pt x="32" y="249"/>
                  </a:lnTo>
                  <a:lnTo>
                    <a:pt x="33" y="263"/>
                  </a:lnTo>
                  <a:lnTo>
                    <a:pt x="33" y="278"/>
                  </a:lnTo>
                  <a:lnTo>
                    <a:pt x="33" y="293"/>
                  </a:lnTo>
                  <a:lnTo>
                    <a:pt x="33" y="310"/>
                  </a:lnTo>
                  <a:lnTo>
                    <a:pt x="34" y="341"/>
                  </a:lnTo>
                  <a:lnTo>
                    <a:pt x="34" y="356"/>
                  </a:lnTo>
                  <a:lnTo>
                    <a:pt x="34" y="372"/>
                  </a:lnTo>
                  <a:lnTo>
                    <a:pt x="35" y="387"/>
                  </a:lnTo>
                  <a:lnTo>
                    <a:pt x="35" y="400"/>
                  </a:lnTo>
                  <a:lnTo>
                    <a:pt x="35" y="414"/>
                  </a:lnTo>
                  <a:lnTo>
                    <a:pt x="35" y="426"/>
                  </a:lnTo>
                  <a:lnTo>
                    <a:pt x="35" y="436"/>
                  </a:lnTo>
                  <a:lnTo>
                    <a:pt x="35" y="441"/>
                  </a:lnTo>
                  <a:lnTo>
                    <a:pt x="36" y="447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06" name="Freeform 374"/>
            <p:cNvSpPr>
              <a:spLocks/>
            </p:cNvSpPr>
            <p:nvPr/>
          </p:nvSpPr>
          <p:spPr bwMode="auto">
            <a:xfrm>
              <a:off x="2856" y="1389"/>
              <a:ext cx="37" cy="223"/>
            </a:xfrm>
            <a:custGeom>
              <a:avLst/>
              <a:gdLst>
                <a:gd name="T0" fmla="*/ 0 w 37"/>
                <a:gd name="T1" fmla="*/ 442 h 447"/>
                <a:gd name="T2" fmla="*/ 0 w 37"/>
                <a:gd name="T3" fmla="*/ 433 h 447"/>
                <a:gd name="T4" fmla="*/ 0 w 37"/>
                <a:gd name="T5" fmla="*/ 423 h 447"/>
                <a:gd name="T6" fmla="*/ 0 w 37"/>
                <a:gd name="T7" fmla="*/ 405 h 447"/>
                <a:gd name="T8" fmla="*/ 1 w 37"/>
                <a:gd name="T9" fmla="*/ 377 h 447"/>
                <a:gd name="T10" fmla="*/ 3 w 37"/>
                <a:gd name="T11" fmla="*/ 344 h 447"/>
                <a:gd name="T12" fmla="*/ 4 w 37"/>
                <a:gd name="T13" fmla="*/ 296 h 447"/>
                <a:gd name="T14" fmla="*/ 5 w 37"/>
                <a:gd name="T15" fmla="*/ 263 h 447"/>
                <a:gd name="T16" fmla="*/ 5 w 37"/>
                <a:gd name="T17" fmla="*/ 235 h 447"/>
                <a:gd name="T18" fmla="*/ 6 w 37"/>
                <a:gd name="T19" fmla="*/ 199 h 447"/>
                <a:gd name="T20" fmla="*/ 8 w 37"/>
                <a:gd name="T21" fmla="*/ 155 h 447"/>
                <a:gd name="T22" fmla="*/ 10 w 37"/>
                <a:gd name="T23" fmla="*/ 113 h 447"/>
                <a:gd name="T24" fmla="*/ 10 w 37"/>
                <a:gd name="T25" fmla="*/ 95 h 447"/>
                <a:gd name="T26" fmla="*/ 11 w 37"/>
                <a:gd name="T27" fmla="*/ 77 h 447"/>
                <a:gd name="T28" fmla="*/ 12 w 37"/>
                <a:gd name="T29" fmla="*/ 62 h 447"/>
                <a:gd name="T30" fmla="*/ 14 w 37"/>
                <a:gd name="T31" fmla="*/ 37 h 447"/>
                <a:gd name="T32" fmla="*/ 14 w 37"/>
                <a:gd name="T33" fmla="*/ 27 h 447"/>
                <a:gd name="T34" fmla="*/ 15 w 37"/>
                <a:gd name="T35" fmla="*/ 16 h 447"/>
                <a:gd name="T36" fmla="*/ 16 w 37"/>
                <a:gd name="T37" fmla="*/ 9 h 447"/>
                <a:gd name="T38" fmla="*/ 16 w 37"/>
                <a:gd name="T39" fmla="*/ 4 h 447"/>
                <a:gd name="T40" fmla="*/ 17 w 37"/>
                <a:gd name="T41" fmla="*/ 0 h 447"/>
                <a:gd name="T42" fmla="*/ 19 w 37"/>
                <a:gd name="T43" fmla="*/ 0 h 447"/>
                <a:gd name="T44" fmla="*/ 19 w 37"/>
                <a:gd name="T45" fmla="*/ 0 h 447"/>
                <a:gd name="T46" fmla="*/ 20 w 37"/>
                <a:gd name="T47" fmla="*/ 4 h 447"/>
                <a:gd name="T48" fmla="*/ 20 w 37"/>
                <a:gd name="T49" fmla="*/ 9 h 447"/>
                <a:gd name="T50" fmla="*/ 21 w 37"/>
                <a:gd name="T51" fmla="*/ 18 h 447"/>
                <a:gd name="T52" fmla="*/ 22 w 37"/>
                <a:gd name="T53" fmla="*/ 27 h 447"/>
                <a:gd name="T54" fmla="*/ 22 w 37"/>
                <a:gd name="T55" fmla="*/ 37 h 447"/>
                <a:gd name="T56" fmla="*/ 25 w 37"/>
                <a:gd name="T57" fmla="*/ 62 h 447"/>
                <a:gd name="T58" fmla="*/ 25 w 37"/>
                <a:gd name="T59" fmla="*/ 77 h 447"/>
                <a:gd name="T60" fmla="*/ 26 w 37"/>
                <a:gd name="T61" fmla="*/ 95 h 447"/>
                <a:gd name="T62" fmla="*/ 27 w 37"/>
                <a:gd name="T63" fmla="*/ 113 h 447"/>
                <a:gd name="T64" fmla="*/ 30 w 37"/>
                <a:gd name="T65" fmla="*/ 153 h 447"/>
                <a:gd name="T66" fmla="*/ 31 w 37"/>
                <a:gd name="T67" fmla="*/ 199 h 447"/>
                <a:gd name="T68" fmla="*/ 32 w 37"/>
                <a:gd name="T69" fmla="*/ 235 h 447"/>
                <a:gd name="T70" fmla="*/ 33 w 37"/>
                <a:gd name="T71" fmla="*/ 263 h 447"/>
                <a:gd name="T72" fmla="*/ 33 w 37"/>
                <a:gd name="T73" fmla="*/ 293 h 447"/>
                <a:gd name="T74" fmla="*/ 35 w 37"/>
                <a:gd name="T75" fmla="*/ 341 h 447"/>
                <a:gd name="T76" fmla="*/ 35 w 37"/>
                <a:gd name="T77" fmla="*/ 372 h 447"/>
                <a:gd name="T78" fmla="*/ 36 w 37"/>
                <a:gd name="T79" fmla="*/ 400 h 447"/>
                <a:gd name="T80" fmla="*/ 36 w 37"/>
                <a:gd name="T81" fmla="*/ 426 h 447"/>
                <a:gd name="T82" fmla="*/ 36 w 37"/>
                <a:gd name="T83" fmla="*/ 44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7" h="447">
                  <a:moveTo>
                    <a:pt x="0" y="447"/>
                  </a:moveTo>
                  <a:lnTo>
                    <a:pt x="0" y="442"/>
                  </a:lnTo>
                  <a:lnTo>
                    <a:pt x="0" y="438"/>
                  </a:lnTo>
                  <a:lnTo>
                    <a:pt x="0" y="433"/>
                  </a:lnTo>
                  <a:lnTo>
                    <a:pt x="0" y="429"/>
                  </a:lnTo>
                  <a:lnTo>
                    <a:pt x="0" y="423"/>
                  </a:lnTo>
                  <a:lnTo>
                    <a:pt x="0" y="417"/>
                  </a:lnTo>
                  <a:lnTo>
                    <a:pt x="0" y="405"/>
                  </a:lnTo>
                  <a:lnTo>
                    <a:pt x="1" y="390"/>
                  </a:lnTo>
                  <a:lnTo>
                    <a:pt x="1" y="377"/>
                  </a:lnTo>
                  <a:lnTo>
                    <a:pt x="1" y="360"/>
                  </a:lnTo>
                  <a:lnTo>
                    <a:pt x="3" y="344"/>
                  </a:lnTo>
                  <a:lnTo>
                    <a:pt x="3" y="311"/>
                  </a:lnTo>
                  <a:lnTo>
                    <a:pt x="4" y="296"/>
                  </a:lnTo>
                  <a:lnTo>
                    <a:pt x="4" y="280"/>
                  </a:lnTo>
                  <a:lnTo>
                    <a:pt x="5" y="263"/>
                  </a:lnTo>
                  <a:lnTo>
                    <a:pt x="5" y="250"/>
                  </a:lnTo>
                  <a:lnTo>
                    <a:pt x="5" y="235"/>
                  </a:lnTo>
                  <a:lnTo>
                    <a:pt x="6" y="223"/>
                  </a:lnTo>
                  <a:lnTo>
                    <a:pt x="6" y="199"/>
                  </a:lnTo>
                  <a:lnTo>
                    <a:pt x="8" y="177"/>
                  </a:lnTo>
                  <a:lnTo>
                    <a:pt x="8" y="155"/>
                  </a:lnTo>
                  <a:lnTo>
                    <a:pt x="9" y="132"/>
                  </a:lnTo>
                  <a:lnTo>
                    <a:pt x="10" y="113"/>
                  </a:lnTo>
                  <a:lnTo>
                    <a:pt x="10" y="104"/>
                  </a:lnTo>
                  <a:lnTo>
                    <a:pt x="10" y="95"/>
                  </a:lnTo>
                  <a:lnTo>
                    <a:pt x="11" y="86"/>
                  </a:lnTo>
                  <a:lnTo>
                    <a:pt x="11" y="77"/>
                  </a:lnTo>
                  <a:lnTo>
                    <a:pt x="11" y="70"/>
                  </a:lnTo>
                  <a:lnTo>
                    <a:pt x="12" y="62"/>
                  </a:lnTo>
                  <a:lnTo>
                    <a:pt x="12" y="49"/>
                  </a:lnTo>
                  <a:lnTo>
                    <a:pt x="14" y="37"/>
                  </a:lnTo>
                  <a:lnTo>
                    <a:pt x="14" y="31"/>
                  </a:lnTo>
                  <a:lnTo>
                    <a:pt x="14" y="27"/>
                  </a:lnTo>
                  <a:lnTo>
                    <a:pt x="15" y="21"/>
                  </a:lnTo>
                  <a:lnTo>
                    <a:pt x="15" y="16"/>
                  </a:lnTo>
                  <a:lnTo>
                    <a:pt x="15" y="13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6" y="4"/>
                  </a:lnTo>
                  <a:lnTo>
                    <a:pt x="17" y="1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1"/>
                  </a:lnTo>
                  <a:lnTo>
                    <a:pt x="20" y="4"/>
                  </a:lnTo>
                  <a:lnTo>
                    <a:pt x="20" y="6"/>
                  </a:lnTo>
                  <a:lnTo>
                    <a:pt x="20" y="9"/>
                  </a:lnTo>
                  <a:lnTo>
                    <a:pt x="21" y="13"/>
                  </a:lnTo>
                  <a:lnTo>
                    <a:pt x="21" y="18"/>
                  </a:lnTo>
                  <a:lnTo>
                    <a:pt x="21" y="22"/>
                  </a:lnTo>
                  <a:lnTo>
                    <a:pt x="22" y="27"/>
                  </a:lnTo>
                  <a:lnTo>
                    <a:pt x="22" y="31"/>
                  </a:lnTo>
                  <a:lnTo>
                    <a:pt x="22" y="37"/>
                  </a:lnTo>
                  <a:lnTo>
                    <a:pt x="23" y="49"/>
                  </a:lnTo>
                  <a:lnTo>
                    <a:pt x="25" y="62"/>
                  </a:lnTo>
                  <a:lnTo>
                    <a:pt x="25" y="70"/>
                  </a:lnTo>
                  <a:lnTo>
                    <a:pt x="25" y="77"/>
                  </a:lnTo>
                  <a:lnTo>
                    <a:pt x="26" y="86"/>
                  </a:lnTo>
                  <a:lnTo>
                    <a:pt x="26" y="95"/>
                  </a:lnTo>
                  <a:lnTo>
                    <a:pt x="26" y="104"/>
                  </a:lnTo>
                  <a:lnTo>
                    <a:pt x="27" y="113"/>
                  </a:lnTo>
                  <a:lnTo>
                    <a:pt x="28" y="132"/>
                  </a:lnTo>
                  <a:lnTo>
                    <a:pt x="30" y="153"/>
                  </a:lnTo>
                  <a:lnTo>
                    <a:pt x="30" y="176"/>
                  </a:lnTo>
                  <a:lnTo>
                    <a:pt x="31" y="199"/>
                  </a:lnTo>
                  <a:lnTo>
                    <a:pt x="32" y="223"/>
                  </a:lnTo>
                  <a:lnTo>
                    <a:pt x="32" y="235"/>
                  </a:lnTo>
                  <a:lnTo>
                    <a:pt x="32" y="249"/>
                  </a:lnTo>
                  <a:lnTo>
                    <a:pt x="33" y="263"/>
                  </a:lnTo>
                  <a:lnTo>
                    <a:pt x="33" y="278"/>
                  </a:lnTo>
                  <a:lnTo>
                    <a:pt x="33" y="293"/>
                  </a:lnTo>
                  <a:lnTo>
                    <a:pt x="33" y="310"/>
                  </a:lnTo>
                  <a:lnTo>
                    <a:pt x="35" y="341"/>
                  </a:lnTo>
                  <a:lnTo>
                    <a:pt x="35" y="356"/>
                  </a:lnTo>
                  <a:lnTo>
                    <a:pt x="35" y="372"/>
                  </a:lnTo>
                  <a:lnTo>
                    <a:pt x="36" y="387"/>
                  </a:lnTo>
                  <a:lnTo>
                    <a:pt x="36" y="400"/>
                  </a:lnTo>
                  <a:lnTo>
                    <a:pt x="36" y="414"/>
                  </a:lnTo>
                  <a:lnTo>
                    <a:pt x="36" y="426"/>
                  </a:lnTo>
                  <a:lnTo>
                    <a:pt x="36" y="436"/>
                  </a:lnTo>
                  <a:lnTo>
                    <a:pt x="36" y="441"/>
                  </a:lnTo>
                  <a:lnTo>
                    <a:pt x="37" y="447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07" name="Freeform 375"/>
            <p:cNvSpPr>
              <a:spLocks/>
            </p:cNvSpPr>
            <p:nvPr/>
          </p:nvSpPr>
          <p:spPr bwMode="auto">
            <a:xfrm>
              <a:off x="2672" y="1612"/>
              <a:ext cx="37" cy="224"/>
            </a:xfrm>
            <a:custGeom>
              <a:avLst/>
              <a:gdLst>
                <a:gd name="T0" fmla="*/ 0 w 37"/>
                <a:gd name="T1" fmla="*/ 3 h 446"/>
                <a:gd name="T2" fmla="*/ 0 w 37"/>
                <a:gd name="T3" fmla="*/ 11 h 446"/>
                <a:gd name="T4" fmla="*/ 0 w 37"/>
                <a:gd name="T5" fmla="*/ 22 h 446"/>
                <a:gd name="T6" fmla="*/ 0 w 37"/>
                <a:gd name="T7" fmla="*/ 40 h 446"/>
                <a:gd name="T8" fmla="*/ 2 w 37"/>
                <a:gd name="T9" fmla="*/ 70 h 446"/>
                <a:gd name="T10" fmla="*/ 3 w 37"/>
                <a:gd name="T11" fmla="*/ 101 h 446"/>
                <a:gd name="T12" fmla="*/ 4 w 37"/>
                <a:gd name="T13" fmla="*/ 150 h 446"/>
                <a:gd name="T14" fmla="*/ 5 w 37"/>
                <a:gd name="T15" fmla="*/ 181 h 446"/>
                <a:gd name="T16" fmla="*/ 5 w 37"/>
                <a:gd name="T17" fmla="*/ 209 h 446"/>
                <a:gd name="T18" fmla="*/ 6 w 37"/>
                <a:gd name="T19" fmla="*/ 245 h 446"/>
                <a:gd name="T20" fmla="*/ 8 w 37"/>
                <a:gd name="T21" fmla="*/ 290 h 446"/>
                <a:gd name="T22" fmla="*/ 10 w 37"/>
                <a:gd name="T23" fmla="*/ 332 h 446"/>
                <a:gd name="T24" fmla="*/ 10 w 37"/>
                <a:gd name="T25" fmla="*/ 349 h 446"/>
                <a:gd name="T26" fmla="*/ 11 w 37"/>
                <a:gd name="T27" fmla="*/ 367 h 446"/>
                <a:gd name="T28" fmla="*/ 13 w 37"/>
                <a:gd name="T29" fmla="*/ 382 h 446"/>
                <a:gd name="T30" fmla="*/ 14 w 37"/>
                <a:gd name="T31" fmla="*/ 407 h 446"/>
                <a:gd name="T32" fmla="*/ 14 w 37"/>
                <a:gd name="T33" fmla="*/ 418 h 446"/>
                <a:gd name="T34" fmla="*/ 15 w 37"/>
                <a:gd name="T35" fmla="*/ 428 h 446"/>
                <a:gd name="T36" fmla="*/ 16 w 37"/>
                <a:gd name="T37" fmla="*/ 436 h 446"/>
                <a:gd name="T38" fmla="*/ 16 w 37"/>
                <a:gd name="T39" fmla="*/ 440 h 446"/>
                <a:gd name="T40" fmla="*/ 17 w 37"/>
                <a:gd name="T41" fmla="*/ 445 h 446"/>
                <a:gd name="T42" fmla="*/ 19 w 37"/>
                <a:gd name="T43" fmla="*/ 446 h 446"/>
                <a:gd name="T44" fmla="*/ 19 w 37"/>
                <a:gd name="T45" fmla="*/ 445 h 446"/>
                <a:gd name="T46" fmla="*/ 20 w 37"/>
                <a:gd name="T47" fmla="*/ 440 h 446"/>
                <a:gd name="T48" fmla="*/ 20 w 37"/>
                <a:gd name="T49" fmla="*/ 436 h 446"/>
                <a:gd name="T50" fmla="*/ 21 w 37"/>
                <a:gd name="T51" fmla="*/ 428 h 446"/>
                <a:gd name="T52" fmla="*/ 22 w 37"/>
                <a:gd name="T53" fmla="*/ 418 h 446"/>
                <a:gd name="T54" fmla="*/ 22 w 37"/>
                <a:gd name="T55" fmla="*/ 407 h 446"/>
                <a:gd name="T56" fmla="*/ 25 w 37"/>
                <a:gd name="T57" fmla="*/ 382 h 446"/>
                <a:gd name="T58" fmla="*/ 25 w 37"/>
                <a:gd name="T59" fmla="*/ 367 h 446"/>
                <a:gd name="T60" fmla="*/ 26 w 37"/>
                <a:gd name="T61" fmla="*/ 349 h 446"/>
                <a:gd name="T62" fmla="*/ 27 w 37"/>
                <a:gd name="T63" fmla="*/ 332 h 446"/>
                <a:gd name="T64" fmla="*/ 30 w 37"/>
                <a:gd name="T65" fmla="*/ 291 h 446"/>
                <a:gd name="T66" fmla="*/ 31 w 37"/>
                <a:gd name="T67" fmla="*/ 245 h 446"/>
                <a:gd name="T68" fmla="*/ 32 w 37"/>
                <a:gd name="T69" fmla="*/ 209 h 446"/>
                <a:gd name="T70" fmla="*/ 33 w 37"/>
                <a:gd name="T71" fmla="*/ 181 h 446"/>
                <a:gd name="T72" fmla="*/ 33 w 37"/>
                <a:gd name="T73" fmla="*/ 151 h 446"/>
                <a:gd name="T74" fmla="*/ 35 w 37"/>
                <a:gd name="T75" fmla="*/ 104 h 446"/>
                <a:gd name="T76" fmla="*/ 35 w 37"/>
                <a:gd name="T77" fmla="*/ 72 h 446"/>
                <a:gd name="T78" fmla="*/ 36 w 37"/>
                <a:gd name="T79" fmla="*/ 44 h 446"/>
                <a:gd name="T80" fmla="*/ 36 w 37"/>
                <a:gd name="T81" fmla="*/ 19 h 446"/>
                <a:gd name="T82" fmla="*/ 36 w 37"/>
                <a:gd name="T83" fmla="*/ 4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7" h="446">
                  <a:moveTo>
                    <a:pt x="0" y="0"/>
                  </a:moveTo>
                  <a:lnTo>
                    <a:pt x="0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0" y="40"/>
                  </a:lnTo>
                  <a:lnTo>
                    <a:pt x="2" y="55"/>
                  </a:lnTo>
                  <a:lnTo>
                    <a:pt x="2" y="70"/>
                  </a:lnTo>
                  <a:lnTo>
                    <a:pt x="2" y="84"/>
                  </a:lnTo>
                  <a:lnTo>
                    <a:pt x="3" y="101"/>
                  </a:lnTo>
                  <a:lnTo>
                    <a:pt x="3" y="134"/>
                  </a:lnTo>
                  <a:lnTo>
                    <a:pt x="4" y="150"/>
                  </a:lnTo>
                  <a:lnTo>
                    <a:pt x="4" y="165"/>
                  </a:lnTo>
                  <a:lnTo>
                    <a:pt x="5" y="181"/>
                  </a:lnTo>
                  <a:lnTo>
                    <a:pt x="5" y="196"/>
                  </a:lnTo>
                  <a:lnTo>
                    <a:pt x="5" y="209"/>
                  </a:lnTo>
                  <a:lnTo>
                    <a:pt x="6" y="221"/>
                  </a:lnTo>
                  <a:lnTo>
                    <a:pt x="6" y="245"/>
                  </a:lnTo>
                  <a:lnTo>
                    <a:pt x="8" y="269"/>
                  </a:lnTo>
                  <a:lnTo>
                    <a:pt x="8" y="290"/>
                  </a:lnTo>
                  <a:lnTo>
                    <a:pt x="9" y="312"/>
                  </a:lnTo>
                  <a:lnTo>
                    <a:pt x="10" y="332"/>
                  </a:lnTo>
                  <a:lnTo>
                    <a:pt x="10" y="340"/>
                  </a:lnTo>
                  <a:lnTo>
                    <a:pt x="10" y="349"/>
                  </a:lnTo>
                  <a:lnTo>
                    <a:pt x="11" y="358"/>
                  </a:lnTo>
                  <a:lnTo>
                    <a:pt x="11" y="367"/>
                  </a:lnTo>
                  <a:lnTo>
                    <a:pt x="11" y="375"/>
                  </a:lnTo>
                  <a:lnTo>
                    <a:pt x="13" y="382"/>
                  </a:lnTo>
                  <a:lnTo>
                    <a:pt x="13" y="396"/>
                  </a:lnTo>
                  <a:lnTo>
                    <a:pt x="14" y="407"/>
                  </a:lnTo>
                  <a:lnTo>
                    <a:pt x="14" y="413"/>
                  </a:lnTo>
                  <a:lnTo>
                    <a:pt x="14" y="418"/>
                  </a:lnTo>
                  <a:lnTo>
                    <a:pt x="15" y="424"/>
                  </a:lnTo>
                  <a:lnTo>
                    <a:pt x="15" y="428"/>
                  </a:lnTo>
                  <a:lnTo>
                    <a:pt x="15" y="431"/>
                  </a:lnTo>
                  <a:lnTo>
                    <a:pt x="16" y="436"/>
                  </a:lnTo>
                  <a:lnTo>
                    <a:pt x="16" y="439"/>
                  </a:lnTo>
                  <a:lnTo>
                    <a:pt x="16" y="440"/>
                  </a:lnTo>
                  <a:lnTo>
                    <a:pt x="17" y="443"/>
                  </a:lnTo>
                  <a:lnTo>
                    <a:pt x="17" y="445"/>
                  </a:lnTo>
                  <a:lnTo>
                    <a:pt x="17" y="445"/>
                  </a:lnTo>
                  <a:lnTo>
                    <a:pt x="19" y="446"/>
                  </a:lnTo>
                  <a:lnTo>
                    <a:pt x="19" y="445"/>
                  </a:lnTo>
                  <a:lnTo>
                    <a:pt x="19" y="445"/>
                  </a:lnTo>
                  <a:lnTo>
                    <a:pt x="19" y="443"/>
                  </a:lnTo>
                  <a:lnTo>
                    <a:pt x="20" y="440"/>
                  </a:lnTo>
                  <a:lnTo>
                    <a:pt x="20" y="439"/>
                  </a:lnTo>
                  <a:lnTo>
                    <a:pt x="20" y="436"/>
                  </a:lnTo>
                  <a:lnTo>
                    <a:pt x="21" y="431"/>
                  </a:lnTo>
                  <a:lnTo>
                    <a:pt x="21" y="428"/>
                  </a:lnTo>
                  <a:lnTo>
                    <a:pt x="21" y="424"/>
                  </a:lnTo>
                  <a:lnTo>
                    <a:pt x="22" y="418"/>
                  </a:lnTo>
                  <a:lnTo>
                    <a:pt x="22" y="413"/>
                  </a:lnTo>
                  <a:lnTo>
                    <a:pt x="22" y="407"/>
                  </a:lnTo>
                  <a:lnTo>
                    <a:pt x="24" y="396"/>
                  </a:lnTo>
                  <a:lnTo>
                    <a:pt x="25" y="382"/>
                  </a:lnTo>
                  <a:lnTo>
                    <a:pt x="25" y="375"/>
                  </a:lnTo>
                  <a:lnTo>
                    <a:pt x="25" y="367"/>
                  </a:lnTo>
                  <a:lnTo>
                    <a:pt x="26" y="358"/>
                  </a:lnTo>
                  <a:lnTo>
                    <a:pt x="26" y="349"/>
                  </a:lnTo>
                  <a:lnTo>
                    <a:pt x="26" y="340"/>
                  </a:lnTo>
                  <a:lnTo>
                    <a:pt x="27" y="332"/>
                  </a:lnTo>
                  <a:lnTo>
                    <a:pt x="28" y="312"/>
                  </a:lnTo>
                  <a:lnTo>
                    <a:pt x="30" y="291"/>
                  </a:lnTo>
                  <a:lnTo>
                    <a:pt x="30" y="269"/>
                  </a:lnTo>
                  <a:lnTo>
                    <a:pt x="31" y="245"/>
                  </a:lnTo>
                  <a:lnTo>
                    <a:pt x="32" y="223"/>
                  </a:lnTo>
                  <a:lnTo>
                    <a:pt x="32" y="209"/>
                  </a:lnTo>
                  <a:lnTo>
                    <a:pt x="32" y="196"/>
                  </a:lnTo>
                  <a:lnTo>
                    <a:pt x="33" y="181"/>
                  </a:lnTo>
                  <a:lnTo>
                    <a:pt x="33" y="166"/>
                  </a:lnTo>
                  <a:lnTo>
                    <a:pt x="33" y="151"/>
                  </a:lnTo>
                  <a:lnTo>
                    <a:pt x="33" y="135"/>
                  </a:lnTo>
                  <a:lnTo>
                    <a:pt x="35" y="104"/>
                  </a:lnTo>
                  <a:lnTo>
                    <a:pt x="35" y="89"/>
                  </a:lnTo>
                  <a:lnTo>
                    <a:pt x="35" y="72"/>
                  </a:lnTo>
                  <a:lnTo>
                    <a:pt x="36" y="58"/>
                  </a:lnTo>
                  <a:lnTo>
                    <a:pt x="36" y="44"/>
                  </a:lnTo>
                  <a:lnTo>
                    <a:pt x="36" y="31"/>
                  </a:lnTo>
                  <a:lnTo>
                    <a:pt x="36" y="19"/>
                  </a:lnTo>
                  <a:lnTo>
                    <a:pt x="36" y="8"/>
                  </a:lnTo>
                  <a:lnTo>
                    <a:pt x="36" y="4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08" name="Freeform 376"/>
            <p:cNvSpPr>
              <a:spLocks/>
            </p:cNvSpPr>
            <p:nvPr/>
          </p:nvSpPr>
          <p:spPr bwMode="auto">
            <a:xfrm>
              <a:off x="2746" y="1612"/>
              <a:ext cx="37" cy="224"/>
            </a:xfrm>
            <a:custGeom>
              <a:avLst/>
              <a:gdLst>
                <a:gd name="T0" fmla="*/ 0 w 37"/>
                <a:gd name="T1" fmla="*/ 3 h 446"/>
                <a:gd name="T2" fmla="*/ 0 w 37"/>
                <a:gd name="T3" fmla="*/ 11 h 446"/>
                <a:gd name="T4" fmla="*/ 0 w 37"/>
                <a:gd name="T5" fmla="*/ 22 h 446"/>
                <a:gd name="T6" fmla="*/ 0 w 37"/>
                <a:gd name="T7" fmla="*/ 40 h 446"/>
                <a:gd name="T8" fmla="*/ 1 w 37"/>
                <a:gd name="T9" fmla="*/ 70 h 446"/>
                <a:gd name="T10" fmla="*/ 2 w 37"/>
                <a:gd name="T11" fmla="*/ 101 h 446"/>
                <a:gd name="T12" fmla="*/ 4 w 37"/>
                <a:gd name="T13" fmla="*/ 150 h 446"/>
                <a:gd name="T14" fmla="*/ 5 w 37"/>
                <a:gd name="T15" fmla="*/ 181 h 446"/>
                <a:gd name="T16" fmla="*/ 5 w 37"/>
                <a:gd name="T17" fmla="*/ 209 h 446"/>
                <a:gd name="T18" fmla="*/ 6 w 37"/>
                <a:gd name="T19" fmla="*/ 245 h 446"/>
                <a:gd name="T20" fmla="*/ 7 w 37"/>
                <a:gd name="T21" fmla="*/ 290 h 446"/>
                <a:gd name="T22" fmla="*/ 10 w 37"/>
                <a:gd name="T23" fmla="*/ 332 h 446"/>
                <a:gd name="T24" fmla="*/ 10 w 37"/>
                <a:gd name="T25" fmla="*/ 349 h 446"/>
                <a:gd name="T26" fmla="*/ 11 w 37"/>
                <a:gd name="T27" fmla="*/ 367 h 446"/>
                <a:gd name="T28" fmla="*/ 12 w 37"/>
                <a:gd name="T29" fmla="*/ 382 h 446"/>
                <a:gd name="T30" fmla="*/ 13 w 37"/>
                <a:gd name="T31" fmla="*/ 407 h 446"/>
                <a:gd name="T32" fmla="*/ 13 w 37"/>
                <a:gd name="T33" fmla="*/ 418 h 446"/>
                <a:gd name="T34" fmla="*/ 15 w 37"/>
                <a:gd name="T35" fmla="*/ 428 h 446"/>
                <a:gd name="T36" fmla="*/ 16 w 37"/>
                <a:gd name="T37" fmla="*/ 436 h 446"/>
                <a:gd name="T38" fmla="*/ 16 w 37"/>
                <a:gd name="T39" fmla="*/ 440 h 446"/>
                <a:gd name="T40" fmla="*/ 17 w 37"/>
                <a:gd name="T41" fmla="*/ 445 h 446"/>
                <a:gd name="T42" fmla="*/ 18 w 37"/>
                <a:gd name="T43" fmla="*/ 446 h 446"/>
                <a:gd name="T44" fmla="*/ 18 w 37"/>
                <a:gd name="T45" fmla="*/ 445 h 446"/>
                <a:gd name="T46" fmla="*/ 19 w 37"/>
                <a:gd name="T47" fmla="*/ 440 h 446"/>
                <a:gd name="T48" fmla="*/ 19 w 37"/>
                <a:gd name="T49" fmla="*/ 436 h 446"/>
                <a:gd name="T50" fmla="*/ 21 w 37"/>
                <a:gd name="T51" fmla="*/ 428 h 446"/>
                <a:gd name="T52" fmla="*/ 22 w 37"/>
                <a:gd name="T53" fmla="*/ 418 h 446"/>
                <a:gd name="T54" fmla="*/ 22 w 37"/>
                <a:gd name="T55" fmla="*/ 407 h 446"/>
                <a:gd name="T56" fmla="*/ 24 w 37"/>
                <a:gd name="T57" fmla="*/ 382 h 446"/>
                <a:gd name="T58" fmla="*/ 24 w 37"/>
                <a:gd name="T59" fmla="*/ 367 h 446"/>
                <a:gd name="T60" fmla="*/ 26 w 37"/>
                <a:gd name="T61" fmla="*/ 349 h 446"/>
                <a:gd name="T62" fmla="*/ 27 w 37"/>
                <a:gd name="T63" fmla="*/ 332 h 446"/>
                <a:gd name="T64" fmla="*/ 29 w 37"/>
                <a:gd name="T65" fmla="*/ 291 h 446"/>
                <a:gd name="T66" fmla="*/ 31 w 37"/>
                <a:gd name="T67" fmla="*/ 245 h 446"/>
                <a:gd name="T68" fmla="*/ 32 w 37"/>
                <a:gd name="T69" fmla="*/ 209 h 446"/>
                <a:gd name="T70" fmla="*/ 33 w 37"/>
                <a:gd name="T71" fmla="*/ 181 h 446"/>
                <a:gd name="T72" fmla="*/ 33 w 37"/>
                <a:gd name="T73" fmla="*/ 151 h 446"/>
                <a:gd name="T74" fmla="*/ 34 w 37"/>
                <a:gd name="T75" fmla="*/ 104 h 446"/>
                <a:gd name="T76" fmla="*/ 34 w 37"/>
                <a:gd name="T77" fmla="*/ 72 h 446"/>
                <a:gd name="T78" fmla="*/ 35 w 37"/>
                <a:gd name="T79" fmla="*/ 44 h 446"/>
                <a:gd name="T80" fmla="*/ 35 w 37"/>
                <a:gd name="T81" fmla="*/ 19 h 446"/>
                <a:gd name="T82" fmla="*/ 35 w 37"/>
                <a:gd name="T83" fmla="*/ 4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7" h="446">
                  <a:moveTo>
                    <a:pt x="0" y="0"/>
                  </a:moveTo>
                  <a:lnTo>
                    <a:pt x="0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0" y="40"/>
                  </a:lnTo>
                  <a:lnTo>
                    <a:pt x="1" y="55"/>
                  </a:lnTo>
                  <a:lnTo>
                    <a:pt x="1" y="70"/>
                  </a:lnTo>
                  <a:lnTo>
                    <a:pt x="1" y="84"/>
                  </a:lnTo>
                  <a:lnTo>
                    <a:pt x="2" y="101"/>
                  </a:lnTo>
                  <a:lnTo>
                    <a:pt x="2" y="134"/>
                  </a:lnTo>
                  <a:lnTo>
                    <a:pt x="4" y="150"/>
                  </a:lnTo>
                  <a:lnTo>
                    <a:pt x="4" y="165"/>
                  </a:lnTo>
                  <a:lnTo>
                    <a:pt x="5" y="181"/>
                  </a:lnTo>
                  <a:lnTo>
                    <a:pt x="5" y="196"/>
                  </a:lnTo>
                  <a:lnTo>
                    <a:pt x="5" y="209"/>
                  </a:lnTo>
                  <a:lnTo>
                    <a:pt x="6" y="221"/>
                  </a:lnTo>
                  <a:lnTo>
                    <a:pt x="6" y="245"/>
                  </a:lnTo>
                  <a:lnTo>
                    <a:pt x="7" y="269"/>
                  </a:lnTo>
                  <a:lnTo>
                    <a:pt x="7" y="290"/>
                  </a:lnTo>
                  <a:lnTo>
                    <a:pt x="8" y="312"/>
                  </a:lnTo>
                  <a:lnTo>
                    <a:pt x="10" y="332"/>
                  </a:lnTo>
                  <a:lnTo>
                    <a:pt x="10" y="340"/>
                  </a:lnTo>
                  <a:lnTo>
                    <a:pt x="10" y="349"/>
                  </a:lnTo>
                  <a:lnTo>
                    <a:pt x="11" y="358"/>
                  </a:lnTo>
                  <a:lnTo>
                    <a:pt x="11" y="367"/>
                  </a:lnTo>
                  <a:lnTo>
                    <a:pt x="11" y="375"/>
                  </a:lnTo>
                  <a:lnTo>
                    <a:pt x="12" y="382"/>
                  </a:lnTo>
                  <a:lnTo>
                    <a:pt x="12" y="396"/>
                  </a:lnTo>
                  <a:lnTo>
                    <a:pt x="13" y="407"/>
                  </a:lnTo>
                  <a:lnTo>
                    <a:pt x="13" y="413"/>
                  </a:lnTo>
                  <a:lnTo>
                    <a:pt x="13" y="418"/>
                  </a:lnTo>
                  <a:lnTo>
                    <a:pt x="15" y="424"/>
                  </a:lnTo>
                  <a:lnTo>
                    <a:pt x="15" y="428"/>
                  </a:lnTo>
                  <a:lnTo>
                    <a:pt x="15" y="431"/>
                  </a:lnTo>
                  <a:lnTo>
                    <a:pt x="16" y="436"/>
                  </a:lnTo>
                  <a:lnTo>
                    <a:pt x="16" y="439"/>
                  </a:lnTo>
                  <a:lnTo>
                    <a:pt x="16" y="440"/>
                  </a:lnTo>
                  <a:lnTo>
                    <a:pt x="17" y="443"/>
                  </a:lnTo>
                  <a:lnTo>
                    <a:pt x="17" y="445"/>
                  </a:lnTo>
                  <a:lnTo>
                    <a:pt x="17" y="445"/>
                  </a:lnTo>
                  <a:lnTo>
                    <a:pt x="18" y="446"/>
                  </a:lnTo>
                  <a:lnTo>
                    <a:pt x="18" y="445"/>
                  </a:lnTo>
                  <a:lnTo>
                    <a:pt x="18" y="445"/>
                  </a:lnTo>
                  <a:lnTo>
                    <a:pt x="18" y="443"/>
                  </a:lnTo>
                  <a:lnTo>
                    <a:pt x="19" y="440"/>
                  </a:lnTo>
                  <a:lnTo>
                    <a:pt x="19" y="439"/>
                  </a:lnTo>
                  <a:lnTo>
                    <a:pt x="19" y="436"/>
                  </a:lnTo>
                  <a:lnTo>
                    <a:pt x="21" y="431"/>
                  </a:lnTo>
                  <a:lnTo>
                    <a:pt x="21" y="428"/>
                  </a:lnTo>
                  <a:lnTo>
                    <a:pt x="21" y="424"/>
                  </a:lnTo>
                  <a:lnTo>
                    <a:pt x="22" y="418"/>
                  </a:lnTo>
                  <a:lnTo>
                    <a:pt x="22" y="413"/>
                  </a:lnTo>
                  <a:lnTo>
                    <a:pt x="22" y="407"/>
                  </a:lnTo>
                  <a:lnTo>
                    <a:pt x="23" y="396"/>
                  </a:lnTo>
                  <a:lnTo>
                    <a:pt x="24" y="382"/>
                  </a:lnTo>
                  <a:lnTo>
                    <a:pt x="24" y="375"/>
                  </a:lnTo>
                  <a:lnTo>
                    <a:pt x="24" y="367"/>
                  </a:lnTo>
                  <a:lnTo>
                    <a:pt x="26" y="358"/>
                  </a:lnTo>
                  <a:lnTo>
                    <a:pt x="26" y="349"/>
                  </a:lnTo>
                  <a:lnTo>
                    <a:pt x="26" y="340"/>
                  </a:lnTo>
                  <a:lnTo>
                    <a:pt x="27" y="332"/>
                  </a:lnTo>
                  <a:lnTo>
                    <a:pt x="28" y="312"/>
                  </a:lnTo>
                  <a:lnTo>
                    <a:pt x="29" y="291"/>
                  </a:lnTo>
                  <a:lnTo>
                    <a:pt x="29" y="269"/>
                  </a:lnTo>
                  <a:lnTo>
                    <a:pt x="31" y="245"/>
                  </a:lnTo>
                  <a:lnTo>
                    <a:pt x="32" y="223"/>
                  </a:lnTo>
                  <a:lnTo>
                    <a:pt x="32" y="209"/>
                  </a:lnTo>
                  <a:lnTo>
                    <a:pt x="32" y="196"/>
                  </a:lnTo>
                  <a:lnTo>
                    <a:pt x="33" y="181"/>
                  </a:lnTo>
                  <a:lnTo>
                    <a:pt x="33" y="166"/>
                  </a:lnTo>
                  <a:lnTo>
                    <a:pt x="33" y="151"/>
                  </a:lnTo>
                  <a:lnTo>
                    <a:pt x="33" y="135"/>
                  </a:lnTo>
                  <a:lnTo>
                    <a:pt x="34" y="104"/>
                  </a:lnTo>
                  <a:lnTo>
                    <a:pt x="34" y="89"/>
                  </a:lnTo>
                  <a:lnTo>
                    <a:pt x="34" y="72"/>
                  </a:lnTo>
                  <a:lnTo>
                    <a:pt x="35" y="58"/>
                  </a:lnTo>
                  <a:lnTo>
                    <a:pt x="35" y="44"/>
                  </a:lnTo>
                  <a:lnTo>
                    <a:pt x="35" y="31"/>
                  </a:lnTo>
                  <a:lnTo>
                    <a:pt x="35" y="19"/>
                  </a:lnTo>
                  <a:lnTo>
                    <a:pt x="35" y="8"/>
                  </a:lnTo>
                  <a:lnTo>
                    <a:pt x="35" y="4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09" name="Freeform 377"/>
            <p:cNvSpPr>
              <a:spLocks/>
            </p:cNvSpPr>
            <p:nvPr/>
          </p:nvSpPr>
          <p:spPr bwMode="auto">
            <a:xfrm>
              <a:off x="2819" y="1612"/>
              <a:ext cx="37" cy="224"/>
            </a:xfrm>
            <a:custGeom>
              <a:avLst/>
              <a:gdLst>
                <a:gd name="T0" fmla="*/ 0 w 37"/>
                <a:gd name="T1" fmla="*/ 3 h 446"/>
                <a:gd name="T2" fmla="*/ 0 w 37"/>
                <a:gd name="T3" fmla="*/ 11 h 446"/>
                <a:gd name="T4" fmla="*/ 0 w 37"/>
                <a:gd name="T5" fmla="*/ 22 h 446"/>
                <a:gd name="T6" fmla="*/ 0 w 37"/>
                <a:gd name="T7" fmla="*/ 40 h 446"/>
                <a:gd name="T8" fmla="*/ 2 w 37"/>
                <a:gd name="T9" fmla="*/ 70 h 446"/>
                <a:gd name="T10" fmla="*/ 3 w 37"/>
                <a:gd name="T11" fmla="*/ 101 h 446"/>
                <a:gd name="T12" fmla="*/ 4 w 37"/>
                <a:gd name="T13" fmla="*/ 150 h 446"/>
                <a:gd name="T14" fmla="*/ 5 w 37"/>
                <a:gd name="T15" fmla="*/ 181 h 446"/>
                <a:gd name="T16" fmla="*/ 5 w 37"/>
                <a:gd name="T17" fmla="*/ 209 h 446"/>
                <a:gd name="T18" fmla="*/ 7 w 37"/>
                <a:gd name="T19" fmla="*/ 245 h 446"/>
                <a:gd name="T20" fmla="*/ 8 w 37"/>
                <a:gd name="T21" fmla="*/ 290 h 446"/>
                <a:gd name="T22" fmla="*/ 10 w 37"/>
                <a:gd name="T23" fmla="*/ 332 h 446"/>
                <a:gd name="T24" fmla="*/ 10 w 37"/>
                <a:gd name="T25" fmla="*/ 349 h 446"/>
                <a:gd name="T26" fmla="*/ 11 w 37"/>
                <a:gd name="T27" fmla="*/ 367 h 446"/>
                <a:gd name="T28" fmla="*/ 13 w 37"/>
                <a:gd name="T29" fmla="*/ 382 h 446"/>
                <a:gd name="T30" fmla="*/ 14 w 37"/>
                <a:gd name="T31" fmla="*/ 407 h 446"/>
                <a:gd name="T32" fmla="*/ 14 w 37"/>
                <a:gd name="T33" fmla="*/ 418 h 446"/>
                <a:gd name="T34" fmla="*/ 15 w 37"/>
                <a:gd name="T35" fmla="*/ 428 h 446"/>
                <a:gd name="T36" fmla="*/ 16 w 37"/>
                <a:gd name="T37" fmla="*/ 436 h 446"/>
                <a:gd name="T38" fmla="*/ 16 w 37"/>
                <a:gd name="T39" fmla="*/ 440 h 446"/>
                <a:gd name="T40" fmla="*/ 18 w 37"/>
                <a:gd name="T41" fmla="*/ 445 h 446"/>
                <a:gd name="T42" fmla="*/ 19 w 37"/>
                <a:gd name="T43" fmla="*/ 446 h 446"/>
                <a:gd name="T44" fmla="*/ 19 w 37"/>
                <a:gd name="T45" fmla="*/ 445 h 446"/>
                <a:gd name="T46" fmla="*/ 20 w 37"/>
                <a:gd name="T47" fmla="*/ 440 h 446"/>
                <a:gd name="T48" fmla="*/ 20 w 37"/>
                <a:gd name="T49" fmla="*/ 436 h 446"/>
                <a:gd name="T50" fmla="*/ 21 w 37"/>
                <a:gd name="T51" fmla="*/ 428 h 446"/>
                <a:gd name="T52" fmla="*/ 22 w 37"/>
                <a:gd name="T53" fmla="*/ 418 h 446"/>
                <a:gd name="T54" fmla="*/ 22 w 37"/>
                <a:gd name="T55" fmla="*/ 407 h 446"/>
                <a:gd name="T56" fmla="*/ 25 w 37"/>
                <a:gd name="T57" fmla="*/ 382 h 446"/>
                <a:gd name="T58" fmla="*/ 25 w 37"/>
                <a:gd name="T59" fmla="*/ 367 h 446"/>
                <a:gd name="T60" fmla="*/ 26 w 37"/>
                <a:gd name="T61" fmla="*/ 349 h 446"/>
                <a:gd name="T62" fmla="*/ 27 w 37"/>
                <a:gd name="T63" fmla="*/ 332 h 446"/>
                <a:gd name="T64" fmla="*/ 30 w 37"/>
                <a:gd name="T65" fmla="*/ 291 h 446"/>
                <a:gd name="T66" fmla="*/ 31 w 37"/>
                <a:gd name="T67" fmla="*/ 245 h 446"/>
                <a:gd name="T68" fmla="*/ 32 w 37"/>
                <a:gd name="T69" fmla="*/ 209 h 446"/>
                <a:gd name="T70" fmla="*/ 34 w 37"/>
                <a:gd name="T71" fmla="*/ 181 h 446"/>
                <a:gd name="T72" fmla="*/ 34 w 37"/>
                <a:gd name="T73" fmla="*/ 151 h 446"/>
                <a:gd name="T74" fmla="*/ 35 w 37"/>
                <a:gd name="T75" fmla="*/ 104 h 446"/>
                <a:gd name="T76" fmla="*/ 35 w 37"/>
                <a:gd name="T77" fmla="*/ 72 h 446"/>
                <a:gd name="T78" fmla="*/ 36 w 37"/>
                <a:gd name="T79" fmla="*/ 44 h 446"/>
                <a:gd name="T80" fmla="*/ 36 w 37"/>
                <a:gd name="T81" fmla="*/ 19 h 446"/>
                <a:gd name="T82" fmla="*/ 36 w 37"/>
                <a:gd name="T83" fmla="*/ 4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7" h="446">
                  <a:moveTo>
                    <a:pt x="0" y="0"/>
                  </a:moveTo>
                  <a:lnTo>
                    <a:pt x="0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0" y="40"/>
                  </a:lnTo>
                  <a:lnTo>
                    <a:pt x="2" y="55"/>
                  </a:lnTo>
                  <a:lnTo>
                    <a:pt x="2" y="70"/>
                  </a:lnTo>
                  <a:lnTo>
                    <a:pt x="2" y="84"/>
                  </a:lnTo>
                  <a:lnTo>
                    <a:pt x="3" y="101"/>
                  </a:lnTo>
                  <a:lnTo>
                    <a:pt x="3" y="134"/>
                  </a:lnTo>
                  <a:lnTo>
                    <a:pt x="4" y="150"/>
                  </a:lnTo>
                  <a:lnTo>
                    <a:pt x="4" y="165"/>
                  </a:lnTo>
                  <a:lnTo>
                    <a:pt x="5" y="181"/>
                  </a:lnTo>
                  <a:lnTo>
                    <a:pt x="5" y="196"/>
                  </a:lnTo>
                  <a:lnTo>
                    <a:pt x="5" y="209"/>
                  </a:lnTo>
                  <a:lnTo>
                    <a:pt x="7" y="221"/>
                  </a:lnTo>
                  <a:lnTo>
                    <a:pt x="7" y="245"/>
                  </a:lnTo>
                  <a:lnTo>
                    <a:pt x="8" y="269"/>
                  </a:lnTo>
                  <a:lnTo>
                    <a:pt x="8" y="290"/>
                  </a:lnTo>
                  <a:lnTo>
                    <a:pt x="9" y="312"/>
                  </a:lnTo>
                  <a:lnTo>
                    <a:pt x="10" y="332"/>
                  </a:lnTo>
                  <a:lnTo>
                    <a:pt x="10" y="340"/>
                  </a:lnTo>
                  <a:lnTo>
                    <a:pt x="10" y="349"/>
                  </a:lnTo>
                  <a:lnTo>
                    <a:pt x="11" y="358"/>
                  </a:lnTo>
                  <a:lnTo>
                    <a:pt x="11" y="367"/>
                  </a:lnTo>
                  <a:lnTo>
                    <a:pt x="11" y="375"/>
                  </a:lnTo>
                  <a:lnTo>
                    <a:pt x="13" y="382"/>
                  </a:lnTo>
                  <a:lnTo>
                    <a:pt x="13" y="396"/>
                  </a:lnTo>
                  <a:lnTo>
                    <a:pt x="14" y="407"/>
                  </a:lnTo>
                  <a:lnTo>
                    <a:pt x="14" y="413"/>
                  </a:lnTo>
                  <a:lnTo>
                    <a:pt x="14" y="418"/>
                  </a:lnTo>
                  <a:lnTo>
                    <a:pt x="15" y="424"/>
                  </a:lnTo>
                  <a:lnTo>
                    <a:pt x="15" y="428"/>
                  </a:lnTo>
                  <a:lnTo>
                    <a:pt x="15" y="431"/>
                  </a:lnTo>
                  <a:lnTo>
                    <a:pt x="16" y="436"/>
                  </a:lnTo>
                  <a:lnTo>
                    <a:pt x="16" y="439"/>
                  </a:lnTo>
                  <a:lnTo>
                    <a:pt x="16" y="440"/>
                  </a:lnTo>
                  <a:lnTo>
                    <a:pt x="18" y="443"/>
                  </a:lnTo>
                  <a:lnTo>
                    <a:pt x="18" y="445"/>
                  </a:lnTo>
                  <a:lnTo>
                    <a:pt x="18" y="445"/>
                  </a:lnTo>
                  <a:lnTo>
                    <a:pt x="19" y="446"/>
                  </a:lnTo>
                  <a:lnTo>
                    <a:pt x="19" y="445"/>
                  </a:lnTo>
                  <a:lnTo>
                    <a:pt x="19" y="445"/>
                  </a:lnTo>
                  <a:lnTo>
                    <a:pt x="19" y="443"/>
                  </a:lnTo>
                  <a:lnTo>
                    <a:pt x="20" y="440"/>
                  </a:lnTo>
                  <a:lnTo>
                    <a:pt x="20" y="439"/>
                  </a:lnTo>
                  <a:lnTo>
                    <a:pt x="20" y="436"/>
                  </a:lnTo>
                  <a:lnTo>
                    <a:pt x="21" y="431"/>
                  </a:lnTo>
                  <a:lnTo>
                    <a:pt x="21" y="428"/>
                  </a:lnTo>
                  <a:lnTo>
                    <a:pt x="21" y="424"/>
                  </a:lnTo>
                  <a:lnTo>
                    <a:pt x="22" y="418"/>
                  </a:lnTo>
                  <a:lnTo>
                    <a:pt x="22" y="413"/>
                  </a:lnTo>
                  <a:lnTo>
                    <a:pt x="22" y="407"/>
                  </a:lnTo>
                  <a:lnTo>
                    <a:pt x="24" y="396"/>
                  </a:lnTo>
                  <a:lnTo>
                    <a:pt x="25" y="382"/>
                  </a:lnTo>
                  <a:lnTo>
                    <a:pt x="25" y="375"/>
                  </a:lnTo>
                  <a:lnTo>
                    <a:pt x="25" y="367"/>
                  </a:lnTo>
                  <a:lnTo>
                    <a:pt x="26" y="358"/>
                  </a:lnTo>
                  <a:lnTo>
                    <a:pt x="26" y="349"/>
                  </a:lnTo>
                  <a:lnTo>
                    <a:pt x="26" y="340"/>
                  </a:lnTo>
                  <a:lnTo>
                    <a:pt x="27" y="332"/>
                  </a:lnTo>
                  <a:lnTo>
                    <a:pt x="29" y="312"/>
                  </a:lnTo>
                  <a:lnTo>
                    <a:pt x="30" y="291"/>
                  </a:lnTo>
                  <a:lnTo>
                    <a:pt x="30" y="269"/>
                  </a:lnTo>
                  <a:lnTo>
                    <a:pt x="31" y="245"/>
                  </a:lnTo>
                  <a:lnTo>
                    <a:pt x="32" y="223"/>
                  </a:lnTo>
                  <a:lnTo>
                    <a:pt x="32" y="209"/>
                  </a:lnTo>
                  <a:lnTo>
                    <a:pt x="32" y="196"/>
                  </a:lnTo>
                  <a:lnTo>
                    <a:pt x="34" y="181"/>
                  </a:lnTo>
                  <a:lnTo>
                    <a:pt x="34" y="166"/>
                  </a:lnTo>
                  <a:lnTo>
                    <a:pt x="34" y="151"/>
                  </a:lnTo>
                  <a:lnTo>
                    <a:pt x="34" y="135"/>
                  </a:lnTo>
                  <a:lnTo>
                    <a:pt x="35" y="104"/>
                  </a:lnTo>
                  <a:lnTo>
                    <a:pt x="35" y="89"/>
                  </a:lnTo>
                  <a:lnTo>
                    <a:pt x="35" y="72"/>
                  </a:lnTo>
                  <a:lnTo>
                    <a:pt x="36" y="58"/>
                  </a:lnTo>
                  <a:lnTo>
                    <a:pt x="36" y="44"/>
                  </a:lnTo>
                  <a:lnTo>
                    <a:pt x="36" y="31"/>
                  </a:lnTo>
                  <a:lnTo>
                    <a:pt x="36" y="19"/>
                  </a:lnTo>
                  <a:lnTo>
                    <a:pt x="36" y="8"/>
                  </a:lnTo>
                  <a:lnTo>
                    <a:pt x="36" y="4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10" name="Freeform 378"/>
            <p:cNvSpPr>
              <a:spLocks/>
            </p:cNvSpPr>
            <p:nvPr/>
          </p:nvSpPr>
          <p:spPr bwMode="auto">
            <a:xfrm>
              <a:off x="2948" y="1389"/>
              <a:ext cx="55" cy="223"/>
            </a:xfrm>
            <a:custGeom>
              <a:avLst/>
              <a:gdLst>
                <a:gd name="T0" fmla="*/ 0 w 55"/>
                <a:gd name="T1" fmla="*/ 442 h 447"/>
                <a:gd name="T2" fmla="*/ 0 w 55"/>
                <a:gd name="T3" fmla="*/ 433 h 447"/>
                <a:gd name="T4" fmla="*/ 0 w 55"/>
                <a:gd name="T5" fmla="*/ 423 h 447"/>
                <a:gd name="T6" fmla="*/ 1 w 55"/>
                <a:gd name="T7" fmla="*/ 405 h 447"/>
                <a:gd name="T8" fmla="*/ 3 w 55"/>
                <a:gd name="T9" fmla="*/ 377 h 447"/>
                <a:gd name="T10" fmla="*/ 4 w 55"/>
                <a:gd name="T11" fmla="*/ 344 h 447"/>
                <a:gd name="T12" fmla="*/ 5 w 55"/>
                <a:gd name="T13" fmla="*/ 296 h 447"/>
                <a:gd name="T14" fmla="*/ 8 w 55"/>
                <a:gd name="T15" fmla="*/ 263 h 447"/>
                <a:gd name="T16" fmla="*/ 9 w 55"/>
                <a:gd name="T17" fmla="*/ 235 h 447"/>
                <a:gd name="T18" fmla="*/ 10 w 55"/>
                <a:gd name="T19" fmla="*/ 199 h 447"/>
                <a:gd name="T20" fmla="*/ 12 w 55"/>
                <a:gd name="T21" fmla="*/ 155 h 447"/>
                <a:gd name="T22" fmla="*/ 15 w 55"/>
                <a:gd name="T23" fmla="*/ 113 h 447"/>
                <a:gd name="T24" fmla="*/ 16 w 55"/>
                <a:gd name="T25" fmla="*/ 95 h 447"/>
                <a:gd name="T26" fmla="*/ 17 w 55"/>
                <a:gd name="T27" fmla="*/ 77 h 447"/>
                <a:gd name="T28" fmla="*/ 19 w 55"/>
                <a:gd name="T29" fmla="*/ 62 h 447"/>
                <a:gd name="T30" fmla="*/ 20 w 55"/>
                <a:gd name="T31" fmla="*/ 37 h 447"/>
                <a:gd name="T32" fmla="*/ 21 w 55"/>
                <a:gd name="T33" fmla="*/ 27 h 447"/>
                <a:gd name="T34" fmla="*/ 22 w 55"/>
                <a:gd name="T35" fmla="*/ 16 h 447"/>
                <a:gd name="T36" fmla="*/ 23 w 55"/>
                <a:gd name="T37" fmla="*/ 9 h 447"/>
                <a:gd name="T38" fmla="*/ 25 w 55"/>
                <a:gd name="T39" fmla="*/ 4 h 447"/>
                <a:gd name="T40" fmla="*/ 26 w 55"/>
                <a:gd name="T41" fmla="*/ 0 h 447"/>
                <a:gd name="T42" fmla="*/ 27 w 55"/>
                <a:gd name="T43" fmla="*/ 0 h 447"/>
                <a:gd name="T44" fmla="*/ 28 w 55"/>
                <a:gd name="T45" fmla="*/ 0 h 447"/>
                <a:gd name="T46" fmla="*/ 30 w 55"/>
                <a:gd name="T47" fmla="*/ 4 h 447"/>
                <a:gd name="T48" fmla="*/ 31 w 55"/>
                <a:gd name="T49" fmla="*/ 9 h 447"/>
                <a:gd name="T50" fmla="*/ 32 w 55"/>
                <a:gd name="T51" fmla="*/ 18 h 447"/>
                <a:gd name="T52" fmla="*/ 33 w 55"/>
                <a:gd name="T53" fmla="*/ 27 h 447"/>
                <a:gd name="T54" fmla="*/ 34 w 55"/>
                <a:gd name="T55" fmla="*/ 37 h 447"/>
                <a:gd name="T56" fmla="*/ 37 w 55"/>
                <a:gd name="T57" fmla="*/ 62 h 447"/>
                <a:gd name="T58" fmla="*/ 38 w 55"/>
                <a:gd name="T59" fmla="*/ 77 h 447"/>
                <a:gd name="T60" fmla="*/ 39 w 55"/>
                <a:gd name="T61" fmla="*/ 95 h 447"/>
                <a:gd name="T62" fmla="*/ 41 w 55"/>
                <a:gd name="T63" fmla="*/ 113 h 447"/>
                <a:gd name="T64" fmla="*/ 43 w 55"/>
                <a:gd name="T65" fmla="*/ 153 h 447"/>
                <a:gd name="T66" fmla="*/ 47 w 55"/>
                <a:gd name="T67" fmla="*/ 199 h 447"/>
                <a:gd name="T68" fmla="*/ 48 w 55"/>
                <a:gd name="T69" fmla="*/ 235 h 447"/>
                <a:gd name="T70" fmla="*/ 49 w 55"/>
                <a:gd name="T71" fmla="*/ 263 h 447"/>
                <a:gd name="T72" fmla="*/ 50 w 55"/>
                <a:gd name="T73" fmla="*/ 293 h 447"/>
                <a:gd name="T74" fmla="*/ 52 w 55"/>
                <a:gd name="T75" fmla="*/ 341 h 447"/>
                <a:gd name="T76" fmla="*/ 53 w 55"/>
                <a:gd name="T77" fmla="*/ 372 h 447"/>
                <a:gd name="T78" fmla="*/ 53 w 55"/>
                <a:gd name="T79" fmla="*/ 400 h 447"/>
                <a:gd name="T80" fmla="*/ 54 w 55"/>
                <a:gd name="T81" fmla="*/ 426 h 447"/>
                <a:gd name="T82" fmla="*/ 54 w 55"/>
                <a:gd name="T83" fmla="*/ 44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5" h="447">
                  <a:moveTo>
                    <a:pt x="0" y="447"/>
                  </a:moveTo>
                  <a:lnTo>
                    <a:pt x="0" y="442"/>
                  </a:lnTo>
                  <a:lnTo>
                    <a:pt x="0" y="438"/>
                  </a:lnTo>
                  <a:lnTo>
                    <a:pt x="0" y="433"/>
                  </a:lnTo>
                  <a:lnTo>
                    <a:pt x="0" y="429"/>
                  </a:lnTo>
                  <a:lnTo>
                    <a:pt x="0" y="423"/>
                  </a:lnTo>
                  <a:lnTo>
                    <a:pt x="0" y="417"/>
                  </a:lnTo>
                  <a:lnTo>
                    <a:pt x="1" y="405"/>
                  </a:lnTo>
                  <a:lnTo>
                    <a:pt x="1" y="390"/>
                  </a:lnTo>
                  <a:lnTo>
                    <a:pt x="3" y="377"/>
                  </a:lnTo>
                  <a:lnTo>
                    <a:pt x="3" y="360"/>
                  </a:lnTo>
                  <a:lnTo>
                    <a:pt x="4" y="344"/>
                  </a:lnTo>
                  <a:lnTo>
                    <a:pt x="5" y="311"/>
                  </a:lnTo>
                  <a:lnTo>
                    <a:pt x="5" y="296"/>
                  </a:lnTo>
                  <a:lnTo>
                    <a:pt x="6" y="280"/>
                  </a:lnTo>
                  <a:lnTo>
                    <a:pt x="8" y="263"/>
                  </a:lnTo>
                  <a:lnTo>
                    <a:pt x="8" y="250"/>
                  </a:lnTo>
                  <a:lnTo>
                    <a:pt x="9" y="235"/>
                  </a:lnTo>
                  <a:lnTo>
                    <a:pt x="9" y="223"/>
                  </a:lnTo>
                  <a:lnTo>
                    <a:pt x="10" y="199"/>
                  </a:lnTo>
                  <a:lnTo>
                    <a:pt x="11" y="177"/>
                  </a:lnTo>
                  <a:lnTo>
                    <a:pt x="12" y="155"/>
                  </a:lnTo>
                  <a:lnTo>
                    <a:pt x="14" y="132"/>
                  </a:lnTo>
                  <a:lnTo>
                    <a:pt x="15" y="113"/>
                  </a:lnTo>
                  <a:lnTo>
                    <a:pt x="15" y="104"/>
                  </a:lnTo>
                  <a:lnTo>
                    <a:pt x="16" y="95"/>
                  </a:lnTo>
                  <a:lnTo>
                    <a:pt x="16" y="86"/>
                  </a:lnTo>
                  <a:lnTo>
                    <a:pt x="17" y="77"/>
                  </a:lnTo>
                  <a:lnTo>
                    <a:pt x="17" y="70"/>
                  </a:lnTo>
                  <a:lnTo>
                    <a:pt x="19" y="62"/>
                  </a:lnTo>
                  <a:lnTo>
                    <a:pt x="19" y="49"/>
                  </a:lnTo>
                  <a:lnTo>
                    <a:pt x="20" y="37"/>
                  </a:lnTo>
                  <a:lnTo>
                    <a:pt x="21" y="31"/>
                  </a:lnTo>
                  <a:lnTo>
                    <a:pt x="21" y="27"/>
                  </a:lnTo>
                  <a:lnTo>
                    <a:pt x="22" y="21"/>
                  </a:lnTo>
                  <a:lnTo>
                    <a:pt x="22" y="16"/>
                  </a:lnTo>
                  <a:lnTo>
                    <a:pt x="23" y="13"/>
                  </a:lnTo>
                  <a:lnTo>
                    <a:pt x="23" y="9"/>
                  </a:lnTo>
                  <a:lnTo>
                    <a:pt x="25" y="6"/>
                  </a:lnTo>
                  <a:lnTo>
                    <a:pt x="25" y="4"/>
                  </a:lnTo>
                  <a:lnTo>
                    <a:pt x="26" y="1"/>
                  </a:lnTo>
                  <a:lnTo>
                    <a:pt x="26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8" y="0"/>
                  </a:lnTo>
                  <a:lnTo>
                    <a:pt x="28" y="1"/>
                  </a:lnTo>
                  <a:lnTo>
                    <a:pt x="30" y="4"/>
                  </a:lnTo>
                  <a:lnTo>
                    <a:pt x="30" y="6"/>
                  </a:lnTo>
                  <a:lnTo>
                    <a:pt x="31" y="9"/>
                  </a:lnTo>
                  <a:lnTo>
                    <a:pt x="31" y="13"/>
                  </a:lnTo>
                  <a:lnTo>
                    <a:pt x="32" y="18"/>
                  </a:lnTo>
                  <a:lnTo>
                    <a:pt x="32" y="22"/>
                  </a:lnTo>
                  <a:lnTo>
                    <a:pt x="33" y="27"/>
                  </a:lnTo>
                  <a:lnTo>
                    <a:pt x="33" y="31"/>
                  </a:lnTo>
                  <a:lnTo>
                    <a:pt x="34" y="37"/>
                  </a:lnTo>
                  <a:lnTo>
                    <a:pt x="36" y="49"/>
                  </a:lnTo>
                  <a:lnTo>
                    <a:pt x="37" y="62"/>
                  </a:lnTo>
                  <a:lnTo>
                    <a:pt x="37" y="70"/>
                  </a:lnTo>
                  <a:lnTo>
                    <a:pt x="38" y="77"/>
                  </a:lnTo>
                  <a:lnTo>
                    <a:pt x="38" y="86"/>
                  </a:lnTo>
                  <a:lnTo>
                    <a:pt x="39" y="95"/>
                  </a:lnTo>
                  <a:lnTo>
                    <a:pt x="39" y="104"/>
                  </a:lnTo>
                  <a:lnTo>
                    <a:pt x="41" y="113"/>
                  </a:lnTo>
                  <a:lnTo>
                    <a:pt x="42" y="132"/>
                  </a:lnTo>
                  <a:lnTo>
                    <a:pt x="43" y="153"/>
                  </a:lnTo>
                  <a:lnTo>
                    <a:pt x="46" y="176"/>
                  </a:lnTo>
                  <a:lnTo>
                    <a:pt x="47" y="199"/>
                  </a:lnTo>
                  <a:lnTo>
                    <a:pt x="48" y="223"/>
                  </a:lnTo>
                  <a:lnTo>
                    <a:pt x="48" y="235"/>
                  </a:lnTo>
                  <a:lnTo>
                    <a:pt x="49" y="249"/>
                  </a:lnTo>
                  <a:lnTo>
                    <a:pt x="49" y="263"/>
                  </a:lnTo>
                  <a:lnTo>
                    <a:pt x="50" y="278"/>
                  </a:lnTo>
                  <a:lnTo>
                    <a:pt x="50" y="293"/>
                  </a:lnTo>
                  <a:lnTo>
                    <a:pt x="50" y="310"/>
                  </a:lnTo>
                  <a:lnTo>
                    <a:pt x="52" y="341"/>
                  </a:lnTo>
                  <a:lnTo>
                    <a:pt x="53" y="356"/>
                  </a:lnTo>
                  <a:lnTo>
                    <a:pt x="53" y="372"/>
                  </a:lnTo>
                  <a:lnTo>
                    <a:pt x="53" y="387"/>
                  </a:lnTo>
                  <a:lnTo>
                    <a:pt x="53" y="400"/>
                  </a:lnTo>
                  <a:lnTo>
                    <a:pt x="54" y="414"/>
                  </a:lnTo>
                  <a:lnTo>
                    <a:pt x="54" y="426"/>
                  </a:lnTo>
                  <a:lnTo>
                    <a:pt x="54" y="436"/>
                  </a:lnTo>
                  <a:lnTo>
                    <a:pt x="54" y="441"/>
                  </a:lnTo>
                  <a:lnTo>
                    <a:pt x="55" y="447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11" name="Freeform 379"/>
            <p:cNvSpPr>
              <a:spLocks/>
            </p:cNvSpPr>
            <p:nvPr/>
          </p:nvSpPr>
          <p:spPr bwMode="auto">
            <a:xfrm>
              <a:off x="3058" y="1389"/>
              <a:ext cx="56" cy="223"/>
            </a:xfrm>
            <a:custGeom>
              <a:avLst/>
              <a:gdLst>
                <a:gd name="T0" fmla="*/ 0 w 56"/>
                <a:gd name="T1" fmla="*/ 442 h 447"/>
                <a:gd name="T2" fmla="*/ 0 w 56"/>
                <a:gd name="T3" fmla="*/ 433 h 447"/>
                <a:gd name="T4" fmla="*/ 0 w 56"/>
                <a:gd name="T5" fmla="*/ 423 h 447"/>
                <a:gd name="T6" fmla="*/ 2 w 56"/>
                <a:gd name="T7" fmla="*/ 405 h 447"/>
                <a:gd name="T8" fmla="*/ 3 w 56"/>
                <a:gd name="T9" fmla="*/ 377 h 447"/>
                <a:gd name="T10" fmla="*/ 4 w 56"/>
                <a:gd name="T11" fmla="*/ 344 h 447"/>
                <a:gd name="T12" fmla="*/ 5 w 56"/>
                <a:gd name="T13" fmla="*/ 296 h 447"/>
                <a:gd name="T14" fmla="*/ 8 w 56"/>
                <a:gd name="T15" fmla="*/ 263 h 447"/>
                <a:gd name="T16" fmla="*/ 9 w 56"/>
                <a:gd name="T17" fmla="*/ 235 h 447"/>
                <a:gd name="T18" fmla="*/ 10 w 56"/>
                <a:gd name="T19" fmla="*/ 199 h 447"/>
                <a:gd name="T20" fmla="*/ 13 w 56"/>
                <a:gd name="T21" fmla="*/ 155 h 447"/>
                <a:gd name="T22" fmla="*/ 15 w 56"/>
                <a:gd name="T23" fmla="*/ 113 h 447"/>
                <a:gd name="T24" fmla="*/ 16 w 56"/>
                <a:gd name="T25" fmla="*/ 95 h 447"/>
                <a:gd name="T26" fmla="*/ 18 w 56"/>
                <a:gd name="T27" fmla="*/ 77 h 447"/>
                <a:gd name="T28" fmla="*/ 19 w 56"/>
                <a:gd name="T29" fmla="*/ 62 h 447"/>
                <a:gd name="T30" fmla="*/ 20 w 56"/>
                <a:gd name="T31" fmla="*/ 37 h 447"/>
                <a:gd name="T32" fmla="*/ 21 w 56"/>
                <a:gd name="T33" fmla="*/ 27 h 447"/>
                <a:gd name="T34" fmla="*/ 23 w 56"/>
                <a:gd name="T35" fmla="*/ 16 h 447"/>
                <a:gd name="T36" fmla="*/ 24 w 56"/>
                <a:gd name="T37" fmla="*/ 9 h 447"/>
                <a:gd name="T38" fmla="*/ 25 w 56"/>
                <a:gd name="T39" fmla="*/ 4 h 447"/>
                <a:gd name="T40" fmla="*/ 26 w 56"/>
                <a:gd name="T41" fmla="*/ 0 h 447"/>
                <a:gd name="T42" fmla="*/ 27 w 56"/>
                <a:gd name="T43" fmla="*/ 0 h 447"/>
                <a:gd name="T44" fmla="*/ 29 w 56"/>
                <a:gd name="T45" fmla="*/ 0 h 447"/>
                <a:gd name="T46" fmla="*/ 30 w 56"/>
                <a:gd name="T47" fmla="*/ 4 h 447"/>
                <a:gd name="T48" fmla="*/ 31 w 56"/>
                <a:gd name="T49" fmla="*/ 9 h 447"/>
                <a:gd name="T50" fmla="*/ 32 w 56"/>
                <a:gd name="T51" fmla="*/ 18 h 447"/>
                <a:gd name="T52" fmla="*/ 34 w 56"/>
                <a:gd name="T53" fmla="*/ 27 h 447"/>
                <a:gd name="T54" fmla="*/ 35 w 56"/>
                <a:gd name="T55" fmla="*/ 37 h 447"/>
                <a:gd name="T56" fmla="*/ 37 w 56"/>
                <a:gd name="T57" fmla="*/ 62 h 447"/>
                <a:gd name="T58" fmla="*/ 38 w 56"/>
                <a:gd name="T59" fmla="*/ 77 h 447"/>
                <a:gd name="T60" fmla="*/ 40 w 56"/>
                <a:gd name="T61" fmla="*/ 95 h 447"/>
                <a:gd name="T62" fmla="*/ 41 w 56"/>
                <a:gd name="T63" fmla="*/ 113 h 447"/>
                <a:gd name="T64" fmla="*/ 43 w 56"/>
                <a:gd name="T65" fmla="*/ 153 h 447"/>
                <a:gd name="T66" fmla="*/ 47 w 56"/>
                <a:gd name="T67" fmla="*/ 199 h 447"/>
                <a:gd name="T68" fmla="*/ 48 w 56"/>
                <a:gd name="T69" fmla="*/ 235 h 447"/>
                <a:gd name="T70" fmla="*/ 50 w 56"/>
                <a:gd name="T71" fmla="*/ 263 h 447"/>
                <a:gd name="T72" fmla="*/ 51 w 56"/>
                <a:gd name="T73" fmla="*/ 293 h 447"/>
                <a:gd name="T74" fmla="*/ 52 w 56"/>
                <a:gd name="T75" fmla="*/ 341 h 447"/>
                <a:gd name="T76" fmla="*/ 53 w 56"/>
                <a:gd name="T77" fmla="*/ 372 h 447"/>
                <a:gd name="T78" fmla="*/ 53 w 56"/>
                <a:gd name="T79" fmla="*/ 400 h 447"/>
                <a:gd name="T80" fmla="*/ 54 w 56"/>
                <a:gd name="T81" fmla="*/ 426 h 447"/>
                <a:gd name="T82" fmla="*/ 54 w 56"/>
                <a:gd name="T83" fmla="*/ 44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6" h="447">
                  <a:moveTo>
                    <a:pt x="0" y="447"/>
                  </a:moveTo>
                  <a:lnTo>
                    <a:pt x="0" y="442"/>
                  </a:lnTo>
                  <a:lnTo>
                    <a:pt x="0" y="438"/>
                  </a:lnTo>
                  <a:lnTo>
                    <a:pt x="0" y="433"/>
                  </a:lnTo>
                  <a:lnTo>
                    <a:pt x="0" y="429"/>
                  </a:lnTo>
                  <a:lnTo>
                    <a:pt x="0" y="423"/>
                  </a:lnTo>
                  <a:lnTo>
                    <a:pt x="0" y="417"/>
                  </a:lnTo>
                  <a:lnTo>
                    <a:pt x="2" y="405"/>
                  </a:lnTo>
                  <a:lnTo>
                    <a:pt x="2" y="390"/>
                  </a:lnTo>
                  <a:lnTo>
                    <a:pt x="3" y="377"/>
                  </a:lnTo>
                  <a:lnTo>
                    <a:pt x="3" y="360"/>
                  </a:lnTo>
                  <a:lnTo>
                    <a:pt x="4" y="344"/>
                  </a:lnTo>
                  <a:lnTo>
                    <a:pt x="5" y="311"/>
                  </a:lnTo>
                  <a:lnTo>
                    <a:pt x="5" y="296"/>
                  </a:lnTo>
                  <a:lnTo>
                    <a:pt x="7" y="280"/>
                  </a:lnTo>
                  <a:lnTo>
                    <a:pt x="8" y="263"/>
                  </a:lnTo>
                  <a:lnTo>
                    <a:pt x="8" y="250"/>
                  </a:lnTo>
                  <a:lnTo>
                    <a:pt x="9" y="235"/>
                  </a:lnTo>
                  <a:lnTo>
                    <a:pt x="9" y="223"/>
                  </a:lnTo>
                  <a:lnTo>
                    <a:pt x="10" y="199"/>
                  </a:lnTo>
                  <a:lnTo>
                    <a:pt x="12" y="177"/>
                  </a:lnTo>
                  <a:lnTo>
                    <a:pt x="13" y="155"/>
                  </a:lnTo>
                  <a:lnTo>
                    <a:pt x="14" y="132"/>
                  </a:lnTo>
                  <a:lnTo>
                    <a:pt x="15" y="113"/>
                  </a:lnTo>
                  <a:lnTo>
                    <a:pt x="15" y="104"/>
                  </a:lnTo>
                  <a:lnTo>
                    <a:pt x="16" y="95"/>
                  </a:lnTo>
                  <a:lnTo>
                    <a:pt x="16" y="86"/>
                  </a:lnTo>
                  <a:lnTo>
                    <a:pt x="18" y="77"/>
                  </a:lnTo>
                  <a:lnTo>
                    <a:pt x="18" y="70"/>
                  </a:lnTo>
                  <a:lnTo>
                    <a:pt x="19" y="62"/>
                  </a:lnTo>
                  <a:lnTo>
                    <a:pt x="19" y="49"/>
                  </a:lnTo>
                  <a:lnTo>
                    <a:pt x="20" y="37"/>
                  </a:lnTo>
                  <a:lnTo>
                    <a:pt x="21" y="31"/>
                  </a:lnTo>
                  <a:lnTo>
                    <a:pt x="21" y="27"/>
                  </a:lnTo>
                  <a:lnTo>
                    <a:pt x="23" y="21"/>
                  </a:lnTo>
                  <a:lnTo>
                    <a:pt x="23" y="16"/>
                  </a:lnTo>
                  <a:lnTo>
                    <a:pt x="24" y="13"/>
                  </a:lnTo>
                  <a:lnTo>
                    <a:pt x="24" y="9"/>
                  </a:lnTo>
                  <a:lnTo>
                    <a:pt x="25" y="6"/>
                  </a:lnTo>
                  <a:lnTo>
                    <a:pt x="25" y="4"/>
                  </a:lnTo>
                  <a:lnTo>
                    <a:pt x="26" y="1"/>
                  </a:lnTo>
                  <a:lnTo>
                    <a:pt x="26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9" y="0"/>
                  </a:lnTo>
                  <a:lnTo>
                    <a:pt x="29" y="1"/>
                  </a:lnTo>
                  <a:lnTo>
                    <a:pt x="30" y="4"/>
                  </a:lnTo>
                  <a:lnTo>
                    <a:pt x="30" y="6"/>
                  </a:lnTo>
                  <a:lnTo>
                    <a:pt x="31" y="9"/>
                  </a:lnTo>
                  <a:lnTo>
                    <a:pt x="31" y="13"/>
                  </a:lnTo>
                  <a:lnTo>
                    <a:pt x="32" y="18"/>
                  </a:lnTo>
                  <a:lnTo>
                    <a:pt x="32" y="22"/>
                  </a:lnTo>
                  <a:lnTo>
                    <a:pt x="34" y="27"/>
                  </a:lnTo>
                  <a:lnTo>
                    <a:pt x="34" y="31"/>
                  </a:lnTo>
                  <a:lnTo>
                    <a:pt x="35" y="37"/>
                  </a:lnTo>
                  <a:lnTo>
                    <a:pt x="36" y="49"/>
                  </a:lnTo>
                  <a:lnTo>
                    <a:pt x="37" y="62"/>
                  </a:lnTo>
                  <a:lnTo>
                    <a:pt x="37" y="70"/>
                  </a:lnTo>
                  <a:lnTo>
                    <a:pt x="38" y="77"/>
                  </a:lnTo>
                  <a:lnTo>
                    <a:pt x="38" y="86"/>
                  </a:lnTo>
                  <a:lnTo>
                    <a:pt x="40" y="95"/>
                  </a:lnTo>
                  <a:lnTo>
                    <a:pt x="40" y="104"/>
                  </a:lnTo>
                  <a:lnTo>
                    <a:pt x="41" y="113"/>
                  </a:lnTo>
                  <a:lnTo>
                    <a:pt x="42" y="132"/>
                  </a:lnTo>
                  <a:lnTo>
                    <a:pt x="43" y="153"/>
                  </a:lnTo>
                  <a:lnTo>
                    <a:pt x="46" y="176"/>
                  </a:lnTo>
                  <a:lnTo>
                    <a:pt x="47" y="199"/>
                  </a:lnTo>
                  <a:lnTo>
                    <a:pt x="48" y="223"/>
                  </a:lnTo>
                  <a:lnTo>
                    <a:pt x="48" y="235"/>
                  </a:lnTo>
                  <a:lnTo>
                    <a:pt x="50" y="249"/>
                  </a:lnTo>
                  <a:lnTo>
                    <a:pt x="50" y="263"/>
                  </a:lnTo>
                  <a:lnTo>
                    <a:pt x="51" y="278"/>
                  </a:lnTo>
                  <a:lnTo>
                    <a:pt x="51" y="293"/>
                  </a:lnTo>
                  <a:lnTo>
                    <a:pt x="51" y="310"/>
                  </a:lnTo>
                  <a:lnTo>
                    <a:pt x="52" y="341"/>
                  </a:lnTo>
                  <a:lnTo>
                    <a:pt x="53" y="356"/>
                  </a:lnTo>
                  <a:lnTo>
                    <a:pt x="53" y="372"/>
                  </a:lnTo>
                  <a:lnTo>
                    <a:pt x="53" y="387"/>
                  </a:lnTo>
                  <a:lnTo>
                    <a:pt x="53" y="400"/>
                  </a:lnTo>
                  <a:lnTo>
                    <a:pt x="54" y="414"/>
                  </a:lnTo>
                  <a:lnTo>
                    <a:pt x="54" y="426"/>
                  </a:lnTo>
                  <a:lnTo>
                    <a:pt x="54" y="436"/>
                  </a:lnTo>
                  <a:lnTo>
                    <a:pt x="54" y="441"/>
                  </a:lnTo>
                  <a:lnTo>
                    <a:pt x="56" y="447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12" name="Freeform 380"/>
            <p:cNvSpPr>
              <a:spLocks/>
            </p:cNvSpPr>
            <p:nvPr/>
          </p:nvSpPr>
          <p:spPr bwMode="auto">
            <a:xfrm>
              <a:off x="3169" y="1389"/>
              <a:ext cx="55" cy="223"/>
            </a:xfrm>
            <a:custGeom>
              <a:avLst/>
              <a:gdLst>
                <a:gd name="T0" fmla="*/ 0 w 55"/>
                <a:gd name="T1" fmla="*/ 442 h 447"/>
                <a:gd name="T2" fmla="*/ 0 w 55"/>
                <a:gd name="T3" fmla="*/ 433 h 447"/>
                <a:gd name="T4" fmla="*/ 0 w 55"/>
                <a:gd name="T5" fmla="*/ 423 h 447"/>
                <a:gd name="T6" fmla="*/ 1 w 55"/>
                <a:gd name="T7" fmla="*/ 405 h 447"/>
                <a:gd name="T8" fmla="*/ 2 w 55"/>
                <a:gd name="T9" fmla="*/ 377 h 447"/>
                <a:gd name="T10" fmla="*/ 4 w 55"/>
                <a:gd name="T11" fmla="*/ 344 h 447"/>
                <a:gd name="T12" fmla="*/ 5 w 55"/>
                <a:gd name="T13" fmla="*/ 296 h 447"/>
                <a:gd name="T14" fmla="*/ 7 w 55"/>
                <a:gd name="T15" fmla="*/ 263 h 447"/>
                <a:gd name="T16" fmla="*/ 8 w 55"/>
                <a:gd name="T17" fmla="*/ 235 h 447"/>
                <a:gd name="T18" fmla="*/ 10 w 55"/>
                <a:gd name="T19" fmla="*/ 199 h 447"/>
                <a:gd name="T20" fmla="*/ 12 w 55"/>
                <a:gd name="T21" fmla="*/ 155 h 447"/>
                <a:gd name="T22" fmla="*/ 15 w 55"/>
                <a:gd name="T23" fmla="*/ 113 h 447"/>
                <a:gd name="T24" fmla="*/ 16 w 55"/>
                <a:gd name="T25" fmla="*/ 95 h 447"/>
                <a:gd name="T26" fmla="*/ 17 w 55"/>
                <a:gd name="T27" fmla="*/ 77 h 447"/>
                <a:gd name="T28" fmla="*/ 18 w 55"/>
                <a:gd name="T29" fmla="*/ 62 h 447"/>
                <a:gd name="T30" fmla="*/ 19 w 55"/>
                <a:gd name="T31" fmla="*/ 37 h 447"/>
                <a:gd name="T32" fmla="*/ 21 w 55"/>
                <a:gd name="T33" fmla="*/ 27 h 447"/>
                <a:gd name="T34" fmla="*/ 22 w 55"/>
                <a:gd name="T35" fmla="*/ 16 h 447"/>
                <a:gd name="T36" fmla="*/ 23 w 55"/>
                <a:gd name="T37" fmla="*/ 9 h 447"/>
                <a:gd name="T38" fmla="*/ 24 w 55"/>
                <a:gd name="T39" fmla="*/ 4 h 447"/>
                <a:gd name="T40" fmla="*/ 26 w 55"/>
                <a:gd name="T41" fmla="*/ 0 h 447"/>
                <a:gd name="T42" fmla="*/ 27 w 55"/>
                <a:gd name="T43" fmla="*/ 0 h 447"/>
                <a:gd name="T44" fmla="*/ 28 w 55"/>
                <a:gd name="T45" fmla="*/ 0 h 447"/>
                <a:gd name="T46" fmla="*/ 29 w 55"/>
                <a:gd name="T47" fmla="*/ 4 h 447"/>
                <a:gd name="T48" fmla="*/ 30 w 55"/>
                <a:gd name="T49" fmla="*/ 9 h 447"/>
                <a:gd name="T50" fmla="*/ 32 w 55"/>
                <a:gd name="T51" fmla="*/ 18 h 447"/>
                <a:gd name="T52" fmla="*/ 33 w 55"/>
                <a:gd name="T53" fmla="*/ 27 h 447"/>
                <a:gd name="T54" fmla="*/ 34 w 55"/>
                <a:gd name="T55" fmla="*/ 37 h 447"/>
                <a:gd name="T56" fmla="*/ 37 w 55"/>
                <a:gd name="T57" fmla="*/ 62 h 447"/>
                <a:gd name="T58" fmla="*/ 38 w 55"/>
                <a:gd name="T59" fmla="*/ 77 h 447"/>
                <a:gd name="T60" fmla="*/ 39 w 55"/>
                <a:gd name="T61" fmla="*/ 95 h 447"/>
                <a:gd name="T62" fmla="*/ 40 w 55"/>
                <a:gd name="T63" fmla="*/ 113 h 447"/>
                <a:gd name="T64" fmla="*/ 43 w 55"/>
                <a:gd name="T65" fmla="*/ 153 h 447"/>
                <a:gd name="T66" fmla="*/ 46 w 55"/>
                <a:gd name="T67" fmla="*/ 199 h 447"/>
                <a:gd name="T68" fmla="*/ 48 w 55"/>
                <a:gd name="T69" fmla="*/ 235 h 447"/>
                <a:gd name="T70" fmla="*/ 49 w 55"/>
                <a:gd name="T71" fmla="*/ 263 h 447"/>
                <a:gd name="T72" fmla="*/ 50 w 55"/>
                <a:gd name="T73" fmla="*/ 293 h 447"/>
                <a:gd name="T74" fmla="*/ 51 w 55"/>
                <a:gd name="T75" fmla="*/ 341 h 447"/>
                <a:gd name="T76" fmla="*/ 53 w 55"/>
                <a:gd name="T77" fmla="*/ 372 h 447"/>
                <a:gd name="T78" fmla="*/ 53 w 55"/>
                <a:gd name="T79" fmla="*/ 400 h 447"/>
                <a:gd name="T80" fmla="*/ 54 w 55"/>
                <a:gd name="T81" fmla="*/ 426 h 447"/>
                <a:gd name="T82" fmla="*/ 54 w 55"/>
                <a:gd name="T83" fmla="*/ 44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5" h="447">
                  <a:moveTo>
                    <a:pt x="0" y="447"/>
                  </a:moveTo>
                  <a:lnTo>
                    <a:pt x="0" y="442"/>
                  </a:lnTo>
                  <a:lnTo>
                    <a:pt x="0" y="438"/>
                  </a:lnTo>
                  <a:lnTo>
                    <a:pt x="0" y="433"/>
                  </a:lnTo>
                  <a:lnTo>
                    <a:pt x="0" y="429"/>
                  </a:lnTo>
                  <a:lnTo>
                    <a:pt x="0" y="423"/>
                  </a:lnTo>
                  <a:lnTo>
                    <a:pt x="0" y="417"/>
                  </a:lnTo>
                  <a:lnTo>
                    <a:pt x="1" y="405"/>
                  </a:lnTo>
                  <a:lnTo>
                    <a:pt x="1" y="390"/>
                  </a:lnTo>
                  <a:lnTo>
                    <a:pt x="2" y="377"/>
                  </a:lnTo>
                  <a:lnTo>
                    <a:pt x="2" y="360"/>
                  </a:lnTo>
                  <a:lnTo>
                    <a:pt x="4" y="344"/>
                  </a:lnTo>
                  <a:lnTo>
                    <a:pt x="5" y="311"/>
                  </a:lnTo>
                  <a:lnTo>
                    <a:pt x="5" y="296"/>
                  </a:lnTo>
                  <a:lnTo>
                    <a:pt x="6" y="280"/>
                  </a:lnTo>
                  <a:lnTo>
                    <a:pt x="7" y="263"/>
                  </a:lnTo>
                  <a:lnTo>
                    <a:pt x="7" y="250"/>
                  </a:lnTo>
                  <a:lnTo>
                    <a:pt x="8" y="235"/>
                  </a:lnTo>
                  <a:lnTo>
                    <a:pt x="8" y="223"/>
                  </a:lnTo>
                  <a:lnTo>
                    <a:pt x="10" y="199"/>
                  </a:lnTo>
                  <a:lnTo>
                    <a:pt x="11" y="177"/>
                  </a:lnTo>
                  <a:lnTo>
                    <a:pt x="12" y="155"/>
                  </a:lnTo>
                  <a:lnTo>
                    <a:pt x="13" y="132"/>
                  </a:lnTo>
                  <a:lnTo>
                    <a:pt x="15" y="113"/>
                  </a:lnTo>
                  <a:lnTo>
                    <a:pt x="15" y="104"/>
                  </a:lnTo>
                  <a:lnTo>
                    <a:pt x="16" y="95"/>
                  </a:lnTo>
                  <a:lnTo>
                    <a:pt x="16" y="86"/>
                  </a:lnTo>
                  <a:lnTo>
                    <a:pt x="17" y="77"/>
                  </a:lnTo>
                  <a:lnTo>
                    <a:pt x="17" y="70"/>
                  </a:lnTo>
                  <a:lnTo>
                    <a:pt x="18" y="62"/>
                  </a:lnTo>
                  <a:lnTo>
                    <a:pt x="18" y="49"/>
                  </a:lnTo>
                  <a:lnTo>
                    <a:pt x="19" y="37"/>
                  </a:lnTo>
                  <a:lnTo>
                    <a:pt x="21" y="31"/>
                  </a:lnTo>
                  <a:lnTo>
                    <a:pt x="21" y="27"/>
                  </a:lnTo>
                  <a:lnTo>
                    <a:pt x="22" y="21"/>
                  </a:lnTo>
                  <a:lnTo>
                    <a:pt x="22" y="16"/>
                  </a:lnTo>
                  <a:lnTo>
                    <a:pt x="23" y="13"/>
                  </a:lnTo>
                  <a:lnTo>
                    <a:pt x="23" y="9"/>
                  </a:lnTo>
                  <a:lnTo>
                    <a:pt x="24" y="6"/>
                  </a:lnTo>
                  <a:lnTo>
                    <a:pt x="24" y="4"/>
                  </a:lnTo>
                  <a:lnTo>
                    <a:pt x="26" y="1"/>
                  </a:lnTo>
                  <a:lnTo>
                    <a:pt x="26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8" y="0"/>
                  </a:lnTo>
                  <a:lnTo>
                    <a:pt x="28" y="1"/>
                  </a:lnTo>
                  <a:lnTo>
                    <a:pt x="29" y="4"/>
                  </a:lnTo>
                  <a:lnTo>
                    <a:pt x="29" y="6"/>
                  </a:lnTo>
                  <a:lnTo>
                    <a:pt x="30" y="9"/>
                  </a:lnTo>
                  <a:lnTo>
                    <a:pt x="30" y="13"/>
                  </a:lnTo>
                  <a:lnTo>
                    <a:pt x="32" y="18"/>
                  </a:lnTo>
                  <a:lnTo>
                    <a:pt x="32" y="22"/>
                  </a:lnTo>
                  <a:lnTo>
                    <a:pt x="33" y="27"/>
                  </a:lnTo>
                  <a:lnTo>
                    <a:pt x="33" y="31"/>
                  </a:lnTo>
                  <a:lnTo>
                    <a:pt x="34" y="37"/>
                  </a:lnTo>
                  <a:lnTo>
                    <a:pt x="35" y="49"/>
                  </a:lnTo>
                  <a:lnTo>
                    <a:pt x="37" y="62"/>
                  </a:lnTo>
                  <a:lnTo>
                    <a:pt x="37" y="70"/>
                  </a:lnTo>
                  <a:lnTo>
                    <a:pt x="38" y="77"/>
                  </a:lnTo>
                  <a:lnTo>
                    <a:pt x="38" y="86"/>
                  </a:lnTo>
                  <a:lnTo>
                    <a:pt x="39" y="95"/>
                  </a:lnTo>
                  <a:lnTo>
                    <a:pt x="39" y="104"/>
                  </a:lnTo>
                  <a:lnTo>
                    <a:pt x="40" y="113"/>
                  </a:lnTo>
                  <a:lnTo>
                    <a:pt x="42" y="132"/>
                  </a:lnTo>
                  <a:lnTo>
                    <a:pt x="43" y="153"/>
                  </a:lnTo>
                  <a:lnTo>
                    <a:pt x="45" y="176"/>
                  </a:lnTo>
                  <a:lnTo>
                    <a:pt x="46" y="199"/>
                  </a:lnTo>
                  <a:lnTo>
                    <a:pt x="48" y="223"/>
                  </a:lnTo>
                  <a:lnTo>
                    <a:pt x="48" y="235"/>
                  </a:lnTo>
                  <a:lnTo>
                    <a:pt x="49" y="249"/>
                  </a:lnTo>
                  <a:lnTo>
                    <a:pt x="49" y="263"/>
                  </a:lnTo>
                  <a:lnTo>
                    <a:pt x="50" y="278"/>
                  </a:lnTo>
                  <a:lnTo>
                    <a:pt x="50" y="293"/>
                  </a:lnTo>
                  <a:lnTo>
                    <a:pt x="50" y="310"/>
                  </a:lnTo>
                  <a:lnTo>
                    <a:pt x="51" y="341"/>
                  </a:lnTo>
                  <a:lnTo>
                    <a:pt x="53" y="356"/>
                  </a:lnTo>
                  <a:lnTo>
                    <a:pt x="53" y="372"/>
                  </a:lnTo>
                  <a:lnTo>
                    <a:pt x="53" y="387"/>
                  </a:lnTo>
                  <a:lnTo>
                    <a:pt x="53" y="400"/>
                  </a:lnTo>
                  <a:lnTo>
                    <a:pt x="54" y="414"/>
                  </a:lnTo>
                  <a:lnTo>
                    <a:pt x="54" y="426"/>
                  </a:lnTo>
                  <a:lnTo>
                    <a:pt x="54" y="436"/>
                  </a:lnTo>
                  <a:lnTo>
                    <a:pt x="54" y="441"/>
                  </a:lnTo>
                  <a:lnTo>
                    <a:pt x="55" y="447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13" name="Freeform 381"/>
            <p:cNvSpPr>
              <a:spLocks/>
            </p:cNvSpPr>
            <p:nvPr/>
          </p:nvSpPr>
          <p:spPr bwMode="auto">
            <a:xfrm>
              <a:off x="2893" y="1612"/>
              <a:ext cx="55" cy="224"/>
            </a:xfrm>
            <a:custGeom>
              <a:avLst/>
              <a:gdLst>
                <a:gd name="T0" fmla="*/ 0 w 55"/>
                <a:gd name="T1" fmla="*/ 3 h 446"/>
                <a:gd name="T2" fmla="*/ 0 w 55"/>
                <a:gd name="T3" fmla="*/ 11 h 446"/>
                <a:gd name="T4" fmla="*/ 0 w 55"/>
                <a:gd name="T5" fmla="*/ 22 h 446"/>
                <a:gd name="T6" fmla="*/ 1 w 55"/>
                <a:gd name="T7" fmla="*/ 40 h 446"/>
                <a:gd name="T8" fmla="*/ 2 w 55"/>
                <a:gd name="T9" fmla="*/ 70 h 446"/>
                <a:gd name="T10" fmla="*/ 4 w 55"/>
                <a:gd name="T11" fmla="*/ 101 h 446"/>
                <a:gd name="T12" fmla="*/ 5 w 55"/>
                <a:gd name="T13" fmla="*/ 150 h 446"/>
                <a:gd name="T14" fmla="*/ 7 w 55"/>
                <a:gd name="T15" fmla="*/ 181 h 446"/>
                <a:gd name="T16" fmla="*/ 9 w 55"/>
                <a:gd name="T17" fmla="*/ 209 h 446"/>
                <a:gd name="T18" fmla="*/ 10 w 55"/>
                <a:gd name="T19" fmla="*/ 245 h 446"/>
                <a:gd name="T20" fmla="*/ 12 w 55"/>
                <a:gd name="T21" fmla="*/ 290 h 446"/>
                <a:gd name="T22" fmla="*/ 15 w 55"/>
                <a:gd name="T23" fmla="*/ 332 h 446"/>
                <a:gd name="T24" fmla="*/ 16 w 55"/>
                <a:gd name="T25" fmla="*/ 349 h 446"/>
                <a:gd name="T26" fmla="*/ 17 w 55"/>
                <a:gd name="T27" fmla="*/ 367 h 446"/>
                <a:gd name="T28" fmla="*/ 18 w 55"/>
                <a:gd name="T29" fmla="*/ 382 h 446"/>
                <a:gd name="T30" fmla="*/ 20 w 55"/>
                <a:gd name="T31" fmla="*/ 407 h 446"/>
                <a:gd name="T32" fmla="*/ 21 w 55"/>
                <a:gd name="T33" fmla="*/ 418 h 446"/>
                <a:gd name="T34" fmla="*/ 22 w 55"/>
                <a:gd name="T35" fmla="*/ 428 h 446"/>
                <a:gd name="T36" fmla="*/ 23 w 55"/>
                <a:gd name="T37" fmla="*/ 436 h 446"/>
                <a:gd name="T38" fmla="*/ 24 w 55"/>
                <a:gd name="T39" fmla="*/ 440 h 446"/>
                <a:gd name="T40" fmla="*/ 26 w 55"/>
                <a:gd name="T41" fmla="*/ 445 h 446"/>
                <a:gd name="T42" fmla="*/ 27 w 55"/>
                <a:gd name="T43" fmla="*/ 446 h 446"/>
                <a:gd name="T44" fmla="*/ 28 w 55"/>
                <a:gd name="T45" fmla="*/ 445 h 446"/>
                <a:gd name="T46" fmla="*/ 29 w 55"/>
                <a:gd name="T47" fmla="*/ 440 h 446"/>
                <a:gd name="T48" fmla="*/ 31 w 55"/>
                <a:gd name="T49" fmla="*/ 436 h 446"/>
                <a:gd name="T50" fmla="*/ 32 w 55"/>
                <a:gd name="T51" fmla="*/ 428 h 446"/>
                <a:gd name="T52" fmla="*/ 33 w 55"/>
                <a:gd name="T53" fmla="*/ 418 h 446"/>
                <a:gd name="T54" fmla="*/ 34 w 55"/>
                <a:gd name="T55" fmla="*/ 407 h 446"/>
                <a:gd name="T56" fmla="*/ 37 w 55"/>
                <a:gd name="T57" fmla="*/ 382 h 446"/>
                <a:gd name="T58" fmla="*/ 38 w 55"/>
                <a:gd name="T59" fmla="*/ 367 h 446"/>
                <a:gd name="T60" fmla="*/ 39 w 55"/>
                <a:gd name="T61" fmla="*/ 349 h 446"/>
                <a:gd name="T62" fmla="*/ 40 w 55"/>
                <a:gd name="T63" fmla="*/ 332 h 446"/>
                <a:gd name="T64" fmla="*/ 43 w 55"/>
                <a:gd name="T65" fmla="*/ 291 h 446"/>
                <a:gd name="T66" fmla="*/ 47 w 55"/>
                <a:gd name="T67" fmla="*/ 245 h 446"/>
                <a:gd name="T68" fmla="*/ 48 w 55"/>
                <a:gd name="T69" fmla="*/ 209 h 446"/>
                <a:gd name="T70" fmla="*/ 49 w 55"/>
                <a:gd name="T71" fmla="*/ 181 h 446"/>
                <a:gd name="T72" fmla="*/ 50 w 55"/>
                <a:gd name="T73" fmla="*/ 151 h 446"/>
                <a:gd name="T74" fmla="*/ 51 w 55"/>
                <a:gd name="T75" fmla="*/ 104 h 446"/>
                <a:gd name="T76" fmla="*/ 53 w 55"/>
                <a:gd name="T77" fmla="*/ 72 h 446"/>
                <a:gd name="T78" fmla="*/ 53 w 55"/>
                <a:gd name="T79" fmla="*/ 44 h 446"/>
                <a:gd name="T80" fmla="*/ 54 w 55"/>
                <a:gd name="T81" fmla="*/ 19 h 446"/>
                <a:gd name="T82" fmla="*/ 54 w 55"/>
                <a:gd name="T83" fmla="*/ 4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5" h="446">
                  <a:moveTo>
                    <a:pt x="0" y="0"/>
                  </a:moveTo>
                  <a:lnTo>
                    <a:pt x="0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40"/>
                  </a:lnTo>
                  <a:lnTo>
                    <a:pt x="1" y="55"/>
                  </a:lnTo>
                  <a:lnTo>
                    <a:pt x="2" y="70"/>
                  </a:lnTo>
                  <a:lnTo>
                    <a:pt x="2" y="84"/>
                  </a:lnTo>
                  <a:lnTo>
                    <a:pt x="4" y="101"/>
                  </a:lnTo>
                  <a:lnTo>
                    <a:pt x="5" y="134"/>
                  </a:lnTo>
                  <a:lnTo>
                    <a:pt x="5" y="150"/>
                  </a:lnTo>
                  <a:lnTo>
                    <a:pt x="6" y="165"/>
                  </a:lnTo>
                  <a:lnTo>
                    <a:pt x="7" y="181"/>
                  </a:lnTo>
                  <a:lnTo>
                    <a:pt x="7" y="196"/>
                  </a:lnTo>
                  <a:lnTo>
                    <a:pt x="9" y="209"/>
                  </a:lnTo>
                  <a:lnTo>
                    <a:pt x="9" y="221"/>
                  </a:lnTo>
                  <a:lnTo>
                    <a:pt x="10" y="245"/>
                  </a:lnTo>
                  <a:lnTo>
                    <a:pt x="11" y="269"/>
                  </a:lnTo>
                  <a:lnTo>
                    <a:pt x="12" y="290"/>
                  </a:lnTo>
                  <a:lnTo>
                    <a:pt x="13" y="312"/>
                  </a:lnTo>
                  <a:lnTo>
                    <a:pt x="15" y="332"/>
                  </a:lnTo>
                  <a:lnTo>
                    <a:pt x="15" y="340"/>
                  </a:lnTo>
                  <a:lnTo>
                    <a:pt x="16" y="349"/>
                  </a:lnTo>
                  <a:lnTo>
                    <a:pt x="16" y="358"/>
                  </a:lnTo>
                  <a:lnTo>
                    <a:pt x="17" y="367"/>
                  </a:lnTo>
                  <a:lnTo>
                    <a:pt x="17" y="375"/>
                  </a:lnTo>
                  <a:lnTo>
                    <a:pt x="18" y="382"/>
                  </a:lnTo>
                  <a:lnTo>
                    <a:pt x="18" y="396"/>
                  </a:lnTo>
                  <a:lnTo>
                    <a:pt x="20" y="407"/>
                  </a:lnTo>
                  <a:lnTo>
                    <a:pt x="21" y="413"/>
                  </a:lnTo>
                  <a:lnTo>
                    <a:pt x="21" y="418"/>
                  </a:lnTo>
                  <a:lnTo>
                    <a:pt x="22" y="424"/>
                  </a:lnTo>
                  <a:lnTo>
                    <a:pt x="22" y="428"/>
                  </a:lnTo>
                  <a:lnTo>
                    <a:pt x="23" y="431"/>
                  </a:lnTo>
                  <a:lnTo>
                    <a:pt x="23" y="436"/>
                  </a:lnTo>
                  <a:lnTo>
                    <a:pt x="24" y="439"/>
                  </a:lnTo>
                  <a:lnTo>
                    <a:pt x="24" y="440"/>
                  </a:lnTo>
                  <a:lnTo>
                    <a:pt x="26" y="443"/>
                  </a:lnTo>
                  <a:lnTo>
                    <a:pt x="26" y="445"/>
                  </a:lnTo>
                  <a:lnTo>
                    <a:pt x="27" y="445"/>
                  </a:lnTo>
                  <a:lnTo>
                    <a:pt x="27" y="446"/>
                  </a:lnTo>
                  <a:lnTo>
                    <a:pt x="27" y="445"/>
                  </a:lnTo>
                  <a:lnTo>
                    <a:pt x="28" y="445"/>
                  </a:lnTo>
                  <a:lnTo>
                    <a:pt x="28" y="443"/>
                  </a:lnTo>
                  <a:lnTo>
                    <a:pt x="29" y="440"/>
                  </a:lnTo>
                  <a:lnTo>
                    <a:pt x="29" y="439"/>
                  </a:lnTo>
                  <a:lnTo>
                    <a:pt x="31" y="436"/>
                  </a:lnTo>
                  <a:lnTo>
                    <a:pt x="31" y="431"/>
                  </a:lnTo>
                  <a:lnTo>
                    <a:pt x="32" y="428"/>
                  </a:lnTo>
                  <a:lnTo>
                    <a:pt x="32" y="424"/>
                  </a:lnTo>
                  <a:lnTo>
                    <a:pt x="33" y="418"/>
                  </a:lnTo>
                  <a:lnTo>
                    <a:pt x="33" y="413"/>
                  </a:lnTo>
                  <a:lnTo>
                    <a:pt x="34" y="407"/>
                  </a:lnTo>
                  <a:lnTo>
                    <a:pt x="36" y="396"/>
                  </a:lnTo>
                  <a:lnTo>
                    <a:pt x="37" y="382"/>
                  </a:lnTo>
                  <a:lnTo>
                    <a:pt x="37" y="375"/>
                  </a:lnTo>
                  <a:lnTo>
                    <a:pt x="38" y="367"/>
                  </a:lnTo>
                  <a:lnTo>
                    <a:pt x="38" y="358"/>
                  </a:lnTo>
                  <a:lnTo>
                    <a:pt x="39" y="349"/>
                  </a:lnTo>
                  <a:lnTo>
                    <a:pt x="39" y="340"/>
                  </a:lnTo>
                  <a:lnTo>
                    <a:pt x="40" y="332"/>
                  </a:lnTo>
                  <a:lnTo>
                    <a:pt x="42" y="312"/>
                  </a:lnTo>
                  <a:lnTo>
                    <a:pt x="43" y="291"/>
                  </a:lnTo>
                  <a:lnTo>
                    <a:pt x="45" y="269"/>
                  </a:lnTo>
                  <a:lnTo>
                    <a:pt x="47" y="245"/>
                  </a:lnTo>
                  <a:lnTo>
                    <a:pt x="48" y="223"/>
                  </a:lnTo>
                  <a:lnTo>
                    <a:pt x="48" y="209"/>
                  </a:lnTo>
                  <a:lnTo>
                    <a:pt x="49" y="196"/>
                  </a:lnTo>
                  <a:lnTo>
                    <a:pt x="49" y="181"/>
                  </a:lnTo>
                  <a:lnTo>
                    <a:pt x="50" y="166"/>
                  </a:lnTo>
                  <a:lnTo>
                    <a:pt x="50" y="151"/>
                  </a:lnTo>
                  <a:lnTo>
                    <a:pt x="50" y="135"/>
                  </a:lnTo>
                  <a:lnTo>
                    <a:pt x="51" y="104"/>
                  </a:lnTo>
                  <a:lnTo>
                    <a:pt x="53" y="89"/>
                  </a:lnTo>
                  <a:lnTo>
                    <a:pt x="53" y="72"/>
                  </a:lnTo>
                  <a:lnTo>
                    <a:pt x="53" y="58"/>
                  </a:lnTo>
                  <a:lnTo>
                    <a:pt x="53" y="44"/>
                  </a:lnTo>
                  <a:lnTo>
                    <a:pt x="54" y="31"/>
                  </a:lnTo>
                  <a:lnTo>
                    <a:pt x="54" y="19"/>
                  </a:lnTo>
                  <a:lnTo>
                    <a:pt x="54" y="8"/>
                  </a:lnTo>
                  <a:lnTo>
                    <a:pt x="54" y="4"/>
                  </a:lnTo>
                  <a:lnTo>
                    <a:pt x="55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14" name="Freeform 382"/>
            <p:cNvSpPr>
              <a:spLocks/>
            </p:cNvSpPr>
            <p:nvPr/>
          </p:nvSpPr>
          <p:spPr bwMode="auto">
            <a:xfrm>
              <a:off x="3003" y="1612"/>
              <a:ext cx="55" cy="224"/>
            </a:xfrm>
            <a:custGeom>
              <a:avLst/>
              <a:gdLst>
                <a:gd name="T0" fmla="*/ 0 w 55"/>
                <a:gd name="T1" fmla="*/ 3 h 446"/>
                <a:gd name="T2" fmla="*/ 0 w 55"/>
                <a:gd name="T3" fmla="*/ 11 h 446"/>
                <a:gd name="T4" fmla="*/ 0 w 55"/>
                <a:gd name="T5" fmla="*/ 22 h 446"/>
                <a:gd name="T6" fmla="*/ 2 w 55"/>
                <a:gd name="T7" fmla="*/ 40 h 446"/>
                <a:gd name="T8" fmla="*/ 3 w 55"/>
                <a:gd name="T9" fmla="*/ 70 h 446"/>
                <a:gd name="T10" fmla="*/ 4 w 55"/>
                <a:gd name="T11" fmla="*/ 101 h 446"/>
                <a:gd name="T12" fmla="*/ 5 w 55"/>
                <a:gd name="T13" fmla="*/ 150 h 446"/>
                <a:gd name="T14" fmla="*/ 8 w 55"/>
                <a:gd name="T15" fmla="*/ 181 h 446"/>
                <a:gd name="T16" fmla="*/ 9 w 55"/>
                <a:gd name="T17" fmla="*/ 209 h 446"/>
                <a:gd name="T18" fmla="*/ 10 w 55"/>
                <a:gd name="T19" fmla="*/ 245 h 446"/>
                <a:gd name="T20" fmla="*/ 13 w 55"/>
                <a:gd name="T21" fmla="*/ 290 h 446"/>
                <a:gd name="T22" fmla="*/ 15 w 55"/>
                <a:gd name="T23" fmla="*/ 332 h 446"/>
                <a:gd name="T24" fmla="*/ 16 w 55"/>
                <a:gd name="T25" fmla="*/ 349 h 446"/>
                <a:gd name="T26" fmla="*/ 17 w 55"/>
                <a:gd name="T27" fmla="*/ 367 h 446"/>
                <a:gd name="T28" fmla="*/ 19 w 55"/>
                <a:gd name="T29" fmla="*/ 382 h 446"/>
                <a:gd name="T30" fmla="*/ 20 w 55"/>
                <a:gd name="T31" fmla="*/ 407 h 446"/>
                <a:gd name="T32" fmla="*/ 21 w 55"/>
                <a:gd name="T33" fmla="*/ 418 h 446"/>
                <a:gd name="T34" fmla="*/ 22 w 55"/>
                <a:gd name="T35" fmla="*/ 428 h 446"/>
                <a:gd name="T36" fmla="*/ 24 w 55"/>
                <a:gd name="T37" fmla="*/ 436 h 446"/>
                <a:gd name="T38" fmla="*/ 25 w 55"/>
                <a:gd name="T39" fmla="*/ 440 h 446"/>
                <a:gd name="T40" fmla="*/ 26 w 55"/>
                <a:gd name="T41" fmla="*/ 445 h 446"/>
                <a:gd name="T42" fmla="*/ 27 w 55"/>
                <a:gd name="T43" fmla="*/ 446 h 446"/>
                <a:gd name="T44" fmla="*/ 29 w 55"/>
                <a:gd name="T45" fmla="*/ 445 h 446"/>
                <a:gd name="T46" fmla="*/ 30 w 55"/>
                <a:gd name="T47" fmla="*/ 440 h 446"/>
                <a:gd name="T48" fmla="*/ 31 w 55"/>
                <a:gd name="T49" fmla="*/ 436 h 446"/>
                <a:gd name="T50" fmla="*/ 32 w 55"/>
                <a:gd name="T51" fmla="*/ 428 h 446"/>
                <a:gd name="T52" fmla="*/ 33 w 55"/>
                <a:gd name="T53" fmla="*/ 418 h 446"/>
                <a:gd name="T54" fmla="*/ 35 w 55"/>
                <a:gd name="T55" fmla="*/ 407 h 446"/>
                <a:gd name="T56" fmla="*/ 37 w 55"/>
                <a:gd name="T57" fmla="*/ 382 h 446"/>
                <a:gd name="T58" fmla="*/ 38 w 55"/>
                <a:gd name="T59" fmla="*/ 367 h 446"/>
                <a:gd name="T60" fmla="*/ 40 w 55"/>
                <a:gd name="T61" fmla="*/ 349 h 446"/>
                <a:gd name="T62" fmla="*/ 41 w 55"/>
                <a:gd name="T63" fmla="*/ 332 h 446"/>
                <a:gd name="T64" fmla="*/ 43 w 55"/>
                <a:gd name="T65" fmla="*/ 291 h 446"/>
                <a:gd name="T66" fmla="*/ 47 w 55"/>
                <a:gd name="T67" fmla="*/ 245 h 446"/>
                <a:gd name="T68" fmla="*/ 48 w 55"/>
                <a:gd name="T69" fmla="*/ 209 h 446"/>
                <a:gd name="T70" fmla="*/ 49 w 55"/>
                <a:gd name="T71" fmla="*/ 181 h 446"/>
                <a:gd name="T72" fmla="*/ 51 w 55"/>
                <a:gd name="T73" fmla="*/ 151 h 446"/>
                <a:gd name="T74" fmla="*/ 52 w 55"/>
                <a:gd name="T75" fmla="*/ 104 h 446"/>
                <a:gd name="T76" fmla="*/ 53 w 55"/>
                <a:gd name="T77" fmla="*/ 72 h 446"/>
                <a:gd name="T78" fmla="*/ 53 w 55"/>
                <a:gd name="T79" fmla="*/ 44 h 446"/>
                <a:gd name="T80" fmla="*/ 54 w 55"/>
                <a:gd name="T81" fmla="*/ 19 h 446"/>
                <a:gd name="T82" fmla="*/ 54 w 55"/>
                <a:gd name="T83" fmla="*/ 4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5" h="446">
                  <a:moveTo>
                    <a:pt x="0" y="0"/>
                  </a:moveTo>
                  <a:lnTo>
                    <a:pt x="0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2" y="40"/>
                  </a:lnTo>
                  <a:lnTo>
                    <a:pt x="2" y="55"/>
                  </a:lnTo>
                  <a:lnTo>
                    <a:pt x="3" y="70"/>
                  </a:lnTo>
                  <a:lnTo>
                    <a:pt x="3" y="84"/>
                  </a:lnTo>
                  <a:lnTo>
                    <a:pt x="4" y="101"/>
                  </a:lnTo>
                  <a:lnTo>
                    <a:pt x="5" y="134"/>
                  </a:lnTo>
                  <a:lnTo>
                    <a:pt x="5" y="150"/>
                  </a:lnTo>
                  <a:lnTo>
                    <a:pt x="6" y="165"/>
                  </a:lnTo>
                  <a:lnTo>
                    <a:pt x="8" y="181"/>
                  </a:lnTo>
                  <a:lnTo>
                    <a:pt x="8" y="196"/>
                  </a:lnTo>
                  <a:lnTo>
                    <a:pt x="9" y="209"/>
                  </a:lnTo>
                  <a:lnTo>
                    <a:pt x="9" y="221"/>
                  </a:lnTo>
                  <a:lnTo>
                    <a:pt x="10" y="245"/>
                  </a:lnTo>
                  <a:lnTo>
                    <a:pt x="11" y="269"/>
                  </a:lnTo>
                  <a:lnTo>
                    <a:pt x="13" y="290"/>
                  </a:lnTo>
                  <a:lnTo>
                    <a:pt x="14" y="312"/>
                  </a:lnTo>
                  <a:lnTo>
                    <a:pt x="15" y="332"/>
                  </a:lnTo>
                  <a:lnTo>
                    <a:pt x="15" y="340"/>
                  </a:lnTo>
                  <a:lnTo>
                    <a:pt x="16" y="349"/>
                  </a:lnTo>
                  <a:lnTo>
                    <a:pt x="16" y="358"/>
                  </a:lnTo>
                  <a:lnTo>
                    <a:pt x="17" y="367"/>
                  </a:lnTo>
                  <a:lnTo>
                    <a:pt x="17" y="375"/>
                  </a:lnTo>
                  <a:lnTo>
                    <a:pt x="19" y="382"/>
                  </a:lnTo>
                  <a:lnTo>
                    <a:pt x="19" y="396"/>
                  </a:lnTo>
                  <a:lnTo>
                    <a:pt x="20" y="407"/>
                  </a:lnTo>
                  <a:lnTo>
                    <a:pt x="21" y="413"/>
                  </a:lnTo>
                  <a:lnTo>
                    <a:pt x="21" y="418"/>
                  </a:lnTo>
                  <a:lnTo>
                    <a:pt x="22" y="424"/>
                  </a:lnTo>
                  <a:lnTo>
                    <a:pt x="22" y="428"/>
                  </a:lnTo>
                  <a:lnTo>
                    <a:pt x="24" y="431"/>
                  </a:lnTo>
                  <a:lnTo>
                    <a:pt x="24" y="436"/>
                  </a:lnTo>
                  <a:lnTo>
                    <a:pt x="25" y="439"/>
                  </a:lnTo>
                  <a:lnTo>
                    <a:pt x="25" y="440"/>
                  </a:lnTo>
                  <a:lnTo>
                    <a:pt x="26" y="443"/>
                  </a:lnTo>
                  <a:lnTo>
                    <a:pt x="26" y="445"/>
                  </a:lnTo>
                  <a:lnTo>
                    <a:pt x="27" y="445"/>
                  </a:lnTo>
                  <a:lnTo>
                    <a:pt x="27" y="446"/>
                  </a:lnTo>
                  <a:lnTo>
                    <a:pt x="27" y="445"/>
                  </a:lnTo>
                  <a:lnTo>
                    <a:pt x="29" y="445"/>
                  </a:lnTo>
                  <a:lnTo>
                    <a:pt x="29" y="443"/>
                  </a:lnTo>
                  <a:lnTo>
                    <a:pt x="30" y="440"/>
                  </a:lnTo>
                  <a:lnTo>
                    <a:pt x="30" y="439"/>
                  </a:lnTo>
                  <a:lnTo>
                    <a:pt x="31" y="436"/>
                  </a:lnTo>
                  <a:lnTo>
                    <a:pt x="31" y="431"/>
                  </a:lnTo>
                  <a:lnTo>
                    <a:pt x="32" y="428"/>
                  </a:lnTo>
                  <a:lnTo>
                    <a:pt x="32" y="424"/>
                  </a:lnTo>
                  <a:lnTo>
                    <a:pt x="33" y="418"/>
                  </a:lnTo>
                  <a:lnTo>
                    <a:pt x="33" y="413"/>
                  </a:lnTo>
                  <a:lnTo>
                    <a:pt x="35" y="407"/>
                  </a:lnTo>
                  <a:lnTo>
                    <a:pt x="36" y="396"/>
                  </a:lnTo>
                  <a:lnTo>
                    <a:pt x="37" y="382"/>
                  </a:lnTo>
                  <a:lnTo>
                    <a:pt x="37" y="375"/>
                  </a:lnTo>
                  <a:lnTo>
                    <a:pt x="38" y="367"/>
                  </a:lnTo>
                  <a:lnTo>
                    <a:pt x="38" y="358"/>
                  </a:lnTo>
                  <a:lnTo>
                    <a:pt x="40" y="349"/>
                  </a:lnTo>
                  <a:lnTo>
                    <a:pt x="40" y="340"/>
                  </a:lnTo>
                  <a:lnTo>
                    <a:pt x="41" y="332"/>
                  </a:lnTo>
                  <a:lnTo>
                    <a:pt x="42" y="312"/>
                  </a:lnTo>
                  <a:lnTo>
                    <a:pt x="43" y="291"/>
                  </a:lnTo>
                  <a:lnTo>
                    <a:pt x="46" y="269"/>
                  </a:lnTo>
                  <a:lnTo>
                    <a:pt x="47" y="245"/>
                  </a:lnTo>
                  <a:lnTo>
                    <a:pt x="48" y="223"/>
                  </a:lnTo>
                  <a:lnTo>
                    <a:pt x="48" y="209"/>
                  </a:lnTo>
                  <a:lnTo>
                    <a:pt x="49" y="196"/>
                  </a:lnTo>
                  <a:lnTo>
                    <a:pt x="49" y="181"/>
                  </a:lnTo>
                  <a:lnTo>
                    <a:pt x="51" y="166"/>
                  </a:lnTo>
                  <a:lnTo>
                    <a:pt x="51" y="151"/>
                  </a:lnTo>
                  <a:lnTo>
                    <a:pt x="51" y="135"/>
                  </a:lnTo>
                  <a:lnTo>
                    <a:pt x="52" y="104"/>
                  </a:lnTo>
                  <a:lnTo>
                    <a:pt x="53" y="89"/>
                  </a:lnTo>
                  <a:lnTo>
                    <a:pt x="53" y="72"/>
                  </a:lnTo>
                  <a:lnTo>
                    <a:pt x="53" y="58"/>
                  </a:lnTo>
                  <a:lnTo>
                    <a:pt x="53" y="44"/>
                  </a:lnTo>
                  <a:lnTo>
                    <a:pt x="54" y="31"/>
                  </a:lnTo>
                  <a:lnTo>
                    <a:pt x="54" y="19"/>
                  </a:lnTo>
                  <a:lnTo>
                    <a:pt x="54" y="8"/>
                  </a:lnTo>
                  <a:lnTo>
                    <a:pt x="54" y="4"/>
                  </a:lnTo>
                  <a:lnTo>
                    <a:pt x="55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15" name="Freeform 383"/>
            <p:cNvSpPr>
              <a:spLocks/>
            </p:cNvSpPr>
            <p:nvPr/>
          </p:nvSpPr>
          <p:spPr bwMode="auto">
            <a:xfrm>
              <a:off x="3114" y="1612"/>
              <a:ext cx="55" cy="224"/>
            </a:xfrm>
            <a:custGeom>
              <a:avLst/>
              <a:gdLst>
                <a:gd name="T0" fmla="*/ 0 w 55"/>
                <a:gd name="T1" fmla="*/ 3 h 446"/>
                <a:gd name="T2" fmla="*/ 0 w 55"/>
                <a:gd name="T3" fmla="*/ 11 h 446"/>
                <a:gd name="T4" fmla="*/ 0 w 55"/>
                <a:gd name="T5" fmla="*/ 22 h 446"/>
                <a:gd name="T6" fmla="*/ 1 w 55"/>
                <a:gd name="T7" fmla="*/ 40 h 446"/>
                <a:gd name="T8" fmla="*/ 2 w 55"/>
                <a:gd name="T9" fmla="*/ 70 h 446"/>
                <a:gd name="T10" fmla="*/ 3 w 55"/>
                <a:gd name="T11" fmla="*/ 101 h 446"/>
                <a:gd name="T12" fmla="*/ 5 w 55"/>
                <a:gd name="T13" fmla="*/ 150 h 446"/>
                <a:gd name="T14" fmla="*/ 7 w 55"/>
                <a:gd name="T15" fmla="*/ 181 h 446"/>
                <a:gd name="T16" fmla="*/ 8 w 55"/>
                <a:gd name="T17" fmla="*/ 209 h 446"/>
                <a:gd name="T18" fmla="*/ 9 w 55"/>
                <a:gd name="T19" fmla="*/ 245 h 446"/>
                <a:gd name="T20" fmla="*/ 12 w 55"/>
                <a:gd name="T21" fmla="*/ 290 h 446"/>
                <a:gd name="T22" fmla="*/ 14 w 55"/>
                <a:gd name="T23" fmla="*/ 332 h 446"/>
                <a:gd name="T24" fmla="*/ 16 w 55"/>
                <a:gd name="T25" fmla="*/ 349 h 446"/>
                <a:gd name="T26" fmla="*/ 17 w 55"/>
                <a:gd name="T27" fmla="*/ 367 h 446"/>
                <a:gd name="T28" fmla="*/ 18 w 55"/>
                <a:gd name="T29" fmla="*/ 382 h 446"/>
                <a:gd name="T30" fmla="*/ 19 w 55"/>
                <a:gd name="T31" fmla="*/ 407 h 446"/>
                <a:gd name="T32" fmla="*/ 20 w 55"/>
                <a:gd name="T33" fmla="*/ 418 h 446"/>
                <a:gd name="T34" fmla="*/ 22 w 55"/>
                <a:gd name="T35" fmla="*/ 428 h 446"/>
                <a:gd name="T36" fmla="*/ 23 w 55"/>
                <a:gd name="T37" fmla="*/ 436 h 446"/>
                <a:gd name="T38" fmla="*/ 24 w 55"/>
                <a:gd name="T39" fmla="*/ 440 h 446"/>
                <a:gd name="T40" fmla="*/ 25 w 55"/>
                <a:gd name="T41" fmla="*/ 445 h 446"/>
                <a:gd name="T42" fmla="*/ 27 w 55"/>
                <a:gd name="T43" fmla="*/ 446 h 446"/>
                <a:gd name="T44" fmla="*/ 28 w 55"/>
                <a:gd name="T45" fmla="*/ 445 h 446"/>
                <a:gd name="T46" fmla="*/ 29 w 55"/>
                <a:gd name="T47" fmla="*/ 440 h 446"/>
                <a:gd name="T48" fmla="*/ 30 w 55"/>
                <a:gd name="T49" fmla="*/ 436 h 446"/>
                <a:gd name="T50" fmla="*/ 32 w 55"/>
                <a:gd name="T51" fmla="*/ 428 h 446"/>
                <a:gd name="T52" fmla="*/ 33 w 55"/>
                <a:gd name="T53" fmla="*/ 418 h 446"/>
                <a:gd name="T54" fmla="*/ 34 w 55"/>
                <a:gd name="T55" fmla="*/ 407 h 446"/>
                <a:gd name="T56" fmla="*/ 36 w 55"/>
                <a:gd name="T57" fmla="*/ 382 h 446"/>
                <a:gd name="T58" fmla="*/ 38 w 55"/>
                <a:gd name="T59" fmla="*/ 367 h 446"/>
                <a:gd name="T60" fmla="*/ 39 w 55"/>
                <a:gd name="T61" fmla="*/ 349 h 446"/>
                <a:gd name="T62" fmla="*/ 40 w 55"/>
                <a:gd name="T63" fmla="*/ 332 h 446"/>
                <a:gd name="T64" fmla="*/ 43 w 55"/>
                <a:gd name="T65" fmla="*/ 291 h 446"/>
                <a:gd name="T66" fmla="*/ 46 w 55"/>
                <a:gd name="T67" fmla="*/ 245 h 446"/>
                <a:gd name="T68" fmla="*/ 47 w 55"/>
                <a:gd name="T69" fmla="*/ 209 h 446"/>
                <a:gd name="T70" fmla="*/ 49 w 55"/>
                <a:gd name="T71" fmla="*/ 181 h 446"/>
                <a:gd name="T72" fmla="*/ 50 w 55"/>
                <a:gd name="T73" fmla="*/ 151 h 446"/>
                <a:gd name="T74" fmla="*/ 51 w 55"/>
                <a:gd name="T75" fmla="*/ 104 h 446"/>
                <a:gd name="T76" fmla="*/ 52 w 55"/>
                <a:gd name="T77" fmla="*/ 72 h 446"/>
                <a:gd name="T78" fmla="*/ 52 w 55"/>
                <a:gd name="T79" fmla="*/ 44 h 446"/>
                <a:gd name="T80" fmla="*/ 54 w 55"/>
                <a:gd name="T81" fmla="*/ 19 h 446"/>
                <a:gd name="T82" fmla="*/ 54 w 55"/>
                <a:gd name="T83" fmla="*/ 4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5" h="446">
                  <a:moveTo>
                    <a:pt x="0" y="0"/>
                  </a:moveTo>
                  <a:lnTo>
                    <a:pt x="0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40"/>
                  </a:lnTo>
                  <a:lnTo>
                    <a:pt x="1" y="55"/>
                  </a:lnTo>
                  <a:lnTo>
                    <a:pt x="2" y="70"/>
                  </a:lnTo>
                  <a:lnTo>
                    <a:pt x="2" y="84"/>
                  </a:lnTo>
                  <a:lnTo>
                    <a:pt x="3" y="101"/>
                  </a:lnTo>
                  <a:lnTo>
                    <a:pt x="5" y="134"/>
                  </a:lnTo>
                  <a:lnTo>
                    <a:pt x="5" y="150"/>
                  </a:lnTo>
                  <a:lnTo>
                    <a:pt x="6" y="165"/>
                  </a:lnTo>
                  <a:lnTo>
                    <a:pt x="7" y="181"/>
                  </a:lnTo>
                  <a:lnTo>
                    <a:pt x="7" y="196"/>
                  </a:lnTo>
                  <a:lnTo>
                    <a:pt x="8" y="209"/>
                  </a:lnTo>
                  <a:lnTo>
                    <a:pt x="8" y="221"/>
                  </a:lnTo>
                  <a:lnTo>
                    <a:pt x="9" y="245"/>
                  </a:lnTo>
                  <a:lnTo>
                    <a:pt x="11" y="269"/>
                  </a:lnTo>
                  <a:lnTo>
                    <a:pt x="12" y="290"/>
                  </a:lnTo>
                  <a:lnTo>
                    <a:pt x="13" y="312"/>
                  </a:lnTo>
                  <a:lnTo>
                    <a:pt x="14" y="332"/>
                  </a:lnTo>
                  <a:lnTo>
                    <a:pt x="14" y="340"/>
                  </a:lnTo>
                  <a:lnTo>
                    <a:pt x="16" y="349"/>
                  </a:lnTo>
                  <a:lnTo>
                    <a:pt x="16" y="358"/>
                  </a:lnTo>
                  <a:lnTo>
                    <a:pt x="17" y="367"/>
                  </a:lnTo>
                  <a:lnTo>
                    <a:pt x="17" y="375"/>
                  </a:lnTo>
                  <a:lnTo>
                    <a:pt x="18" y="382"/>
                  </a:lnTo>
                  <a:lnTo>
                    <a:pt x="18" y="396"/>
                  </a:lnTo>
                  <a:lnTo>
                    <a:pt x="19" y="407"/>
                  </a:lnTo>
                  <a:lnTo>
                    <a:pt x="20" y="413"/>
                  </a:lnTo>
                  <a:lnTo>
                    <a:pt x="20" y="418"/>
                  </a:lnTo>
                  <a:lnTo>
                    <a:pt x="22" y="424"/>
                  </a:lnTo>
                  <a:lnTo>
                    <a:pt x="22" y="428"/>
                  </a:lnTo>
                  <a:lnTo>
                    <a:pt x="23" y="431"/>
                  </a:lnTo>
                  <a:lnTo>
                    <a:pt x="23" y="436"/>
                  </a:lnTo>
                  <a:lnTo>
                    <a:pt x="24" y="439"/>
                  </a:lnTo>
                  <a:lnTo>
                    <a:pt x="24" y="440"/>
                  </a:lnTo>
                  <a:lnTo>
                    <a:pt x="25" y="443"/>
                  </a:lnTo>
                  <a:lnTo>
                    <a:pt x="25" y="445"/>
                  </a:lnTo>
                  <a:lnTo>
                    <a:pt x="27" y="445"/>
                  </a:lnTo>
                  <a:lnTo>
                    <a:pt x="27" y="446"/>
                  </a:lnTo>
                  <a:lnTo>
                    <a:pt x="27" y="445"/>
                  </a:lnTo>
                  <a:lnTo>
                    <a:pt x="28" y="445"/>
                  </a:lnTo>
                  <a:lnTo>
                    <a:pt x="28" y="443"/>
                  </a:lnTo>
                  <a:lnTo>
                    <a:pt x="29" y="440"/>
                  </a:lnTo>
                  <a:lnTo>
                    <a:pt x="29" y="439"/>
                  </a:lnTo>
                  <a:lnTo>
                    <a:pt x="30" y="436"/>
                  </a:lnTo>
                  <a:lnTo>
                    <a:pt x="30" y="431"/>
                  </a:lnTo>
                  <a:lnTo>
                    <a:pt x="32" y="428"/>
                  </a:lnTo>
                  <a:lnTo>
                    <a:pt x="32" y="424"/>
                  </a:lnTo>
                  <a:lnTo>
                    <a:pt x="33" y="418"/>
                  </a:lnTo>
                  <a:lnTo>
                    <a:pt x="33" y="413"/>
                  </a:lnTo>
                  <a:lnTo>
                    <a:pt x="34" y="407"/>
                  </a:lnTo>
                  <a:lnTo>
                    <a:pt x="35" y="396"/>
                  </a:lnTo>
                  <a:lnTo>
                    <a:pt x="36" y="382"/>
                  </a:lnTo>
                  <a:lnTo>
                    <a:pt x="36" y="375"/>
                  </a:lnTo>
                  <a:lnTo>
                    <a:pt x="38" y="367"/>
                  </a:lnTo>
                  <a:lnTo>
                    <a:pt x="38" y="358"/>
                  </a:lnTo>
                  <a:lnTo>
                    <a:pt x="39" y="349"/>
                  </a:lnTo>
                  <a:lnTo>
                    <a:pt x="39" y="340"/>
                  </a:lnTo>
                  <a:lnTo>
                    <a:pt x="40" y="332"/>
                  </a:lnTo>
                  <a:lnTo>
                    <a:pt x="41" y="312"/>
                  </a:lnTo>
                  <a:lnTo>
                    <a:pt x="43" y="291"/>
                  </a:lnTo>
                  <a:lnTo>
                    <a:pt x="45" y="269"/>
                  </a:lnTo>
                  <a:lnTo>
                    <a:pt x="46" y="245"/>
                  </a:lnTo>
                  <a:lnTo>
                    <a:pt x="47" y="223"/>
                  </a:lnTo>
                  <a:lnTo>
                    <a:pt x="47" y="209"/>
                  </a:lnTo>
                  <a:lnTo>
                    <a:pt x="49" y="196"/>
                  </a:lnTo>
                  <a:lnTo>
                    <a:pt x="49" y="181"/>
                  </a:lnTo>
                  <a:lnTo>
                    <a:pt x="50" y="166"/>
                  </a:lnTo>
                  <a:lnTo>
                    <a:pt x="50" y="151"/>
                  </a:lnTo>
                  <a:lnTo>
                    <a:pt x="50" y="135"/>
                  </a:lnTo>
                  <a:lnTo>
                    <a:pt x="51" y="104"/>
                  </a:lnTo>
                  <a:lnTo>
                    <a:pt x="52" y="89"/>
                  </a:lnTo>
                  <a:lnTo>
                    <a:pt x="52" y="72"/>
                  </a:lnTo>
                  <a:lnTo>
                    <a:pt x="52" y="58"/>
                  </a:lnTo>
                  <a:lnTo>
                    <a:pt x="52" y="44"/>
                  </a:lnTo>
                  <a:lnTo>
                    <a:pt x="54" y="31"/>
                  </a:lnTo>
                  <a:lnTo>
                    <a:pt x="54" y="19"/>
                  </a:lnTo>
                  <a:lnTo>
                    <a:pt x="54" y="8"/>
                  </a:lnTo>
                  <a:lnTo>
                    <a:pt x="54" y="4"/>
                  </a:lnTo>
                  <a:lnTo>
                    <a:pt x="55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16" name="Freeform 384"/>
            <p:cNvSpPr>
              <a:spLocks/>
            </p:cNvSpPr>
            <p:nvPr/>
          </p:nvSpPr>
          <p:spPr bwMode="auto">
            <a:xfrm>
              <a:off x="3279" y="1389"/>
              <a:ext cx="55" cy="223"/>
            </a:xfrm>
            <a:custGeom>
              <a:avLst/>
              <a:gdLst>
                <a:gd name="T0" fmla="*/ 0 w 55"/>
                <a:gd name="T1" fmla="*/ 442 h 447"/>
                <a:gd name="T2" fmla="*/ 0 w 55"/>
                <a:gd name="T3" fmla="*/ 433 h 447"/>
                <a:gd name="T4" fmla="*/ 0 w 55"/>
                <a:gd name="T5" fmla="*/ 423 h 447"/>
                <a:gd name="T6" fmla="*/ 1 w 55"/>
                <a:gd name="T7" fmla="*/ 405 h 447"/>
                <a:gd name="T8" fmla="*/ 3 w 55"/>
                <a:gd name="T9" fmla="*/ 377 h 447"/>
                <a:gd name="T10" fmla="*/ 4 w 55"/>
                <a:gd name="T11" fmla="*/ 344 h 447"/>
                <a:gd name="T12" fmla="*/ 5 w 55"/>
                <a:gd name="T13" fmla="*/ 296 h 447"/>
                <a:gd name="T14" fmla="*/ 8 w 55"/>
                <a:gd name="T15" fmla="*/ 263 h 447"/>
                <a:gd name="T16" fmla="*/ 9 w 55"/>
                <a:gd name="T17" fmla="*/ 235 h 447"/>
                <a:gd name="T18" fmla="*/ 10 w 55"/>
                <a:gd name="T19" fmla="*/ 199 h 447"/>
                <a:gd name="T20" fmla="*/ 12 w 55"/>
                <a:gd name="T21" fmla="*/ 155 h 447"/>
                <a:gd name="T22" fmla="*/ 15 w 55"/>
                <a:gd name="T23" fmla="*/ 113 h 447"/>
                <a:gd name="T24" fmla="*/ 16 w 55"/>
                <a:gd name="T25" fmla="*/ 95 h 447"/>
                <a:gd name="T26" fmla="*/ 17 w 55"/>
                <a:gd name="T27" fmla="*/ 77 h 447"/>
                <a:gd name="T28" fmla="*/ 19 w 55"/>
                <a:gd name="T29" fmla="*/ 62 h 447"/>
                <a:gd name="T30" fmla="*/ 20 w 55"/>
                <a:gd name="T31" fmla="*/ 37 h 447"/>
                <a:gd name="T32" fmla="*/ 21 w 55"/>
                <a:gd name="T33" fmla="*/ 27 h 447"/>
                <a:gd name="T34" fmla="*/ 22 w 55"/>
                <a:gd name="T35" fmla="*/ 16 h 447"/>
                <a:gd name="T36" fmla="*/ 23 w 55"/>
                <a:gd name="T37" fmla="*/ 9 h 447"/>
                <a:gd name="T38" fmla="*/ 25 w 55"/>
                <a:gd name="T39" fmla="*/ 4 h 447"/>
                <a:gd name="T40" fmla="*/ 26 w 55"/>
                <a:gd name="T41" fmla="*/ 0 h 447"/>
                <a:gd name="T42" fmla="*/ 27 w 55"/>
                <a:gd name="T43" fmla="*/ 0 h 447"/>
                <a:gd name="T44" fmla="*/ 28 w 55"/>
                <a:gd name="T45" fmla="*/ 0 h 447"/>
                <a:gd name="T46" fmla="*/ 30 w 55"/>
                <a:gd name="T47" fmla="*/ 4 h 447"/>
                <a:gd name="T48" fmla="*/ 31 w 55"/>
                <a:gd name="T49" fmla="*/ 9 h 447"/>
                <a:gd name="T50" fmla="*/ 32 w 55"/>
                <a:gd name="T51" fmla="*/ 18 h 447"/>
                <a:gd name="T52" fmla="*/ 33 w 55"/>
                <a:gd name="T53" fmla="*/ 27 h 447"/>
                <a:gd name="T54" fmla="*/ 34 w 55"/>
                <a:gd name="T55" fmla="*/ 37 h 447"/>
                <a:gd name="T56" fmla="*/ 37 w 55"/>
                <a:gd name="T57" fmla="*/ 62 h 447"/>
                <a:gd name="T58" fmla="*/ 38 w 55"/>
                <a:gd name="T59" fmla="*/ 77 h 447"/>
                <a:gd name="T60" fmla="*/ 39 w 55"/>
                <a:gd name="T61" fmla="*/ 95 h 447"/>
                <a:gd name="T62" fmla="*/ 41 w 55"/>
                <a:gd name="T63" fmla="*/ 113 h 447"/>
                <a:gd name="T64" fmla="*/ 43 w 55"/>
                <a:gd name="T65" fmla="*/ 153 h 447"/>
                <a:gd name="T66" fmla="*/ 47 w 55"/>
                <a:gd name="T67" fmla="*/ 199 h 447"/>
                <a:gd name="T68" fmla="*/ 48 w 55"/>
                <a:gd name="T69" fmla="*/ 235 h 447"/>
                <a:gd name="T70" fmla="*/ 49 w 55"/>
                <a:gd name="T71" fmla="*/ 263 h 447"/>
                <a:gd name="T72" fmla="*/ 50 w 55"/>
                <a:gd name="T73" fmla="*/ 293 h 447"/>
                <a:gd name="T74" fmla="*/ 52 w 55"/>
                <a:gd name="T75" fmla="*/ 341 h 447"/>
                <a:gd name="T76" fmla="*/ 53 w 55"/>
                <a:gd name="T77" fmla="*/ 372 h 447"/>
                <a:gd name="T78" fmla="*/ 53 w 55"/>
                <a:gd name="T79" fmla="*/ 400 h 447"/>
                <a:gd name="T80" fmla="*/ 54 w 55"/>
                <a:gd name="T81" fmla="*/ 426 h 447"/>
                <a:gd name="T82" fmla="*/ 54 w 55"/>
                <a:gd name="T83" fmla="*/ 44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5" h="447">
                  <a:moveTo>
                    <a:pt x="0" y="447"/>
                  </a:moveTo>
                  <a:lnTo>
                    <a:pt x="0" y="442"/>
                  </a:lnTo>
                  <a:lnTo>
                    <a:pt x="0" y="438"/>
                  </a:lnTo>
                  <a:lnTo>
                    <a:pt x="0" y="433"/>
                  </a:lnTo>
                  <a:lnTo>
                    <a:pt x="0" y="429"/>
                  </a:lnTo>
                  <a:lnTo>
                    <a:pt x="0" y="423"/>
                  </a:lnTo>
                  <a:lnTo>
                    <a:pt x="0" y="417"/>
                  </a:lnTo>
                  <a:lnTo>
                    <a:pt x="1" y="405"/>
                  </a:lnTo>
                  <a:lnTo>
                    <a:pt x="1" y="390"/>
                  </a:lnTo>
                  <a:lnTo>
                    <a:pt x="3" y="377"/>
                  </a:lnTo>
                  <a:lnTo>
                    <a:pt x="3" y="360"/>
                  </a:lnTo>
                  <a:lnTo>
                    <a:pt x="4" y="344"/>
                  </a:lnTo>
                  <a:lnTo>
                    <a:pt x="5" y="311"/>
                  </a:lnTo>
                  <a:lnTo>
                    <a:pt x="5" y="296"/>
                  </a:lnTo>
                  <a:lnTo>
                    <a:pt x="6" y="280"/>
                  </a:lnTo>
                  <a:lnTo>
                    <a:pt x="8" y="263"/>
                  </a:lnTo>
                  <a:lnTo>
                    <a:pt x="8" y="250"/>
                  </a:lnTo>
                  <a:lnTo>
                    <a:pt x="9" y="235"/>
                  </a:lnTo>
                  <a:lnTo>
                    <a:pt x="9" y="223"/>
                  </a:lnTo>
                  <a:lnTo>
                    <a:pt x="10" y="199"/>
                  </a:lnTo>
                  <a:lnTo>
                    <a:pt x="11" y="177"/>
                  </a:lnTo>
                  <a:lnTo>
                    <a:pt x="12" y="155"/>
                  </a:lnTo>
                  <a:lnTo>
                    <a:pt x="14" y="132"/>
                  </a:lnTo>
                  <a:lnTo>
                    <a:pt x="15" y="113"/>
                  </a:lnTo>
                  <a:lnTo>
                    <a:pt x="15" y="104"/>
                  </a:lnTo>
                  <a:lnTo>
                    <a:pt x="16" y="95"/>
                  </a:lnTo>
                  <a:lnTo>
                    <a:pt x="16" y="86"/>
                  </a:lnTo>
                  <a:lnTo>
                    <a:pt x="17" y="77"/>
                  </a:lnTo>
                  <a:lnTo>
                    <a:pt x="17" y="70"/>
                  </a:lnTo>
                  <a:lnTo>
                    <a:pt x="19" y="62"/>
                  </a:lnTo>
                  <a:lnTo>
                    <a:pt x="19" y="49"/>
                  </a:lnTo>
                  <a:lnTo>
                    <a:pt x="20" y="37"/>
                  </a:lnTo>
                  <a:lnTo>
                    <a:pt x="21" y="31"/>
                  </a:lnTo>
                  <a:lnTo>
                    <a:pt x="21" y="27"/>
                  </a:lnTo>
                  <a:lnTo>
                    <a:pt x="22" y="21"/>
                  </a:lnTo>
                  <a:lnTo>
                    <a:pt x="22" y="16"/>
                  </a:lnTo>
                  <a:lnTo>
                    <a:pt x="23" y="13"/>
                  </a:lnTo>
                  <a:lnTo>
                    <a:pt x="23" y="9"/>
                  </a:lnTo>
                  <a:lnTo>
                    <a:pt x="25" y="6"/>
                  </a:lnTo>
                  <a:lnTo>
                    <a:pt x="25" y="4"/>
                  </a:lnTo>
                  <a:lnTo>
                    <a:pt x="26" y="1"/>
                  </a:lnTo>
                  <a:lnTo>
                    <a:pt x="26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8" y="0"/>
                  </a:lnTo>
                  <a:lnTo>
                    <a:pt x="28" y="1"/>
                  </a:lnTo>
                  <a:lnTo>
                    <a:pt x="30" y="4"/>
                  </a:lnTo>
                  <a:lnTo>
                    <a:pt x="30" y="6"/>
                  </a:lnTo>
                  <a:lnTo>
                    <a:pt x="31" y="9"/>
                  </a:lnTo>
                  <a:lnTo>
                    <a:pt x="31" y="13"/>
                  </a:lnTo>
                  <a:lnTo>
                    <a:pt x="32" y="18"/>
                  </a:lnTo>
                  <a:lnTo>
                    <a:pt x="32" y="22"/>
                  </a:lnTo>
                  <a:lnTo>
                    <a:pt x="33" y="27"/>
                  </a:lnTo>
                  <a:lnTo>
                    <a:pt x="33" y="31"/>
                  </a:lnTo>
                  <a:lnTo>
                    <a:pt x="34" y="37"/>
                  </a:lnTo>
                  <a:lnTo>
                    <a:pt x="36" y="49"/>
                  </a:lnTo>
                  <a:lnTo>
                    <a:pt x="37" y="62"/>
                  </a:lnTo>
                  <a:lnTo>
                    <a:pt x="37" y="70"/>
                  </a:lnTo>
                  <a:lnTo>
                    <a:pt x="38" y="77"/>
                  </a:lnTo>
                  <a:lnTo>
                    <a:pt x="38" y="86"/>
                  </a:lnTo>
                  <a:lnTo>
                    <a:pt x="39" y="95"/>
                  </a:lnTo>
                  <a:lnTo>
                    <a:pt x="39" y="104"/>
                  </a:lnTo>
                  <a:lnTo>
                    <a:pt x="41" y="113"/>
                  </a:lnTo>
                  <a:lnTo>
                    <a:pt x="42" y="132"/>
                  </a:lnTo>
                  <a:lnTo>
                    <a:pt x="43" y="153"/>
                  </a:lnTo>
                  <a:lnTo>
                    <a:pt x="46" y="176"/>
                  </a:lnTo>
                  <a:lnTo>
                    <a:pt x="47" y="199"/>
                  </a:lnTo>
                  <a:lnTo>
                    <a:pt x="48" y="223"/>
                  </a:lnTo>
                  <a:lnTo>
                    <a:pt x="48" y="235"/>
                  </a:lnTo>
                  <a:lnTo>
                    <a:pt x="49" y="249"/>
                  </a:lnTo>
                  <a:lnTo>
                    <a:pt x="49" y="263"/>
                  </a:lnTo>
                  <a:lnTo>
                    <a:pt x="50" y="278"/>
                  </a:lnTo>
                  <a:lnTo>
                    <a:pt x="50" y="293"/>
                  </a:lnTo>
                  <a:lnTo>
                    <a:pt x="50" y="310"/>
                  </a:lnTo>
                  <a:lnTo>
                    <a:pt x="52" y="341"/>
                  </a:lnTo>
                  <a:lnTo>
                    <a:pt x="53" y="356"/>
                  </a:lnTo>
                  <a:lnTo>
                    <a:pt x="53" y="372"/>
                  </a:lnTo>
                  <a:lnTo>
                    <a:pt x="53" y="387"/>
                  </a:lnTo>
                  <a:lnTo>
                    <a:pt x="53" y="400"/>
                  </a:lnTo>
                  <a:lnTo>
                    <a:pt x="54" y="414"/>
                  </a:lnTo>
                  <a:lnTo>
                    <a:pt x="54" y="426"/>
                  </a:lnTo>
                  <a:lnTo>
                    <a:pt x="54" y="436"/>
                  </a:lnTo>
                  <a:lnTo>
                    <a:pt x="54" y="441"/>
                  </a:lnTo>
                  <a:lnTo>
                    <a:pt x="55" y="447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17" name="Freeform 385"/>
            <p:cNvSpPr>
              <a:spLocks/>
            </p:cNvSpPr>
            <p:nvPr/>
          </p:nvSpPr>
          <p:spPr bwMode="auto">
            <a:xfrm>
              <a:off x="3224" y="1612"/>
              <a:ext cx="55" cy="224"/>
            </a:xfrm>
            <a:custGeom>
              <a:avLst/>
              <a:gdLst>
                <a:gd name="T0" fmla="*/ 0 w 55"/>
                <a:gd name="T1" fmla="*/ 3 h 446"/>
                <a:gd name="T2" fmla="*/ 0 w 55"/>
                <a:gd name="T3" fmla="*/ 11 h 446"/>
                <a:gd name="T4" fmla="*/ 0 w 55"/>
                <a:gd name="T5" fmla="*/ 22 h 446"/>
                <a:gd name="T6" fmla="*/ 1 w 55"/>
                <a:gd name="T7" fmla="*/ 40 h 446"/>
                <a:gd name="T8" fmla="*/ 2 w 55"/>
                <a:gd name="T9" fmla="*/ 70 h 446"/>
                <a:gd name="T10" fmla="*/ 4 w 55"/>
                <a:gd name="T11" fmla="*/ 101 h 446"/>
                <a:gd name="T12" fmla="*/ 5 w 55"/>
                <a:gd name="T13" fmla="*/ 150 h 446"/>
                <a:gd name="T14" fmla="*/ 7 w 55"/>
                <a:gd name="T15" fmla="*/ 181 h 446"/>
                <a:gd name="T16" fmla="*/ 9 w 55"/>
                <a:gd name="T17" fmla="*/ 209 h 446"/>
                <a:gd name="T18" fmla="*/ 10 w 55"/>
                <a:gd name="T19" fmla="*/ 245 h 446"/>
                <a:gd name="T20" fmla="*/ 12 w 55"/>
                <a:gd name="T21" fmla="*/ 290 h 446"/>
                <a:gd name="T22" fmla="*/ 15 w 55"/>
                <a:gd name="T23" fmla="*/ 332 h 446"/>
                <a:gd name="T24" fmla="*/ 16 w 55"/>
                <a:gd name="T25" fmla="*/ 349 h 446"/>
                <a:gd name="T26" fmla="*/ 17 w 55"/>
                <a:gd name="T27" fmla="*/ 367 h 446"/>
                <a:gd name="T28" fmla="*/ 18 w 55"/>
                <a:gd name="T29" fmla="*/ 382 h 446"/>
                <a:gd name="T30" fmla="*/ 20 w 55"/>
                <a:gd name="T31" fmla="*/ 407 h 446"/>
                <a:gd name="T32" fmla="*/ 21 w 55"/>
                <a:gd name="T33" fmla="*/ 418 h 446"/>
                <a:gd name="T34" fmla="*/ 22 w 55"/>
                <a:gd name="T35" fmla="*/ 428 h 446"/>
                <a:gd name="T36" fmla="*/ 23 w 55"/>
                <a:gd name="T37" fmla="*/ 436 h 446"/>
                <a:gd name="T38" fmla="*/ 25 w 55"/>
                <a:gd name="T39" fmla="*/ 440 h 446"/>
                <a:gd name="T40" fmla="*/ 26 w 55"/>
                <a:gd name="T41" fmla="*/ 445 h 446"/>
                <a:gd name="T42" fmla="*/ 27 w 55"/>
                <a:gd name="T43" fmla="*/ 446 h 446"/>
                <a:gd name="T44" fmla="*/ 28 w 55"/>
                <a:gd name="T45" fmla="*/ 445 h 446"/>
                <a:gd name="T46" fmla="*/ 29 w 55"/>
                <a:gd name="T47" fmla="*/ 440 h 446"/>
                <a:gd name="T48" fmla="*/ 31 w 55"/>
                <a:gd name="T49" fmla="*/ 436 h 446"/>
                <a:gd name="T50" fmla="*/ 32 w 55"/>
                <a:gd name="T51" fmla="*/ 428 h 446"/>
                <a:gd name="T52" fmla="*/ 33 w 55"/>
                <a:gd name="T53" fmla="*/ 418 h 446"/>
                <a:gd name="T54" fmla="*/ 34 w 55"/>
                <a:gd name="T55" fmla="*/ 407 h 446"/>
                <a:gd name="T56" fmla="*/ 37 w 55"/>
                <a:gd name="T57" fmla="*/ 382 h 446"/>
                <a:gd name="T58" fmla="*/ 38 w 55"/>
                <a:gd name="T59" fmla="*/ 367 h 446"/>
                <a:gd name="T60" fmla="*/ 39 w 55"/>
                <a:gd name="T61" fmla="*/ 349 h 446"/>
                <a:gd name="T62" fmla="*/ 40 w 55"/>
                <a:gd name="T63" fmla="*/ 332 h 446"/>
                <a:gd name="T64" fmla="*/ 43 w 55"/>
                <a:gd name="T65" fmla="*/ 291 h 446"/>
                <a:gd name="T66" fmla="*/ 47 w 55"/>
                <a:gd name="T67" fmla="*/ 245 h 446"/>
                <a:gd name="T68" fmla="*/ 48 w 55"/>
                <a:gd name="T69" fmla="*/ 209 h 446"/>
                <a:gd name="T70" fmla="*/ 49 w 55"/>
                <a:gd name="T71" fmla="*/ 181 h 446"/>
                <a:gd name="T72" fmla="*/ 50 w 55"/>
                <a:gd name="T73" fmla="*/ 151 h 446"/>
                <a:gd name="T74" fmla="*/ 51 w 55"/>
                <a:gd name="T75" fmla="*/ 104 h 446"/>
                <a:gd name="T76" fmla="*/ 53 w 55"/>
                <a:gd name="T77" fmla="*/ 72 h 446"/>
                <a:gd name="T78" fmla="*/ 53 w 55"/>
                <a:gd name="T79" fmla="*/ 44 h 446"/>
                <a:gd name="T80" fmla="*/ 54 w 55"/>
                <a:gd name="T81" fmla="*/ 19 h 446"/>
                <a:gd name="T82" fmla="*/ 54 w 55"/>
                <a:gd name="T83" fmla="*/ 4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5" h="446">
                  <a:moveTo>
                    <a:pt x="0" y="0"/>
                  </a:moveTo>
                  <a:lnTo>
                    <a:pt x="0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40"/>
                  </a:lnTo>
                  <a:lnTo>
                    <a:pt x="1" y="55"/>
                  </a:lnTo>
                  <a:lnTo>
                    <a:pt x="2" y="70"/>
                  </a:lnTo>
                  <a:lnTo>
                    <a:pt x="2" y="84"/>
                  </a:lnTo>
                  <a:lnTo>
                    <a:pt x="4" y="101"/>
                  </a:lnTo>
                  <a:lnTo>
                    <a:pt x="5" y="134"/>
                  </a:lnTo>
                  <a:lnTo>
                    <a:pt x="5" y="150"/>
                  </a:lnTo>
                  <a:lnTo>
                    <a:pt x="6" y="165"/>
                  </a:lnTo>
                  <a:lnTo>
                    <a:pt x="7" y="181"/>
                  </a:lnTo>
                  <a:lnTo>
                    <a:pt x="7" y="196"/>
                  </a:lnTo>
                  <a:lnTo>
                    <a:pt x="9" y="209"/>
                  </a:lnTo>
                  <a:lnTo>
                    <a:pt x="9" y="221"/>
                  </a:lnTo>
                  <a:lnTo>
                    <a:pt x="10" y="245"/>
                  </a:lnTo>
                  <a:lnTo>
                    <a:pt x="11" y="269"/>
                  </a:lnTo>
                  <a:lnTo>
                    <a:pt x="12" y="290"/>
                  </a:lnTo>
                  <a:lnTo>
                    <a:pt x="13" y="312"/>
                  </a:lnTo>
                  <a:lnTo>
                    <a:pt x="15" y="332"/>
                  </a:lnTo>
                  <a:lnTo>
                    <a:pt x="15" y="340"/>
                  </a:lnTo>
                  <a:lnTo>
                    <a:pt x="16" y="349"/>
                  </a:lnTo>
                  <a:lnTo>
                    <a:pt x="16" y="358"/>
                  </a:lnTo>
                  <a:lnTo>
                    <a:pt x="17" y="367"/>
                  </a:lnTo>
                  <a:lnTo>
                    <a:pt x="17" y="375"/>
                  </a:lnTo>
                  <a:lnTo>
                    <a:pt x="18" y="382"/>
                  </a:lnTo>
                  <a:lnTo>
                    <a:pt x="18" y="396"/>
                  </a:lnTo>
                  <a:lnTo>
                    <a:pt x="20" y="407"/>
                  </a:lnTo>
                  <a:lnTo>
                    <a:pt x="21" y="413"/>
                  </a:lnTo>
                  <a:lnTo>
                    <a:pt x="21" y="418"/>
                  </a:lnTo>
                  <a:lnTo>
                    <a:pt x="22" y="424"/>
                  </a:lnTo>
                  <a:lnTo>
                    <a:pt x="22" y="428"/>
                  </a:lnTo>
                  <a:lnTo>
                    <a:pt x="23" y="431"/>
                  </a:lnTo>
                  <a:lnTo>
                    <a:pt x="23" y="436"/>
                  </a:lnTo>
                  <a:lnTo>
                    <a:pt x="25" y="439"/>
                  </a:lnTo>
                  <a:lnTo>
                    <a:pt x="25" y="440"/>
                  </a:lnTo>
                  <a:lnTo>
                    <a:pt x="26" y="443"/>
                  </a:lnTo>
                  <a:lnTo>
                    <a:pt x="26" y="445"/>
                  </a:lnTo>
                  <a:lnTo>
                    <a:pt x="27" y="445"/>
                  </a:lnTo>
                  <a:lnTo>
                    <a:pt x="27" y="446"/>
                  </a:lnTo>
                  <a:lnTo>
                    <a:pt x="27" y="445"/>
                  </a:lnTo>
                  <a:lnTo>
                    <a:pt x="28" y="445"/>
                  </a:lnTo>
                  <a:lnTo>
                    <a:pt x="28" y="443"/>
                  </a:lnTo>
                  <a:lnTo>
                    <a:pt x="29" y="440"/>
                  </a:lnTo>
                  <a:lnTo>
                    <a:pt x="29" y="439"/>
                  </a:lnTo>
                  <a:lnTo>
                    <a:pt x="31" y="436"/>
                  </a:lnTo>
                  <a:lnTo>
                    <a:pt x="31" y="431"/>
                  </a:lnTo>
                  <a:lnTo>
                    <a:pt x="32" y="428"/>
                  </a:lnTo>
                  <a:lnTo>
                    <a:pt x="32" y="424"/>
                  </a:lnTo>
                  <a:lnTo>
                    <a:pt x="33" y="418"/>
                  </a:lnTo>
                  <a:lnTo>
                    <a:pt x="33" y="413"/>
                  </a:lnTo>
                  <a:lnTo>
                    <a:pt x="34" y="407"/>
                  </a:lnTo>
                  <a:lnTo>
                    <a:pt x="36" y="396"/>
                  </a:lnTo>
                  <a:lnTo>
                    <a:pt x="37" y="382"/>
                  </a:lnTo>
                  <a:lnTo>
                    <a:pt x="37" y="375"/>
                  </a:lnTo>
                  <a:lnTo>
                    <a:pt x="38" y="367"/>
                  </a:lnTo>
                  <a:lnTo>
                    <a:pt x="38" y="358"/>
                  </a:lnTo>
                  <a:lnTo>
                    <a:pt x="39" y="349"/>
                  </a:lnTo>
                  <a:lnTo>
                    <a:pt x="39" y="340"/>
                  </a:lnTo>
                  <a:lnTo>
                    <a:pt x="40" y="332"/>
                  </a:lnTo>
                  <a:lnTo>
                    <a:pt x="42" y="312"/>
                  </a:lnTo>
                  <a:lnTo>
                    <a:pt x="43" y="291"/>
                  </a:lnTo>
                  <a:lnTo>
                    <a:pt x="45" y="269"/>
                  </a:lnTo>
                  <a:lnTo>
                    <a:pt x="47" y="245"/>
                  </a:lnTo>
                  <a:lnTo>
                    <a:pt x="48" y="223"/>
                  </a:lnTo>
                  <a:lnTo>
                    <a:pt x="48" y="209"/>
                  </a:lnTo>
                  <a:lnTo>
                    <a:pt x="49" y="196"/>
                  </a:lnTo>
                  <a:lnTo>
                    <a:pt x="49" y="181"/>
                  </a:lnTo>
                  <a:lnTo>
                    <a:pt x="50" y="166"/>
                  </a:lnTo>
                  <a:lnTo>
                    <a:pt x="50" y="151"/>
                  </a:lnTo>
                  <a:lnTo>
                    <a:pt x="50" y="135"/>
                  </a:lnTo>
                  <a:lnTo>
                    <a:pt x="51" y="104"/>
                  </a:lnTo>
                  <a:lnTo>
                    <a:pt x="53" y="89"/>
                  </a:lnTo>
                  <a:lnTo>
                    <a:pt x="53" y="72"/>
                  </a:lnTo>
                  <a:lnTo>
                    <a:pt x="53" y="58"/>
                  </a:lnTo>
                  <a:lnTo>
                    <a:pt x="53" y="44"/>
                  </a:lnTo>
                  <a:lnTo>
                    <a:pt x="54" y="31"/>
                  </a:lnTo>
                  <a:lnTo>
                    <a:pt x="54" y="19"/>
                  </a:lnTo>
                  <a:lnTo>
                    <a:pt x="54" y="8"/>
                  </a:lnTo>
                  <a:lnTo>
                    <a:pt x="54" y="4"/>
                  </a:lnTo>
                  <a:lnTo>
                    <a:pt x="55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18" name="Freeform 386"/>
            <p:cNvSpPr>
              <a:spLocks/>
            </p:cNvSpPr>
            <p:nvPr/>
          </p:nvSpPr>
          <p:spPr bwMode="auto">
            <a:xfrm>
              <a:off x="3371" y="1389"/>
              <a:ext cx="37" cy="223"/>
            </a:xfrm>
            <a:custGeom>
              <a:avLst/>
              <a:gdLst>
                <a:gd name="T0" fmla="*/ 0 w 37"/>
                <a:gd name="T1" fmla="*/ 442 h 447"/>
                <a:gd name="T2" fmla="*/ 0 w 37"/>
                <a:gd name="T3" fmla="*/ 433 h 447"/>
                <a:gd name="T4" fmla="*/ 0 w 37"/>
                <a:gd name="T5" fmla="*/ 423 h 447"/>
                <a:gd name="T6" fmla="*/ 0 w 37"/>
                <a:gd name="T7" fmla="*/ 405 h 447"/>
                <a:gd name="T8" fmla="*/ 1 w 37"/>
                <a:gd name="T9" fmla="*/ 377 h 447"/>
                <a:gd name="T10" fmla="*/ 3 w 37"/>
                <a:gd name="T11" fmla="*/ 344 h 447"/>
                <a:gd name="T12" fmla="*/ 4 w 37"/>
                <a:gd name="T13" fmla="*/ 296 h 447"/>
                <a:gd name="T14" fmla="*/ 5 w 37"/>
                <a:gd name="T15" fmla="*/ 263 h 447"/>
                <a:gd name="T16" fmla="*/ 5 w 37"/>
                <a:gd name="T17" fmla="*/ 235 h 447"/>
                <a:gd name="T18" fmla="*/ 6 w 37"/>
                <a:gd name="T19" fmla="*/ 199 h 447"/>
                <a:gd name="T20" fmla="*/ 7 w 37"/>
                <a:gd name="T21" fmla="*/ 155 h 447"/>
                <a:gd name="T22" fmla="*/ 10 w 37"/>
                <a:gd name="T23" fmla="*/ 113 h 447"/>
                <a:gd name="T24" fmla="*/ 10 w 37"/>
                <a:gd name="T25" fmla="*/ 95 h 447"/>
                <a:gd name="T26" fmla="*/ 11 w 37"/>
                <a:gd name="T27" fmla="*/ 77 h 447"/>
                <a:gd name="T28" fmla="*/ 12 w 37"/>
                <a:gd name="T29" fmla="*/ 62 h 447"/>
                <a:gd name="T30" fmla="*/ 14 w 37"/>
                <a:gd name="T31" fmla="*/ 37 h 447"/>
                <a:gd name="T32" fmla="*/ 14 w 37"/>
                <a:gd name="T33" fmla="*/ 27 h 447"/>
                <a:gd name="T34" fmla="*/ 15 w 37"/>
                <a:gd name="T35" fmla="*/ 16 h 447"/>
                <a:gd name="T36" fmla="*/ 16 w 37"/>
                <a:gd name="T37" fmla="*/ 9 h 447"/>
                <a:gd name="T38" fmla="*/ 16 w 37"/>
                <a:gd name="T39" fmla="*/ 4 h 447"/>
                <a:gd name="T40" fmla="*/ 17 w 37"/>
                <a:gd name="T41" fmla="*/ 0 h 447"/>
                <a:gd name="T42" fmla="*/ 19 w 37"/>
                <a:gd name="T43" fmla="*/ 0 h 447"/>
                <a:gd name="T44" fmla="*/ 19 w 37"/>
                <a:gd name="T45" fmla="*/ 0 h 447"/>
                <a:gd name="T46" fmla="*/ 20 w 37"/>
                <a:gd name="T47" fmla="*/ 4 h 447"/>
                <a:gd name="T48" fmla="*/ 20 w 37"/>
                <a:gd name="T49" fmla="*/ 9 h 447"/>
                <a:gd name="T50" fmla="*/ 21 w 37"/>
                <a:gd name="T51" fmla="*/ 18 h 447"/>
                <a:gd name="T52" fmla="*/ 22 w 37"/>
                <a:gd name="T53" fmla="*/ 27 h 447"/>
                <a:gd name="T54" fmla="*/ 22 w 37"/>
                <a:gd name="T55" fmla="*/ 37 h 447"/>
                <a:gd name="T56" fmla="*/ 25 w 37"/>
                <a:gd name="T57" fmla="*/ 62 h 447"/>
                <a:gd name="T58" fmla="*/ 25 w 37"/>
                <a:gd name="T59" fmla="*/ 77 h 447"/>
                <a:gd name="T60" fmla="*/ 26 w 37"/>
                <a:gd name="T61" fmla="*/ 95 h 447"/>
                <a:gd name="T62" fmla="*/ 27 w 37"/>
                <a:gd name="T63" fmla="*/ 113 h 447"/>
                <a:gd name="T64" fmla="*/ 30 w 37"/>
                <a:gd name="T65" fmla="*/ 153 h 447"/>
                <a:gd name="T66" fmla="*/ 31 w 37"/>
                <a:gd name="T67" fmla="*/ 199 h 447"/>
                <a:gd name="T68" fmla="*/ 32 w 37"/>
                <a:gd name="T69" fmla="*/ 235 h 447"/>
                <a:gd name="T70" fmla="*/ 33 w 37"/>
                <a:gd name="T71" fmla="*/ 263 h 447"/>
                <a:gd name="T72" fmla="*/ 33 w 37"/>
                <a:gd name="T73" fmla="*/ 293 h 447"/>
                <a:gd name="T74" fmla="*/ 34 w 37"/>
                <a:gd name="T75" fmla="*/ 341 h 447"/>
                <a:gd name="T76" fmla="*/ 34 w 37"/>
                <a:gd name="T77" fmla="*/ 372 h 447"/>
                <a:gd name="T78" fmla="*/ 36 w 37"/>
                <a:gd name="T79" fmla="*/ 400 h 447"/>
                <a:gd name="T80" fmla="*/ 36 w 37"/>
                <a:gd name="T81" fmla="*/ 426 h 447"/>
                <a:gd name="T82" fmla="*/ 36 w 37"/>
                <a:gd name="T83" fmla="*/ 44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7" h="447">
                  <a:moveTo>
                    <a:pt x="0" y="447"/>
                  </a:moveTo>
                  <a:lnTo>
                    <a:pt x="0" y="442"/>
                  </a:lnTo>
                  <a:lnTo>
                    <a:pt x="0" y="438"/>
                  </a:lnTo>
                  <a:lnTo>
                    <a:pt x="0" y="433"/>
                  </a:lnTo>
                  <a:lnTo>
                    <a:pt x="0" y="429"/>
                  </a:lnTo>
                  <a:lnTo>
                    <a:pt x="0" y="423"/>
                  </a:lnTo>
                  <a:lnTo>
                    <a:pt x="0" y="417"/>
                  </a:lnTo>
                  <a:lnTo>
                    <a:pt x="0" y="405"/>
                  </a:lnTo>
                  <a:lnTo>
                    <a:pt x="1" y="390"/>
                  </a:lnTo>
                  <a:lnTo>
                    <a:pt x="1" y="377"/>
                  </a:lnTo>
                  <a:lnTo>
                    <a:pt x="1" y="360"/>
                  </a:lnTo>
                  <a:lnTo>
                    <a:pt x="3" y="344"/>
                  </a:lnTo>
                  <a:lnTo>
                    <a:pt x="3" y="311"/>
                  </a:lnTo>
                  <a:lnTo>
                    <a:pt x="4" y="296"/>
                  </a:lnTo>
                  <a:lnTo>
                    <a:pt x="4" y="280"/>
                  </a:lnTo>
                  <a:lnTo>
                    <a:pt x="5" y="263"/>
                  </a:lnTo>
                  <a:lnTo>
                    <a:pt x="5" y="250"/>
                  </a:lnTo>
                  <a:lnTo>
                    <a:pt x="5" y="235"/>
                  </a:lnTo>
                  <a:lnTo>
                    <a:pt x="6" y="223"/>
                  </a:lnTo>
                  <a:lnTo>
                    <a:pt x="6" y="199"/>
                  </a:lnTo>
                  <a:lnTo>
                    <a:pt x="7" y="177"/>
                  </a:lnTo>
                  <a:lnTo>
                    <a:pt x="7" y="155"/>
                  </a:lnTo>
                  <a:lnTo>
                    <a:pt x="9" y="132"/>
                  </a:lnTo>
                  <a:lnTo>
                    <a:pt x="10" y="113"/>
                  </a:lnTo>
                  <a:lnTo>
                    <a:pt x="10" y="104"/>
                  </a:lnTo>
                  <a:lnTo>
                    <a:pt x="10" y="95"/>
                  </a:lnTo>
                  <a:lnTo>
                    <a:pt x="11" y="86"/>
                  </a:lnTo>
                  <a:lnTo>
                    <a:pt x="11" y="77"/>
                  </a:lnTo>
                  <a:lnTo>
                    <a:pt x="11" y="70"/>
                  </a:lnTo>
                  <a:lnTo>
                    <a:pt x="12" y="62"/>
                  </a:lnTo>
                  <a:lnTo>
                    <a:pt x="12" y="49"/>
                  </a:lnTo>
                  <a:lnTo>
                    <a:pt x="14" y="37"/>
                  </a:lnTo>
                  <a:lnTo>
                    <a:pt x="14" y="31"/>
                  </a:lnTo>
                  <a:lnTo>
                    <a:pt x="14" y="27"/>
                  </a:lnTo>
                  <a:lnTo>
                    <a:pt x="15" y="21"/>
                  </a:lnTo>
                  <a:lnTo>
                    <a:pt x="15" y="16"/>
                  </a:lnTo>
                  <a:lnTo>
                    <a:pt x="15" y="13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6" y="4"/>
                  </a:lnTo>
                  <a:lnTo>
                    <a:pt x="17" y="1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1"/>
                  </a:lnTo>
                  <a:lnTo>
                    <a:pt x="20" y="4"/>
                  </a:lnTo>
                  <a:lnTo>
                    <a:pt x="20" y="6"/>
                  </a:lnTo>
                  <a:lnTo>
                    <a:pt x="20" y="9"/>
                  </a:lnTo>
                  <a:lnTo>
                    <a:pt x="21" y="13"/>
                  </a:lnTo>
                  <a:lnTo>
                    <a:pt x="21" y="18"/>
                  </a:lnTo>
                  <a:lnTo>
                    <a:pt x="21" y="22"/>
                  </a:lnTo>
                  <a:lnTo>
                    <a:pt x="22" y="27"/>
                  </a:lnTo>
                  <a:lnTo>
                    <a:pt x="22" y="31"/>
                  </a:lnTo>
                  <a:lnTo>
                    <a:pt x="22" y="37"/>
                  </a:lnTo>
                  <a:lnTo>
                    <a:pt x="23" y="49"/>
                  </a:lnTo>
                  <a:lnTo>
                    <a:pt x="25" y="62"/>
                  </a:lnTo>
                  <a:lnTo>
                    <a:pt x="25" y="70"/>
                  </a:lnTo>
                  <a:lnTo>
                    <a:pt x="25" y="77"/>
                  </a:lnTo>
                  <a:lnTo>
                    <a:pt x="26" y="86"/>
                  </a:lnTo>
                  <a:lnTo>
                    <a:pt x="26" y="95"/>
                  </a:lnTo>
                  <a:lnTo>
                    <a:pt x="26" y="104"/>
                  </a:lnTo>
                  <a:lnTo>
                    <a:pt x="27" y="113"/>
                  </a:lnTo>
                  <a:lnTo>
                    <a:pt x="28" y="132"/>
                  </a:lnTo>
                  <a:lnTo>
                    <a:pt x="30" y="153"/>
                  </a:lnTo>
                  <a:lnTo>
                    <a:pt x="30" y="176"/>
                  </a:lnTo>
                  <a:lnTo>
                    <a:pt x="31" y="199"/>
                  </a:lnTo>
                  <a:lnTo>
                    <a:pt x="32" y="223"/>
                  </a:lnTo>
                  <a:lnTo>
                    <a:pt x="32" y="235"/>
                  </a:lnTo>
                  <a:lnTo>
                    <a:pt x="32" y="249"/>
                  </a:lnTo>
                  <a:lnTo>
                    <a:pt x="33" y="263"/>
                  </a:lnTo>
                  <a:lnTo>
                    <a:pt x="33" y="278"/>
                  </a:lnTo>
                  <a:lnTo>
                    <a:pt x="33" y="293"/>
                  </a:lnTo>
                  <a:lnTo>
                    <a:pt x="33" y="310"/>
                  </a:lnTo>
                  <a:lnTo>
                    <a:pt x="34" y="341"/>
                  </a:lnTo>
                  <a:lnTo>
                    <a:pt x="34" y="356"/>
                  </a:lnTo>
                  <a:lnTo>
                    <a:pt x="34" y="372"/>
                  </a:lnTo>
                  <a:lnTo>
                    <a:pt x="36" y="387"/>
                  </a:lnTo>
                  <a:lnTo>
                    <a:pt x="36" y="400"/>
                  </a:lnTo>
                  <a:lnTo>
                    <a:pt x="36" y="414"/>
                  </a:lnTo>
                  <a:lnTo>
                    <a:pt x="36" y="426"/>
                  </a:lnTo>
                  <a:lnTo>
                    <a:pt x="36" y="436"/>
                  </a:lnTo>
                  <a:lnTo>
                    <a:pt x="36" y="441"/>
                  </a:lnTo>
                  <a:lnTo>
                    <a:pt x="37" y="447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19" name="Freeform 387"/>
            <p:cNvSpPr>
              <a:spLocks/>
            </p:cNvSpPr>
            <p:nvPr/>
          </p:nvSpPr>
          <p:spPr bwMode="auto">
            <a:xfrm>
              <a:off x="3445" y="1389"/>
              <a:ext cx="36" cy="223"/>
            </a:xfrm>
            <a:custGeom>
              <a:avLst/>
              <a:gdLst>
                <a:gd name="T0" fmla="*/ 0 w 36"/>
                <a:gd name="T1" fmla="*/ 442 h 447"/>
                <a:gd name="T2" fmla="*/ 0 w 36"/>
                <a:gd name="T3" fmla="*/ 433 h 447"/>
                <a:gd name="T4" fmla="*/ 0 w 36"/>
                <a:gd name="T5" fmla="*/ 423 h 447"/>
                <a:gd name="T6" fmla="*/ 0 w 36"/>
                <a:gd name="T7" fmla="*/ 405 h 447"/>
                <a:gd name="T8" fmla="*/ 1 w 36"/>
                <a:gd name="T9" fmla="*/ 377 h 447"/>
                <a:gd name="T10" fmla="*/ 2 w 36"/>
                <a:gd name="T11" fmla="*/ 344 h 447"/>
                <a:gd name="T12" fmla="*/ 3 w 36"/>
                <a:gd name="T13" fmla="*/ 296 h 447"/>
                <a:gd name="T14" fmla="*/ 5 w 36"/>
                <a:gd name="T15" fmla="*/ 263 h 447"/>
                <a:gd name="T16" fmla="*/ 5 w 36"/>
                <a:gd name="T17" fmla="*/ 235 h 447"/>
                <a:gd name="T18" fmla="*/ 6 w 36"/>
                <a:gd name="T19" fmla="*/ 199 h 447"/>
                <a:gd name="T20" fmla="*/ 7 w 36"/>
                <a:gd name="T21" fmla="*/ 155 h 447"/>
                <a:gd name="T22" fmla="*/ 9 w 36"/>
                <a:gd name="T23" fmla="*/ 113 h 447"/>
                <a:gd name="T24" fmla="*/ 9 w 36"/>
                <a:gd name="T25" fmla="*/ 95 h 447"/>
                <a:gd name="T26" fmla="*/ 11 w 36"/>
                <a:gd name="T27" fmla="*/ 77 h 447"/>
                <a:gd name="T28" fmla="*/ 12 w 36"/>
                <a:gd name="T29" fmla="*/ 62 h 447"/>
                <a:gd name="T30" fmla="*/ 13 w 36"/>
                <a:gd name="T31" fmla="*/ 37 h 447"/>
                <a:gd name="T32" fmla="*/ 13 w 36"/>
                <a:gd name="T33" fmla="*/ 27 h 447"/>
                <a:gd name="T34" fmla="*/ 14 w 36"/>
                <a:gd name="T35" fmla="*/ 16 h 447"/>
                <a:gd name="T36" fmla="*/ 16 w 36"/>
                <a:gd name="T37" fmla="*/ 9 h 447"/>
                <a:gd name="T38" fmla="*/ 16 w 36"/>
                <a:gd name="T39" fmla="*/ 4 h 447"/>
                <a:gd name="T40" fmla="*/ 17 w 36"/>
                <a:gd name="T41" fmla="*/ 0 h 447"/>
                <a:gd name="T42" fmla="*/ 18 w 36"/>
                <a:gd name="T43" fmla="*/ 0 h 447"/>
                <a:gd name="T44" fmla="*/ 18 w 36"/>
                <a:gd name="T45" fmla="*/ 0 h 447"/>
                <a:gd name="T46" fmla="*/ 19 w 36"/>
                <a:gd name="T47" fmla="*/ 4 h 447"/>
                <a:gd name="T48" fmla="*/ 19 w 36"/>
                <a:gd name="T49" fmla="*/ 9 h 447"/>
                <a:gd name="T50" fmla="*/ 21 w 36"/>
                <a:gd name="T51" fmla="*/ 18 h 447"/>
                <a:gd name="T52" fmla="*/ 22 w 36"/>
                <a:gd name="T53" fmla="*/ 27 h 447"/>
                <a:gd name="T54" fmla="*/ 22 w 36"/>
                <a:gd name="T55" fmla="*/ 37 h 447"/>
                <a:gd name="T56" fmla="*/ 24 w 36"/>
                <a:gd name="T57" fmla="*/ 62 h 447"/>
                <a:gd name="T58" fmla="*/ 24 w 36"/>
                <a:gd name="T59" fmla="*/ 77 h 447"/>
                <a:gd name="T60" fmla="*/ 25 w 36"/>
                <a:gd name="T61" fmla="*/ 95 h 447"/>
                <a:gd name="T62" fmla="*/ 27 w 36"/>
                <a:gd name="T63" fmla="*/ 113 h 447"/>
                <a:gd name="T64" fmla="*/ 29 w 36"/>
                <a:gd name="T65" fmla="*/ 153 h 447"/>
                <a:gd name="T66" fmla="*/ 30 w 36"/>
                <a:gd name="T67" fmla="*/ 199 h 447"/>
                <a:gd name="T68" fmla="*/ 32 w 36"/>
                <a:gd name="T69" fmla="*/ 235 h 447"/>
                <a:gd name="T70" fmla="*/ 33 w 36"/>
                <a:gd name="T71" fmla="*/ 263 h 447"/>
                <a:gd name="T72" fmla="*/ 33 w 36"/>
                <a:gd name="T73" fmla="*/ 293 h 447"/>
                <a:gd name="T74" fmla="*/ 34 w 36"/>
                <a:gd name="T75" fmla="*/ 341 h 447"/>
                <a:gd name="T76" fmla="*/ 34 w 36"/>
                <a:gd name="T77" fmla="*/ 372 h 447"/>
                <a:gd name="T78" fmla="*/ 35 w 36"/>
                <a:gd name="T79" fmla="*/ 400 h 447"/>
                <a:gd name="T80" fmla="*/ 35 w 36"/>
                <a:gd name="T81" fmla="*/ 426 h 447"/>
                <a:gd name="T82" fmla="*/ 35 w 36"/>
                <a:gd name="T83" fmla="*/ 44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6" h="447">
                  <a:moveTo>
                    <a:pt x="0" y="447"/>
                  </a:moveTo>
                  <a:lnTo>
                    <a:pt x="0" y="442"/>
                  </a:lnTo>
                  <a:lnTo>
                    <a:pt x="0" y="438"/>
                  </a:lnTo>
                  <a:lnTo>
                    <a:pt x="0" y="433"/>
                  </a:lnTo>
                  <a:lnTo>
                    <a:pt x="0" y="429"/>
                  </a:lnTo>
                  <a:lnTo>
                    <a:pt x="0" y="423"/>
                  </a:lnTo>
                  <a:lnTo>
                    <a:pt x="0" y="417"/>
                  </a:lnTo>
                  <a:lnTo>
                    <a:pt x="0" y="405"/>
                  </a:lnTo>
                  <a:lnTo>
                    <a:pt x="1" y="390"/>
                  </a:lnTo>
                  <a:lnTo>
                    <a:pt x="1" y="377"/>
                  </a:lnTo>
                  <a:lnTo>
                    <a:pt x="1" y="360"/>
                  </a:lnTo>
                  <a:lnTo>
                    <a:pt x="2" y="344"/>
                  </a:lnTo>
                  <a:lnTo>
                    <a:pt x="2" y="311"/>
                  </a:lnTo>
                  <a:lnTo>
                    <a:pt x="3" y="296"/>
                  </a:lnTo>
                  <a:lnTo>
                    <a:pt x="3" y="280"/>
                  </a:lnTo>
                  <a:lnTo>
                    <a:pt x="5" y="263"/>
                  </a:lnTo>
                  <a:lnTo>
                    <a:pt x="5" y="250"/>
                  </a:lnTo>
                  <a:lnTo>
                    <a:pt x="5" y="235"/>
                  </a:lnTo>
                  <a:lnTo>
                    <a:pt x="6" y="223"/>
                  </a:lnTo>
                  <a:lnTo>
                    <a:pt x="6" y="199"/>
                  </a:lnTo>
                  <a:lnTo>
                    <a:pt x="7" y="177"/>
                  </a:lnTo>
                  <a:lnTo>
                    <a:pt x="7" y="155"/>
                  </a:lnTo>
                  <a:lnTo>
                    <a:pt x="8" y="132"/>
                  </a:lnTo>
                  <a:lnTo>
                    <a:pt x="9" y="113"/>
                  </a:lnTo>
                  <a:lnTo>
                    <a:pt x="9" y="104"/>
                  </a:lnTo>
                  <a:lnTo>
                    <a:pt x="9" y="95"/>
                  </a:lnTo>
                  <a:lnTo>
                    <a:pt x="11" y="86"/>
                  </a:lnTo>
                  <a:lnTo>
                    <a:pt x="11" y="77"/>
                  </a:lnTo>
                  <a:lnTo>
                    <a:pt x="11" y="70"/>
                  </a:lnTo>
                  <a:lnTo>
                    <a:pt x="12" y="62"/>
                  </a:lnTo>
                  <a:lnTo>
                    <a:pt x="12" y="49"/>
                  </a:lnTo>
                  <a:lnTo>
                    <a:pt x="13" y="37"/>
                  </a:lnTo>
                  <a:lnTo>
                    <a:pt x="13" y="31"/>
                  </a:lnTo>
                  <a:lnTo>
                    <a:pt x="13" y="27"/>
                  </a:lnTo>
                  <a:lnTo>
                    <a:pt x="14" y="21"/>
                  </a:lnTo>
                  <a:lnTo>
                    <a:pt x="14" y="16"/>
                  </a:lnTo>
                  <a:lnTo>
                    <a:pt x="14" y="13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6" y="4"/>
                  </a:lnTo>
                  <a:lnTo>
                    <a:pt x="17" y="1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1"/>
                  </a:lnTo>
                  <a:lnTo>
                    <a:pt x="19" y="4"/>
                  </a:lnTo>
                  <a:lnTo>
                    <a:pt x="19" y="6"/>
                  </a:lnTo>
                  <a:lnTo>
                    <a:pt x="19" y="9"/>
                  </a:lnTo>
                  <a:lnTo>
                    <a:pt x="21" y="13"/>
                  </a:lnTo>
                  <a:lnTo>
                    <a:pt x="21" y="18"/>
                  </a:lnTo>
                  <a:lnTo>
                    <a:pt x="21" y="22"/>
                  </a:lnTo>
                  <a:lnTo>
                    <a:pt x="22" y="27"/>
                  </a:lnTo>
                  <a:lnTo>
                    <a:pt x="22" y="31"/>
                  </a:lnTo>
                  <a:lnTo>
                    <a:pt x="22" y="37"/>
                  </a:lnTo>
                  <a:lnTo>
                    <a:pt x="23" y="49"/>
                  </a:lnTo>
                  <a:lnTo>
                    <a:pt x="24" y="62"/>
                  </a:lnTo>
                  <a:lnTo>
                    <a:pt x="24" y="70"/>
                  </a:lnTo>
                  <a:lnTo>
                    <a:pt x="24" y="77"/>
                  </a:lnTo>
                  <a:lnTo>
                    <a:pt x="25" y="86"/>
                  </a:lnTo>
                  <a:lnTo>
                    <a:pt x="25" y="95"/>
                  </a:lnTo>
                  <a:lnTo>
                    <a:pt x="25" y="104"/>
                  </a:lnTo>
                  <a:lnTo>
                    <a:pt x="27" y="113"/>
                  </a:lnTo>
                  <a:lnTo>
                    <a:pt x="28" y="132"/>
                  </a:lnTo>
                  <a:lnTo>
                    <a:pt x="29" y="153"/>
                  </a:lnTo>
                  <a:lnTo>
                    <a:pt x="29" y="176"/>
                  </a:lnTo>
                  <a:lnTo>
                    <a:pt x="30" y="199"/>
                  </a:lnTo>
                  <a:lnTo>
                    <a:pt x="32" y="223"/>
                  </a:lnTo>
                  <a:lnTo>
                    <a:pt x="32" y="235"/>
                  </a:lnTo>
                  <a:lnTo>
                    <a:pt x="32" y="249"/>
                  </a:lnTo>
                  <a:lnTo>
                    <a:pt x="33" y="263"/>
                  </a:lnTo>
                  <a:lnTo>
                    <a:pt x="33" y="278"/>
                  </a:lnTo>
                  <a:lnTo>
                    <a:pt x="33" y="293"/>
                  </a:lnTo>
                  <a:lnTo>
                    <a:pt x="33" y="310"/>
                  </a:lnTo>
                  <a:lnTo>
                    <a:pt x="34" y="341"/>
                  </a:lnTo>
                  <a:lnTo>
                    <a:pt x="34" y="356"/>
                  </a:lnTo>
                  <a:lnTo>
                    <a:pt x="34" y="372"/>
                  </a:lnTo>
                  <a:lnTo>
                    <a:pt x="35" y="387"/>
                  </a:lnTo>
                  <a:lnTo>
                    <a:pt x="35" y="400"/>
                  </a:lnTo>
                  <a:lnTo>
                    <a:pt x="35" y="414"/>
                  </a:lnTo>
                  <a:lnTo>
                    <a:pt x="35" y="426"/>
                  </a:lnTo>
                  <a:lnTo>
                    <a:pt x="35" y="436"/>
                  </a:lnTo>
                  <a:lnTo>
                    <a:pt x="35" y="441"/>
                  </a:lnTo>
                  <a:lnTo>
                    <a:pt x="36" y="447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20" name="Freeform 388"/>
            <p:cNvSpPr>
              <a:spLocks/>
            </p:cNvSpPr>
            <p:nvPr/>
          </p:nvSpPr>
          <p:spPr bwMode="auto">
            <a:xfrm>
              <a:off x="3518" y="1389"/>
              <a:ext cx="37" cy="223"/>
            </a:xfrm>
            <a:custGeom>
              <a:avLst/>
              <a:gdLst>
                <a:gd name="T0" fmla="*/ 0 w 37"/>
                <a:gd name="T1" fmla="*/ 442 h 447"/>
                <a:gd name="T2" fmla="*/ 0 w 37"/>
                <a:gd name="T3" fmla="*/ 433 h 447"/>
                <a:gd name="T4" fmla="*/ 0 w 37"/>
                <a:gd name="T5" fmla="*/ 423 h 447"/>
                <a:gd name="T6" fmla="*/ 0 w 37"/>
                <a:gd name="T7" fmla="*/ 405 h 447"/>
                <a:gd name="T8" fmla="*/ 1 w 37"/>
                <a:gd name="T9" fmla="*/ 377 h 447"/>
                <a:gd name="T10" fmla="*/ 3 w 37"/>
                <a:gd name="T11" fmla="*/ 344 h 447"/>
                <a:gd name="T12" fmla="*/ 4 w 37"/>
                <a:gd name="T13" fmla="*/ 296 h 447"/>
                <a:gd name="T14" fmla="*/ 5 w 37"/>
                <a:gd name="T15" fmla="*/ 263 h 447"/>
                <a:gd name="T16" fmla="*/ 5 w 37"/>
                <a:gd name="T17" fmla="*/ 235 h 447"/>
                <a:gd name="T18" fmla="*/ 6 w 37"/>
                <a:gd name="T19" fmla="*/ 199 h 447"/>
                <a:gd name="T20" fmla="*/ 8 w 37"/>
                <a:gd name="T21" fmla="*/ 155 h 447"/>
                <a:gd name="T22" fmla="*/ 10 w 37"/>
                <a:gd name="T23" fmla="*/ 113 h 447"/>
                <a:gd name="T24" fmla="*/ 10 w 37"/>
                <a:gd name="T25" fmla="*/ 95 h 447"/>
                <a:gd name="T26" fmla="*/ 11 w 37"/>
                <a:gd name="T27" fmla="*/ 77 h 447"/>
                <a:gd name="T28" fmla="*/ 12 w 37"/>
                <a:gd name="T29" fmla="*/ 62 h 447"/>
                <a:gd name="T30" fmla="*/ 14 w 37"/>
                <a:gd name="T31" fmla="*/ 37 h 447"/>
                <a:gd name="T32" fmla="*/ 14 w 37"/>
                <a:gd name="T33" fmla="*/ 27 h 447"/>
                <a:gd name="T34" fmla="*/ 15 w 37"/>
                <a:gd name="T35" fmla="*/ 16 h 447"/>
                <a:gd name="T36" fmla="*/ 16 w 37"/>
                <a:gd name="T37" fmla="*/ 9 h 447"/>
                <a:gd name="T38" fmla="*/ 16 w 37"/>
                <a:gd name="T39" fmla="*/ 4 h 447"/>
                <a:gd name="T40" fmla="*/ 17 w 37"/>
                <a:gd name="T41" fmla="*/ 0 h 447"/>
                <a:gd name="T42" fmla="*/ 19 w 37"/>
                <a:gd name="T43" fmla="*/ 0 h 447"/>
                <a:gd name="T44" fmla="*/ 19 w 37"/>
                <a:gd name="T45" fmla="*/ 0 h 447"/>
                <a:gd name="T46" fmla="*/ 20 w 37"/>
                <a:gd name="T47" fmla="*/ 4 h 447"/>
                <a:gd name="T48" fmla="*/ 20 w 37"/>
                <a:gd name="T49" fmla="*/ 9 h 447"/>
                <a:gd name="T50" fmla="*/ 21 w 37"/>
                <a:gd name="T51" fmla="*/ 18 h 447"/>
                <a:gd name="T52" fmla="*/ 22 w 37"/>
                <a:gd name="T53" fmla="*/ 27 h 447"/>
                <a:gd name="T54" fmla="*/ 22 w 37"/>
                <a:gd name="T55" fmla="*/ 37 h 447"/>
                <a:gd name="T56" fmla="*/ 25 w 37"/>
                <a:gd name="T57" fmla="*/ 62 h 447"/>
                <a:gd name="T58" fmla="*/ 25 w 37"/>
                <a:gd name="T59" fmla="*/ 77 h 447"/>
                <a:gd name="T60" fmla="*/ 26 w 37"/>
                <a:gd name="T61" fmla="*/ 95 h 447"/>
                <a:gd name="T62" fmla="*/ 27 w 37"/>
                <a:gd name="T63" fmla="*/ 113 h 447"/>
                <a:gd name="T64" fmla="*/ 30 w 37"/>
                <a:gd name="T65" fmla="*/ 153 h 447"/>
                <a:gd name="T66" fmla="*/ 31 w 37"/>
                <a:gd name="T67" fmla="*/ 199 h 447"/>
                <a:gd name="T68" fmla="*/ 32 w 37"/>
                <a:gd name="T69" fmla="*/ 235 h 447"/>
                <a:gd name="T70" fmla="*/ 33 w 37"/>
                <a:gd name="T71" fmla="*/ 263 h 447"/>
                <a:gd name="T72" fmla="*/ 33 w 37"/>
                <a:gd name="T73" fmla="*/ 293 h 447"/>
                <a:gd name="T74" fmla="*/ 35 w 37"/>
                <a:gd name="T75" fmla="*/ 341 h 447"/>
                <a:gd name="T76" fmla="*/ 35 w 37"/>
                <a:gd name="T77" fmla="*/ 372 h 447"/>
                <a:gd name="T78" fmla="*/ 36 w 37"/>
                <a:gd name="T79" fmla="*/ 400 h 447"/>
                <a:gd name="T80" fmla="*/ 36 w 37"/>
                <a:gd name="T81" fmla="*/ 426 h 447"/>
                <a:gd name="T82" fmla="*/ 36 w 37"/>
                <a:gd name="T83" fmla="*/ 44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7" h="447">
                  <a:moveTo>
                    <a:pt x="0" y="447"/>
                  </a:moveTo>
                  <a:lnTo>
                    <a:pt x="0" y="442"/>
                  </a:lnTo>
                  <a:lnTo>
                    <a:pt x="0" y="438"/>
                  </a:lnTo>
                  <a:lnTo>
                    <a:pt x="0" y="433"/>
                  </a:lnTo>
                  <a:lnTo>
                    <a:pt x="0" y="429"/>
                  </a:lnTo>
                  <a:lnTo>
                    <a:pt x="0" y="423"/>
                  </a:lnTo>
                  <a:lnTo>
                    <a:pt x="0" y="417"/>
                  </a:lnTo>
                  <a:lnTo>
                    <a:pt x="0" y="405"/>
                  </a:lnTo>
                  <a:lnTo>
                    <a:pt x="1" y="390"/>
                  </a:lnTo>
                  <a:lnTo>
                    <a:pt x="1" y="377"/>
                  </a:lnTo>
                  <a:lnTo>
                    <a:pt x="1" y="360"/>
                  </a:lnTo>
                  <a:lnTo>
                    <a:pt x="3" y="344"/>
                  </a:lnTo>
                  <a:lnTo>
                    <a:pt x="3" y="311"/>
                  </a:lnTo>
                  <a:lnTo>
                    <a:pt x="4" y="296"/>
                  </a:lnTo>
                  <a:lnTo>
                    <a:pt x="4" y="280"/>
                  </a:lnTo>
                  <a:lnTo>
                    <a:pt x="5" y="263"/>
                  </a:lnTo>
                  <a:lnTo>
                    <a:pt x="5" y="250"/>
                  </a:lnTo>
                  <a:lnTo>
                    <a:pt x="5" y="235"/>
                  </a:lnTo>
                  <a:lnTo>
                    <a:pt x="6" y="223"/>
                  </a:lnTo>
                  <a:lnTo>
                    <a:pt x="6" y="199"/>
                  </a:lnTo>
                  <a:lnTo>
                    <a:pt x="8" y="177"/>
                  </a:lnTo>
                  <a:lnTo>
                    <a:pt x="8" y="155"/>
                  </a:lnTo>
                  <a:lnTo>
                    <a:pt x="9" y="132"/>
                  </a:lnTo>
                  <a:lnTo>
                    <a:pt x="10" y="113"/>
                  </a:lnTo>
                  <a:lnTo>
                    <a:pt x="10" y="104"/>
                  </a:lnTo>
                  <a:lnTo>
                    <a:pt x="10" y="95"/>
                  </a:lnTo>
                  <a:lnTo>
                    <a:pt x="11" y="86"/>
                  </a:lnTo>
                  <a:lnTo>
                    <a:pt x="11" y="77"/>
                  </a:lnTo>
                  <a:lnTo>
                    <a:pt x="11" y="70"/>
                  </a:lnTo>
                  <a:lnTo>
                    <a:pt x="12" y="62"/>
                  </a:lnTo>
                  <a:lnTo>
                    <a:pt x="12" y="49"/>
                  </a:lnTo>
                  <a:lnTo>
                    <a:pt x="14" y="37"/>
                  </a:lnTo>
                  <a:lnTo>
                    <a:pt x="14" y="31"/>
                  </a:lnTo>
                  <a:lnTo>
                    <a:pt x="14" y="27"/>
                  </a:lnTo>
                  <a:lnTo>
                    <a:pt x="15" y="21"/>
                  </a:lnTo>
                  <a:lnTo>
                    <a:pt x="15" y="16"/>
                  </a:lnTo>
                  <a:lnTo>
                    <a:pt x="15" y="13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6" y="4"/>
                  </a:lnTo>
                  <a:lnTo>
                    <a:pt x="17" y="1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1"/>
                  </a:lnTo>
                  <a:lnTo>
                    <a:pt x="20" y="4"/>
                  </a:lnTo>
                  <a:lnTo>
                    <a:pt x="20" y="6"/>
                  </a:lnTo>
                  <a:lnTo>
                    <a:pt x="20" y="9"/>
                  </a:lnTo>
                  <a:lnTo>
                    <a:pt x="21" y="13"/>
                  </a:lnTo>
                  <a:lnTo>
                    <a:pt x="21" y="18"/>
                  </a:lnTo>
                  <a:lnTo>
                    <a:pt x="21" y="22"/>
                  </a:lnTo>
                  <a:lnTo>
                    <a:pt x="22" y="27"/>
                  </a:lnTo>
                  <a:lnTo>
                    <a:pt x="22" y="31"/>
                  </a:lnTo>
                  <a:lnTo>
                    <a:pt x="22" y="37"/>
                  </a:lnTo>
                  <a:lnTo>
                    <a:pt x="24" y="49"/>
                  </a:lnTo>
                  <a:lnTo>
                    <a:pt x="25" y="62"/>
                  </a:lnTo>
                  <a:lnTo>
                    <a:pt x="25" y="70"/>
                  </a:lnTo>
                  <a:lnTo>
                    <a:pt x="25" y="77"/>
                  </a:lnTo>
                  <a:lnTo>
                    <a:pt x="26" y="86"/>
                  </a:lnTo>
                  <a:lnTo>
                    <a:pt x="26" y="95"/>
                  </a:lnTo>
                  <a:lnTo>
                    <a:pt x="26" y="104"/>
                  </a:lnTo>
                  <a:lnTo>
                    <a:pt x="27" y="113"/>
                  </a:lnTo>
                  <a:lnTo>
                    <a:pt x="28" y="132"/>
                  </a:lnTo>
                  <a:lnTo>
                    <a:pt x="30" y="153"/>
                  </a:lnTo>
                  <a:lnTo>
                    <a:pt x="30" y="176"/>
                  </a:lnTo>
                  <a:lnTo>
                    <a:pt x="31" y="199"/>
                  </a:lnTo>
                  <a:lnTo>
                    <a:pt x="32" y="223"/>
                  </a:lnTo>
                  <a:lnTo>
                    <a:pt x="32" y="235"/>
                  </a:lnTo>
                  <a:lnTo>
                    <a:pt x="32" y="249"/>
                  </a:lnTo>
                  <a:lnTo>
                    <a:pt x="33" y="263"/>
                  </a:lnTo>
                  <a:lnTo>
                    <a:pt x="33" y="278"/>
                  </a:lnTo>
                  <a:lnTo>
                    <a:pt x="33" y="293"/>
                  </a:lnTo>
                  <a:lnTo>
                    <a:pt x="33" y="310"/>
                  </a:lnTo>
                  <a:lnTo>
                    <a:pt x="35" y="341"/>
                  </a:lnTo>
                  <a:lnTo>
                    <a:pt x="35" y="356"/>
                  </a:lnTo>
                  <a:lnTo>
                    <a:pt x="35" y="372"/>
                  </a:lnTo>
                  <a:lnTo>
                    <a:pt x="36" y="387"/>
                  </a:lnTo>
                  <a:lnTo>
                    <a:pt x="36" y="400"/>
                  </a:lnTo>
                  <a:lnTo>
                    <a:pt x="36" y="414"/>
                  </a:lnTo>
                  <a:lnTo>
                    <a:pt x="36" y="426"/>
                  </a:lnTo>
                  <a:lnTo>
                    <a:pt x="36" y="436"/>
                  </a:lnTo>
                  <a:lnTo>
                    <a:pt x="36" y="441"/>
                  </a:lnTo>
                  <a:lnTo>
                    <a:pt x="37" y="447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21" name="Freeform 389"/>
            <p:cNvSpPr>
              <a:spLocks/>
            </p:cNvSpPr>
            <p:nvPr/>
          </p:nvSpPr>
          <p:spPr bwMode="auto">
            <a:xfrm>
              <a:off x="3334" y="1612"/>
              <a:ext cx="37" cy="224"/>
            </a:xfrm>
            <a:custGeom>
              <a:avLst/>
              <a:gdLst>
                <a:gd name="T0" fmla="*/ 0 w 37"/>
                <a:gd name="T1" fmla="*/ 3 h 446"/>
                <a:gd name="T2" fmla="*/ 0 w 37"/>
                <a:gd name="T3" fmla="*/ 11 h 446"/>
                <a:gd name="T4" fmla="*/ 0 w 37"/>
                <a:gd name="T5" fmla="*/ 22 h 446"/>
                <a:gd name="T6" fmla="*/ 0 w 37"/>
                <a:gd name="T7" fmla="*/ 40 h 446"/>
                <a:gd name="T8" fmla="*/ 2 w 37"/>
                <a:gd name="T9" fmla="*/ 70 h 446"/>
                <a:gd name="T10" fmla="*/ 3 w 37"/>
                <a:gd name="T11" fmla="*/ 101 h 446"/>
                <a:gd name="T12" fmla="*/ 4 w 37"/>
                <a:gd name="T13" fmla="*/ 150 h 446"/>
                <a:gd name="T14" fmla="*/ 5 w 37"/>
                <a:gd name="T15" fmla="*/ 181 h 446"/>
                <a:gd name="T16" fmla="*/ 5 w 37"/>
                <a:gd name="T17" fmla="*/ 209 h 446"/>
                <a:gd name="T18" fmla="*/ 6 w 37"/>
                <a:gd name="T19" fmla="*/ 245 h 446"/>
                <a:gd name="T20" fmla="*/ 8 w 37"/>
                <a:gd name="T21" fmla="*/ 290 h 446"/>
                <a:gd name="T22" fmla="*/ 10 w 37"/>
                <a:gd name="T23" fmla="*/ 332 h 446"/>
                <a:gd name="T24" fmla="*/ 10 w 37"/>
                <a:gd name="T25" fmla="*/ 349 h 446"/>
                <a:gd name="T26" fmla="*/ 11 w 37"/>
                <a:gd name="T27" fmla="*/ 367 h 446"/>
                <a:gd name="T28" fmla="*/ 13 w 37"/>
                <a:gd name="T29" fmla="*/ 382 h 446"/>
                <a:gd name="T30" fmla="*/ 14 w 37"/>
                <a:gd name="T31" fmla="*/ 407 h 446"/>
                <a:gd name="T32" fmla="*/ 14 w 37"/>
                <a:gd name="T33" fmla="*/ 418 h 446"/>
                <a:gd name="T34" fmla="*/ 15 w 37"/>
                <a:gd name="T35" fmla="*/ 428 h 446"/>
                <a:gd name="T36" fmla="*/ 16 w 37"/>
                <a:gd name="T37" fmla="*/ 436 h 446"/>
                <a:gd name="T38" fmla="*/ 16 w 37"/>
                <a:gd name="T39" fmla="*/ 440 h 446"/>
                <a:gd name="T40" fmla="*/ 17 w 37"/>
                <a:gd name="T41" fmla="*/ 445 h 446"/>
                <a:gd name="T42" fmla="*/ 19 w 37"/>
                <a:gd name="T43" fmla="*/ 446 h 446"/>
                <a:gd name="T44" fmla="*/ 19 w 37"/>
                <a:gd name="T45" fmla="*/ 445 h 446"/>
                <a:gd name="T46" fmla="*/ 20 w 37"/>
                <a:gd name="T47" fmla="*/ 440 h 446"/>
                <a:gd name="T48" fmla="*/ 20 w 37"/>
                <a:gd name="T49" fmla="*/ 436 h 446"/>
                <a:gd name="T50" fmla="*/ 21 w 37"/>
                <a:gd name="T51" fmla="*/ 428 h 446"/>
                <a:gd name="T52" fmla="*/ 22 w 37"/>
                <a:gd name="T53" fmla="*/ 418 h 446"/>
                <a:gd name="T54" fmla="*/ 22 w 37"/>
                <a:gd name="T55" fmla="*/ 407 h 446"/>
                <a:gd name="T56" fmla="*/ 25 w 37"/>
                <a:gd name="T57" fmla="*/ 382 h 446"/>
                <a:gd name="T58" fmla="*/ 25 w 37"/>
                <a:gd name="T59" fmla="*/ 367 h 446"/>
                <a:gd name="T60" fmla="*/ 26 w 37"/>
                <a:gd name="T61" fmla="*/ 349 h 446"/>
                <a:gd name="T62" fmla="*/ 27 w 37"/>
                <a:gd name="T63" fmla="*/ 332 h 446"/>
                <a:gd name="T64" fmla="*/ 30 w 37"/>
                <a:gd name="T65" fmla="*/ 291 h 446"/>
                <a:gd name="T66" fmla="*/ 31 w 37"/>
                <a:gd name="T67" fmla="*/ 245 h 446"/>
                <a:gd name="T68" fmla="*/ 32 w 37"/>
                <a:gd name="T69" fmla="*/ 209 h 446"/>
                <a:gd name="T70" fmla="*/ 33 w 37"/>
                <a:gd name="T71" fmla="*/ 181 h 446"/>
                <a:gd name="T72" fmla="*/ 33 w 37"/>
                <a:gd name="T73" fmla="*/ 151 h 446"/>
                <a:gd name="T74" fmla="*/ 35 w 37"/>
                <a:gd name="T75" fmla="*/ 104 h 446"/>
                <a:gd name="T76" fmla="*/ 35 w 37"/>
                <a:gd name="T77" fmla="*/ 72 h 446"/>
                <a:gd name="T78" fmla="*/ 36 w 37"/>
                <a:gd name="T79" fmla="*/ 44 h 446"/>
                <a:gd name="T80" fmla="*/ 36 w 37"/>
                <a:gd name="T81" fmla="*/ 19 h 446"/>
                <a:gd name="T82" fmla="*/ 36 w 37"/>
                <a:gd name="T83" fmla="*/ 4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7" h="446">
                  <a:moveTo>
                    <a:pt x="0" y="0"/>
                  </a:moveTo>
                  <a:lnTo>
                    <a:pt x="0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0" y="40"/>
                  </a:lnTo>
                  <a:lnTo>
                    <a:pt x="2" y="55"/>
                  </a:lnTo>
                  <a:lnTo>
                    <a:pt x="2" y="70"/>
                  </a:lnTo>
                  <a:lnTo>
                    <a:pt x="2" y="84"/>
                  </a:lnTo>
                  <a:lnTo>
                    <a:pt x="3" y="101"/>
                  </a:lnTo>
                  <a:lnTo>
                    <a:pt x="3" y="134"/>
                  </a:lnTo>
                  <a:lnTo>
                    <a:pt x="4" y="150"/>
                  </a:lnTo>
                  <a:lnTo>
                    <a:pt x="4" y="165"/>
                  </a:lnTo>
                  <a:lnTo>
                    <a:pt x="5" y="181"/>
                  </a:lnTo>
                  <a:lnTo>
                    <a:pt x="5" y="196"/>
                  </a:lnTo>
                  <a:lnTo>
                    <a:pt x="5" y="209"/>
                  </a:lnTo>
                  <a:lnTo>
                    <a:pt x="6" y="221"/>
                  </a:lnTo>
                  <a:lnTo>
                    <a:pt x="6" y="245"/>
                  </a:lnTo>
                  <a:lnTo>
                    <a:pt x="8" y="269"/>
                  </a:lnTo>
                  <a:lnTo>
                    <a:pt x="8" y="290"/>
                  </a:lnTo>
                  <a:lnTo>
                    <a:pt x="9" y="312"/>
                  </a:lnTo>
                  <a:lnTo>
                    <a:pt x="10" y="332"/>
                  </a:lnTo>
                  <a:lnTo>
                    <a:pt x="10" y="340"/>
                  </a:lnTo>
                  <a:lnTo>
                    <a:pt x="10" y="349"/>
                  </a:lnTo>
                  <a:lnTo>
                    <a:pt x="11" y="358"/>
                  </a:lnTo>
                  <a:lnTo>
                    <a:pt x="11" y="367"/>
                  </a:lnTo>
                  <a:lnTo>
                    <a:pt x="11" y="375"/>
                  </a:lnTo>
                  <a:lnTo>
                    <a:pt x="13" y="382"/>
                  </a:lnTo>
                  <a:lnTo>
                    <a:pt x="13" y="396"/>
                  </a:lnTo>
                  <a:lnTo>
                    <a:pt x="14" y="407"/>
                  </a:lnTo>
                  <a:lnTo>
                    <a:pt x="14" y="413"/>
                  </a:lnTo>
                  <a:lnTo>
                    <a:pt x="14" y="418"/>
                  </a:lnTo>
                  <a:lnTo>
                    <a:pt x="15" y="424"/>
                  </a:lnTo>
                  <a:lnTo>
                    <a:pt x="15" y="428"/>
                  </a:lnTo>
                  <a:lnTo>
                    <a:pt x="15" y="431"/>
                  </a:lnTo>
                  <a:lnTo>
                    <a:pt x="16" y="436"/>
                  </a:lnTo>
                  <a:lnTo>
                    <a:pt x="16" y="439"/>
                  </a:lnTo>
                  <a:lnTo>
                    <a:pt x="16" y="440"/>
                  </a:lnTo>
                  <a:lnTo>
                    <a:pt x="17" y="443"/>
                  </a:lnTo>
                  <a:lnTo>
                    <a:pt x="17" y="445"/>
                  </a:lnTo>
                  <a:lnTo>
                    <a:pt x="17" y="445"/>
                  </a:lnTo>
                  <a:lnTo>
                    <a:pt x="19" y="446"/>
                  </a:lnTo>
                  <a:lnTo>
                    <a:pt x="19" y="445"/>
                  </a:lnTo>
                  <a:lnTo>
                    <a:pt x="19" y="445"/>
                  </a:lnTo>
                  <a:lnTo>
                    <a:pt x="19" y="443"/>
                  </a:lnTo>
                  <a:lnTo>
                    <a:pt x="20" y="440"/>
                  </a:lnTo>
                  <a:lnTo>
                    <a:pt x="20" y="439"/>
                  </a:lnTo>
                  <a:lnTo>
                    <a:pt x="20" y="436"/>
                  </a:lnTo>
                  <a:lnTo>
                    <a:pt x="21" y="431"/>
                  </a:lnTo>
                  <a:lnTo>
                    <a:pt x="21" y="428"/>
                  </a:lnTo>
                  <a:lnTo>
                    <a:pt x="21" y="424"/>
                  </a:lnTo>
                  <a:lnTo>
                    <a:pt x="22" y="418"/>
                  </a:lnTo>
                  <a:lnTo>
                    <a:pt x="22" y="413"/>
                  </a:lnTo>
                  <a:lnTo>
                    <a:pt x="22" y="407"/>
                  </a:lnTo>
                  <a:lnTo>
                    <a:pt x="24" y="396"/>
                  </a:lnTo>
                  <a:lnTo>
                    <a:pt x="25" y="382"/>
                  </a:lnTo>
                  <a:lnTo>
                    <a:pt x="25" y="375"/>
                  </a:lnTo>
                  <a:lnTo>
                    <a:pt x="25" y="367"/>
                  </a:lnTo>
                  <a:lnTo>
                    <a:pt x="26" y="358"/>
                  </a:lnTo>
                  <a:lnTo>
                    <a:pt x="26" y="349"/>
                  </a:lnTo>
                  <a:lnTo>
                    <a:pt x="26" y="340"/>
                  </a:lnTo>
                  <a:lnTo>
                    <a:pt x="27" y="332"/>
                  </a:lnTo>
                  <a:lnTo>
                    <a:pt x="29" y="312"/>
                  </a:lnTo>
                  <a:lnTo>
                    <a:pt x="30" y="291"/>
                  </a:lnTo>
                  <a:lnTo>
                    <a:pt x="30" y="269"/>
                  </a:lnTo>
                  <a:lnTo>
                    <a:pt x="31" y="245"/>
                  </a:lnTo>
                  <a:lnTo>
                    <a:pt x="32" y="223"/>
                  </a:lnTo>
                  <a:lnTo>
                    <a:pt x="32" y="209"/>
                  </a:lnTo>
                  <a:lnTo>
                    <a:pt x="32" y="196"/>
                  </a:lnTo>
                  <a:lnTo>
                    <a:pt x="33" y="181"/>
                  </a:lnTo>
                  <a:lnTo>
                    <a:pt x="33" y="166"/>
                  </a:lnTo>
                  <a:lnTo>
                    <a:pt x="33" y="151"/>
                  </a:lnTo>
                  <a:lnTo>
                    <a:pt x="33" y="135"/>
                  </a:lnTo>
                  <a:lnTo>
                    <a:pt x="35" y="104"/>
                  </a:lnTo>
                  <a:lnTo>
                    <a:pt x="35" y="89"/>
                  </a:lnTo>
                  <a:lnTo>
                    <a:pt x="35" y="72"/>
                  </a:lnTo>
                  <a:lnTo>
                    <a:pt x="36" y="58"/>
                  </a:lnTo>
                  <a:lnTo>
                    <a:pt x="36" y="44"/>
                  </a:lnTo>
                  <a:lnTo>
                    <a:pt x="36" y="31"/>
                  </a:lnTo>
                  <a:lnTo>
                    <a:pt x="36" y="19"/>
                  </a:lnTo>
                  <a:lnTo>
                    <a:pt x="36" y="8"/>
                  </a:lnTo>
                  <a:lnTo>
                    <a:pt x="36" y="4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22" name="Freeform 390"/>
            <p:cNvSpPr>
              <a:spLocks/>
            </p:cNvSpPr>
            <p:nvPr/>
          </p:nvSpPr>
          <p:spPr bwMode="auto">
            <a:xfrm>
              <a:off x="3408" y="1612"/>
              <a:ext cx="37" cy="224"/>
            </a:xfrm>
            <a:custGeom>
              <a:avLst/>
              <a:gdLst>
                <a:gd name="T0" fmla="*/ 0 w 37"/>
                <a:gd name="T1" fmla="*/ 3 h 446"/>
                <a:gd name="T2" fmla="*/ 0 w 37"/>
                <a:gd name="T3" fmla="*/ 11 h 446"/>
                <a:gd name="T4" fmla="*/ 0 w 37"/>
                <a:gd name="T5" fmla="*/ 22 h 446"/>
                <a:gd name="T6" fmla="*/ 0 w 37"/>
                <a:gd name="T7" fmla="*/ 40 h 446"/>
                <a:gd name="T8" fmla="*/ 1 w 37"/>
                <a:gd name="T9" fmla="*/ 70 h 446"/>
                <a:gd name="T10" fmla="*/ 2 w 37"/>
                <a:gd name="T11" fmla="*/ 101 h 446"/>
                <a:gd name="T12" fmla="*/ 4 w 37"/>
                <a:gd name="T13" fmla="*/ 150 h 446"/>
                <a:gd name="T14" fmla="*/ 5 w 37"/>
                <a:gd name="T15" fmla="*/ 181 h 446"/>
                <a:gd name="T16" fmla="*/ 5 w 37"/>
                <a:gd name="T17" fmla="*/ 209 h 446"/>
                <a:gd name="T18" fmla="*/ 6 w 37"/>
                <a:gd name="T19" fmla="*/ 245 h 446"/>
                <a:gd name="T20" fmla="*/ 7 w 37"/>
                <a:gd name="T21" fmla="*/ 290 h 446"/>
                <a:gd name="T22" fmla="*/ 10 w 37"/>
                <a:gd name="T23" fmla="*/ 332 h 446"/>
                <a:gd name="T24" fmla="*/ 10 w 37"/>
                <a:gd name="T25" fmla="*/ 349 h 446"/>
                <a:gd name="T26" fmla="*/ 11 w 37"/>
                <a:gd name="T27" fmla="*/ 367 h 446"/>
                <a:gd name="T28" fmla="*/ 12 w 37"/>
                <a:gd name="T29" fmla="*/ 382 h 446"/>
                <a:gd name="T30" fmla="*/ 13 w 37"/>
                <a:gd name="T31" fmla="*/ 407 h 446"/>
                <a:gd name="T32" fmla="*/ 13 w 37"/>
                <a:gd name="T33" fmla="*/ 418 h 446"/>
                <a:gd name="T34" fmla="*/ 15 w 37"/>
                <a:gd name="T35" fmla="*/ 428 h 446"/>
                <a:gd name="T36" fmla="*/ 16 w 37"/>
                <a:gd name="T37" fmla="*/ 436 h 446"/>
                <a:gd name="T38" fmla="*/ 16 w 37"/>
                <a:gd name="T39" fmla="*/ 440 h 446"/>
                <a:gd name="T40" fmla="*/ 17 w 37"/>
                <a:gd name="T41" fmla="*/ 445 h 446"/>
                <a:gd name="T42" fmla="*/ 18 w 37"/>
                <a:gd name="T43" fmla="*/ 446 h 446"/>
                <a:gd name="T44" fmla="*/ 18 w 37"/>
                <a:gd name="T45" fmla="*/ 445 h 446"/>
                <a:gd name="T46" fmla="*/ 20 w 37"/>
                <a:gd name="T47" fmla="*/ 440 h 446"/>
                <a:gd name="T48" fmla="*/ 20 w 37"/>
                <a:gd name="T49" fmla="*/ 436 h 446"/>
                <a:gd name="T50" fmla="*/ 21 w 37"/>
                <a:gd name="T51" fmla="*/ 428 h 446"/>
                <a:gd name="T52" fmla="*/ 22 w 37"/>
                <a:gd name="T53" fmla="*/ 418 h 446"/>
                <a:gd name="T54" fmla="*/ 22 w 37"/>
                <a:gd name="T55" fmla="*/ 407 h 446"/>
                <a:gd name="T56" fmla="*/ 24 w 37"/>
                <a:gd name="T57" fmla="*/ 382 h 446"/>
                <a:gd name="T58" fmla="*/ 24 w 37"/>
                <a:gd name="T59" fmla="*/ 367 h 446"/>
                <a:gd name="T60" fmla="*/ 26 w 37"/>
                <a:gd name="T61" fmla="*/ 349 h 446"/>
                <a:gd name="T62" fmla="*/ 27 w 37"/>
                <a:gd name="T63" fmla="*/ 332 h 446"/>
                <a:gd name="T64" fmla="*/ 29 w 37"/>
                <a:gd name="T65" fmla="*/ 291 h 446"/>
                <a:gd name="T66" fmla="*/ 31 w 37"/>
                <a:gd name="T67" fmla="*/ 245 h 446"/>
                <a:gd name="T68" fmla="*/ 32 w 37"/>
                <a:gd name="T69" fmla="*/ 209 h 446"/>
                <a:gd name="T70" fmla="*/ 33 w 37"/>
                <a:gd name="T71" fmla="*/ 181 h 446"/>
                <a:gd name="T72" fmla="*/ 33 w 37"/>
                <a:gd name="T73" fmla="*/ 151 h 446"/>
                <a:gd name="T74" fmla="*/ 34 w 37"/>
                <a:gd name="T75" fmla="*/ 104 h 446"/>
                <a:gd name="T76" fmla="*/ 34 w 37"/>
                <a:gd name="T77" fmla="*/ 72 h 446"/>
                <a:gd name="T78" fmla="*/ 35 w 37"/>
                <a:gd name="T79" fmla="*/ 44 h 446"/>
                <a:gd name="T80" fmla="*/ 35 w 37"/>
                <a:gd name="T81" fmla="*/ 19 h 446"/>
                <a:gd name="T82" fmla="*/ 35 w 37"/>
                <a:gd name="T83" fmla="*/ 4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7" h="446">
                  <a:moveTo>
                    <a:pt x="0" y="0"/>
                  </a:moveTo>
                  <a:lnTo>
                    <a:pt x="0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0" y="40"/>
                  </a:lnTo>
                  <a:lnTo>
                    <a:pt x="1" y="55"/>
                  </a:lnTo>
                  <a:lnTo>
                    <a:pt x="1" y="70"/>
                  </a:lnTo>
                  <a:lnTo>
                    <a:pt x="1" y="84"/>
                  </a:lnTo>
                  <a:lnTo>
                    <a:pt x="2" y="101"/>
                  </a:lnTo>
                  <a:lnTo>
                    <a:pt x="2" y="134"/>
                  </a:lnTo>
                  <a:lnTo>
                    <a:pt x="4" y="150"/>
                  </a:lnTo>
                  <a:lnTo>
                    <a:pt x="4" y="165"/>
                  </a:lnTo>
                  <a:lnTo>
                    <a:pt x="5" y="181"/>
                  </a:lnTo>
                  <a:lnTo>
                    <a:pt x="5" y="196"/>
                  </a:lnTo>
                  <a:lnTo>
                    <a:pt x="5" y="209"/>
                  </a:lnTo>
                  <a:lnTo>
                    <a:pt x="6" y="221"/>
                  </a:lnTo>
                  <a:lnTo>
                    <a:pt x="6" y="245"/>
                  </a:lnTo>
                  <a:lnTo>
                    <a:pt x="7" y="269"/>
                  </a:lnTo>
                  <a:lnTo>
                    <a:pt x="7" y="290"/>
                  </a:lnTo>
                  <a:lnTo>
                    <a:pt x="8" y="312"/>
                  </a:lnTo>
                  <a:lnTo>
                    <a:pt x="10" y="332"/>
                  </a:lnTo>
                  <a:lnTo>
                    <a:pt x="10" y="340"/>
                  </a:lnTo>
                  <a:lnTo>
                    <a:pt x="10" y="349"/>
                  </a:lnTo>
                  <a:lnTo>
                    <a:pt x="11" y="358"/>
                  </a:lnTo>
                  <a:lnTo>
                    <a:pt x="11" y="367"/>
                  </a:lnTo>
                  <a:lnTo>
                    <a:pt x="11" y="375"/>
                  </a:lnTo>
                  <a:lnTo>
                    <a:pt x="12" y="382"/>
                  </a:lnTo>
                  <a:lnTo>
                    <a:pt x="12" y="396"/>
                  </a:lnTo>
                  <a:lnTo>
                    <a:pt x="13" y="407"/>
                  </a:lnTo>
                  <a:lnTo>
                    <a:pt x="13" y="413"/>
                  </a:lnTo>
                  <a:lnTo>
                    <a:pt x="13" y="418"/>
                  </a:lnTo>
                  <a:lnTo>
                    <a:pt x="15" y="424"/>
                  </a:lnTo>
                  <a:lnTo>
                    <a:pt x="15" y="428"/>
                  </a:lnTo>
                  <a:lnTo>
                    <a:pt x="15" y="431"/>
                  </a:lnTo>
                  <a:lnTo>
                    <a:pt x="16" y="436"/>
                  </a:lnTo>
                  <a:lnTo>
                    <a:pt x="16" y="439"/>
                  </a:lnTo>
                  <a:lnTo>
                    <a:pt x="16" y="440"/>
                  </a:lnTo>
                  <a:lnTo>
                    <a:pt x="17" y="443"/>
                  </a:lnTo>
                  <a:lnTo>
                    <a:pt x="17" y="445"/>
                  </a:lnTo>
                  <a:lnTo>
                    <a:pt x="17" y="445"/>
                  </a:lnTo>
                  <a:lnTo>
                    <a:pt x="18" y="446"/>
                  </a:lnTo>
                  <a:lnTo>
                    <a:pt x="18" y="445"/>
                  </a:lnTo>
                  <a:lnTo>
                    <a:pt x="18" y="445"/>
                  </a:lnTo>
                  <a:lnTo>
                    <a:pt x="18" y="443"/>
                  </a:lnTo>
                  <a:lnTo>
                    <a:pt x="20" y="440"/>
                  </a:lnTo>
                  <a:lnTo>
                    <a:pt x="20" y="439"/>
                  </a:lnTo>
                  <a:lnTo>
                    <a:pt x="20" y="436"/>
                  </a:lnTo>
                  <a:lnTo>
                    <a:pt x="21" y="431"/>
                  </a:lnTo>
                  <a:lnTo>
                    <a:pt x="21" y="428"/>
                  </a:lnTo>
                  <a:lnTo>
                    <a:pt x="21" y="424"/>
                  </a:lnTo>
                  <a:lnTo>
                    <a:pt x="22" y="418"/>
                  </a:lnTo>
                  <a:lnTo>
                    <a:pt x="22" y="413"/>
                  </a:lnTo>
                  <a:lnTo>
                    <a:pt x="22" y="407"/>
                  </a:lnTo>
                  <a:lnTo>
                    <a:pt x="23" y="396"/>
                  </a:lnTo>
                  <a:lnTo>
                    <a:pt x="24" y="382"/>
                  </a:lnTo>
                  <a:lnTo>
                    <a:pt x="24" y="375"/>
                  </a:lnTo>
                  <a:lnTo>
                    <a:pt x="24" y="367"/>
                  </a:lnTo>
                  <a:lnTo>
                    <a:pt x="26" y="358"/>
                  </a:lnTo>
                  <a:lnTo>
                    <a:pt x="26" y="349"/>
                  </a:lnTo>
                  <a:lnTo>
                    <a:pt x="26" y="340"/>
                  </a:lnTo>
                  <a:lnTo>
                    <a:pt x="27" y="332"/>
                  </a:lnTo>
                  <a:lnTo>
                    <a:pt x="28" y="312"/>
                  </a:lnTo>
                  <a:lnTo>
                    <a:pt x="29" y="291"/>
                  </a:lnTo>
                  <a:lnTo>
                    <a:pt x="29" y="269"/>
                  </a:lnTo>
                  <a:lnTo>
                    <a:pt x="31" y="245"/>
                  </a:lnTo>
                  <a:lnTo>
                    <a:pt x="32" y="223"/>
                  </a:lnTo>
                  <a:lnTo>
                    <a:pt x="32" y="209"/>
                  </a:lnTo>
                  <a:lnTo>
                    <a:pt x="32" y="196"/>
                  </a:lnTo>
                  <a:lnTo>
                    <a:pt x="33" y="181"/>
                  </a:lnTo>
                  <a:lnTo>
                    <a:pt x="33" y="166"/>
                  </a:lnTo>
                  <a:lnTo>
                    <a:pt x="33" y="151"/>
                  </a:lnTo>
                  <a:lnTo>
                    <a:pt x="33" y="135"/>
                  </a:lnTo>
                  <a:lnTo>
                    <a:pt x="34" y="104"/>
                  </a:lnTo>
                  <a:lnTo>
                    <a:pt x="34" y="89"/>
                  </a:lnTo>
                  <a:lnTo>
                    <a:pt x="34" y="72"/>
                  </a:lnTo>
                  <a:lnTo>
                    <a:pt x="35" y="58"/>
                  </a:lnTo>
                  <a:lnTo>
                    <a:pt x="35" y="44"/>
                  </a:lnTo>
                  <a:lnTo>
                    <a:pt x="35" y="31"/>
                  </a:lnTo>
                  <a:lnTo>
                    <a:pt x="35" y="19"/>
                  </a:lnTo>
                  <a:lnTo>
                    <a:pt x="35" y="8"/>
                  </a:lnTo>
                  <a:lnTo>
                    <a:pt x="35" y="4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23" name="Freeform 391"/>
            <p:cNvSpPr>
              <a:spLocks/>
            </p:cNvSpPr>
            <p:nvPr/>
          </p:nvSpPr>
          <p:spPr bwMode="auto">
            <a:xfrm>
              <a:off x="3481" y="1612"/>
              <a:ext cx="37" cy="224"/>
            </a:xfrm>
            <a:custGeom>
              <a:avLst/>
              <a:gdLst>
                <a:gd name="T0" fmla="*/ 0 w 37"/>
                <a:gd name="T1" fmla="*/ 3 h 446"/>
                <a:gd name="T2" fmla="*/ 0 w 37"/>
                <a:gd name="T3" fmla="*/ 11 h 446"/>
                <a:gd name="T4" fmla="*/ 0 w 37"/>
                <a:gd name="T5" fmla="*/ 22 h 446"/>
                <a:gd name="T6" fmla="*/ 0 w 37"/>
                <a:gd name="T7" fmla="*/ 40 h 446"/>
                <a:gd name="T8" fmla="*/ 2 w 37"/>
                <a:gd name="T9" fmla="*/ 70 h 446"/>
                <a:gd name="T10" fmla="*/ 3 w 37"/>
                <a:gd name="T11" fmla="*/ 101 h 446"/>
                <a:gd name="T12" fmla="*/ 4 w 37"/>
                <a:gd name="T13" fmla="*/ 150 h 446"/>
                <a:gd name="T14" fmla="*/ 5 w 37"/>
                <a:gd name="T15" fmla="*/ 181 h 446"/>
                <a:gd name="T16" fmla="*/ 5 w 37"/>
                <a:gd name="T17" fmla="*/ 209 h 446"/>
                <a:gd name="T18" fmla="*/ 7 w 37"/>
                <a:gd name="T19" fmla="*/ 245 h 446"/>
                <a:gd name="T20" fmla="*/ 8 w 37"/>
                <a:gd name="T21" fmla="*/ 290 h 446"/>
                <a:gd name="T22" fmla="*/ 10 w 37"/>
                <a:gd name="T23" fmla="*/ 332 h 446"/>
                <a:gd name="T24" fmla="*/ 10 w 37"/>
                <a:gd name="T25" fmla="*/ 349 h 446"/>
                <a:gd name="T26" fmla="*/ 11 w 37"/>
                <a:gd name="T27" fmla="*/ 367 h 446"/>
                <a:gd name="T28" fmla="*/ 13 w 37"/>
                <a:gd name="T29" fmla="*/ 382 h 446"/>
                <a:gd name="T30" fmla="*/ 14 w 37"/>
                <a:gd name="T31" fmla="*/ 407 h 446"/>
                <a:gd name="T32" fmla="*/ 14 w 37"/>
                <a:gd name="T33" fmla="*/ 418 h 446"/>
                <a:gd name="T34" fmla="*/ 15 w 37"/>
                <a:gd name="T35" fmla="*/ 428 h 446"/>
                <a:gd name="T36" fmla="*/ 16 w 37"/>
                <a:gd name="T37" fmla="*/ 436 h 446"/>
                <a:gd name="T38" fmla="*/ 16 w 37"/>
                <a:gd name="T39" fmla="*/ 440 h 446"/>
                <a:gd name="T40" fmla="*/ 18 w 37"/>
                <a:gd name="T41" fmla="*/ 445 h 446"/>
                <a:gd name="T42" fmla="*/ 19 w 37"/>
                <a:gd name="T43" fmla="*/ 446 h 446"/>
                <a:gd name="T44" fmla="*/ 19 w 37"/>
                <a:gd name="T45" fmla="*/ 445 h 446"/>
                <a:gd name="T46" fmla="*/ 20 w 37"/>
                <a:gd name="T47" fmla="*/ 440 h 446"/>
                <a:gd name="T48" fmla="*/ 20 w 37"/>
                <a:gd name="T49" fmla="*/ 436 h 446"/>
                <a:gd name="T50" fmla="*/ 21 w 37"/>
                <a:gd name="T51" fmla="*/ 428 h 446"/>
                <a:gd name="T52" fmla="*/ 23 w 37"/>
                <a:gd name="T53" fmla="*/ 418 h 446"/>
                <a:gd name="T54" fmla="*/ 23 w 37"/>
                <a:gd name="T55" fmla="*/ 407 h 446"/>
                <a:gd name="T56" fmla="*/ 25 w 37"/>
                <a:gd name="T57" fmla="*/ 382 h 446"/>
                <a:gd name="T58" fmla="*/ 25 w 37"/>
                <a:gd name="T59" fmla="*/ 367 h 446"/>
                <a:gd name="T60" fmla="*/ 26 w 37"/>
                <a:gd name="T61" fmla="*/ 349 h 446"/>
                <a:gd name="T62" fmla="*/ 27 w 37"/>
                <a:gd name="T63" fmla="*/ 332 h 446"/>
                <a:gd name="T64" fmla="*/ 30 w 37"/>
                <a:gd name="T65" fmla="*/ 291 h 446"/>
                <a:gd name="T66" fmla="*/ 31 w 37"/>
                <a:gd name="T67" fmla="*/ 245 h 446"/>
                <a:gd name="T68" fmla="*/ 32 w 37"/>
                <a:gd name="T69" fmla="*/ 209 h 446"/>
                <a:gd name="T70" fmla="*/ 34 w 37"/>
                <a:gd name="T71" fmla="*/ 181 h 446"/>
                <a:gd name="T72" fmla="*/ 34 w 37"/>
                <a:gd name="T73" fmla="*/ 151 h 446"/>
                <a:gd name="T74" fmla="*/ 35 w 37"/>
                <a:gd name="T75" fmla="*/ 104 h 446"/>
                <a:gd name="T76" fmla="*/ 35 w 37"/>
                <a:gd name="T77" fmla="*/ 72 h 446"/>
                <a:gd name="T78" fmla="*/ 36 w 37"/>
                <a:gd name="T79" fmla="*/ 44 h 446"/>
                <a:gd name="T80" fmla="*/ 36 w 37"/>
                <a:gd name="T81" fmla="*/ 19 h 446"/>
                <a:gd name="T82" fmla="*/ 36 w 37"/>
                <a:gd name="T83" fmla="*/ 4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7" h="446">
                  <a:moveTo>
                    <a:pt x="0" y="0"/>
                  </a:moveTo>
                  <a:lnTo>
                    <a:pt x="0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0" y="40"/>
                  </a:lnTo>
                  <a:lnTo>
                    <a:pt x="2" y="55"/>
                  </a:lnTo>
                  <a:lnTo>
                    <a:pt x="2" y="70"/>
                  </a:lnTo>
                  <a:lnTo>
                    <a:pt x="2" y="84"/>
                  </a:lnTo>
                  <a:lnTo>
                    <a:pt x="3" y="101"/>
                  </a:lnTo>
                  <a:lnTo>
                    <a:pt x="3" y="134"/>
                  </a:lnTo>
                  <a:lnTo>
                    <a:pt x="4" y="150"/>
                  </a:lnTo>
                  <a:lnTo>
                    <a:pt x="4" y="165"/>
                  </a:lnTo>
                  <a:lnTo>
                    <a:pt x="5" y="181"/>
                  </a:lnTo>
                  <a:lnTo>
                    <a:pt x="5" y="196"/>
                  </a:lnTo>
                  <a:lnTo>
                    <a:pt x="5" y="209"/>
                  </a:lnTo>
                  <a:lnTo>
                    <a:pt x="7" y="221"/>
                  </a:lnTo>
                  <a:lnTo>
                    <a:pt x="7" y="245"/>
                  </a:lnTo>
                  <a:lnTo>
                    <a:pt x="8" y="269"/>
                  </a:lnTo>
                  <a:lnTo>
                    <a:pt x="8" y="290"/>
                  </a:lnTo>
                  <a:lnTo>
                    <a:pt x="9" y="312"/>
                  </a:lnTo>
                  <a:lnTo>
                    <a:pt x="10" y="332"/>
                  </a:lnTo>
                  <a:lnTo>
                    <a:pt x="10" y="340"/>
                  </a:lnTo>
                  <a:lnTo>
                    <a:pt x="10" y="349"/>
                  </a:lnTo>
                  <a:lnTo>
                    <a:pt x="11" y="358"/>
                  </a:lnTo>
                  <a:lnTo>
                    <a:pt x="11" y="367"/>
                  </a:lnTo>
                  <a:lnTo>
                    <a:pt x="11" y="375"/>
                  </a:lnTo>
                  <a:lnTo>
                    <a:pt x="13" y="382"/>
                  </a:lnTo>
                  <a:lnTo>
                    <a:pt x="13" y="396"/>
                  </a:lnTo>
                  <a:lnTo>
                    <a:pt x="14" y="407"/>
                  </a:lnTo>
                  <a:lnTo>
                    <a:pt x="14" y="413"/>
                  </a:lnTo>
                  <a:lnTo>
                    <a:pt x="14" y="418"/>
                  </a:lnTo>
                  <a:lnTo>
                    <a:pt x="15" y="424"/>
                  </a:lnTo>
                  <a:lnTo>
                    <a:pt x="15" y="428"/>
                  </a:lnTo>
                  <a:lnTo>
                    <a:pt x="15" y="431"/>
                  </a:lnTo>
                  <a:lnTo>
                    <a:pt x="16" y="436"/>
                  </a:lnTo>
                  <a:lnTo>
                    <a:pt x="16" y="439"/>
                  </a:lnTo>
                  <a:lnTo>
                    <a:pt x="16" y="440"/>
                  </a:lnTo>
                  <a:lnTo>
                    <a:pt x="18" y="443"/>
                  </a:lnTo>
                  <a:lnTo>
                    <a:pt x="18" y="445"/>
                  </a:lnTo>
                  <a:lnTo>
                    <a:pt x="18" y="445"/>
                  </a:lnTo>
                  <a:lnTo>
                    <a:pt x="19" y="446"/>
                  </a:lnTo>
                  <a:lnTo>
                    <a:pt x="19" y="445"/>
                  </a:lnTo>
                  <a:lnTo>
                    <a:pt x="19" y="445"/>
                  </a:lnTo>
                  <a:lnTo>
                    <a:pt x="19" y="443"/>
                  </a:lnTo>
                  <a:lnTo>
                    <a:pt x="20" y="440"/>
                  </a:lnTo>
                  <a:lnTo>
                    <a:pt x="20" y="439"/>
                  </a:lnTo>
                  <a:lnTo>
                    <a:pt x="20" y="436"/>
                  </a:lnTo>
                  <a:lnTo>
                    <a:pt x="21" y="431"/>
                  </a:lnTo>
                  <a:lnTo>
                    <a:pt x="21" y="428"/>
                  </a:lnTo>
                  <a:lnTo>
                    <a:pt x="21" y="424"/>
                  </a:lnTo>
                  <a:lnTo>
                    <a:pt x="23" y="418"/>
                  </a:lnTo>
                  <a:lnTo>
                    <a:pt x="23" y="413"/>
                  </a:lnTo>
                  <a:lnTo>
                    <a:pt x="23" y="407"/>
                  </a:lnTo>
                  <a:lnTo>
                    <a:pt x="24" y="396"/>
                  </a:lnTo>
                  <a:lnTo>
                    <a:pt x="25" y="382"/>
                  </a:lnTo>
                  <a:lnTo>
                    <a:pt x="25" y="375"/>
                  </a:lnTo>
                  <a:lnTo>
                    <a:pt x="25" y="367"/>
                  </a:lnTo>
                  <a:lnTo>
                    <a:pt x="26" y="358"/>
                  </a:lnTo>
                  <a:lnTo>
                    <a:pt x="26" y="349"/>
                  </a:lnTo>
                  <a:lnTo>
                    <a:pt x="26" y="340"/>
                  </a:lnTo>
                  <a:lnTo>
                    <a:pt x="27" y="332"/>
                  </a:lnTo>
                  <a:lnTo>
                    <a:pt x="29" y="312"/>
                  </a:lnTo>
                  <a:lnTo>
                    <a:pt x="30" y="291"/>
                  </a:lnTo>
                  <a:lnTo>
                    <a:pt x="30" y="269"/>
                  </a:lnTo>
                  <a:lnTo>
                    <a:pt x="31" y="245"/>
                  </a:lnTo>
                  <a:lnTo>
                    <a:pt x="32" y="223"/>
                  </a:lnTo>
                  <a:lnTo>
                    <a:pt x="32" y="209"/>
                  </a:lnTo>
                  <a:lnTo>
                    <a:pt x="32" y="196"/>
                  </a:lnTo>
                  <a:lnTo>
                    <a:pt x="34" y="181"/>
                  </a:lnTo>
                  <a:lnTo>
                    <a:pt x="34" y="166"/>
                  </a:lnTo>
                  <a:lnTo>
                    <a:pt x="34" y="151"/>
                  </a:lnTo>
                  <a:lnTo>
                    <a:pt x="34" y="135"/>
                  </a:lnTo>
                  <a:lnTo>
                    <a:pt x="35" y="104"/>
                  </a:lnTo>
                  <a:lnTo>
                    <a:pt x="35" y="89"/>
                  </a:lnTo>
                  <a:lnTo>
                    <a:pt x="35" y="72"/>
                  </a:lnTo>
                  <a:lnTo>
                    <a:pt x="36" y="58"/>
                  </a:lnTo>
                  <a:lnTo>
                    <a:pt x="36" y="44"/>
                  </a:lnTo>
                  <a:lnTo>
                    <a:pt x="36" y="31"/>
                  </a:lnTo>
                  <a:lnTo>
                    <a:pt x="36" y="19"/>
                  </a:lnTo>
                  <a:lnTo>
                    <a:pt x="36" y="8"/>
                  </a:lnTo>
                  <a:lnTo>
                    <a:pt x="36" y="4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24" name="Freeform 392"/>
            <p:cNvSpPr>
              <a:spLocks/>
            </p:cNvSpPr>
            <p:nvPr/>
          </p:nvSpPr>
          <p:spPr bwMode="auto">
            <a:xfrm>
              <a:off x="3592" y="1389"/>
              <a:ext cx="37" cy="223"/>
            </a:xfrm>
            <a:custGeom>
              <a:avLst/>
              <a:gdLst>
                <a:gd name="T0" fmla="*/ 0 w 37"/>
                <a:gd name="T1" fmla="*/ 442 h 447"/>
                <a:gd name="T2" fmla="*/ 0 w 37"/>
                <a:gd name="T3" fmla="*/ 433 h 447"/>
                <a:gd name="T4" fmla="*/ 0 w 37"/>
                <a:gd name="T5" fmla="*/ 423 h 447"/>
                <a:gd name="T6" fmla="*/ 0 w 37"/>
                <a:gd name="T7" fmla="*/ 405 h 447"/>
                <a:gd name="T8" fmla="*/ 1 w 37"/>
                <a:gd name="T9" fmla="*/ 377 h 447"/>
                <a:gd name="T10" fmla="*/ 2 w 37"/>
                <a:gd name="T11" fmla="*/ 345 h 447"/>
                <a:gd name="T12" fmla="*/ 3 w 37"/>
                <a:gd name="T13" fmla="*/ 296 h 447"/>
                <a:gd name="T14" fmla="*/ 5 w 37"/>
                <a:gd name="T15" fmla="*/ 263 h 447"/>
                <a:gd name="T16" fmla="*/ 5 w 37"/>
                <a:gd name="T17" fmla="*/ 235 h 447"/>
                <a:gd name="T18" fmla="*/ 6 w 37"/>
                <a:gd name="T19" fmla="*/ 199 h 447"/>
                <a:gd name="T20" fmla="*/ 7 w 37"/>
                <a:gd name="T21" fmla="*/ 155 h 447"/>
                <a:gd name="T22" fmla="*/ 10 w 37"/>
                <a:gd name="T23" fmla="*/ 113 h 447"/>
                <a:gd name="T24" fmla="*/ 10 w 37"/>
                <a:gd name="T25" fmla="*/ 95 h 447"/>
                <a:gd name="T26" fmla="*/ 11 w 37"/>
                <a:gd name="T27" fmla="*/ 77 h 447"/>
                <a:gd name="T28" fmla="*/ 12 w 37"/>
                <a:gd name="T29" fmla="*/ 62 h 447"/>
                <a:gd name="T30" fmla="*/ 13 w 37"/>
                <a:gd name="T31" fmla="*/ 37 h 447"/>
                <a:gd name="T32" fmla="*/ 13 w 37"/>
                <a:gd name="T33" fmla="*/ 27 h 447"/>
                <a:gd name="T34" fmla="*/ 15 w 37"/>
                <a:gd name="T35" fmla="*/ 16 h 447"/>
                <a:gd name="T36" fmla="*/ 16 w 37"/>
                <a:gd name="T37" fmla="*/ 9 h 447"/>
                <a:gd name="T38" fmla="*/ 16 w 37"/>
                <a:gd name="T39" fmla="*/ 4 h 447"/>
                <a:gd name="T40" fmla="*/ 17 w 37"/>
                <a:gd name="T41" fmla="*/ 0 h 447"/>
                <a:gd name="T42" fmla="*/ 18 w 37"/>
                <a:gd name="T43" fmla="*/ 0 h 447"/>
                <a:gd name="T44" fmla="*/ 18 w 37"/>
                <a:gd name="T45" fmla="*/ 0 h 447"/>
                <a:gd name="T46" fmla="*/ 19 w 37"/>
                <a:gd name="T47" fmla="*/ 4 h 447"/>
                <a:gd name="T48" fmla="*/ 19 w 37"/>
                <a:gd name="T49" fmla="*/ 9 h 447"/>
                <a:gd name="T50" fmla="*/ 21 w 37"/>
                <a:gd name="T51" fmla="*/ 18 h 447"/>
                <a:gd name="T52" fmla="*/ 22 w 37"/>
                <a:gd name="T53" fmla="*/ 27 h 447"/>
                <a:gd name="T54" fmla="*/ 22 w 37"/>
                <a:gd name="T55" fmla="*/ 37 h 447"/>
                <a:gd name="T56" fmla="*/ 24 w 37"/>
                <a:gd name="T57" fmla="*/ 62 h 447"/>
                <a:gd name="T58" fmla="*/ 24 w 37"/>
                <a:gd name="T59" fmla="*/ 77 h 447"/>
                <a:gd name="T60" fmla="*/ 26 w 37"/>
                <a:gd name="T61" fmla="*/ 95 h 447"/>
                <a:gd name="T62" fmla="*/ 27 w 37"/>
                <a:gd name="T63" fmla="*/ 113 h 447"/>
                <a:gd name="T64" fmla="*/ 29 w 37"/>
                <a:gd name="T65" fmla="*/ 153 h 447"/>
                <a:gd name="T66" fmla="*/ 30 w 37"/>
                <a:gd name="T67" fmla="*/ 199 h 447"/>
                <a:gd name="T68" fmla="*/ 32 w 37"/>
                <a:gd name="T69" fmla="*/ 235 h 447"/>
                <a:gd name="T70" fmla="*/ 33 w 37"/>
                <a:gd name="T71" fmla="*/ 263 h 447"/>
                <a:gd name="T72" fmla="*/ 33 w 37"/>
                <a:gd name="T73" fmla="*/ 293 h 447"/>
                <a:gd name="T74" fmla="*/ 34 w 37"/>
                <a:gd name="T75" fmla="*/ 341 h 447"/>
                <a:gd name="T76" fmla="*/ 34 w 37"/>
                <a:gd name="T77" fmla="*/ 372 h 447"/>
                <a:gd name="T78" fmla="*/ 35 w 37"/>
                <a:gd name="T79" fmla="*/ 400 h 447"/>
                <a:gd name="T80" fmla="*/ 35 w 37"/>
                <a:gd name="T81" fmla="*/ 426 h 447"/>
                <a:gd name="T82" fmla="*/ 35 w 37"/>
                <a:gd name="T83" fmla="*/ 44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7" h="447">
                  <a:moveTo>
                    <a:pt x="0" y="447"/>
                  </a:moveTo>
                  <a:lnTo>
                    <a:pt x="0" y="442"/>
                  </a:lnTo>
                  <a:lnTo>
                    <a:pt x="0" y="438"/>
                  </a:lnTo>
                  <a:lnTo>
                    <a:pt x="0" y="433"/>
                  </a:lnTo>
                  <a:lnTo>
                    <a:pt x="0" y="429"/>
                  </a:lnTo>
                  <a:lnTo>
                    <a:pt x="0" y="423"/>
                  </a:lnTo>
                  <a:lnTo>
                    <a:pt x="0" y="417"/>
                  </a:lnTo>
                  <a:lnTo>
                    <a:pt x="0" y="405"/>
                  </a:lnTo>
                  <a:lnTo>
                    <a:pt x="1" y="391"/>
                  </a:lnTo>
                  <a:lnTo>
                    <a:pt x="1" y="377"/>
                  </a:lnTo>
                  <a:lnTo>
                    <a:pt x="1" y="360"/>
                  </a:lnTo>
                  <a:lnTo>
                    <a:pt x="2" y="345"/>
                  </a:lnTo>
                  <a:lnTo>
                    <a:pt x="2" y="313"/>
                  </a:lnTo>
                  <a:lnTo>
                    <a:pt x="3" y="296"/>
                  </a:lnTo>
                  <a:lnTo>
                    <a:pt x="3" y="280"/>
                  </a:lnTo>
                  <a:lnTo>
                    <a:pt x="5" y="263"/>
                  </a:lnTo>
                  <a:lnTo>
                    <a:pt x="5" y="250"/>
                  </a:lnTo>
                  <a:lnTo>
                    <a:pt x="5" y="235"/>
                  </a:lnTo>
                  <a:lnTo>
                    <a:pt x="6" y="223"/>
                  </a:lnTo>
                  <a:lnTo>
                    <a:pt x="6" y="199"/>
                  </a:lnTo>
                  <a:lnTo>
                    <a:pt x="7" y="177"/>
                  </a:lnTo>
                  <a:lnTo>
                    <a:pt x="7" y="155"/>
                  </a:lnTo>
                  <a:lnTo>
                    <a:pt x="8" y="132"/>
                  </a:lnTo>
                  <a:lnTo>
                    <a:pt x="10" y="113"/>
                  </a:lnTo>
                  <a:lnTo>
                    <a:pt x="10" y="104"/>
                  </a:lnTo>
                  <a:lnTo>
                    <a:pt x="10" y="95"/>
                  </a:lnTo>
                  <a:lnTo>
                    <a:pt x="11" y="86"/>
                  </a:lnTo>
                  <a:lnTo>
                    <a:pt x="11" y="77"/>
                  </a:lnTo>
                  <a:lnTo>
                    <a:pt x="11" y="70"/>
                  </a:lnTo>
                  <a:lnTo>
                    <a:pt x="12" y="62"/>
                  </a:lnTo>
                  <a:lnTo>
                    <a:pt x="12" y="49"/>
                  </a:lnTo>
                  <a:lnTo>
                    <a:pt x="13" y="37"/>
                  </a:lnTo>
                  <a:lnTo>
                    <a:pt x="13" y="31"/>
                  </a:lnTo>
                  <a:lnTo>
                    <a:pt x="13" y="27"/>
                  </a:lnTo>
                  <a:lnTo>
                    <a:pt x="15" y="21"/>
                  </a:lnTo>
                  <a:lnTo>
                    <a:pt x="15" y="16"/>
                  </a:lnTo>
                  <a:lnTo>
                    <a:pt x="15" y="13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6" y="4"/>
                  </a:lnTo>
                  <a:lnTo>
                    <a:pt x="17" y="1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1"/>
                  </a:lnTo>
                  <a:lnTo>
                    <a:pt x="19" y="4"/>
                  </a:lnTo>
                  <a:lnTo>
                    <a:pt x="19" y="6"/>
                  </a:lnTo>
                  <a:lnTo>
                    <a:pt x="19" y="9"/>
                  </a:lnTo>
                  <a:lnTo>
                    <a:pt x="21" y="13"/>
                  </a:lnTo>
                  <a:lnTo>
                    <a:pt x="21" y="18"/>
                  </a:lnTo>
                  <a:lnTo>
                    <a:pt x="21" y="22"/>
                  </a:lnTo>
                  <a:lnTo>
                    <a:pt x="22" y="27"/>
                  </a:lnTo>
                  <a:lnTo>
                    <a:pt x="22" y="31"/>
                  </a:lnTo>
                  <a:lnTo>
                    <a:pt x="22" y="37"/>
                  </a:lnTo>
                  <a:lnTo>
                    <a:pt x="23" y="49"/>
                  </a:lnTo>
                  <a:lnTo>
                    <a:pt x="24" y="62"/>
                  </a:lnTo>
                  <a:lnTo>
                    <a:pt x="24" y="70"/>
                  </a:lnTo>
                  <a:lnTo>
                    <a:pt x="24" y="77"/>
                  </a:lnTo>
                  <a:lnTo>
                    <a:pt x="26" y="86"/>
                  </a:lnTo>
                  <a:lnTo>
                    <a:pt x="26" y="95"/>
                  </a:lnTo>
                  <a:lnTo>
                    <a:pt x="26" y="104"/>
                  </a:lnTo>
                  <a:lnTo>
                    <a:pt x="27" y="113"/>
                  </a:lnTo>
                  <a:lnTo>
                    <a:pt x="28" y="132"/>
                  </a:lnTo>
                  <a:lnTo>
                    <a:pt x="29" y="153"/>
                  </a:lnTo>
                  <a:lnTo>
                    <a:pt x="29" y="176"/>
                  </a:lnTo>
                  <a:lnTo>
                    <a:pt x="30" y="199"/>
                  </a:lnTo>
                  <a:lnTo>
                    <a:pt x="32" y="223"/>
                  </a:lnTo>
                  <a:lnTo>
                    <a:pt x="32" y="235"/>
                  </a:lnTo>
                  <a:lnTo>
                    <a:pt x="32" y="249"/>
                  </a:lnTo>
                  <a:lnTo>
                    <a:pt x="33" y="263"/>
                  </a:lnTo>
                  <a:lnTo>
                    <a:pt x="33" y="278"/>
                  </a:lnTo>
                  <a:lnTo>
                    <a:pt x="33" y="293"/>
                  </a:lnTo>
                  <a:lnTo>
                    <a:pt x="34" y="310"/>
                  </a:lnTo>
                  <a:lnTo>
                    <a:pt x="34" y="341"/>
                  </a:lnTo>
                  <a:lnTo>
                    <a:pt x="34" y="356"/>
                  </a:lnTo>
                  <a:lnTo>
                    <a:pt x="34" y="372"/>
                  </a:lnTo>
                  <a:lnTo>
                    <a:pt x="35" y="387"/>
                  </a:lnTo>
                  <a:lnTo>
                    <a:pt x="35" y="400"/>
                  </a:lnTo>
                  <a:lnTo>
                    <a:pt x="35" y="414"/>
                  </a:lnTo>
                  <a:lnTo>
                    <a:pt x="35" y="426"/>
                  </a:lnTo>
                  <a:lnTo>
                    <a:pt x="35" y="436"/>
                  </a:lnTo>
                  <a:lnTo>
                    <a:pt x="35" y="441"/>
                  </a:lnTo>
                  <a:lnTo>
                    <a:pt x="37" y="447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25" name="Freeform 393"/>
            <p:cNvSpPr>
              <a:spLocks/>
            </p:cNvSpPr>
            <p:nvPr/>
          </p:nvSpPr>
          <p:spPr bwMode="auto">
            <a:xfrm>
              <a:off x="3665" y="1389"/>
              <a:ext cx="37" cy="223"/>
            </a:xfrm>
            <a:custGeom>
              <a:avLst/>
              <a:gdLst>
                <a:gd name="T0" fmla="*/ 0 w 37"/>
                <a:gd name="T1" fmla="*/ 442 h 447"/>
                <a:gd name="T2" fmla="*/ 0 w 37"/>
                <a:gd name="T3" fmla="*/ 433 h 447"/>
                <a:gd name="T4" fmla="*/ 0 w 37"/>
                <a:gd name="T5" fmla="*/ 423 h 447"/>
                <a:gd name="T6" fmla="*/ 0 w 37"/>
                <a:gd name="T7" fmla="*/ 405 h 447"/>
                <a:gd name="T8" fmla="*/ 2 w 37"/>
                <a:gd name="T9" fmla="*/ 377 h 447"/>
                <a:gd name="T10" fmla="*/ 3 w 37"/>
                <a:gd name="T11" fmla="*/ 345 h 447"/>
                <a:gd name="T12" fmla="*/ 4 w 37"/>
                <a:gd name="T13" fmla="*/ 296 h 447"/>
                <a:gd name="T14" fmla="*/ 5 w 37"/>
                <a:gd name="T15" fmla="*/ 263 h 447"/>
                <a:gd name="T16" fmla="*/ 5 w 37"/>
                <a:gd name="T17" fmla="*/ 235 h 447"/>
                <a:gd name="T18" fmla="*/ 6 w 37"/>
                <a:gd name="T19" fmla="*/ 199 h 447"/>
                <a:gd name="T20" fmla="*/ 8 w 37"/>
                <a:gd name="T21" fmla="*/ 155 h 447"/>
                <a:gd name="T22" fmla="*/ 10 w 37"/>
                <a:gd name="T23" fmla="*/ 113 h 447"/>
                <a:gd name="T24" fmla="*/ 10 w 37"/>
                <a:gd name="T25" fmla="*/ 95 h 447"/>
                <a:gd name="T26" fmla="*/ 11 w 37"/>
                <a:gd name="T27" fmla="*/ 77 h 447"/>
                <a:gd name="T28" fmla="*/ 13 w 37"/>
                <a:gd name="T29" fmla="*/ 62 h 447"/>
                <a:gd name="T30" fmla="*/ 14 w 37"/>
                <a:gd name="T31" fmla="*/ 37 h 447"/>
                <a:gd name="T32" fmla="*/ 14 w 37"/>
                <a:gd name="T33" fmla="*/ 27 h 447"/>
                <a:gd name="T34" fmla="*/ 15 w 37"/>
                <a:gd name="T35" fmla="*/ 16 h 447"/>
                <a:gd name="T36" fmla="*/ 16 w 37"/>
                <a:gd name="T37" fmla="*/ 9 h 447"/>
                <a:gd name="T38" fmla="*/ 16 w 37"/>
                <a:gd name="T39" fmla="*/ 4 h 447"/>
                <a:gd name="T40" fmla="*/ 18 w 37"/>
                <a:gd name="T41" fmla="*/ 0 h 447"/>
                <a:gd name="T42" fmla="*/ 19 w 37"/>
                <a:gd name="T43" fmla="*/ 0 h 447"/>
                <a:gd name="T44" fmla="*/ 19 w 37"/>
                <a:gd name="T45" fmla="*/ 0 h 447"/>
                <a:gd name="T46" fmla="*/ 20 w 37"/>
                <a:gd name="T47" fmla="*/ 4 h 447"/>
                <a:gd name="T48" fmla="*/ 20 w 37"/>
                <a:gd name="T49" fmla="*/ 9 h 447"/>
                <a:gd name="T50" fmla="*/ 21 w 37"/>
                <a:gd name="T51" fmla="*/ 18 h 447"/>
                <a:gd name="T52" fmla="*/ 22 w 37"/>
                <a:gd name="T53" fmla="*/ 27 h 447"/>
                <a:gd name="T54" fmla="*/ 22 w 37"/>
                <a:gd name="T55" fmla="*/ 37 h 447"/>
                <a:gd name="T56" fmla="*/ 25 w 37"/>
                <a:gd name="T57" fmla="*/ 62 h 447"/>
                <a:gd name="T58" fmla="*/ 25 w 37"/>
                <a:gd name="T59" fmla="*/ 77 h 447"/>
                <a:gd name="T60" fmla="*/ 26 w 37"/>
                <a:gd name="T61" fmla="*/ 95 h 447"/>
                <a:gd name="T62" fmla="*/ 27 w 37"/>
                <a:gd name="T63" fmla="*/ 113 h 447"/>
                <a:gd name="T64" fmla="*/ 30 w 37"/>
                <a:gd name="T65" fmla="*/ 153 h 447"/>
                <a:gd name="T66" fmla="*/ 31 w 37"/>
                <a:gd name="T67" fmla="*/ 199 h 447"/>
                <a:gd name="T68" fmla="*/ 32 w 37"/>
                <a:gd name="T69" fmla="*/ 235 h 447"/>
                <a:gd name="T70" fmla="*/ 33 w 37"/>
                <a:gd name="T71" fmla="*/ 263 h 447"/>
                <a:gd name="T72" fmla="*/ 33 w 37"/>
                <a:gd name="T73" fmla="*/ 293 h 447"/>
                <a:gd name="T74" fmla="*/ 35 w 37"/>
                <a:gd name="T75" fmla="*/ 341 h 447"/>
                <a:gd name="T76" fmla="*/ 35 w 37"/>
                <a:gd name="T77" fmla="*/ 372 h 447"/>
                <a:gd name="T78" fmla="*/ 36 w 37"/>
                <a:gd name="T79" fmla="*/ 400 h 447"/>
                <a:gd name="T80" fmla="*/ 36 w 37"/>
                <a:gd name="T81" fmla="*/ 426 h 447"/>
                <a:gd name="T82" fmla="*/ 36 w 37"/>
                <a:gd name="T83" fmla="*/ 44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7" h="447">
                  <a:moveTo>
                    <a:pt x="0" y="447"/>
                  </a:moveTo>
                  <a:lnTo>
                    <a:pt x="0" y="442"/>
                  </a:lnTo>
                  <a:lnTo>
                    <a:pt x="0" y="438"/>
                  </a:lnTo>
                  <a:lnTo>
                    <a:pt x="0" y="433"/>
                  </a:lnTo>
                  <a:lnTo>
                    <a:pt x="0" y="429"/>
                  </a:lnTo>
                  <a:lnTo>
                    <a:pt x="0" y="423"/>
                  </a:lnTo>
                  <a:lnTo>
                    <a:pt x="0" y="417"/>
                  </a:lnTo>
                  <a:lnTo>
                    <a:pt x="0" y="405"/>
                  </a:lnTo>
                  <a:lnTo>
                    <a:pt x="2" y="391"/>
                  </a:lnTo>
                  <a:lnTo>
                    <a:pt x="2" y="377"/>
                  </a:lnTo>
                  <a:lnTo>
                    <a:pt x="2" y="360"/>
                  </a:lnTo>
                  <a:lnTo>
                    <a:pt x="3" y="345"/>
                  </a:lnTo>
                  <a:lnTo>
                    <a:pt x="3" y="313"/>
                  </a:lnTo>
                  <a:lnTo>
                    <a:pt x="4" y="296"/>
                  </a:lnTo>
                  <a:lnTo>
                    <a:pt x="4" y="280"/>
                  </a:lnTo>
                  <a:lnTo>
                    <a:pt x="5" y="263"/>
                  </a:lnTo>
                  <a:lnTo>
                    <a:pt x="5" y="250"/>
                  </a:lnTo>
                  <a:lnTo>
                    <a:pt x="5" y="235"/>
                  </a:lnTo>
                  <a:lnTo>
                    <a:pt x="6" y="223"/>
                  </a:lnTo>
                  <a:lnTo>
                    <a:pt x="6" y="199"/>
                  </a:lnTo>
                  <a:lnTo>
                    <a:pt x="8" y="177"/>
                  </a:lnTo>
                  <a:lnTo>
                    <a:pt x="8" y="155"/>
                  </a:lnTo>
                  <a:lnTo>
                    <a:pt x="9" y="132"/>
                  </a:lnTo>
                  <a:lnTo>
                    <a:pt x="10" y="113"/>
                  </a:lnTo>
                  <a:lnTo>
                    <a:pt x="10" y="104"/>
                  </a:lnTo>
                  <a:lnTo>
                    <a:pt x="10" y="95"/>
                  </a:lnTo>
                  <a:lnTo>
                    <a:pt x="11" y="86"/>
                  </a:lnTo>
                  <a:lnTo>
                    <a:pt x="11" y="77"/>
                  </a:lnTo>
                  <a:lnTo>
                    <a:pt x="11" y="70"/>
                  </a:lnTo>
                  <a:lnTo>
                    <a:pt x="13" y="62"/>
                  </a:lnTo>
                  <a:lnTo>
                    <a:pt x="13" y="49"/>
                  </a:lnTo>
                  <a:lnTo>
                    <a:pt x="14" y="37"/>
                  </a:lnTo>
                  <a:lnTo>
                    <a:pt x="14" y="31"/>
                  </a:lnTo>
                  <a:lnTo>
                    <a:pt x="14" y="27"/>
                  </a:lnTo>
                  <a:lnTo>
                    <a:pt x="15" y="21"/>
                  </a:lnTo>
                  <a:lnTo>
                    <a:pt x="15" y="16"/>
                  </a:lnTo>
                  <a:lnTo>
                    <a:pt x="15" y="13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6" y="4"/>
                  </a:lnTo>
                  <a:lnTo>
                    <a:pt x="18" y="1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1"/>
                  </a:lnTo>
                  <a:lnTo>
                    <a:pt x="20" y="4"/>
                  </a:lnTo>
                  <a:lnTo>
                    <a:pt x="20" y="6"/>
                  </a:lnTo>
                  <a:lnTo>
                    <a:pt x="20" y="9"/>
                  </a:lnTo>
                  <a:lnTo>
                    <a:pt x="21" y="13"/>
                  </a:lnTo>
                  <a:lnTo>
                    <a:pt x="21" y="18"/>
                  </a:lnTo>
                  <a:lnTo>
                    <a:pt x="21" y="22"/>
                  </a:lnTo>
                  <a:lnTo>
                    <a:pt x="22" y="27"/>
                  </a:lnTo>
                  <a:lnTo>
                    <a:pt x="22" y="31"/>
                  </a:lnTo>
                  <a:lnTo>
                    <a:pt x="22" y="37"/>
                  </a:lnTo>
                  <a:lnTo>
                    <a:pt x="24" y="49"/>
                  </a:lnTo>
                  <a:lnTo>
                    <a:pt x="25" y="62"/>
                  </a:lnTo>
                  <a:lnTo>
                    <a:pt x="25" y="70"/>
                  </a:lnTo>
                  <a:lnTo>
                    <a:pt x="25" y="77"/>
                  </a:lnTo>
                  <a:lnTo>
                    <a:pt x="26" y="86"/>
                  </a:lnTo>
                  <a:lnTo>
                    <a:pt x="26" y="95"/>
                  </a:lnTo>
                  <a:lnTo>
                    <a:pt x="26" y="104"/>
                  </a:lnTo>
                  <a:lnTo>
                    <a:pt x="27" y="113"/>
                  </a:lnTo>
                  <a:lnTo>
                    <a:pt x="29" y="132"/>
                  </a:lnTo>
                  <a:lnTo>
                    <a:pt x="30" y="153"/>
                  </a:lnTo>
                  <a:lnTo>
                    <a:pt x="30" y="176"/>
                  </a:lnTo>
                  <a:lnTo>
                    <a:pt x="31" y="199"/>
                  </a:lnTo>
                  <a:lnTo>
                    <a:pt x="32" y="223"/>
                  </a:lnTo>
                  <a:lnTo>
                    <a:pt x="32" y="235"/>
                  </a:lnTo>
                  <a:lnTo>
                    <a:pt x="32" y="249"/>
                  </a:lnTo>
                  <a:lnTo>
                    <a:pt x="33" y="263"/>
                  </a:lnTo>
                  <a:lnTo>
                    <a:pt x="33" y="278"/>
                  </a:lnTo>
                  <a:lnTo>
                    <a:pt x="33" y="293"/>
                  </a:lnTo>
                  <a:lnTo>
                    <a:pt x="35" y="310"/>
                  </a:lnTo>
                  <a:lnTo>
                    <a:pt x="35" y="341"/>
                  </a:lnTo>
                  <a:lnTo>
                    <a:pt x="35" y="356"/>
                  </a:lnTo>
                  <a:lnTo>
                    <a:pt x="35" y="372"/>
                  </a:lnTo>
                  <a:lnTo>
                    <a:pt x="36" y="387"/>
                  </a:lnTo>
                  <a:lnTo>
                    <a:pt x="36" y="400"/>
                  </a:lnTo>
                  <a:lnTo>
                    <a:pt x="36" y="414"/>
                  </a:lnTo>
                  <a:lnTo>
                    <a:pt x="36" y="426"/>
                  </a:lnTo>
                  <a:lnTo>
                    <a:pt x="36" y="436"/>
                  </a:lnTo>
                  <a:lnTo>
                    <a:pt x="36" y="441"/>
                  </a:lnTo>
                  <a:lnTo>
                    <a:pt x="37" y="447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26" name="Freeform 394"/>
            <p:cNvSpPr>
              <a:spLocks/>
            </p:cNvSpPr>
            <p:nvPr/>
          </p:nvSpPr>
          <p:spPr bwMode="auto">
            <a:xfrm>
              <a:off x="3739" y="1389"/>
              <a:ext cx="37" cy="223"/>
            </a:xfrm>
            <a:custGeom>
              <a:avLst/>
              <a:gdLst>
                <a:gd name="T0" fmla="*/ 0 w 37"/>
                <a:gd name="T1" fmla="*/ 442 h 447"/>
                <a:gd name="T2" fmla="*/ 0 w 37"/>
                <a:gd name="T3" fmla="*/ 433 h 447"/>
                <a:gd name="T4" fmla="*/ 0 w 37"/>
                <a:gd name="T5" fmla="*/ 423 h 447"/>
                <a:gd name="T6" fmla="*/ 0 w 37"/>
                <a:gd name="T7" fmla="*/ 405 h 447"/>
                <a:gd name="T8" fmla="*/ 1 w 37"/>
                <a:gd name="T9" fmla="*/ 377 h 447"/>
                <a:gd name="T10" fmla="*/ 2 w 37"/>
                <a:gd name="T11" fmla="*/ 345 h 447"/>
                <a:gd name="T12" fmla="*/ 4 w 37"/>
                <a:gd name="T13" fmla="*/ 296 h 447"/>
                <a:gd name="T14" fmla="*/ 5 w 37"/>
                <a:gd name="T15" fmla="*/ 263 h 447"/>
                <a:gd name="T16" fmla="*/ 5 w 37"/>
                <a:gd name="T17" fmla="*/ 235 h 447"/>
                <a:gd name="T18" fmla="*/ 6 w 37"/>
                <a:gd name="T19" fmla="*/ 199 h 447"/>
                <a:gd name="T20" fmla="*/ 7 w 37"/>
                <a:gd name="T21" fmla="*/ 155 h 447"/>
                <a:gd name="T22" fmla="*/ 10 w 37"/>
                <a:gd name="T23" fmla="*/ 113 h 447"/>
                <a:gd name="T24" fmla="*/ 10 w 37"/>
                <a:gd name="T25" fmla="*/ 95 h 447"/>
                <a:gd name="T26" fmla="*/ 11 w 37"/>
                <a:gd name="T27" fmla="*/ 77 h 447"/>
                <a:gd name="T28" fmla="*/ 12 w 37"/>
                <a:gd name="T29" fmla="*/ 62 h 447"/>
                <a:gd name="T30" fmla="*/ 13 w 37"/>
                <a:gd name="T31" fmla="*/ 37 h 447"/>
                <a:gd name="T32" fmla="*/ 13 w 37"/>
                <a:gd name="T33" fmla="*/ 27 h 447"/>
                <a:gd name="T34" fmla="*/ 15 w 37"/>
                <a:gd name="T35" fmla="*/ 16 h 447"/>
                <a:gd name="T36" fmla="*/ 16 w 37"/>
                <a:gd name="T37" fmla="*/ 9 h 447"/>
                <a:gd name="T38" fmla="*/ 16 w 37"/>
                <a:gd name="T39" fmla="*/ 4 h 447"/>
                <a:gd name="T40" fmla="*/ 17 w 37"/>
                <a:gd name="T41" fmla="*/ 0 h 447"/>
                <a:gd name="T42" fmla="*/ 18 w 37"/>
                <a:gd name="T43" fmla="*/ 0 h 447"/>
                <a:gd name="T44" fmla="*/ 18 w 37"/>
                <a:gd name="T45" fmla="*/ 0 h 447"/>
                <a:gd name="T46" fmla="*/ 20 w 37"/>
                <a:gd name="T47" fmla="*/ 4 h 447"/>
                <a:gd name="T48" fmla="*/ 20 w 37"/>
                <a:gd name="T49" fmla="*/ 9 h 447"/>
                <a:gd name="T50" fmla="*/ 21 w 37"/>
                <a:gd name="T51" fmla="*/ 18 h 447"/>
                <a:gd name="T52" fmla="*/ 22 w 37"/>
                <a:gd name="T53" fmla="*/ 27 h 447"/>
                <a:gd name="T54" fmla="*/ 22 w 37"/>
                <a:gd name="T55" fmla="*/ 37 h 447"/>
                <a:gd name="T56" fmla="*/ 24 w 37"/>
                <a:gd name="T57" fmla="*/ 62 h 447"/>
                <a:gd name="T58" fmla="*/ 24 w 37"/>
                <a:gd name="T59" fmla="*/ 77 h 447"/>
                <a:gd name="T60" fmla="*/ 26 w 37"/>
                <a:gd name="T61" fmla="*/ 95 h 447"/>
                <a:gd name="T62" fmla="*/ 27 w 37"/>
                <a:gd name="T63" fmla="*/ 113 h 447"/>
                <a:gd name="T64" fmla="*/ 29 w 37"/>
                <a:gd name="T65" fmla="*/ 153 h 447"/>
                <a:gd name="T66" fmla="*/ 31 w 37"/>
                <a:gd name="T67" fmla="*/ 199 h 447"/>
                <a:gd name="T68" fmla="*/ 32 w 37"/>
                <a:gd name="T69" fmla="*/ 235 h 447"/>
                <a:gd name="T70" fmla="*/ 33 w 37"/>
                <a:gd name="T71" fmla="*/ 263 h 447"/>
                <a:gd name="T72" fmla="*/ 33 w 37"/>
                <a:gd name="T73" fmla="*/ 293 h 447"/>
                <a:gd name="T74" fmla="*/ 34 w 37"/>
                <a:gd name="T75" fmla="*/ 341 h 447"/>
                <a:gd name="T76" fmla="*/ 34 w 37"/>
                <a:gd name="T77" fmla="*/ 372 h 447"/>
                <a:gd name="T78" fmla="*/ 35 w 37"/>
                <a:gd name="T79" fmla="*/ 400 h 447"/>
                <a:gd name="T80" fmla="*/ 35 w 37"/>
                <a:gd name="T81" fmla="*/ 426 h 447"/>
                <a:gd name="T82" fmla="*/ 35 w 37"/>
                <a:gd name="T83" fmla="*/ 44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7" h="447">
                  <a:moveTo>
                    <a:pt x="0" y="447"/>
                  </a:moveTo>
                  <a:lnTo>
                    <a:pt x="0" y="442"/>
                  </a:lnTo>
                  <a:lnTo>
                    <a:pt x="0" y="438"/>
                  </a:lnTo>
                  <a:lnTo>
                    <a:pt x="0" y="433"/>
                  </a:lnTo>
                  <a:lnTo>
                    <a:pt x="0" y="429"/>
                  </a:lnTo>
                  <a:lnTo>
                    <a:pt x="0" y="423"/>
                  </a:lnTo>
                  <a:lnTo>
                    <a:pt x="0" y="417"/>
                  </a:lnTo>
                  <a:lnTo>
                    <a:pt x="0" y="405"/>
                  </a:lnTo>
                  <a:lnTo>
                    <a:pt x="1" y="391"/>
                  </a:lnTo>
                  <a:lnTo>
                    <a:pt x="1" y="377"/>
                  </a:lnTo>
                  <a:lnTo>
                    <a:pt x="1" y="360"/>
                  </a:lnTo>
                  <a:lnTo>
                    <a:pt x="2" y="345"/>
                  </a:lnTo>
                  <a:lnTo>
                    <a:pt x="2" y="313"/>
                  </a:lnTo>
                  <a:lnTo>
                    <a:pt x="4" y="296"/>
                  </a:lnTo>
                  <a:lnTo>
                    <a:pt x="4" y="280"/>
                  </a:lnTo>
                  <a:lnTo>
                    <a:pt x="5" y="263"/>
                  </a:lnTo>
                  <a:lnTo>
                    <a:pt x="5" y="250"/>
                  </a:lnTo>
                  <a:lnTo>
                    <a:pt x="5" y="235"/>
                  </a:lnTo>
                  <a:lnTo>
                    <a:pt x="6" y="223"/>
                  </a:lnTo>
                  <a:lnTo>
                    <a:pt x="6" y="199"/>
                  </a:lnTo>
                  <a:lnTo>
                    <a:pt x="7" y="177"/>
                  </a:lnTo>
                  <a:lnTo>
                    <a:pt x="7" y="155"/>
                  </a:lnTo>
                  <a:lnTo>
                    <a:pt x="8" y="132"/>
                  </a:lnTo>
                  <a:lnTo>
                    <a:pt x="10" y="113"/>
                  </a:lnTo>
                  <a:lnTo>
                    <a:pt x="10" y="104"/>
                  </a:lnTo>
                  <a:lnTo>
                    <a:pt x="10" y="95"/>
                  </a:lnTo>
                  <a:lnTo>
                    <a:pt x="11" y="86"/>
                  </a:lnTo>
                  <a:lnTo>
                    <a:pt x="11" y="77"/>
                  </a:lnTo>
                  <a:lnTo>
                    <a:pt x="11" y="70"/>
                  </a:lnTo>
                  <a:lnTo>
                    <a:pt x="12" y="62"/>
                  </a:lnTo>
                  <a:lnTo>
                    <a:pt x="12" y="49"/>
                  </a:lnTo>
                  <a:lnTo>
                    <a:pt x="13" y="37"/>
                  </a:lnTo>
                  <a:lnTo>
                    <a:pt x="13" y="31"/>
                  </a:lnTo>
                  <a:lnTo>
                    <a:pt x="13" y="27"/>
                  </a:lnTo>
                  <a:lnTo>
                    <a:pt x="15" y="21"/>
                  </a:lnTo>
                  <a:lnTo>
                    <a:pt x="15" y="16"/>
                  </a:lnTo>
                  <a:lnTo>
                    <a:pt x="15" y="13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6" y="4"/>
                  </a:lnTo>
                  <a:lnTo>
                    <a:pt x="17" y="1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1"/>
                  </a:lnTo>
                  <a:lnTo>
                    <a:pt x="20" y="4"/>
                  </a:lnTo>
                  <a:lnTo>
                    <a:pt x="20" y="6"/>
                  </a:lnTo>
                  <a:lnTo>
                    <a:pt x="20" y="9"/>
                  </a:lnTo>
                  <a:lnTo>
                    <a:pt x="21" y="13"/>
                  </a:lnTo>
                  <a:lnTo>
                    <a:pt x="21" y="18"/>
                  </a:lnTo>
                  <a:lnTo>
                    <a:pt x="21" y="22"/>
                  </a:lnTo>
                  <a:lnTo>
                    <a:pt x="22" y="27"/>
                  </a:lnTo>
                  <a:lnTo>
                    <a:pt x="22" y="31"/>
                  </a:lnTo>
                  <a:lnTo>
                    <a:pt x="22" y="37"/>
                  </a:lnTo>
                  <a:lnTo>
                    <a:pt x="23" y="49"/>
                  </a:lnTo>
                  <a:lnTo>
                    <a:pt x="24" y="62"/>
                  </a:lnTo>
                  <a:lnTo>
                    <a:pt x="24" y="70"/>
                  </a:lnTo>
                  <a:lnTo>
                    <a:pt x="24" y="77"/>
                  </a:lnTo>
                  <a:lnTo>
                    <a:pt x="26" y="86"/>
                  </a:lnTo>
                  <a:lnTo>
                    <a:pt x="26" y="95"/>
                  </a:lnTo>
                  <a:lnTo>
                    <a:pt x="26" y="104"/>
                  </a:lnTo>
                  <a:lnTo>
                    <a:pt x="27" y="113"/>
                  </a:lnTo>
                  <a:lnTo>
                    <a:pt x="28" y="132"/>
                  </a:lnTo>
                  <a:lnTo>
                    <a:pt x="29" y="153"/>
                  </a:lnTo>
                  <a:lnTo>
                    <a:pt x="29" y="176"/>
                  </a:lnTo>
                  <a:lnTo>
                    <a:pt x="31" y="199"/>
                  </a:lnTo>
                  <a:lnTo>
                    <a:pt x="32" y="223"/>
                  </a:lnTo>
                  <a:lnTo>
                    <a:pt x="32" y="235"/>
                  </a:lnTo>
                  <a:lnTo>
                    <a:pt x="32" y="249"/>
                  </a:lnTo>
                  <a:lnTo>
                    <a:pt x="33" y="263"/>
                  </a:lnTo>
                  <a:lnTo>
                    <a:pt x="33" y="278"/>
                  </a:lnTo>
                  <a:lnTo>
                    <a:pt x="33" y="293"/>
                  </a:lnTo>
                  <a:lnTo>
                    <a:pt x="34" y="310"/>
                  </a:lnTo>
                  <a:lnTo>
                    <a:pt x="34" y="341"/>
                  </a:lnTo>
                  <a:lnTo>
                    <a:pt x="34" y="356"/>
                  </a:lnTo>
                  <a:lnTo>
                    <a:pt x="34" y="372"/>
                  </a:lnTo>
                  <a:lnTo>
                    <a:pt x="35" y="387"/>
                  </a:lnTo>
                  <a:lnTo>
                    <a:pt x="35" y="400"/>
                  </a:lnTo>
                  <a:lnTo>
                    <a:pt x="35" y="414"/>
                  </a:lnTo>
                  <a:lnTo>
                    <a:pt x="35" y="426"/>
                  </a:lnTo>
                  <a:lnTo>
                    <a:pt x="35" y="436"/>
                  </a:lnTo>
                  <a:lnTo>
                    <a:pt x="35" y="441"/>
                  </a:lnTo>
                  <a:lnTo>
                    <a:pt x="37" y="447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27" name="Freeform 395"/>
            <p:cNvSpPr>
              <a:spLocks/>
            </p:cNvSpPr>
            <p:nvPr/>
          </p:nvSpPr>
          <p:spPr bwMode="auto">
            <a:xfrm>
              <a:off x="3555" y="1612"/>
              <a:ext cx="37" cy="224"/>
            </a:xfrm>
            <a:custGeom>
              <a:avLst/>
              <a:gdLst>
                <a:gd name="T0" fmla="*/ 0 w 37"/>
                <a:gd name="T1" fmla="*/ 3 h 446"/>
                <a:gd name="T2" fmla="*/ 0 w 37"/>
                <a:gd name="T3" fmla="*/ 11 h 446"/>
                <a:gd name="T4" fmla="*/ 0 w 37"/>
                <a:gd name="T5" fmla="*/ 22 h 446"/>
                <a:gd name="T6" fmla="*/ 0 w 37"/>
                <a:gd name="T7" fmla="*/ 40 h 446"/>
                <a:gd name="T8" fmla="*/ 1 w 37"/>
                <a:gd name="T9" fmla="*/ 70 h 446"/>
                <a:gd name="T10" fmla="*/ 2 w 37"/>
                <a:gd name="T11" fmla="*/ 101 h 446"/>
                <a:gd name="T12" fmla="*/ 4 w 37"/>
                <a:gd name="T13" fmla="*/ 150 h 446"/>
                <a:gd name="T14" fmla="*/ 5 w 37"/>
                <a:gd name="T15" fmla="*/ 181 h 446"/>
                <a:gd name="T16" fmla="*/ 5 w 37"/>
                <a:gd name="T17" fmla="*/ 209 h 446"/>
                <a:gd name="T18" fmla="*/ 6 w 37"/>
                <a:gd name="T19" fmla="*/ 245 h 446"/>
                <a:gd name="T20" fmla="*/ 7 w 37"/>
                <a:gd name="T21" fmla="*/ 290 h 446"/>
                <a:gd name="T22" fmla="*/ 10 w 37"/>
                <a:gd name="T23" fmla="*/ 332 h 446"/>
                <a:gd name="T24" fmla="*/ 10 w 37"/>
                <a:gd name="T25" fmla="*/ 349 h 446"/>
                <a:gd name="T26" fmla="*/ 11 w 37"/>
                <a:gd name="T27" fmla="*/ 367 h 446"/>
                <a:gd name="T28" fmla="*/ 12 w 37"/>
                <a:gd name="T29" fmla="*/ 382 h 446"/>
                <a:gd name="T30" fmla="*/ 13 w 37"/>
                <a:gd name="T31" fmla="*/ 407 h 446"/>
                <a:gd name="T32" fmla="*/ 13 w 37"/>
                <a:gd name="T33" fmla="*/ 418 h 446"/>
                <a:gd name="T34" fmla="*/ 15 w 37"/>
                <a:gd name="T35" fmla="*/ 428 h 446"/>
                <a:gd name="T36" fmla="*/ 16 w 37"/>
                <a:gd name="T37" fmla="*/ 436 h 446"/>
                <a:gd name="T38" fmla="*/ 16 w 37"/>
                <a:gd name="T39" fmla="*/ 440 h 446"/>
                <a:gd name="T40" fmla="*/ 17 w 37"/>
                <a:gd name="T41" fmla="*/ 445 h 446"/>
                <a:gd name="T42" fmla="*/ 18 w 37"/>
                <a:gd name="T43" fmla="*/ 446 h 446"/>
                <a:gd name="T44" fmla="*/ 18 w 37"/>
                <a:gd name="T45" fmla="*/ 445 h 446"/>
                <a:gd name="T46" fmla="*/ 20 w 37"/>
                <a:gd name="T47" fmla="*/ 440 h 446"/>
                <a:gd name="T48" fmla="*/ 20 w 37"/>
                <a:gd name="T49" fmla="*/ 436 h 446"/>
                <a:gd name="T50" fmla="*/ 21 w 37"/>
                <a:gd name="T51" fmla="*/ 428 h 446"/>
                <a:gd name="T52" fmla="*/ 22 w 37"/>
                <a:gd name="T53" fmla="*/ 418 h 446"/>
                <a:gd name="T54" fmla="*/ 22 w 37"/>
                <a:gd name="T55" fmla="*/ 407 h 446"/>
                <a:gd name="T56" fmla="*/ 25 w 37"/>
                <a:gd name="T57" fmla="*/ 382 h 446"/>
                <a:gd name="T58" fmla="*/ 25 w 37"/>
                <a:gd name="T59" fmla="*/ 367 h 446"/>
                <a:gd name="T60" fmla="*/ 26 w 37"/>
                <a:gd name="T61" fmla="*/ 349 h 446"/>
                <a:gd name="T62" fmla="*/ 27 w 37"/>
                <a:gd name="T63" fmla="*/ 332 h 446"/>
                <a:gd name="T64" fmla="*/ 29 w 37"/>
                <a:gd name="T65" fmla="*/ 291 h 446"/>
                <a:gd name="T66" fmla="*/ 31 w 37"/>
                <a:gd name="T67" fmla="*/ 245 h 446"/>
                <a:gd name="T68" fmla="*/ 32 w 37"/>
                <a:gd name="T69" fmla="*/ 209 h 446"/>
                <a:gd name="T70" fmla="*/ 33 w 37"/>
                <a:gd name="T71" fmla="*/ 181 h 446"/>
                <a:gd name="T72" fmla="*/ 33 w 37"/>
                <a:gd name="T73" fmla="*/ 151 h 446"/>
                <a:gd name="T74" fmla="*/ 34 w 37"/>
                <a:gd name="T75" fmla="*/ 104 h 446"/>
                <a:gd name="T76" fmla="*/ 34 w 37"/>
                <a:gd name="T77" fmla="*/ 72 h 446"/>
                <a:gd name="T78" fmla="*/ 36 w 37"/>
                <a:gd name="T79" fmla="*/ 44 h 446"/>
                <a:gd name="T80" fmla="*/ 36 w 37"/>
                <a:gd name="T81" fmla="*/ 19 h 446"/>
                <a:gd name="T82" fmla="*/ 36 w 37"/>
                <a:gd name="T83" fmla="*/ 4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7" h="446">
                  <a:moveTo>
                    <a:pt x="0" y="0"/>
                  </a:moveTo>
                  <a:lnTo>
                    <a:pt x="0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0" y="40"/>
                  </a:lnTo>
                  <a:lnTo>
                    <a:pt x="1" y="55"/>
                  </a:lnTo>
                  <a:lnTo>
                    <a:pt x="1" y="70"/>
                  </a:lnTo>
                  <a:lnTo>
                    <a:pt x="1" y="84"/>
                  </a:lnTo>
                  <a:lnTo>
                    <a:pt x="2" y="101"/>
                  </a:lnTo>
                  <a:lnTo>
                    <a:pt x="2" y="134"/>
                  </a:lnTo>
                  <a:lnTo>
                    <a:pt x="4" y="150"/>
                  </a:lnTo>
                  <a:lnTo>
                    <a:pt x="4" y="165"/>
                  </a:lnTo>
                  <a:lnTo>
                    <a:pt x="5" y="181"/>
                  </a:lnTo>
                  <a:lnTo>
                    <a:pt x="5" y="196"/>
                  </a:lnTo>
                  <a:lnTo>
                    <a:pt x="5" y="209"/>
                  </a:lnTo>
                  <a:lnTo>
                    <a:pt x="6" y="221"/>
                  </a:lnTo>
                  <a:lnTo>
                    <a:pt x="6" y="245"/>
                  </a:lnTo>
                  <a:lnTo>
                    <a:pt x="7" y="269"/>
                  </a:lnTo>
                  <a:lnTo>
                    <a:pt x="7" y="290"/>
                  </a:lnTo>
                  <a:lnTo>
                    <a:pt x="9" y="312"/>
                  </a:lnTo>
                  <a:lnTo>
                    <a:pt x="10" y="332"/>
                  </a:lnTo>
                  <a:lnTo>
                    <a:pt x="10" y="340"/>
                  </a:lnTo>
                  <a:lnTo>
                    <a:pt x="10" y="349"/>
                  </a:lnTo>
                  <a:lnTo>
                    <a:pt x="11" y="358"/>
                  </a:lnTo>
                  <a:lnTo>
                    <a:pt x="11" y="367"/>
                  </a:lnTo>
                  <a:lnTo>
                    <a:pt x="11" y="375"/>
                  </a:lnTo>
                  <a:lnTo>
                    <a:pt x="12" y="382"/>
                  </a:lnTo>
                  <a:lnTo>
                    <a:pt x="12" y="396"/>
                  </a:lnTo>
                  <a:lnTo>
                    <a:pt x="13" y="407"/>
                  </a:lnTo>
                  <a:lnTo>
                    <a:pt x="13" y="413"/>
                  </a:lnTo>
                  <a:lnTo>
                    <a:pt x="13" y="418"/>
                  </a:lnTo>
                  <a:lnTo>
                    <a:pt x="15" y="424"/>
                  </a:lnTo>
                  <a:lnTo>
                    <a:pt x="15" y="428"/>
                  </a:lnTo>
                  <a:lnTo>
                    <a:pt x="15" y="431"/>
                  </a:lnTo>
                  <a:lnTo>
                    <a:pt x="16" y="436"/>
                  </a:lnTo>
                  <a:lnTo>
                    <a:pt x="16" y="439"/>
                  </a:lnTo>
                  <a:lnTo>
                    <a:pt x="16" y="440"/>
                  </a:lnTo>
                  <a:lnTo>
                    <a:pt x="17" y="443"/>
                  </a:lnTo>
                  <a:lnTo>
                    <a:pt x="17" y="445"/>
                  </a:lnTo>
                  <a:lnTo>
                    <a:pt x="17" y="445"/>
                  </a:lnTo>
                  <a:lnTo>
                    <a:pt x="18" y="446"/>
                  </a:lnTo>
                  <a:lnTo>
                    <a:pt x="18" y="445"/>
                  </a:lnTo>
                  <a:lnTo>
                    <a:pt x="18" y="445"/>
                  </a:lnTo>
                  <a:lnTo>
                    <a:pt x="18" y="443"/>
                  </a:lnTo>
                  <a:lnTo>
                    <a:pt x="20" y="440"/>
                  </a:lnTo>
                  <a:lnTo>
                    <a:pt x="20" y="439"/>
                  </a:lnTo>
                  <a:lnTo>
                    <a:pt x="20" y="436"/>
                  </a:lnTo>
                  <a:lnTo>
                    <a:pt x="21" y="431"/>
                  </a:lnTo>
                  <a:lnTo>
                    <a:pt x="21" y="428"/>
                  </a:lnTo>
                  <a:lnTo>
                    <a:pt x="21" y="424"/>
                  </a:lnTo>
                  <a:lnTo>
                    <a:pt x="22" y="418"/>
                  </a:lnTo>
                  <a:lnTo>
                    <a:pt x="22" y="413"/>
                  </a:lnTo>
                  <a:lnTo>
                    <a:pt x="22" y="407"/>
                  </a:lnTo>
                  <a:lnTo>
                    <a:pt x="23" y="396"/>
                  </a:lnTo>
                  <a:lnTo>
                    <a:pt x="25" y="382"/>
                  </a:lnTo>
                  <a:lnTo>
                    <a:pt x="25" y="375"/>
                  </a:lnTo>
                  <a:lnTo>
                    <a:pt x="25" y="367"/>
                  </a:lnTo>
                  <a:lnTo>
                    <a:pt x="26" y="358"/>
                  </a:lnTo>
                  <a:lnTo>
                    <a:pt x="26" y="349"/>
                  </a:lnTo>
                  <a:lnTo>
                    <a:pt x="26" y="340"/>
                  </a:lnTo>
                  <a:lnTo>
                    <a:pt x="27" y="332"/>
                  </a:lnTo>
                  <a:lnTo>
                    <a:pt x="28" y="312"/>
                  </a:lnTo>
                  <a:lnTo>
                    <a:pt x="29" y="291"/>
                  </a:lnTo>
                  <a:lnTo>
                    <a:pt x="29" y="269"/>
                  </a:lnTo>
                  <a:lnTo>
                    <a:pt x="31" y="245"/>
                  </a:lnTo>
                  <a:lnTo>
                    <a:pt x="32" y="223"/>
                  </a:lnTo>
                  <a:lnTo>
                    <a:pt x="32" y="209"/>
                  </a:lnTo>
                  <a:lnTo>
                    <a:pt x="32" y="196"/>
                  </a:lnTo>
                  <a:lnTo>
                    <a:pt x="33" y="181"/>
                  </a:lnTo>
                  <a:lnTo>
                    <a:pt x="33" y="166"/>
                  </a:lnTo>
                  <a:lnTo>
                    <a:pt x="33" y="151"/>
                  </a:lnTo>
                  <a:lnTo>
                    <a:pt x="34" y="135"/>
                  </a:lnTo>
                  <a:lnTo>
                    <a:pt x="34" y="104"/>
                  </a:lnTo>
                  <a:lnTo>
                    <a:pt x="34" y="89"/>
                  </a:lnTo>
                  <a:lnTo>
                    <a:pt x="34" y="72"/>
                  </a:lnTo>
                  <a:lnTo>
                    <a:pt x="36" y="58"/>
                  </a:lnTo>
                  <a:lnTo>
                    <a:pt x="36" y="44"/>
                  </a:lnTo>
                  <a:lnTo>
                    <a:pt x="36" y="31"/>
                  </a:lnTo>
                  <a:lnTo>
                    <a:pt x="36" y="19"/>
                  </a:lnTo>
                  <a:lnTo>
                    <a:pt x="36" y="8"/>
                  </a:lnTo>
                  <a:lnTo>
                    <a:pt x="36" y="4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28" name="Freeform 396"/>
            <p:cNvSpPr>
              <a:spLocks/>
            </p:cNvSpPr>
            <p:nvPr/>
          </p:nvSpPr>
          <p:spPr bwMode="auto">
            <a:xfrm>
              <a:off x="3629" y="1612"/>
              <a:ext cx="36" cy="224"/>
            </a:xfrm>
            <a:custGeom>
              <a:avLst/>
              <a:gdLst>
                <a:gd name="T0" fmla="*/ 0 w 36"/>
                <a:gd name="T1" fmla="*/ 3 h 446"/>
                <a:gd name="T2" fmla="*/ 0 w 36"/>
                <a:gd name="T3" fmla="*/ 11 h 446"/>
                <a:gd name="T4" fmla="*/ 0 w 36"/>
                <a:gd name="T5" fmla="*/ 22 h 446"/>
                <a:gd name="T6" fmla="*/ 0 w 36"/>
                <a:gd name="T7" fmla="*/ 40 h 446"/>
                <a:gd name="T8" fmla="*/ 1 w 36"/>
                <a:gd name="T9" fmla="*/ 70 h 446"/>
                <a:gd name="T10" fmla="*/ 2 w 36"/>
                <a:gd name="T11" fmla="*/ 101 h 446"/>
                <a:gd name="T12" fmla="*/ 3 w 36"/>
                <a:gd name="T13" fmla="*/ 150 h 446"/>
                <a:gd name="T14" fmla="*/ 4 w 36"/>
                <a:gd name="T15" fmla="*/ 181 h 446"/>
                <a:gd name="T16" fmla="*/ 4 w 36"/>
                <a:gd name="T17" fmla="*/ 209 h 446"/>
                <a:gd name="T18" fmla="*/ 6 w 36"/>
                <a:gd name="T19" fmla="*/ 245 h 446"/>
                <a:gd name="T20" fmla="*/ 7 w 36"/>
                <a:gd name="T21" fmla="*/ 290 h 446"/>
                <a:gd name="T22" fmla="*/ 9 w 36"/>
                <a:gd name="T23" fmla="*/ 332 h 446"/>
                <a:gd name="T24" fmla="*/ 9 w 36"/>
                <a:gd name="T25" fmla="*/ 349 h 446"/>
                <a:gd name="T26" fmla="*/ 11 w 36"/>
                <a:gd name="T27" fmla="*/ 367 h 446"/>
                <a:gd name="T28" fmla="*/ 12 w 36"/>
                <a:gd name="T29" fmla="*/ 382 h 446"/>
                <a:gd name="T30" fmla="*/ 13 w 36"/>
                <a:gd name="T31" fmla="*/ 407 h 446"/>
                <a:gd name="T32" fmla="*/ 13 w 36"/>
                <a:gd name="T33" fmla="*/ 418 h 446"/>
                <a:gd name="T34" fmla="*/ 14 w 36"/>
                <a:gd name="T35" fmla="*/ 428 h 446"/>
                <a:gd name="T36" fmla="*/ 16 w 36"/>
                <a:gd name="T37" fmla="*/ 436 h 446"/>
                <a:gd name="T38" fmla="*/ 16 w 36"/>
                <a:gd name="T39" fmla="*/ 440 h 446"/>
                <a:gd name="T40" fmla="*/ 17 w 36"/>
                <a:gd name="T41" fmla="*/ 445 h 446"/>
                <a:gd name="T42" fmla="*/ 18 w 36"/>
                <a:gd name="T43" fmla="*/ 446 h 446"/>
                <a:gd name="T44" fmla="*/ 18 w 36"/>
                <a:gd name="T45" fmla="*/ 445 h 446"/>
                <a:gd name="T46" fmla="*/ 19 w 36"/>
                <a:gd name="T47" fmla="*/ 440 h 446"/>
                <a:gd name="T48" fmla="*/ 19 w 36"/>
                <a:gd name="T49" fmla="*/ 436 h 446"/>
                <a:gd name="T50" fmla="*/ 20 w 36"/>
                <a:gd name="T51" fmla="*/ 428 h 446"/>
                <a:gd name="T52" fmla="*/ 22 w 36"/>
                <a:gd name="T53" fmla="*/ 418 h 446"/>
                <a:gd name="T54" fmla="*/ 22 w 36"/>
                <a:gd name="T55" fmla="*/ 407 h 446"/>
                <a:gd name="T56" fmla="*/ 24 w 36"/>
                <a:gd name="T57" fmla="*/ 382 h 446"/>
                <a:gd name="T58" fmla="*/ 24 w 36"/>
                <a:gd name="T59" fmla="*/ 367 h 446"/>
                <a:gd name="T60" fmla="*/ 25 w 36"/>
                <a:gd name="T61" fmla="*/ 349 h 446"/>
                <a:gd name="T62" fmla="*/ 27 w 36"/>
                <a:gd name="T63" fmla="*/ 332 h 446"/>
                <a:gd name="T64" fmla="*/ 29 w 36"/>
                <a:gd name="T65" fmla="*/ 291 h 446"/>
                <a:gd name="T66" fmla="*/ 30 w 36"/>
                <a:gd name="T67" fmla="*/ 245 h 446"/>
                <a:gd name="T68" fmla="*/ 31 w 36"/>
                <a:gd name="T69" fmla="*/ 209 h 446"/>
                <a:gd name="T70" fmla="*/ 33 w 36"/>
                <a:gd name="T71" fmla="*/ 181 h 446"/>
                <a:gd name="T72" fmla="*/ 33 w 36"/>
                <a:gd name="T73" fmla="*/ 151 h 446"/>
                <a:gd name="T74" fmla="*/ 34 w 36"/>
                <a:gd name="T75" fmla="*/ 104 h 446"/>
                <a:gd name="T76" fmla="*/ 34 w 36"/>
                <a:gd name="T77" fmla="*/ 72 h 446"/>
                <a:gd name="T78" fmla="*/ 35 w 36"/>
                <a:gd name="T79" fmla="*/ 44 h 446"/>
                <a:gd name="T80" fmla="*/ 35 w 36"/>
                <a:gd name="T81" fmla="*/ 19 h 446"/>
                <a:gd name="T82" fmla="*/ 35 w 36"/>
                <a:gd name="T83" fmla="*/ 4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6" h="446">
                  <a:moveTo>
                    <a:pt x="0" y="0"/>
                  </a:moveTo>
                  <a:lnTo>
                    <a:pt x="0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0" y="40"/>
                  </a:lnTo>
                  <a:lnTo>
                    <a:pt x="1" y="55"/>
                  </a:lnTo>
                  <a:lnTo>
                    <a:pt x="1" y="70"/>
                  </a:lnTo>
                  <a:lnTo>
                    <a:pt x="1" y="84"/>
                  </a:lnTo>
                  <a:lnTo>
                    <a:pt x="2" y="101"/>
                  </a:lnTo>
                  <a:lnTo>
                    <a:pt x="2" y="134"/>
                  </a:lnTo>
                  <a:lnTo>
                    <a:pt x="3" y="150"/>
                  </a:lnTo>
                  <a:lnTo>
                    <a:pt x="3" y="165"/>
                  </a:lnTo>
                  <a:lnTo>
                    <a:pt x="4" y="181"/>
                  </a:lnTo>
                  <a:lnTo>
                    <a:pt x="4" y="196"/>
                  </a:lnTo>
                  <a:lnTo>
                    <a:pt x="4" y="209"/>
                  </a:lnTo>
                  <a:lnTo>
                    <a:pt x="6" y="221"/>
                  </a:lnTo>
                  <a:lnTo>
                    <a:pt x="6" y="245"/>
                  </a:lnTo>
                  <a:lnTo>
                    <a:pt x="7" y="269"/>
                  </a:lnTo>
                  <a:lnTo>
                    <a:pt x="7" y="290"/>
                  </a:lnTo>
                  <a:lnTo>
                    <a:pt x="8" y="312"/>
                  </a:lnTo>
                  <a:lnTo>
                    <a:pt x="9" y="332"/>
                  </a:lnTo>
                  <a:lnTo>
                    <a:pt x="9" y="340"/>
                  </a:lnTo>
                  <a:lnTo>
                    <a:pt x="9" y="349"/>
                  </a:lnTo>
                  <a:lnTo>
                    <a:pt x="11" y="358"/>
                  </a:lnTo>
                  <a:lnTo>
                    <a:pt x="11" y="367"/>
                  </a:lnTo>
                  <a:lnTo>
                    <a:pt x="11" y="375"/>
                  </a:lnTo>
                  <a:lnTo>
                    <a:pt x="12" y="382"/>
                  </a:lnTo>
                  <a:lnTo>
                    <a:pt x="12" y="396"/>
                  </a:lnTo>
                  <a:lnTo>
                    <a:pt x="13" y="407"/>
                  </a:lnTo>
                  <a:lnTo>
                    <a:pt x="13" y="413"/>
                  </a:lnTo>
                  <a:lnTo>
                    <a:pt x="13" y="418"/>
                  </a:lnTo>
                  <a:lnTo>
                    <a:pt x="14" y="424"/>
                  </a:lnTo>
                  <a:lnTo>
                    <a:pt x="14" y="428"/>
                  </a:lnTo>
                  <a:lnTo>
                    <a:pt x="14" y="431"/>
                  </a:lnTo>
                  <a:lnTo>
                    <a:pt x="16" y="436"/>
                  </a:lnTo>
                  <a:lnTo>
                    <a:pt x="16" y="439"/>
                  </a:lnTo>
                  <a:lnTo>
                    <a:pt x="16" y="440"/>
                  </a:lnTo>
                  <a:lnTo>
                    <a:pt x="17" y="443"/>
                  </a:lnTo>
                  <a:lnTo>
                    <a:pt x="17" y="445"/>
                  </a:lnTo>
                  <a:lnTo>
                    <a:pt x="17" y="445"/>
                  </a:lnTo>
                  <a:lnTo>
                    <a:pt x="18" y="446"/>
                  </a:lnTo>
                  <a:lnTo>
                    <a:pt x="18" y="445"/>
                  </a:lnTo>
                  <a:lnTo>
                    <a:pt x="18" y="445"/>
                  </a:lnTo>
                  <a:lnTo>
                    <a:pt x="18" y="443"/>
                  </a:lnTo>
                  <a:lnTo>
                    <a:pt x="19" y="440"/>
                  </a:lnTo>
                  <a:lnTo>
                    <a:pt x="19" y="439"/>
                  </a:lnTo>
                  <a:lnTo>
                    <a:pt x="19" y="436"/>
                  </a:lnTo>
                  <a:lnTo>
                    <a:pt x="20" y="431"/>
                  </a:lnTo>
                  <a:lnTo>
                    <a:pt x="20" y="428"/>
                  </a:lnTo>
                  <a:lnTo>
                    <a:pt x="20" y="424"/>
                  </a:lnTo>
                  <a:lnTo>
                    <a:pt x="22" y="418"/>
                  </a:lnTo>
                  <a:lnTo>
                    <a:pt x="22" y="413"/>
                  </a:lnTo>
                  <a:lnTo>
                    <a:pt x="22" y="407"/>
                  </a:lnTo>
                  <a:lnTo>
                    <a:pt x="23" y="396"/>
                  </a:lnTo>
                  <a:lnTo>
                    <a:pt x="24" y="382"/>
                  </a:lnTo>
                  <a:lnTo>
                    <a:pt x="24" y="375"/>
                  </a:lnTo>
                  <a:lnTo>
                    <a:pt x="24" y="367"/>
                  </a:lnTo>
                  <a:lnTo>
                    <a:pt x="25" y="358"/>
                  </a:lnTo>
                  <a:lnTo>
                    <a:pt x="25" y="349"/>
                  </a:lnTo>
                  <a:lnTo>
                    <a:pt x="25" y="340"/>
                  </a:lnTo>
                  <a:lnTo>
                    <a:pt x="27" y="332"/>
                  </a:lnTo>
                  <a:lnTo>
                    <a:pt x="28" y="312"/>
                  </a:lnTo>
                  <a:lnTo>
                    <a:pt x="29" y="291"/>
                  </a:lnTo>
                  <a:lnTo>
                    <a:pt x="29" y="269"/>
                  </a:lnTo>
                  <a:lnTo>
                    <a:pt x="30" y="245"/>
                  </a:lnTo>
                  <a:lnTo>
                    <a:pt x="31" y="223"/>
                  </a:lnTo>
                  <a:lnTo>
                    <a:pt x="31" y="209"/>
                  </a:lnTo>
                  <a:lnTo>
                    <a:pt x="31" y="196"/>
                  </a:lnTo>
                  <a:lnTo>
                    <a:pt x="33" y="181"/>
                  </a:lnTo>
                  <a:lnTo>
                    <a:pt x="33" y="166"/>
                  </a:lnTo>
                  <a:lnTo>
                    <a:pt x="33" y="151"/>
                  </a:lnTo>
                  <a:lnTo>
                    <a:pt x="34" y="135"/>
                  </a:lnTo>
                  <a:lnTo>
                    <a:pt x="34" y="104"/>
                  </a:lnTo>
                  <a:lnTo>
                    <a:pt x="34" y="89"/>
                  </a:lnTo>
                  <a:lnTo>
                    <a:pt x="34" y="72"/>
                  </a:lnTo>
                  <a:lnTo>
                    <a:pt x="35" y="58"/>
                  </a:lnTo>
                  <a:lnTo>
                    <a:pt x="35" y="44"/>
                  </a:lnTo>
                  <a:lnTo>
                    <a:pt x="35" y="31"/>
                  </a:lnTo>
                  <a:lnTo>
                    <a:pt x="35" y="19"/>
                  </a:lnTo>
                  <a:lnTo>
                    <a:pt x="35" y="8"/>
                  </a:lnTo>
                  <a:lnTo>
                    <a:pt x="35" y="4"/>
                  </a:lnTo>
                  <a:lnTo>
                    <a:pt x="36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29" name="Freeform 397"/>
            <p:cNvSpPr>
              <a:spLocks/>
            </p:cNvSpPr>
            <p:nvPr/>
          </p:nvSpPr>
          <p:spPr bwMode="auto">
            <a:xfrm>
              <a:off x="3702" y="1612"/>
              <a:ext cx="37" cy="224"/>
            </a:xfrm>
            <a:custGeom>
              <a:avLst/>
              <a:gdLst>
                <a:gd name="T0" fmla="*/ 0 w 37"/>
                <a:gd name="T1" fmla="*/ 3 h 446"/>
                <a:gd name="T2" fmla="*/ 0 w 37"/>
                <a:gd name="T3" fmla="*/ 11 h 446"/>
                <a:gd name="T4" fmla="*/ 0 w 37"/>
                <a:gd name="T5" fmla="*/ 22 h 446"/>
                <a:gd name="T6" fmla="*/ 0 w 37"/>
                <a:gd name="T7" fmla="*/ 40 h 446"/>
                <a:gd name="T8" fmla="*/ 1 w 37"/>
                <a:gd name="T9" fmla="*/ 70 h 446"/>
                <a:gd name="T10" fmla="*/ 3 w 37"/>
                <a:gd name="T11" fmla="*/ 101 h 446"/>
                <a:gd name="T12" fmla="*/ 4 w 37"/>
                <a:gd name="T13" fmla="*/ 150 h 446"/>
                <a:gd name="T14" fmla="*/ 5 w 37"/>
                <a:gd name="T15" fmla="*/ 181 h 446"/>
                <a:gd name="T16" fmla="*/ 5 w 37"/>
                <a:gd name="T17" fmla="*/ 209 h 446"/>
                <a:gd name="T18" fmla="*/ 6 w 37"/>
                <a:gd name="T19" fmla="*/ 245 h 446"/>
                <a:gd name="T20" fmla="*/ 7 w 37"/>
                <a:gd name="T21" fmla="*/ 290 h 446"/>
                <a:gd name="T22" fmla="*/ 10 w 37"/>
                <a:gd name="T23" fmla="*/ 332 h 446"/>
                <a:gd name="T24" fmla="*/ 10 w 37"/>
                <a:gd name="T25" fmla="*/ 349 h 446"/>
                <a:gd name="T26" fmla="*/ 11 w 37"/>
                <a:gd name="T27" fmla="*/ 367 h 446"/>
                <a:gd name="T28" fmla="*/ 12 w 37"/>
                <a:gd name="T29" fmla="*/ 382 h 446"/>
                <a:gd name="T30" fmla="*/ 14 w 37"/>
                <a:gd name="T31" fmla="*/ 407 h 446"/>
                <a:gd name="T32" fmla="*/ 14 w 37"/>
                <a:gd name="T33" fmla="*/ 418 h 446"/>
                <a:gd name="T34" fmla="*/ 15 w 37"/>
                <a:gd name="T35" fmla="*/ 428 h 446"/>
                <a:gd name="T36" fmla="*/ 16 w 37"/>
                <a:gd name="T37" fmla="*/ 436 h 446"/>
                <a:gd name="T38" fmla="*/ 16 w 37"/>
                <a:gd name="T39" fmla="*/ 440 h 446"/>
                <a:gd name="T40" fmla="*/ 17 w 37"/>
                <a:gd name="T41" fmla="*/ 445 h 446"/>
                <a:gd name="T42" fmla="*/ 19 w 37"/>
                <a:gd name="T43" fmla="*/ 446 h 446"/>
                <a:gd name="T44" fmla="*/ 19 w 37"/>
                <a:gd name="T45" fmla="*/ 445 h 446"/>
                <a:gd name="T46" fmla="*/ 20 w 37"/>
                <a:gd name="T47" fmla="*/ 440 h 446"/>
                <a:gd name="T48" fmla="*/ 20 w 37"/>
                <a:gd name="T49" fmla="*/ 436 h 446"/>
                <a:gd name="T50" fmla="*/ 21 w 37"/>
                <a:gd name="T51" fmla="*/ 428 h 446"/>
                <a:gd name="T52" fmla="*/ 22 w 37"/>
                <a:gd name="T53" fmla="*/ 418 h 446"/>
                <a:gd name="T54" fmla="*/ 22 w 37"/>
                <a:gd name="T55" fmla="*/ 407 h 446"/>
                <a:gd name="T56" fmla="*/ 25 w 37"/>
                <a:gd name="T57" fmla="*/ 382 h 446"/>
                <a:gd name="T58" fmla="*/ 25 w 37"/>
                <a:gd name="T59" fmla="*/ 367 h 446"/>
                <a:gd name="T60" fmla="*/ 26 w 37"/>
                <a:gd name="T61" fmla="*/ 349 h 446"/>
                <a:gd name="T62" fmla="*/ 27 w 37"/>
                <a:gd name="T63" fmla="*/ 332 h 446"/>
                <a:gd name="T64" fmla="*/ 30 w 37"/>
                <a:gd name="T65" fmla="*/ 291 h 446"/>
                <a:gd name="T66" fmla="*/ 31 w 37"/>
                <a:gd name="T67" fmla="*/ 245 h 446"/>
                <a:gd name="T68" fmla="*/ 32 w 37"/>
                <a:gd name="T69" fmla="*/ 209 h 446"/>
                <a:gd name="T70" fmla="*/ 33 w 37"/>
                <a:gd name="T71" fmla="*/ 181 h 446"/>
                <a:gd name="T72" fmla="*/ 33 w 37"/>
                <a:gd name="T73" fmla="*/ 151 h 446"/>
                <a:gd name="T74" fmla="*/ 34 w 37"/>
                <a:gd name="T75" fmla="*/ 104 h 446"/>
                <a:gd name="T76" fmla="*/ 34 w 37"/>
                <a:gd name="T77" fmla="*/ 72 h 446"/>
                <a:gd name="T78" fmla="*/ 36 w 37"/>
                <a:gd name="T79" fmla="*/ 44 h 446"/>
                <a:gd name="T80" fmla="*/ 36 w 37"/>
                <a:gd name="T81" fmla="*/ 19 h 446"/>
                <a:gd name="T82" fmla="*/ 36 w 37"/>
                <a:gd name="T83" fmla="*/ 4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7" h="446">
                  <a:moveTo>
                    <a:pt x="0" y="0"/>
                  </a:moveTo>
                  <a:lnTo>
                    <a:pt x="0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0" y="40"/>
                  </a:lnTo>
                  <a:lnTo>
                    <a:pt x="1" y="55"/>
                  </a:lnTo>
                  <a:lnTo>
                    <a:pt x="1" y="70"/>
                  </a:lnTo>
                  <a:lnTo>
                    <a:pt x="1" y="84"/>
                  </a:lnTo>
                  <a:lnTo>
                    <a:pt x="3" y="101"/>
                  </a:lnTo>
                  <a:lnTo>
                    <a:pt x="3" y="134"/>
                  </a:lnTo>
                  <a:lnTo>
                    <a:pt x="4" y="150"/>
                  </a:lnTo>
                  <a:lnTo>
                    <a:pt x="4" y="165"/>
                  </a:lnTo>
                  <a:lnTo>
                    <a:pt x="5" y="181"/>
                  </a:lnTo>
                  <a:lnTo>
                    <a:pt x="5" y="196"/>
                  </a:lnTo>
                  <a:lnTo>
                    <a:pt x="5" y="209"/>
                  </a:lnTo>
                  <a:lnTo>
                    <a:pt x="6" y="221"/>
                  </a:lnTo>
                  <a:lnTo>
                    <a:pt x="6" y="245"/>
                  </a:lnTo>
                  <a:lnTo>
                    <a:pt x="7" y="269"/>
                  </a:lnTo>
                  <a:lnTo>
                    <a:pt x="7" y="290"/>
                  </a:lnTo>
                  <a:lnTo>
                    <a:pt x="9" y="312"/>
                  </a:lnTo>
                  <a:lnTo>
                    <a:pt x="10" y="332"/>
                  </a:lnTo>
                  <a:lnTo>
                    <a:pt x="10" y="340"/>
                  </a:lnTo>
                  <a:lnTo>
                    <a:pt x="10" y="349"/>
                  </a:lnTo>
                  <a:lnTo>
                    <a:pt x="11" y="358"/>
                  </a:lnTo>
                  <a:lnTo>
                    <a:pt x="11" y="367"/>
                  </a:lnTo>
                  <a:lnTo>
                    <a:pt x="11" y="375"/>
                  </a:lnTo>
                  <a:lnTo>
                    <a:pt x="12" y="382"/>
                  </a:lnTo>
                  <a:lnTo>
                    <a:pt x="12" y="396"/>
                  </a:lnTo>
                  <a:lnTo>
                    <a:pt x="14" y="407"/>
                  </a:lnTo>
                  <a:lnTo>
                    <a:pt x="14" y="413"/>
                  </a:lnTo>
                  <a:lnTo>
                    <a:pt x="14" y="418"/>
                  </a:lnTo>
                  <a:lnTo>
                    <a:pt x="15" y="424"/>
                  </a:lnTo>
                  <a:lnTo>
                    <a:pt x="15" y="428"/>
                  </a:lnTo>
                  <a:lnTo>
                    <a:pt x="15" y="431"/>
                  </a:lnTo>
                  <a:lnTo>
                    <a:pt x="16" y="436"/>
                  </a:lnTo>
                  <a:lnTo>
                    <a:pt x="16" y="439"/>
                  </a:lnTo>
                  <a:lnTo>
                    <a:pt x="16" y="440"/>
                  </a:lnTo>
                  <a:lnTo>
                    <a:pt x="17" y="443"/>
                  </a:lnTo>
                  <a:lnTo>
                    <a:pt x="17" y="445"/>
                  </a:lnTo>
                  <a:lnTo>
                    <a:pt x="17" y="445"/>
                  </a:lnTo>
                  <a:lnTo>
                    <a:pt x="19" y="446"/>
                  </a:lnTo>
                  <a:lnTo>
                    <a:pt x="19" y="445"/>
                  </a:lnTo>
                  <a:lnTo>
                    <a:pt x="19" y="445"/>
                  </a:lnTo>
                  <a:lnTo>
                    <a:pt x="19" y="443"/>
                  </a:lnTo>
                  <a:lnTo>
                    <a:pt x="20" y="440"/>
                  </a:lnTo>
                  <a:lnTo>
                    <a:pt x="20" y="439"/>
                  </a:lnTo>
                  <a:lnTo>
                    <a:pt x="20" y="436"/>
                  </a:lnTo>
                  <a:lnTo>
                    <a:pt x="21" y="431"/>
                  </a:lnTo>
                  <a:lnTo>
                    <a:pt x="21" y="428"/>
                  </a:lnTo>
                  <a:lnTo>
                    <a:pt x="21" y="424"/>
                  </a:lnTo>
                  <a:lnTo>
                    <a:pt x="22" y="418"/>
                  </a:lnTo>
                  <a:lnTo>
                    <a:pt x="22" y="413"/>
                  </a:lnTo>
                  <a:lnTo>
                    <a:pt x="22" y="407"/>
                  </a:lnTo>
                  <a:lnTo>
                    <a:pt x="23" y="396"/>
                  </a:lnTo>
                  <a:lnTo>
                    <a:pt x="25" y="382"/>
                  </a:lnTo>
                  <a:lnTo>
                    <a:pt x="25" y="375"/>
                  </a:lnTo>
                  <a:lnTo>
                    <a:pt x="25" y="367"/>
                  </a:lnTo>
                  <a:lnTo>
                    <a:pt x="26" y="358"/>
                  </a:lnTo>
                  <a:lnTo>
                    <a:pt x="26" y="349"/>
                  </a:lnTo>
                  <a:lnTo>
                    <a:pt x="26" y="340"/>
                  </a:lnTo>
                  <a:lnTo>
                    <a:pt x="27" y="332"/>
                  </a:lnTo>
                  <a:lnTo>
                    <a:pt x="28" y="312"/>
                  </a:lnTo>
                  <a:lnTo>
                    <a:pt x="30" y="291"/>
                  </a:lnTo>
                  <a:lnTo>
                    <a:pt x="30" y="269"/>
                  </a:lnTo>
                  <a:lnTo>
                    <a:pt x="31" y="245"/>
                  </a:lnTo>
                  <a:lnTo>
                    <a:pt x="32" y="223"/>
                  </a:lnTo>
                  <a:lnTo>
                    <a:pt x="32" y="209"/>
                  </a:lnTo>
                  <a:lnTo>
                    <a:pt x="32" y="196"/>
                  </a:lnTo>
                  <a:lnTo>
                    <a:pt x="33" y="181"/>
                  </a:lnTo>
                  <a:lnTo>
                    <a:pt x="33" y="166"/>
                  </a:lnTo>
                  <a:lnTo>
                    <a:pt x="33" y="151"/>
                  </a:lnTo>
                  <a:lnTo>
                    <a:pt x="34" y="135"/>
                  </a:lnTo>
                  <a:lnTo>
                    <a:pt x="34" y="104"/>
                  </a:lnTo>
                  <a:lnTo>
                    <a:pt x="34" y="89"/>
                  </a:lnTo>
                  <a:lnTo>
                    <a:pt x="34" y="72"/>
                  </a:lnTo>
                  <a:lnTo>
                    <a:pt x="36" y="58"/>
                  </a:lnTo>
                  <a:lnTo>
                    <a:pt x="36" y="44"/>
                  </a:lnTo>
                  <a:lnTo>
                    <a:pt x="36" y="31"/>
                  </a:lnTo>
                  <a:lnTo>
                    <a:pt x="36" y="19"/>
                  </a:lnTo>
                  <a:lnTo>
                    <a:pt x="36" y="8"/>
                  </a:lnTo>
                  <a:lnTo>
                    <a:pt x="36" y="4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30" name="Freeform 398"/>
            <p:cNvSpPr>
              <a:spLocks noEditPoints="1"/>
            </p:cNvSpPr>
            <p:nvPr/>
          </p:nvSpPr>
          <p:spPr bwMode="auto">
            <a:xfrm>
              <a:off x="2636" y="1600"/>
              <a:ext cx="2758" cy="24"/>
            </a:xfrm>
            <a:custGeom>
              <a:avLst/>
              <a:gdLst>
                <a:gd name="T0" fmla="*/ 0 w 2758"/>
                <a:gd name="T1" fmla="*/ 18 h 49"/>
                <a:gd name="T2" fmla="*/ 2727 w 2758"/>
                <a:gd name="T3" fmla="*/ 18 h 49"/>
                <a:gd name="T4" fmla="*/ 2727 w 2758"/>
                <a:gd name="T5" fmla="*/ 32 h 49"/>
                <a:gd name="T6" fmla="*/ 0 w 2758"/>
                <a:gd name="T7" fmla="*/ 32 h 49"/>
                <a:gd name="T8" fmla="*/ 0 w 2758"/>
                <a:gd name="T9" fmla="*/ 18 h 49"/>
                <a:gd name="T10" fmla="*/ 2716 w 2758"/>
                <a:gd name="T11" fmla="*/ 0 h 49"/>
                <a:gd name="T12" fmla="*/ 2758 w 2758"/>
                <a:gd name="T13" fmla="*/ 26 h 49"/>
                <a:gd name="T14" fmla="*/ 2716 w 2758"/>
                <a:gd name="T15" fmla="*/ 49 h 49"/>
                <a:gd name="T16" fmla="*/ 2716 w 2758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58" h="49">
                  <a:moveTo>
                    <a:pt x="0" y="18"/>
                  </a:moveTo>
                  <a:lnTo>
                    <a:pt x="2727" y="18"/>
                  </a:lnTo>
                  <a:lnTo>
                    <a:pt x="2727" y="32"/>
                  </a:lnTo>
                  <a:lnTo>
                    <a:pt x="0" y="32"/>
                  </a:lnTo>
                  <a:lnTo>
                    <a:pt x="0" y="18"/>
                  </a:lnTo>
                  <a:close/>
                  <a:moveTo>
                    <a:pt x="2716" y="0"/>
                  </a:moveTo>
                  <a:lnTo>
                    <a:pt x="2758" y="26"/>
                  </a:lnTo>
                  <a:lnTo>
                    <a:pt x="2716" y="49"/>
                  </a:lnTo>
                  <a:lnTo>
                    <a:pt x="2716" y="0"/>
                  </a:lnTo>
                  <a:close/>
                </a:path>
              </a:pathLst>
            </a:custGeom>
            <a:solidFill>
              <a:srgbClr val="000000"/>
            </a:solidFill>
            <a:ln w="12700" cmpd="sng">
              <a:solidFill>
                <a:schemeClr val="hlink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8031" name="Freeform 399"/>
            <p:cNvSpPr>
              <a:spLocks/>
            </p:cNvSpPr>
            <p:nvPr/>
          </p:nvSpPr>
          <p:spPr bwMode="auto">
            <a:xfrm>
              <a:off x="3831" y="1389"/>
              <a:ext cx="55" cy="223"/>
            </a:xfrm>
            <a:custGeom>
              <a:avLst/>
              <a:gdLst>
                <a:gd name="T0" fmla="*/ 0 w 55"/>
                <a:gd name="T1" fmla="*/ 442 h 447"/>
                <a:gd name="T2" fmla="*/ 0 w 55"/>
                <a:gd name="T3" fmla="*/ 433 h 447"/>
                <a:gd name="T4" fmla="*/ 0 w 55"/>
                <a:gd name="T5" fmla="*/ 423 h 447"/>
                <a:gd name="T6" fmla="*/ 1 w 55"/>
                <a:gd name="T7" fmla="*/ 405 h 447"/>
                <a:gd name="T8" fmla="*/ 2 w 55"/>
                <a:gd name="T9" fmla="*/ 377 h 447"/>
                <a:gd name="T10" fmla="*/ 4 w 55"/>
                <a:gd name="T11" fmla="*/ 345 h 447"/>
                <a:gd name="T12" fmla="*/ 5 w 55"/>
                <a:gd name="T13" fmla="*/ 296 h 447"/>
                <a:gd name="T14" fmla="*/ 7 w 55"/>
                <a:gd name="T15" fmla="*/ 263 h 447"/>
                <a:gd name="T16" fmla="*/ 8 w 55"/>
                <a:gd name="T17" fmla="*/ 235 h 447"/>
                <a:gd name="T18" fmla="*/ 10 w 55"/>
                <a:gd name="T19" fmla="*/ 199 h 447"/>
                <a:gd name="T20" fmla="*/ 12 w 55"/>
                <a:gd name="T21" fmla="*/ 155 h 447"/>
                <a:gd name="T22" fmla="*/ 15 w 55"/>
                <a:gd name="T23" fmla="*/ 113 h 447"/>
                <a:gd name="T24" fmla="*/ 16 w 55"/>
                <a:gd name="T25" fmla="*/ 95 h 447"/>
                <a:gd name="T26" fmla="*/ 17 w 55"/>
                <a:gd name="T27" fmla="*/ 77 h 447"/>
                <a:gd name="T28" fmla="*/ 18 w 55"/>
                <a:gd name="T29" fmla="*/ 62 h 447"/>
                <a:gd name="T30" fmla="*/ 19 w 55"/>
                <a:gd name="T31" fmla="*/ 37 h 447"/>
                <a:gd name="T32" fmla="*/ 21 w 55"/>
                <a:gd name="T33" fmla="*/ 27 h 447"/>
                <a:gd name="T34" fmla="*/ 22 w 55"/>
                <a:gd name="T35" fmla="*/ 16 h 447"/>
                <a:gd name="T36" fmla="*/ 23 w 55"/>
                <a:gd name="T37" fmla="*/ 9 h 447"/>
                <a:gd name="T38" fmla="*/ 24 w 55"/>
                <a:gd name="T39" fmla="*/ 4 h 447"/>
                <a:gd name="T40" fmla="*/ 26 w 55"/>
                <a:gd name="T41" fmla="*/ 0 h 447"/>
                <a:gd name="T42" fmla="*/ 27 w 55"/>
                <a:gd name="T43" fmla="*/ 0 h 447"/>
                <a:gd name="T44" fmla="*/ 28 w 55"/>
                <a:gd name="T45" fmla="*/ 0 h 447"/>
                <a:gd name="T46" fmla="*/ 29 w 55"/>
                <a:gd name="T47" fmla="*/ 4 h 447"/>
                <a:gd name="T48" fmla="*/ 31 w 55"/>
                <a:gd name="T49" fmla="*/ 9 h 447"/>
                <a:gd name="T50" fmla="*/ 32 w 55"/>
                <a:gd name="T51" fmla="*/ 18 h 447"/>
                <a:gd name="T52" fmla="*/ 33 w 55"/>
                <a:gd name="T53" fmla="*/ 27 h 447"/>
                <a:gd name="T54" fmla="*/ 34 w 55"/>
                <a:gd name="T55" fmla="*/ 37 h 447"/>
                <a:gd name="T56" fmla="*/ 37 w 55"/>
                <a:gd name="T57" fmla="*/ 62 h 447"/>
                <a:gd name="T58" fmla="*/ 38 w 55"/>
                <a:gd name="T59" fmla="*/ 77 h 447"/>
                <a:gd name="T60" fmla="*/ 39 w 55"/>
                <a:gd name="T61" fmla="*/ 95 h 447"/>
                <a:gd name="T62" fmla="*/ 40 w 55"/>
                <a:gd name="T63" fmla="*/ 113 h 447"/>
                <a:gd name="T64" fmla="*/ 43 w 55"/>
                <a:gd name="T65" fmla="*/ 153 h 447"/>
                <a:gd name="T66" fmla="*/ 46 w 55"/>
                <a:gd name="T67" fmla="*/ 199 h 447"/>
                <a:gd name="T68" fmla="*/ 48 w 55"/>
                <a:gd name="T69" fmla="*/ 235 h 447"/>
                <a:gd name="T70" fmla="*/ 49 w 55"/>
                <a:gd name="T71" fmla="*/ 263 h 447"/>
                <a:gd name="T72" fmla="*/ 50 w 55"/>
                <a:gd name="T73" fmla="*/ 293 h 447"/>
                <a:gd name="T74" fmla="*/ 51 w 55"/>
                <a:gd name="T75" fmla="*/ 341 h 447"/>
                <a:gd name="T76" fmla="*/ 53 w 55"/>
                <a:gd name="T77" fmla="*/ 372 h 447"/>
                <a:gd name="T78" fmla="*/ 53 w 55"/>
                <a:gd name="T79" fmla="*/ 400 h 447"/>
                <a:gd name="T80" fmla="*/ 54 w 55"/>
                <a:gd name="T81" fmla="*/ 426 h 447"/>
                <a:gd name="T82" fmla="*/ 54 w 55"/>
                <a:gd name="T83" fmla="*/ 44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5" h="447">
                  <a:moveTo>
                    <a:pt x="0" y="447"/>
                  </a:moveTo>
                  <a:lnTo>
                    <a:pt x="0" y="442"/>
                  </a:lnTo>
                  <a:lnTo>
                    <a:pt x="0" y="438"/>
                  </a:lnTo>
                  <a:lnTo>
                    <a:pt x="0" y="433"/>
                  </a:lnTo>
                  <a:lnTo>
                    <a:pt x="0" y="429"/>
                  </a:lnTo>
                  <a:lnTo>
                    <a:pt x="0" y="423"/>
                  </a:lnTo>
                  <a:lnTo>
                    <a:pt x="0" y="417"/>
                  </a:lnTo>
                  <a:lnTo>
                    <a:pt x="1" y="405"/>
                  </a:lnTo>
                  <a:lnTo>
                    <a:pt x="1" y="391"/>
                  </a:lnTo>
                  <a:lnTo>
                    <a:pt x="2" y="377"/>
                  </a:lnTo>
                  <a:lnTo>
                    <a:pt x="2" y="360"/>
                  </a:lnTo>
                  <a:lnTo>
                    <a:pt x="4" y="345"/>
                  </a:lnTo>
                  <a:lnTo>
                    <a:pt x="5" y="313"/>
                  </a:lnTo>
                  <a:lnTo>
                    <a:pt x="5" y="296"/>
                  </a:lnTo>
                  <a:lnTo>
                    <a:pt x="6" y="280"/>
                  </a:lnTo>
                  <a:lnTo>
                    <a:pt x="7" y="263"/>
                  </a:lnTo>
                  <a:lnTo>
                    <a:pt x="7" y="250"/>
                  </a:lnTo>
                  <a:lnTo>
                    <a:pt x="8" y="235"/>
                  </a:lnTo>
                  <a:lnTo>
                    <a:pt x="8" y="223"/>
                  </a:lnTo>
                  <a:lnTo>
                    <a:pt x="10" y="199"/>
                  </a:lnTo>
                  <a:lnTo>
                    <a:pt x="11" y="177"/>
                  </a:lnTo>
                  <a:lnTo>
                    <a:pt x="12" y="155"/>
                  </a:lnTo>
                  <a:lnTo>
                    <a:pt x="13" y="132"/>
                  </a:lnTo>
                  <a:lnTo>
                    <a:pt x="15" y="113"/>
                  </a:lnTo>
                  <a:lnTo>
                    <a:pt x="15" y="104"/>
                  </a:lnTo>
                  <a:lnTo>
                    <a:pt x="16" y="95"/>
                  </a:lnTo>
                  <a:lnTo>
                    <a:pt x="16" y="86"/>
                  </a:lnTo>
                  <a:lnTo>
                    <a:pt x="17" y="77"/>
                  </a:lnTo>
                  <a:lnTo>
                    <a:pt x="17" y="70"/>
                  </a:lnTo>
                  <a:lnTo>
                    <a:pt x="18" y="62"/>
                  </a:lnTo>
                  <a:lnTo>
                    <a:pt x="18" y="49"/>
                  </a:lnTo>
                  <a:lnTo>
                    <a:pt x="19" y="37"/>
                  </a:lnTo>
                  <a:lnTo>
                    <a:pt x="21" y="31"/>
                  </a:lnTo>
                  <a:lnTo>
                    <a:pt x="21" y="27"/>
                  </a:lnTo>
                  <a:lnTo>
                    <a:pt x="22" y="21"/>
                  </a:lnTo>
                  <a:lnTo>
                    <a:pt x="22" y="16"/>
                  </a:lnTo>
                  <a:lnTo>
                    <a:pt x="23" y="13"/>
                  </a:lnTo>
                  <a:lnTo>
                    <a:pt x="23" y="9"/>
                  </a:lnTo>
                  <a:lnTo>
                    <a:pt x="24" y="6"/>
                  </a:lnTo>
                  <a:lnTo>
                    <a:pt x="24" y="4"/>
                  </a:lnTo>
                  <a:lnTo>
                    <a:pt x="26" y="1"/>
                  </a:lnTo>
                  <a:lnTo>
                    <a:pt x="26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8" y="0"/>
                  </a:lnTo>
                  <a:lnTo>
                    <a:pt x="28" y="1"/>
                  </a:lnTo>
                  <a:lnTo>
                    <a:pt x="29" y="4"/>
                  </a:lnTo>
                  <a:lnTo>
                    <a:pt x="29" y="6"/>
                  </a:lnTo>
                  <a:lnTo>
                    <a:pt x="31" y="9"/>
                  </a:lnTo>
                  <a:lnTo>
                    <a:pt x="31" y="13"/>
                  </a:lnTo>
                  <a:lnTo>
                    <a:pt x="32" y="18"/>
                  </a:lnTo>
                  <a:lnTo>
                    <a:pt x="32" y="22"/>
                  </a:lnTo>
                  <a:lnTo>
                    <a:pt x="33" y="27"/>
                  </a:lnTo>
                  <a:lnTo>
                    <a:pt x="33" y="31"/>
                  </a:lnTo>
                  <a:lnTo>
                    <a:pt x="34" y="37"/>
                  </a:lnTo>
                  <a:lnTo>
                    <a:pt x="35" y="49"/>
                  </a:lnTo>
                  <a:lnTo>
                    <a:pt x="37" y="62"/>
                  </a:lnTo>
                  <a:lnTo>
                    <a:pt x="37" y="70"/>
                  </a:lnTo>
                  <a:lnTo>
                    <a:pt x="38" y="77"/>
                  </a:lnTo>
                  <a:lnTo>
                    <a:pt x="38" y="86"/>
                  </a:lnTo>
                  <a:lnTo>
                    <a:pt x="39" y="95"/>
                  </a:lnTo>
                  <a:lnTo>
                    <a:pt x="39" y="104"/>
                  </a:lnTo>
                  <a:lnTo>
                    <a:pt x="40" y="113"/>
                  </a:lnTo>
                  <a:lnTo>
                    <a:pt x="42" y="132"/>
                  </a:lnTo>
                  <a:lnTo>
                    <a:pt x="43" y="153"/>
                  </a:lnTo>
                  <a:lnTo>
                    <a:pt x="45" y="176"/>
                  </a:lnTo>
                  <a:lnTo>
                    <a:pt x="46" y="199"/>
                  </a:lnTo>
                  <a:lnTo>
                    <a:pt x="48" y="223"/>
                  </a:lnTo>
                  <a:lnTo>
                    <a:pt x="48" y="235"/>
                  </a:lnTo>
                  <a:lnTo>
                    <a:pt x="49" y="249"/>
                  </a:lnTo>
                  <a:lnTo>
                    <a:pt x="49" y="263"/>
                  </a:lnTo>
                  <a:lnTo>
                    <a:pt x="50" y="278"/>
                  </a:lnTo>
                  <a:lnTo>
                    <a:pt x="50" y="293"/>
                  </a:lnTo>
                  <a:lnTo>
                    <a:pt x="50" y="310"/>
                  </a:lnTo>
                  <a:lnTo>
                    <a:pt x="51" y="341"/>
                  </a:lnTo>
                  <a:lnTo>
                    <a:pt x="53" y="356"/>
                  </a:lnTo>
                  <a:lnTo>
                    <a:pt x="53" y="372"/>
                  </a:lnTo>
                  <a:lnTo>
                    <a:pt x="53" y="387"/>
                  </a:lnTo>
                  <a:lnTo>
                    <a:pt x="53" y="400"/>
                  </a:lnTo>
                  <a:lnTo>
                    <a:pt x="54" y="414"/>
                  </a:lnTo>
                  <a:lnTo>
                    <a:pt x="54" y="426"/>
                  </a:lnTo>
                  <a:lnTo>
                    <a:pt x="54" y="436"/>
                  </a:lnTo>
                  <a:lnTo>
                    <a:pt x="54" y="441"/>
                  </a:lnTo>
                  <a:lnTo>
                    <a:pt x="55" y="447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32" name="Freeform 400"/>
            <p:cNvSpPr>
              <a:spLocks/>
            </p:cNvSpPr>
            <p:nvPr/>
          </p:nvSpPr>
          <p:spPr bwMode="auto">
            <a:xfrm>
              <a:off x="3941" y="1389"/>
              <a:ext cx="55" cy="223"/>
            </a:xfrm>
            <a:custGeom>
              <a:avLst/>
              <a:gdLst>
                <a:gd name="T0" fmla="*/ 0 w 55"/>
                <a:gd name="T1" fmla="*/ 442 h 447"/>
                <a:gd name="T2" fmla="*/ 0 w 55"/>
                <a:gd name="T3" fmla="*/ 433 h 447"/>
                <a:gd name="T4" fmla="*/ 0 w 55"/>
                <a:gd name="T5" fmla="*/ 423 h 447"/>
                <a:gd name="T6" fmla="*/ 1 w 55"/>
                <a:gd name="T7" fmla="*/ 405 h 447"/>
                <a:gd name="T8" fmla="*/ 3 w 55"/>
                <a:gd name="T9" fmla="*/ 377 h 447"/>
                <a:gd name="T10" fmla="*/ 4 w 55"/>
                <a:gd name="T11" fmla="*/ 345 h 447"/>
                <a:gd name="T12" fmla="*/ 5 w 55"/>
                <a:gd name="T13" fmla="*/ 296 h 447"/>
                <a:gd name="T14" fmla="*/ 8 w 55"/>
                <a:gd name="T15" fmla="*/ 263 h 447"/>
                <a:gd name="T16" fmla="*/ 9 w 55"/>
                <a:gd name="T17" fmla="*/ 235 h 447"/>
                <a:gd name="T18" fmla="*/ 10 w 55"/>
                <a:gd name="T19" fmla="*/ 199 h 447"/>
                <a:gd name="T20" fmla="*/ 12 w 55"/>
                <a:gd name="T21" fmla="*/ 155 h 447"/>
                <a:gd name="T22" fmla="*/ 15 w 55"/>
                <a:gd name="T23" fmla="*/ 113 h 447"/>
                <a:gd name="T24" fmla="*/ 16 w 55"/>
                <a:gd name="T25" fmla="*/ 95 h 447"/>
                <a:gd name="T26" fmla="*/ 17 w 55"/>
                <a:gd name="T27" fmla="*/ 77 h 447"/>
                <a:gd name="T28" fmla="*/ 19 w 55"/>
                <a:gd name="T29" fmla="*/ 62 h 447"/>
                <a:gd name="T30" fmla="*/ 20 w 55"/>
                <a:gd name="T31" fmla="*/ 37 h 447"/>
                <a:gd name="T32" fmla="*/ 21 w 55"/>
                <a:gd name="T33" fmla="*/ 27 h 447"/>
                <a:gd name="T34" fmla="*/ 22 w 55"/>
                <a:gd name="T35" fmla="*/ 16 h 447"/>
                <a:gd name="T36" fmla="*/ 23 w 55"/>
                <a:gd name="T37" fmla="*/ 9 h 447"/>
                <a:gd name="T38" fmla="*/ 25 w 55"/>
                <a:gd name="T39" fmla="*/ 4 h 447"/>
                <a:gd name="T40" fmla="*/ 26 w 55"/>
                <a:gd name="T41" fmla="*/ 0 h 447"/>
                <a:gd name="T42" fmla="*/ 27 w 55"/>
                <a:gd name="T43" fmla="*/ 0 h 447"/>
                <a:gd name="T44" fmla="*/ 28 w 55"/>
                <a:gd name="T45" fmla="*/ 0 h 447"/>
                <a:gd name="T46" fmla="*/ 30 w 55"/>
                <a:gd name="T47" fmla="*/ 4 h 447"/>
                <a:gd name="T48" fmla="*/ 31 w 55"/>
                <a:gd name="T49" fmla="*/ 9 h 447"/>
                <a:gd name="T50" fmla="*/ 32 w 55"/>
                <a:gd name="T51" fmla="*/ 18 h 447"/>
                <a:gd name="T52" fmla="*/ 33 w 55"/>
                <a:gd name="T53" fmla="*/ 27 h 447"/>
                <a:gd name="T54" fmla="*/ 35 w 55"/>
                <a:gd name="T55" fmla="*/ 37 h 447"/>
                <a:gd name="T56" fmla="*/ 37 w 55"/>
                <a:gd name="T57" fmla="*/ 62 h 447"/>
                <a:gd name="T58" fmla="*/ 38 w 55"/>
                <a:gd name="T59" fmla="*/ 77 h 447"/>
                <a:gd name="T60" fmla="*/ 39 w 55"/>
                <a:gd name="T61" fmla="*/ 95 h 447"/>
                <a:gd name="T62" fmla="*/ 41 w 55"/>
                <a:gd name="T63" fmla="*/ 113 h 447"/>
                <a:gd name="T64" fmla="*/ 43 w 55"/>
                <a:gd name="T65" fmla="*/ 153 h 447"/>
                <a:gd name="T66" fmla="*/ 47 w 55"/>
                <a:gd name="T67" fmla="*/ 199 h 447"/>
                <a:gd name="T68" fmla="*/ 48 w 55"/>
                <a:gd name="T69" fmla="*/ 235 h 447"/>
                <a:gd name="T70" fmla="*/ 49 w 55"/>
                <a:gd name="T71" fmla="*/ 263 h 447"/>
                <a:gd name="T72" fmla="*/ 50 w 55"/>
                <a:gd name="T73" fmla="*/ 293 h 447"/>
                <a:gd name="T74" fmla="*/ 52 w 55"/>
                <a:gd name="T75" fmla="*/ 341 h 447"/>
                <a:gd name="T76" fmla="*/ 53 w 55"/>
                <a:gd name="T77" fmla="*/ 372 h 447"/>
                <a:gd name="T78" fmla="*/ 53 w 55"/>
                <a:gd name="T79" fmla="*/ 400 h 447"/>
                <a:gd name="T80" fmla="*/ 54 w 55"/>
                <a:gd name="T81" fmla="*/ 426 h 447"/>
                <a:gd name="T82" fmla="*/ 54 w 55"/>
                <a:gd name="T83" fmla="*/ 44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5" h="447">
                  <a:moveTo>
                    <a:pt x="0" y="447"/>
                  </a:moveTo>
                  <a:lnTo>
                    <a:pt x="0" y="442"/>
                  </a:lnTo>
                  <a:lnTo>
                    <a:pt x="0" y="438"/>
                  </a:lnTo>
                  <a:lnTo>
                    <a:pt x="0" y="433"/>
                  </a:lnTo>
                  <a:lnTo>
                    <a:pt x="0" y="429"/>
                  </a:lnTo>
                  <a:lnTo>
                    <a:pt x="0" y="423"/>
                  </a:lnTo>
                  <a:lnTo>
                    <a:pt x="0" y="417"/>
                  </a:lnTo>
                  <a:lnTo>
                    <a:pt x="1" y="405"/>
                  </a:lnTo>
                  <a:lnTo>
                    <a:pt x="1" y="391"/>
                  </a:lnTo>
                  <a:lnTo>
                    <a:pt x="3" y="377"/>
                  </a:lnTo>
                  <a:lnTo>
                    <a:pt x="3" y="360"/>
                  </a:lnTo>
                  <a:lnTo>
                    <a:pt x="4" y="345"/>
                  </a:lnTo>
                  <a:lnTo>
                    <a:pt x="5" y="313"/>
                  </a:lnTo>
                  <a:lnTo>
                    <a:pt x="5" y="296"/>
                  </a:lnTo>
                  <a:lnTo>
                    <a:pt x="6" y="280"/>
                  </a:lnTo>
                  <a:lnTo>
                    <a:pt x="8" y="263"/>
                  </a:lnTo>
                  <a:lnTo>
                    <a:pt x="8" y="250"/>
                  </a:lnTo>
                  <a:lnTo>
                    <a:pt x="9" y="235"/>
                  </a:lnTo>
                  <a:lnTo>
                    <a:pt x="9" y="223"/>
                  </a:lnTo>
                  <a:lnTo>
                    <a:pt x="10" y="199"/>
                  </a:lnTo>
                  <a:lnTo>
                    <a:pt x="11" y="177"/>
                  </a:lnTo>
                  <a:lnTo>
                    <a:pt x="12" y="155"/>
                  </a:lnTo>
                  <a:lnTo>
                    <a:pt x="14" y="132"/>
                  </a:lnTo>
                  <a:lnTo>
                    <a:pt x="15" y="113"/>
                  </a:lnTo>
                  <a:lnTo>
                    <a:pt x="15" y="104"/>
                  </a:lnTo>
                  <a:lnTo>
                    <a:pt x="16" y="95"/>
                  </a:lnTo>
                  <a:lnTo>
                    <a:pt x="16" y="86"/>
                  </a:lnTo>
                  <a:lnTo>
                    <a:pt x="17" y="77"/>
                  </a:lnTo>
                  <a:lnTo>
                    <a:pt x="17" y="70"/>
                  </a:lnTo>
                  <a:lnTo>
                    <a:pt x="19" y="62"/>
                  </a:lnTo>
                  <a:lnTo>
                    <a:pt x="19" y="49"/>
                  </a:lnTo>
                  <a:lnTo>
                    <a:pt x="20" y="37"/>
                  </a:lnTo>
                  <a:lnTo>
                    <a:pt x="21" y="31"/>
                  </a:lnTo>
                  <a:lnTo>
                    <a:pt x="21" y="27"/>
                  </a:lnTo>
                  <a:lnTo>
                    <a:pt x="22" y="21"/>
                  </a:lnTo>
                  <a:lnTo>
                    <a:pt x="22" y="16"/>
                  </a:lnTo>
                  <a:lnTo>
                    <a:pt x="23" y="13"/>
                  </a:lnTo>
                  <a:lnTo>
                    <a:pt x="23" y="9"/>
                  </a:lnTo>
                  <a:lnTo>
                    <a:pt x="25" y="6"/>
                  </a:lnTo>
                  <a:lnTo>
                    <a:pt x="25" y="4"/>
                  </a:lnTo>
                  <a:lnTo>
                    <a:pt x="26" y="1"/>
                  </a:lnTo>
                  <a:lnTo>
                    <a:pt x="26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8" y="0"/>
                  </a:lnTo>
                  <a:lnTo>
                    <a:pt x="28" y="1"/>
                  </a:lnTo>
                  <a:lnTo>
                    <a:pt x="30" y="4"/>
                  </a:lnTo>
                  <a:lnTo>
                    <a:pt x="30" y="6"/>
                  </a:lnTo>
                  <a:lnTo>
                    <a:pt x="31" y="9"/>
                  </a:lnTo>
                  <a:lnTo>
                    <a:pt x="31" y="13"/>
                  </a:lnTo>
                  <a:lnTo>
                    <a:pt x="32" y="18"/>
                  </a:lnTo>
                  <a:lnTo>
                    <a:pt x="32" y="22"/>
                  </a:lnTo>
                  <a:lnTo>
                    <a:pt x="33" y="27"/>
                  </a:lnTo>
                  <a:lnTo>
                    <a:pt x="33" y="31"/>
                  </a:lnTo>
                  <a:lnTo>
                    <a:pt x="35" y="37"/>
                  </a:lnTo>
                  <a:lnTo>
                    <a:pt x="36" y="49"/>
                  </a:lnTo>
                  <a:lnTo>
                    <a:pt x="37" y="62"/>
                  </a:lnTo>
                  <a:lnTo>
                    <a:pt x="37" y="70"/>
                  </a:lnTo>
                  <a:lnTo>
                    <a:pt x="38" y="77"/>
                  </a:lnTo>
                  <a:lnTo>
                    <a:pt x="38" y="86"/>
                  </a:lnTo>
                  <a:lnTo>
                    <a:pt x="39" y="95"/>
                  </a:lnTo>
                  <a:lnTo>
                    <a:pt x="39" y="104"/>
                  </a:lnTo>
                  <a:lnTo>
                    <a:pt x="41" y="113"/>
                  </a:lnTo>
                  <a:lnTo>
                    <a:pt x="42" y="132"/>
                  </a:lnTo>
                  <a:lnTo>
                    <a:pt x="43" y="153"/>
                  </a:lnTo>
                  <a:lnTo>
                    <a:pt x="46" y="176"/>
                  </a:lnTo>
                  <a:lnTo>
                    <a:pt x="47" y="199"/>
                  </a:lnTo>
                  <a:lnTo>
                    <a:pt x="48" y="223"/>
                  </a:lnTo>
                  <a:lnTo>
                    <a:pt x="48" y="235"/>
                  </a:lnTo>
                  <a:lnTo>
                    <a:pt x="49" y="249"/>
                  </a:lnTo>
                  <a:lnTo>
                    <a:pt x="49" y="263"/>
                  </a:lnTo>
                  <a:lnTo>
                    <a:pt x="50" y="278"/>
                  </a:lnTo>
                  <a:lnTo>
                    <a:pt x="50" y="293"/>
                  </a:lnTo>
                  <a:lnTo>
                    <a:pt x="50" y="310"/>
                  </a:lnTo>
                  <a:lnTo>
                    <a:pt x="52" y="341"/>
                  </a:lnTo>
                  <a:lnTo>
                    <a:pt x="53" y="356"/>
                  </a:lnTo>
                  <a:lnTo>
                    <a:pt x="53" y="372"/>
                  </a:lnTo>
                  <a:lnTo>
                    <a:pt x="53" y="387"/>
                  </a:lnTo>
                  <a:lnTo>
                    <a:pt x="53" y="400"/>
                  </a:lnTo>
                  <a:lnTo>
                    <a:pt x="54" y="414"/>
                  </a:lnTo>
                  <a:lnTo>
                    <a:pt x="54" y="426"/>
                  </a:lnTo>
                  <a:lnTo>
                    <a:pt x="54" y="436"/>
                  </a:lnTo>
                  <a:lnTo>
                    <a:pt x="54" y="441"/>
                  </a:lnTo>
                  <a:lnTo>
                    <a:pt x="55" y="447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33" name="Freeform 401"/>
            <p:cNvSpPr>
              <a:spLocks/>
            </p:cNvSpPr>
            <p:nvPr/>
          </p:nvSpPr>
          <p:spPr bwMode="auto">
            <a:xfrm>
              <a:off x="4052" y="1389"/>
              <a:ext cx="55" cy="223"/>
            </a:xfrm>
            <a:custGeom>
              <a:avLst/>
              <a:gdLst>
                <a:gd name="T0" fmla="*/ 0 w 55"/>
                <a:gd name="T1" fmla="*/ 442 h 447"/>
                <a:gd name="T2" fmla="*/ 0 w 55"/>
                <a:gd name="T3" fmla="*/ 433 h 447"/>
                <a:gd name="T4" fmla="*/ 0 w 55"/>
                <a:gd name="T5" fmla="*/ 423 h 447"/>
                <a:gd name="T6" fmla="*/ 1 w 55"/>
                <a:gd name="T7" fmla="*/ 405 h 447"/>
                <a:gd name="T8" fmla="*/ 2 w 55"/>
                <a:gd name="T9" fmla="*/ 377 h 447"/>
                <a:gd name="T10" fmla="*/ 3 w 55"/>
                <a:gd name="T11" fmla="*/ 345 h 447"/>
                <a:gd name="T12" fmla="*/ 4 w 55"/>
                <a:gd name="T13" fmla="*/ 296 h 447"/>
                <a:gd name="T14" fmla="*/ 7 w 55"/>
                <a:gd name="T15" fmla="*/ 263 h 447"/>
                <a:gd name="T16" fmla="*/ 8 w 55"/>
                <a:gd name="T17" fmla="*/ 235 h 447"/>
                <a:gd name="T18" fmla="*/ 9 w 55"/>
                <a:gd name="T19" fmla="*/ 199 h 447"/>
                <a:gd name="T20" fmla="*/ 12 w 55"/>
                <a:gd name="T21" fmla="*/ 155 h 447"/>
                <a:gd name="T22" fmla="*/ 14 w 55"/>
                <a:gd name="T23" fmla="*/ 113 h 447"/>
                <a:gd name="T24" fmla="*/ 15 w 55"/>
                <a:gd name="T25" fmla="*/ 95 h 447"/>
                <a:gd name="T26" fmla="*/ 17 w 55"/>
                <a:gd name="T27" fmla="*/ 77 h 447"/>
                <a:gd name="T28" fmla="*/ 18 w 55"/>
                <a:gd name="T29" fmla="*/ 62 h 447"/>
                <a:gd name="T30" fmla="*/ 19 w 55"/>
                <a:gd name="T31" fmla="*/ 37 h 447"/>
                <a:gd name="T32" fmla="*/ 20 w 55"/>
                <a:gd name="T33" fmla="*/ 27 h 447"/>
                <a:gd name="T34" fmla="*/ 22 w 55"/>
                <a:gd name="T35" fmla="*/ 16 h 447"/>
                <a:gd name="T36" fmla="*/ 23 w 55"/>
                <a:gd name="T37" fmla="*/ 9 h 447"/>
                <a:gd name="T38" fmla="*/ 24 w 55"/>
                <a:gd name="T39" fmla="*/ 4 h 447"/>
                <a:gd name="T40" fmla="*/ 25 w 55"/>
                <a:gd name="T41" fmla="*/ 0 h 447"/>
                <a:gd name="T42" fmla="*/ 27 w 55"/>
                <a:gd name="T43" fmla="*/ 0 h 447"/>
                <a:gd name="T44" fmla="*/ 28 w 55"/>
                <a:gd name="T45" fmla="*/ 0 h 447"/>
                <a:gd name="T46" fmla="*/ 29 w 55"/>
                <a:gd name="T47" fmla="*/ 4 h 447"/>
                <a:gd name="T48" fmla="*/ 30 w 55"/>
                <a:gd name="T49" fmla="*/ 9 h 447"/>
                <a:gd name="T50" fmla="*/ 31 w 55"/>
                <a:gd name="T51" fmla="*/ 18 h 447"/>
                <a:gd name="T52" fmla="*/ 33 w 55"/>
                <a:gd name="T53" fmla="*/ 27 h 447"/>
                <a:gd name="T54" fmla="*/ 34 w 55"/>
                <a:gd name="T55" fmla="*/ 37 h 447"/>
                <a:gd name="T56" fmla="*/ 36 w 55"/>
                <a:gd name="T57" fmla="*/ 62 h 447"/>
                <a:gd name="T58" fmla="*/ 38 w 55"/>
                <a:gd name="T59" fmla="*/ 77 h 447"/>
                <a:gd name="T60" fmla="*/ 39 w 55"/>
                <a:gd name="T61" fmla="*/ 95 h 447"/>
                <a:gd name="T62" fmla="*/ 40 w 55"/>
                <a:gd name="T63" fmla="*/ 113 h 447"/>
                <a:gd name="T64" fmla="*/ 42 w 55"/>
                <a:gd name="T65" fmla="*/ 153 h 447"/>
                <a:gd name="T66" fmla="*/ 46 w 55"/>
                <a:gd name="T67" fmla="*/ 199 h 447"/>
                <a:gd name="T68" fmla="*/ 47 w 55"/>
                <a:gd name="T69" fmla="*/ 235 h 447"/>
                <a:gd name="T70" fmla="*/ 49 w 55"/>
                <a:gd name="T71" fmla="*/ 263 h 447"/>
                <a:gd name="T72" fmla="*/ 50 w 55"/>
                <a:gd name="T73" fmla="*/ 293 h 447"/>
                <a:gd name="T74" fmla="*/ 51 w 55"/>
                <a:gd name="T75" fmla="*/ 341 h 447"/>
                <a:gd name="T76" fmla="*/ 52 w 55"/>
                <a:gd name="T77" fmla="*/ 372 h 447"/>
                <a:gd name="T78" fmla="*/ 52 w 55"/>
                <a:gd name="T79" fmla="*/ 400 h 447"/>
                <a:gd name="T80" fmla="*/ 53 w 55"/>
                <a:gd name="T81" fmla="*/ 426 h 447"/>
                <a:gd name="T82" fmla="*/ 53 w 55"/>
                <a:gd name="T83" fmla="*/ 44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5" h="447">
                  <a:moveTo>
                    <a:pt x="0" y="447"/>
                  </a:moveTo>
                  <a:lnTo>
                    <a:pt x="0" y="442"/>
                  </a:lnTo>
                  <a:lnTo>
                    <a:pt x="0" y="438"/>
                  </a:lnTo>
                  <a:lnTo>
                    <a:pt x="0" y="433"/>
                  </a:lnTo>
                  <a:lnTo>
                    <a:pt x="0" y="429"/>
                  </a:lnTo>
                  <a:lnTo>
                    <a:pt x="0" y="423"/>
                  </a:lnTo>
                  <a:lnTo>
                    <a:pt x="0" y="417"/>
                  </a:lnTo>
                  <a:lnTo>
                    <a:pt x="1" y="405"/>
                  </a:lnTo>
                  <a:lnTo>
                    <a:pt x="1" y="391"/>
                  </a:lnTo>
                  <a:lnTo>
                    <a:pt x="2" y="377"/>
                  </a:lnTo>
                  <a:lnTo>
                    <a:pt x="2" y="360"/>
                  </a:lnTo>
                  <a:lnTo>
                    <a:pt x="3" y="345"/>
                  </a:lnTo>
                  <a:lnTo>
                    <a:pt x="4" y="313"/>
                  </a:lnTo>
                  <a:lnTo>
                    <a:pt x="4" y="296"/>
                  </a:lnTo>
                  <a:lnTo>
                    <a:pt x="6" y="280"/>
                  </a:lnTo>
                  <a:lnTo>
                    <a:pt x="7" y="263"/>
                  </a:lnTo>
                  <a:lnTo>
                    <a:pt x="7" y="250"/>
                  </a:lnTo>
                  <a:lnTo>
                    <a:pt x="8" y="235"/>
                  </a:lnTo>
                  <a:lnTo>
                    <a:pt x="8" y="223"/>
                  </a:lnTo>
                  <a:lnTo>
                    <a:pt x="9" y="199"/>
                  </a:lnTo>
                  <a:lnTo>
                    <a:pt x="11" y="177"/>
                  </a:lnTo>
                  <a:lnTo>
                    <a:pt x="12" y="155"/>
                  </a:lnTo>
                  <a:lnTo>
                    <a:pt x="13" y="132"/>
                  </a:lnTo>
                  <a:lnTo>
                    <a:pt x="14" y="113"/>
                  </a:lnTo>
                  <a:lnTo>
                    <a:pt x="14" y="104"/>
                  </a:lnTo>
                  <a:lnTo>
                    <a:pt x="15" y="95"/>
                  </a:lnTo>
                  <a:lnTo>
                    <a:pt x="15" y="86"/>
                  </a:lnTo>
                  <a:lnTo>
                    <a:pt x="17" y="77"/>
                  </a:lnTo>
                  <a:lnTo>
                    <a:pt x="17" y="70"/>
                  </a:lnTo>
                  <a:lnTo>
                    <a:pt x="18" y="62"/>
                  </a:lnTo>
                  <a:lnTo>
                    <a:pt x="18" y="49"/>
                  </a:lnTo>
                  <a:lnTo>
                    <a:pt x="19" y="37"/>
                  </a:lnTo>
                  <a:lnTo>
                    <a:pt x="20" y="31"/>
                  </a:lnTo>
                  <a:lnTo>
                    <a:pt x="20" y="27"/>
                  </a:lnTo>
                  <a:lnTo>
                    <a:pt x="22" y="21"/>
                  </a:lnTo>
                  <a:lnTo>
                    <a:pt x="22" y="16"/>
                  </a:lnTo>
                  <a:lnTo>
                    <a:pt x="23" y="13"/>
                  </a:lnTo>
                  <a:lnTo>
                    <a:pt x="23" y="9"/>
                  </a:lnTo>
                  <a:lnTo>
                    <a:pt x="24" y="6"/>
                  </a:lnTo>
                  <a:lnTo>
                    <a:pt x="24" y="4"/>
                  </a:lnTo>
                  <a:lnTo>
                    <a:pt x="25" y="1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8" y="0"/>
                  </a:lnTo>
                  <a:lnTo>
                    <a:pt x="28" y="1"/>
                  </a:lnTo>
                  <a:lnTo>
                    <a:pt x="29" y="4"/>
                  </a:lnTo>
                  <a:lnTo>
                    <a:pt x="29" y="6"/>
                  </a:lnTo>
                  <a:lnTo>
                    <a:pt x="30" y="9"/>
                  </a:lnTo>
                  <a:lnTo>
                    <a:pt x="30" y="13"/>
                  </a:lnTo>
                  <a:lnTo>
                    <a:pt x="31" y="18"/>
                  </a:lnTo>
                  <a:lnTo>
                    <a:pt x="31" y="22"/>
                  </a:lnTo>
                  <a:lnTo>
                    <a:pt x="33" y="27"/>
                  </a:lnTo>
                  <a:lnTo>
                    <a:pt x="33" y="31"/>
                  </a:lnTo>
                  <a:lnTo>
                    <a:pt x="34" y="37"/>
                  </a:lnTo>
                  <a:lnTo>
                    <a:pt x="35" y="49"/>
                  </a:lnTo>
                  <a:lnTo>
                    <a:pt x="36" y="62"/>
                  </a:lnTo>
                  <a:lnTo>
                    <a:pt x="36" y="70"/>
                  </a:lnTo>
                  <a:lnTo>
                    <a:pt x="38" y="77"/>
                  </a:lnTo>
                  <a:lnTo>
                    <a:pt x="38" y="86"/>
                  </a:lnTo>
                  <a:lnTo>
                    <a:pt x="39" y="95"/>
                  </a:lnTo>
                  <a:lnTo>
                    <a:pt x="39" y="104"/>
                  </a:lnTo>
                  <a:lnTo>
                    <a:pt x="40" y="113"/>
                  </a:lnTo>
                  <a:lnTo>
                    <a:pt x="41" y="132"/>
                  </a:lnTo>
                  <a:lnTo>
                    <a:pt x="42" y="153"/>
                  </a:lnTo>
                  <a:lnTo>
                    <a:pt x="45" y="176"/>
                  </a:lnTo>
                  <a:lnTo>
                    <a:pt x="46" y="199"/>
                  </a:lnTo>
                  <a:lnTo>
                    <a:pt x="47" y="223"/>
                  </a:lnTo>
                  <a:lnTo>
                    <a:pt x="47" y="235"/>
                  </a:lnTo>
                  <a:lnTo>
                    <a:pt x="49" y="249"/>
                  </a:lnTo>
                  <a:lnTo>
                    <a:pt x="49" y="263"/>
                  </a:lnTo>
                  <a:lnTo>
                    <a:pt x="50" y="278"/>
                  </a:lnTo>
                  <a:lnTo>
                    <a:pt x="50" y="293"/>
                  </a:lnTo>
                  <a:lnTo>
                    <a:pt x="50" y="310"/>
                  </a:lnTo>
                  <a:lnTo>
                    <a:pt x="51" y="341"/>
                  </a:lnTo>
                  <a:lnTo>
                    <a:pt x="52" y="356"/>
                  </a:lnTo>
                  <a:lnTo>
                    <a:pt x="52" y="372"/>
                  </a:lnTo>
                  <a:lnTo>
                    <a:pt x="52" y="387"/>
                  </a:lnTo>
                  <a:lnTo>
                    <a:pt x="52" y="400"/>
                  </a:lnTo>
                  <a:lnTo>
                    <a:pt x="53" y="414"/>
                  </a:lnTo>
                  <a:lnTo>
                    <a:pt x="53" y="426"/>
                  </a:lnTo>
                  <a:lnTo>
                    <a:pt x="53" y="436"/>
                  </a:lnTo>
                  <a:lnTo>
                    <a:pt x="53" y="441"/>
                  </a:lnTo>
                  <a:lnTo>
                    <a:pt x="55" y="447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34" name="Freeform 402"/>
            <p:cNvSpPr>
              <a:spLocks/>
            </p:cNvSpPr>
            <p:nvPr/>
          </p:nvSpPr>
          <p:spPr bwMode="auto">
            <a:xfrm>
              <a:off x="3776" y="1612"/>
              <a:ext cx="55" cy="224"/>
            </a:xfrm>
            <a:custGeom>
              <a:avLst/>
              <a:gdLst>
                <a:gd name="T0" fmla="*/ 0 w 55"/>
                <a:gd name="T1" fmla="*/ 3 h 446"/>
                <a:gd name="T2" fmla="*/ 0 w 55"/>
                <a:gd name="T3" fmla="*/ 11 h 446"/>
                <a:gd name="T4" fmla="*/ 0 w 55"/>
                <a:gd name="T5" fmla="*/ 22 h 446"/>
                <a:gd name="T6" fmla="*/ 1 w 55"/>
                <a:gd name="T7" fmla="*/ 40 h 446"/>
                <a:gd name="T8" fmla="*/ 2 w 55"/>
                <a:gd name="T9" fmla="*/ 70 h 446"/>
                <a:gd name="T10" fmla="*/ 3 w 55"/>
                <a:gd name="T11" fmla="*/ 101 h 446"/>
                <a:gd name="T12" fmla="*/ 5 w 55"/>
                <a:gd name="T13" fmla="*/ 150 h 446"/>
                <a:gd name="T14" fmla="*/ 7 w 55"/>
                <a:gd name="T15" fmla="*/ 181 h 446"/>
                <a:gd name="T16" fmla="*/ 8 w 55"/>
                <a:gd name="T17" fmla="*/ 209 h 446"/>
                <a:gd name="T18" fmla="*/ 9 w 55"/>
                <a:gd name="T19" fmla="*/ 245 h 446"/>
                <a:gd name="T20" fmla="*/ 12 w 55"/>
                <a:gd name="T21" fmla="*/ 290 h 446"/>
                <a:gd name="T22" fmla="*/ 14 w 55"/>
                <a:gd name="T23" fmla="*/ 332 h 446"/>
                <a:gd name="T24" fmla="*/ 16 w 55"/>
                <a:gd name="T25" fmla="*/ 349 h 446"/>
                <a:gd name="T26" fmla="*/ 17 w 55"/>
                <a:gd name="T27" fmla="*/ 367 h 446"/>
                <a:gd name="T28" fmla="*/ 18 w 55"/>
                <a:gd name="T29" fmla="*/ 382 h 446"/>
                <a:gd name="T30" fmla="*/ 19 w 55"/>
                <a:gd name="T31" fmla="*/ 407 h 446"/>
                <a:gd name="T32" fmla="*/ 21 w 55"/>
                <a:gd name="T33" fmla="*/ 418 h 446"/>
                <a:gd name="T34" fmla="*/ 22 w 55"/>
                <a:gd name="T35" fmla="*/ 428 h 446"/>
                <a:gd name="T36" fmla="*/ 23 w 55"/>
                <a:gd name="T37" fmla="*/ 436 h 446"/>
                <a:gd name="T38" fmla="*/ 24 w 55"/>
                <a:gd name="T39" fmla="*/ 440 h 446"/>
                <a:gd name="T40" fmla="*/ 25 w 55"/>
                <a:gd name="T41" fmla="*/ 445 h 446"/>
                <a:gd name="T42" fmla="*/ 27 w 55"/>
                <a:gd name="T43" fmla="*/ 446 h 446"/>
                <a:gd name="T44" fmla="*/ 28 w 55"/>
                <a:gd name="T45" fmla="*/ 445 h 446"/>
                <a:gd name="T46" fmla="*/ 29 w 55"/>
                <a:gd name="T47" fmla="*/ 440 h 446"/>
                <a:gd name="T48" fmla="*/ 30 w 55"/>
                <a:gd name="T49" fmla="*/ 436 h 446"/>
                <a:gd name="T50" fmla="*/ 32 w 55"/>
                <a:gd name="T51" fmla="*/ 428 h 446"/>
                <a:gd name="T52" fmla="*/ 33 w 55"/>
                <a:gd name="T53" fmla="*/ 418 h 446"/>
                <a:gd name="T54" fmla="*/ 34 w 55"/>
                <a:gd name="T55" fmla="*/ 407 h 446"/>
                <a:gd name="T56" fmla="*/ 36 w 55"/>
                <a:gd name="T57" fmla="*/ 382 h 446"/>
                <a:gd name="T58" fmla="*/ 38 w 55"/>
                <a:gd name="T59" fmla="*/ 367 h 446"/>
                <a:gd name="T60" fmla="*/ 39 w 55"/>
                <a:gd name="T61" fmla="*/ 349 h 446"/>
                <a:gd name="T62" fmla="*/ 40 w 55"/>
                <a:gd name="T63" fmla="*/ 332 h 446"/>
                <a:gd name="T64" fmla="*/ 43 w 55"/>
                <a:gd name="T65" fmla="*/ 291 h 446"/>
                <a:gd name="T66" fmla="*/ 46 w 55"/>
                <a:gd name="T67" fmla="*/ 245 h 446"/>
                <a:gd name="T68" fmla="*/ 48 w 55"/>
                <a:gd name="T69" fmla="*/ 209 h 446"/>
                <a:gd name="T70" fmla="*/ 49 w 55"/>
                <a:gd name="T71" fmla="*/ 181 h 446"/>
                <a:gd name="T72" fmla="*/ 50 w 55"/>
                <a:gd name="T73" fmla="*/ 151 h 446"/>
                <a:gd name="T74" fmla="*/ 51 w 55"/>
                <a:gd name="T75" fmla="*/ 104 h 446"/>
                <a:gd name="T76" fmla="*/ 52 w 55"/>
                <a:gd name="T77" fmla="*/ 72 h 446"/>
                <a:gd name="T78" fmla="*/ 52 w 55"/>
                <a:gd name="T79" fmla="*/ 44 h 446"/>
                <a:gd name="T80" fmla="*/ 54 w 55"/>
                <a:gd name="T81" fmla="*/ 19 h 446"/>
                <a:gd name="T82" fmla="*/ 54 w 55"/>
                <a:gd name="T83" fmla="*/ 4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5" h="446">
                  <a:moveTo>
                    <a:pt x="0" y="0"/>
                  </a:moveTo>
                  <a:lnTo>
                    <a:pt x="0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40"/>
                  </a:lnTo>
                  <a:lnTo>
                    <a:pt x="1" y="55"/>
                  </a:lnTo>
                  <a:lnTo>
                    <a:pt x="2" y="70"/>
                  </a:lnTo>
                  <a:lnTo>
                    <a:pt x="2" y="84"/>
                  </a:lnTo>
                  <a:lnTo>
                    <a:pt x="3" y="101"/>
                  </a:lnTo>
                  <a:lnTo>
                    <a:pt x="5" y="134"/>
                  </a:lnTo>
                  <a:lnTo>
                    <a:pt x="5" y="150"/>
                  </a:lnTo>
                  <a:lnTo>
                    <a:pt x="6" y="165"/>
                  </a:lnTo>
                  <a:lnTo>
                    <a:pt x="7" y="181"/>
                  </a:lnTo>
                  <a:lnTo>
                    <a:pt x="7" y="196"/>
                  </a:lnTo>
                  <a:lnTo>
                    <a:pt x="8" y="209"/>
                  </a:lnTo>
                  <a:lnTo>
                    <a:pt x="8" y="221"/>
                  </a:lnTo>
                  <a:lnTo>
                    <a:pt x="9" y="245"/>
                  </a:lnTo>
                  <a:lnTo>
                    <a:pt x="11" y="269"/>
                  </a:lnTo>
                  <a:lnTo>
                    <a:pt x="12" y="290"/>
                  </a:lnTo>
                  <a:lnTo>
                    <a:pt x="13" y="312"/>
                  </a:lnTo>
                  <a:lnTo>
                    <a:pt x="14" y="332"/>
                  </a:lnTo>
                  <a:lnTo>
                    <a:pt x="14" y="340"/>
                  </a:lnTo>
                  <a:lnTo>
                    <a:pt x="16" y="349"/>
                  </a:lnTo>
                  <a:lnTo>
                    <a:pt x="16" y="358"/>
                  </a:lnTo>
                  <a:lnTo>
                    <a:pt x="17" y="367"/>
                  </a:lnTo>
                  <a:lnTo>
                    <a:pt x="17" y="375"/>
                  </a:lnTo>
                  <a:lnTo>
                    <a:pt x="18" y="382"/>
                  </a:lnTo>
                  <a:lnTo>
                    <a:pt x="18" y="396"/>
                  </a:lnTo>
                  <a:lnTo>
                    <a:pt x="19" y="407"/>
                  </a:lnTo>
                  <a:lnTo>
                    <a:pt x="21" y="413"/>
                  </a:lnTo>
                  <a:lnTo>
                    <a:pt x="21" y="418"/>
                  </a:lnTo>
                  <a:lnTo>
                    <a:pt x="22" y="424"/>
                  </a:lnTo>
                  <a:lnTo>
                    <a:pt x="22" y="428"/>
                  </a:lnTo>
                  <a:lnTo>
                    <a:pt x="23" y="431"/>
                  </a:lnTo>
                  <a:lnTo>
                    <a:pt x="23" y="436"/>
                  </a:lnTo>
                  <a:lnTo>
                    <a:pt x="24" y="439"/>
                  </a:lnTo>
                  <a:lnTo>
                    <a:pt x="24" y="440"/>
                  </a:lnTo>
                  <a:lnTo>
                    <a:pt x="25" y="443"/>
                  </a:lnTo>
                  <a:lnTo>
                    <a:pt x="25" y="445"/>
                  </a:lnTo>
                  <a:lnTo>
                    <a:pt x="27" y="445"/>
                  </a:lnTo>
                  <a:lnTo>
                    <a:pt x="27" y="446"/>
                  </a:lnTo>
                  <a:lnTo>
                    <a:pt x="27" y="445"/>
                  </a:lnTo>
                  <a:lnTo>
                    <a:pt x="28" y="445"/>
                  </a:lnTo>
                  <a:lnTo>
                    <a:pt x="28" y="443"/>
                  </a:lnTo>
                  <a:lnTo>
                    <a:pt x="29" y="440"/>
                  </a:lnTo>
                  <a:lnTo>
                    <a:pt x="29" y="439"/>
                  </a:lnTo>
                  <a:lnTo>
                    <a:pt x="30" y="436"/>
                  </a:lnTo>
                  <a:lnTo>
                    <a:pt x="30" y="431"/>
                  </a:lnTo>
                  <a:lnTo>
                    <a:pt x="32" y="428"/>
                  </a:lnTo>
                  <a:lnTo>
                    <a:pt x="32" y="424"/>
                  </a:lnTo>
                  <a:lnTo>
                    <a:pt x="33" y="418"/>
                  </a:lnTo>
                  <a:lnTo>
                    <a:pt x="33" y="413"/>
                  </a:lnTo>
                  <a:lnTo>
                    <a:pt x="34" y="407"/>
                  </a:lnTo>
                  <a:lnTo>
                    <a:pt x="35" y="396"/>
                  </a:lnTo>
                  <a:lnTo>
                    <a:pt x="36" y="382"/>
                  </a:lnTo>
                  <a:lnTo>
                    <a:pt x="36" y="375"/>
                  </a:lnTo>
                  <a:lnTo>
                    <a:pt x="38" y="367"/>
                  </a:lnTo>
                  <a:lnTo>
                    <a:pt x="38" y="358"/>
                  </a:lnTo>
                  <a:lnTo>
                    <a:pt x="39" y="349"/>
                  </a:lnTo>
                  <a:lnTo>
                    <a:pt x="39" y="340"/>
                  </a:lnTo>
                  <a:lnTo>
                    <a:pt x="40" y="332"/>
                  </a:lnTo>
                  <a:lnTo>
                    <a:pt x="41" y="312"/>
                  </a:lnTo>
                  <a:lnTo>
                    <a:pt x="43" y="291"/>
                  </a:lnTo>
                  <a:lnTo>
                    <a:pt x="45" y="269"/>
                  </a:lnTo>
                  <a:lnTo>
                    <a:pt x="46" y="245"/>
                  </a:lnTo>
                  <a:lnTo>
                    <a:pt x="48" y="223"/>
                  </a:lnTo>
                  <a:lnTo>
                    <a:pt x="48" y="209"/>
                  </a:lnTo>
                  <a:lnTo>
                    <a:pt x="49" y="196"/>
                  </a:lnTo>
                  <a:lnTo>
                    <a:pt x="49" y="181"/>
                  </a:lnTo>
                  <a:lnTo>
                    <a:pt x="50" y="166"/>
                  </a:lnTo>
                  <a:lnTo>
                    <a:pt x="50" y="151"/>
                  </a:lnTo>
                  <a:lnTo>
                    <a:pt x="50" y="135"/>
                  </a:lnTo>
                  <a:lnTo>
                    <a:pt x="51" y="104"/>
                  </a:lnTo>
                  <a:lnTo>
                    <a:pt x="52" y="89"/>
                  </a:lnTo>
                  <a:lnTo>
                    <a:pt x="52" y="72"/>
                  </a:lnTo>
                  <a:lnTo>
                    <a:pt x="52" y="58"/>
                  </a:lnTo>
                  <a:lnTo>
                    <a:pt x="52" y="44"/>
                  </a:lnTo>
                  <a:lnTo>
                    <a:pt x="54" y="31"/>
                  </a:lnTo>
                  <a:lnTo>
                    <a:pt x="54" y="19"/>
                  </a:lnTo>
                  <a:lnTo>
                    <a:pt x="54" y="8"/>
                  </a:lnTo>
                  <a:lnTo>
                    <a:pt x="54" y="4"/>
                  </a:lnTo>
                  <a:lnTo>
                    <a:pt x="55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35" name="Freeform 403"/>
            <p:cNvSpPr>
              <a:spLocks/>
            </p:cNvSpPr>
            <p:nvPr/>
          </p:nvSpPr>
          <p:spPr bwMode="auto">
            <a:xfrm>
              <a:off x="3886" y="1612"/>
              <a:ext cx="55" cy="224"/>
            </a:xfrm>
            <a:custGeom>
              <a:avLst/>
              <a:gdLst>
                <a:gd name="T0" fmla="*/ 0 w 55"/>
                <a:gd name="T1" fmla="*/ 3 h 446"/>
                <a:gd name="T2" fmla="*/ 0 w 55"/>
                <a:gd name="T3" fmla="*/ 11 h 446"/>
                <a:gd name="T4" fmla="*/ 0 w 55"/>
                <a:gd name="T5" fmla="*/ 22 h 446"/>
                <a:gd name="T6" fmla="*/ 1 w 55"/>
                <a:gd name="T7" fmla="*/ 40 h 446"/>
                <a:gd name="T8" fmla="*/ 2 w 55"/>
                <a:gd name="T9" fmla="*/ 70 h 446"/>
                <a:gd name="T10" fmla="*/ 4 w 55"/>
                <a:gd name="T11" fmla="*/ 101 h 446"/>
                <a:gd name="T12" fmla="*/ 5 w 55"/>
                <a:gd name="T13" fmla="*/ 150 h 446"/>
                <a:gd name="T14" fmla="*/ 7 w 55"/>
                <a:gd name="T15" fmla="*/ 181 h 446"/>
                <a:gd name="T16" fmla="*/ 9 w 55"/>
                <a:gd name="T17" fmla="*/ 209 h 446"/>
                <a:gd name="T18" fmla="*/ 10 w 55"/>
                <a:gd name="T19" fmla="*/ 245 h 446"/>
                <a:gd name="T20" fmla="*/ 12 w 55"/>
                <a:gd name="T21" fmla="*/ 290 h 446"/>
                <a:gd name="T22" fmla="*/ 15 w 55"/>
                <a:gd name="T23" fmla="*/ 332 h 446"/>
                <a:gd name="T24" fmla="*/ 16 w 55"/>
                <a:gd name="T25" fmla="*/ 349 h 446"/>
                <a:gd name="T26" fmla="*/ 17 w 55"/>
                <a:gd name="T27" fmla="*/ 367 h 446"/>
                <a:gd name="T28" fmla="*/ 18 w 55"/>
                <a:gd name="T29" fmla="*/ 382 h 446"/>
                <a:gd name="T30" fmla="*/ 20 w 55"/>
                <a:gd name="T31" fmla="*/ 407 h 446"/>
                <a:gd name="T32" fmla="*/ 21 w 55"/>
                <a:gd name="T33" fmla="*/ 418 h 446"/>
                <a:gd name="T34" fmla="*/ 22 w 55"/>
                <a:gd name="T35" fmla="*/ 428 h 446"/>
                <a:gd name="T36" fmla="*/ 23 w 55"/>
                <a:gd name="T37" fmla="*/ 436 h 446"/>
                <a:gd name="T38" fmla="*/ 25 w 55"/>
                <a:gd name="T39" fmla="*/ 440 h 446"/>
                <a:gd name="T40" fmla="*/ 26 w 55"/>
                <a:gd name="T41" fmla="*/ 445 h 446"/>
                <a:gd name="T42" fmla="*/ 27 w 55"/>
                <a:gd name="T43" fmla="*/ 446 h 446"/>
                <a:gd name="T44" fmla="*/ 28 w 55"/>
                <a:gd name="T45" fmla="*/ 445 h 446"/>
                <a:gd name="T46" fmla="*/ 29 w 55"/>
                <a:gd name="T47" fmla="*/ 440 h 446"/>
                <a:gd name="T48" fmla="*/ 31 w 55"/>
                <a:gd name="T49" fmla="*/ 436 h 446"/>
                <a:gd name="T50" fmla="*/ 32 w 55"/>
                <a:gd name="T51" fmla="*/ 428 h 446"/>
                <a:gd name="T52" fmla="*/ 33 w 55"/>
                <a:gd name="T53" fmla="*/ 418 h 446"/>
                <a:gd name="T54" fmla="*/ 34 w 55"/>
                <a:gd name="T55" fmla="*/ 407 h 446"/>
                <a:gd name="T56" fmla="*/ 37 w 55"/>
                <a:gd name="T57" fmla="*/ 382 h 446"/>
                <a:gd name="T58" fmla="*/ 38 w 55"/>
                <a:gd name="T59" fmla="*/ 367 h 446"/>
                <a:gd name="T60" fmla="*/ 39 w 55"/>
                <a:gd name="T61" fmla="*/ 349 h 446"/>
                <a:gd name="T62" fmla="*/ 40 w 55"/>
                <a:gd name="T63" fmla="*/ 332 h 446"/>
                <a:gd name="T64" fmla="*/ 43 w 55"/>
                <a:gd name="T65" fmla="*/ 291 h 446"/>
                <a:gd name="T66" fmla="*/ 47 w 55"/>
                <a:gd name="T67" fmla="*/ 245 h 446"/>
                <a:gd name="T68" fmla="*/ 48 w 55"/>
                <a:gd name="T69" fmla="*/ 209 h 446"/>
                <a:gd name="T70" fmla="*/ 49 w 55"/>
                <a:gd name="T71" fmla="*/ 181 h 446"/>
                <a:gd name="T72" fmla="*/ 50 w 55"/>
                <a:gd name="T73" fmla="*/ 151 h 446"/>
                <a:gd name="T74" fmla="*/ 52 w 55"/>
                <a:gd name="T75" fmla="*/ 104 h 446"/>
                <a:gd name="T76" fmla="*/ 53 w 55"/>
                <a:gd name="T77" fmla="*/ 72 h 446"/>
                <a:gd name="T78" fmla="*/ 53 w 55"/>
                <a:gd name="T79" fmla="*/ 44 h 446"/>
                <a:gd name="T80" fmla="*/ 54 w 55"/>
                <a:gd name="T81" fmla="*/ 19 h 446"/>
                <a:gd name="T82" fmla="*/ 54 w 55"/>
                <a:gd name="T83" fmla="*/ 4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5" h="446">
                  <a:moveTo>
                    <a:pt x="0" y="0"/>
                  </a:moveTo>
                  <a:lnTo>
                    <a:pt x="0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40"/>
                  </a:lnTo>
                  <a:lnTo>
                    <a:pt x="1" y="55"/>
                  </a:lnTo>
                  <a:lnTo>
                    <a:pt x="2" y="70"/>
                  </a:lnTo>
                  <a:lnTo>
                    <a:pt x="2" y="84"/>
                  </a:lnTo>
                  <a:lnTo>
                    <a:pt x="4" y="101"/>
                  </a:lnTo>
                  <a:lnTo>
                    <a:pt x="5" y="134"/>
                  </a:lnTo>
                  <a:lnTo>
                    <a:pt x="5" y="150"/>
                  </a:lnTo>
                  <a:lnTo>
                    <a:pt x="6" y="165"/>
                  </a:lnTo>
                  <a:lnTo>
                    <a:pt x="7" y="181"/>
                  </a:lnTo>
                  <a:lnTo>
                    <a:pt x="7" y="196"/>
                  </a:lnTo>
                  <a:lnTo>
                    <a:pt x="9" y="209"/>
                  </a:lnTo>
                  <a:lnTo>
                    <a:pt x="9" y="221"/>
                  </a:lnTo>
                  <a:lnTo>
                    <a:pt x="10" y="245"/>
                  </a:lnTo>
                  <a:lnTo>
                    <a:pt x="11" y="269"/>
                  </a:lnTo>
                  <a:lnTo>
                    <a:pt x="12" y="290"/>
                  </a:lnTo>
                  <a:lnTo>
                    <a:pt x="14" y="312"/>
                  </a:lnTo>
                  <a:lnTo>
                    <a:pt x="15" y="332"/>
                  </a:lnTo>
                  <a:lnTo>
                    <a:pt x="15" y="340"/>
                  </a:lnTo>
                  <a:lnTo>
                    <a:pt x="16" y="349"/>
                  </a:lnTo>
                  <a:lnTo>
                    <a:pt x="16" y="358"/>
                  </a:lnTo>
                  <a:lnTo>
                    <a:pt x="17" y="367"/>
                  </a:lnTo>
                  <a:lnTo>
                    <a:pt x="17" y="375"/>
                  </a:lnTo>
                  <a:lnTo>
                    <a:pt x="18" y="382"/>
                  </a:lnTo>
                  <a:lnTo>
                    <a:pt x="18" y="396"/>
                  </a:lnTo>
                  <a:lnTo>
                    <a:pt x="20" y="407"/>
                  </a:lnTo>
                  <a:lnTo>
                    <a:pt x="21" y="413"/>
                  </a:lnTo>
                  <a:lnTo>
                    <a:pt x="21" y="418"/>
                  </a:lnTo>
                  <a:lnTo>
                    <a:pt x="22" y="424"/>
                  </a:lnTo>
                  <a:lnTo>
                    <a:pt x="22" y="428"/>
                  </a:lnTo>
                  <a:lnTo>
                    <a:pt x="23" y="431"/>
                  </a:lnTo>
                  <a:lnTo>
                    <a:pt x="23" y="436"/>
                  </a:lnTo>
                  <a:lnTo>
                    <a:pt x="25" y="439"/>
                  </a:lnTo>
                  <a:lnTo>
                    <a:pt x="25" y="440"/>
                  </a:lnTo>
                  <a:lnTo>
                    <a:pt x="26" y="443"/>
                  </a:lnTo>
                  <a:lnTo>
                    <a:pt x="26" y="445"/>
                  </a:lnTo>
                  <a:lnTo>
                    <a:pt x="27" y="445"/>
                  </a:lnTo>
                  <a:lnTo>
                    <a:pt x="27" y="446"/>
                  </a:lnTo>
                  <a:lnTo>
                    <a:pt x="27" y="445"/>
                  </a:lnTo>
                  <a:lnTo>
                    <a:pt x="28" y="445"/>
                  </a:lnTo>
                  <a:lnTo>
                    <a:pt x="28" y="443"/>
                  </a:lnTo>
                  <a:lnTo>
                    <a:pt x="29" y="440"/>
                  </a:lnTo>
                  <a:lnTo>
                    <a:pt x="29" y="439"/>
                  </a:lnTo>
                  <a:lnTo>
                    <a:pt x="31" y="436"/>
                  </a:lnTo>
                  <a:lnTo>
                    <a:pt x="31" y="431"/>
                  </a:lnTo>
                  <a:lnTo>
                    <a:pt x="32" y="428"/>
                  </a:lnTo>
                  <a:lnTo>
                    <a:pt x="32" y="424"/>
                  </a:lnTo>
                  <a:lnTo>
                    <a:pt x="33" y="418"/>
                  </a:lnTo>
                  <a:lnTo>
                    <a:pt x="33" y="413"/>
                  </a:lnTo>
                  <a:lnTo>
                    <a:pt x="34" y="407"/>
                  </a:lnTo>
                  <a:lnTo>
                    <a:pt x="36" y="396"/>
                  </a:lnTo>
                  <a:lnTo>
                    <a:pt x="37" y="382"/>
                  </a:lnTo>
                  <a:lnTo>
                    <a:pt x="37" y="375"/>
                  </a:lnTo>
                  <a:lnTo>
                    <a:pt x="38" y="367"/>
                  </a:lnTo>
                  <a:lnTo>
                    <a:pt x="38" y="358"/>
                  </a:lnTo>
                  <a:lnTo>
                    <a:pt x="39" y="349"/>
                  </a:lnTo>
                  <a:lnTo>
                    <a:pt x="39" y="340"/>
                  </a:lnTo>
                  <a:lnTo>
                    <a:pt x="40" y="332"/>
                  </a:lnTo>
                  <a:lnTo>
                    <a:pt x="42" y="312"/>
                  </a:lnTo>
                  <a:lnTo>
                    <a:pt x="43" y="291"/>
                  </a:lnTo>
                  <a:lnTo>
                    <a:pt x="45" y="269"/>
                  </a:lnTo>
                  <a:lnTo>
                    <a:pt x="47" y="245"/>
                  </a:lnTo>
                  <a:lnTo>
                    <a:pt x="48" y="223"/>
                  </a:lnTo>
                  <a:lnTo>
                    <a:pt x="48" y="209"/>
                  </a:lnTo>
                  <a:lnTo>
                    <a:pt x="49" y="196"/>
                  </a:lnTo>
                  <a:lnTo>
                    <a:pt x="49" y="181"/>
                  </a:lnTo>
                  <a:lnTo>
                    <a:pt x="50" y="166"/>
                  </a:lnTo>
                  <a:lnTo>
                    <a:pt x="50" y="151"/>
                  </a:lnTo>
                  <a:lnTo>
                    <a:pt x="50" y="135"/>
                  </a:lnTo>
                  <a:lnTo>
                    <a:pt x="52" y="104"/>
                  </a:lnTo>
                  <a:lnTo>
                    <a:pt x="53" y="89"/>
                  </a:lnTo>
                  <a:lnTo>
                    <a:pt x="53" y="72"/>
                  </a:lnTo>
                  <a:lnTo>
                    <a:pt x="53" y="58"/>
                  </a:lnTo>
                  <a:lnTo>
                    <a:pt x="53" y="44"/>
                  </a:lnTo>
                  <a:lnTo>
                    <a:pt x="54" y="31"/>
                  </a:lnTo>
                  <a:lnTo>
                    <a:pt x="54" y="19"/>
                  </a:lnTo>
                  <a:lnTo>
                    <a:pt x="54" y="8"/>
                  </a:lnTo>
                  <a:lnTo>
                    <a:pt x="54" y="4"/>
                  </a:lnTo>
                  <a:lnTo>
                    <a:pt x="55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36" name="Freeform 404"/>
            <p:cNvSpPr>
              <a:spLocks/>
            </p:cNvSpPr>
            <p:nvPr/>
          </p:nvSpPr>
          <p:spPr bwMode="auto">
            <a:xfrm>
              <a:off x="3996" y="1612"/>
              <a:ext cx="56" cy="224"/>
            </a:xfrm>
            <a:custGeom>
              <a:avLst/>
              <a:gdLst>
                <a:gd name="T0" fmla="*/ 0 w 56"/>
                <a:gd name="T1" fmla="*/ 3 h 446"/>
                <a:gd name="T2" fmla="*/ 0 w 56"/>
                <a:gd name="T3" fmla="*/ 11 h 446"/>
                <a:gd name="T4" fmla="*/ 0 w 56"/>
                <a:gd name="T5" fmla="*/ 22 h 446"/>
                <a:gd name="T6" fmla="*/ 2 w 56"/>
                <a:gd name="T7" fmla="*/ 40 h 446"/>
                <a:gd name="T8" fmla="*/ 3 w 56"/>
                <a:gd name="T9" fmla="*/ 70 h 446"/>
                <a:gd name="T10" fmla="*/ 4 w 56"/>
                <a:gd name="T11" fmla="*/ 101 h 446"/>
                <a:gd name="T12" fmla="*/ 5 w 56"/>
                <a:gd name="T13" fmla="*/ 150 h 446"/>
                <a:gd name="T14" fmla="*/ 8 w 56"/>
                <a:gd name="T15" fmla="*/ 181 h 446"/>
                <a:gd name="T16" fmla="*/ 9 w 56"/>
                <a:gd name="T17" fmla="*/ 209 h 446"/>
                <a:gd name="T18" fmla="*/ 10 w 56"/>
                <a:gd name="T19" fmla="*/ 245 h 446"/>
                <a:gd name="T20" fmla="*/ 13 w 56"/>
                <a:gd name="T21" fmla="*/ 290 h 446"/>
                <a:gd name="T22" fmla="*/ 15 w 56"/>
                <a:gd name="T23" fmla="*/ 332 h 446"/>
                <a:gd name="T24" fmla="*/ 16 w 56"/>
                <a:gd name="T25" fmla="*/ 349 h 446"/>
                <a:gd name="T26" fmla="*/ 18 w 56"/>
                <a:gd name="T27" fmla="*/ 367 h 446"/>
                <a:gd name="T28" fmla="*/ 19 w 56"/>
                <a:gd name="T29" fmla="*/ 382 h 446"/>
                <a:gd name="T30" fmla="*/ 20 w 56"/>
                <a:gd name="T31" fmla="*/ 407 h 446"/>
                <a:gd name="T32" fmla="*/ 21 w 56"/>
                <a:gd name="T33" fmla="*/ 418 h 446"/>
                <a:gd name="T34" fmla="*/ 22 w 56"/>
                <a:gd name="T35" fmla="*/ 428 h 446"/>
                <a:gd name="T36" fmla="*/ 24 w 56"/>
                <a:gd name="T37" fmla="*/ 436 h 446"/>
                <a:gd name="T38" fmla="*/ 25 w 56"/>
                <a:gd name="T39" fmla="*/ 440 h 446"/>
                <a:gd name="T40" fmla="*/ 26 w 56"/>
                <a:gd name="T41" fmla="*/ 445 h 446"/>
                <a:gd name="T42" fmla="*/ 27 w 56"/>
                <a:gd name="T43" fmla="*/ 446 h 446"/>
                <a:gd name="T44" fmla="*/ 29 w 56"/>
                <a:gd name="T45" fmla="*/ 445 h 446"/>
                <a:gd name="T46" fmla="*/ 30 w 56"/>
                <a:gd name="T47" fmla="*/ 440 h 446"/>
                <a:gd name="T48" fmla="*/ 31 w 56"/>
                <a:gd name="T49" fmla="*/ 436 h 446"/>
                <a:gd name="T50" fmla="*/ 32 w 56"/>
                <a:gd name="T51" fmla="*/ 428 h 446"/>
                <a:gd name="T52" fmla="*/ 33 w 56"/>
                <a:gd name="T53" fmla="*/ 418 h 446"/>
                <a:gd name="T54" fmla="*/ 35 w 56"/>
                <a:gd name="T55" fmla="*/ 407 h 446"/>
                <a:gd name="T56" fmla="*/ 37 w 56"/>
                <a:gd name="T57" fmla="*/ 382 h 446"/>
                <a:gd name="T58" fmla="*/ 38 w 56"/>
                <a:gd name="T59" fmla="*/ 367 h 446"/>
                <a:gd name="T60" fmla="*/ 40 w 56"/>
                <a:gd name="T61" fmla="*/ 349 h 446"/>
                <a:gd name="T62" fmla="*/ 41 w 56"/>
                <a:gd name="T63" fmla="*/ 332 h 446"/>
                <a:gd name="T64" fmla="*/ 43 w 56"/>
                <a:gd name="T65" fmla="*/ 291 h 446"/>
                <a:gd name="T66" fmla="*/ 47 w 56"/>
                <a:gd name="T67" fmla="*/ 245 h 446"/>
                <a:gd name="T68" fmla="*/ 48 w 56"/>
                <a:gd name="T69" fmla="*/ 209 h 446"/>
                <a:gd name="T70" fmla="*/ 49 w 56"/>
                <a:gd name="T71" fmla="*/ 181 h 446"/>
                <a:gd name="T72" fmla="*/ 51 w 56"/>
                <a:gd name="T73" fmla="*/ 151 h 446"/>
                <a:gd name="T74" fmla="*/ 52 w 56"/>
                <a:gd name="T75" fmla="*/ 104 h 446"/>
                <a:gd name="T76" fmla="*/ 53 w 56"/>
                <a:gd name="T77" fmla="*/ 72 h 446"/>
                <a:gd name="T78" fmla="*/ 53 w 56"/>
                <a:gd name="T79" fmla="*/ 44 h 446"/>
                <a:gd name="T80" fmla="*/ 54 w 56"/>
                <a:gd name="T81" fmla="*/ 19 h 446"/>
                <a:gd name="T82" fmla="*/ 54 w 56"/>
                <a:gd name="T83" fmla="*/ 4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6" h="446">
                  <a:moveTo>
                    <a:pt x="0" y="0"/>
                  </a:moveTo>
                  <a:lnTo>
                    <a:pt x="0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2" y="40"/>
                  </a:lnTo>
                  <a:lnTo>
                    <a:pt x="2" y="55"/>
                  </a:lnTo>
                  <a:lnTo>
                    <a:pt x="3" y="70"/>
                  </a:lnTo>
                  <a:lnTo>
                    <a:pt x="3" y="84"/>
                  </a:lnTo>
                  <a:lnTo>
                    <a:pt x="4" y="101"/>
                  </a:lnTo>
                  <a:lnTo>
                    <a:pt x="5" y="134"/>
                  </a:lnTo>
                  <a:lnTo>
                    <a:pt x="5" y="150"/>
                  </a:lnTo>
                  <a:lnTo>
                    <a:pt x="6" y="165"/>
                  </a:lnTo>
                  <a:lnTo>
                    <a:pt x="8" y="181"/>
                  </a:lnTo>
                  <a:lnTo>
                    <a:pt x="8" y="196"/>
                  </a:lnTo>
                  <a:lnTo>
                    <a:pt x="9" y="209"/>
                  </a:lnTo>
                  <a:lnTo>
                    <a:pt x="9" y="221"/>
                  </a:lnTo>
                  <a:lnTo>
                    <a:pt x="10" y="245"/>
                  </a:lnTo>
                  <a:lnTo>
                    <a:pt x="11" y="269"/>
                  </a:lnTo>
                  <a:lnTo>
                    <a:pt x="13" y="290"/>
                  </a:lnTo>
                  <a:lnTo>
                    <a:pt x="14" y="312"/>
                  </a:lnTo>
                  <a:lnTo>
                    <a:pt x="15" y="332"/>
                  </a:lnTo>
                  <a:lnTo>
                    <a:pt x="15" y="340"/>
                  </a:lnTo>
                  <a:lnTo>
                    <a:pt x="16" y="349"/>
                  </a:lnTo>
                  <a:lnTo>
                    <a:pt x="16" y="358"/>
                  </a:lnTo>
                  <a:lnTo>
                    <a:pt x="18" y="367"/>
                  </a:lnTo>
                  <a:lnTo>
                    <a:pt x="18" y="375"/>
                  </a:lnTo>
                  <a:lnTo>
                    <a:pt x="19" y="382"/>
                  </a:lnTo>
                  <a:lnTo>
                    <a:pt x="19" y="396"/>
                  </a:lnTo>
                  <a:lnTo>
                    <a:pt x="20" y="407"/>
                  </a:lnTo>
                  <a:lnTo>
                    <a:pt x="21" y="413"/>
                  </a:lnTo>
                  <a:lnTo>
                    <a:pt x="21" y="418"/>
                  </a:lnTo>
                  <a:lnTo>
                    <a:pt x="22" y="424"/>
                  </a:lnTo>
                  <a:lnTo>
                    <a:pt x="22" y="428"/>
                  </a:lnTo>
                  <a:lnTo>
                    <a:pt x="24" y="431"/>
                  </a:lnTo>
                  <a:lnTo>
                    <a:pt x="24" y="436"/>
                  </a:lnTo>
                  <a:lnTo>
                    <a:pt x="25" y="439"/>
                  </a:lnTo>
                  <a:lnTo>
                    <a:pt x="25" y="440"/>
                  </a:lnTo>
                  <a:lnTo>
                    <a:pt x="26" y="443"/>
                  </a:lnTo>
                  <a:lnTo>
                    <a:pt x="26" y="445"/>
                  </a:lnTo>
                  <a:lnTo>
                    <a:pt x="27" y="445"/>
                  </a:lnTo>
                  <a:lnTo>
                    <a:pt x="27" y="446"/>
                  </a:lnTo>
                  <a:lnTo>
                    <a:pt x="27" y="445"/>
                  </a:lnTo>
                  <a:lnTo>
                    <a:pt x="29" y="445"/>
                  </a:lnTo>
                  <a:lnTo>
                    <a:pt x="29" y="443"/>
                  </a:lnTo>
                  <a:lnTo>
                    <a:pt x="30" y="440"/>
                  </a:lnTo>
                  <a:lnTo>
                    <a:pt x="30" y="439"/>
                  </a:lnTo>
                  <a:lnTo>
                    <a:pt x="31" y="436"/>
                  </a:lnTo>
                  <a:lnTo>
                    <a:pt x="31" y="431"/>
                  </a:lnTo>
                  <a:lnTo>
                    <a:pt x="32" y="428"/>
                  </a:lnTo>
                  <a:lnTo>
                    <a:pt x="32" y="424"/>
                  </a:lnTo>
                  <a:lnTo>
                    <a:pt x="33" y="418"/>
                  </a:lnTo>
                  <a:lnTo>
                    <a:pt x="33" y="413"/>
                  </a:lnTo>
                  <a:lnTo>
                    <a:pt x="35" y="407"/>
                  </a:lnTo>
                  <a:lnTo>
                    <a:pt x="36" y="396"/>
                  </a:lnTo>
                  <a:lnTo>
                    <a:pt x="37" y="382"/>
                  </a:lnTo>
                  <a:lnTo>
                    <a:pt x="37" y="375"/>
                  </a:lnTo>
                  <a:lnTo>
                    <a:pt x="38" y="367"/>
                  </a:lnTo>
                  <a:lnTo>
                    <a:pt x="38" y="358"/>
                  </a:lnTo>
                  <a:lnTo>
                    <a:pt x="40" y="349"/>
                  </a:lnTo>
                  <a:lnTo>
                    <a:pt x="40" y="340"/>
                  </a:lnTo>
                  <a:lnTo>
                    <a:pt x="41" y="332"/>
                  </a:lnTo>
                  <a:lnTo>
                    <a:pt x="42" y="312"/>
                  </a:lnTo>
                  <a:lnTo>
                    <a:pt x="43" y="291"/>
                  </a:lnTo>
                  <a:lnTo>
                    <a:pt x="46" y="269"/>
                  </a:lnTo>
                  <a:lnTo>
                    <a:pt x="47" y="245"/>
                  </a:lnTo>
                  <a:lnTo>
                    <a:pt x="48" y="223"/>
                  </a:lnTo>
                  <a:lnTo>
                    <a:pt x="48" y="209"/>
                  </a:lnTo>
                  <a:lnTo>
                    <a:pt x="49" y="196"/>
                  </a:lnTo>
                  <a:lnTo>
                    <a:pt x="49" y="181"/>
                  </a:lnTo>
                  <a:lnTo>
                    <a:pt x="51" y="166"/>
                  </a:lnTo>
                  <a:lnTo>
                    <a:pt x="51" y="151"/>
                  </a:lnTo>
                  <a:lnTo>
                    <a:pt x="51" y="135"/>
                  </a:lnTo>
                  <a:lnTo>
                    <a:pt x="52" y="104"/>
                  </a:lnTo>
                  <a:lnTo>
                    <a:pt x="53" y="89"/>
                  </a:lnTo>
                  <a:lnTo>
                    <a:pt x="53" y="72"/>
                  </a:lnTo>
                  <a:lnTo>
                    <a:pt x="53" y="58"/>
                  </a:lnTo>
                  <a:lnTo>
                    <a:pt x="53" y="44"/>
                  </a:lnTo>
                  <a:lnTo>
                    <a:pt x="54" y="31"/>
                  </a:lnTo>
                  <a:lnTo>
                    <a:pt x="54" y="19"/>
                  </a:lnTo>
                  <a:lnTo>
                    <a:pt x="54" y="8"/>
                  </a:lnTo>
                  <a:lnTo>
                    <a:pt x="54" y="4"/>
                  </a:lnTo>
                  <a:lnTo>
                    <a:pt x="56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37" name="Freeform 405"/>
            <p:cNvSpPr>
              <a:spLocks/>
            </p:cNvSpPr>
            <p:nvPr/>
          </p:nvSpPr>
          <p:spPr bwMode="auto">
            <a:xfrm>
              <a:off x="4162" y="1389"/>
              <a:ext cx="55" cy="223"/>
            </a:xfrm>
            <a:custGeom>
              <a:avLst/>
              <a:gdLst>
                <a:gd name="T0" fmla="*/ 0 w 55"/>
                <a:gd name="T1" fmla="*/ 442 h 447"/>
                <a:gd name="T2" fmla="*/ 0 w 55"/>
                <a:gd name="T3" fmla="*/ 433 h 447"/>
                <a:gd name="T4" fmla="*/ 0 w 55"/>
                <a:gd name="T5" fmla="*/ 423 h 447"/>
                <a:gd name="T6" fmla="*/ 1 w 55"/>
                <a:gd name="T7" fmla="*/ 405 h 447"/>
                <a:gd name="T8" fmla="*/ 2 w 55"/>
                <a:gd name="T9" fmla="*/ 377 h 447"/>
                <a:gd name="T10" fmla="*/ 4 w 55"/>
                <a:gd name="T11" fmla="*/ 345 h 447"/>
                <a:gd name="T12" fmla="*/ 5 w 55"/>
                <a:gd name="T13" fmla="*/ 296 h 447"/>
                <a:gd name="T14" fmla="*/ 7 w 55"/>
                <a:gd name="T15" fmla="*/ 263 h 447"/>
                <a:gd name="T16" fmla="*/ 8 w 55"/>
                <a:gd name="T17" fmla="*/ 235 h 447"/>
                <a:gd name="T18" fmla="*/ 10 w 55"/>
                <a:gd name="T19" fmla="*/ 199 h 447"/>
                <a:gd name="T20" fmla="*/ 12 w 55"/>
                <a:gd name="T21" fmla="*/ 155 h 447"/>
                <a:gd name="T22" fmla="*/ 15 w 55"/>
                <a:gd name="T23" fmla="*/ 113 h 447"/>
                <a:gd name="T24" fmla="*/ 16 w 55"/>
                <a:gd name="T25" fmla="*/ 95 h 447"/>
                <a:gd name="T26" fmla="*/ 17 w 55"/>
                <a:gd name="T27" fmla="*/ 77 h 447"/>
                <a:gd name="T28" fmla="*/ 18 w 55"/>
                <a:gd name="T29" fmla="*/ 62 h 447"/>
                <a:gd name="T30" fmla="*/ 19 w 55"/>
                <a:gd name="T31" fmla="*/ 37 h 447"/>
                <a:gd name="T32" fmla="*/ 21 w 55"/>
                <a:gd name="T33" fmla="*/ 27 h 447"/>
                <a:gd name="T34" fmla="*/ 22 w 55"/>
                <a:gd name="T35" fmla="*/ 16 h 447"/>
                <a:gd name="T36" fmla="*/ 23 w 55"/>
                <a:gd name="T37" fmla="*/ 9 h 447"/>
                <a:gd name="T38" fmla="*/ 24 w 55"/>
                <a:gd name="T39" fmla="*/ 4 h 447"/>
                <a:gd name="T40" fmla="*/ 26 w 55"/>
                <a:gd name="T41" fmla="*/ 0 h 447"/>
                <a:gd name="T42" fmla="*/ 27 w 55"/>
                <a:gd name="T43" fmla="*/ 0 h 447"/>
                <a:gd name="T44" fmla="*/ 28 w 55"/>
                <a:gd name="T45" fmla="*/ 0 h 447"/>
                <a:gd name="T46" fmla="*/ 29 w 55"/>
                <a:gd name="T47" fmla="*/ 4 h 447"/>
                <a:gd name="T48" fmla="*/ 31 w 55"/>
                <a:gd name="T49" fmla="*/ 9 h 447"/>
                <a:gd name="T50" fmla="*/ 32 w 55"/>
                <a:gd name="T51" fmla="*/ 18 h 447"/>
                <a:gd name="T52" fmla="*/ 33 w 55"/>
                <a:gd name="T53" fmla="*/ 27 h 447"/>
                <a:gd name="T54" fmla="*/ 34 w 55"/>
                <a:gd name="T55" fmla="*/ 37 h 447"/>
                <a:gd name="T56" fmla="*/ 37 w 55"/>
                <a:gd name="T57" fmla="*/ 62 h 447"/>
                <a:gd name="T58" fmla="*/ 38 w 55"/>
                <a:gd name="T59" fmla="*/ 77 h 447"/>
                <a:gd name="T60" fmla="*/ 39 w 55"/>
                <a:gd name="T61" fmla="*/ 95 h 447"/>
                <a:gd name="T62" fmla="*/ 40 w 55"/>
                <a:gd name="T63" fmla="*/ 113 h 447"/>
                <a:gd name="T64" fmla="*/ 43 w 55"/>
                <a:gd name="T65" fmla="*/ 153 h 447"/>
                <a:gd name="T66" fmla="*/ 46 w 55"/>
                <a:gd name="T67" fmla="*/ 199 h 447"/>
                <a:gd name="T68" fmla="*/ 48 w 55"/>
                <a:gd name="T69" fmla="*/ 235 h 447"/>
                <a:gd name="T70" fmla="*/ 49 w 55"/>
                <a:gd name="T71" fmla="*/ 263 h 447"/>
                <a:gd name="T72" fmla="*/ 50 w 55"/>
                <a:gd name="T73" fmla="*/ 293 h 447"/>
                <a:gd name="T74" fmla="*/ 51 w 55"/>
                <a:gd name="T75" fmla="*/ 341 h 447"/>
                <a:gd name="T76" fmla="*/ 53 w 55"/>
                <a:gd name="T77" fmla="*/ 372 h 447"/>
                <a:gd name="T78" fmla="*/ 53 w 55"/>
                <a:gd name="T79" fmla="*/ 400 h 447"/>
                <a:gd name="T80" fmla="*/ 54 w 55"/>
                <a:gd name="T81" fmla="*/ 426 h 447"/>
                <a:gd name="T82" fmla="*/ 54 w 55"/>
                <a:gd name="T83" fmla="*/ 44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5" h="447">
                  <a:moveTo>
                    <a:pt x="0" y="447"/>
                  </a:moveTo>
                  <a:lnTo>
                    <a:pt x="0" y="442"/>
                  </a:lnTo>
                  <a:lnTo>
                    <a:pt x="0" y="438"/>
                  </a:lnTo>
                  <a:lnTo>
                    <a:pt x="0" y="433"/>
                  </a:lnTo>
                  <a:lnTo>
                    <a:pt x="0" y="429"/>
                  </a:lnTo>
                  <a:lnTo>
                    <a:pt x="0" y="423"/>
                  </a:lnTo>
                  <a:lnTo>
                    <a:pt x="0" y="417"/>
                  </a:lnTo>
                  <a:lnTo>
                    <a:pt x="1" y="405"/>
                  </a:lnTo>
                  <a:lnTo>
                    <a:pt x="1" y="391"/>
                  </a:lnTo>
                  <a:lnTo>
                    <a:pt x="2" y="377"/>
                  </a:lnTo>
                  <a:lnTo>
                    <a:pt x="2" y="360"/>
                  </a:lnTo>
                  <a:lnTo>
                    <a:pt x="4" y="345"/>
                  </a:lnTo>
                  <a:lnTo>
                    <a:pt x="5" y="313"/>
                  </a:lnTo>
                  <a:lnTo>
                    <a:pt x="5" y="296"/>
                  </a:lnTo>
                  <a:lnTo>
                    <a:pt x="6" y="280"/>
                  </a:lnTo>
                  <a:lnTo>
                    <a:pt x="7" y="263"/>
                  </a:lnTo>
                  <a:lnTo>
                    <a:pt x="7" y="250"/>
                  </a:lnTo>
                  <a:lnTo>
                    <a:pt x="8" y="235"/>
                  </a:lnTo>
                  <a:lnTo>
                    <a:pt x="8" y="223"/>
                  </a:lnTo>
                  <a:lnTo>
                    <a:pt x="10" y="199"/>
                  </a:lnTo>
                  <a:lnTo>
                    <a:pt x="11" y="177"/>
                  </a:lnTo>
                  <a:lnTo>
                    <a:pt x="12" y="155"/>
                  </a:lnTo>
                  <a:lnTo>
                    <a:pt x="13" y="132"/>
                  </a:lnTo>
                  <a:lnTo>
                    <a:pt x="15" y="113"/>
                  </a:lnTo>
                  <a:lnTo>
                    <a:pt x="15" y="104"/>
                  </a:lnTo>
                  <a:lnTo>
                    <a:pt x="16" y="95"/>
                  </a:lnTo>
                  <a:lnTo>
                    <a:pt x="16" y="86"/>
                  </a:lnTo>
                  <a:lnTo>
                    <a:pt x="17" y="77"/>
                  </a:lnTo>
                  <a:lnTo>
                    <a:pt x="17" y="70"/>
                  </a:lnTo>
                  <a:lnTo>
                    <a:pt x="18" y="62"/>
                  </a:lnTo>
                  <a:lnTo>
                    <a:pt x="18" y="49"/>
                  </a:lnTo>
                  <a:lnTo>
                    <a:pt x="19" y="37"/>
                  </a:lnTo>
                  <a:lnTo>
                    <a:pt x="21" y="31"/>
                  </a:lnTo>
                  <a:lnTo>
                    <a:pt x="21" y="27"/>
                  </a:lnTo>
                  <a:lnTo>
                    <a:pt x="22" y="21"/>
                  </a:lnTo>
                  <a:lnTo>
                    <a:pt x="22" y="16"/>
                  </a:lnTo>
                  <a:lnTo>
                    <a:pt x="23" y="13"/>
                  </a:lnTo>
                  <a:lnTo>
                    <a:pt x="23" y="9"/>
                  </a:lnTo>
                  <a:lnTo>
                    <a:pt x="24" y="6"/>
                  </a:lnTo>
                  <a:lnTo>
                    <a:pt x="24" y="4"/>
                  </a:lnTo>
                  <a:lnTo>
                    <a:pt x="26" y="1"/>
                  </a:lnTo>
                  <a:lnTo>
                    <a:pt x="26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8" y="0"/>
                  </a:lnTo>
                  <a:lnTo>
                    <a:pt x="28" y="1"/>
                  </a:lnTo>
                  <a:lnTo>
                    <a:pt x="29" y="4"/>
                  </a:lnTo>
                  <a:lnTo>
                    <a:pt x="29" y="6"/>
                  </a:lnTo>
                  <a:lnTo>
                    <a:pt x="31" y="9"/>
                  </a:lnTo>
                  <a:lnTo>
                    <a:pt x="31" y="13"/>
                  </a:lnTo>
                  <a:lnTo>
                    <a:pt x="32" y="18"/>
                  </a:lnTo>
                  <a:lnTo>
                    <a:pt x="32" y="22"/>
                  </a:lnTo>
                  <a:lnTo>
                    <a:pt x="33" y="27"/>
                  </a:lnTo>
                  <a:lnTo>
                    <a:pt x="33" y="31"/>
                  </a:lnTo>
                  <a:lnTo>
                    <a:pt x="34" y="37"/>
                  </a:lnTo>
                  <a:lnTo>
                    <a:pt x="35" y="49"/>
                  </a:lnTo>
                  <a:lnTo>
                    <a:pt x="37" y="62"/>
                  </a:lnTo>
                  <a:lnTo>
                    <a:pt x="37" y="70"/>
                  </a:lnTo>
                  <a:lnTo>
                    <a:pt x="38" y="77"/>
                  </a:lnTo>
                  <a:lnTo>
                    <a:pt x="38" y="86"/>
                  </a:lnTo>
                  <a:lnTo>
                    <a:pt x="39" y="95"/>
                  </a:lnTo>
                  <a:lnTo>
                    <a:pt x="39" y="104"/>
                  </a:lnTo>
                  <a:lnTo>
                    <a:pt x="40" y="113"/>
                  </a:lnTo>
                  <a:lnTo>
                    <a:pt x="42" y="132"/>
                  </a:lnTo>
                  <a:lnTo>
                    <a:pt x="43" y="153"/>
                  </a:lnTo>
                  <a:lnTo>
                    <a:pt x="45" y="176"/>
                  </a:lnTo>
                  <a:lnTo>
                    <a:pt x="46" y="199"/>
                  </a:lnTo>
                  <a:lnTo>
                    <a:pt x="48" y="223"/>
                  </a:lnTo>
                  <a:lnTo>
                    <a:pt x="48" y="235"/>
                  </a:lnTo>
                  <a:lnTo>
                    <a:pt x="49" y="249"/>
                  </a:lnTo>
                  <a:lnTo>
                    <a:pt x="49" y="263"/>
                  </a:lnTo>
                  <a:lnTo>
                    <a:pt x="50" y="278"/>
                  </a:lnTo>
                  <a:lnTo>
                    <a:pt x="50" y="293"/>
                  </a:lnTo>
                  <a:lnTo>
                    <a:pt x="50" y="310"/>
                  </a:lnTo>
                  <a:lnTo>
                    <a:pt x="51" y="341"/>
                  </a:lnTo>
                  <a:lnTo>
                    <a:pt x="53" y="356"/>
                  </a:lnTo>
                  <a:lnTo>
                    <a:pt x="53" y="372"/>
                  </a:lnTo>
                  <a:lnTo>
                    <a:pt x="53" y="387"/>
                  </a:lnTo>
                  <a:lnTo>
                    <a:pt x="53" y="400"/>
                  </a:lnTo>
                  <a:lnTo>
                    <a:pt x="54" y="414"/>
                  </a:lnTo>
                  <a:lnTo>
                    <a:pt x="54" y="426"/>
                  </a:lnTo>
                  <a:lnTo>
                    <a:pt x="54" y="436"/>
                  </a:lnTo>
                  <a:lnTo>
                    <a:pt x="54" y="441"/>
                  </a:lnTo>
                  <a:lnTo>
                    <a:pt x="55" y="447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38" name="Freeform 406"/>
            <p:cNvSpPr>
              <a:spLocks/>
            </p:cNvSpPr>
            <p:nvPr/>
          </p:nvSpPr>
          <p:spPr bwMode="auto">
            <a:xfrm>
              <a:off x="4107" y="1612"/>
              <a:ext cx="55" cy="224"/>
            </a:xfrm>
            <a:custGeom>
              <a:avLst/>
              <a:gdLst>
                <a:gd name="T0" fmla="*/ 0 w 55"/>
                <a:gd name="T1" fmla="*/ 3 h 446"/>
                <a:gd name="T2" fmla="*/ 0 w 55"/>
                <a:gd name="T3" fmla="*/ 11 h 446"/>
                <a:gd name="T4" fmla="*/ 0 w 55"/>
                <a:gd name="T5" fmla="*/ 22 h 446"/>
                <a:gd name="T6" fmla="*/ 1 w 55"/>
                <a:gd name="T7" fmla="*/ 40 h 446"/>
                <a:gd name="T8" fmla="*/ 2 w 55"/>
                <a:gd name="T9" fmla="*/ 70 h 446"/>
                <a:gd name="T10" fmla="*/ 3 w 55"/>
                <a:gd name="T11" fmla="*/ 101 h 446"/>
                <a:gd name="T12" fmla="*/ 5 w 55"/>
                <a:gd name="T13" fmla="*/ 150 h 446"/>
                <a:gd name="T14" fmla="*/ 7 w 55"/>
                <a:gd name="T15" fmla="*/ 181 h 446"/>
                <a:gd name="T16" fmla="*/ 8 w 55"/>
                <a:gd name="T17" fmla="*/ 209 h 446"/>
                <a:gd name="T18" fmla="*/ 10 w 55"/>
                <a:gd name="T19" fmla="*/ 245 h 446"/>
                <a:gd name="T20" fmla="*/ 12 w 55"/>
                <a:gd name="T21" fmla="*/ 290 h 446"/>
                <a:gd name="T22" fmla="*/ 14 w 55"/>
                <a:gd name="T23" fmla="*/ 332 h 446"/>
                <a:gd name="T24" fmla="*/ 16 w 55"/>
                <a:gd name="T25" fmla="*/ 349 h 446"/>
                <a:gd name="T26" fmla="*/ 17 w 55"/>
                <a:gd name="T27" fmla="*/ 367 h 446"/>
                <a:gd name="T28" fmla="*/ 18 w 55"/>
                <a:gd name="T29" fmla="*/ 382 h 446"/>
                <a:gd name="T30" fmla="*/ 19 w 55"/>
                <a:gd name="T31" fmla="*/ 407 h 446"/>
                <a:gd name="T32" fmla="*/ 21 w 55"/>
                <a:gd name="T33" fmla="*/ 418 h 446"/>
                <a:gd name="T34" fmla="*/ 22 w 55"/>
                <a:gd name="T35" fmla="*/ 428 h 446"/>
                <a:gd name="T36" fmla="*/ 23 w 55"/>
                <a:gd name="T37" fmla="*/ 436 h 446"/>
                <a:gd name="T38" fmla="*/ 24 w 55"/>
                <a:gd name="T39" fmla="*/ 440 h 446"/>
                <a:gd name="T40" fmla="*/ 25 w 55"/>
                <a:gd name="T41" fmla="*/ 445 h 446"/>
                <a:gd name="T42" fmla="*/ 27 w 55"/>
                <a:gd name="T43" fmla="*/ 446 h 446"/>
                <a:gd name="T44" fmla="*/ 28 w 55"/>
                <a:gd name="T45" fmla="*/ 445 h 446"/>
                <a:gd name="T46" fmla="*/ 29 w 55"/>
                <a:gd name="T47" fmla="*/ 440 h 446"/>
                <a:gd name="T48" fmla="*/ 30 w 55"/>
                <a:gd name="T49" fmla="*/ 436 h 446"/>
                <a:gd name="T50" fmla="*/ 32 w 55"/>
                <a:gd name="T51" fmla="*/ 428 h 446"/>
                <a:gd name="T52" fmla="*/ 33 w 55"/>
                <a:gd name="T53" fmla="*/ 418 h 446"/>
                <a:gd name="T54" fmla="*/ 34 w 55"/>
                <a:gd name="T55" fmla="*/ 407 h 446"/>
                <a:gd name="T56" fmla="*/ 36 w 55"/>
                <a:gd name="T57" fmla="*/ 382 h 446"/>
                <a:gd name="T58" fmla="*/ 38 w 55"/>
                <a:gd name="T59" fmla="*/ 367 h 446"/>
                <a:gd name="T60" fmla="*/ 39 w 55"/>
                <a:gd name="T61" fmla="*/ 349 h 446"/>
                <a:gd name="T62" fmla="*/ 40 w 55"/>
                <a:gd name="T63" fmla="*/ 332 h 446"/>
                <a:gd name="T64" fmla="*/ 43 w 55"/>
                <a:gd name="T65" fmla="*/ 291 h 446"/>
                <a:gd name="T66" fmla="*/ 46 w 55"/>
                <a:gd name="T67" fmla="*/ 245 h 446"/>
                <a:gd name="T68" fmla="*/ 48 w 55"/>
                <a:gd name="T69" fmla="*/ 209 h 446"/>
                <a:gd name="T70" fmla="*/ 49 w 55"/>
                <a:gd name="T71" fmla="*/ 181 h 446"/>
                <a:gd name="T72" fmla="*/ 50 w 55"/>
                <a:gd name="T73" fmla="*/ 151 h 446"/>
                <a:gd name="T74" fmla="*/ 51 w 55"/>
                <a:gd name="T75" fmla="*/ 104 h 446"/>
                <a:gd name="T76" fmla="*/ 52 w 55"/>
                <a:gd name="T77" fmla="*/ 72 h 446"/>
                <a:gd name="T78" fmla="*/ 52 w 55"/>
                <a:gd name="T79" fmla="*/ 44 h 446"/>
                <a:gd name="T80" fmla="*/ 54 w 55"/>
                <a:gd name="T81" fmla="*/ 19 h 446"/>
                <a:gd name="T82" fmla="*/ 54 w 55"/>
                <a:gd name="T83" fmla="*/ 4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5" h="446">
                  <a:moveTo>
                    <a:pt x="0" y="0"/>
                  </a:moveTo>
                  <a:lnTo>
                    <a:pt x="0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40"/>
                  </a:lnTo>
                  <a:lnTo>
                    <a:pt x="1" y="55"/>
                  </a:lnTo>
                  <a:lnTo>
                    <a:pt x="2" y="70"/>
                  </a:lnTo>
                  <a:lnTo>
                    <a:pt x="2" y="84"/>
                  </a:lnTo>
                  <a:lnTo>
                    <a:pt x="3" y="101"/>
                  </a:lnTo>
                  <a:lnTo>
                    <a:pt x="5" y="134"/>
                  </a:lnTo>
                  <a:lnTo>
                    <a:pt x="5" y="150"/>
                  </a:lnTo>
                  <a:lnTo>
                    <a:pt x="6" y="165"/>
                  </a:lnTo>
                  <a:lnTo>
                    <a:pt x="7" y="181"/>
                  </a:lnTo>
                  <a:lnTo>
                    <a:pt x="7" y="196"/>
                  </a:lnTo>
                  <a:lnTo>
                    <a:pt x="8" y="209"/>
                  </a:lnTo>
                  <a:lnTo>
                    <a:pt x="8" y="221"/>
                  </a:lnTo>
                  <a:lnTo>
                    <a:pt x="10" y="245"/>
                  </a:lnTo>
                  <a:lnTo>
                    <a:pt x="11" y="269"/>
                  </a:lnTo>
                  <a:lnTo>
                    <a:pt x="12" y="290"/>
                  </a:lnTo>
                  <a:lnTo>
                    <a:pt x="13" y="312"/>
                  </a:lnTo>
                  <a:lnTo>
                    <a:pt x="14" y="332"/>
                  </a:lnTo>
                  <a:lnTo>
                    <a:pt x="14" y="340"/>
                  </a:lnTo>
                  <a:lnTo>
                    <a:pt x="16" y="349"/>
                  </a:lnTo>
                  <a:lnTo>
                    <a:pt x="16" y="358"/>
                  </a:lnTo>
                  <a:lnTo>
                    <a:pt x="17" y="367"/>
                  </a:lnTo>
                  <a:lnTo>
                    <a:pt x="17" y="375"/>
                  </a:lnTo>
                  <a:lnTo>
                    <a:pt x="18" y="382"/>
                  </a:lnTo>
                  <a:lnTo>
                    <a:pt x="18" y="396"/>
                  </a:lnTo>
                  <a:lnTo>
                    <a:pt x="19" y="407"/>
                  </a:lnTo>
                  <a:lnTo>
                    <a:pt x="21" y="413"/>
                  </a:lnTo>
                  <a:lnTo>
                    <a:pt x="21" y="418"/>
                  </a:lnTo>
                  <a:lnTo>
                    <a:pt x="22" y="424"/>
                  </a:lnTo>
                  <a:lnTo>
                    <a:pt x="22" y="428"/>
                  </a:lnTo>
                  <a:lnTo>
                    <a:pt x="23" y="431"/>
                  </a:lnTo>
                  <a:lnTo>
                    <a:pt x="23" y="436"/>
                  </a:lnTo>
                  <a:lnTo>
                    <a:pt x="24" y="439"/>
                  </a:lnTo>
                  <a:lnTo>
                    <a:pt x="24" y="440"/>
                  </a:lnTo>
                  <a:lnTo>
                    <a:pt x="25" y="443"/>
                  </a:lnTo>
                  <a:lnTo>
                    <a:pt x="25" y="445"/>
                  </a:lnTo>
                  <a:lnTo>
                    <a:pt x="27" y="445"/>
                  </a:lnTo>
                  <a:lnTo>
                    <a:pt x="27" y="446"/>
                  </a:lnTo>
                  <a:lnTo>
                    <a:pt x="27" y="445"/>
                  </a:lnTo>
                  <a:lnTo>
                    <a:pt x="28" y="445"/>
                  </a:lnTo>
                  <a:lnTo>
                    <a:pt x="28" y="443"/>
                  </a:lnTo>
                  <a:lnTo>
                    <a:pt x="29" y="440"/>
                  </a:lnTo>
                  <a:lnTo>
                    <a:pt x="29" y="439"/>
                  </a:lnTo>
                  <a:lnTo>
                    <a:pt x="30" y="436"/>
                  </a:lnTo>
                  <a:lnTo>
                    <a:pt x="30" y="431"/>
                  </a:lnTo>
                  <a:lnTo>
                    <a:pt x="32" y="428"/>
                  </a:lnTo>
                  <a:lnTo>
                    <a:pt x="32" y="424"/>
                  </a:lnTo>
                  <a:lnTo>
                    <a:pt x="33" y="418"/>
                  </a:lnTo>
                  <a:lnTo>
                    <a:pt x="33" y="413"/>
                  </a:lnTo>
                  <a:lnTo>
                    <a:pt x="34" y="407"/>
                  </a:lnTo>
                  <a:lnTo>
                    <a:pt x="35" y="396"/>
                  </a:lnTo>
                  <a:lnTo>
                    <a:pt x="36" y="382"/>
                  </a:lnTo>
                  <a:lnTo>
                    <a:pt x="36" y="375"/>
                  </a:lnTo>
                  <a:lnTo>
                    <a:pt x="38" y="367"/>
                  </a:lnTo>
                  <a:lnTo>
                    <a:pt x="38" y="358"/>
                  </a:lnTo>
                  <a:lnTo>
                    <a:pt x="39" y="349"/>
                  </a:lnTo>
                  <a:lnTo>
                    <a:pt x="39" y="340"/>
                  </a:lnTo>
                  <a:lnTo>
                    <a:pt x="40" y="332"/>
                  </a:lnTo>
                  <a:lnTo>
                    <a:pt x="41" y="312"/>
                  </a:lnTo>
                  <a:lnTo>
                    <a:pt x="43" y="291"/>
                  </a:lnTo>
                  <a:lnTo>
                    <a:pt x="45" y="269"/>
                  </a:lnTo>
                  <a:lnTo>
                    <a:pt x="46" y="245"/>
                  </a:lnTo>
                  <a:lnTo>
                    <a:pt x="48" y="223"/>
                  </a:lnTo>
                  <a:lnTo>
                    <a:pt x="48" y="209"/>
                  </a:lnTo>
                  <a:lnTo>
                    <a:pt x="49" y="196"/>
                  </a:lnTo>
                  <a:lnTo>
                    <a:pt x="49" y="181"/>
                  </a:lnTo>
                  <a:lnTo>
                    <a:pt x="50" y="166"/>
                  </a:lnTo>
                  <a:lnTo>
                    <a:pt x="50" y="151"/>
                  </a:lnTo>
                  <a:lnTo>
                    <a:pt x="50" y="135"/>
                  </a:lnTo>
                  <a:lnTo>
                    <a:pt x="51" y="104"/>
                  </a:lnTo>
                  <a:lnTo>
                    <a:pt x="52" y="89"/>
                  </a:lnTo>
                  <a:lnTo>
                    <a:pt x="52" y="72"/>
                  </a:lnTo>
                  <a:lnTo>
                    <a:pt x="52" y="58"/>
                  </a:lnTo>
                  <a:lnTo>
                    <a:pt x="52" y="44"/>
                  </a:lnTo>
                  <a:lnTo>
                    <a:pt x="54" y="31"/>
                  </a:lnTo>
                  <a:lnTo>
                    <a:pt x="54" y="19"/>
                  </a:lnTo>
                  <a:lnTo>
                    <a:pt x="54" y="8"/>
                  </a:lnTo>
                  <a:lnTo>
                    <a:pt x="54" y="4"/>
                  </a:lnTo>
                  <a:lnTo>
                    <a:pt x="55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39" name="Freeform 407"/>
            <p:cNvSpPr>
              <a:spLocks/>
            </p:cNvSpPr>
            <p:nvPr/>
          </p:nvSpPr>
          <p:spPr bwMode="auto">
            <a:xfrm>
              <a:off x="4254" y="1389"/>
              <a:ext cx="37" cy="223"/>
            </a:xfrm>
            <a:custGeom>
              <a:avLst/>
              <a:gdLst>
                <a:gd name="T0" fmla="*/ 0 w 37"/>
                <a:gd name="T1" fmla="*/ 442 h 447"/>
                <a:gd name="T2" fmla="*/ 0 w 37"/>
                <a:gd name="T3" fmla="*/ 433 h 447"/>
                <a:gd name="T4" fmla="*/ 0 w 37"/>
                <a:gd name="T5" fmla="*/ 423 h 447"/>
                <a:gd name="T6" fmla="*/ 0 w 37"/>
                <a:gd name="T7" fmla="*/ 405 h 447"/>
                <a:gd name="T8" fmla="*/ 1 w 37"/>
                <a:gd name="T9" fmla="*/ 377 h 447"/>
                <a:gd name="T10" fmla="*/ 2 w 37"/>
                <a:gd name="T11" fmla="*/ 345 h 447"/>
                <a:gd name="T12" fmla="*/ 4 w 37"/>
                <a:gd name="T13" fmla="*/ 296 h 447"/>
                <a:gd name="T14" fmla="*/ 5 w 37"/>
                <a:gd name="T15" fmla="*/ 263 h 447"/>
                <a:gd name="T16" fmla="*/ 5 w 37"/>
                <a:gd name="T17" fmla="*/ 235 h 447"/>
                <a:gd name="T18" fmla="*/ 6 w 37"/>
                <a:gd name="T19" fmla="*/ 199 h 447"/>
                <a:gd name="T20" fmla="*/ 7 w 37"/>
                <a:gd name="T21" fmla="*/ 155 h 447"/>
                <a:gd name="T22" fmla="*/ 10 w 37"/>
                <a:gd name="T23" fmla="*/ 113 h 447"/>
                <a:gd name="T24" fmla="*/ 10 w 37"/>
                <a:gd name="T25" fmla="*/ 95 h 447"/>
                <a:gd name="T26" fmla="*/ 11 w 37"/>
                <a:gd name="T27" fmla="*/ 77 h 447"/>
                <a:gd name="T28" fmla="*/ 12 w 37"/>
                <a:gd name="T29" fmla="*/ 62 h 447"/>
                <a:gd name="T30" fmla="*/ 13 w 37"/>
                <a:gd name="T31" fmla="*/ 37 h 447"/>
                <a:gd name="T32" fmla="*/ 13 w 37"/>
                <a:gd name="T33" fmla="*/ 27 h 447"/>
                <a:gd name="T34" fmla="*/ 15 w 37"/>
                <a:gd name="T35" fmla="*/ 16 h 447"/>
                <a:gd name="T36" fmla="*/ 16 w 37"/>
                <a:gd name="T37" fmla="*/ 9 h 447"/>
                <a:gd name="T38" fmla="*/ 16 w 37"/>
                <a:gd name="T39" fmla="*/ 4 h 447"/>
                <a:gd name="T40" fmla="*/ 17 w 37"/>
                <a:gd name="T41" fmla="*/ 0 h 447"/>
                <a:gd name="T42" fmla="*/ 18 w 37"/>
                <a:gd name="T43" fmla="*/ 0 h 447"/>
                <a:gd name="T44" fmla="*/ 18 w 37"/>
                <a:gd name="T45" fmla="*/ 0 h 447"/>
                <a:gd name="T46" fmla="*/ 19 w 37"/>
                <a:gd name="T47" fmla="*/ 4 h 447"/>
                <a:gd name="T48" fmla="*/ 19 w 37"/>
                <a:gd name="T49" fmla="*/ 9 h 447"/>
                <a:gd name="T50" fmla="*/ 21 w 37"/>
                <a:gd name="T51" fmla="*/ 18 h 447"/>
                <a:gd name="T52" fmla="*/ 22 w 37"/>
                <a:gd name="T53" fmla="*/ 27 h 447"/>
                <a:gd name="T54" fmla="*/ 22 w 37"/>
                <a:gd name="T55" fmla="*/ 37 h 447"/>
                <a:gd name="T56" fmla="*/ 24 w 37"/>
                <a:gd name="T57" fmla="*/ 62 h 447"/>
                <a:gd name="T58" fmla="*/ 24 w 37"/>
                <a:gd name="T59" fmla="*/ 77 h 447"/>
                <a:gd name="T60" fmla="*/ 26 w 37"/>
                <a:gd name="T61" fmla="*/ 95 h 447"/>
                <a:gd name="T62" fmla="*/ 27 w 37"/>
                <a:gd name="T63" fmla="*/ 113 h 447"/>
                <a:gd name="T64" fmla="*/ 29 w 37"/>
                <a:gd name="T65" fmla="*/ 153 h 447"/>
                <a:gd name="T66" fmla="*/ 30 w 37"/>
                <a:gd name="T67" fmla="*/ 199 h 447"/>
                <a:gd name="T68" fmla="*/ 32 w 37"/>
                <a:gd name="T69" fmla="*/ 235 h 447"/>
                <a:gd name="T70" fmla="*/ 33 w 37"/>
                <a:gd name="T71" fmla="*/ 263 h 447"/>
                <a:gd name="T72" fmla="*/ 33 w 37"/>
                <a:gd name="T73" fmla="*/ 293 h 447"/>
                <a:gd name="T74" fmla="*/ 34 w 37"/>
                <a:gd name="T75" fmla="*/ 341 h 447"/>
                <a:gd name="T76" fmla="*/ 34 w 37"/>
                <a:gd name="T77" fmla="*/ 372 h 447"/>
                <a:gd name="T78" fmla="*/ 35 w 37"/>
                <a:gd name="T79" fmla="*/ 400 h 447"/>
                <a:gd name="T80" fmla="*/ 35 w 37"/>
                <a:gd name="T81" fmla="*/ 426 h 447"/>
                <a:gd name="T82" fmla="*/ 35 w 37"/>
                <a:gd name="T83" fmla="*/ 44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7" h="447">
                  <a:moveTo>
                    <a:pt x="0" y="447"/>
                  </a:moveTo>
                  <a:lnTo>
                    <a:pt x="0" y="442"/>
                  </a:lnTo>
                  <a:lnTo>
                    <a:pt x="0" y="438"/>
                  </a:lnTo>
                  <a:lnTo>
                    <a:pt x="0" y="433"/>
                  </a:lnTo>
                  <a:lnTo>
                    <a:pt x="0" y="429"/>
                  </a:lnTo>
                  <a:lnTo>
                    <a:pt x="0" y="423"/>
                  </a:lnTo>
                  <a:lnTo>
                    <a:pt x="0" y="417"/>
                  </a:lnTo>
                  <a:lnTo>
                    <a:pt x="0" y="405"/>
                  </a:lnTo>
                  <a:lnTo>
                    <a:pt x="1" y="391"/>
                  </a:lnTo>
                  <a:lnTo>
                    <a:pt x="1" y="377"/>
                  </a:lnTo>
                  <a:lnTo>
                    <a:pt x="1" y="360"/>
                  </a:lnTo>
                  <a:lnTo>
                    <a:pt x="2" y="345"/>
                  </a:lnTo>
                  <a:lnTo>
                    <a:pt x="2" y="313"/>
                  </a:lnTo>
                  <a:lnTo>
                    <a:pt x="4" y="296"/>
                  </a:lnTo>
                  <a:lnTo>
                    <a:pt x="4" y="280"/>
                  </a:lnTo>
                  <a:lnTo>
                    <a:pt x="5" y="263"/>
                  </a:lnTo>
                  <a:lnTo>
                    <a:pt x="5" y="250"/>
                  </a:lnTo>
                  <a:lnTo>
                    <a:pt x="5" y="235"/>
                  </a:lnTo>
                  <a:lnTo>
                    <a:pt x="6" y="223"/>
                  </a:lnTo>
                  <a:lnTo>
                    <a:pt x="6" y="199"/>
                  </a:lnTo>
                  <a:lnTo>
                    <a:pt x="7" y="177"/>
                  </a:lnTo>
                  <a:lnTo>
                    <a:pt x="7" y="155"/>
                  </a:lnTo>
                  <a:lnTo>
                    <a:pt x="8" y="132"/>
                  </a:lnTo>
                  <a:lnTo>
                    <a:pt x="10" y="113"/>
                  </a:lnTo>
                  <a:lnTo>
                    <a:pt x="10" y="104"/>
                  </a:lnTo>
                  <a:lnTo>
                    <a:pt x="10" y="95"/>
                  </a:lnTo>
                  <a:lnTo>
                    <a:pt x="11" y="86"/>
                  </a:lnTo>
                  <a:lnTo>
                    <a:pt x="11" y="77"/>
                  </a:lnTo>
                  <a:lnTo>
                    <a:pt x="11" y="70"/>
                  </a:lnTo>
                  <a:lnTo>
                    <a:pt x="12" y="62"/>
                  </a:lnTo>
                  <a:lnTo>
                    <a:pt x="12" y="49"/>
                  </a:lnTo>
                  <a:lnTo>
                    <a:pt x="13" y="37"/>
                  </a:lnTo>
                  <a:lnTo>
                    <a:pt x="13" y="31"/>
                  </a:lnTo>
                  <a:lnTo>
                    <a:pt x="13" y="27"/>
                  </a:lnTo>
                  <a:lnTo>
                    <a:pt x="15" y="21"/>
                  </a:lnTo>
                  <a:lnTo>
                    <a:pt x="15" y="16"/>
                  </a:lnTo>
                  <a:lnTo>
                    <a:pt x="15" y="13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6" y="4"/>
                  </a:lnTo>
                  <a:lnTo>
                    <a:pt x="17" y="1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1"/>
                  </a:lnTo>
                  <a:lnTo>
                    <a:pt x="19" y="4"/>
                  </a:lnTo>
                  <a:lnTo>
                    <a:pt x="19" y="6"/>
                  </a:lnTo>
                  <a:lnTo>
                    <a:pt x="19" y="9"/>
                  </a:lnTo>
                  <a:lnTo>
                    <a:pt x="21" y="13"/>
                  </a:lnTo>
                  <a:lnTo>
                    <a:pt x="21" y="18"/>
                  </a:lnTo>
                  <a:lnTo>
                    <a:pt x="21" y="22"/>
                  </a:lnTo>
                  <a:lnTo>
                    <a:pt x="22" y="27"/>
                  </a:lnTo>
                  <a:lnTo>
                    <a:pt x="22" y="31"/>
                  </a:lnTo>
                  <a:lnTo>
                    <a:pt x="22" y="37"/>
                  </a:lnTo>
                  <a:lnTo>
                    <a:pt x="23" y="49"/>
                  </a:lnTo>
                  <a:lnTo>
                    <a:pt x="24" y="62"/>
                  </a:lnTo>
                  <a:lnTo>
                    <a:pt x="24" y="70"/>
                  </a:lnTo>
                  <a:lnTo>
                    <a:pt x="24" y="77"/>
                  </a:lnTo>
                  <a:lnTo>
                    <a:pt x="26" y="86"/>
                  </a:lnTo>
                  <a:lnTo>
                    <a:pt x="26" y="95"/>
                  </a:lnTo>
                  <a:lnTo>
                    <a:pt x="26" y="104"/>
                  </a:lnTo>
                  <a:lnTo>
                    <a:pt x="27" y="113"/>
                  </a:lnTo>
                  <a:lnTo>
                    <a:pt x="28" y="132"/>
                  </a:lnTo>
                  <a:lnTo>
                    <a:pt x="29" y="153"/>
                  </a:lnTo>
                  <a:lnTo>
                    <a:pt x="29" y="176"/>
                  </a:lnTo>
                  <a:lnTo>
                    <a:pt x="30" y="199"/>
                  </a:lnTo>
                  <a:lnTo>
                    <a:pt x="32" y="223"/>
                  </a:lnTo>
                  <a:lnTo>
                    <a:pt x="32" y="235"/>
                  </a:lnTo>
                  <a:lnTo>
                    <a:pt x="32" y="249"/>
                  </a:lnTo>
                  <a:lnTo>
                    <a:pt x="33" y="263"/>
                  </a:lnTo>
                  <a:lnTo>
                    <a:pt x="33" y="278"/>
                  </a:lnTo>
                  <a:lnTo>
                    <a:pt x="33" y="293"/>
                  </a:lnTo>
                  <a:lnTo>
                    <a:pt x="34" y="310"/>
                  </a:lnTo>
                  <a:lnTo>
                    <a:pt x="34" y="341"/>
                  </a:lnTo>
                  <a:lnTo>
                    <a:pt x="34" y="356"/>
                  </a:lnTo>
                  <a:lnTo>
                    <a:pt x="34" y="372"/>
                  </a:lnTo>
                  <a:lnTo>
                    <a:pt x="35" y="387"/>
                  </a:lnTo>
                  <a:lnTo>
                    <a:pt x="35" y="400"/>
                  </a:lnTo>
                  <a:lnTo>
                    <a:pt x="35" y="414"/>
                  </a:lnTo>
                  <a:lnTo>
                    <a:pt x="35" y="426"/>
                  </a:lnTo>
                  <a:lnTo>
                    <a:pt x="35" y="436"/>
                  </a:lnTo>
                  <a:lnTo>
                    <a:pt x="35" y="441"/>
                  </a:lnTo>
                  <a:lnTo>
                    <a:pt x="37" y="447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40" name="Freeform 408"/>
            <p:cNvSpPr>
              <a:spLocks/>
            </p:cNvSpPr>
            <p:nvPr/>
          </p:nvSpPr>
          <p:spPr bwMode="auto">
            <a:xfrm>
              <a:off x="4327" y="1389"/>
              <a:ext cx="37" cy="223"/>
            </a:xfrm>
            <a:custGeom>
              <a:avLst/>
              <a:gdLst>
                <a:gd name="T0" fmla="*/ 0 w 37"/>
                <a:gd name="T1" fmla="*/ 442 h 447"/>
                <a:gd name="T2" fmla="*/ 0 w 37"/>
                <a:gd name="T3" fmla="*/ 433 h 447"/>
                <a:gd name="T4" fmla="*/ 0 w 37"/>
                <a:gd name="T5" fmla="*/ 423 h 447"/>
                <a:gd name="T6" fmla="*/ 0 w 37"/>
                <a:gd name="T7" fmla="*/ 405 h 447"/>
                <a:gd name="T8" fmla="*/ 2 w 37"/>
                <a:gd name="T9" fmla="*/ 377 h 447"/>
                <a:gd name="T10" fmla="*/ 3 w 37"/>
                <a:gd name="T11" fmla="*/ 345 h 447"/>
                <a:gd name="T12" fmla="*/ 4 w 37"/>
                <a:gd name="T13" fmla="*/ 296 h 447"/>
                <a:gd name="T14" fmla="*/ 5 w 37"/>
                <a:gd name="T15" fmla="*/ 263 h 447"/>
                <a:gd name="T16" fmla="*/ 5 w 37"/>
                <a:gd name="T17" fmla="*/ 235 h 447"/>
                <a:gd name="T18" fmla="*/ 7 w 37"/>
                <a:gd name="T19" fmla="*/ 199 h 447"/>
                <a:gd name="T20" fmla="*/ 8 w 37"/>
                <a:gd name="T21" fmla="*/ 155 h 447"/>
                <a:gd name="T22" fmla="*/ 10 w 37"/>
                <a:gd name="T23" fmla="*/ 113 h 447"/>
                <a:gd name="T24" fmla="*/ 10 w 37"/>
                <a:gd name="T25" fmla="*/ 95 h 447"/>
                <a:gd name="T26" fmla="*/ 11 w 37"/>
                <a:gd name="T27" fmla="*/ 77 h 447"/>
                <a:gd name="T28" fmla="*/ 13 w 37"/>
                <a:gd name="T29" fmla="*/ 62 h 447"/>
                <a:gd name="T30" fmla="*/ 14 w 37"/>
                <a:gd name="T31" fmla="*/ 37 h 447"/>
                <a:gd name="T32" fmla="*/ 14 w 37"/>
                <a:gd name="T33" fmla="*/ 27 h 447"/>
                <a:gd name="T34" fmla="*/ 15 w 37"/>
                <a:gd name="T35" fmla="*/ 16 h 447"/>
                <a:gd name="T36" fmla="*/ 16 w 37"/>
                <a:gd name="T37" fmla="*/ 9 h 447"/>
                <a:gd name="T38" fmla="*/ 16 w 37"/>
                <a:gd name="T39" fmla="*/ 4 h 447"/>
                <a:gd name="T40" fmla="*/ 18 w 37"/>
                <a:gd name="T41" fmla="*/ 0 h 447"/>
                <a:gd name="T42" fmla="*/ 19 w 37"/>
                <a:gd name="T43" fmla="*/ 0 h 447"/>
                <a:gd name="T44" fmla="*/ 19 w 37"/>
                <a:gd name="T45" fmla="*/ 0 h 447"/>
                <a:gd name="T46" fmla="*/ 20 w 37"/>
                <a:gd name="T47" fmla="*/ 4 h 447"/>
                <a:gd name="T48" fmla="*/ 20 w 37"/>
                <a:gd name="T49" fmla="*/ 9 h 447"/>
                <a:gd name="T50" fmla="*/ 21 w 37"/>
                <a:gd name="T51" fmla="*/ 18 h 447"/>
                <a:gd name="T52" fmla="*/ 22 w 37"/>
                <a:gd name="T53" fmla="*/ 27 h 447"/>
                <a:gd name="T54" fmla="*/ 22 w 37"/>
                <a:gd name="T55" fmla="*/ 37 h 447"/>
                <a:gd name="T56" fmla="*/ 25 w 37"/>
                <a:gd name="T57" fmla="*/ 62 h 447"/>
                <a:gd name="T58" fmla="*/ 25 w 37"/>
                <a:gd name="T59" fmla="*/ 77 h 447"/>
                <a:gd name="T60" fmla="*/ 26 w 37"/>
                <a:gd name="T61" fmla="*/ 95 h 447"/>
                <a:gd name="T62" fmla="*/ 27 w 37"/>
                <a:gd name="T63" fmla="*/ 113 h 447"/>
                <a:gd name="T64" fmla="*/ 30 w 37"/>
                <a:gd name="T65" fmla="*/ 153 h 447"/>
                <a:gd name="T66" fmla="*/ 31 w 37"/>
                <a:gd name="T67" fmla="*/ 199 h 447"/>
                <a:gd name="T68" fmla="*/ 32 w 37"/>
                <a:gd name="T69" fmla="*/ 235 h 447"/>
                <a:gd name="T70" fmla="*/ 33 w 37"/>
                <a:gd name="T71" fmla="*/ 263 h 447"/>
                <a:gd name="T72" fmla="*/ 33 w 37"/>
                <a:gd name="T73" fmla="*/ 293 h 447"/>
                <a:gd name="T74" fmla="*/ 35 w 37"/>
                <a:gd name="T75" fmla="*/ 341 h 447"/>
                <a:gd name="T76" fmla="*/ 35 w 37"/>
                <a:gd name="T77" fmla="*/ 372 h 447"/>
                <a:gd name="T78" fmla="*/ 36 w 37"/>
                <a:gd name="T79" fmla="*/ 400 h 447"/>
                <a:gd name="T80" fmla="*/ 36 w 37"/>
                <a:gd name="T81" fmla="*/ 426 h 447"/>
                <a:gd name="T82" fmla="*/ 36 w 37"/>
                <a:gd name="T83" fmla="*/ 44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7" h="447">
                  <a:moveTo>
                    <a:pt x="0" y="447"/>
                  </a:moveTo>
                  <a:lnTo>
                    <a:pt x="0" y="442"/>
                  </a:lnTo>
                  <a:lnTo>
                    <a:pt x="0" y="438"/>
                  </a:lnTo>
                  <a:lnTo>
                    <a:pt x="0" y="433"/>
                  </a:lnTo>
                  <a:lnTo>
                    <a:pt x="0" y="429"/>
                  </a:lnTo>
                  <a:lnTo>
                    <a:pt x="0" y="423"/>
                  </a:lnTo>
                  <a:lnTo>
                    <a:pt x="0" y="417"/>
                  </a:lnTo>
                  <a:lnTo>
                    <a:pt x="0" y="405"/>
                  </a:lnTo>
                  <a:lnTo>
                    <a:pt x="2" y="391"/>
                  </a:lnTo>
                  <a:lnTo>
                    <a:pt x="2" y="377"/>
                  </a:lnTo>
                  <a:lnTo>
                    <a:pt x="2" y="360"/>
                  </a:lnTo>
                  <a:lnTo>
                    <a:pt x="3" y="345"/>
                  </a:lnTo>
                  <a:lnTo>
                    <a:pt x="3" y="313"/>
                  </a:lnTo>
                  <a:lnTo>
                    <a:pt x="4" y="296"/>
                  </a:lnTo>
                  <a:lnTo>
                    <a:pt x="4" y="280"/>
                  </a:lnTo>
                  <a:lnTo>
                    <a:pt x="5" y="263"/>
                  </a:lnTo>
                  <a:lnTo>
                    <a:pt x="5" y="250"/>
                  </a:lnTo>
                  <a:lnTo>
                    <a:pt x="5" y="235"/>
                  </a:lnTo>
                  <a:lnTo>
                    <a:pt x="7" y="223"/>
                  </a:lnTo>
                  <a:lnTo>
                    <a:pt x="7" y="199"/>
                  </a:lnTo>
                  <a:lnTo>
                    <a:pt x="8" y="177"/>
                  </a:lnTo>
                  <a:lnTo>
                    <a:pt x="8" y="155"/>
                  </a:lnTo>
                  <a:lnTo>
                    <a:pt x="9" y="132"/>
                  </a:lnTo>
                  <a:lnTo>
                    <a:pt x="10" y="113"/>
                  </a:lnTo>
                  <a:lnTo>
                    <a:pt x="10" y="104"/>
                  </a:lnTo>
                  <a:lnTo>
                    <a:pt x="10" y="95"/>
                  </a:lnTo>
                  <a:lnTo>
                    <a:pt x="11" y="86"/>
                  </a:lnTo>
                  <a:lnTo>
                    <a:pt x="11" y="77"/>
                  </a:lnTo>
                  <a:lnTo>
                    <a:pt x="11" y="70"/>
                  </a:lnTo>
                  <a:lnTo>
                    <a:pt x="13" y="62"/>
                  </a:lnTo>
                  <a:lnTo>
                    <a:pt x="13" y="49"/>
                  </a:lnTo>
                  <a:lnTo>
                    <a:pt x="14" y="37"/>
                  </a:lnTo>
                  <a:lnTo>
                    <a:pt x="14" y="31"/>
                  </a:lnTo>
                  <a:lnTo>
                    <a:pt x="14" y="27"/>
                  </a:lnTo>
                  <a:lnTo>
                    <a:pt x="15" y="21"/>
                  </a:lnTo>
                  <a:lnTo>
                    <a:pt x="15" y="16"/>
                  </a:lnTo>
                  <a:lnTo>
                    <a:pt x="15" y="13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6" y="4"/>
                  </a:lnTo>
                  <a:lnTo>
                    <a:pt x="18" y="1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1"/>
                  </a:lnTo>
                  <a:lnTo>
                    <a:pt x="20" y="4"/>
                  </a:lnTo>
                  <a:lnTo>
                    <a:pt x="20" y="6"/>
                  </a:lnTo>
                  <a:lnTo>
                    <a:pt x="20" y="9"/>
                  </a:lnTo>
                  <a:lnTo>
                    <a:pt x="21" y="13"/>
                  </a:lnTo>
                  <a:lnTo>
                    <a:pt x="21" y="18"/>
                  </a:lnTo>
                  <a:lnTo>
                    <a:pt x="21" y="22"/>
                  </a:lnTo>
                  <a:lnTo>
                    <a:pt x="22" y="27"/>
                  </a:lnTo>
                  <a:lnTo>
                    <a:pt x="22" y="31"/>
                  </a:lnTo>
                  <a:lnTo>
                    <a:pt x="22" y="37"/>
                  </a:lnTo>
                  <a:lnTo>
                    <a:pt x="24" y="49"/>
                  </a:lnTo>
                  <a:lnTo>
                    <a:pt x="25" y="62"/>
                  </a:lnTo>
                  <a:lnTo>
                    <a:pt x="25" y="70"/>
                  </a:lnTo>
                  <a:lnTo>
                    <a:pt x="25" y="77"/>
                  </a:lnTo>
                  <a:lnTo>
                    <a:pt x="26" y="86"/>
                  </a:lnTo>
                  <a:lnTo>
                    <a:pt x="26" y="95"/>
                  </a:lnTo>
                  <a:lnTo>
                    <a:pt x="26" y="104"/>
                  </a:lnTo>
                  <a:lnTo>
                    <a:pt x="27" y="113"/>
                  </a:lnTo>
                  <a:lnTo>
                    <a:pt x="29" y="132"/>
                  </a:lnTo>
                  <a:lnTo>
                    <a:pt x="30" y="153"/>
                  </a:lnTo>
                  <a:lnTo>
                    <a:pt x="30" y="176"/>
                  </a:lnTo>
                  <a:lnTo>
                    <a:pt x="31" y="199"/>
                  </a:lnTo>
                  <a:lnTo>
                    <a:pt x="32" y="223"/>
                  </a:lnTo>
                  <a:lnTo>
                    <a:pt x="32" y="235"/>
                  </a:lnTo>
                  <a:lnTo>
                    <a:pt x="32" y="249"/>
                  </a:lnTo>
                  <a:lnTo>
                    <a:pt x="33" y="263"/>
                  </a:lnTo>
                  <a:lnTo>
                    <a:pt x="33" y="278"/>
                  </a:lnTo>
                  <a:lnTo>
                    <a:pt x="33" y="293"/>
                  </a:lnTo>
                  <a:lnTo>
                    <a:pt x="35" y="310"/>
                  </a:lnTo>
                  <a:lnTo>
                    <a:pt x="35" y="341"/>
                  </a:lnTo>
                  <a:lnTo>
                    <a:pt x="35" y="356"/>
                  </a:lnTo>
                  <a:lnTo>
                    <a:pt x="35" y="372"/>
                  </a:lnTo>
                  <a:lnTo>
                    <a:pt x="36" y="387"/>
                  </a:lnTo>
                  <a:lnTo>
                    <a:pt x="36" y="400"/>
                  </a:lnTo>
                  <a:lnTo>
                    <a:pt x="36" y="414"/>
                  </a:lnTo>
                  <a:lnTo>
                    <a:pt x="36" y="426"/>
                  </a:lnTo>
                  <a:lnTo>
                    <a:pt x="36" y="436"/>
                  </a:lnTo>
                  <a:lnTo>
                    <a:pt x="36" y="441"/>
                  </a:lnTo>
                  <a:lnTo>
                    <a:pt x="37" y="447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41" name="Freeform 409"/>
            <p:cNvSpPr>
              <a:spLocks/>
            </p:cNvSpPr>
            <p:nvPr/>
          </p:nvSpPr>
          <p:spPr bwMode="auto">
            <a:xfrm>
              <a:off x="4401" y="1389"/>
              <a:ext cx="37" cy="223"/>
            </a:xfrm>
            <a:custGeom>
              <a:avLst/>
              <a:gdLst>
                <a:gd name="T0" fmla="*/ 0 w 37"/>
                <a:gd name="T1" fmla="*/ 442 h 447"/>
                <a:gd name="T2" fmla="*/ 0 w 37"/>
                <a:gd name="T3" fmla="*/ 433 h 447"/>
                <a:gd name="T4" fmla="*/ 0 w 37"/>
                <a:gd name="T5" fmla="*/ 423 h 447"/>
                <a:gd name="T6" fmla="*/ 0 w 37"/>
                <a:gd name="T7" fmla="*/ 405 h 447"/>
                <a:gd name="T8" fmla="*/ 1 w 37"/>
                <a:gd name="T9" fmla="*/ 377 h 447"/>
                <a:gd name="T10" fmla="*/ 2 w 37"/>
                <a:gd name="T11" fmla="*/ 345 h 447"/>
                <a:gd name="T12" fmla="*/ 4 w 37"/>
                <a:gd name="T13" fmla="*/ 296 h 447"/>
                <a:gd name="T14" fmla="*/ 5 w 37"/>
                <a:gd name="T15" fmla="*/ 263 h 447"/>
                <a:gd name="T16" fmla="*/ 5 w 37"/>
                <a:gd name="T17" fmla="*/ 235 h 447"/>
                <a:gd name="T18" fmla="*/ 6 w 37"/>
                <a:gd name="T19" fmla="*/ 199 h 447"/>
                <a:gd name="T20" fmla="*/ 7 w 37"/>
                <a:gd name="T21" fmla="*/ 155 h 447"/>
                <a:gd name="T22" fmla="*/ 10 w 37"/>
                <a:gd name="T23" fmla="*/ 113 h 447"/>
                <a:gd name="T24" fmla="*/ 10 w 37"/>
                <a:gd name="T25" fmla="*/ 95 h 447"/>
                <a:gd name="T26" fmla="*/ 11 w 37"/>
                <a:gd name="T27" fmla="*/ 77 h 447"/>
                <a:gd name="T28" fmla="*/ 12 w 37"/>
                <a:gd name="T29" fmla="*/ 62 h 447"/>
                <a:gd name="T30" fmla="*/ 13 w 37"/>
                <a:gd name="T31" fmla="*/ 37 h 447"/>
                <a:gd name="T32" fmla="*/ 13 w 37"/>
                <a:gd name="T33" fmla="*/ 27 h 447"/>
                <a:gd name="T34" fmla="*/ 15 w 37"/>
                <a:gd name="T35" fmla="*/ 16 h 447"/>
                <a:gd name="T36" fmla="*/ 16 w 37"/>
                <a:gd name="T37" fmla="*/ 9 h 447"/>
                <a:gd name="T38" fmla="*/ 16 w 37"/>
                <a:gd name="T39" fmla="*/ 4 h 447"/>
                <a:gd name="T40" fmla="*/ 17 w 37"/>
                <a:gd name="T41" fmla="*/ 0 h 447"/>
                <a:gd name="T42" fmla="*/ 18 w 37"/>
                <a:gd name="T43" fmla="*/ 0 h 447"/>
                <a:gd name="T44" fmla="*/ 18 w 37"/>
                <a:gd name="T45" fmla="*/ 0 h 447"/>
                <a:gd name="T46" fmla="*/ 20 w 37"/>
                <a:gd name="T47" fmla="*/ 4 h 447"/>
                <a:gd name="T48" fmla="*/ 20 w 37"/>
                <a:gd name="T49" fmla="*/ 9 h 447"/>
                <a:gd name="T50" fmla="*/ 21 w 37"/>
                <a:gd name="T51" fmla="*/ 18 h 447"/>
                <a:gd name="T52" fmla="*/ 22 w 37"/>
                <a:gd name="T53" fmla="*/ 27 h 447"/>
                <a:gd name="T54" fmla="*/ 22 w 37"/>
                <a:gd name="T55" fmla="*/ 37 h 447"/>
                <a:gd name="T56" fmla="*/ 24 w 37"/>
                <a:gd name="T57" fmla="*/ 62 h 447"/>
                <a:gd name="T58" fmla="*/ 24 w 37"/>
                <a:gd name="T59" fmla="*/ 77 h 447"/>
                <a:gd name="T60" fmla="*/ 26 w 37"/>
                <a:gd name="T61" fmla="*/ 95 h 447"/>
                <a:gd name="T62" fmla="*/ 27 w 37"/>
                <a:gd name="T63" fmla="*/ 113 h 447"/>
                <a:gd name="T64" fmla="*/ 29 w 37"/>
                <a:gd name="T65" fmla="*/ 153 h 447"/>
                <a:gd name="T66" fmla="*/ 31 w 37"/>
                <a:gd name="T67" fmla="*/ 199 h 447"/>
                <a:gd name="T68" fmla="*/ 32 w 37"/>
                <a:gd name="T69" fmla="*/ 235 h 447"/>
                <a:gd name="T70" fmla="*/ 33 w 37"/>
                <a:gd name="T71" fmla="*/ 263 h 447"/>
                <a:gd name="T72" fmla="*/ 33 w 37"/>
                <a:gd name="T73" fmla="*/ 293 h 447"/>
                <a:gd name="T74" fmla="*/ 34 w 37"/>
                <a:gd name="T75" fmla="*/ 341 h 447"/>
                <a:gd name="T76" fmla="*/ 34 w 37"/>
                <a:gd name="T77" fmla="*/ 372 h 447"/>
                <a:gd name="T78" fmla="*/ 35 w 37"/>
                <a:gd name="T79" fmla="*/ 400 h 447"/>
                <a:gd name="T80" fmla="*/ 35 w 37"/>
                <a:gd name="T81" fmla="*/ 426 h 447"/>
                <a:gd name="T82" fmla="*/ 35 w 37"/>
                <a:gd name="T83" fmla="*/ 44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7" h="447">
                  <a:moveTo>
                    <a:pt x="0" y="447"/>
                  </a:moveTo>
                  <a:lnTo>
                    <a:pt x="0" y="442"/>
                  </a:lnTo>
                  <a:lnTo>
                    <a:pt x="0" y="438"/>
                  </a:lnTo>
                  <a:lnTo>
                    <a:pt x="0" y="433"/>
                  </a:lnTo>
                  <a:lnTo>
                    <a:pt x="0" y="429"/>
                  </a:lnTo>
                  <a:lnTo>
                    <a:pt x="0" y="423"/>
                  </a:lnTo>
                  <a:lnTo>
                    <a:pt x="0" y="417"/>
                  </a:lnTo>
                  <a:lnTo>
                    <a:pt x="0" y="405"/>
                  </a:lnTo>
                  <a:lnTo>
                    <a:pt x="1" y="391"/>
                  </a:lnTo>
                  <a:lnTo>
                    <a:pt x="1" y="377"/>
                  </a:lnTo>
                  <a:lnTo>
                    <a:pt x="1" y="360"/>
                  </a:lnTo>
                  <a:lnTo>
                    <a:pt x="2" y="345"/>
                  </a:lnTo>
                  <a:lnTo>
                    <a:pt x="2" y="313"/>
                  </a:lnTo>
                  <a:lnTo>
                    <a:pt x="4" y="296"/>
                  </a:lnTo>
                  <a:lnTo>
                    <a:pt x="4" y="280"/>
                  </a:lnTo>
                  <a:lnTo>
                    <a:pt x="5" y="263"/>
                  </a:lnTo>
                  <a:lnTo>
                    <a:pt x="5" y="250"/>
                  </a:lnTo>
                  <a:lnTo>
                    <a:pt x="5" y="235"/>
                  </a:lnTo>
                  <a:lnTo>
                    <a:pt x="6" y="223"/>
                  </a:lnTo>
                  <a:lnTo>
                    <a:pt x="6" y="199"/>
                  </a:lnTo>
                  <a:lnTo>
                    <a:pt x="7" y="177"/>
                  </a:lnTo>
                  <a:lnTo>
                    <a:pt x="7" y="155"/>
                  </a:lnTo>
                  <a:lnTo>
                    <a:pt x="9" y="132"/>
                  </a:lnTo>
                  <a:lnTo>
                    <a:pt x="10" y="113"/>
                  </a:lnTo>
                  <a:lnTo>
                    <a:pt x="10" y="104"/>
                  </a:lnTo>
                  <a:lnTo>
                    <a:pt x="10" y="95"/>
                  </a:lnTo>
                  <a:lnTo>
                    <a:pt x="11" y="86"/>
                  </a:lnTo>
                  <a:lnTo>
                    <a:pt x="11" y="77"/>
                  </a:lnTo>
                  <a:lnTo>
                    <a:pt x="11" y="70"/>
                  </a:lnTo>
                  <a:lnTo>
                    <a:pt x="12" y="62"/>
                  </a:lnTo>
                  <a:lnTo>
                    <a:pt x="12" y="49"/>
                  </a:lnTo>
                  <a:lnTo>
                    <a:pt x="13" y="37"/>
                  </a:lnTo>
                  <a:lnTo>
                    <a:pt x="13" y="31"/>
                  </a:lnTo>
                  <a:lnTo>
                    <a:pt x="13" y="27"/>
                  </a:lnTo>
                  <a:lnTo>
                    <a:pt x="15" y="21"/>
                  </a:lnTo>
                  <a:lnTo>
                    <a:pt x="15" y="16"/>
                  </a:lnTo>
                  <a:lnTo>
                    <a:pt x="15" y="13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6" y="4"/>
                  </a:lnTo>
                  <a:lnTo>
                    <a:pt x="17" y="1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1"/>
                  </a:lnTo>
                  <a:lnTo>
                    <a:pt x="20" y="4"/>
                  </a:lnTo>
                  <a:lnTo>
                    <a:pt x="20" y="6"/>
                  </a:lnTo>
                  <a:lnTo>
                    <a:pt x="20" y="9"/>
                  </a:lnTo>
                  <a:lnTo>
                    <a:pt x="21" y="13"/>
                  </a:lnTo>
                  <a:lnTo>
                    <a:pt x="21" y="18"/>
                  </a:lnTo>
                  <a:lnTo>
                    <a:pt x="21" y="22"/>
                  </a:lnTo>
                  <a:lnTo>
                    <a:pt x="22" y="27"/>
                  </a:lnTo>
                  <a:lnTo>
                    <a:pt x="22" y="31"/>
                  </a:lnTo>
                  <a:lnTo>
                    <a:pt x="22" y="37"/>
                  </a:lnTo>
                  <a:lnTo>
                    <a:pt x="23" y="49"/>
                  </a:lnTo>
                  <a:lnTo>
                    <a:pt x="24" y="62"/>
                  </a:lnTo>
                  <a:lnTo>
                    <a:pt x="24" y="70"/>
                  </a:lnTo>
                  <a:lnTo>
                    <a:pt x="24" y="77"/>
                  </a:lnTo>
                  <a:lnTo>
                    <a:pt x="26" y="86"/>
                  </a:lnTo>
                  <a:lnTo>
                    <a:pt x="26" y="95"/>
                  </a:lnTo>
                  <a:lnTo>
                    <a:pt x="26" y="104"/>
                  </a:lnTo>
                  <a:lnTo>
                    <a:pt x="27" y="113"/>
                  </a:lnTo>
                  <a:lnTo>
                    <a:pt x="28" y="132"/>
                  </a:lnTo>
                  <a:lnTo>
                    <a:pt x="29" y="153"/>
                  </a:lnTo>
                  <a:lnTo>
                    <a:pt x="29" y="176"/>
                  </a:lnTo>
                  <a:lnTo>
                    <a:pt x="31" y="199"/>
                  </a:lnTo>
                  <a:lnTo>
                    <a:pt x="32" y="223"/>
                  </a:lnTo>
                  <a:lnTo>
                    <a:pt x="32" y="235"/>
                  </a:lnTo>
                  <a:lnTo>
                    <a:pt x="32" y="249"/>
                  </a:lnTo>
                  <a:lnTo>
                    <a:pt x="33" y="263"/>
                  </a:lnTo>
                  <a:lnTo>
                    <a:pt x="33" y="278"/>
                  </a:lnTo>
                  <a:lnTo>
                    <a:pt x="33" y="293"/>
                  </a:lnTo>
                  <a:lnTo>
                    <a:pt x="34" y="310"/>
                  </a:lnTo>
                  <a:lnTo>
                    <a:pt x="34" y="341"/>
                  </a:lnTo>
                  <a:lnTo>
                    <a:pt x="34" y="356"/>
                  </a:lnTo>
                  <a:lnTo>
                    <a:pt x="34" y="372"/>
                  </a:lnTo>
                  <a:lnTo>
                    <a:pt x="35" y="387"/>
                  </a:lnTo>
                  <a:lnTo>
                    <a:pt x="35" y="400"/>
                  </a:lnTo>
                  <a:lnTo>
                    <a:pt x="35" y="414"/>
                  </a:lnTo>
                  <a:lnTo>
                    <a:pt x="35" y="426"/>
                  </a:lnTo>
                  <a:lnTo>
                    <a:pt x="35" y="436"/>
                  </a:lnTo>
                  <a:lnTo>
                    <a:pt x="35" y="441"/>
                  </a:lnTo>
                  <a:lnTo>
                    <a:pt x="37" y="447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42" name="Freeform 410"/>
            <p:cNvSpPr>
              <a:spLocks/>
            </p:cNvSpPr>
            <p:nvPr/>
          </p:nvSpPr>
          <p:spPr bwMode="auto">
            <a:xfrm>
              <a:off x="4217" y="1612"/>
              <a:ext cx="37" cy="224"/>
            </a:xfrm>
            <a:custGeom>
              <a:avLst/>
              <a:gdLst>
                <a:gd name="T0" fmla="*/ 0 w 37"/>
                <a:gd name="T1" fmla="*/ 3 h 446"/>
                <a:gd name="T2" fmla="*/ 0 w 37"/>
                <a:gd name="T3" fmla="*/ 11 h 446"/>
                <a:gd name="T4" fmla="*/ 0 w 37"/>
                <a:gd name="T5" fmla="*/ 22 h 446"/>
                <a:gd name="T6" fmla="*/ 0 w 37"/>
                <a:gd name="T7" fmla="*/ 40 h 446"/>
                <a:gd name="T8" fmla="*/ 1 w 37"/>
                <a:gd name="T9" fmla="*/ 70 h 446"/>
                <a:gd name="T10" fmla="*/ 2 w 37"/>
                <a:gd name="T11" fmla="*/ 101 h 446"/>
                <a:gd name="T12" fmla="*/ 4 w 37"/>
                <a:gd name="T13" fmla="*/ 150 h 446"/>
                <a:gd name="T14" fmla="*/ 5 w 37"/>
                <a:gd name="T15" fmla="*/ 181 h 446"/>
                <a:gd name="T16" fmla="*/ 5 w 37"/>
                <a:gd name="T17" fmla="*/ 209 h 446"/>
                <a:gd name="T18" fmla="*/ 6 w 37"/>
                <a:gd name="T19" fmla="*/ 245 h 446"/>
                <a:gd name="T20" fmla="*/ 7 w 37"/>
                <a:gd name="T21" fmla="*/ 290 h 446"/>
                <a:gd name="T22" fmla="*/ 10 w 37"/>
                <a:gd name="T23" fmla="*/ 332 h 446"/>
                <a:gd name="T24" fmla="*/ 10 w 37"/>
                <a:gd name="T25" fmla="*/ 349 h 446"/>
                <a:gd name="T26" fmla="*/ 11 w 37"/>
                <a:gd name="T27" fmla="*/ 367 h 446"/>
                <a:gd name="T28" fmla="*/ 12 w 37"/>
                <a:gd name="T29" fmla="*/ 382 h 446"/>
                <a:gd name="T30" fmla="*/ 14 w 37"/>
                <a:gd name="T31" fmla="*/ 407 h 446"/>
                <a:gd name="T32" fmla="*/ 14 w 37"/>
                <a:gd name="T33" fmla="*/ 418 h 446"/>
                <a:gd name="T34" fmla="*/ 15 w 37"/>
                <a:gd name="T35" fmla="*/ 428 h 446"/>
                <a:gd name="T36" fmla="*/ 16 w 37"/>
                <a:gd name="T37" fmla="*/ 436 h 446"/>
                <a:gd name="T38" fmla="*/ 16 w 37"/>
                <a:gd name="T39" fmla="*/ 440 h 446"/>
                <a:gd name="T40" fmla="*/ 17 w 37"/>
                <a:gd name="T41" fmla="*/ 445 h 446"/>
                <a:gd name="T42" fmla="*/ 18 w 37"/>
                <a:gd name="T43" fmla="*/ 446 h 446"/>
                <a:gd name="T44" fmla="*/ 18 w 37"/>
                <a:gd name="T45" fmla="*/ 445 h 446"/>
                <a:gd name="T46" fmla="*/ 20 w 37"/>
                <a:gd name="T47" fmla="*/ 440 h 446"/>
                <a:gd name="T48" fmla="*/ 20 w 37"/>
                <a:gd name="T49" fmla="*/ 436 h 446"/>
                <a:gd name="T50" fmla="*/ 21 w 37"/>
                <a:gd name="T51" fmla="*/ 428 h 446"/>
                <a:gd name="T52" fmla="*/ 22 w 37"/>
                <a:gd name="T53" fmla="*/ 418 h 446"/>
                <a:gd name="T54" fmla="*/ 22 w 37"/>
                <a:gd name="T55" fmla="*/ 407 h 446"/>
                <a:gd name="T56" fmla="*/ 25 w 37"/>
                <a:gd name="T57" fmla="*/ 382 h 446"/>
                <a:gd name="T58" fmla="*/ 25 w 37"/>
                <a:gd name="T59" fmla="*/ 367 h 446"/>
                <a:gd name="T60" fmla="*/ 26 w 37"/>
                <a:gd name="T61" fmla="*/ 349 h 446"/>
                <a:gd name="T62" fmla="*/ 27 w 37"/>
                <a:gd name="T63" fmla="*/ 332 h 446"/>
                <a:gd name="T64" fmla="*/ 29 w 37"/>
                <a:gd name="T65" fmla="*/ 291 h 446"/>
                <a:gd name="T66" fmla="*/ 31 w 37"/>
                <a:gd name="T67" fmla="*/ 245 h 446"/>
                <a:gd name="T68" fmla="*/ 32 w 37"/>
                <a:gd name="T69" fmla="*/ 209 h 446"/>
                <a:gd name="T70" fmla="*/ 33 w 37"/>
                <a:gd name="T71" fmla="*/ 181 h 446"/>
                <a:gd name="T72" fmla="*/ 33 w 37"/>
                <a:gd name="T73" fmla="*/ 151 h 446"/>
                <a:gd name="T74" fmla="*/ 34 w 37"/>
                <a:gd name="T75" fmla="*/ 104 h 446"/>
                <a:gd name="T76" fmla="*/ 34 w 37"/>
                <a:gd name="T77" fmla="*/ 72 h 446"/>
                <a:gd name="T78" fmla="*/ 36 w 37"/>
                <a:gd name="T79" fmla="*/ 44 h 446"/>
                <a:gd name="T80" fmla="*/ 36 w 37"/>
                <a:gd name="T81" fmla="*/ 19 h 446"/>
                <a:gd name="T82" fmla="*/ 36 w 37"/>
                <a:gd name="T83" fmla="*/ 4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7" h="446">
                  <a:moveTo>
                    <a:pt x="0" y="0"/>
                  </a:moveTo>
                  <a:lnTo>
                    <a:pt x="0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0" y="40"/>
                  </a:lnTo>
                  <a:lnTo>
                    <a:pt x="1" y="55"/>
                  </a:lnTo>
                  <a:lnTo>
                    <a:pt x="1" y="70"/>
                  </a:lnTo>
                  <a:lnTo>
                    <a:pt x="1" y="84"/>
                  </a:lnTo>
                  <a:lnTo>
                    <a:pt x="2" y="101"/>
                  </a:lnTo>
                  <a:lnTo>
                    <a:pt x="2" y="134"/>
                  </a:lnTo>
                  <a:lnTo>
                    <a:pt x="4" y="150"/>
                  </a:lnTo>
                  <a:lnTo>
                    <a:pt x="4" y="165"/>
                  </a:lnTo>
                  <a:lnTo>
                    <a:pt x="5" y="181"/>
                  </a:lnTo>
                  <a:lnTo>
                    <a:pt x="5" y="196"/>
                  </a:lnTo>
                  <a:lnTo>
                    <a:pt x="5" y="209"/>
                  </a:lnTo>
                  <a:lnTo>
                    <a:pt x="6" y="221"/>
                  </a:lnTo>
                  <a:lnTo>
                    <a:pt x="6" y="245"/>
                  </a:lnTo>
                  <a:lnTo>
                    <a:pt x="7" y="269"/>
                  </a:lnTo>
                  <a:lnTo>
                    <a:pt x="7" y="290"/>
                  </a:lnTo>
                  <a:lnTo>
                    <a:pt x="9" y="312"/>
                  </a:lnTo>
                  <a:lnTo>
                    <a:pt x="10" y="332"/>
                  </a:lnTo>
                  <a:lnTo>
                    <a:pt x="10" y="340"/>
                  </a:lnTo>
                  <a:lnTo>
                    <a:pt x="10" y="349"/>
                  </a:lnTo>
                  <a:lnTo>
                    <a:pt x="11" y="358"/>
                  </a:lnTo>
                  <a:lnTo>
                    <a:pt x="11" y="367"/>
                  </a:lnTo>
                  <a:lnTo>
                    <a:pt x="11" y="375"/>
                  </a:lnTo>
                  <a:lnTo>
                    <a:pt x="12" y="382"/>
                  </a:lnTo>
                  <a:lnTo>
                    <a:pt x="12" y="396"/>
                  </a:lnTo>
                  <a:lnTo>
                    <a:pt x="14" y="407"/>
                  </a:lnTo>
                  <a:lnTo>
                    <a:pt x="14" y="413"/>
                  </a:lnTo>
                  <a:lnTo>
                    <a:pt x="14" y="418"/>
                  </a:lnTo>
                  <a:lnTo>
                    <a:pt x="15" y="424"/>
                  </a:lnTo>
                  <a:lnTo>
                    <a:pt x="15" y="428"/>
                  </a:lnTo>
                  <a:lnTo>
                    <a:pt x="15" y="431"/>
                  </a:lnTo>
                  <a:lnTo>
                    <a:pt x="16" y="436"/>
                  </a:lnTo>
                  <a:lnTo>
                    <a:pt x="16" y="439"/>
                  </a:lnTo>
                  <a:lnTo>
                    <a:pt x="16" y="440"/>
                  </a:lnTo>
                  <a:lnTo>
                    <a:pt x="17" y="443"/>
                  </a:lnTo>
                  <a:lnTo>
                    <a:pt x="17" y="445"/>
                  </a:lnTo>
                  <a:lnTo>
                    <a:pt x="17" y="445"/>
                  </a:lnTo>
                  <a:lnTo>
                    <a:pt x="18" y="446"/>
                  </a:lnTo>
                  <a:lnTo>
                    <a:pt x="18" y="445"/>
                  </a:lnTo>
                  <a:lnTo>
                    <a:pt x="18" y="445"/>
                  </a:lnTo>
                  <a:lnTo>
                    <a:pt x="18" y="443"/>
                  </a:lnTo>
                  <a:lnTo>
                    <a:pt x="20" y="440"/>
                  </a:lnTo>
                  <a:lnTo>
                    <a:pt x="20" y="439"/>
                  </a:lnTo>
                  <a:lnTo>
                    <a:pt x="20" y="436"/>
                  </a:lnTo>
                  <a:lnTo>
                    <a:pt x="21" y="431"/>
                  </a:lnTo>
                  <a:lnTo>
                    <a:pt x="21" y="428"/>
                  </a:lnTo>
                  <a:lnTo>
                    <a:pt x="21" y="424"/>
                  </a:lnTo>
                  <a:lnTo>
                    <a:pt x="22" y="418"/>
                  </a:lnTo>
                  <a:lnTo>
                    <a:pt x="22" y="413"/>
                  </a:lnTo>
                  <a:lnTo>
                    <a:pt x="22" y="407"/>
                  </a:lnTo>
                  <a:lnTo>
                    <a:pt x="23" y="396"/>
                  </a:lnTo>
                  <a:lnTo>
                    <a:pt x="25" y="382"/>
                  </a:lnTo>
                  <a:lnTo>
                    <a:pt x="25" y="375"/>
                  </a:lnTo>
                  <a:lnTo>
                    <a:pt x="25" y="367"/>
                  </a:lnTo>
                  <a:lnTo>
                    <a:pt x="26" y="358"/>
                  </a:lnTo>
                  <a:lnTo>
                    <a:pt x="26" y="349"/>
                  </a:lnTo>
                  <a:lnTo>
                    <a:pt x="26" y="340"/>
                  </a:lnTo>
                  <a:lnTo>
                    <a:pt x="27" y="332"/>
                  </a:lnTo>
                  <a:lnTo>
                    <a:pt x="28" y="312"/>
                  </a:lnTo>
                  <a:lnTo>
                    <a:pt x="29" y="291"/>
                  </a:lnTo>
                  <a:lnTo>
                    <a:pt x="29" y="269"/>
                  </a:lnTo>
                  <a:lnTo>
                    <a:pt x="31" y="245"/>
                  </a:lnTo>
                  <a:lnTo>
                    <a:pt x="32" y="223"/>
                  </a:lnTo>
                  <a:lnTo>
                    <a:pt x="32" y="209"/>
                  </a:lnTo>
                  <a:lnTo>
                    <a:pt x="32" y="196"/>
                  </a:lnTo>
                  <a:lnTo>
                    <a:pt x="33" y="181"/>
                  </a:lnTo>
                  <a:lnTo>
                    <a:pt x="33" y="166"/>
                  </a:lnTo>
                  <a:lnTo>
                    <a:pt x="33" y="151"/>
                  </a:lnTo>
                  <a:lnTo>
                    <a:pt x="34" y="135"/>
                  </a:lnTo>
                  <a:lnTo>
                    <a:pt x="34" y="104"/>
                  </a:lnTo>
                  <a:lnTo>
                    <a:pt x="34" y="89"/>
                  </a:lnTo>
                  <a:lnTo>
                    <a:pt x="34" y="72"/>
                  </a:lnTo>
                  <a:lnTo>
                    <a:pt x="36" y="58"/>
                  </a:lnTo>
                  <a:lnTo>
                    <a:pt x="36" y="44"/>
                  </a:lnTo>
                  <a:lnTo>
                    <a:pt x="36" y="31"/>
                  </a:lnTo>
                  <a:lnTo>
                    <a:pt x="36" y="19"/>
                  </a:lnTo>
                  <a:lnTo>
                    <a:pt x="36" y="8"/>
                  </a:lnTo>
                  <a:lnTo>
                    <a:pt x="36" y="4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43" name="Freeform 411"/>
            <p:cNvSpPr>
              <a:spLocks/>
            </p:cNvSpPr>
            <p:nvPr/>
          </p:nvSpPr>
          <p:spPr bwMode="auto">
            <a:xfrm>
              <a:off x="4291" y="1612"/>
              <a:ext cx="36" cy="224"/>
            </a:xfrm>
            <a:custGeom>
              <a:avLst/>
              <a:gdLst>
                <a:gd name="T0" fmla="*/ 0 w 36"/>
                <a:gd name="T1" fmla="*/ 3 h 446"/>
                <a:gd name="T2" fmla="*/ 0 w 36"/>
                <a:gd name="T3" fmla="*/ 11 h 446"/>
                <a:gd name="T4" fmla="*/ 0 w 36"/>
                <a:gd name="T5" fmla="*/ 22 h 446"/>
                <a:gd name="T6" fmla="*/ 0 w 36"/>
                <a:gd name="T7" fmla="*/ 40 h 446"/>
                <a:gd name="T8" fmla="*/ 1 w 36"/>
                <a:gd name="T9" fmla="*/ 70 h 446"/>
                <a:gd name="T10" fmla="*/ 2 w 36"/>
                <a:gd name="T11" fmla="*/ 101 h 446"/>
                <a:gd name="T12" fmla="*/ 3 w 36"/>
                <a:gd name="T13" fmla="*/ 150 h 446"/>
                <a:gd name="T14" fmla="*/ 5 w 36"/>
                <a:gd name="T15" fmla="*/ 181 h 446"/>
                <a:gd name="T16" fmla="*/ 5 w 36"/>
                <a:gd name="T17" fmla="*/ 209 h 446"/>
                <a:gd name="T18" fmla="*/ 6 w 36"/>
                <a:gd name="T19" fmla="*/ 245 h 446"/>
                <a:gd name="T20" fmla="*/ 7 w 36"/>
                <a:gd name="T21" fmla="*/ 290 h 446"/>
                <a:gd name="T22" fmla="*/ 9 w 36"/>
                <a:gd name="T23" fmla="*/ 332 h 446"/>
                <a:gd name="T24" fmla="*/ 9 w 36"/>
                <a:gd name="T25" fmla="*/ 349 h 446"/>
                <a:gd name="T26" fmla="*/ 11 w 36"/>
                <a:gd name="T27" fmla="*/ 367 h 446"/>
                <a:gd name="T28" fmla="*/ 12 w 36"/>
                <a:gd name="T29" fmla="*/ 382 h 446"/>
                <a:gd name="T30" fmla="*/ 13 w 36"/>
                <a:gd name="T31" fmla="*/ 407 h 446"/>
                <a:gd name="T32" fmla="*/ 13 w 36"/>
                <a:gd name="T33" fmla="*/ 418 h 446"/>
                <a:gd name="T34" fmla="*/ 14 w 36"/>
                <a:gd name="T35" fmla="*/ 428 h 446"/>
                <a:gd name="T36" fmla="*/ 16 w 36"/>
                <a:gd name="T37" fmla="*/ 436 h 446"/>
                <a:gd name="T38" fmla="*/ 16 w 36"/>
                <a:gd name="T39" fmla="*/ 440 h 446"/>
                <a:gd name="T40" fmla="*/ 17 w 36"/>
                <a:gd name="T41" fmla="*/ 445 h 446"/>
                <a:gd name="T42" fmla="*/ 18 w 36"/>
                <a:gd name="T43" fmla="*/ 446 h 446"/>
                <a:gd name="T44" fmla="*/ 18 w 36"/>
                <a:gd name="T45" fmla="*/ 445 h 446"/>
                <a:gd name="T46" fmla="*/ 19 w 36"/>
                <a:gd name="T47" fmla="*/ 440 h 446"/>
                <a:gd name="T48" fmla="*/ 19 w 36"/>
                <a:gd name="T49" fmla="*/ 436 h 446"/>
                <a:gd name="T50" fmla="*/ 20 w 36"/>
                <a:gd name="T51" fmla="*/ 428 h 446"/>
                <a:gd name="T52" fmla="*/ 22 w 36"/>
                <a:gd name="T53" fmla="*/ 418 h 446"/>
                <a:gd name="T54" fmla="*/ 22 w 36"/>
                <a:gd name="T55" fmla="*/ 407 h 446"/>
                <a:gd name="T56" fmla="*/ 24 w 36"/>
                <a:gd name="T57" fmla="*/ 382 h 446"/>
                <a:gd name="T58" fmla="*/ 24 w 36"/>
                <a:gd name="T59" fmla="*/ 367 h 446"/>
                <a:gd name="T60" fmla="*/ 25 w 36"/>
                <a:gd name="T61" fmla="*/ 349 h 446"/>
                <a:gd name="T62" fmla="*/ 27 w 36"/>
                <a:gd name="T63" fmla="*/ 332 h 446"/>
                <a:gd name="T64" fmla="*/ 29 w 36"/>
                <a:gd name="T65" fmla="*/ 291 h 446"/>
                <a:gd name="T66" fmla="*/ 30 w 36"/>
                <a:gd name="T67" fmla="*/ 245 h 446"/>
                <a:gd name="T68" fmla="*/ 31 w 36"/>
                <a:gd name="T69" fmla="*/ 209 h 446"/>
                <a:gd name="T70" fmla="*/ 33 w 36"/>
                <a:gd name="T71" fmla="*/ 181 h 446"/>
                <a:gd name="T72" fmla="*/ 33 w 36"/>
                <a:gd name="T73" fmla="*/ 151 h 446"/>
                <a:gd name="T74" fmla="*/ 34 w 36"/>
                <a:gd name="T75" fmla="*/ 104 h 446"/>
                <a:gd name="T76" fmla="*/ 34 w 36"/>
                <a:gd name="T77" fmla="*/ 72 h 446"/>
                <a:gd name="T78" fmla="*/ 35 w 36"/>
                <a:gd name="T79" fmla="*/ 44 h 446"/>
                <a:gd name="T80" fmla="*/ 35 w 36"/>
                <a:gd name="T81" fmla="*/ 19 h 446"/>
                <a:gd name="T82" fmla="*/ 35 w 36"/>
                <a:gd name="T83" fmla="*/ 4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6" h="446">
                  <a:moveTo>
                    <a:pt x="0" y="0"/>
                  </a:moveTo>
                  <a:lnTo>
                    <a:pt x="0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0" y="40"/>
                  </a:lnTo>
                  <a:lnTo>
                    <a:pt x="1" y="55"/>
                  </a:lnTo>
                  <a:lnTo>
                    <a:pt x="1" y="70"/>
                  </a:lnTo>
                  <a:lnTo>
                    <a:pt x="1" y="84"/>
                  </a:lnTo>
                  <a:lnTo>
                    <a:pt x="2" y="101"/>
                  </a:lnTo>
                  <a:lnTo>
                    <a:pt x="2" y="134"/>
                  </a:lnTo>
                  <a:lnTo>
                    <a:pt x="3" y="150"/>
                  </a:lnTo>
                  <a:lnTo>
                    <a:pt x="3" y="165"/>
                  </a:lnTo>
                  <a:lnTo>
                    <a:pt x="5" y="181"/>
                  </a:lnTo>
                  <a:lnTo>
                    <a:pt x="5" y="196"/>
                  </a:lnTo>
                  <a:lnTo>
                    <a:pt x="5" y="209"/>
                  </a:lnTo>
                  <a:lnTo>
                    <a:pt x="6" y="221"/>
                  </a:lnTo>
                  <a:lnTo>
                    <a:pt x="6" y="245"/>
                  </a:lnTo>
                  <a:lnTo>
                    <a:pt x="7" y="269"/>
                  </a:lnTo>
                  <a:lnTo>
                    <a:pt x="7" y="290"/>
                  </a:lnTo>
                  <a:lnTo>
                    <a:pt x="8" y="312"/>
                  </a:lnTo>
                  <a:lnTo>
                    <a:pt x="9" y="332"/>
                  </a:lnTo>
                  <a:lnTo>
                    <a:pt x="9" y="340"/>
                  </a:lnTo>
                  <a:lnTo>
                    <a:pt x="9" y="349"/>
                  </a:lnTo>
                  <a:lnTo>
                    <a:pt x="11" y="358"/>
                  </a:lnTo>
                  <a:lnTo>
                    <a:pt x="11" y="367"/>
                  </a:lnTo>
                  <a:lnTo>
                    <a:pt x="11" y="375"/>
                  </a:lnTo>
                  <a:lnTo>
                    <a:pt x="12" y="382"/>
                  </a:lnTo>
                  <a:lnTo>
                    <a:pt x="12" y="396"/>
                  </a:lnTo>
                  <a:lnTo>
                    <a:pt x="13" y="407"/>
                  </a:lnTo>
                  <a:lnTo>
                    <a:pt x="13" y="413"/>
                  </a:lnTo>
                  <a:lnTo>
                    <a:pt x="13" y="418"/>
                  </a:lnTo>
                  <a:lnTo>
                    <a:pt x="14" y="424"/>
                  </a:lnTo>
                  <a:lnTo>
                    <a:pt x="14" y="428"/>
                  </a:lnTo>
                  <a:lnTo>
                    <a:pt x="14" y="431"/>
                  </a:lnTo>
                  <a:lnTo>
                    <a:pt x="16" y="436"/>
                  </a:lnTo>
                  <a:lnTo>
                    <a:pt x="16" y="439"/>
                  </a:lnTo>
                  <a:lnTo>
                    <a:pt x="16" y="440"/>
                  </a:lnTo>
                  <a:lnTo>
                    <a:pt x="17" y="443"/>
                  </a:lnTo>
                  <a:lnTo>
                    <a:pt x="17" y="445"/>
                  </a:lnTo>
                  <a:lnTo>
                    <a:pt x="17" y="445"/>
                  </a:lnTo>
                  <a:lnTo>
                    <a:pt x="18" y="446"/>
                  </a:lnTo>
                  <a:lnTo>
                    <a:pt x="18" y="445"/>
                  </a:lnTo>
                  <a:lnTo>
                    <a:pt x="18" y="445"/>
                  </a:lnTo>
                  <a:lnTo>
                    <a:pt x="18" y="443"/>
                  </a:lnTo>
                  <a:lnTo>
                    <a:pt x="19" y="440"/>
                  </a:lnTo>
                  <a:lnTo>
                    <a:pt x="19" y="439"/>
                  </a:lnTo>
                  <a:lnTo>
                    <a:pt x="19" y="436"/>
                  </a:lnTo>
                  <a:lnTo>
                    <a:pt x="20" y="431"/>
                  </a:lnTo>
                  <a:lnTo>
                    <a:pt x="20" y="428"/>
                  </a:lnTo>
                  <a:lnTo>
                    <a:pt x="20" y="424"/>
                  </a:lnTo>
                  <a:lnTo>
                    <a:pt x="22" y="418"/>
                  </a:lnTo>
                  <a:lnTo>
                    <a:pt x="22" y="413"/>
                  </a:lnTo>
                  <a:lnTo>
                    <a:pt x="22" y="407"/>
                  </a:lnTo>
                  <a:lnTo>
                    <a:pt x="23" y="396"/>
                  </a:lnTo>
                  <a:lnTo>
                    <a:pt x="24" y="382"/>
                  </a:lnTo>
                  <a:lnTo>
                    <a:pt x="24" y="375"/>
                  </a:lnTo>
                  <a:lnTo>
                    <a:pt x="24" y="367"/>
                  </a:lnTo>
                  <a:lnTo>
                    <a:pt x="25" y="358"/>
                  </a:lnTo>
                  <a:lnTo>
                    <a:pt x="25" y="349"/>
                  </a:lnTo>
                  <a:lnTo>
                    <a:pt x="25" y="340"/>
                  </a:lnTo>
                  <a:lnTo>
                    <a:pt x="27" y="332"/>
                  </a:lnTo>
                  <a:lnTo>
                    <a:pt x="28" y="312"/>
                  </a:lnTo>
                  <a:lnTo>
                    <a:pt x="29" y="291"/>
                  </a:lnTo>
                  <a:lnTo>
                    <a:pt x="29" y="269"/>
                  </a:lnTo>
                  <a:lnTo>
                    <a:pt x="30" y="245"/>
                  </a:lnTo>
                  <a:lnTo>
                    <a:pt x="31" y="223"/>
                  </a:lnTo>
                  <a:lnTo>
                    <a:pt x="31" y="209"/>
                  </a:lnTo>
                  <a:lnTo>
                    <a:pt x="31" y="196"/>
                  </a:lnTo>
                  <a:lnTo>
                    <a:pt x="33" y="181"/>
                  </a:lnTo>
                  <a:lnTo>
                    <a:pt x="33" y="166"/>
                  </a:lnTo>
                  <a:lnTo>
                    <a:pt x="33" y="151"/>
                  </a:lnTo>
                  <a:lnTo>
                    <a:pt x="34" y="135"/>
                  </a:lnTo>
                  <a:lnTo>
                    <a:pt x="34" y="104"/>
                  </a:lnTo>
                  <a:lnTo>
                    <a:pt x="34" y="89"/>
                  </a:lnTo>
                  <a:lnTo>
                    <a:pt x="34" y="72"/>
                  </a:lnTo>
                  <a:lnTo>
                    <a:pt x="35" y="58"/>
                  </a:lnTo>
                  <a:lnTo>
                    <a:pt x="35" y="44"/>
                  </a:lnTo>
                  <a:lnTo>
                    <a:pt x="35" y="31"/>
                  </a:lnTo>
                  <a:lnTo>
                    <a:pt x="35" y="19"/>
                  </a:lnTo>
                  <a:lnTo>
                    <a:pt x="35" y="8"/>
                  </a:lnTo>
                  <a:lnTo>
                    <a:pt x="35" y="4"/>
                  </a:lnTo>
                  <a:lnTo>
                    <a:pt x="36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44" name="Freeform 412"/>
            <p:cNvSpPr>
              <a:spLocks/>
            </p:cNvSpPr>
            <p:nvPr/>
          </p:nvSpPr>
          <p:spPr bwMode="auto">
            <a:xfrm>
              <a:off x="4364" y="1612"/>
              <a:ext cx="37" cy="224"/>
            </a:xfrm>
            <a:custGeom>
              <a:avLst/>
              <a:gdLst>
                <a:gd name="T0" fmla="*/ 0 w 37"/>
                <a:gd name="T1" fmla="*/ 3 h 446"/>
                <a:gd name="T2" fmla="*/ 0 w 37"/>
                <a:gd name="T3" fmla="*/ 11 h 446"/>
                <a:gd name="T4" fmla="*/ 0 w 37"/>
                <a:gd name="T5" fmla="*/ 22 h 446"/>
                <a:gd name="T6" fmla="*/ 0 w 37"/>
                <a:gd name="T7" fmla="*/ 40 h 446"/>
                <a:gd name="T8" fmla="*/ 1 w 37"/>
                <a:gd name="T9" fmla="*/ 70 h 446"/>
                <a:gd name="T10" fmla="*/ 3 w 37"/>
                <a:gd name="T11" fmla="*/ 101 h 446"/>
                <a:gd name="T12" fmla="*/ 4 w 37"/>
                <a:gd name="T13" fmla="*/ 150 h 446"/>
                <a:gd name="T14" fmla="*/ 5 w 37"/>
                <a:gd name="T15" fmla="*/ 181 h 446"/>
                <a:gd name="T16" fmla="*/ 5 w 37"/>
                <a:gd name="T17" fmla="*/ 209 h 446"/>
                <a:gd name="T18" fmla="*/ 6 w 37"/>
                <a:gd name="T19" fmla="*/ 245 h 446"/>
                <a:gd name="T20" fmla="*/ 8 w 37"/>
                <a:gd name="T21" fmla="*/ 290 h 446"/>
                <a:gd name="T22" fmla="*/ 10 w 37"/>
                <a:gd name="T23" fmla="*/ 332 h 446"/>
                <a:gd name="T24" fmla="*/ 10 w 37"/>
                <a:gd name="T25" fmla="*/ 349 h 446"/>
                <a:gd name="T26" fmla="*/ 11 w 37"/>
                <a:gd name="T27" fmla="*/ 367 h 446"/>
                <a:gd name="T28" fmla="*/ 12 w 37"/>
                <a:gd name="T29" fmla="*/ 382 h 446"/>
                <a:gd name="T30" fmla="*/ 14 w 37"/>
                <a:gd name="T31" fmla="*/ 407 h 446"/>
                <a:gd name="T32" fmla="*/ 14 w 37"/>
                <a:gd name="T33" fmla="*/ 418 h 446"/>
                <a:gd name="T34" fmla="*/ 15 w 37"/>
                <a:gd name="T35" fmla="*/ 428 h 446"/>
                <a:gd name="T36" fmla="*/ 16 w 37"/>
                <a:gd name="T37" fmla="*/ 436 h 446"/>
                <a:gd name="T38" fmla="*/ 16 w 37"/>
                <a:gd name="T39" fmla="*/ 440 h 446"/>
                <a:gd name="T40" fmla="*/ 17 w 37"/>
                <a:gd name="T41" fmla="*/ 445 h 446"/>
                <a:gd name="T42" fmla="*/ 19 w 37"/>
                <a:gd name="T43" fmla="*/ 446 h 446"/>
                <a:gd name="T44" fmla="*/ 19 w 37"/>
                <a:gd name="T45" fmla="*/ 445 h 446"/>
                <a:gd name="T46" fmla="*/ 20 w 37"/>
                <a:gd name="T47" fmla="*/ 440 h 446"/>
                <a:gd name="T48" fmla="*/ 20 w 37"/>
                <a:gd name="T49" fmla="*/ 436 h 446"/>
                <a:gd name="T50" fmla="*/ 21 w 37"/>
                <a:gd name="T51" fmla="*/ 428 h 446"/>
                <a:gd name="T52" fmla="*/ 22 w 37"/>
                <a:gd name="T53" fmla="*/ 418 h 446"/>
                <a:gd name="T54" fmla="*/ 22 w 37"/>
                <a:gd name="T55" fmla="*/ 407 h 446"/>
                <a:gd name="T56" fmla="*/ 25 w 37"/>
                <a:gd name="T57" fmla="*/ 382 h 446"/>
                <a:gd name="T58" fmla="*/ 25 w 37"/>
                <a:gd name="T59" fmla="*/ 367 h 446"/>
                <a:gd name="T60" fmla="*/ 26 w 37"/>
                <a:gd name="T61" fmla="*/ 349 h 446"/>
                <a:gd name="T62" fmla="*/ 27 w 37"/>
                <a:gd name="T63" fmla="*/ 332 h 446"/>
                <a:gd name="T64" fmla="*/ 30 w 37"/>
                <a:gd name="T65" fmla="*/ 291 h 446"/>
                <a:gd name="T66" fmla="*/ 31 w 37"/>
                <a:gd name="T67" fmla="*/ 245 h 446"/>
                <a:gd name="T68" fmla="*/ 32 w 37"/>
                <a:gd name="T69" fmla="*/ 209 h 446"/>
                <a:gd name="T70" fmla="*/ 33 w 37"/>
                <a:gd name="T71" fmla="*/ 181 h 446"/>
                <a:gd name="T72" fmla="*/ 33 w 37"/>
                <a:gd name="T73" fmla="*/ 151 h 446"/>
                <a:gd name="T74" fmla="*/ 34 w 37"/>
                <a:gd name="T75" fmla="*/ 104 h 446"/>
                <a:gd name="T76" fmla="*/ 34 w 37"/>
                <a:gd name="T77" fmla="*/ 72 h 446"/>
                <a:gd name="T78" fmla="*/ 36 w 37"/>
                <a:gd name="T79" fmla="*/ 44 h 446"/>
                <a:gd name="T80" fmla="*/ 36 w 37"/>
                <a:gd name="T81" fmla="*/ 19 h 446"/>
                <a:gd name="T82" fmla="*/ 36 w 37"/>
                <a:gd name="T83" fmla="*/ 4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7" h="446">
                  <a:moveTo>
                    <a:pt x="0" y="0"/>
                  </a:moveTo>
                  <a:lnTo>
                    <a:pt x="0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0" y="40"/>
                  </a:lnTo>
                  <a:lnTo>
                    <a:pt x="1" y="55"/>
                  </a:lnTo>
                  <a:lnTo>
                    <a:pt x="1" y="70"/>
                  </a:lnTo>
                  <a:lnTo>
                    <a:pt x="1" y="84"/>
                  </a:lnTo>
                  <a:lnTo>
                    <a:pt x="3" y="101"/>
                  </a:lnTo>
                  <a:lnTo>
                    <a:pt x="3" y="134"/>
                  </a:lnTo>
                  <a:lnTo>
                    <a:pt x="4" y="150"/>
                  </a:lnTo>
                  <a:lnTo>
                    <a:pt x="4" y="165"/>
                  </a:lnTo>
                  <a:lnTo>
                    <a:pt x="5" y="181"/>
                  </a:lnTo>
                  <a:lnTo>
                    <a:pt x="5" y="196"/>
                  </a:lnTo>
                  <a:lnTo>
                    <a:pt x="5" y="209"/>
                  </a:lnTo>
                  <a:lnTo>
                    <a:pt x="6" y="221"/>
                  </a:lnTo>
                  <a:lnTo>
                    <a:pt x="6" y="245"/>
                  </a:lnTo>
                  <a:lnTo>
                    <a:pt x="8" y="269"/>
                  </a:lnTo>
                  <a:lnTo>
                    <a:pt x="8" y="290"/>
                  </a:lnTo>
                  <a:lnTo>
                    <a:pt x="9" y="312"/>
                  </a:lnTo>
                  <a:lnTo>
                    <a:pt x="10" y="332"/>
                  </a:lnTo>
                  <a:lnTo>
                    <a:pt x="10" y="340"/>
                  </a:lnTo>
                  <a:lnTo>
                    <a:pt x="10" y="349"/>
                  </a:lnTo>
                  <a:lnTo>
                    <a:pt x="11" y="358"/>
                  </a:lnTo>
                  <a:lnTo>
                    <a:pt x="11" y="367"/>
                  </a:lnTo>
                  <a:lnTo>
                    <a:pt x="11" y="375"/>
                  </a:lnTo>
                  <a:lnTo>
                    <a:pt x="12" y="382"/>
                  </a:lnTo>
                  <a:lnTo>
                    <a:pt x="12" y="396"/>
                  </a:lnTo>
                  <a:lnTo>
                    <a:pt x="14" y="407"/>
                  </a:lnTo>
                  <a:lnTo>
                    <a:pt x="14" y="413"/>
                  </a:lnTo>
                  <a:lnTo>
                    <a:pt x="14" y="418"/>
                  </a:lnTo>
                  <a:lnTo>
                    <a:pt x="15" y="424"/>
                  </a:lnTo>
                  <a:lnTo>
                    <a:pt x="15" y="428"/>
                  </a:lnTo>
                  <a:lnTo>
                    <a:pt x="15" y="431"/>
                  </a:lnTo>
                  <a:lnTo>
                    <a:pt x="16" y="436"/>
                  </a:lnTo>
                  <a:lnTo>
                    <a:pt x="16" y="439"/>
                  </a:lnTo>
                  <a:lnTo>
                    <a:pt x="16" y="440"/>
                  </a:lnTo>
                  <a:lnTo>
                    <a:pt x="17" y="443"/>
                  </a:lnTo>
                  <a:lnTo>
                    <a:pt x="17" y="445"/>
                  </a:lnTo>
                  <a:lnTo>
                    <a:pt x="17" y="445"/>
                  </a:lnTo>
                  <a:lnTo>
                    <a:pt x="19" y="446"/>
                  </a:lnTo>
                  <a:lnTo>
                    <a:pt x="19" y="445"/>
                  </a:lnTo>
                  <a:lnTo>
                    <a:pt x="19" y="445"/>
                  </a:lnTo>
                  <a:lnTo>
                    <a:pt x="19" y="443"/>
                  </a:lnTo>
                  <a:lnTo>
                    <a:pt x="20" y="440"/>
                  </a:lnTo>
                  <a:lnTo>
                    <a:pt x="20" y="439"/>
                  </a:lnTo>
                  <a:lnTo>
                    <a:pt x="20" y="436"/>
                  </a:lnTo>
                  <a:lnTo>
                    <a:pt x="21" y="431"/>
                  </a:lnTo>
                  <a:lnTo>
                    <a:pt x="21" y="428"/>
                  </a:lnTo>
                  <a:lnTo>
                    <a:pt x="21" y="424"/>
                  </a:lnTo>
                  <a:lnTo>
                    <a:pt x="22" y="418"/>
                  </a:lnTo>
                  <a:lnTo>
                    <a:pt x="22" y="413"/>
                  </a:lnTo>
                  <a:lnTo>
                    <a:pt x="22" y="407"/>
                  </a:lnTo>
                  <a:lnTo>
                    <a:pt x="23" y="396"/>
                  </a:lnTo>
                  <a:lnTo>
                    <a:pt x="25" y="382"/>
                  </a:lnTo>
                  <a:lnTo>
                    <a:pt x="25" y="375"/>
                  </a:lnTo>
                  <a:lnTo>
                    <a:pt x="25" y="367"/>
                  </a:lnTo>
                  <a:lnTo>
                    <a:pt x="26" y="358"/>
                  </a:lnTo>
                  <a:lnTo>
                    <a:pt x="26" y="349"/>
                  </a:lnTo>
                  <a:lnTo>
                    <a:pt x="26" y="340"/>
                  </a:lnTo>
                  <a:lnTo>
                    <a:pt x="27" y="332"/>
                  </a:lnTo>
                  <a:lnTo>
                    <a:pt x="28" y="312"/>
                  </a:lnTo>
                  <a:lnTo>
                    <a:pt x="30" y="291"/>
                  </a:lnTo>
                  <a:lnTo>
                    <a:pt x="30" y="269"/>
                  </a:lnTo>
                  <a:lnTo>
                    <a:pt x="31" y="245"/>
                  </a:lnTo>
                  <a:lnTo>
                    <a:pt x="32" y="223"/>
                  </a:lnTo>
                  <a:lnTo>
                    <a:pt x="32" y="209"/>
                  </a:lnTo>
                  <a:lnTo>
                    <a:pt x="32" y="196"/>
                  </a:lnTo>
                  <a:lnTo>
                    <a:pt x="33" y="181"/>
                  </a:lnTo>
                  <a:lnTo>
                    <a:pt x="33" y="166"/>
                  </a:lnTo>
                  <a:lnTo>
                    <a:pt x="33" y="151"/>
                  </a:lnTo>
                  <a:lnTo>
                    <a:pt x="34" y="135"/>
                  </a:lnTo>
                  <a:lnTo>
                    <a:pt x="34" y="104"/>
                  </a:lnTo>
                  <a:lnTo>
                    <a:pt x="34" y="89"/>
                  </a:lnTo>
                  <a:lnTo>
                    <a:pt x="34" y="72"/>
                  </a:lnTo>
                  <a:lnTo>
                    <a:pt x="36" y="58"/>
                  </a:lnTo>
                  <a:lnTo>
                    <a:pt x="36" y="44"/>
                  </a:lnTo>
                  <a:lnTo>
                    <a:pt x="36" y="31"/>
                  </a:lnTo>
                  <a:lnTo>
                    <a:pt x="36" y="19"/>
                  </a:lnTo>
                  <a:lnTo>
                    <a:pt x="36" y="8"/>
                  </a:lnTo>
                  <a:lnTo>
                    <a:pt x="36" y="4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45" name="Freeform 413"/>
            <p:cNvSpPr>
              <a:spLocks/>
            </p:cNvSpPr>
            <p:nvPr/>
          </p:nvSpPr>
          <p:spPr bwMode="auto">
            <a:xfrm>
              <a:off x="4474" y="1389"/>
              <a:ext cx="37" cy="223"/>
            </a:xfrm>
            <a:custGeom>
              <a:avLst/>
              <a:gdLst>
                <a:gd name="T0" fmla="*/ 0 w 37"/>
                <a:gd name="T1" fmla="*/ 442 h 447"/>
                <a:gd name="T2" fmla="*/ 0 w 37"/>
                <a:gd name="T3" fmla="*/ 433 h 447"/>
                <a:gd name="T4" fmla="*/ 0 w 37"/>
                <a:gd name="T5" fmla="*/ 423 h 447"/>
                <a:gd name="T6" fmla="*/ 0 w 37"/>
                <a:gd name="T7" fmla="*/ 405 h 447"/>
                <a:gd name="T8" fmla="*/ 2 w 37"/>
                <a:gd name="T9" fmla="*/ 377 h 447"/>
                <a:gd name="T10" fmla="*/ 3 w 37"/>
                <a:gd name="T11" fmla="*/ 345 h 447"/>
                <a:gd name="T12" fmla="*/ 4 w 37"/>
                <a:gd name="T13" fmla="*/ 296 h 447"/>
                <a:gd name="T14" fmla="*/ 5 w 37"/>
                <a:gd name="T15" fmla="*/ 263 h 447"/>
                <a:gd name="T16" fmla="*/ 5 w 37"/>
                <a:gd name="T17" fmla="*/ 235 h 447"/>
                <a:gd name="T18" fmla="*/ 7 w 37"/>
                <a:gd name="T19" fmla="*/ 199 h 447"/>
                <a:gd name="T20" fmla="*/ 8 w 37"/>
                <a:gd name="T21" fmla="*/ 155 h 447"/>
                <a:gd name="T22" fmla="*/ 10 w 37"/>
                <a:gd name="T23" fmla="*/ 113 h 447"/>
                <a:gd name="T24" fmla="*/ 10 w 37"/>
                <a:gd name="T25" fmla="*/ 95 h 447"/>
                <a:gd name="T26" fmla="*/ 12 w 37"/>
                <a:gd name="T27" fmla="*/ 77 h 447"/>
                <a:gd name="T28" fmla="*/ 13 w 37"/>
                <a:gd name="T29" fmla="*/ 62 h 447"/>
                <a:gd name="T30" fmla="*/ 14 w 37"/>
                <a:gd name="T31" fmla="*/ 37 h 447"/>
                <a:gd name="T32" fmla="*/ 14 w 37"/>
                <a:gd name="T33" fmla="*/ 27 h 447"/>
                <a:gd name="T34" fmla="*/ 15 w 37"/>
                <a:gd name="T35" fmla="*/ 16 h 447"/>
                <a:gd name="T36" fmla="*/ 16 w 37"/>
                <a:gd name="T37" fmla="*/ 9 h 447"/>
                <a:gd name="T38" fmla="*/ 16 w 37"/>
                <a:gd name="T39" fmla="*/ 4 h 447"/>
                <a:gd name="T40" fmla="*/ 18 w 37"/>
                <a:gd name="T41" fmla="*/ 0 h 447"/>
                <a:gd name="T42" fmla="*/ 19 w 37"/>
                <a:gd name="T43" fmla="*/ 0 h 447"/>
                <a:gd name="T44" fmla="*/ 19 w 37"/>
                <a:gd name="T45" fmla="*/ 0 h 447"/>
                <a:gd name="T46" fmla="*/ 20 w 37"/>
                <a:gd name="T47" fmla="*/ 4 h 447"/>
                <a:gd name="T48" fmla="*/ 20 w 37"/>
                <a:gd name="T49" fmla="*/ 9 h 447"/>
                <a:gd name="T50" fmla="*/ 21 w 37"/>
                <a:gd name="T51" fmla="*/ 18 h 447"/>
                <a:gd name="T52" fmla="*/ 23 w 37"/>
                <a:gd name="T53" fmla="*/ 27 h 447"/>
                <a:gd name="T54" fmla="*/ 23 w 37"/>
                <a:gd name="T55" fmla="*/ 37 h 447"/>
                <a:gd name="T56" fmla="*/ 25 w 37"/>
                <a:gd name="T57" fmla="*/ 62 h 447"/>
                <a:gd name="T58" fmla="*/ 25 w 37"/>
                <a:gd name="T59" fmla="*/ 77 h 447"/>
                <a:gd name="T60" fmla="*/ 26 w 37"/>
                <a:gd name="T61" fmla="*/ 95 h 447"/>
                <a:gd name="T62" fmla="*/ 27 w 37"/>
                <a:gd name="T63" fmla="*/ 113 h 447"/>
                <a:gd name="T64" fmla="*/ 30 w 37"/>
                <a:gd name="T65" fmla="*/ 153 h 447"/>
                <a:gd name="T66" fmla="*/ 31 w 37"/>
                <a:gd name="T67" fmla="*/ 199 h 447"/>
                <a:gd name="T68" fmla="*/ 32 w 37"/>
                <a:gd name="T69" fmla="*/ 235 h 447"/>
                <a:gd name="T70" fmla="*/ 34 w 37"/>
                <a:gd name="T71" fmla="*/ 263 h 447"/>
                <a:gd name="T72" fmla="*/ 34 w 37"/>
                <a:gd name="T73" fmla="*/ 293 h 447"/>
                <a:gd name="T74" fmla="*/ 35 w 37"/>
                <a:gd name="T75" fmla="*/ 341 h 447"/>
                <a:gd name="T76" fmla="*/ 35 w 37"/>
                <a:gd name="T77" fmla="*/ 372 h 447"/>
                <a:gd name="T78" fmla="*/ 36 w 37"/>
                <a:gd name="T79" fmla="*/ 400 h 447"/>
                <a:gd name="T80" fmla="*/ 36 w 37"/>
                <a:gd name="T81" fmla="*/ 426 h 447"/>
                <a:gd name="T82" fmla="*/ 36 w 37"/>
                <a:gd name="T83" fmla="*/ 44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7" h="447">
                  <a:moveTo>
                    <a:pt x="0" y="447"/>
                  </a:moveTo>
                  <a:lnTo>
                    <a:pt x="0" y="442"/>
                  </a:lnTo>
                  <a:lnTo>
                    <a:pt x="0" y="438"/>
                  </a:lnTo>
                  <a:lnTo>
                    <a:pt x="0" y="433"/>
                  </a:lnTo>
                  <a:lnTo>
                    <a:pt x="0" y="429"/>
                  </a:lnTo>
                  <a:lnTo>
                    <a:pt x="0" y="423"/>
                  </a:lnTo>
                  <a:lnTo>
                    <a:pt x="0" y="417"/>
                  </a:lnTo>
                  <a:lnTo>
                    <a:pt x="0" y="405"/>
                  </a:lnTo>
                  <a:lnTo>
                    <a:pt x="2" y="391"/>
                  </a:lnTo>
                  <a:lnTo>
                    <a:pt x="2" y="377"/>
                  </a:lnTo>
                  <a:lnTo>
                    <a:pt x="2" y="360"/>
                  </a:lnTo>
                  <a:lnTo>
                    <a:pt x="3" y="345"/>
                  </a:lnTo>
                  <a:lnTo>
                    <a:pt x="3" y="313"/>
                  </a:lnTo>
                  <a:lnTo>
                    <a:pt x="4" y="296"/>
                  </a:lnTo>
                  <a:lnTo>
                    <a:pt x="4" y="280"/>
                  </a:lnTo>
                  <a:lnTo>
                    <a:pt x="5" y="263"/>
                  </a:lnTo>
                  <a:lnTo>
                    <a:pt x="5" y="250"/>
                  </a:lnTo>
                  <a:lnTo>
                    <a:pt x="5" y="235"/>
                  </a:lnTo>
                  <a:lnTo>
                    <a:pt x="7" y="223"/>
                  </a:lnTo>
                  <a:lnTo>
                    <a:pt x="7" y="199"/>
                  </a:lnTo>
                  <a:lnTo>
                    <a:pt x="8" y="177"/>
                  </a:lnTo>
                  <a:lnTo>
                    <a:pt x="8" y="155"/>
                  </a:lnTo>
                  <a:lnTo>
                    <a:pt x="9" y="132"/>
                  </a:lnTo>
                  <a:lnTo>
                    <a:pt x="10" y="113"/>
                  </a:lnTo>
                  <a:lnTo>
                    <a:pt x="10" y="104"/>
                  </a:lnTo>
                  <a:lnTo>
                    <a:pt x="10" y="95"/>
                  </a:lnTo>
                  <a:lnTo>
                    <a:pt x="12" y="86"/>
                  </a:lnTo>
                  <a:lnTo>
                    <a:pt x="12" y="77"/>
                  </a:lnTo>
                  <a:lnTo>
                    <a:pt x="12" y="70"/>
                  </a:lnTo>
                  <a:lnTo>
                    <a:pt x="13" y="62"/>
                  </a:lnTo>
                  <a:lnTo>
                    <a:pt x="13" y="49"/>
                  </a:lnTo>
                  <a:lnTo>
                    <a:pt x="14" y="37"/>
                  </a:lnTo>
                  <a:lnTo>
                    <a:pt x="14" y="31"/>
                  </a:lnTo>
                  <a:lnTo>
                    <a:pt x="14" y="27"/>
                  </a:lnTo>
                  <a:lnTo>
                    <a:pt x="15" y="21"/>
                  </a:lnTo>
                  <a:lnTo>
                    <a:pt x="15" y="16"/>
                  </a:lnTo>
                  <a:lnTo>
                    <a:pt x="15" y="13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6" y="4"/>
                  </a:lnTo>
                  <a:lnTo>
                    <a:pt x="18" y="1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1"/>
                  </a:lnTo>
                  <a:lnTo>
                    <a:pt x="20" y="4"/>
                  </a:lnTo>
                  <a:lnTo>
                    <a:pt x="20" y="6"/>
                  </a:lnTo>
                  <a:lnTo>
                    <a:pt x="20" y="9"/>
                  </a:lnTo>
                  <a:lnTo>
                    <a:pt x="21" y="13"/>
                  </a:lnTo>
                  <a:lnTo>
                    <a:pt x="21" y="18"/>
                  </a:lnTo>
                  <a:lnTo>
                    <a:pt x="21" y="22"/>
                  </a:lnTo>
                  <a:lnTo>
                    <a:pt x="23" y="27"/>
                  </a:lnTo>
                  <a:lnTo>
                    <a:pt x="23" y="31"/>
                  </a:lnTo>
                  <a:lnTo>
                    <a:pt x="23" y="37"/>
                  </a:lnTo>
                  <a:lnTo>
                    <a:pt x="24" y="49"/>
                  </a:lnTo>
                  <a:lnTo>
                    <a:pt x="25" y="62"/>
                  </a:lnTo>
                  <a:lnTo>
                    <a:pt x="25" y="70"/>
                  </a:lnTo>
                  <a:lnTo>
                    <a:pt x="25" y="77"/>
                  </a:lnTo>
                  <a:lnTo>
                    <a:pt x="26" y="86"/>
                  </a:lnTo>
                  <a:lnTo>
                    <a:pt x="26" y="95"/>
                  </a:lnTo>
                  <a:lnTo>
                    <a:pt x="26" y="104"/>
                  </a:lnTo>
                  <a:lnTo>
                    <a:pt x="27" y="113"/>
                  </a:lnTo>
                  <a:lnTo>
                    <a:pt x="29" y="132"/>
                  </a:lnTo>
                  <a:lnTo>
                    <a:pt x="30" y="153"/>
                  </a:lnTo>
                  <a:lnTo>
                    <a:pt x="30" y="176"/>
                  </a:lnTo>
                  <a:lnTo>
                    <a:pt x="31" y="199"/>
                  </a:lnTo>
                  <a:lnTo>
                    <a:pt x="32" y="223"/>
                  </a:lnTo>
                  <a:lnTo>
                    <a:pt x="32" y="235"/>
                  </a:lnTo>
                  <a:lnTo>
                    <a:pt x="32" y="249"/>
                  </a:lnTo>
                  <a:lnTo>
                    <a:pt x="34" y="263"/>
                  </a:lnTo>
                  <a:lnTo>
                    <a:pt x="34" y="278"/>
                  </a:lnTo>
                  <a:lnTo>
                    <a:pt x="34" y="293"/>
                  </a:lnTo>
                  <a:lnTo>
                    <a:pt x="35" y="310"/>
                  </a:lnTo>
                  <a:lnTo>
                    <a:pt x="35" y="341"/>
                  </a:lnTo>
                  <a:lnTo>
                    <a:pt x="35" y="356"/>
                  </a:lnTo>
                  <a:lnTo>
                    <a:pt x="35" y="372"/>
                  </a:lnTo>
                  <a:lnTo>
                    <a:pt x="36" y="387"/>
                  </a:lnTo>
                  <a:lnTo>
                    <a:pt x="36" y="400"/>
                  </a:lnTo>
                  <a:lnTo>
                    <a:pt x="36" y="414"/>
                  </a:lnTo>
                  <a:lnTo>
                    <a:pt x="36" y="426"/>
                  </a:lnTo>
                  <a:lnTo>
                    <a:pt x="36" y="436"/>
                  </a:lnTo>
                  <a:lnTo>
                    <a:pt x="36" y="441"/>
                  </a:lnTo>
                  <a:lnTo>
                    <a:pt x="37" y="447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46" name="Freeform 414"/>
            <p:cNvSpPr>
              <a:spLocks/>
            </p:cNvSpPr>
            <p:nvPr/>
          </p:nvSpPr>
          <p:spPr bwMode="auto">
            <a:xfrm>
              <a:off x="4548" y="1389"/>
              <a:ext cx="37" cy="223"/>
            </a:xfrm>
            <a:custGeom>
              <a:avLst/>
              <a:gdLst>
                <a:gd name="T0" fmla="*/ 0 w 37"/>
                <a:gd name="T1" fmla="*/ 442 h 447"/>
                <a:gd name="T2" fmla="*/ 0 w 37"/>
                <a:gd name="T3" fmla="*/ 433 h 447"/>
                <a:gd name="T4" fmla="*/ 0 w 37"/>
                <a:gd name="T5" fmla="*/ 423 h 447"/>
                <a:gd name="T6" fmla="*/ 0 w 37"/>
                <a:gd name="T7" fmla="*/ 405 h 447"/>
                <a:gd name="T8" fmla="*/ 1 w 37"/>
                <a:gd name="T9" fmla="*/ 377 h 447"/>
                <a:gd name="T10" fmla="*/ 3 w 37"/>
                <a:gd name="T11" fmla="*/ 345 h 447"/>
                <a:gd name="T12" fmla="*/ 4 w 37"/>
                <a:gd name="T13" fmla="*/ 296 h 447"/>
                <a:gd name="T14" fmla="*/ 5 w 37"/>
                <a:gd name="T15" fmla="*/ 263 h 447"/>
                <a:gd name="T16" fmla="*/ 5 w 37"/>
                <a:gd name="T17" fmla="*/ 235 h 447"/>
                <a:gd name="T18" fmla="*/ 6 w 37"/>
                <a:gd name="T19" fmla="*/ 199 h 447"/>
                <a:gd name="T20" fmla="*/ 7 w 37"/>
                <a:gd name="T21" fmla="*/ 155 h 447"/>
                <a:gd name="T22" fmla="*/ 10 w 37"/>
                <a:gd name="T23" fmla="*/ 113 h 447"/>
                <a:gd name="T24" fmla="*/ 10 w 37"/>
                <a:gd name="T25" fmla="*/ 95 h 447"/>
                <a:gd name="T26" fmla="*/ 11 w 37"/>
                <a:gd name="T27" fmla="*/ 77 h 447"/>
                <a:gd name="T28" fmla="*/ 12 w 37"/>
                <a:gd name="T29" fmla="*/ 62 h 447"/>
                <a:gd name="T30" fmla="*/ 14 w 37"/>
                <a:gd name="T31" fmla="*/ 37 h 447"/>
                <a:gd name="T32" fmla="*/ 14 w 37"/>
                <a:gd name="T33" fmla="*/ 27 h 447"/>
                <a:gd name="T34" fmla="*/ 15 w 37"/>
                <a:gd name="T35" fmla="*/ 16 h 447"/>
                <a:gd name="T36" fmla="*/ 16 w 37"/>
                <a:gd name="T37" fmla="*/ 9 h 447"/>
                <a:gd name="T38" fmla="*/ 16 w 37"/>
                <a:gd name="T39" fmla="*/ 4 h 447"/>
                <a:gd name="T40" fmla="*/ 17 w 37"/>
                <a:gd name="T41" fmla="*/ 0 h 447"/>
                <a:gd name="T42" fmla="*/ 18 w 37"/>
                <a:gd name="T43" fmla="*/ 0 h 447"/>
                <a:gd name="T44" fmla="*/ 18 w 37"/>
                <a:gd name="T45" fmla="*/ 0 h 447"/>
                <a:gd name="T46" fmla="*/ 20 w 37"/>
                <a:gd name="T47" fmla="*/ 4 h 447"/>
                <a:gd name="T48" fmla="*/ 20 w 37"/>
                <a:gd name="T49" fmla="*/ 9 h 447"/>
                <a:gd name="T50" fmla="*/ 21 w 37"/>
                <a:gd name="T51" fmla="*/ 18 h 447"/>
                <a:gd name="T52" fmla="*/ 22 w 37"/>
                <a:gd name="T53" fmla="*/ 27 h 447"/>
                <a:gd name="T54" fmla="*/ 22 w 37"/>
                <a:gd name="T55" fmla="*/ 37 h 447"/>
                <a:gd name="T56" fmla="*/ 25 w 37"/>
                <a:gd name="T57" fmla="*/ 62 h 447"/>
                <a:gd name="T58" fmla="*/ 25 w 37"/>
                <a:gd name="T59" fmla="*/ 77 h 447"/>
                <a:gd name="T60" fmla="*/ 26 w 37"/>
                <a:gd name="T61" fmla="*/ 95 h 447"/>
                <a:gd name="T62" fmla="*/ 27 w 37"/>
                <a:gd name="T63" fmla="*/ 113 h 447"/>
                <a:gd name="T64" fmla="*/ 29 w 37"/>
                <a:gd name="T65" fmla="*/ 153 h 447"/>
                <a:gd name="T66" fmla="*/ 31 w 37"/>
                <a:gd name="T67" fmla="*/ 199 h 447"/>
                <a:gd name="T68" fmla="*/ 32 w 37"/>
                <a:gd name="T69" fmla="*/ 235 h 447"/>
                <a:gd name="T70" fmla="*/ 33 w 37"/>
                <a:gd name="T71" fmla="*/ 263 h 447"/>
                <a:gd name="T72" fmla="*/ 33 w 37"/>
                <a:gd name="T73" fmla="*/ 293 h 447"/>
                <a:gd name="T74" fmla="*/ 34 w 37"/>
                <a:gd name="T75" fmla="*/ 341 h 447"/>
                <a:gd name="T76" fmla="*/ 34 w 37"/>
                <a:gd name="T77" fmla="*/ 372 h 447"/>
                <a:gd name="T78" fmla="*/ 36 w 37"/>
                <a:gd name="T79" fmla="*/ 400 h 447"/>
                <a:gd name="T80" fmla="*/ 36 w 37"/>
                <a:gd name="T81" fmla="*/ 426 h 447"/>
                <a:gd name="T82" fmla="*/ 36 w 37"/>
                <a:gd name="T83" fmla="*/ 44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7" h="447">
                  <a:moveTo>
                    <a:pt x="0" y="447"/>
                  </a:moveTo>
                  <a:lnTo>
                    <a:pt x="0" y="442"/>
                  </a:lnTo>
                  <a:lnTo>
                    <a:pt x="0" y="438"/>
                  </a:lnTo>
                  <a:lnTo>
                    <a:pt x="0" y="433"/>
                  </a:lnTo>
                  <a:lnTo>
                    <a:pt x="0" y="429"/>
                  </a:lnTo>
                  <a:lnTo>
                    <a:pt x="0" y="423"/>
                  </a:lnTo>
                  <a:lnTo>
                    <a:pt x="0" y="417"/>
                  </a:lnTo>
                  <a:lnTo>
                    <a:pt x="0" y="405"/>
                  </a:lnTo>
                  <a:lnTo>
                    <a:pt x="1" y="391"/>
                  </a:lnTo>
                  <a:lnTo>
                    <a:pt x="1" y="377"/>
                  </a:lnTo>
                  <a:lnTo>
                    <a:pt x="1" y="360"/>
                  </a:lnTo>
                  <a:lnTo>
                    <a:pt x="3" y="345"/>
                  </a:lnTo>
                  <a:lnTo>
                    <a:pt x="3" y="313"/>
                  </a:lnTo>
                  <a:lnTo>
                    <a:pt x="4" y="296"/>
                  </a:lnTo>
                  <a:lnTo>
                    <a:pt x="4" y="280"/>
                  </a:lnTo>
                  <a:lnTo>
                    <a:pt x="5" y="263"/>
                  </a:lnTo>
                  <a:lnTo>
                    <a:pt x="5" y="250"/>
                  </a:lnTo>
                  <a:lnTo>
                    <a:pt x="5" y="235"/>
                  </a:lnTo>
                  <a:lnTo>
                    <a:pt x="6" y="223"/>
                  </a:lnTo>
                  <a:lnTo>
                    <a:pt x="6" y="199"/>
                  </a:lnTo>
                  <a:lnTo>
                    <a:pt x="7" y="177"/>
                  </a:lnTo>
                  <a:lnTo>
                    <a:pt x="7" y="155"/>
                  </a:lnTo>
                  <a:lnTo>
                    <a:pt x="9" y="132"/>
                  </a:lnTo>
                  <a:lnTo>
                    <a:pt x="10" y="113"/>
                  </a:lnTo>
                  <a:lnTo>
                    <a:pt x="10" y="104"/>
                  </a:lnTo>
                  <a:lnTo>
                    <a:pt x="10" y="95"/>
                  </a:lnTo>
                  <a:lnTo>
                    <a:pt x="11" y="86"/>
                  </a:lnTo>
                  <a:lnTo>
                    <a:pt x="11" y="77"/>
                  </a:lnTo>
                  <a:lnTo>
                    <a:pt x="11" y="70"/>
                  </a:lnTo>
                  <a:lnTo>
                    <a:pt x="12" y="62"/>
                  </a:lnTo>
                  <a:lnTo>
                    <a:pt x="12" y="49"/>
                  </a:lnTo>
                  <a:lnTo>
                    <a:pt x="14" y="37"/>
                  </a:lnTo>
                  <a:lnTo>
                    <a:pt x="14" y="31"/>
                  </a:lnTo>
                  <a:lnTo>
                    <a:pt x="14" y="27"/>
                  </a:lnTo>
                  <a:lnTo>
                    <a:pt x="15" y="21"/>
                  </a:lnTo>
                  <a:lnTo>
                    <a:pt x="15" y="16"/>
                  </a:lnTo>
                  <a:lnTo>
                    <a:pt x="15" y="13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6" y="4"/>
                  </a:lnTo>
                  <a:lnTo>
                    <a:pt x="17" y="1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1"/>
                  </a:lnTo>
                  <a:lnTo>
                    <a:pt x="20" y="4"/>
                  </a:lnTo>
                  <a:lnTo>
                    <a:pt x="20" y="6"/>
                  </a:lnTo>
                  <a:lnTo>
                    <a:pt x="20" y="9"/>
                  </a:lnTo>
                  <a:lnTo>
                    <a:pt x="21" y="13"/>
                  </a:lnTo>
                  <a:lnTo>
                    <a:pt x="21" y="18"/>
                  </a:lnTo>
                  <a:lnTo>
                    <a:pt x="21" y="22"/>
                  </a:lnTo>
                  <a:lnTo>
                    <a:pt x="22" y="27"/>
                  </a:lnTo>
                  <a:lnTo>
                    <a:pt x="22" y="31"/>
                  </a:lnTo>
                  <a:lnTo>
                    <a:pt x="22" y="37"/>
                  </a:lnTo>
                  <a:lnTo>
                    <a:pt x="23" y="49"/>
                  </a:lnTo>
                  <a:lnTo>
                    <a:pt x="25" y="62"/>
                  </a:lnTo>
                  <a:lnTo>
                    <a:pt x="25" y="70"/>
                  </a:lnTo>
                  <a:lnTo>
                    <a:pt x="25" y="77"/>
                  </a:lnTo>
                  <a:lnTo>
                    <a:pt x="26" y="86"/>
                  </a:lnTo>
                  <a:lnTo>
                    <a:pt x="26" y="95"/>
                  </a:lnTo>
                  <a:lnTo>
                    <a:pt x="26" y="104"/>
                  </a:lnTo>
                  <a:lnTo>
                    <a:pt x="27" y="113"/>
                  </a:lnTo>
                  <a:lnTo>
                    <a:pt x="28" y="132"/>
                  </a:lnTo>
                  <a:lnTo>
                    <a:pt x="29" y="153"/>
                  </a:lnTo>
                  <a:lnTo>
                    <a:pt x="29" y="176"/>
                  </a:lnTo>
                  <a:lnTo>
                    <a:pt x="31" y="199"/>
                  </a:lnTo>
                  <a:lnTo>
                    <a:pt x="32" y="223"/>
                  </a:lnTo>
                  <a:lnTo>
                    <a:pt x="32" y="235"/>
                  </a:lnTo>
                  <a:lnTo>
                    <a:pt x="32" y="249"/>
                  </a:lnTo>
                  <a:lnTo>
                    <a:pt x="33" y="263"/>
                  </a:lnTo>
                  <a:lnTo>
                    <a:pt x="33" y="278"/>
                  </a:lnTo>
                  <a:lnTo>
                    <a:pt x="33" y="293"/>
                  </a:lnTo>
                  <a:lnTo>
                    <a:pt x="34" y="310"/>
                  </a:lnTo>
                  <a:lnTo>
                    <a:pt x="34" y="341"/>
                  </a:lnTo>
                  <a:lnTo>
                    <a:pt x="34" y="356"/>
                  </a:lnTo>
                  <a:lnTo>
                    <a:pt x="34" y="372"/>
                  </a:lnTo>
                  <a:lnTo>
                    <a:pt x="36" y="387"/>
                  </a:lnTo>
                  <a:lnTo>
                    <a:pt x="36" y="400"/>
                  </a:lnTo>
                  <a:lnTo>
                    <a:pt x="36" y="414"/>
                  </a:lnTo>
                  <a:lnTo>
                    <a:pt x="36" y="426"/>
                  </a:lnTo>
                  <a:lnTo>
                    <a:pt x="36" y="436"/>
                  </a:lnTo>
                  <a:lnTo>
                    <a:pt x="36" y="441"/>
                  </a:lnTo>
                  <a:lnTo>
                    <a:pt x="37" y="447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47" name="Freeform 415"/>
            <p:cNvSpPr>
              <a:spLocks/>
            </p:cNvSpPr>
            <p:nvPr/>
          </p:nvSpPr>
          <p:spPr bwMode="auto">
            <a:xfrm>
              <a:off x="4622" y="1389"/>
              <a:ext cx="36" cy="223"/>
            </a:xfrm>
            <a:custGeom>
              <a:avLst/>
              <a:gdLst>
                <a:gd name="T0" fmla="*/ 0 w 36"/>
                <a:gd name="T1" fmla="*/ 442 h 447"/>
                <a:gd name="T2" fmla="*/ 0 w 36"/>
                <a:gd name="T3" fmla="*/ 433 h 447"/>
                <a:gd name="T4" fmla="*/ 0 w 36"/>
                <a:gd name="T5" fmla="*/ 423 h 447"/>
                <a:gd name="T6" fmla="*/ 0 w 36"/>
                <a:gd name="T7" fmla="*/ 405 h 447"/>
                <a:gd name="T8" fmla="*/ 1 w 36"/>
                <a:gd name="T9" fmla="*/ 377 h 447"/>
                <a:gd name="T10" fmla="*/ 2 w 36"/>
                <a:gd name="T11" fmla="*/ 345 h 447"/>
                <a:gd name="T12" fmla="*/ 3 w 36"/>
                <a:gd name="T13" fmla="*/ 296 h 447"/>
                <a:gd name="T14" fmla="*/ 5 w 36"/>
                <a:gd name="T15" fmla="*/ 263 h 447"/>
                <a:gd name="T16" fmla="*/ 5 w 36"/>
                <a:gd name="T17" fmla="*/ 235 h 447"/>
                <a:gd name="T18" fmla="*/ 6 w 36"/>
                <a:gd name="T19" fmla="*/ 199 h 447"/>
                <a:gd name="T20" fmla="*/ 7 w 36"/>
                <a:gd name="T21" fmla="*/ 155 h 447"/>
                <a:gd name="T22" fmla="*/ 9 w 36"/>
                <a:gd name="T23" fmla="*/ 113 h 447"/>
                <a:gd name="T24" fmla="*/ 9 w 36"/>
                <a:gd name="T25" fmla="*/ 95 h 447"/>
                <a:gd name="T26" fmla="*/ 11 w 36"/>
                <a:gd name="T27" fmla="*/ 77 h 447"/>
                <a:gd name="T28" fmla="*/ 12 w 36"/>
                <a:gd name="T29" fmla="*/ 62 h 447"/>
                <a:gd name="T30" fmla="*/ 13 w 36"/>
                <a:gd name="T31" fmla="*/ 37 h 447"/>
                <a:gd name="T32" fmla="*/ 13 w 36"/>
                <a:gd name="T33" fmla="*/ 27 h 447"/>
                <a:gd name="T34" fmla="*/ 14 w 36"/>
                <a:gd name="T35" fmla="*/ 16 h 447"/>
                <a:gd name="T36" fmla="*/ 16 w 36"/>
                <a:gd name="T37" fmla="*/ 9 h 447"/>
                <a:gd name="T38" fmla="*/ 16 w 36"/>
                <a:gd name="T39" fmla="*/ 4 h 447"/>
                <a:gd name="T40" fmla="*/ 17 w 36"/>
                <a:gd name="T41" fmla="*/ 0 h 447"/>
                <a:gd name="T42" fmla="*/ 18 w 36"/>
                <a:gd name="T43" fmla="*/ 0 h 447"/>
                <a:gd name="T44" fmla="*/ 18 w 36"/>
                <a:gd name="T45" fmla="*/ 0 h 447"/>
                <a:gd name="T46" fmla="*/ 19 w 36"/>
                <a:gd name="T47" fmla="*/ 4 h 447"/>
                <a:gd name="T48" fmla="*/ 19 w 36"/>
                <a:gd name="T49" fmla="*/ 9 h 447"/>
                <a:gd name="T50" fmla="*/ 20 w 36"/>
                <a:gd name="T51" fmla="*/ 18 h 447"/>
                <a:gd name="T52" fmla="*/ 22 w 36"/>
                <a:gd name="T53" fmla="*/ 27 h 447"/>
                <a:gd name="T54" fmla="*/ 22 w 36"/>
                <a:gd name="T55" fmla="*/ 37 h 447"/>
                <a:gd name="T56" fmla="*/ 24 w 36"/>
                <a:gd name="T57" fmla="*/ 62 h 447"/>
                <a:gd name="T58" fmla="*/ 24 w 36"/>
                <a:gd name="T59" fmla="*/ 77 h 447"/>
                <a:gd name="T60" fmla="*/ 25 w 36"/>
                <a:gd name="T61" fmla="*/ 95 h 447"/>
                <a:gd name="T62" fmla="*/ 27 w 36"/>
                <a:gd name="T63" fmla="*/ 113 h 447"/>
                <a:gd name="T64" fmla="*/ 29 w 36"/>
                <a:gd name="T65" fmla="*/ 153 h 447"/>
                <a:gd name="T66" fmla="*/ 30 w 36"/>
                <a:gd name="T67" fmla="*/ 199 h 447"/>
                <a:gd name="T68" fmla="*/ 31 w 36"/>
                <a:gd name="T69" fmla="*/ 235 h 447"/>
                <a:gd name="T70" fmla="*/ 33 w 36"/>
                <a:gd name="T71" fmla="*/ 263 h 447"/>
                <a:gd name="T72" fmla="*/ 33 w 36"/>
                <a:gd name="T73" fmla="*/ 293 h 447"/>
                <a:gd name="T74" fmla="*/ 34 w 36"/>
                <a:gd name="T75" fmla="*/ 341 h 447"/>
                <a:gd name="T76" fmla="*/ 34 w 36"/>
                <a:gd name="T77" fmla="*/ 372 h 447"/>
                <a:gd name="T78" fmla="*/ 35 w 36"/>
                <a:gd name="T79" fmla="*/ 400 h 447"/>
                <a:gd name="T80" fmla="*/ 35 w 36"/>
                <a:gd name="T81" fmla="*/ 426 h 447"/>
                <a:gd name="T82" fmla="*/ 35 w 36"/>
                <a:gd name="T83" fmla="*/ 44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6" h="447">
                  <a:moveTo>
                    <a:pt x="0" y="447"/>
                  </a:moveTo>
                  <a:lnTo>
                    <a:pt x="0" y="442"/>
                  </a:lnTo>
                  <a:lnTo>
                    <a:pt x="0" y="438"/>
                  </a:lnTo>
                  <a:lnTo>
                    <a:pt x="0" y="433"/>
                  </a:lnTo>
                  <a:lnTo>
                    <a:pt x="0" y="429"/>
                  </a:lnTo>
                  <a:lnTo>
                    <a:pt x="0" y="423"/>
                  </a:lnTo>
                  <a:lnTo>
                    <a:pt x="0" y="417"/>
                  </a:lnTo>
                  <a:lnTo>
                    <a:pt x="0" y="405"/>
                  </a:lnTo>
                  <a:lnTo>
                    <a:pt x="1" y="391"/>
                  </a:lnTo>
                  <a:lnTo>
                    <a:pt x="1" y="377"/>
                  </a:lnTo>
                  <a:lnTo>
                    <a:pt x="1" y="360"/>
                  </a:lnTo>
                  <a:lnTo>
                    <a:pt x="2" y="345"/>
                  </a:lnTo>
                  <a:lnTo>
                    <a:pt x="2" y="313"/>
                  </a:lnTo>
                  <a:lnTo>
                    <a:pt x="3" y="296"/>
                  </a:lnTo>
                  <a:lnTo>
                    <a:pt x="3" y="280"/>
                  </a:lnTo>
                  <a:lnTo>
                    <a:pt x="5" y="263"/>
                  </a:lnTo>
                  <a:lnTo>
                    <a:pt x="5" y="250"/>
                  </a:lnTo>
                  <a:lnTo>
                    <a:pt x="5" y="235"/>
                  </a:lnTo>
                  <a:lnTo>
                    <a:pt x="6" y="223"/>
                  </a:lnTo>
                  <a:lnTo>
                    <a:pt x="6" y="199"/>
                  </a:lnTo>
                  <a:lnTo>
                    <a:pt x="7" y="177"/>
                  </a:lnTo>
                  <a:lnTo>
                    <a:pt x="7" y="155"/>
                  </a:lnTo>
                  <a:lnTo>
                    <a:pt x="8" y="132"/>
                  </a:lnTo>
                  <a:lnTo>
                    <a:pt x="9" y="113"/>
                  </a:lnTo>
                  <a:lnTo>
                    <a:pt x="9" y="104"/>
                  </a:lnTo>
                  <a:lnTo>
                    <a:pt x="9" y="95"/>
                  </a:lnTo>
                  <a:lnTo>
                    <a:pt x="11" y="86"/>
                  </a:lnTo>
                  <a:lnTo>
                    <a:pt x="11" y="77"/>
                  </a:lnTo>
                  <a:lnTo>
                    <a:pt x="11" y="70"/>
                  </a:lnTo>
                  <a:lnTo>
                    <a:pt x="12" y="62"/>
                  </a:lnTo>
                  <a:lnTo>
                    <a:pt x="12" y="49"/>
                  </a:lnTo>
                  <a:lnTo>
                    <a:pt x="13" y="37"/>
                  </a:lnTo>
                  <a:lnTo>
                    <a:pt x="13" y="31"/>
                  </a:lnTo>
                  <a:lnTo>
                    <a:pt x="13" y="27"/>
                  </a:lnTo>
                  <a:lnTo>
                    <a:pt x="14" y="21"/>
                  </a:lnTo>
                  <a:lnTo>
                    <a:pt x="14" y="16"/>
                  </a:lnTo>
                  <a:lnTo>
                    <a:pt x="14" y="13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6" y="4"/>
                  </a:lnTo>
                  <a:lnTo>
                    <a:pt x="17" y="1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1"/>
                  </a:lnTo>
                  <a:lnTo>
                    <a:pt x="19" y="4"/>
                  </a:lnTo>
                  <a:lnTo>
                    <a:pt x="19" y="6"/>
                  </a:lnTo>
                  <a:lnTo>
                    <a:pt x="19" y="9"/>
                  </a:lnTo>
                  <a:lnTo>
                    <a:pt x="20" y="13"/>
                  </a:lnTo>
                  <a:lnTo>
                    <a:pt x="20" y="18"/>
                  </a:lnTo>
                  <a:lnTo>
                    <a:pt x="20" y="22"/>
                  </a:lnTo>
                  <a:lnTo>
                    <a:pt x="22" y="27"/>
                  </a:lnTo>
                  <a:lnTo>
                    <a:pt x="22" y="31"/>
                  </a:lnTo>
                  <a:lnTo>
                    <a:pt x="22" y="37"/>
                  </a:lnTo>
                  <a:lnTo>
                    <a:pt x="23" y="49"/>
                  </a:lnTo>
                  <a:lnTo>
                    <a:pt x="24" y="62"/>
                  </a:lnTo>
                  <a:lnTo>
                    <a:pt x="24" y="70"/>
                  </a:lnTo>
                  <a:lnTo>
                    <a:pt x="24" y="77"/>
                  </a:lnTo>
                  <a:lnTo>
                    <a:pt x="25" y="86"/>
                  </a:lnTo>
                  <a:lnTo>
                    <a:pt x="25" y="95"/>
                  </a:lnTo>
                  <a:lnTo>
                    <a:pt x="25" y="104"/>
                  </a:lnTo>
                  <a:lnTo>
                    <a:pt x="27" y="113"/>
                  </a:lnTo>
                  <a:lnTo>
                    <a:pt x="28" y="132"/>
                  </a:lnTo>
                  <a:lnTo>
                    <a:pt x="29" y="153"/>
                  </a:lnTo>
                  <a:lnTo>
                    <a:pt x="29" y="176"/>
                  </a:lnTo>
                  <a:lnTo>
                    <a:pt x="30" y="199"/>
                  </a:lnTo>
                  <a:lnTo>
                    <a:pt x="31" y="223"/>
                  </a:lnTo>
                  <a:lnTo>
                    <a:pt x="31" y="235"/>
                  </a:lnTo>
                  <a:lnTo>
                    <a:pt x="31" y="249"/>
                  </a:lnTo>
                  <a:lnTo>
                    <a:pt x="33" y="263"/>
                  </a:lnTo>
                  <a:lnTo>
                    <a:pt x="33" y="278"/>
                  </a:lnTo>
                  <a:lnTo>
                    <a:pt x="33" y="293"/>
                  </a:lnTo>
                  <a:lnTo>
                    <a:pt x="34" y="310"/>
                  </a:lnTo>
                  <a:lnTo>
                    <a:pt x="34" y="341"/>
                  </a:lnTo>
                  <a:lnTo>
                    <a:pt x="34" y="356"/>
                  </a:lnTo>
                  <a:lnTo>
                    <a:pt x="34" y="372"/>
                  </a:lnTo>
                  <a:lnTo>
                    <a:pt x="35" y="387"/>
                  </a:lnTo>
                  <a:lnTo>
                    <a:pt x="35" y="400"/>
                  </a:lnTo>
                  <a:lnTo>
                    <a:pt x="35" y="414"/>
                  </a:lnTo>
                  <a:lnTo>
                    <a:pt x="35" y="426"/>
                  </a:lnTo>
                  <a:lnTo>
                    <a:pt x="35" y="436"/>
                  </a:lnTo>
                  <a:lnTo>
                    <a:pt x="35" y="441"/>
                  </a:lnTo>
                  <a:lnTo>
                    <a:pt x="36" y="447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48" name="Freeform 416"/>
            <p:cNvSpPr>
              <a:spLocks/>
            </p:cNvSpPr>
            <p:nvPr/>
          </p:nvSpPr>
          <p:spPr bwMode="auto">
            <a:xfrm>
              <a:off x="4438" y="1612"/>
              <a:ext cx="36" cy="224"/>
            </a:xfrm>
            <a:custGeom>
              <a:avLst/>
              <a:gdLst>
                <a:gd name="T0" fmla="*/ 0 w 36"/>
                <a:gd name="T1" fmla="*/ 3 h 446"/>
                <a:gd name="T2" fmla="*/ 0 w 36"/>
                <a:gd name="T3" fmla="*/ 11 h 446"/>
                <a:gd name="T4" fmla="*/ 0 w 36"/>
                <a:gd name="T5" fmla="*/ 22 h 446"/>
                <a:gd name="T6" fmla="*/ 0 w 36"/>
                <a:gd name="T7" fmla="*/ 40 h 446"/>
                <a:gd name="T8" fmla="*/ 1 w 36"/>
                <a:gd name="T9" fmla="*/ 70 h 446"/>
                <a:gd name="T10" fmla="*/ 2 w 36"/>
                <a:gd name="T11" fmla="*/ 101 h 446"/>
                <a:gd name="T12" fmla="*/ 3 w 36"/>
                <a:gd name="T13" fmla="*/ 150 h 446"/>
                <a:gd name="T14" fmla="*/ 5 w 36"/>
                <a:gd name="T15" fmla="*/ 181 h 446"/>
                <a:gd name="T16" fmla="*/ 5 w 36"/>
                <a:gd name="T17" fmla="*/ 209 h 446"/>
                <a:gd name="T18" fmla="*/ 6 w 36"/>
                <a:gd name="T19" fmla="*/ 245 h 446"/>
                <a:gd name="T20" fmla="*/ 7 w 36"/>
                <a:gd name="T21" fmla="*/ 290 h 446"/>
                <a:gd name="T22" fmla="*/ 10 w 36"/>
                <a:gd name="T23" fmla="*/ 332 h 446"/>
                <a:gd name="T24" fmla="*/ 10 w 36"/>
                <a:gd name="T25" fmla="*/ 349 h 446"/>
                <a:gd name="T26" fmla="*/ 11 w 36"/>
                <a:gd name="T27" fmla="*/ 367 h 446"/>
                <a:gd name="T28" fmla="*/ 12 w 36"/>
                <a:gd name="T29" fmla="*/ 382 h 446"/>
                <a:gd name="T30" fmla="*/ 13 w 36"/>
                <a:gd name="T31" fmla="*/ 407 h 446"/>
                <a:gd name="T32" fmla="*/ 13 w 36"/>
                <a:gd name="T33" fmla="*/ 418 h 446"/>
                <a:gd name="T34" fmla="*/ 14 w 36"/>
                <a:gd name="T35" fmla="*/ 428 h 446"/>
                <a:gd name="T36" fmla="*/ 16 w 36"/>
                <a:gd name="T37" fmla="*/ 436 h 446"/>
                <a:gd name="T38" fmla="*/ 16 w 36"/>
                <a:gd name="T39" fmla="*/ 440 h 446"/>
                <a:gd name="T40" fmla="*/ 17 w 36"/>
                <a:gd name="T41" fmla="*/ 445 h 446"/>
                <a:gd name="T42" fmla="*/ 18 w 36"/>
                <a:gd name="T43" fmla="*/ 446 h 446"/>
                <a:gd name="T44" fmla="*/ 18 w 36"/>
                <a:gd name="T45" fmla="*/ 445 h 446"/>
                <a:gd name="T46" fmla="*/ 19 w 36"/>
                <a:gd name="T47" fmla="*/ 440 h 446"/>
                <a:gd name="T48" fmla="*/ 19 w 36"/>
                <a:gd name="T49" fmla="*/ 436 h 446"/>
                <a:gd name="T50" fmla="*/ 21 w 36"/>
                <a:gd name="T51" fmla="*/ 428 h 446"/>
                <a:gd name="T52" fmla="*/ 22 w 36"/>
                <a:gd name="T53" fmla="*/ 418 h 446"/>
                <a:gd name="T54" fmla="*/ 22 w 36"/>
                <a:gd name="T55" fmla="*/ 407 h 446"/>
                <a:gd name="T56" fmla="*/ 24 w 36"/>
                <a:gd name="T57" fmla="*/ 382 h 446"/>
                <a:gd name="T58" fmla="*/ 24 w 36"/>
                <a:gd name="T59" fmla="*/ 367 h 446"/>
                <a:gd name="T60" fmla="*/ 25 w 36"/>
                <a:gd name="T61" fmla="*/ 349 h 446"/>
                <a:gd name="T62" fmla="*/ 27 w 36"/>
                <a:gd name="T63" fmla="*/ 332 h 446"/>
                <a:gd name="T64" fmla="*/ 29 w 36"/>
                <a:gd name="T65" fmla="*/ 291 h 446"/>
                <a:gd name="T66" fmla="*/ 30 w 36"/>
                <a:gd name="T67" fmla="*/ 245 h 446"/>
                <a:gd name="T68" fmla="*/ 32 w 36"/>
                <a:gd name="T69" fmla="*/ 209 h 446"/>
                <a:gd name="T70" fmla="*/ 33 w 36"/>
                <a:gd name="T71" fmla="*/ 181 h 446"/>
                <a:gd name="T72" fmla="*/ 33 w 36"/>
                <a:gd name="T73" fmla="*/ 151 h 446"/>
                <a:gd name="T74" fmla="*/ 34 w 36"/>
                <a:gd name="T75" fmla="*/ 104 h 446"/>
                <a:gd name="T76" fmla="*/ 34 w 36"/>
                <a:gd name="T77" fmla="*/ 72 h 446"/>
                <a:gd name="T78" fmla="*/ 35 w 36"/>
                <a:gd name="T79" fmla="*/ 44 h 446"/>
                <a:gd name="T80" fmla="*/ 35 w 36"/>
                <a:gd name="T81" fmla="*/ 19 h 446"/>
                <a:gd name="T82" fmla="*/ 35 w 36"/>
                <a:gd name="T83" fmla="*/ 4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6" h="446">
                  <a:moveTo>
                    <a:pt x="0" y="0"/>
                  </a:moveTo>
                  <a:lnTo>
                    <a:pt x="0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0" y="40"/>
                  </a:lnTo>
                  <a:lnTo>
                    <a:pt x="1" y="55"/>
                  </a:lnTo>
                  <a:lnTo>
                    <a:pt x="1" y="70"/>
                  </a:lnTo>
                  <a:lnTo>
                    <a:pt x="1" y="84"/>
                  </a:lnTo>
                  <a:lnTo>
                    <a:pt x="2" y="101"/>
                  </a:lnTo>
                  <a:lnTo>
                    <a:pt x="2" y="134"/>
                  </a:lnTo>
                  <a:lnTo>
                    <a:pt x="3" y="150"/>
                  </a:lnTo>
                  <a:lnTo>
                    <a:pt x="3" y="165"/>
                  </a:lnTo>
                  <a:lnTo>
                    <a:pt x="5" y="181"/>
                  </a:lnTo>
                  <a:lnTo>
                    <a:pt x="5" y="196"/>
                  </a:lnTo>
                  <a:lnTo>
                    <a:pt x="5" y="209"/>
                  </a:lnTo>
                  <a:lnTo>
                    <a:pt x="6" y="221"/>
                  </a:lnTo>
                  <a:lnTo>
                    <a:pt x="6" y="245"/>
                  </a:lnTo>
                  <a:lnTo>
                    <a:pt x="7" y="269"/>
                  </a:lnTo>
                  <a:lnTo>
                    <a:pt x="7" y="290"/>
                  </a:lnTo>
                  <a:lnTo>
                    <a:pt x="8" y="312"/>
                  </a:lnTo>
                  <a:lnTo>
                    <a:pt x="10" y="332"/>
                  </a:lnTo>
                  <a:lnTo>
                    <a:pt x="10" y="340"/>
                  </a:lnTo>
                  <a:lnTo>
                    <a:pt x="10" y="349"/>
                  </a:lnTo>
                  <a:lnTo>
                    <a:pt x="11" y="358"/>
                  </a:lnTo>
                  <a:lnTo>
                    <a:pt x="11" y="367"/>
                  </a:lnTo>
                  <a:lnTo>
                    <a:pt x="11" y="375"/>
                  </a:lnTo>
                  <a:lnTo>
                    <a:pt x="12" y="382"/>
                  </a:lnTo>
                  <a:lnTo>
                    <a:pt x="12" y="396"/>
                  </a:lnTo>
                  <a:lnTo>
                    <a:pt x="13" y="407"/>
                  </a:lnTo>
                  <a:lnTo>
                    <a:pt x="13" y="413"/>
                  </a:lnTo>
                  <a:lnTo>
                    <a:pt x="13" y="418"/>
                  </a:lnTo>
                  <a:lnTo>
                    <a:pt x="14" y="424"/>
                  </a:lnTo>
                  <a:lnTo>
                    <a:pt x="14" y="428"/>
                  </a:lnTo>
                  <a:lnTo>
                    <a:pt x="14" y="431"/>
                  </a:lnTo>
                  <a:lnTo>
                    <a:pt x="16" y="436"/>
                  </a:lnTo>
                  <a:lnTo>
                    <a:pt x="16" y="439"/>
                  </a:lnTo>
                  <a:lnTo>
                    <a:pt x="16" y="440"/>
                  </a:lnTo>
                  <a:lnTo>
                    <a:pt x="17" y="443"/>
                  </a:lnTo>
                  <a:lnTo>
                    <a:pt x="17" y="445"/>
                  </a:lnTo>
                  <a:lnTo>
                    <a:pt x="17" y="445"/>
                  </a:lnTo>
                  <a:lnTo>
                    <a:pt x="18" y="446"/>
                  </a:lnTo>
                  <a:lnTo>
                    <a:pt x="18" y="445"/>
                  </a:lnTo>
                  <a:lnTo>
                    <a:pt x="18" y="445"/>
                  </a:lnTo>
                  <a:lnTo>
                    <a:pt x="18" y="443"/>
                  </a:lnTo>
                  <a:lnTo>
                    <a:pt x="19" y="440"/>
                  </a:lnTo>
                  <a:lnTo>
                    <a:pt x="19" y="439"/>
                  </a:lnTo>
                  <a:lnTo>
                    <a:pt x="19" y="436"/>
                  </a:lnTo>
                  <a:lnTo>
                    <a:pt x="21" y="431"/>
                  </a:lnTo>
                  <a:lnTo>
                    <a:pt x="21" y="428"/>
                  </a:lnTo>
                  <a:lnTo>
                    <a:pt x="21" y="424"/>
                  </a:lnTo>
                  <a:lnTo>
                    <a:pt x="22" y="418"/>
                  </a:lnTo>
                  <a:lnTo>
                    <a:pt x="22" y="413"/>
                  </a:lnTo>
                  <a:lnTo>
                    <a:pt x="22" y="407"/>
                  </a:lnTo>
                  <a:lnTo>
                    <a:pt x="23" y="396"/>
                  </a:lnTo>
                  <a:lnTo>
                    <a:pt x="24" y="382"/>
                  </a:lnTo>
                  <a:lnTo>
                    <a:pt x="24" y="375"/>
                  </a:lnTo>
                  <a:lnTo>
                    <a:pt x="24" y="367"/>
                  </a:lnTo>
                  <a:lnTo>
                    <a:pt x="25" y="358"/>
                  </a:lnTo>
                  <a:lnTo>
                    <a:pt x="25" y="349"/>
                  </a:lnTo>
                  <a:lnTo>
                    <a:pt x="25" y="340"/>
                  </a:lnTo>
                  <a:lnTo>
                    <a:pt x="27" y="332"/>
                  </a:lnTo>
                  <a:lnTo>
                    <a:pt x="28" y="312"/>
                  </a:lnTo>
                  <a:lnTo>
                    <a:pt x="29" y="291"/>
                  </a:lnTo>
                  <a:lnTo>
                    <a:pt x="29" y="269"/>
                  </a:lnTo>
                  <a:lnTo>
                    <a:pt x="30" y="245"/>
                  </a:lnTo>
                  <a:lnTo>
                    <a:pt x="32" y="223"/>
                  </a:lnTo>
                  <a:lnTo>
                    <a:pt x="32" y="209"/>
                  </a:lnTo>
                  <a:lnTo>
                    <a:pt x="32" y="196"/>
                  </a:lnTo>
                  <a:lnTo>
                    <a:pt x="33" y="181"/>
                  </a:lnTo>
                  <a:lnTo>
                    <a:pt x="33" y="166"/>
                  </a:lnTo>
                  <a:lnTo>
                    <a:pt x="33" y="151"/>
                  </a:lnTo>
                  <a:lnTo>
                    <a:pt x="34" y="135"/>
                  </a:lnTo>
                  <a:lnTo>
                    <a:pt x="34" y="104"/>
                  </a:lnTo>
                  <a:lnTo>
                    <a:pt x="34" y="89"/>
                  </a:lnTo>
                  <a:lnTo>
                    <a:pt x="34" y="72"/>
                  </a:lnTo>
                  <a:lnTo>
                    <a:pt x="35" y="58"/>
                  </a:lnTo>
                  <a:lnTo>
                    <a:pt x="35" y="44"/>
                  </a:lnTo>
                  <a:lnTo>
                    <a:pt x="35" y="31"/>
                  </a:lnTo>
                  <a:lnTo>
                    <a:pt x="35" y="19"/>
                  </a:lnTo>
                  <a:lnTo>
                    <a:pt x="35" y="8"/>
                  </a:lnTo>
                  <a:lnTo>
                    <a:pt x="35" y="4"/>
                  </a:lnTo>
                  <a:lnTo>
                    <a:pt x="36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49" name="Freeform 417"/>
            <p:cNvSpPr>
              <a:spLocks/>
            </p:cNvSpPr>
            <p:nvPr/>
          </p:nvSpPr>
          <p:spPr bwMode="auto">
            <a:xfrm>
              <a:off x="4511" y="1612"/>
              <a:ext cx="37" cy="224"/>
            </a:xfrm>
            <a:custGeom>
              <a:avLst/>
              <a:gdLst>
                <a:gd name="T0" fmla="*/ 0 w 37"/>
                <a:gd name="T1" fmla="*/ 3 h 446"/>
                <a:gd name="T2" fmla="*/ 0 w 37"/>
                <a:gd name="T3" fmla="*/ 11 h 446"/>
                <a:gd name="T4" fmla="*/ 0 w 37"/>
                <a:gd name="T5" fmla="*/ 22 h 446"/>
                <a:gd name="T6" fmla="*/ 0 w 37"/>
                <a:gd name="T7" fmla="*/ 40 h 446"/>
                <a:gd name="T8" fmla="*/ 2 w 37"/>
                <a:gd name="T9" fmla="*/ 70 h 446"/>
                <a:gd name="T10" fmla="*/ 3 w 37"/>
                <a:gd name="T11" fmla="*/ 101 h 446"/>
                <a:gd name="T12" fmla="*/ 4 w 37"/>
                <a:gd name="T13" fmla="*/ 150 h 446"/>
                <a:gd name="T14" fmla="*/ 5 w 37"/>
                <a:gd name="T15" fmla="*/ 181 h 446"/>
                <a:gd name="T16" fmla="*/ 5 w 37"/>
                <a:gd name="T17" fmla="*/ 209 h 446"/>
                <a:gd name="T18" fmla="*/ 6 w 37"/>
                <a:gd name="T19" fmla="*/ 245 h 446"/>
                <a:gd name="T20" fmla="*/ 8 w 37"/>
                <a:gd name="T21" fmla="*/ 290 h 446"/>
                <a:gd name="T22" fmla="*/ 10 w 37"/>
                <a:gd name="T23" fmla="*/ 332 h 446"/>
                <a:gd name="T24" fmla="*/ 10 w 37"/>
                <a:gd name="T25" fmla="*/ 349 h 446"/>
                <a:gd name="T26" fmla="*/ 11 w 37"/>
                <a:gd name="T27" fmla="*/ 367 h 446"/>
                <a:gd name="T28" fmla="*/ 13 w 37"/>
                <a:gd name="T29" fmla="*/ 382 h 446"/>
                <a:gd name="T30" fmla="*/ 14 w 37"/>
                <a:gd name="T31" fmla="*/ 407 h 446"/>
                <a:gd name="T32" fmla="*/ 14 w 37"/>
                <a:gd name="T33" fmla="*/ 418 h 446"/>
                <a:gd name="T34" fmla="*/ 15 w 37"/>
                <a:gd name="T35" fmla="*/ 428 h 446"/>
                <a:gd name="T36" fmla="*/ 16 w 37"/>
                <a:gd name="T37" fmla="*/ 436 h 446"/>
                <a:gd name="T38" fmla="*/ 16 w 37"/>
                <a:gd name="T39" fmla="*/ 440 h 446"/>
                <a:gd name="T40" fmla="*/ 17 w 37"/>
                <a:gd name="T41" fmla="*/ 445 h 446"/>
                <a:gd name="T42" fmla="*/ 19 w 37"/>
                <a:gd name="T43" fmla="*/ 446 h 446"/>
                <a:gd name="T44" fmla="*/ 19 w 37"/>
                <a:gd name="T45" fmla="*/ 445 h 446"/>
                <a:gd name="T46" fmla="*/ 20 w 37"/>
                <a:gd name="T47" fmla="*/ 440 h 446"/>
                <a:gd name="T48" fmla="*/ 20 w 37"/>
                <a:gd name="T49" fmla="*/ 436 h 446"/>
                <a:gd name="T50" fmla="*/ 21 w 37"/>
                <a:gd name="T51" fmla="*/ 428 h 446"/>
                <a:gd name="T52" fmla="*/ 22 w 37"/>
                <a:gd name="T53" fmla="*/ 418 h 446"/>
                <a:gd name="T54" fmla="*/ 22 w 37"/>
                <a:gd name="T55" fmla="*/ 407 h 446"/>
                <a:gd name="T56" fmla="*/ 25 w 37"/>
                <a:gd name="T57" fmla="*/ 382 h 446"/>
                <a:gd name="T58" fmla="*/ 25 w 37"/>
                <a:gd name="T59" fmla="*/ 367 h 446"/>
                <a:gd name="T60" fmla="*/ 26 w 37"/>
                <a:gd name="T61" fmla="*/ 349 h 446"/>
                <a:gd name="T62" fmla="*/ 27 w 37"/>
                <a:gd name="T63" fmla="*/ 332 h 446"/>
                <a:gd name="T64" fmla="*/ 30 w 37"/>
                <a:gd name="T65" fmla="*/ 291 h 446"/>
                <a:gd name="T66" fmla="*/ 31 w 37"/>
                <a:gd name="T67" fmla="*/ 245 h 446"/>
                <a:gd name="T68" fmla="*/ 32 w 37"/>
                <a:gd name="T69" fmla="*/ 209 h 446"/>
                <a:gd name="T70" fmla="*/ 33 w 37"/>
                <a:gd name="T71" fmla="*/ 181 h 446"/>
                <a:gd name="T72" fmla="*/ 33 w 37"/>
                <a:gd name="T73" fmla="*/ 151 h 446"/>
                <a:gd name="T74" fmla="*/ 35 w 37"/>
                <a:gd name="T75" fmla="*/ 104 h 446"/>
                <a:gd name="T76" fmla="*/ 35 w 37"/>
                <a:gd name="T77" fmla="*/ 72 h 446"/>
                <a:gd name="T78" fmla="*/ 36 w 37"/>
                <a:gd name="T79" fmla="*/ 44 h 446"/>
                <a:gd name="T80" fmla="*/ 36 w 37"/>
                <a:gd name="T81" fmla="*/ 19 h 446"/>
                <a:gd name="T82" fmla="*/ 36 w 37"/>
                <a:gd name="T83" fmla="*/ 4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7" h="446">
                  <a:moveTo>
                    <a:pt x="0" y="0"/>
                  </a:moveTo>
                  <a:lnTo>
                    <a:pt x="0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0" y="40"/>
                  </a:lnTo>
                  <a:lnTo>
                    <a:pt x="2" y="55"/>
                  </a:lnTo>
                  <a:lnTo>
                    <a:pt x="2" y="70"/>
                  </a:lnTo>
                  <a:lnTo>
                    <a:pt x="2" y="84"/>
                  </a:lnTo>
                  <a:lnTo>
                    <a:pt x="3" y="101"/>
                  </a:lnTo>
                  <a:lnTo>
                    <a:pt x="3" y="134"/>
                  </a:lnTo>
                  <a:lnTo>
                    <a:pt x="4" y="150"/>
                  </a:lnTo>
                  <a:lnTo>
                    <a:pt x="4" y="165"/>
                  </a:lnTo>
                  <a:lnTo>
                    <a:pt x="5" y="181"/>
                  </a:lnTo>
                  <a:lnTo>
                    <a:pt x="5" y="196"/>
                  </a:lnTo>
                  <a:lnTo>
                    <a:pt x="5" y="209"/>
                  </a:lnTo>
                  <a:lnTo>
                    <a:pt x="6" y="221"/>
                  </a:lnTo>
                  <a:lnTo>
                    <a:pt x="6" y="245"/>
                  </a:lnTo>
                  <a:lnTo>
                    <a:pt x="8" y="269"/>
                  </a:lnTo>
                  <a:lnTo>
                    <a:pt x="8" y="290"/>
                  </a:lnTo>
                  <a:lnTo>
                    <a:pt x="9" y="312"/>
                  </a:lnTo>
                  <a:lnTo>
                    <a:pt x="10" y="332"/>
                  </a:lnTo>
                  <a:lnTo>
                    <a:pt x="10" y="340"/>
                  </a:lnTo>
                  <a:lnTo>
                    <a:pt x="10" y="349"/>
                  </a:lnTo>
                  <a:lnTo>
                    <a:pt x="11" y="358"/>
                  </a:lnTo>
                  <a:lnTo>
                    <a:pt x="11" y="367"/>
                  </a:lnTo>
                  <a:lnTo>
                    <a:pt x="11" y="375"/>
                  </a:lnTo>
                  <a:lnTo>
                    <a:pt x="13" y="382"/>
                  </a:lnTo>
                  <a:lnTo>
                    <a:pt x="13" y="396"/>
                  </a:lnTo>
                  <a:lnTo>
                    <a:pt x="14" y="407"/>
                  </a:lnTo>
                  <a:lnTo>
                    <a:pt x="14" y="413"/>
                  </a:lnTo>
                  <a:lnTo>
                    <a:pt x="14" y="418"/>
                  </a:lnTo>
                  <a:lnTo>
                    <a:pt x="15" y="424"/>
                  </a:lnTo>
                  <a:lnTo>
                    <a:pt x="15" y="428"/>
                  </a:lnTo>
                  <a:lnTo>
                    <a:pt x="15" y="431"/>
                  </a:lnTo>
                  <a:lnTo>
                    <a:pt x="16" y="436"/>
                  </a:lnTo>
                  <a:lnTo>
                    <a:pt x="16" y="439"/>
                  </a:lnTo>
                  <a:lnTo>
                    <a:pt x="16" y="440"/>
                  </a:lnTo>
                  <a:lnTo>
                    <a:pt x="17" y="443"/>
                  </a:lnTo>
                  <a:lnTo>
                    <a:pt x="17" y="445"/>
                  </a:lnTo>
                  <a:lnTo>
                    <a:pt x="17" y="445"/>
                  </a:lnTo>
                  <a:lnTo>
                    <a:pt x="19" y="446"/>
                  </a:lnTo>
                  <a:lnTo>
                    <a:pt x="19" y="445"/>
                  </a:lnTo>
                  <a:lnTo>
                    <a:pt x="19" y="445"/>
                  </a:lnTo>
                  <a:lnTo>
                    <a:pt x="19" y="443"/>
                  </a:lnTo>
                  <a:lnTo>
                    <a:pt x="20" y="440"/>
                  </a:lnTo>
                  <a:lnTo>
                    <a:pt x="20" y="439"/>
                  </a:lnTo>
                  <a:lnTo>
                    <a:pt x="20" y="436"/>
                  </a:lnTo>
                  <a:lnTo>
                    <a:pt x="21" y="431"/>
                  </a:lnTo>
                  <a:lnTo>
                    <a:pt x="21" y="428"/>
                  </a:lnTo>
                  <a:lnTo>
                    <a:pt x="21" y="424"/>
                  </a:lnTo>
                  <a:lnTo>
                    <a:pt x="22" y="418"/>
                  </a:lnTo>
                  <a:lnTo>
                    <a:pt x="22" y="413"/>
                  </a:lnTo>
                  <a:lnTo>
                    <a:pt x="22" y="407"/>
                  </a:lnTo>
                  <a:lnTo>
                    <a:pt x="24" y="396"/>
                  </a:lnTo>
                  <a:lnTo>
                    <a:pt x="25" y="382"/>
                  </a:lnTo>
                  <a:lnTo>
                    <a:pt x="25" y="375"/>
                  </a:lnTo>
                  <a:lnTo>
                    <a:pt x="25" y="367"/>
                  </a:lnTo>
                  <a:lnTo>
                    <a:pt x="26" y="358"/>
                  </a:lnTo>
                  <a:lnTo>
                    <a:pt x="26" y="349"/>
                  </a:lnTo>
                  <a:lnTo>
                    <a:pt x="26" y="340"/>
                  </a:lnTo>
                  <a:lnTo>
                    <a:pt x="27" y="332"/>
                  </a:lnTo>
                  <a:lnTo>
                    <a:pt x="28" y="312"/>
                  </a:lnTo>
                  <a:lnTo>
                    <a:pt x="30" y="291"/>
                  </a:lnTo>
                  <a:lnTo>
                    <a:pt x="30" y="269"/>
                  </a:lnTo>
                  <a:lnTo>
                    <a:pt x="31" y="245"/>
                  </a:lnTo>
                  <a:lnTo>
                    <a:pt x="32" y="223"/>
                  </a:lnTo>
                  <a:lnTo>
                    <a:pt x="32" y="209"/>
                  </a:lnTo>
                  <a:lnTo>
                    <a:pt x="32" y="196"/>
                  </a:lnTo>
                  <a:lnTo>
                    <a:pt x="33" y="181"/>
                  </a:lnTo>
                  <a:lnTo>
                    <a:pt x="33" y="166"/>
                  </a:lnTo>
                  <a:lnTo>
                    <a:pt x="33" y="151"/>
                  </a:lnTo>
                  <a:lnTo>
                    <a:pt x="35" y="135"/>
                  </a:lnTo>
                  <a:lnTo>
                    <a:pt x="35" y="104"/>
                  </a:lnTo>
                  <a:lnTo>
                    <a:pt x="35" y="89"/>
                  </a:lnTo>
                  <a:lnTo>
                    <a:pt x="35" y="72"/>
                  </a:lnTo>
                  <a:lnTo>
                    <a:pt x="36" y="58"/>
                  </a:lnTo>
                  <a:lnTo>
                    <a:pt x="36" y="44"/>
                  </a:lnTo>
                  <a:lnTo>
                    <a:pt x="36" y="31"/>
                  </a:lnTo>
                  <a:lnTo>
                    <a:pt x="36" y="19"/>
                  </a:lnTo>
                  <a:lnTo>
                    <a:pt x="36" y="8"/>
                  </a:lnTo>
                  <a:lnTo>
                    <a:pt x="36" y="4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50" name="Freeform 418"/>
            <p:cNvSpPr>
              <a:spLocks/>
            </p:cNvSpPr>
            <p:nvPr/>
          </p:nvSpPr>
          <p:spPr bwMode="auto">
            <a:xfrm>
              <a:off x="4585" y="1612"/>
              <a:ext cx="37" cy="224"/>
            </a:xfrm>
            <a:custGeom>
              <a:avLst/>
              <a:gdLst>
                <a:gd name="T0" fmla="*/ 0 w 37"/>
                <a:gd name="T1" fmla="*/ 3 h 446"/>
                <a:gd name="T2" fmla="*/ 0 w 37"/>
                <a:gd name="T3" fmla="*/ 11 h 446"/>
                <a:gd name="T4" fmla="*/ 0 w 37"/>
                <a:gd name="T5" fmla="*/ 22 h 446"/>
                <a:gd name="T6" fmla="*/ 0 w 37"/>
                <a:gd name="T7" fmla="*/ 40 h 446"/>
                <a:gd name="T8" fmla="*/ 1 w 37"/>
                <a:gd name="T9" fmla="*/ 70 h 446"/>
                <a:gd name="T10" fmla="*/ 2 w 37"/>
                <a:gd name="T11" fmla="*/ 101 h 446"/>
                <a:gd name="T12" fmla="*/ 4 w 37"/>
                <a:gd name="T13" fmla="*/ 150 h 446"/>
                <a:gd name="T14" fmla="*/ 5 w 37"/>
                <a:gd name="T15" fmla="*/ 181 h 446"/>
                <a:gd name="T16" fmla="*/ 5 w 37"/>
                <a:gd name="T17" fmla="*/ 209 h 446"/>
                <a:gd name="T18" fmla="*/ 6 w 37"/>
                <a:gd name="T19" fmla="*/ 245 h 446"/>
                <a:gd name="T20" fmla="*/ 7 w 37"/>
                <a:gd name="T21" fmla="*/ 290 h 446"/>
                <a:gd name="T22" fmla="*/ 10 w 37"/>
                <a:gd name="T23" fmla="*/ 332 h 446"/>
                <a:gd name="T24" fmla="*/ 10 w 37"/>
                <a:gd name="T25" fmla="*/ 349 h 446"/>
                <a:gd name="T26" fmla="*/ 11 w 37"/>
                <a:gd name="T27" fmla="*/ 367 h 446"/>
                <a:gd name="T28" fmla="*/ 12 w 37"/>
                <a:gd name="T29" fmla="*/ 382 h 446"/>
                <a:gd name="T30" fmla="*/ 13 w 37"/>
                <a:gd name="T31" fmla="*/ 407 h 446"/>
                <a:gd name="T32" fmla="*/ 13 w 37"/>
                <a:gd name="T33" fmla="*/ 418 h 446"/>
                <a:gd name="T34" fmla="*/ 15 w 37"/>
                <a:gd name="T35" fmla="*/ 428 h 446"/>
                <a:gd name="T36" fmla="*/ 16 w 37"/>
                <a:gd name="T37" fmla="*/ 436 h 446"/>
                <a:gd name="T38" fmla="*/ 16 w 37"/>
                <a:gd name="T39" fmla="*/ 440 h 446"/>
                <a:gd name="T40" fmla="*/ 17 w 37"/>
                <a:gd name="T41" fmla="*/ 445 h 446"/>
                <a:gd name="T42" fmla="*/ 18 w 37"/>
                <a:gd name="T43" fmla="*/ 446 h 446"/>
                <a:gd name="T44" fmla="*/ 18 w 37"/>
                <a:gd name="T45" fmla="*/ 445 h 446"/>
                <a:gd name="T46" fmla="*/ 19 w 37"/>
                <a:gd name="T47" fmla="*/ 440 h 446"/>
                <a:gd name="T48" fmla="*/ 19 w 37"/>
                <a:gd name="T49" fmla="*/ 436 h 446"/>
                <a:gd name="T50" fmla="*/ 21 w 37"/>
                <a:gd name="T51" fmla="*/ 428 h 446"/>
                <a:gd name="T52" fmla="*/ 22 w 37"/>
                <a:gd name="T53" fmla="*/ 418 h 446"/>
                <a:gd name="T54" fmla="*/ 22 w 37"/>
                <a:gd name="T55" fmla="*/ 407 h 446"/>
                <a:gd name="T56" fmla="*/ 24 w 37"/>
                <a:gd name="T57" fmla="*/ 382 h 446"/>
                <a:gd name="T58" fmla="*/ 24 w 37"/>
                <a:gd name="T59" fmla="*/ 367 h 446"/>
                <a:gd name="T60" fmla="*/ 26 w 37"/>
                <a:gd name="T61" fmla="*/ 349 h 446"/>
                <a:gd name="T62" fmla="*/ 27 w 37"/>
                <a:gd name="T63" fmla="*/ 332 h 446"/>
                <a:gd name="T64" fmla="*/ 29 w 37"/>
                <a:gd name="T65" fmla="*/ 291 h 446"/>
                <a:gd name="T66" fmla="*/ 30 w 37"/>
                <a:gd name="T67" fmla="*/ 245 h 446"/>
                <a:gd name="T68" fmla="*/ 32 w 37"/>
                <a:gd name="T69" fmla="*/ 209 h 446"/>
                <a:gd name="T70" fmla="*/ 33 w 37"/>
                <a:gd name="T71" fmla="*/ 181 h 446"/>
                <a:gd name="T72" fmla="*/ 33 w 37"/>
                <a:gd name="T73" fmla="*/ 151 h 446"/>
                <a:gd name="T74" fmla="*/ 34 w 37"/>
                <a:gd name="T75" fmla="*/ 104 h 446"/>
                <a:gd name="T76" fmla="*/ 34 w 37"/>
                <a:gd name="T77" fmla="*/ 72 h 446"/>
                <a:gd name="T78" fmla="*/ 35 w 37"/>
                <a:gd name="T79" fmla="*/ 44 h 446"/>
                <a:gd name="T80" fmla="*/ 35 w 37"/>
                <a:gd name="T81" fmla="*/ 19 h 446"/>
                <a:gd name="T82" fmla="*/ 35 w 37"/>
                <a:gd name="T83" fmla="*/ 4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7" h="446">
                  <a:moveTo>
                    <a:pt x="0" y="0"/>
                  </a:moveTo>
                  <a:lnTo>
                    <a:pt x="0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0" y="40"/>
                  </a:lnTo>
                  <a:lnTo>
                    <a:pt x="1" y="55"/>
                  </a:lnTo>
                  <a:lnTo>
                    <a:pt x="1" y="70"/>
                  </a:lnTo>
                  <a:lnTo>
                    <a:pt x="1" y="84"/>
                  </a:lnTo>
                  <a:lnTo>
                    <a:pt x="2" y="101"/>
                  </a:lnTo>
                  <a:lnTo>
                    <a:pt x="2" y="134"/>
                  </a:lnTo>
                  <a:lnTo>
                    <a:pt x="4" y="150"/>
                  </a:lnTo>
                  <a:lnTo>
                    <a:pt x="4" y="165"/>
                  </a:lnTo>
                  <a:lnTo>
                    <a:pt x="5" y="181"/>
                  </a:lnTo>
                  <a:lnTo>
                    <a:pt x="5" y="196"/>
                  </a:lnTo>
                  <a:lnTo>
                    <a:pt x="5" y="209"/>
                  </a:lnTo>
                  <a:lnTo>
                    <a:pt x="6" y="221"/>
                  </a:lnTo>
                  <a:lnTo>
                    <a:pt x="6" y="245"/>
                  </a:lnTo>
                  <a:lnTo>
                    <a:pt x="7" y="269"/>
                  </a:lnTo>
                  <a:lnTo>
                    <a:pt x="7" y="290"/>
                  </a:lnTo>
                  <a:lnTo>
                    <a:pt x="8" y="312"/>
                  </a:lnTo>
                  <a:lnTo>
                    <a:pt x="10" y="332"/>
                  </a:lnTo>
                  <a:lnTo>
                    <a:pt x="10" y="340"/>
                  </a:lnTo>
                  <a:lnTo>
                    <a:pt x="10" y="349"/>
                  </a:lnTo>
                  <a:lnTo>
                    <a:pt x="11" y="358"/>
                  </a:lnTo>
                  <a:lnTo>
                    <a:pt x="11" y="367"/>
                  </a:lnTo>
                  <a:lnTo>
                    <a:pt x="11" y="375"/>
                  </a:lnTo>
                  <a:lnTo>
                    <a:pt x="12" y="382"/>
                  </a:lnTo>
                  <a:lnTo>
                    <a:pt x="12" y="396"/>
                  </a:lnTo>
                  <a:lnTo>
                    <a:pt x="13" y="407"/>
                  </a:lnTo>
                  <a:lnTo>
                    <a:pt x="13" y="413"/>
                  </a:lnTo>
                  <a:lnTo>
                    <a:pt x="13" y="418"/>
                  </a:lnTo>
                  <a:lnTo>
                    <a:pt x="15" y="424"/>
                  </a:lnTo>
                  <a:lnTo>
                    <a:pt x="15" y="428"/>
                  </a:lnTo>
                  <a:lnTo>
                    <a:pt x="15" y="431"/>
                  </a:lnTo>
                  <a:lnTo>
                    <a:pt x="16" y="436"/>
                  </a:lnTo>
                  <a:lnTo>
                    <a:pt x="16" y="439"/>
                  </a:lnTo>
                  <a:lnTo>
                    <a:pt x="16" y="440"/>
                  </a:lnTo>
                  <a:lnTo>
                    <a:pt x="17" y="443"/>
                  </a:lnTo>
                  <a:lnTo>
                    <a:pt x="17" y="445"/>
                  </a:lnTo>
                  <a:lnTo>
                    <a:pt x="17" y="445"/>
                  </a:lnTo>
                  <a:lnTo>
                    <a:pt x="18" y="446"/>
                  </a:lnTo>
                  <a:lnTo>
                    <a:pt x="18" y="445"/>
                  </a:lnTo>
                  <a:lnTo>
                    <a:pt x="18" y="445"/>
                  </a:lnTo>
                  <a:lnTo>
                    <a:pt x="18" y="443"/>
                  </a:lnTo>
                  <a:lnTo>
                    <a:pt x="19" y="440"/>
                  </a:lnTo>
                  <a:lnTo>
                    <a:pt x="19" y="439"/>
                  </a:lnTo>
                  <a:lnTo>
                    <a:pt x="19" y="436"/>
                  </a:lnTo>
                  <a:lnTo>
                    <a:pt x="21" y="431"/>
                  </a:lnTo>
                  <a:lnTo>
                    <a:pt x="21" y="428"/>
                  </a:lnTo>
                  <a:lnTo>
                    <a:pt x="21" y="424"/>
                  </a:lnTo>
                  <a:lnTo>
                    <a:pt x="22" y="418"/>
                  </a:lnTo>
                  <a:lnTo>
                    <a:pt x="22" y="413"/>
                  </a:lnTo>
                  <a:lnTo>
                    <a:pt x="22" y="407"/>
                  </a:lnTo>
                  <a:lnTo>
                    <a:pt x="23" y="396"/>
                  </a:lnTo>
                  <a:lnTo>
                    <a:pt x="24" y="382"/>
                  </a:lnTo>
                  <a:lnTo>
                    <a:pt x="24" y="375"/>
                  </a:lnTo>
                  <a:lnTo>
                    <a:pt x="24" y="367"/>
                  </a:lnTo>
                  <a:lnTo>
                    <a:pt x="26" y="358"/>
                  </a:lnTo>
                  <a:lnTo>
                    <a:pt x="26" y="349"/>
                  </a:lnTo>
                  <a:lnTo>
                    <a:pt x="26" y="340"/>
                  </a:lnTo>
                  <a:lnTo>
                    <a:pt x="27" y="332"/>
                  </a:lnTo>
                  <a:lnTo>
                    <a:pt x="28" y="312"/>
                  </a:lnTo>
                  <a:lnTo>
                    <a:pt x="29" y="291"/>
                  </a:lnTo>
                  <a:lnTo>
                    <a:pt x="29" y="269"/>
                  </a:lnTo>
                  <a:lnTo>
                    <a:pt x="30" y="245"/>
                  </a:lnTo>
                  <a:lnTo>
                    <a:pt x="32" y="223"/>
                  </a:lnTo>
                  <a:lnTo>
                    <a:pt x="32" y="209"/>
                  </a:lnTo>
                  <a:lnTo>
                    <a:pt x="32" y="196"/>
                  </a:lnTo>
                  <a:lnTo>
                    <a:pt x="33" y="181"/>
                  </a:lnTo>
                  <a:lnTo>
                    <a:pt x="33" y="166"/>
                  </a:lnTo>
                  <a:lnTo>
                    <a:pt x="33" y="151"/>
                  </a:lnTo>
                  <a:lnTo>
                    <a:pt x="34" y="135"/>
                  </a:lnTo>
                  <a:lnTo>
                    <a:pt x="34" y="104"/>
                  </a:lnTo>
                  <a:lnTo>
                    <a:pt x="34" y="89"/>
                  </a:lnTo>
                  <a:lnTo>
                    <a:pt x="34" y="72"/>
                  </a:lnTo>
                  <a:lnTo>
                    <a:pt x="35" y="58"/>
                  </a:lnTo>
                  <a:lnTo>
                    <a:pt x="35" y="44"/>
                  </a:lnTo>
                  <a:lnTo>
                    <a:pt x="35" y="31"/>
                  </a:lnTo>
                  <a:lnTo>
                    <a:pt x="35" y="19"/>
                  </a:lnTo>
                  <a:lnTo>
                    <a:pt x="35" y="8"/>
                  </a:lnTo>
                  <a:lnTo>
                    <a:pt x="35" y="4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51" name="Freeform 419"/>
            <p:cNvSpPr>
              <a:spLocks/>
            </p:cNvSpPr>
            <p:nvPr/>
          </p:nvSpPr>
          <p:spPr bwMode="auto">
            <a:xfrm>
              <a:off x="4714" y="1389"/>
              <a:ext cx="55" cy="223"/>
            </a:xfrm>
            <a:custGeom>
              <a:avLst/>
              <a:gdLst>
                <a:gd name="T0" fmla="*/ 0 w 55"/>
                <a:gd name="T1" fmla="*/ 442 h 447"/>
                <a:gd name="T2" fmla="*/ 0 w 55"/>
                <a:gd name="T3" fmla="*/ 433 h 447"/>
                <a:gd name="T4" fmla="*/ 0 w 55"/>
                <a:gd name="T5" fmla="*/ 423 h 447"/>
                <a:gd name="T6" fmla="*/ 1 w 55"/>
                <a:gd name="T7" fmla="*/ 405 h 447"/>
                <a:gd name="T8" fmla="*/ 2 w 55"/>
                <a:gd name="T9" fmla="*/ 377 h 447"/>
                <a:gd name="T10" fmla="*/ 3 w 55"/>
                <a:gd name="T11" fmla="*/ 345 h 447"/>
                <a:gd name="T12" fmla="*/ 4 w 55"/>
                <a:gd name="T13" fmla="*/ 296 h 447"/>
                <a:gd name="T14" fmla="*/ 7 w 55"/>
                <a:gd name="T15" fmla="*/ 263 h 447"/>
                <a:gd name="T16" fmla="*/ 8 w 55"/>
                <a:gd name="T17" fmla="*/ 235 h 447"/>
                <a:gd name="T18" fmla="*/ 9 w 55"/>
                <a:gd name="T19" fmla="*/ 199 h 447"/>
                <a:gd name="T20" fmla="*/ 12 w 55"/>
                <a:gd name="T21" fmla="*/ 155 h 447"/>
                <a:gd name="T22" fmla="*/ 14 w 55"/>
                <a:gd name="T23" fmla="*/ 113 h 447"/>
                <a:gd name="T24" fmla="*/ 16 w 55"/>
                <a:gd name="T25" fmla="*/ 95 h 447"/>
                <a:gd name="T26" fmla="*/ 17 w 55"/>
                <a:gd name="T27" fmla="*/ 77 h 447"/>
                <a:gd name="T28" fmla="*/ 18 w 55"/>
                <a:gd name="T29" fmla="*/ 62 h 447"/>
                <a:gd name="T30" fmla="*/ 19 w 55"/>
                <a:gd name="T31" fmla="*/ 37 h 447"/>
                <a:gd name="T32" fmla="*/ 20 w 55"/>
                <a:gd name="T33" fmla="*/ 27 h 447"/>
                <a:gd name="T34" fmla="*/ 22 w 55"/>
                <a:gd name="T35" fmla="*/ 16 h 447"/>
                <a:gd name="T36" fmla="*/ 23 w 55"/>
                <a:gd name="T37" fmla="*/ 9 h 447"/>
                <a:gd name="T38" fmla="*/ 24 w 55"/>
                <a:gd name="T39" fmla="*/ 4 h 447"/>
                <a:gd name="T40" fmla="*/ 25 w 55"/>
                <a:gd name="T41" fmla="*/ 0 h 447"/>
                <a:gd name="T42" fmla="*/ 27 w 55"/>
                <a:gd name="T43" fmla="*/ 0 h 447"/>
                <a:gd name="T44" fmla="*/ 28 w 55"/>
                <a:gd name="T45" fmla="*/ 0 h 447"/>
                <a:gd name="T46" fmla="*/ 29 w 55"/>
                <a:gd name="T47" fmla="*/ 4 h 447"/>
                <a:gd name="T48" fmla="*/ 30 w 55"/>
                <a:gd name="T49" fmla="*/ 9 h 447"/>
                <a:gd name="T50" fmla="*/ 31 w 55"/>
                <a:gd name="T51" fmla="*/ 18 h 447"/>
                <a:gd name="T52" fmla="*/ 33 w 55"/>
                <a:gd name="T53" fmla="*/ 27 h 447"/>
                <a:gd name="T54" fmla="*/ 34 w 55"/>
                <a:gd name="T55" fmla="*/ 37 h 447"/>
                <a:gd name="T56" fmla="*/ 36 w 55"/>
                <a:gd name="T57" fmla="*/ 62 h 447"/>
                <a:gd name="T58" fmla="*/ 38 w 55"/>
                <a:gd name="T59" fmla="*/ 77 h 447"/>
                <a:gd name="T60" fmla="*/ 39 w 55"/>
                <a:gd name="T61" fmla="*/ 95 h 447"/>
                <a:gd name="T62" fmla="*/ 40 w 55"/>
                <a:gd name="T63" fmla="*/ 113 h 447"/>
                <a:gd name="T64" fmla="*/ 42 w 55"/>
                <a:gd name="T65" fmla="*/ 153 h 447"/>
                <a:gd name="T66" fmla="*/ 46 w 55"/>
                <a:gd name="T67" fmla="*/ 199 h 447"/>
                <a:gd name="T68" fmla="*/ 47 w 55"/>
                <a:gd name="T69" fmla="*/ 235 h 447"/>
                <a:gd name="T70" fmla="*/ 49 w 55"/>
                <a:gd name="T71" fmla="*/ 263 h 447"/>
                <a:gd name="T72" fmla="*/ 50 w 55"/>
                <a:gd name="T73" fmla="*/ 293 h 447"/>
                <a:gd name="T74" fmla="*/ 51 w 55"/>
                <a:gd name="T75" fmla="*/ 341 h 447"/>
                <a:gd name="T76" fmla="*/ 52 w 55"/>
                <a:gd name="T77" fmla="*/ 372 h 447"/>
                <a:gd name="T78" fmla="*/ 52 w 55"/>
                <a:gd name="T79" fmla="*/ 400 h 447"/>
                <a:gd name="T80" fmla="*/ 54 w 55"/>
                <a:gd name="T81" fmla="*/ 426 h 447"/>
                <a:gd name="T82" fmla="*/ 54 w 55"/>
                <a:gd name="T83" fmla="*/ 44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5" h="447">
                  <a:moveTo>
                    <a:pt x="0" y="447"/>
                  </a:moveTo>
                  <a:lnTo>
                    <a:pt x="0" y="442"/>
                  </a:lnTo>
                  <a:lnTo>
                    <a:pt x="0" y="438"/>
                  </a:lnTo>
                  <a:lnTo>
                    <a:pt x="0" y="433"/>
                  </a:lnTo>
                  <a:lnTo>
                    <a:pt x="0" y="429"/>
                  </a:lnTo>
                  <a:lnTo>
                    <a:pt x="0" y="423"/>
                  </a:lnTo>
                  <a:lnTo>
                    <a:pt x="0" y="417"/>
                  </a:lnTo>
                  <a:lnTo>
                    <a:pt x="1" y="405"/>
                  </a:lnTo>
                  <a:lnTo>
                    <a:pt x="1" y="391"/>
                  </a:lnTo>
                  <a:lnTo>
                    <a:pt x="2" y="377"/>
                  </a:lnTo>
                  <a:lnTo>
                    <a:pt x="2" y="360"/>
                  </a:lnTo>
                  <a:lnTo>
                    <a:pt x="3" y="345"/>
                  </a:lnTo>
                  <a:lnTo>
                    <a:pt x="4" y="313"/>
                  </a:lnTo>
                  <a:lnTo>
                    <a:pt x="4" y="296"/>
                  </a:lnTo>
                  <a:lnTo>
                    <a:pt x="6" y="280"/>
                  </a:lnTo>
                  <a:lnTo>
                    <a:pt x="7" y="263"/>
                  </a:lnTo>
                  <a:lnTo>
                    <a:pt x="7" y="250"/>
                  </a:lnTo>
                  <a:lnTo>
                    <a:pt x="8" y="235"/>
                  </a:lnTo>
                  <a:lnTo>
                    <a:pt x="8" y="223"/>
                  </a:lnTo>
                  <a:lnTo>
                    <a:pt x="9" y="199"/>
                  </a:lnTo>
                  <a:lnTo>
                    <a:pt x="11" y="177"/>
                  </a:lnTo>
                  <a:lnTo>
                    <a:pt x="12" y="155"/>
                  </a:lnTo>
                  <a:lnTo>
                    <a:pt x="13" y="132"/>
                  </a:lnTo>
                  <a:lnTo>
                    <a:pt x="14" y="113"/>
                  </a:lnTo>
                  <a:lnTo>
                    <a:pt x="14" y="104"/>
                  </a:lnTo>
                  <a:lnTo>
                    <a:pt x="16" y="95"/>
                  </a:lnTo>
                  <a:lnTo>
                    <a:pt x="16" y="86"/>
                  </a:lnTo>
                  <a:lnTo>
                    <a:pt x="17" y="77"/>
                  </a:lnTo>
                  <a:lnTo>
                    <a:pt x="17" y="70"/>
                  </a:lnTo>
                  <a:lnTo>
                    <a:pt x="18" y="62"/>
                  </a:lnTo>
                  <a:lnTo>
                    <a:pt x="18" y="49"/>
                  </a:lnTo>
                  <a:lnTo>
                    <a:pt x="19" y="37"/>
                  </a:lnTo>
                  <a:lnTo>
                    <a:pt x="20" y="31"/>
                  </a:lnTo>
                  <a:lnTo>
                    <a:pt x="20" y="27"/>
                  </a:lnTo>
                  <a:lnTo>
                    <a:pt x="22" y="21"/>
                  </a:lnTo>
                  <a:lnTo>
                    <a:pt x="22" y="16"/>
                  </a:lnTo>
                  <a:lnTo>
                    <a:pt x="23" y="13"/>
                  </a:lnTo>
                  <a:lnTo>
                    <a:pt x="23" y="9"/>
                  </a:lnTo>
                  <a:lnTo>
                    <a:pt x="24" y="6"/>
                  </a:lnTo>
                  <a:lnTo>
                    <a:pt x="24" y="4"/>
                  </a:lnTo>
                  <a:lnTo>
                    <a:pt x="25" y="1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8" y="0"/>
                  </a:lnTo>
                  <a:lnTo>
                    <a:pt x="28" y="1"/>
                  </a:lnTo>
                  <a:lnTo>
                    <a:pt x="29" y="4"/>
                  </a:lnTo>
                  <a:lnTo>
                    <a:pt x="29" y="6"/>
                  </a:lnTo>
                  <a:lnTo>
                    <a:pt x="30" y="9"/>
                  </a:lnTo>
                  <a:lnTo>
                    <a:pt x="30" y="13"/>
                  </a:lnTo>
                  <a:lnTo>
                    <a:pt x="31" y="18"/>
                  </a:lnTo>
                  <a:lnTo>
                    <a:pt x="31" y="22"/>
                  </a:lnTo>
                  <a:lnTo>
                    <a:pt x="33" y="27"/>
                  </a:lnTo>
                  <a:lnTo>
                    <a:pt x="33" y="31"/>
                  </a:lnTo>
                  <a:lnTo>
                    <a:pt x="34" y="37"/>
                  </a:lnTo>
                  <a:lnTo>
                    <a:pt x="35" y="49"/>
                  </a:lnTo>
                  <a:lnTo>
                    <a:pt x="36" y="62"/>
                  </a:lnTo>
                  <a:lnTo>
                    <a:pt x="36" y="70"/>
                  </a:lnTo>
                  <a:lnTo>
                    <a:pt x="38" y="77"/>
                  </a:lnTo>
                  <a:lnTo>
                    <a:pt x="38" y="86"/>
                  </a:lnTo>
                  <a:lnTo>
                    <a:pt x="39" y="95"/>
                  </a:lnTo>
                  <a:lnTo>
                    <a:pt x="39" y="104"/>
                  </a:lnTo>
                  <a:lnTo>
                    <a:pt x="40" y="113"/>
                  </a:lnTo>
                  <a:lnTo>
                    <a:pt x="41" y="132"/>
                  </a:lnTo>
                  <a:lnTo>
                    <a:pt x="42" y="153"/>
                  </a:lnTo>
                  <a:lnTo>
                    <a:pt x="45" y="176"/>
                  </a:lnTo>
                  <a:lnTo>
                    <a:pt x="46" y="199"/>
                  </a:lnTo>
                  <a:lnTo>
                    <a:pt x="47" y="223"/>
                  </a:lnTo>
                  <a:lnTo>
                    <a:pt x="47" y="235"/>
                  </a:lnTo>
                  <a:lnTo>
                    <a:pt x="49" y="249"/>
                  </a:lnTo>
                  <a:lnTo>
                    <a:pt x="49" y="263"/>
                  </a:lnTo>
                  <a:lnTo>
                    <a:pt x="50" y="278"/>
                  </a:lnTo>
                  <a:lnTo>
                    <a:pt x="50" y="293"/>
                  </a:lnTo>
                  <a:lnTo>
                    <a:pt x="50" y="310"/>
                  </a:lnTo>
                  <a:lnTo>
                    <a:pt x="51" y="341"/>
                  </a:lnTo>
                  <a:lnTo>
                    <a:pt x="52" y="356"/>
                  </a:lnTo>
                  <a:lnTo>
                    <a:pt x="52" y="372"/>
                  </a:lnTo>
                  <a:lnTo>
                    <a:pt x="52" y="387"/>
                  </a:lnTo>
                  <a:lnTo>
                    <a:pt x="52" y="400"/>
                  </a:lnTo>
                  <a:lnTo>
                    <a:pt x="54" y="414"/>
                  </a:lnTo>
                  <a:lnTo>
                    <a:pt x="54" y="426"/>
                  </a:lnTo>
                  <a:lnTo>
                    <a:pt x="54" y="436"/>
                  </a:lnTo>
                  <a:lnTo>
                    <a:pt x="54" y="441"/>
                  </a:lnTo>
                  <a:lnTo>
                    <a:pt x="55" y="447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52" name="Freeform 420"/>
            <p:cNvSpPr>
              <a:spLocks/>
            </p:cNvSpPr>
            <p:nvPr/>
          </p:nvSpPr>
          <p:spPr bwMode="auto">
            <a:xfrm>
              <a:off x="4824" y="1389"/>
              <a:ext cx="55" cy="223"/>
            </a:xfrm>
            <a:custGeom>
              <a:avLst/>
              <a:gdLst>
                <a:gd name="T0" fmla="*/ 0 w 55"/>
                <a:gd name="T1" fmla="*/ 442 h 447"/>
                <a:gd name="T2" fmla="*/ 0 w 55"/>
                <a:gd name="T3" fmla="*/ 433 h 447"/>
                <a:gd name="T4" fmla="*/ 0 w 55"/>
                <a:gd name="T5" fmla="*/ 423 h 447"/>
                <a:gd name="T6" fmla="*/ 1 w 55"/>
                <a:gd name="T7" fmla="*/ 405 h 447"/>
                <a:gd name="T8" fmla="*/ 2 w 55"/>
                <a:gd name="T9" fmla="*/ 377 h 447"/>
                <a:gd name="T10" fmla="*/ 4 w 55"/>
                <a:gd name="T11" fmla="*/ 345 h 447"/>
                <a:gd name="T12" fmla="*/ 5 w 55"/>
                <a:gd name="T13" fmla="*/ 296 h 447"/>
                <a:gd name="T14" fmla="*/ 7 w 55"/>
                <a:gd name="T15" fmla="*/ 263 h 447"/>
                <a:gd name="T16" fmla="*/ 8 w 55"/>
                <a:gd name="T17" fmla="*/ 235 h 447"/>
                <a:gd name="T18" fmla="*/ 10 w 55"/>
                <a:gd name="T19" fmla="*/ 199 h 447"/>
                <a:gd name="T20" fmla="*/ 12 w 55"/>
                <a:gd name="T21" fmla="*/ 155 h 447"/>
                <a:gd name="T22" fmla="*/ 15 w 55"/>
                <a:gd name="T23" fmla="*/ 113 h 447"/>
                <a:gd name="T24" fmla="*/ 16 w 55"/>
                <a:gd name="T25" fmla="*/ 95 h 447"/>
                <a:gd name="T26" fmla="*/ 17 w 55"/>
                <a:gd name="T27" fmla="*/ 77 h 447"/>
                <a:gd name="T28" fmla="*/ 18 w 55"/>
                <a:gd name="T29" fmla="*/ 62 h 447"/>
                <a:gd name="T30" fmla="*/ 20 w 55"/>
                <a:gd name="T31" fmla="*/ 37 h 447"/>
                <a:gd name="T32" fmla="*/ 21 w 55"/>
                <a:gd name="T33" fmla="*/ 27 h 447"/>
                <a:gd name="T34" fmla="*/ 22 w 55"/>
                <a:gd name="T35" fmla="*/ 16 h 447"/>
                <a:gd name="T36" fmla="*/ 23 w 55"/>
                <a:gd name="T37" fmla="*/ 9 h 447"/>
                <a:gd name="T38" fmla="*/ 24 w 55"/>
                <a:gd name="T39" fmla="*/ 4 h 447"/>
                <a:gd name="T40" fmla="*/ 26 w 55"/>
                <a:gd name="T41" fmla="*/ 0 h 447"/>
                <a:gd name="T42" fmla="*/ 27 w 55"/>
                <a:gd name="T43" fmla="*/ 0 h 447"/>
                <a:gd name="T44" fmla="*/ 28 w 55"/>
                <a:gd name="T45" fmla="*/ 0 h 447"/>
                <a:gd name="T46" fmla="*/ 29 w 55"/>
                <a:gd name="T47" fmla="*/ 4 h 447"/>
                <a:gd name="T48" fmla="*/ 31 w 55"/>
                <a:gd name="T49" fmla="*/ 9 h 447"/>
                <a:gd name="T50" fmla="*/ 32 w 55"/>
                <a:gd name="T51" fmla="*/ 18 h 447"/>
                <a:gd name="T52" fmla="*/ 33 w 55"/>
                <a:gd name="T53" fmla="*/ 27 h 447"/>
                <a:gd name="T54" fmla="*/ 34 w 55"/>
                <a:gd name="T55" fmla="*/ 37 h 447"/>
                <a:gd name="T56" fmla="*/ 37 w 55"/>
                <a:gd name="T57" fmla="*/ 62 h 447"/>
                <a:gd name="T58" fmla="*/ 38 w 55"/>
                <a:gd name="T59" fmla="*/ 77 h 447"/>
                <a:gd name="T60" fmla="*/ 39 w 55"/>
                <a:gd name="T61" fmla="*/ 95 h 447"/>
                <a:gd name="T62" fmla="*/ 40 w 55"/>
                <a:gd name="T63" fmla="*/ 113 h 447"/>
                <a:gd name="T64" fmla="*/ 43 w 55"/>
                <a:gd name="T65" fmla="*/ 153 h 447"/>
                <a:gd name="T66" fmla="*/ 46 w 55"/>
                <a:gd name="T67" fmla="*/ 199 h 447"/>
                <a:gd name="T68" fmla="*/ 48 w 55"/>
                <a:gd name="T69" fmla="*/ 235 h 447"/>
                <a:gd name="T70" fmla="*/ 49 w 55"/>
                <a:gd name="T71" fmla="*/ 263 h 447"/>
                <a:gd name="T72" fmla="*/ 50 w 55"/>
                <a:gd name="T73" fmla="*/ 293 h 447"/>
                <a:gd name="T74" fmla="*/ 51 w 55"/>
                <a:gd name="T75" fmla="*/ 341 h 447"/>
                <a:gd name="T76" fmla="*/ 53 w 55"/>
                <a:gd name="T77" fmla="*/ 372 h 447"/>
                <a:gd name="T78" fmla="*/ 53 w 55"/>
                <a:gd name="T79" fmla="*/ 400 h 447"/>
                <a:gd name="T80" fmla="*/ 54 w 55"/>
                <a:gd name="T81" fmla="*/ 426 h 447"/>
                <a:gd name="T82" fmla="*/ 54 w 55"/>
                <a:gd name="T83" fmla="*/ 44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5" h="447">
                  <a:moveTo>
                    <a:pt x="0" y="447"/>
                  </a:moveTo>
                  <a:lnTo>
                    <a:pt x="0" y="442"/>
                  </a:lnTo>
                  <a:lnTo>
                    <a:pt x="0" y="438"/>
                  </a:lnTo>
                  <a:lnTo>
                    <a:pt x="0" y="433"/>
                  </a:lnTo>
                  <a:lnTo>
                    <a:pt x="0" y="429"/>
                  </a:lnTo>
                  <a:lnTo>
                    <a:pt x="0" y="423"/>
                  </a:lnTo>
                  <a:lnTo>
                    <a:pt x="0" y="417"/>
                  </a:lnTo>
                  <a:lnTo>
                    <a:pt x="1" y="405"/>
                  </a:lnTo>
                  <a:lnTo>
                    <a:pt x="1" y="391"/>
                  </a:lnTo>
                  <a:lnTo>
                    <a:pt x="2" y="377"/>
                  </a:lnTo>
                  <a:lnTo>
                    <a:pt x="2" y="360"/>
                  </a:lnTo>
                  <a:lnTo>
                    <a:pt x="4" y="345"/>
                  </a:lnTo>
                  <a:lnTo>
                    <a:pt x="5" y="313"/>
                  </a:lnTo>
                  <a:lnTo>
                    <a:pt x="5" y="296"/>
                  </a:lnTo>
                  <a:lnTo>
                    <a:pt x="6" y="280"/>
                  </a:lnTo>
                  <a:lnTo>
                    <a:pt x="7" y="263"/>
                  </a:lnTo>
                  <a:lnTo>
                    <a:pt x="7" y="250"/>
                  </a:lnTo>
                  <a:lnTo>
                    <a:pt x="8" y="235"/>
                  </a:lnTo>
                  <a:lnTo>
                    <a:pt x="8" y="223"/>
                  </a:lnTo>
                  <a:lnTo>
                    <a:pt x="10" y="199"/>
                  </a:lnTo>
                  <a:lnTo>
                    <a:pt x="11" y="177"/>
                  </a:lnTo>
                  <a:lnTo>
                    <a:pt x="12" y="155"/>
                  </a:lnTo>
                  <a:lnTo>
                    <a:pt x="13" y="132"/>
                  </a:lnTo>
                  <a:lnTo>
                    <a:pt x="15" y="113"/>
                  </a:lnTo>
                  <a:lnTo>
                    <a:pt x="15" y="104"/>
                  </a:lnTo>
                  <a:lnTo>
                    <a:pt x="16" y="95"/>
                  </a:lnTo>
                  <a:lnTo>
                    <a:pt x="16" y="86"/>
                  </a:lnTo>
                  <a:lnTo>
                    <a:pt x="17" y="77"/>
                  </a:lnTo>
                  <a:lnTo>
                    <a:pt x="17" y="70"/>
                  </a:lnTo>
                  <a:lnTo>
                    <a:pt x="18" y="62"/>
                  </a:lnTo>
                  <a:lnTo>
                    <a:pt x="18" y="49"/>
                  </a:lnTo>
                  <a:lnTo>
                    <a:pt x="20" y="37"/>
                  </a:lnTo>
                  <a:lnTo>
                    <a:pt x="21" y="31"/>
                  </a:lnTo>
                  <a:lnTo>
                    <a:pt x="21" y="27"/>
                  </a:lnTo>
                  <a:lnTo>
                    <a:pt x="22" y="21"/>
                  </a:lnTo>
                  <a:lnTo>
                    <a:pt x="22" y="16"/>
                  </a:lnTo>
                  <a:lnTo>
                    <a:pt x="23" y="13"/>
                  </a:lnTo>
                  <a:lnTo>
                    <a:pt x="23" y="9"/>
                  </a:lnTo>
                  <a:lnTo>
                    <a:pt x="24" y="6"/>
                  </a:lnTo>
                  <a:lnTo>
                    <a:pt x="24" y="4"/>
                  </a:lnTo>
                  <a:lnTo>
                    <a:pt x="26" y="1"/>
                  </a:lnTo>
                  <a:lnTo>
                    <a:pt x="26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8" y="0"/>
                  </a:lnTo>
                  <a:lnTo>
                    <a:pt x="28" y="1"/>
                  </a:lnTo>
                  <a:lnTo>
                    <a:pt x="29" y="4"/>
                  </a:lnTo>
                  <a:lnTo>
                    <a:pt x="29" y="6"/>
                  </a:lnTo>
                  <a:lnTo>
                    <a:pt x="31" y="9"/>
                  </a:lnTo>
                  <a:lnTo>
                    <a:pt x="31" y="13"/>
                  </a:lnTo>
                  <a:lnTo>
                    <a:pt x="32" y="18"/>
                  </a:lnTo>
                  <a:lnTo>
                    <a:pt x="32" y="22"/>
                  </a:lnTo>
                  <a:lnTo>
                    <a:pt x="33" y="27"/>
                  </a:lnTo>
                  <a:lnTo>
                    <a:pt x="33" y="31"/>
                  </a:lnTo>
                  <a:lnTo>
                    <a:pt x="34" y="37"/>
                  </a:lnTo>
                  <a:lnTo>
                    <a:pt x="35" y="49"/>
                  </a:lnTo>
                  <a:lnTo>
                    <a:pt x="37" y="62"/>
                  </a:lnTo>
                  <a:lnTo>
                    <a:pt x="37" y="70"/>
                  </a:lnTo>
                  <a:lnTo>
                    <a:pt x="38" y="77"/>
                  </a:lnTo>
                  <a:lnTo>
                    <a:pt x="38" y="86"/>
                  </a:lnTo>
                  <a:lnTo>
                    <a:pt x="39" y="95"/>
                  </a:lnTo>
                  <a:lnTo>
                    <a:pt x="39" y="104"/>
                  </a:lnTo>
                  <a:lnTo>
                    <a:pt x="40" y="113"/>
                  </a:lnTo>
                  <a:lnTo>
                    <a:pt x="42" y="132"/>
                  </a:lnTo>
                  <a:lnTo>
                    <a:pt x="43" y="153"/>
                  </a:lnTo>
                  <a:lnTo>
                    <a:pt x="45" y="176"/>
                  </a:lnTo>
                  <a:lnTo>
                    <a:pt x="46" y="199"/>
                  </a:lnTo>
                  <a:lnTo>
                    <a:pt x="48" y="223"/>
                  </a:lnTo>
                  <a:lnTo>
                    <a:pt x="48" y="235"/>
                  </a:lnTo>
                  <a:lnTo>
                    <a:pt x="49" y="249"/>
                  </a:lnTo>
                  <a:lnTo>
                    <a:pt x="49" y="263"/>
                  </a:lnTo>
                  <a:lnTo>
                    <a:pt x="50" y="278"/>
                  </a:lnTo>
                  <a:lnTo>
                    <a:pt x="50" y="293"/>
                  </a:lnTo>
                  <a:lnTo>
                    <a:pt x="50" y="310"/>
                  </a:lnTo>
                  <a:lnTo>
                    <a:pt x="51" y="341"/>
                  </a:lnTo>
                  <a:lnTo>
                    <a:pt x="53" y="356"/>
                  </a:lnTo>
                  <a:lnTo>
                    <a:pt x="53" y="372"/>
                  </a:lnTo>
                  <a:lnTo>
                    <a:pt x="53" y="387"/>
                  </a:lnTo>
                  <a:lnTo>
                    <a:pt x="53" y="400"/>
                  </a:lnTo>
                  <a:lnTo>
                    <a:pt x="54" y="414"/>
                  </a:lnTo>
                  <a:lnTo>
                    <a:pt x="54" y="426"/>
                  </a:lnTo>
                  <a:lnTo>
                    <a:pt x="54" y="436"/>
                  </a:lnTo>
                  <a:lnTo>
                    <a:pt x="54" y="441"/>
                  </a:lnTo>
                  <a:lnTo>
                    <a:pt x="55" y="447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53" name="Freeform 421"/>
            <p:cNvSpPr>
              <a:spLocks/>
            </p:cNvSpPr>
            <p:nvPr/>
          </p:nvSpPr>
          <p:spPr bwMode="auto">
            <a:xfrm>
              <a:off x="4934" y="1389"/>
              <a:ext cx="55" cy="223"/>
            </a:xfrm>
            <a:custGeom>
              <a:avLst/>
              <a:gdLst>
                <a:gd name="T0" fmla="*/ 0 w 55"/>
                <a:gd name="T1" fmla="*/ 442 h 447"/>
                <a:gd name="T2" fmla="*/ 0 w 55"/>
                <a:gd name="T3" fmla="*/ 433 h 447"/>
                <a:gd name="T4" fmla="*/ 0 w 55"/>
                <a:gd name="T5" fmla="*/ 423 h 447"/>
                <a:gd name="T6" fmla="*/ 1 w 55"/>
                <a:gd name="T7" fmla="*/ 405 h 447"/>
                <a:gd name="T8" fmla="*/ 3 w 55"/>
                <a:gd name="T9" fmla="*/ 377 h 447"/>
                <a:gd name="T10" fmla="*/ 4 w 55"/>
                <a:gd name="T11" fmla="*/ 345 h 447"/>
                <a:gd name="T12" fmla="*/ 5 w 55"/>
                <a:gd name="T13" fmla="*/ 296 h 447"/>
                <a:gd name="T14" fmla="*/ 8 w 55"/>
                <a:gd name="T15" fmla="*/ 263 h 447"/>
                <a:gd name="T16" fmla="*/ 9 w 55"/>
                <a:gd name="T17" fmla="*/ 235 h 447"/>
                <a:gd name="T18" fmla="*/ 10 w 55"/>
                <a:gd name="T19" fmla="*/ 199 h 447"/>
                <a:gd name="T20" fmla="*/ 13 w 55"/>
                <a:gd name="T21" fmla="*/ 155 h 447"/>
                <a:gd name="T22" fmla="*/ 15 w 55"/>
                <a:gd name="T23" fmla="*/ 113 h 447"/>
                <a:gd name="T24" fmla="*/ 16 w 55"/>
                <a:gd name="T25" fmla="*/ 95 h 447"/>
                <a:gd name="T26" fmla="*/ 17 w 55"/>
                <a:gd name="T27" fmla="*/ 77 h 447"/>
                <a:gd name="T28" fmla="*/ 19 w 55"/>
                <a:gd name="T29" fmla="*/ 62 h 447"/>
                <a:gd name="T30" fmla="*/ 20 w 55"/>
                <a:gd name="T31" fmla="*/ 37 h 447"/>
                <a:gd name="T32" fmla="*/ 21 w 55"/>
                <a:gd name="T33" fmla="*/ 27 h 447"/>
                <a:gd name="T34" fmla="*/ 22 w 55"/>
                <a:gd name="T35" fmla="*/ 16 h 447"/>
                <a:gd name="T36" fmla="*/ 24 w 55"/>
                <a:gd name="T37" fmla="*/ 9 h 447"/>
                <a:gd name="T38" fmla="*/ 25 w 55"/>
                <a:gd name="T39" fmla="*/ 4 h 447"/>
                <a:gd name="T40" fmla="*/ 26 w 55"/>
                <a:gd name="T41" fmla="*/ 0 h 447"/>
                <a:gd name="T42" fmla="*/ 27 w 55"/>
                <a:gd name="T43" fmla="*/ 0 h 447"/>
                <a:gd name="T44" fmla="*/ 28 w 55"/>
                <a:gd name="T45" fmla="*/ 0 h 447"/>
                <a:gd name="T46" fmla="*/ 30 w 55"/>
                <a:gd name="T47" fmla="*/ 4 h 447"/>
                <a:gd name="T48" fmla="*/ 31 w 55"/>
                <a:gd name="T49" fmla="*/ 9 h 447"/>
                <a:gd name="T50" fmla="*/ 32 w 55"/>
                <a:gd name="T51" fmla="*/ 18 h 447"/>
                <a:gd name="T52" fmla="*/ 33 w 55"/>
                <a:gd name="T53" fmla="*/ 27 h 447"/>
                <a:gd name="T54" fmla="*/ 35 w 55"/>
                <a:gd name="T55" fmla="*/ 37 h 447"/>
                <a:gd name="T56" fmla="*/ 37 w 55"/>
                <a:gd name="T57" fmla="*/ 62 h 447"/>
                <a:gd name="T58" fmla="*/ 38 w 55"/>
                <a:gd name="T59" fmla="*/ 77 h 447"/>
                <a:gd name="T60" fmla="*/ 39 w 55"/>
                <a:gd name="T61" fmla="*/ 95 h 447"/>
                <a:gd name="T62" fmla="*/ 41 w 55"/>
                <a:gd name="T63" fmla="*/ 113 h 447"/>
                <a:gd name="T64" fmla="*/ 43 w 55"/>
                <a:gd name="T65" fmla="*/ 153 h 447"/>
                <a:gd name="T66" fmla="*/ 47 w 55"/>
                <a:gd name="T67" fmla="*/ 199 h 447"/>
                <a:gd name="T68" fmla="*/ 48 w 55"/>
                <a:gd name="T69" fmla="*/ 235 h 447"/>
                <a:gd name="T70" fmla="*/ 49 w 55"/>
                <a:gd name="T71" fmla="*/ 263 h 447"/>
                <a:gd name="T72" fmla="*/ 51 w 55"/>
                <a:gd name="T73" fmla="*/ 293 h 447"/>
                <a:gd name="T74" fmla="*/ 52 w 55"/>
                <a:gd name="T75" fmla="*/ 341 h 447"/>
                <a:gd name="T76" fmla="*/ 53 w 55"/>
                <a:gd name="T77" fmla="*/ 372 h 447"/>
                <a:gd name="T78" fmla="*/ 53 w 55"/>
                <a:gd name="T79" fmla="*/ 400 h 447"/>
                <a:gd name="T80" fmla="*/ 54 w 55"/>
                <a:gd name="T81" fmla="*/ 426 h 447"/>
                <a:gd name="T82" fmla="*/ 54 w 55"/>
                <a:gd name="T83" fmla="*/ 44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5" h="447">
                  <a:moveTo>
                    <a:pt x="0" y="447"/>
                  </a:moveTo>
                  <a:lnTo>
                    <a:pt x="0" y="442"/>
                  </a:lnTo>
                  <a:lnTo>
                    <a:pt x="0" y="438"/>
                  </a:lnTo>
                  <a:lnTo>
                    <a:pt x="0" y="433"/>
                  </a:lnTo>
                  <a:lnTo>
                    <a:pt x="0" y="429"/>
                  </a:lnTo>
                  <a:lnTo>
                    <a:pt x="0" y="423"/>
                  </a:lnTo>
                  <a:lnTo>
                    <a:pt x="0" y="417"/>
                  </a:lnTo>
                  <a:lnTo>
                    <a:pt x="1" y="405"/>
                  </a:lnTo>
                  <a:lnTo>
                    <a:pt x="1" y="391"/>
                  </a:lnTo>
                  <a:lnTo>
                    <a:pt x="3" y="377"/>
                  </a:lnTo>
                  <a:lnTo>
                    <a:pt x="3" y="360"/>
                  </a:lnTo>
                  <a:lnTo>
                    <a:pt x="4" y="345"/>
                  </a:lnTo>
                  <a:lnTo>
                    <a:pt x="5" y="313"/>
                  </a:lnTo>
                  <a:lnTo>
                    <a:pt x="5" y="296"/>
                  </a:lnTo>
                  <a:lnTo>
                    <a:pt x="6" y="280"/>
                  </a:lnTo>
                  <a:lnTo>
                    <a:pt x="8" y="263"/>
                  </a:lnTo>
                  <a:lnTo>
                    <a:pt x="8" y="250"/>
                  </a:lnTo>
                  <a:lnTo>
                    <a:pt x="9" y="235"/>
                  </a:lnTo>
                  <a:lnTo>
                    <a:pt x="9" y="223"/>
                  </a:lnTo>
                  <a:lnTo>
                    <a:pt x="10" y="199"/>
                  </a:lnTo>
                  <a:lnTo>
                    <a:pt x="11" y="177"/>
                  </a:lnTo>
                  <a:lnTo>
                    <a:pt x="13" y="155"/>
                  </a:lnTo>
                  <a:lnTo>
                    <a:pt x="14" y="132"/>
                  </a:lnTo>
                  <a:lnTo>
                    <a:pt x="15" y="113"/>
                  </a:lnTo>
                  <a:lnTo>
                    <a:pt x="15" y="104"/>
                  </a:lnTo>
                  <a:lnTo>
                    <a:pt x="16" y="95"/>
                  </a:lnTo>
                  <a:lnTo>
                    <a:pt x="16" y="86"/>
                  </a:lnTo>
                  <a:lnTo>
                    <a:pt x="17" y="77"/>
                  </a:lnTo>
                  <a:lnTo>
                    <a:pt x="17" y="70"/>
                  </a:lnTo>
                  <a:lnTo>
                    <a:pt x="19" y="62"/>
                  </a:lnTo>
                  <a:lnTo>
                    <a:pt x="19" y="49"/>
                  </a:lnTo>
                  <a:lnTo>
                    <a:pt x="20" y="37"/>
                  </a:lnTo>
                  <a:lnTo>
                    <a:pt x="21" y="31"/>
                  </a:lnTo>
                  <a:lnTo>
                    <a:pt x="21" y="27"/>
                  </a:lnTo>
                  <a:lnTo>
                    <a:pt x="22" y="21"/>
                  </a:lnTo>
                  <a:lnTo>
                    <a:pt x="22" y="16"/>
                  </a:lnTo>
                  <a:lnTo>
                    <a:pt x="24" y="13"/>
                  </a:lnTo>
                  <a:lnTo>
                    <a:pt x="24" y="9"/>
                  </a:lnTo>
                  <a:lnTo>
                    <a:pt x="25" y="6"/>
                  </a:lnTo>
                  <a:lnTo>
                    <a:pt x="25" y="4"/>
                  </a:lnTo>
                  <a:lnTo>
                    <a:pt x="26" y="1"/>
                  </a:lnTo>
                  <a:lnTo>
                    <a:pt x="26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8" y="0"/>
                  </a:lnTo>
                  <a:lnTo>
                    <a:pt x="28" y="1"/>
                  </a:lnTo>
                  <a:lnTo>
                    <a:pt x="30" y="4"/>
                  </a:lnTo>
                  <a:lnTo>
                    <a:pt x="30" y="6"/>
                  </a:lnTo>
                  <a:lnTo>
                    <a:pt x="31" y="9"/>
                  </a:lnTo>
                  <a:lnTo>
                    <a:pt x="31" y="13"/>
                  </a:lnTo>
                  <a:lnTo>
                    <a:pt x="32" y="18"/>
                  </a:lnTo>
                  <a:lnTo>
                    <a:pt x="32" y="22"/>
                  </a:lnTo>
                  <a:lnTo>
                    <a:pt x="33" y="27"/>
                  </a:lnTo>
                  <a:lnTo>
                    <a:pt x="33" y="31"/>
                  </a:lnTo>
                  <a:lnTo>
                    <a:pt x="35" y="37"/>
                  </a:lnTo>
                  <a:lnTo>
                    <a:pt x="36" y="49"/>
                  </a:lnTo>
                  <a:lnTo>
                    <a:pt x="37" y="62"/>
                  </a:lnTo>
                  <a:lnTo>
                    <a:pt x="37" y="70"/>
                  </a:lnTo>
                  <a:lnTo>
                    <a:pt x="38" y="77"/>
                  </a:lnTo>
                  <a:lnTo>
                    <a:pt x="38" y="86"/>
                  </a:lnTo>
                  <a:lnTo>
                    <a:pt x="39" y="95"/>
                  </a:lnTo>
                  <a:lnTo>
                    <a:pt x="39" y="104"/>
                  </a:lnTo>
                  <a:lnTo>
                    <a:pt x="41" y="113"/>
                  </a:lnTo>
                  <a:lnTo>
                    <a:pt x="42" y="132"/>
                  </a:lnTo>
                  <a:lnTo>
                    <a:pt x="43" y="153"/>
                  </a:lnTo>
                  <a:lnTo>
                    <a:pt x="46" y="176"/>
                  </a:lnTo>
                  <a:lnTo>
                    <a:pt x="47" y="199"/>
                  </a:lnTo>
                  <a:lnTo>
                    <a:pt x="48" y="223"/>
                  </a:lnTo>
                  <a:lnTo>
                    <a:pt x="48" y="235"/>
                  </a:lnTo>
                  <a:lnTo>
                    <a:pt x="49" y="249"/>
                  </a:lnTo>
                  <a:lnTo>
                    <a:pt x="49" y="263"/>
                  </a:lnTo>
                  <a:lnTo>
                    <a:pt x="51" y="278"/>
                  </a:lnTo>
                  <a:lnTo>
                    <a:pt x="51" y="293"/>
                  </a:lnTo>
                  <a:lnTo>
                    <a:pt x="51" y="310"/>
                  </a:lnTo>
                  <a:lnTo>
                    <a:pt x="52" y="341"/>
                  </a:lnTo>
                  <a:lnTo>
                    <a:pt x="53" y="356"/>
                  </a:lnTo>
                  <a:lnTo>
                    <a:pt x="53" y="372"/>
                  </a:lnTo>
                  <a:lnTo>
                    <a:pt x="53" y="387"/>
                  </a:lnTo>
                  <a:lnTo>
                    <a:pt x="53" y="400"/>
                  </a:lnTo>
                  <a:lnTo>
                    <a:pt x="54" y="414"/>
                  </a:lnTo>
                  <a:lnTo>
                    <a:pt x="54" y="426"/>
                  </a:lnTo>
                  <a:lnTo>
                    <a:pt x="54" y="436"/>
                  </a:lnTo>
                  <a:lnTo>
                    <a:pt x="54" y="441"/>
                  </a:lnTo>
                  <a:lnTo>
                    <a:pt x="55" y="447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54" name="Freeform 422"/>
            <p:cNvSpPr>
              <a:spLocks/>
            </p:cNvSpPr>
            <p:nvPr/>
          </p:nvSpPr>
          <p:spPr bwMode="auto">
            <a:xfrm>
              <a:off x="4658" y="1612"/>
              <a:ext cx="56" cy="224"/>
            </a:xfrm>
            <a:custGeom>
              <a:avLst/>
              <a:gdLst>
                <a:gd name="T0" fmla="*/ 0 w 56"/>
                <a:gd name="T1" fmla="*/ 3 h 446"/>
                <a:gd name="T2" fmla="*/ 0 w 56"/>
                <a:gd name="T3" fmla="*/ 11 h 446"/>
                <a:gd name="T4" fmla="*/ 0 w 56"/>
                <a:gd name="T5" fmla="*/ 22 h 446"/>
                <a:gd name="T6" fmla="*/ 2 w 56"/>
                <a:gd name="T7" fmla="*/ 40 h 446"/>
                <a:gd name="T8" fmla="*/ 3 w 56"/>
                <a:gd name="T9" fmla="*/ 70 h 446"/>
                <a:gd name="T10" fmla="*/ 4 w 56"/>
                <a:gd name="T11" fmla="*/ 101 h 446"/>
                <a:gd name="T12" fmla="*/ 5 w 56"/>
                <a:gd name="T13" fmla="*/ 150 h 446"/>
                <a:gd name="T14" fmla="*/ 8 w 56"/>
                <a:gd name="T15" fmla="*/ 181 h 446"/>
                <a:gd name="T16" fmla="*/ 9 w 56"/>
                <a:gd name="T17" fmla="*/ 209 h 446"/>
                <a:gd name="T18" fmla="*/ 10 w 56"/>
                <a:gd name="T19" fmla="*/ 245 h 446"/>
                <a:gd name="T20" fmla="*/ 13 w 56"/>
                <a:gd name="T21" fmla="*/ 290 h 446"/>
                <a:gd name="T22" fmla="*/ 15 w 56"/>
                <a:gd name="T23" fmla="*/ 332 h 446"/>
                <a:gd name="T24" fmla="*/ 16 w 56"/>
                <a:gd name="T25" fmla="*/ 349 h 446"/>
                <a:gd name="T26" fmla="*/ 18 w 56"/>
                <a:gd name="T27" fmla="*/ 367 h 446"/>
                <a:gd name="T28" fmla="*/ 19 w 56"/>
                <a:gd name="T29" fmla="*/ 382 h 446"/>
                <a:gd name="T30" fmla="*/ 20 w 56"/>
                <a:gd name="T31" fmla="*/ 407 h 446"/>
                <a:gd name="T32" fmla="*/ 21 w 56"/>
                <a:gd name="T33" fmla="*/ 418 h 446"/>
                <a:gd name="T34" fmla="*/ 22 w 56"/>
                <a:gd name="T35" fmla="*/ 428 h 446"/>
                <a:gd name="T36" fmla="*/ 24 w 56"/>
                <a:gd name="T37" fmla="*/ 436 h 446"/>
                <a:gd name="T38" fmla="*/ 25 w 56"/>
                <a:gd name="T39" fmla="*/ 440 h 446"/>
                <a:gd name="T40" fmla="*/ 26 w 56"/>
                <a:gd name="T41" fmla="*/ 445 h 446"/>
                <a:gd name="T42" fmla="*/ 27 w 56"/>
                <a:gd name="T43" fmla="*/ 446 h 446"/>
                <a:gd name="T44" fmla="*/ 29 w 56"/>
                <a:gd name="T45" fmla="*/ 445 h 446"/>
                <a:gd name="T46" fmla="*/ 30 w 56"/>
                <a:gd name="T47" fmla="*/ 440 h 446"/>
                <a:gd name="T48" fmla="*/ 31 w 56"/>
                <a:gd name="T49" fmla="*/ 436 h 446"/>
                <a:gd name="T50" fmla="*/ 32 w 56"/>
                <a:gd name="T51" fmla="*/ 428 h 446"/>
                <a:gd name="T52" fmla="*/ 33 w 56"/>
                <a:gd name="T53" fmla="*/ 418 h 446"/>
                <a:gd name="T54" fmla="*/ 35 w 56"/>
                <a:gd name="T55" fmla="*/ 407 h 446"/>
                <a:gd name="T56" fmla="*/ 37 w 56"/>
                <a:gd name="T57" fmla="*/ 382 h 446"/>
                <a:gd name="T58" fmla="*/ 38 w 56"/>
                <a:gd name="T59" fmla="*/ 367 h 446"/>
                <a:gd name="T60" fmla="*/ 40 w 56"/>
                <a:gd name="T61" fmla="*/ 349 h 446"/>
                <a:gd name="T62" fmla="*/ 41 w 56"/>
                <a:gd name="T63" fmla="*/ 332 h 446"/>
                <a:gd name="T64" fmla="*/ 43 w 56"/>
                <a:gd name="T65" fmla="*/ 291 h 446"/>
                <a:gd name="T66" fmla="*/ 47 w 56"/>
                <a:gd name="T67" fmla="*/ 245 h 446"/>
                <a:gd name="T68" fmla="*/ 48 w 56"/>
                <a:gd name="T69" fmla="*/ 209 h 446"/>
                <a:gd name="T70" fmla="*/ 49 w 56"/>
                <a:gd name="T71" fmla="*/ 181 h 446"/>
                <a:gd name="T72" fmla="*/ 51 w 56"/>
                <a:gd name="T73" fmla="*/ 151 h 446"/>
                <a:gd name="T74" fmla="*/ 52 w 56"/>
                <a:gd name="T75" fmla="*/ 104 h 446"/>
                <a:gd name="T76" fmla="*/ 53 w 56"/>
                <a:gd name="T77" fmla="*/ 72 h 446"/>
                <a:gd name="T78" fmla="*/ 53 w 56"/>
                <a:gd name="T79" fmla="*/ 44 h 446"/>
                <a:gd name="T80" fmla="*/ 54 w 56"/>
                <a:gd name="T81" fmla="*/ 19 h 446"/>
                <a:gd name="T82" fmla="*/ 54 w 56"/>
                <a:gd name="T83" fmla="*/ 4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6" h="446">
                  <a:moveTo>
                    <a:pt x="0" y="0"/>
                  </a:moveTo>
                  <a:lnTo>
                    <a:pt x="0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2" y="40"/>
                  </a:lnTo>
                  <a:lnTo>
                    <a:pt x="2" y="55"/>
                  </a:lnTo>
                  <a:lnTo>
                    <a:pt x="3" y="70"/>
                  </a:lnTo>
                  <a:lnTo>
                    <a:pt x="3" y="84"/>
                  </a:lnTo>
                  <a:lnTo>
                    <a:pt x="4" y="101"/>
                  </a:lnTo>
                  <a:lnTo>
                    <a:pt x="5" y="134"/>
                  </a:lnTo>
                  <a:lnTo>
                    <a:pt x="5" y="150"/>
                  </a:lnTo>
                  <a:lnTo>
                    <a:pt x="7" y="165"/>
                  </a:lnTo>
                  <a:lnTo>
                    <a:pt x="8" y="181"/>
                  </a:lnTo>
                  <a:lnTo>
                    <a:pt x="8" y="196"/>
                  </a:lnTo>
                  <a:lnTo>
                    <a:pt x="9" y="209"/>
                  </a:lnTo>
                  <a:lnTo>
                    <a:pt x="9" y="221"/>
                  </a:lnTo>
                  <a:lnTo>
                    <a:pt x="10" y="245"/>
                  </a:lnTo>
                  <a:lnTo>
                    <a:pt x="11" y="269"/>
                  </a:lnTo>
                  <a:lnTo>
                    <a:pt x="13" y="290"/>
                  </a:lnTo>
                  <a:lnTo>
                    <a:pt x="14" y="312"/>
                  </a:lnTo>
                  <a:lnTo>
                    <a:pt x="15" y="332"/>
                  </a:lnTo>
                  <a:lnTo>
                    <a:pt x="15" y="340"/>
                  </a:lnTo>
                  <a:lnTo>
                    <a:pt x="16" y="349"/>
                  </a:lnTo>
                  <a:lnTo>
                    <a:pt x="16" y="358"/>
                  </a:lnTo>
                  <a:lnTo>
                    <a:pt x="18" y="367"/>
                  </a:lnTo>
                  <a:lnTo>
                    <a:pt x="18" y="375"/>
                  </a:lnTo>
                  <a:lnTo>
                    <a:pt x="19" y="382"/>
                  </a:lnTo>
                  <a:lnTo>
                    <a:pt x="19" y="396"/>
                  </a:lnTo>
                  <a:lnTo>
                    <a:pt x="20" y="407"/>
                  </a:lnTo>
                  <a:lnTo>
                    <a:pt x="21" y="413"/>
                  </a:lnTo>
                  <a:lnTo>
                    <a:pt x="21" y="418"/>
                  </a:lnTo>
                  <a:lnTo>
                    <a:pt x="22" y="424"/>
                  </a:lnTo>
                  <a:lnTo>
                    <a:pt x="22" y="428"/>
                  </a:lnTo>
                  <a:lnTo>
                    <a:pt x="24" y="431"/>
                  </a:lnTo>
                  <a:lnTo>
                    <a:pt x="24" y="436"/>
                  </a:lnTo>
                  <a:lnTo>
                    <a:pt x="25" y="439"/>
                  </a:lnTo>
                  <a:lnTo>
                    <a:pt x="25" y="440"/>
                  </a:lnTo>
                  <a:lnTo>
                    <a:pt x="26" y="443"/>
                  </a:lnTo>
                  <a:lnTo>
                    <a:pt x="26" y="445"/>
                  </a:lnTo>
                  <a:lnTo>
                    <a:pt x="27" y="445"/>
                  </a:lnTo>
                  <a:lnTo>
                    <a:pt x="27" y="446"/>
                  </a:lnTo>
                  <a:lnTo>
                    <a:pt x="27" y="445"/>
                  </a:lnTo>
                  <a:lnTo>
                    <a:pt x="29" y="445"/>
                  </a:lnTo>
                  <a:lnTo>
                    <a:pt x="29" y="443"/>
                  </a:lnTo>
                  <a:lnTo>
                    <a:pt x="30" y="440"/>
                  </a:lnTo>
                  <a:lnTo>
                    <a:pt x="30" y="439"/>
                  </a:lnTo>
                  <a:lnTo>
                    <a:pt x="31" y="436"/>
                  </a:lnTo>
                  <a:lnTo>
                    <a:pt x="31" y="431"/>
                  </a:lnTo>
                  <a:lnTo>
                    <a:pt x="32" y="428"/>
                  </a:lnTo>
                  <a:lnTo>
                    <a:pt x="32" y="424"/>
                  </a:lnTo>
                  <a:lnTo>
                    <a:pt x="33" y="418"/>
                  </a:lnTo>
                  <a:lnTo>
                    <a:pt x="33" y="413"/>
                  </a:lnTo>
                  <a:lnTo>
                    <a:pt x="35" y="407"/>
                  </a:lnTo>
                  <a:lnTo>
                    <a:pt x="36" y="396"/>
                  </a:lnTo>
                  <a:lnTo>
                    <a:pt x="37" y="382"/>
                  </a:lnTo>
                  <a:lnTo>
                    <a:pt x="37" y="375"/>
                  </a:lnTo>
                  <a:lnTo>
                    <a:pt x="38" y="367"/>
                  </a:lnTo>
                  <a:lnTo>
                    <a:pt x="38" y="358"/>
                  </a:lnTo>
                  <a:lnTo>
                    <a:pt x="40" y="349"/>
                  </a:lnTo>
                  <a:lnTo>
                    <a:pt x="40" y="340"/>
                  </a:lnTo>
                  <a:lnTo>
                    <a:pt x="41" y="332"/>
                  </a:lnTo>
                  <a:lnTo>
                    <a:pt x="42" y="312"/>
                  </a:lnTo>
                  <a:lnTo>
                    <a:pt x="43" y="291"/>
                  </a:lnTo>
                  <a:lnTo>
                    <a:pt x="46" y="269"/>
                  </a:lnTo>
                  <a:lnTo>
                    <a:pt x="47" y="245"/>
                  </a:lnTo>
                  <a:lnTo>
                    <a:pt x="48" y="223"/>
                  </a:lnTo>
                  <a:lnTo>
                    <a:pt x="48" y="209"/>
                  </a:lnTo>
                  <a:lnTo>
                    <a:pt x="49" y="196"/>
                  </a:lnTo>
                  <a:lnTo>
                    <a:pt x="49" y="181"/>
                  </a:lnTo>
                  <a:lnTo>
                    <a:pt x="51" y="166"/>
                  </a:lnTo>
                  <a:lnTo>
                    <a:pt x="51" y="151"/>
                  </a:lnTo>
                  <a:lnTo>
                    <a:pt x="51" y="135"/>
                  </a:lnTo>
                  <a:lnTo>
                    <a:pt x="52" y="104"/>
                  </a:lnTo>
                  <a:lnTo>
                    <a:pt x="53" y="89"/>
                  </a:lnTo>
                  <a:lnTo>
                    <a:pt x="53" y="72"/>
                  </a:lnTo>
                  <a:lnTo>
                    <a:pt x="53" y="58"/>
                  </a:lnTo>
                  <a:lnTo>
                    <a:pt x="53" y="44"/>
                  </a:lnTo>
                  <a:lnTo>
                    <a:pt x="54" y="31"/>
                  </a:lnTo>
                  <a:lnTo>
                    <a:pt x="54" y="19"/>
                  </a:lnTo>
                  <a:lnTo>
                    <a:pt x="54" y="8"/>
                  </a:lnTo>
                  <a:lnTo>
                    <a:pt x="54" y="4"/>
                  </a:lnTo>
                  <a:lnTo>
                    <a:pt x="56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55" name="Freeform 423"/>
            <p:cNvSpPr>
              <a:spLocks/>
            </p:cNvSpPr>
            <p:nvPr/>
          </p:nvSpPr>
          <p:spPr bwMode="auto">
            <a:xfrm>
              <a:off x="4769" y="1612"/>
              <a:ext cx="55" cy="224"/>
            </a:xfrm>
            <a:custGeom>
              <a:avLst/>
              <a:gdLst>
                <a:gd name="T0" fmla="*/ 0 w 55"/>
                <a:gd name="T1" fmla="*/ 3 h 446"/>
                <a:gd name="T2" fmla="*/ 0 w 55"/>
                <a:gd name="T3" fmla="*/ 11 h 446"/>
                <a:gd name="T4" fmla="*/ 0 w 55"/>
                <a:gd name="T5" fmla="*/ 22 h 446"/>
                <a:gd name="T6" fmla="*/ 1 w 55"/>
                <a:gd name="T7" fmla="*/ 40 h 446"/>
                <a:gd name="T8" fmla="*/ 2 w 55"/>
                <a:gd name="T9" fmla="*/ 70 h 446"/>
                <a:gd name="T10" fmla="*/ 3 w 55"/>
                <a:gd name="T11" fmla="*/ 101 h 446"/>
                <a:gd name="T12" fmla="*/ 5 w 55"/>
                <a:gd name="T13" fmla="*/ 150 h 446"/>
                <a:gd name="T14" fmla="*/ 7 w 55"/>
                <a:gd name="T15" fmla="*/ 181 h 446"/>
                <a:gd name="T16" fmla="*/ 8 w 55"/>
                <a:gd name="T17" fmla="*/ 209 h 446"/>
                <a:gd name="T18" fmla="*/ 10 w 55"/>
                <a:gd name="T19" fmla="*/ 245 h 446"/>
                <a:gd name="T20" fmla="*/ 12 w 55"/>
                <a:gd name="T21" fmla="*/ 290 h 446"/>
                <a:gd name="T22" fmla="*/ 14 w 55"/>
                <a:gd name="T23" fmla="*/ 332 h 446"/>
                <a:gd name="T24" fmla="*/ 16 w 55"/>
                <a:gd name="T25" fmla="*/ 349 h 446"/>
                <a:gd name="T26" fmla="*/ 17 w 55"/>
                <a:gd name="T27" fmla="*/ 367 h 446"/>
                <a:gd name="T28" fmla="*/ 18 w 55"/>
                <a:gd name="T29" fmla="*/ 382 h 446"/>
                <a:gd name="T30" fmla="*/ 19 w 55"/>
                <a:gd name="T31" fmla="*/ 407 h 446"/>
                <a:gd name="T32" fmla="*/ 21 w 55"/>
                <a:gd name="T33" fmla="*/ 418 h 446"/>
                <a:gd name="T34" fmla="*/ 22 w 55"/>
                <a:gd name="T35" fmla="*/ 428 h 446"/>
                <a:gd name="T36" fmla="*/ 23 w 55"/>
                <a:gd name="T37" fmla="*/ 436 h 446"/>
                <a:gd name="T38" fmla="*/ 24 w 55"/>
                <a:gd name="T39" fmla="*/ 440 h 446"/>
                <a:gd name="T40" fmla="*/ 25 w 55"/>
                <a:gd name="T41" fmla="*/ 445 h 446"/>
                <a:gd name="T42" fmla="*/ 27 w 55"/>
                <a:gd name="T43" fmla="*/ 446 h 446"/>
                <a:gd name="T44" fmla="*/ 28 w 55"/>
                <a:gd name="T45" fmla="*/ 445 h 446"/>
                <a:gd name="T46" fmla="*/ 29 w 55"/>
                <a:gd name="T47" fmla="*/ 440 h 446"/>
                <a:gd name="T48" fmla="*/ 30 w 55"/>
                <a:gd name="T49" fmla="*/ 436 h 446"/>
                <a:gd name="T50" fmla="*/ 32 w 55"/>
                <a:gd name="T51" fmla="*/ 428 h 446"/>
                <a:gd name="T52" fmla="*/ 33 w 55"/>
                <a:gd name="T53" fmla="*/ 418 h 446"/>
                <a:gd name="T54" fmla="*/ 34 w 55"/>
                <a:gd name="T55" fmla="*/ 407 h 446"/>
                <a:gd name="T56" fmla="*/ 37 w 55"/>
                <a:gd name="T57" fmla="*/ 382 h 446"/>
                <a:gd name="T58" fmla="*/ 38 w 55"/>
                <a:gd name="T59" fmla="*/ 367 h 446"/>
                <a:gd name="T60" fmla="*/ 39 w 55"/>
                <a:gd name="T61" fmla="*/ 349 h 446"/>
                <a:gd name="T62" fmla="*/ 40 w 55"/>
                <a:gd name="T63" fmla="*/ 332 h 446"/>
                <a:gd name="T64" fmla="*/ 43 w 55"/>
                <a:gd name="T65" fmla="*/ 291 h 446"/>
                <a:gd name="T66" fmla="*/ 46 w 55"/>
                <a:gd name="T67" fmla="*/ 245 h 446"/>
                <a:gd name="T68" fmla="*/ 48 w 55"/>
                <a:gd name="T69" fmla="*/ 209 h 446"/>
                <a:gd name="T70" fmla="*/ 49 w 55"/>
                <a:gd name="T71" fmla="*/ 181 h 446"/>
                <a:gd name="T72" fmla="*/ 50 w 55"/>
                <a:gd name="T73" fmla="*/ 151 h 446"/>
                <a:gd name="T74" fmla="*/ 51 w 55"/>
                <a:gd name="T75" fmla="*/ 104 h 446"/>
                <a:gd name="T76" fmla="*/ 52 w 55"/>
                <a:gd name="T77" fmla="*/ 72 h 446"/>
                <a:gd name="T78" fmla="*/ 52 w 55"/>
                <a:gd name="T79" fmla="*/ 44 h 446"/>
                <a:gd name="T80" fmla="*/ 54 w 55"/>
                <a:gd name="T81" fmla="*/ 19 h 446"/>
                <a:gd name="T82" fmla="*/ 54 w 55"/>
                <a:gd name="T83" fmla="*/ 4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5" h="446">
                  <a:moveTo>
                    <a:pt x="0" y="0"/>
                  </a:moveTo>
                  <a:lnTo>
                    <a:pt x="0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40"/>
                  </a:lnTo>
                  <a:lnTo>
                    <a:pt x="1" y="55"/>
                  </a:lnTo>
                  <a:lnTo>
                    <a:pt x="2" y="70"/>
                  </a:lnTo>
                  <a:lnTo>
                    <a:pt x="2" y="84"/>
                  </a:lnTo>
                  <a:lnTo>
                    <a:pt x="3" y="101"/>
                  </a:lnTo>
                  <a:lnTo>
                    <a:pt x="5" y="134"/>
                  </a:lnTo>
                  <a:lnTo>
                    <a:pt x="5" y="150"/>
                  </a:lnTo>
                  <a:lnTo>
                    <a:pt x="6" y="165"/>
                  </a:lnTo>
                  <a:lnTo>
                    <a:pt x="7" y="181"/>
                  </a:lnTo>
                  <a:lnTo>
                    <a:pt x="7" y="196"/>
                  </a:lnTo>
                  <a:lnTo>
                    <a:pt x="8" y="209"/>
                  </a:lnTo>
                  <a:lnTo>
                    <a:pt x="8" y="221"/>
                  </a:lnTo>
                  <a:lnTo>
                    <a:pt x="10" y="245"/>
                  </a:lnTo>
                  <a:lnTo>
                    <a:pt x="11" y="269"/>
                  </a:lnTo>
                  <a:lnTo>
                    <a:pt x="12" y="290"/>
                  </a:lnTo>
                  <a:lnTo>
                    <a:pt x="13" y="312"/>
                  </a:lnTo>
                  <a:lnTo>
                    <a:pt x="14" y="332"/>
                  </a:lnTo>
                  <a:lnTo>
                    <a:pt x="14" y="340"/>
                  </a:lnTo>
                  <a:lnTo>
                    <a:pt x="16" y="349"/>
                  </a:lnTo>
                  <a:lnTo>
                    <a:pt x="16" y="358"/>
                  </a:lnTo>
                  <a:lnTo>
                    <a:pt x="17" y="367"/>
                  </a:lnTo>
                  <a:lnTo>
                    <a:pt x="17" y="375"/>
                  </a:lnTo>
                  <a:lnTo>
                    <a:pt x="18" y="382"/>
                  </a:lnTo>
                  <a:lnTo>
                    <a:pt x="18" y="396"/>
                  </a:lnTo>
                  <a:lnTo>
                    <a:pt x="19" y="407"/>
                  </a:lnTo>
                  <a:lnTo>
                    <a:pt x="21" y="413"/>
                  </a:lnTo>
                  <a:lnTo>
                    <a:pt x="21" y="418"/>
                  </a:lnTo>
                  <a:lnTo>
                    <a:pt x="22" y="424"/>
                  </a:lnTo>
                  <a:lnTo>
                    <a:pt x="22" y="428"/>
                  </a:lnTo>
                  <a:lnTo>
                    <a:pt x="23" y="431"/>
                  </a:lnTo>
                  <a:lnTo>
                    <a:pt x="23" y="436"/>
                  </a:lnTo>
                  <a:lnTo>
                    <a:pt x="24" y="439"/>
                  </a:lnTo>
                  <a:lnTo>
                    <a:pt x="24" y="440"/>
                  </a:lnTo>
                  <a:lnTo>
                    <a:pt x="25" y="443"/>
                  </a:lnTo>
                  <a:lnTo>
                    <a:pt x="25" y="445"/>
                  </a:lnTo>
                  <a:lnTo>
                    <a:pt x="27" y="445"/>
                  </a:lnTo>
                  <a:lnTo>
                    <a:pt x="27" y="446"/>
                  </a:lnTo>
                  <a:lnTo>
                    <a:pt x="27" y="445"/>
                  </a:lnTo>
                  <a:lnTo>
                    <a:pt x="28" y="445"/>
                  </a:lnTo>
                  <a:lnTo>
                    <a:pt x="28" y="443"/>
                  </a:lnTo>
                  <a:lnTo>
                    <a:pt x="29" y="440"/>
                  </a:lnTo>
                  <a:lnTo>
                    <a:pt x="29" y="439"/>
                  </a:lnTo>
                  <a:lnTo>
                    <a:pt x="30" y="436"/>
                  </a:lnTo>
                  <a:lnTo>
                    <a:pt x="30" y="431"/>
                  </a:lnTo>
                  <a:lnTo>
                    <a:pt x="32" y="428"/>
                  </a:lnTo>
                  <a:lnTo>
                    <a:pt x="32" y="424"/>
                  </a:lnTo>
                  <a:lnTo>
                    <a:pt x="33" y="418"/>
                  </a:lnTo>
                  <a:lnTo>
                    <a:pt x="33" y="413"/>
                  </a:lnTo>
                  <a:lnTo>
                    <a:pt x="34" y="407"/>
                  </a:lnTo>
                  <a:lnTo>
                    <a:pt x="35" y="396"/>
                  </a:lnTo>
                  <a:lnTo>
                    <a:pt x="37" y="382"/>
                  </a:lnTo>
                  <a:lnTo>
                    <a:pt x="37" y="375"/>
                  </a:lnTo>
                  <a:lnTo>
                    <a:pt x="38" y="367"/>
                  </a:lnTo>
                  <a:lnTo>
                    <a:pt x="38" y="358"/>
                  </a:lnTo>
                  <a:lnTo>
                    <a:pt x="39" y="349"/>
                  </a:lnTo>
                  <a:lnTo>
                    <a:pt x="39" y="340"/>
                  </a:lnTo>
                  <a:lnTo>
                    <a:pt x="40" y="332"/>
                  </a:lnTo>
                  <a:lnTo>
                    <a:pt x="41" y="312"/>
                  </a:lnTo>
                  <a:lnTo>
                    <a:pt x="43" y="291"/>
                  </a:lnTo>
                  <a:lnTo>
                    <a:pt x="45" y="269"/>
                  </a:lnTo>
                  <a:lnTo>
                    <a:pt x="46" y="245"/>
                  </a:lnTo>
                  <a:lnTo>
                    <a:pt x="48" y="223"/>
                  </a:lnTo>
                  <a:lnTo>
                    <a:pt x="48" y="209"/>
                  </a:lnTo>
                  <a:lnTo>
                    <a:pt x="49" y="196"/>
                  </a:lnTo>
                  <a:lnTo>
                    <a:pt x="49" y="181"/>
                  </a:lnTo>
                  <a:lnTo>
                    <a:pt x="50" y="166"/>
                  </a:lnTo>
                  <a:lnTo>
                    <a:pt x="50" y="151"/>
                  </a:lnTo>
                  <a:lnTo>
                    <a:pt x="50" y="135"/>
                  </a:lnTo>
                  <a:lnTo>
                    <a:pt x="51" y="104"/>
                  </a:lnTo>
                  <a:lnTo>
                    <a:pt x="52" y="89"/>
                  </a:lnTo>
                  <a:lnTo>
                    <a:pt x="52" y="72"/>
                  </a:lnTo>
                  <a:lnTo>
                    <a:pt x="52" y="58"/>
                  </a:lnTo>
                  <a:lnTo>
                    <a:pt x="52" y="44"/>
                  </a:lnTo>
                  <a:lnTo>
                    <a:pt x="54" y="31"/>
                  </a:lnTo>
                  <a:lnTo>
                    <a:pt x="54" y="19"/>
                  </a:lnTo>
                  <a:lnTo>
                    <a:pt x="54" y="8"/>
                  </a:lnTo>
                  <a:lnTo>
                    <a:pt x="54" y="4"/>
                  </a:lnTo>
                  <a:lnTo>
                    <a:pt x="55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56" name="Freeform 424"/>
            <p:cNvSpPr>
              <a:spLocks/>
            </p:cNvSpPr>
            <p:nvPr/>
          </p:nvSpPr>
          <p:spPr bwMode="auto">
            <a:xfrm>
              <a:off x="4879" y="1612"/>
              <a:ext cx="55" cy="224"/>
            </a:xfrm>
            <a:custGeom>
              <a:avLst/>
              <a:gdLst>
                <a:gd name="T0" fmla="*/ 0 w 55"/>
                <a:gd name="T1" fmla="*/ 3 h 446"/>
                <a:gd name="T2" fmla="*/ 0 w 55"/>
                <a:gd name="T3" fmla="*/ 11 h 446"/>
                <a:gd name="T4" fmla="*/ 0 w 55"/>
                <a:gd name="T5" fmla="*/ 22 h 446"/>
                <a:gd name="T6" fmla="*/ 1 w 55"/>
                <a:gd name="T7" fmla="*/ 40 h 446"/>
                <a:gd name="T8" fmla="*/ 3 w 55"/>
                <a:gd name="T9" fmla="*/ 70 h 446"/>
                <a:gd name="T10" fmla="*/ 4 w 55"/>
                <a:gd name="T11" fmla="*/ 101 h 446"/>
                <a:gd name="T12" fmla="*/ 5 w 55"/>
                <a:gd name="T13" fmla="*/ 150 h 446"/>
                <a:gd name="T14" fmla="*/ 7 w 55"/>
                <a:gd name="T15" fmla="*/ 181 h 446"/>
                <a:gd name="T16" fmla="*/ 9 w 55"/>
                <a:gd name="T17" fmla="*/ 209 h 446"/>
                <a:gd name="T18" fmla="*/ 10 w 55"/>
                <a:gd name="T19" fmla="*/ 245 h 446"/>
                <a:gd name="T20" fmla="*/ 12 w 55"/>
                <a:gd name="T21" fmla="*/ 290 h 446"/>
                <a:gd name="T22" fmla="*/ 15 w 55"/>
                <a:gd name="T23" fmla="*/ 332 h 446"/>
                <a:gd name="T24" fmla="*/ 16 w 55"/>
                <a:gd name="T25" fmla="*/ 349 h 446"/>
                <a:gd name="T26" fmla="*/ 17 w 55"/>
                <a:gd name="T27" fmla="*/ 367 h 446"/>
                <a:gd name="T28" fmla="*/ 18 w 55"/>
                <a:gd name="T29" fmla="*/ 382 h 446"/>
                <a:gd name="T30" fmla="*/ 20 w 55"/>
                <a:gd name="T31" fmla="*/ 407 h 446"/>
                <a:gd name="T32" fmla="*/ 21 w 55"/>
                <a:gd name="T33" fmla="*/ 418 h 446"/>
                <a:gd name="T34" fmla="*/ 22 w 55"/>
                <a:gd name="T35" fmla="*/ 428 h 446"/>
                <a:gd name="T36" fmla="*/ 23 w 55"/>
                <a:gd name="T37" fmla="*/ 436 h 446"/>
                <a:gd name="T38" fmla="*/ 25 w 55"/>
                <a:gd name="T39" fmla="*/ 440 h 446"/>
                <a:gd name="T40" fmla="*/ 26 w 55"/>
                <a:gd name="T41" fmla="*/ 445 h 446"/>
                <a:gd name="T42" fmla="*/ 27 w 55"/>
                <a:gd name="T43" fmla="*/ 446 h 446"/>
                <a:gd name="T44" fmla="*/ 28 w 55"/>
                <a:gd name="T45" fmla="*/ 445 h 446"/>
                <a:gd name="T46" fmla="*/ 29 w 55"/>
                <a:gd name="T47" fmla="*/ 440 h 446"/>
                <a:gd name="T48" fmla="*/ 31 w 55"/>
                <a:gd name="T49" fmla="*/ 436 h 446"/>
                <a:gd name="T50" fmla="*/ 32 w 55"/>
                <a:gd name="T51" fmla="*/ 428 h 446"/>
                <a:gd name="T52" fmla="*/ 33 w 55"/>
                <a:gd name="T53" fmla="*/ 418 h 446"/>
                <a:gd name="T54" fmla="*/ 34 w 55"/>
                <a:gd name="T55" fmla="*/ 407 h 446"/>
                <a:gd name="T56" fmla="*/ 37 w 55"/>
                <a:gd name="T57" fmla="*/ 382 h 446"/>
                <a:gd name="T58" fmla="*/ 38 w 55"/>
                <a:gd name="T59" fmla="*/ 367 h 446"/>
                <a:gd name="T60" fmla="*/ 39 w 55"/>
                <a:gd name="T61" fmla="*/ 349 h 446"/>
                <a:gd name="T62" fmla="*/ 41 w 55"/>
                <a:gd name="T63" fmla="*/ 332 h 446"/>
                <a:gd name="T64" fmla="*/ 43 w 55"/>
                <a:gd name="T65" fmla="*/ 291 h 446"/>
                <a:gd name="T66" fmla="*/ 47 w 55"/>
                <a:gd name="T67" fmla="*/ 245 h 446"/>
                <a:gd name="T68" fmla="*/ 48 w 55"/>
                <a:gd name="T69" fmla="*/ 209 h 446"/>
                <a:gd name="T70" fmla="*/ 49 w 55"/>
                <a:gd name="T71" fmla="*/ 181 h 446"/>
                <a:gd name="T72" fmla="*/ 50 w 55"/>
                <a:gd name="T73" fmla="*/ 151 h 446"/>
                <a:gd name="T74" fmla="*/ 52 w 55"/>
                <a:gd name="T75" fmla="*/ 104 h 446"/>
                <a:gd name="T76" fmla="*/ 53 w 55"/>
                <a:gd name="T77" fmla="*/ 72 h 446"/>
                <a:gd name="T78" fmla="*/ 53 w 55"/>
                <a:gd name="T79" fmla="*/ 44 h 446"/>
                <a:gd name="T80" fmla="*/ 54 w 55"/>
                <a:gd name="T81" fmla="*/ 19 h 446"/>
                <a:gd name="T82" fmla="*/ 54 w 55"/>
                <a:gd name="T83" fmla="*/ 4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5" h="446">
                  <a:moveTo>
                    <a:pt x="0" y="0"/>
                  </a:moveTo>
                  <a:lnTo>
                    <a:pt x="0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40"/>
                  </a:lnTo>
                  <a:lnTo>
                    <a:pt x="1" y="55"/>
                  </a:lnTo>
                  <a:lnTo>
                    <a:pt x="3" y="70"/>
                  </a:lnTo>
                  <a:lnTo>
                    <a:pt x="3" y="84"/>
                  </a:lnTo>
                  <a:lnTo>
                    <a:pt x="4" y="101"/>
                  </a:lnTo>
                  <a:lnTo>
                    <a:pt x="5" y="134"/>
                  </a:lnTo>
                  <a:lnTo>
                    <a:pt x="5" y="150"/>
                  </a:lnTo>
                  <a:lnTo>
                    <a:pt x="6" y="165"/>
                  </a:lnTo>
                  <a:lnTo>
                    <a:pt x="7" y="181"/>
                  </a:lnTo>
                  <a:lnTo>
                    <a:pt x="7" y="196"/>
                  </a:lnTo>
                  <a:lnTo>
                    <a:pt x="9" y="209"/>
                  </a:lnTo>
                  <a:lnTo>
                    <a:pt x="9" y="221"/>
                  </a:lnTo>
                  <a:lnTo>
                    <a:pt x="10" y="245"/>
                  </a:lnTo>
                  <a:lnTo>
                    <a:pt x="11" y="269"/>
                  </a:lnTo>
                  <a:lnTo>
                    <a:pt x="12" y="290"/>
                  </a:lnTo>
                  <a:lnTo>
                    <a:pt x="14" y="312"/>
                  </a:lnTo>
                  <a:lnTo>
                    <a:pt x="15" y="332"/>
                  </a:lnTo>
                  <a:lnTo>
                    <a:pt x="15" y="340"/>
                  </a:lnTo>
                  <a:lnTo>
                    <a:pt x="16" y="349"/>
                  </a:lnTo>
                  <a:lnTo>
                    <a:pt x="16" y="358"/>
                  </a:lnTo>
                  <a:lnTo>
                    <a:pt x="17" y="367"/>
                  </a:lnTo>
                  <a:lnTo>
                    <a:pt x="17" y="375"/>
                  </a:lnTo>
                  <a:lnTo>
                    <a:pt x="18" y="382"/>
                  </a:lnTo>
                  <a:lnTo>
                    <a:pt x="18" y="396"/>
                  </a:lnTo>
                  <a:lnTo>
                    <a:pt x="20" y="407"/>
                  </a:lnTo>
                  <a:lnTo>
                    <a:pt x="21" y="413"/>
                  </a:lnTo>
                  <a:lnTo>
                    <a:pt x="21" y="418"/>
                  </a:lnTo>
                  <a:lnTo>
                    <a:pt x="22" y="424"/>
                  </a:lnTo>
                  <a:lnTo>
                    <a:pt x="22" y="428"/>
                  </a:lnTo>
                  <a:lnTo>
                    <a:pt x="23" y="431"/>
                  </a:lnTo>
                  <a:lnTo>
                    <a:pt x="23" y="436"/>
                  </a:lnTo>
                  <a:lnTo>
                    <a:pt x="25" y="439"/>
                  </a:lnTo>
                  <a:lnTo>
                    <a:pt x="25" y="440"/>
                  </a:lnTo>
                  <a:lnTo>
                    <a:pt x="26" y="443"/>
                  </a:lnTo>
                  <a:lnTo>
                    <a:pt x="26" y="445"/>
                  </a:lnTo>
                  <a:lnTo>
                    <a:pt x="27" y="445"/>
                  </a:lnTo>
                  <a:lnTo>
                    <a:pt x="27" y="446"/>
                  </a:lnTo>
                  <a:lnTo>
                    <a:pt x="27" y="445"/>
                  </a:lnTo>
                  <a:lnTo>
                    <a:pt x="28" y="445"/>
                  </a:lnTo>
                  <a:lnTo>
                    <a:pt x="28" y="443"/>
                  </a:lnTo>
                  <a:lnTo>
                    <a:pt x="29" y="440"/>
                  </a:lnTo>
                  <a:lnTo>
                    <a:pt x="29" y="439"/>
                  </a:lnTo>
                  <a:lnTo>
                    <a:pt x="31" y="436"/>
                  </a:lnTo>
                  <a:lnTo>
                    <a:pt x="31" y="431"/>
                  </a:lnTo>
                  <a:lnTo>
                    <a:pt x="32" y="428"/>
                  </a:lnTo>
                  <a:lnTo>
                    <a:pt x="32" y="424"/>
                  </a:lnTo>
                  <a:lnTo>
                    <a:pt x="33" y="418"/>
                  </a:lnTo>
                  <a:lnTo>
                    <a:pt x="33" y="413"/>
                  </a:lnTo>
                  <a:lnTo>
                    <a:pt x="34" y="407"/>
                  </a:lnTo>
                  <a:lnTo>
                    <a:pt x="36" y="396"/>
                  </a:lnTo>
                  <a:lnTo>
                    <a:pt x="37" y="382"/>
                  </a:lnTo>
                  <a:lnTo>
                    <a:pt x="37" y="375"/>
                  </a:lnTo>
                  <a:lnTo>
                    <a:pt x="38" y="367"/>
                  </a:lnTo>
                  <a:lnTo>
                    <a:pt x="38" y="358"/>
                  </a:lnTo>
                  <a:lnTo>
                    <a:pt x="39" y="349"/>
                  </a:lnTo>
                  <a:lnTo>
                    <a:pt x="39" y="340"/>
                  </a:lnTo>
                  <a:lnTo>
                    <a:pt x="41" y="332"/>
                  </a:lnTo>
                  <a:lnTo>
                    <a:pt x="42" y="312"/>
                  </a:lnTo>
                  <a:lnTo>
                    <a:pt x="43" y="291"/>
                  </a:lnTo>
                  <a:lnTo>
                    <a:pt x="45" y="269"/>
                  </a:lnTo>
                  <a:lnTo>
                    <a:pt x="47" y="245"/>
                  </a:lnTo>
                  <a:lnTo>
                    <a:pt x="48" y="223"/>
                  </a:lnTo>
                  <a:lnTo>
                    <a:pt x="48" y="209"/>
                  </a:lnTo>
                  <a:lnTo>
                    <a:pt x="49" y="196"/>
                  </a:lnTo>
                  <a:lnTo>
                    <a:pt x="49" y="181"/>
                  </a:lnTo>
                  <a:lnTo>
                    <a:pt x="50" y="166"/>
                  </a:lnTo>
                  <a:lnTo>
                    <a:pt x="50" y="151"/>
                  </a:lnTo>
                  <a:lnTo>
                    <a:pt x="50" y="135"/>
                  </a:lnTo>
                  <a:lnTo>
                    <a:pt x="52" y="104"/>
                  </a:lnTo>
                  <a:lnTo>
                    <a:pt x="53" y="89"/>
                  </a:lnTo>
                  <a:lnTo>
                    <a:pt x="53" y="72"/>
                  </a:lnTo>
                  <a:lnTo>
                    <a:pt x="53" y="58"/>
                  </a:lnTo>
                  <a:lnTo>
                    <a:pt x="53" y="44"/>
                  </a:lnTo>
                  <a:lnTo>
                    <a:pt x="54" y="31"/>
                  </a:lnTo>
                  <a:lnTo>
                    <a:pt x="54" y="19"/>
                  </a:lnTo>
                  <a:lnTo>
                    <a:pt x="54" y="8"/>
                  </a:lnTo>
                  <a:lnTo>
                    <a:pt x="54" y="4"/>
                  </a:lnTo>
                  <a:lnTo>
                    <a:pt x="55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57" name="Freeform 425"/>
            <p:cNvSpPr>
              <a:spLocks/>
            </p:cNvSpPr>
            <p:nvPr/>
          </p:nvSpPr>
          <p:spPr bwMode="auto">
            <a:xfrm>
              <a:off x="5045" y="1389"/>
              <a:ext cx="55" cy="223"/>
            </a:xfrm>
            <a:custGeom>
              <a:avLst/>
              <a:gdLst>
                <a:gd name="T0" fmla="*/ 0 w 55"/>
                <a:gd name="T1" fmla="*/ 442 h 447"/>
                <a:gd name="T2" fmla="*/ 0 w 55"/>
                <a:gd name="T3" fmla="*/ 433 h 447"/>
                <a:gd name="T4" fmla="*/ 0 w 55"/>
                <a:gd name="T5" fmla="*/ 423 h 447"/>
                <a:gd name="T6" fmla="*/ 1 w 55"/>
                <a:gd name="T7" fmla="*/ 405 h 447"/>
                <a:gd name="T8" fmla="*/ 2 w 55"/>
                <a:gd name="T9" fmla="*/ 377 h 447"/>
                <a:gd name="T10" fmla="*/ 3 w 55"/>
                <a:gd name="T11" fmla="*/ 345 h 447"/>
                <a:gd name="T12" fmla="*/ 4 w 55"/>
                <a:gd name="T13" fmla="*/ 296 h 447"/>
                <a:gd name="T14" fmla="*/ 7 w 55"/>
                <a:gd name="T15" fmla="*/ 263 h 447"/>
                <a:gd name="T16" fmla="*/ 8 w 55"/>
                <a:gd name="T17" fmla="*/ 235 h 447"/>
                <a:gd name="T18" fmla="*/ 9 w 55"/>
                <a:gd name="T19" fmla="*/ 199 h 447"/>
                <a:gd name="T20" fmla="*/ 12 w 55"/>
                <a:gd name="T21" fmla="*/ 155 h 447"/>
                <a:gd name="T22" fmla="*/ 14 w 55"/>
                <a:gd name="T23" fmla="*/ 113 h 447"/>
                <a:gd name="T24" fmla="*/ 16 w 55"/>
                <a:gd name="T25" fmla="*/ 95 h 447"/>
                <a:gd name="T26" fmla="*/ 17 w 55"/>
                <a:gd name="T27" fmla="*/ 77 h 447"/>
                <a:gd name="T28" fmla="*/ 18 w 55"/>
                <a:gd name="T29" fmla="*/ 62 h 447"/>
                <a:gd name="T30" fmla="*/ 19 w 55"/>
                <a:gd name="T31" fmla="*/ 37 h 447"/>
                <a:gd name="T32" fmla="*/ 20 w 55"/>
                <a:gd name="T33" fmla="*/ 27 h 447"/>
                <a:gd name="T34" fmla="*/ 22 w 55"/>
                <a:gd name="T35" fmla="*/ 16 h 447"/>
                <a:gd name="T36" fmla="*/ 23 w 55"/>
                <a:gd name="T37" fmla="*/ 9 h 447"/>
                <a:gd name="T38" fmla="*/ 24 w 55"/>
                <a:gd name="T39" fmla="*/ 4 h 447"/>
                <a:gd name="T40" fmla="*/ 25 w 55"/>
                <a:gd name="T41" fmla="*/ 0 h 447"/>
                <a:gd name="T42" fmla="*/ 27 w 55"/>
                <a:gd name="T43" fmla="*/ 0 h 447"/>
                <a:gd name="T44" fmla="*/ 28 w 55"/>
                <a:gd name="T45" fmla="*/ 0 h 447"/>
                <a:gd name="T46" fmla="*/ 29 w 55"/>
                <a:gd name="T47" fmla="*/ 4 h 447"/>
                <a:gd name="T48" fmla="*/ 30 w 55"/>
                <a:gd name="T49" fmla="*/ 9 h 447"/>
                <a:gd name="T50" fmla="*/ 31 w 55"/>
                <a:gd name="T51" fmla="*/ 18 h 447"/>
                <a:gd name="T52" fmla="*/ 33 w 55"/>
                <a:gd name="T53" fmla="*/ 27 h 447"/>
                <a:gd name="T54" fmla="*/ 34 w 55"/>
                <a:gd name="T55" fmla="*/ 37 h 447"/>
                <a:gd name="T56" fmla="*/ 36 w 55"/>
                <a:gd name="T57" fmla="*/ 62 h 447"/>
                <a:gd name="T58" fmla="*/ 38 w 55"/>
                <a:gd name="T59" fmla="*/ 77 h 447"/>
                <a:gd name="T60" fmla="*/ 39 w 55"/>
                <a:gd name="T61" fmla="*/ 95 h 447"/>
                <a:gd name="T62" fmla="*/ 40 w 55"/>
                <a:gd name="T63" fmla="*/ 113 h 447"/>
                <a:gd name="T64" fmla="*/ 42 w 55"/>
                <a:gd name="T65" fmla="*/ 153 h 447"/>
                <a:gd name="T66" fmla="*/ 46 w 55"/>
                <a:gd name="T67" fmla="*/ 199 h 447"/>
                <a:gd name="T68" fmla="*/ 47 w 55"/>
                <a:gd name="T69" fmla="*/ 235 h 447"/>
                <a:gd name="T70" fmla="*/ 49 w 55"/>
                <a:gd name="T71" fmla="*/ 263 h 447"/>
                <a:gd name="T72" fmla="*/ 50 w 55"/>
                <a:gd name="T73" fmla="*/ 293 h 447"/>
                <a:gd name="T74" fmla="*/ 51 w 55"/>
                <a:gd name="T75" fmla="*/ 341 h 447"/>
                <a:gd name="T76" fmla="*/ 52 w 55"/>
                <a:gd name="T77" fmla="*/ 372 h 447"/>
                <a:gd name="T78" fmla="*/ 52 w 55"/>
                <a:gd name="T79" fmla="*/ 400 h 447"/>
                <a:gd name="T80" fmla="*/ 54 w 55"/>
                <a:gd name="T81" fmla="*/ 426 h 447"/>
                <a:gd name="T82" fmla="*/ 54 w 55"/>
                <a:gd name="T83" fmla="*/ 44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5" h="447">
                  <a:moveTo>
                    <a:pt x="0" y="447"/>
                  </a:moveTo>
                  <a:lnTo>
                    <a:pt x="0" y="442"/>
                  </a:lnTo>
                  <a:lnTo>
                    <a:pt x="0" y="438"/>
                  </a:lnTo>
                  <a:lnTo>
                    <a:pt x="0" y="433"/>
                  </a:lnTo>
                  <a:lnTo>
                    <a:pt x="0" y="429"/>
                  </a:lnTo>
                  <a:lnTo>
                    <a:pt x="0" y="423"/>
                  </a:lnTo>
                  <a:lnTo>
                    <a:pt x="0" y="417"/>
                  </a:lnTo>
                  <a:lnTo>
                    <a:pt x="1" y="405"/>
                  </a:lnTo>
                  <a:lnTo>
                    <a:pt x="1" y="391"/>
                  </a:lnTo>
                  <a:lnTo>
                    <a:pt x="2" y="377"/>
                  </a:lnTo>
                  <a:lnTo>
                    <a:pt x="2" y="360"/>
                  </a:lnTo>
                  <a:lnTo>
                    <a:pt x="3" y="345"/>
                  </a:lnTo>
                  <a:lnTo>
                    <a:pt x="4" y="313"/>
                  </a:lnTo>
                  <a:lnTo>
                    <a:pt x="4" y="296"/>
                  </a:lnTo>
                  <a:lnTo>
                    <a:pt x="6" y="280"/>
                  </a:lnTo>
                  <a:lnTo>
                    <a:pt x="7" y="263"/>
                  </a:lnTo>
                  <a:lnTo>
                    <a:pt x="7" y="250"/>
                  </a:lnTo>
                  <a:lnTo>
                    <a:pt x="8" y="235"/>
                  </a:lnTo>
                  <a:lnTo>
                    <a:pt x="8" y="223"/>
                  </a:lnTo>
                  <a:lnTo>
                    <a:pt x="9" y="199"/>
                  </a:lnTo>
                  <a:lnTo>
                    <a:pt x="11" y="177"/>
                  </a:lnTo>
                  <a:lnTo>
                    <a:pt x="12" y="155"/>
                  </a:lnTo>
                  <a:lnTo>
                    <a:pt x="13" y="132"/>
                  </a:lnTo>
                  <a:lnTo>
                    <a:pt x="14" y="113"/>
                  </a:lnTo>
                  <a:lnTo>
                    <a:pt x="14" y="104"/>
                  </a:lnTo>
                  <a:lnTo>
                    <a:pt x="16" y="95"/>
                  </a:lnTo>
                  <a:lnTo>
                    <a:pt x="16" y="86"/>
                  </a:lnTo>
                  <a:lnTo>
                    <a:pt x="17" y="77"/>
                  </a:lnTo>
                  <a:lnTo>
                    <a:pt x="17" y="70"/>
                  </a:lnTo>
                  <a:lnTo>
                    <a:pt x="18" y="62"/>
                  </a:lnTo>
                  <a:lnTo>
                    <a:pt x="18" y="49"/>
                  </a:lnTo>
                  <a:lnTo>
                    <a:pt x="19" y="37"/>
                  </a:lnTo>
                  <a:lnTo>
                    <a:pt x="20" y="31"/>
                  </a:lnTo>
                  <a:lnTo>
                    <a:pt x="20" y="27"/>
                  </a:lnTo>
                  <a:lnTo>
                    <a:pt x="22" y="21"/>
                  </a:lnTo>
                  <a:lnTo>
                    <a:pt x="22" y="16"/>
                  </a:lnTo>
                  <a:lnTo>
                    <a:pt x="23" y="13"/>
                  </a:lnTo>
                  <a:lnTo>
                    <a:pt x="23" y="9"/>
                  </a:lnTo>
                  <a:lnTo>
                    <a:pt x="24" y="6"/>
                  </a:lnTo>
                  <a:lnTo>
                    <a:pt x="24" y="4"/>
                  </a:lnTo>
                  <a:lnTo>
                    <a:pt x="25" y="1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8" y="0"/>
                  </a:lnTo>
                  <a:lnTo>
                    <a:pt x="28" y="1"/>
                  </a:lnTo>
                  <a:lnTo>
                    <a:pt x="29" y="4"/>
                  </a:lnTo>
                  <a:lnTo>
                    <a:pt x="29" y="6"/>
                  </a:lnTo>
                  <a:lnTo>
                    <a:pt x="30" y="9"/>
                  </a:lnTo>
                  <a:lnTo>
                    <a:pt x="30" y="13"/>
                  </a:lnTo>
                  <a:lnTo>
                    <a:pt x="31" y="18"/>
                  </a:lnTo>
                  <a:lnTo>
                    <a:pt x="31" y="22"/>
                  </a:lnTo>
                  <a:lnTo>
                    <a:pt x="33" y="27"/>
                  </a:lnTo>
                  <a:lnTo>
                    <a:pt x="33" y="31"/>
                  </a:lnTo>
                  <a:lnTo>
                    <a:pt x="34" y="37"/>
                  </a:lnTo>
                  <a:lnTo>
                    <a:pt x="35" y="49"/>
                  </a:lnTo>
                  <a:lnTo>
                    <a:pt x="36" y="62"/>
                  </a:lnTo>
                  <a:lnTo>
                    <a:pt x="36" y="70"/>
                  </a:lnTo>
                  <a:lnTo>
                    <a:pt x="38" y="77"/>
                  </a:lnTo>
                  <a:lnTo>
                    <a:pt x="38" y="86"/>
                  </a:lnTo>
                  <a:lnTo>
                    <a:pt x="39" y="95"/>
                  </a:lnTo>
                  <a:lnTo>
                    <a:pt x="39" y="104"/>
                  </a:lnTo>
                  <a:lnTo>
                    <a:pt x="40" y="113"/>
                  </a:lnTo>
                  <a:lnTo>
                    <a:pt x="41" y="132"/>
                  </a:lnTo>
                  <a:lnTo>
                    <a:pt x="42" y="153"/>
                  </a:lnTo>
                  <a:lnTo>
                    <a:pt x="45" y="176"/>
                  </a:lnTo>
                  <a:lnTo>
                    <a:pt x="46" y="199"/>
                  </a:lnTo>
                  <a:lnTo>
                    <a:pt x="47" y="223"/>
                  </a:lnTo>
                  <a:lnTo>
                    <a:pt x="47" y="235"/>
                  </a:lnTo>
                  <a:lnTo>
                    <a:pt x="49" y="249"/>
                  </a:lnTo>
                  <a:lnTo>
                    <a:pt x="49" y="263"/>
                  </a:lnTo>
                  <a:lnTo>
                    <a:pt x="50" y="278"/>
                  </a:lnTo>
                  <a:lnTo>
                    <a:pt x="50" y="293"/>
                  </a:lnTo>
                  <a:lnTo>
                    <a:pt x="50" y="310"/>
                  </a:lnTo>
                  <a:lnTo>
                    <a:pt x="51" y="341"/>
                  </a:lnTo>
                  <a:lnTo>
                    <a:pt x="52" y="356"/>
                  </a:lnTo>
                  <a:lnTo>
                    <a:pt x="52" y="372"/>
                  </a:lnTo>
                  <a:lnTo>
                    <a:pt x="52" y="387"/>
                  </a:lnTo>
                  <a:lnTo>
                    <a:pt x="52" y="400"/>
                  </a:lnTo>
                  <a:lnTo>
                    <a:pt x="54" y="414"/>
                  </a:lnTo>
                  <a:lnTo>
                    <a:pt x="54" y="426"/>
                  </a:lnTo>
                  <a:lnTo>
                    <a:pt x="54" y="436"/>
                  </a:lnTo>
                  <a:lnTo>
                    <a:pt x="54" y="441"/>
                  </a:lnTo>
                  <a:lnTo>
                    <a:pt x="55" y="447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58" name="Freeform 426"/>
            <p:cNvSpPr>
              <a:spLocks/>
            </p:cNvSpPr>
            <p:nvPr/>
          </p:nvSpPr>
          <p:spPr bwMode="auto">
            <a:xfrm>
              <a:off x="4989" y="1612"/>
              <a:ext cx="56" cy="224"/>
            </a:xfrm>
            <a:custGeom>
              <a:avLst/>
              <a:gdLst>
                <a:gd name="T0" fmla="*/ 0 w 56"/>
                <a:gd name="T1" fmla="*/ 3 h 446"/>
                <a:gd name="T2" fmla="*/ 0 w 56"/>
                <a:gd name="T3" fmla="*/ 11 h 446"/>
                <a:gd name="T4" fmla="*/ 0 w 56"/>
                <a:gd name="T5" fmla="*/ 22 h 446"/>
                <a:gd name="T6" fmla="*/ 2 w 56"/>
                <a:gd name="T7" fmla="*/ 40 h 446"/>
                <a:gd name="T8" fmla="*/ 3 w 56"/>
                <a:gd name="T9" fmla="*/ 70 h 446"/>
                <a:gd name="T10" fmla="*/ 4 w 56"/>
                <a:gd name="T11" fmla="*/ 101 h 446"/>
                <a:gd name="T12" fmla="*/ 5 w 56"/>
                <a:gd name="T13" fmla="*/ 150 h 446"/>
                <a:gd name="T14" fmla="*/ 8 w 56"/>
                <a:gd name="T15" fmla="*/ 181 h 446"/>
                <a:gd name="T16" fmla="*/ 9 w 56"/>
                <a:gd name="T17" fmla="*/ 209 h 446"/>
                <a:gd name="T18" fmla="*/ 10 w 56"/>
                <a:gd name="T19" fmla="*/ 245 h 446"/>
                <a:gd name="T20" fmla="*/ 13 w 56"/>
                <a:gd name="T21" fmla="*/ 290 h 446"/>
                <a:gd name="T22" fmla="*/ 15 w 56"/>
                <a:gd name="T23" fmla="*/ 332 h 446"/>
                <a:gd name="T24" fmla="*/ 16 w 56"/>
                <a:gd name="T25" fmla="*/ 349 h 446"/>
                <a:gd name="T26" fmla="*/ 18 w 56"/>
                <a:gd name="T27" fmla="*/ 367 h 446"/>
                <a:gd name="T28" fmla="*/ 19 w 56"/>
                <a:gd name="T29" fmla="*/ 382 h 446"/>
                <a:gd name="T30" fmla="*/ 20 w 56"/>
                <a:gd name="T31" fmla="*/ 407 h 446"/>
                <a:gd name="T32" fmla="*/ 21 w 56"/>
                <a:gd name="T33" fmla="*/ 418 h 446"/>
                <a:gd name="T34" fmla="*/ 22 w 56"/>
                <a:gd name="T35" fmla="*/ 428 h 446"/>
                <a:gd name="T36" fmla="*/ 24 w 56"/>
                <a:gd name="T37" fmla="*/ 436 h 446"/>
                <a:gd name="T38" fmla="*/ 25 w 56"/>
                <a:gd name="T39" fmla="*/ 440 h 446"/>
                <a:gd name="T40" fmla="*/ 26 w 56"/>
                <a:gd name="T41" fmla="*/ 445 h 446"/>
                <a:gd name="T42" fmla="*/ 27 w 56"/>
                <a:gd name="T43" fmla="*/ 446 h 446"/>
                <a:gd name="T44" fmla="*/ 29 w 56"/>
                <a:gd name="T45" fmla="*/ 445 h 446"/>
                <a:gd name="T46" fmla="*/ 30 w 56"/>
                <a:gd name="T47" fmla="*/ 440 h 446"/>
                <a:gd name="T48" fmla="*/ 31 w 56"/>
                <a:gd name="T49" fmla="*/ 436 h 446"/>
                <a:gd name="T50" fmla="*/ 32 w 56"/>
                <a:gd name="T51" fmla="*/ 428 h 446"/>
                <a:gd name="T52" fmla="*/ 34 w 56"/>
                <a:gd name="T53" fmla="*/ 418 h 446"/>
                <a:gd name="T54" fmla="*/ 35 w 56"/>
                <a:gd name="T55" fmla="*/ 407 h 446"/>
                <a:gd name="T56" fmla="*/ 37 w 56"/>
                <a:gd name="T57" fmla="*/ 382 h 446"/>
                <a:gd name="T58" fmla="*/ 38 w 56"/>
                <a:gd name="T59" fmla="*/ 367 h 446"/>
                <a:gd name="T60" fmla="*/ 40 w 56"/>
                <a:gd name="T61" fmla="*/ 349 h 446"/>
                <a:gd name="T62" fmla="*/ 41 w 56"/>
                <a:gd name="T63" fmla="*/ 332 h 446"/>
                <a:gd name="T64" fmla="*/ 43 w 56"/>
                <a:gd name="T65" fmla="*/ 291 h 446"/>
                <a:gd name="T66" fmla="*/ 47 w 56"/>
                <a:gd name="T67" fmla="*/ 245 h 446"/>
                <a:gd name="T68" fmla="*/ 48 w 56"/>
                <a:gd name="T69" fmla="*/ 209 h 446"/>
                <a:gd name="T70" fmla="*/ 49 w 56"/>
                <a:gd name="T71" fmla="*/ 181 h 446"/>
                <a:gd name="T72" fmla="*/ 51 w 56"/>
                <a:gd name="T73" fmla="*/ 151 h 446"/>
                <a:gd name="T74" fmla="*/ 52 w 56"/>
                <a:gd name="T75" fmla="*/ 104 h 446"/>
                <a:gd name="T76" fmla="*/ 53 w 56"/>
                <a:gd name="T77" fmla="*/ 72 h 446"/>
                <a:gd name="T78" fmla="*/ 53 w 56"/>
                <a:gd name="T79" fmla="*/ 44 h 446"/>
                <a:gd name="T80" fmla="*/ 54 w 56"/>
                <a:gd name="T81" fmla="*/ 19 h 446"/>
                <a:gd name="T82" fmla="*/ 54 w 56"/>
                <a:gd name="T83" fmla="*/ 4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6" h="446">
                  <a:moveTo>
                    <a:pt x="0" y="0"/>
                  </a:moveTo>
                  <a:lnTo>
                    <a:pt x="0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2" y="40"/>
                  </a:lnTo>
                  <a:lnTo>
                    <a:pt x="2" y="55"/>
                  </a:lnTo>
                  <a:lnTo>
                    <a:pt x="3" y="70"/>
                  </a:lnTo>
                  <a:lnTo>
                    <a:pt x="3" y="84"/>
                  </a:lnTo>
                  <a:lnTo>
                    <a:pt x="4" y="101"/>
                  </a:lnTo>
                  <a:lnTo>
                    <a:pt x="5" y="134"/>
                  </a:lnTo>
                  <a:lnTo>
                    <a:pt x="5" y="150"/>
                  </a:lnTo>
                  <a:lnTo>
                    <a:pt x="7" y="165"/>
                  </a:lnTo>
                  <a:lnTo>
                    <a:pt x="8" y="181"/>
                  </a:lnTo>
                  <a:lnTo>
                    <a:pt x="8" y="196"/>
                  </a:lnTo>
                  <a:lnTo>
                    <a:pt x="9" y="209"/>
                  </a:lnTo>
                  <a:lnTo>
                    <a:pt x="9" y="221"/>
                  </a:lnTo>
                  <a:lnTo>
                    <a:pt x="10" y="245"/>
                  </a:lnTo>
                  <a:lnTo>
                    <a:pt x="11" y="269"/>
                  </a:lnTo>
                  <a:lnTo>
                    <a:pt x="13" y="290"/>
                  </a:lnTo>
                  <a:lnTo>
                    <a:pt x="14" y="312"/>
                  </a:lnTo>
                  <a:lnTo>
                    <a:pt x="15" y="332"/>
                  </a:lnTo>
                  <a:lnTo>
                    <a:pt x="15" y="340"/>
                  </a:lnTo>
                  <a:lnTo>
                    <a:pt x="16" y="349"/>
                  </a:lnTo>
                  <a:lnTo>
                    <a:pt x="16" y="358"/>
                  </a:lnTo>
                  <a:lnTo>
                    <a:pt x="18" y="367"/>
                  </a:lnTo>
                  <a:lnTo>
                    <a:pt x="18" y="375"/>
                  </a:lnTo>
                  <a:lnTo>
                    <a:pt x="19" y="382"/>
                  </a:lnTo>
                  <a:lnTo>
                    <a:pt x="19" y="396"/>
                  </a:lnTo>
                  <a:lnTo>
                    <a:pt x="20" y="407"/>
                  </a:lnTo>
                  <a:lnTo>
                    <a:pt x="21" y="413"/>
                  </a:lnTo>
                  <a:lnTo>
                    <a:pt x="21" y="418"/>
                  </a:lnTo>
                  <a:lnTo>
                    <a:pt x="22" y="424"/>
                  </a:lnTo>
                  <a:lnTo>
                    <a:pt x="22" y="428"/>
                  </a:lnTo>
                  <a:lnTo>
                    <a:pt x="24" y="431"/>
                  </a:lnTo>
                  <a:lnTo>
                    <a:pt x="24" y="436"/>
                  </a:lnTo>
                  <a:lnTo>
                    <a:pt x="25" y="439"/>
                  </a:lnTo>
                  <a:lnTo>
                    <a:pt x="25" y="440"/>
                  </a:lnTo>
                  <a:lnTo>
                    <a:pt x="26" y="443"/>
                  </a:lnTo>
                  <a:lnTo>
                    <a:pt x="26" y="445"/>
                  </a:lnTo>
                  <a:lnTo>
                    <a:pt x="27" y="445"/>
                  </a:lnTo>
                  <a:lnTo>
                    <a:pt x="27" y="446"/>
                  </a:lnTo>
                  <a:lnTo>
                    <a:pt x="27" y="445"/>
                  </a:lnTo>
                  <a:lnTo>
                    <a:pt x="29" y="445"/>
                  </a:lnTo>
                  <a:lnTo>
                    <a:pt x="29" y="443"/>
                  </a:lnTo>
                  <a:lnTo>
                    <a:pt x="30" y="440"/>
                  </a:lnTo>
                  <a:lnTo>
                    <a:pt x="30" y="439"/>
                  </a:lnTo>
                  <a:lnTo>
                    <a:pt x="31" y="436"/>
                  </a:lnTo>
                  <a:lnTo>
                    <a:pt x="31" y="431"/>
                  </a:lnTo>
                  <a:lnTo>
                    <a:pt x="32" y="428"/>
                  </a:lnTo>
                  <a:lnTo>
                    <a:pt x="32" y="424"/>
                  </a:lnTo>
                  <a:lnTo>
                    <a:pt x="34" y="418"/>
                  </a:lnTo>
                  <a:lnTo>
                    <a:pt x="34" y="413"/>
                  </a:lnTo>
                  <a:lnTo>
                    <a:pt x="35" y="407"/>
                  </a:lnTo>
                  <a:lnTo>
                    <a:pt x="36" y="396"/>
                  </a:lnTo>
                  <a:lnTo>
                    <a:pt x="37" y="382"/>
                  </a:lnTo>
                  <a:lnTo>
                    <a:pt x="37" y="375"/>
                  </a:lnTo>
                  <a:lnTo>
                    <a:pt x="38" y="367"/>
                  </a:lnTo>
                  <a:lnTo>
                    <a:pt x="38" y="358"/>
                  </a:lnTo>
                  <a:lnTo>
                    <a:pt x="40" y="349"/>
                  </a:lnTo>
                  <a:lnTo>
                    <a:pt x="40" y="340"/>
                  </a:lnTo>
                  <a:lnTo>
                    <a:pt x="41" y="332"/>
                  </a:lnTo>
                  <a:lnTo>
                    <a:pt x="42" y="312"/>
                  </a:lnTo>
                  <a:lnTo>
                    <a:pt x="43" y="291"/>
                  </a:lnTo>
                  <a:lnTo>
                    <a:pt x="46" y="269"/>
                  </a:lnTo>
                  <a:lnTo>
                    <a:pt x="47" y="245"/>
                  </a:lnTo>
                  <a:lnTo>
                    <a:pt x="48" y="223"/>
                  </a:lnTo>
                  <a:lnTo>
                    <a:pt x="48" y="209"/>
                  </a:lnTo>
                  <a:lnTo>
                    <a:pt x="49" y="196"/>
                  </a:lnTo>
                  <a:lnTo>
                    <a:pt x="49" y="181"/>
                  </a:lnTo>
                  <a:lnTo>
                    <a:pt x="51" y="166"/>
                  </a:lnTo>
                  <a:lnTo>
                    <a:pt x="51" y="151"/>
                  </a:lnTo>
                  <a:lnTo>
                    <a:pt x="51" y="135"/>
                  </a:lnTo>
                  <a:lnTo>
                    <a:pt x="52" y="104"/>
                  </a:lnTo>
                  <a:lnTo>
                    <a:pt x="53" y="89"/>
                  </a:lnTo>
                  <a:lnTo>
                    <a:pt x="53" y="72"/>
                  </a:lnTo>
                  <a:lnTo>
                    <a:pt x="53" y="58"/>
                  </a:lnTo>
                  <a:lnTo>
                    <a:pt x="53" y="44"/>
                  </a:lnTo>
                  <a:lnTo>
                    <a:pt x="54" y="31"/>
                  </a:lnTo>
                  <a:lnTo>
                    <a:pt x="54" y="19"/>
                  </a:lnTo>
                  <a:lnTo>
                    <a:pt x="54" y="8"/>
                  </a:lnTo>
                  <a:lnTo>
                    <a:pt x="54" y="4"/>
                  </a:lnTo>
                  <a:lnTo>
                    <a:pt x="56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59" name="Freeform 427"/>
            <p:cNvSpPr>
              <a:spLocks/>
            </p:cNvSpPr>
            <p:nvPr/>
          </p:nvSpPr>
          <p:spPr bwMode="auto">
            <a:xfrm>
              <a:off x="5137" y="1389"/>
              <a:ext cx="36" cy="223"/>
            </a:xfrm>
            <a:custGeom>
              <a:avLst/>
              <a:gdLst>
                <a:gd name="T0" fmla="*/ 0 w 36"/>
                <a:gd name="T1" fmla="*/ 442 h 447"/>
                <a:gd name="T2" fmla="*/ 0 w 36"/>
                <a:gd name="T3" fmla="*/ 433 h 447"/>
                <a:gd name="T4" fmla="*/ 0 w 36"/>
                <a:gd name="T5" fmla="*/ 423 h 447"/>
                <a:gd name="T6" fmla="*/ 0 w 36"/>
                <a:gd name="T7" fmla="*/ 405 h 447"/>
                <a:gd name="T8" fmla="*/ 1 w 36"/>
                <a:gd name="T9" fmla="*/ 377 h 447"/>
                <a:gd name="T10" fmla="*/ 2 w 36"/>
                <a:gd name="T11" fmla="*/ 345 h 447"/>
                <a:gd name="T12" fmla="*/ 3 w 36"/>
                <a:gd name="T13" fmla="*/ 296 h 447"/>
                <a:gd name="T14" fmla="*/ 4 w 36"/>
                <a:gd name="T15" fmla="*/ 263 h 447"/>
                <a:gd name="T16" fmla="*/ 4 w 36"/>
                <a:gd name="T17" fmla="*/ 235 h 447"/>
                <a:gd name="T18" fmla="*/ 6 w 36"/>
                <a:gd name="T19" fmla="*/ 199 h 447"/>
                <a:gd name="T20" fmla="*/ 7 w 36"/>
                <a:gd name="T21" fmla="*/ 155 h 447"/>
                <a:gd name="T22" fmla="*/ 9 w 36"/>
                <a:gd name="T23" fmla="*/ 113 h 447"/>
                <a:gd name="T24" fmla="*/ 9 w 36"/>
                <a:gd name="T25" fmla="*/ 95 h 447"/>
                <a:gd name="T26" fmla="*/ 11 w 36"/>
                <a:gd name="T27" fmla="*/ 77 h 447"/>
                <a:gd name="T28" fmla="*/ 12 w 36"/>
                <a:gd name="T29" fmla="*/ 62 h 447"/>
                <a:gd name="T30" fmla="*/ 13 w 36"/>
                <a:gd name="T31" fmla="*/ 37 h 447"/>
                <a:gd name="T32" fmla="*/ 13 w 36"/>
                <a:gd name="T33" fmla="*/ 27 h 447"/>
                <a:gd name="T34" fmla="*/ 14 w 36"/>
                <a:gd name="T35" fmla="*/ 16 h 447"/>
                <a:gd name="T36" fmla="*/ 15 w 36"/>
                <a:gd name="T37" fmla="*/ 9 h 447"/>
                <a:gd name="T38" fmla="*/ 15 w 36"/>
                <a:gd name="T39" fmla="*/ 4 h 447"/>
                <a:gd name="T40" fmla="*/ 17 w 36"/>
                <a:gd name="T41" fmla="*/ 0 h 447"/>
                <a:gd name="T42" fmla="*/ 18 w 36"/>
                <a:gd name="T43" fmla="*/ 0 h 447"/>
                <a:gd name="T44" fmla="*/ 18 w 36"/>
                <a:gd name="T45" fmla="*/ 0 h 447"/>
                <a:gd name="T46" fmla="*/ 19 w 36"/>
                <a:gd name="T47" fmla="*/ 4 h 447"/>
                <a:gd name="T48" fmla="*/ 19 w 36"/>
                <a:gd name="T49" fmla="*/ 9 h 447"/>
                <a:gd name="T50" fmla="*/ 20 w 36"/>
                <a:gd name="T51" fmla="*/ 18 h 447"/>
                <a:gd name="T52" fmla="*/ 22 w 36"/>
                <a:gd name="T53" fmla="*/ 27 h 447"/>
                <a:gd name="T54" fmla="*/ 22 w 36"/>
                <a:gd name="T55" fmla="*/ 37 h 447"/>
                <a:gd name="T56" fmla="*/ 24 w 36"/>
                <a:gd name="T57" fmla="*/ 62 h 447"/>
                <a:gd name="T58" fmla="*/ 24 w 36"/>
                <a:gd name="T59" fmla="*/ 77 h 447"/>
                <a:gd name="T60" fmla="*/ 25 w 36"/>
                <a:gd name="T61" fmla="*/ 95 h 447"/>
                <a:gd name="T62" fmla="*/ 27 w 36"/>
                <a:gd name="T63" fmla="*/ 113 h 447"/>
                <a:gd name="T64" fmla="*/ 29 w 36"/>
                <a:gd name="T65" fmla="*/ 153 h 447"/>
                <a:gd name="T66" fmla="*/ 30 w 36"/>
                <a:gd name="T67" fmla="*/ 199 h 447"/>
                <a:gd name="T68" fmla="*/ 31 w 36"/>
                <a:gd name="T69" fmla="*/ 235 h 447"/>
                <a:gd name="T70" fmla="*/ 33 w 36"/>
                <a:gd name="T71" fmla="*/ 263 h 447"/>
                <a:gd name="T72" fmla="*/ 33 w 36"/>
                <a:gd name="T73" fmla="*/ 293 h 447"/>
                <a:gd name="T74" fmla="*/ 34 w 36"/>
                <a:gd name="T75" fmla="*/ 341 h 447"/>
                <a:gd name="T76" fmla="*/ 34 w 36"/>
                <a:gd name="T77" fmla="*/ 372 h 447"/>
                <a:gd name="T78" fmla="*/ 35 w 36"/>
                <a:gd name="T79" fmla="*/ 400 h 447"/>
                <a:gd name="T80" fmla="*/ 35 w 36"/>
                <a:gd name="T81" fmla="*/ 426 h 447"/>
                <a:gd name="T82" fmla="*/ 35 w 36"/>
                <a:gd name="T83" fmla="*/ 44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6" h="447">
                  <a:moveTo>
                    <a:pt x="0" y="447"/>
                  </a:moveTo>
                  <a:lnTo>
                    <a:pt x="0" y="442"/>
                  </a:lnTo>
                  <a:lnTo>
                    <a:pt x="0" y="438"/>
                  </a:lnTo>
                  <a:lnTo>
                    <a:pt x="0" y="433"/>
                  </a:lnTo>
                  <a:lnTo>
                    <a:pt x="0" y="429"/>
                  </a:lnTo>
                  <a:lnTo>
                    <a:pt x="0" y="423"/>
                  </a:lnTo>
                  <a:lnTo>
                    <a:pt x="0" y="417"/>
                  </a:lnTo>
                  <a:lnTo>
                    <a:pt x="0" y="405"/>
                  </a:lnTo>
                  <a:lnTo>
                    <a:pt x="1" y="391"/>
                  </a:lnTo>
                  <a:lnTo>
                    <a:pt x="1" y="377"/>
                  </a:lnTo>
                  <a:lnTo>
                    <a:pt x="1" y="360"/>
                  </a:lnTo>
                  <a:lnTo>
                    <a:pt x="2" y="345"/>
                  </a:lnTo>
                  <a:lnTo>
                    <a:pt x="2" y="313"/>
                  </a:lnTo>
                  <a:lnTo>
                    <a:pt x="3" y="296"/>
                  </a:lnTo>
                  <a:lnTo>
                    <a:pt x="3" y="280"/>
                  </a:lnTo>
                  <a:lnTo>
                    <a:pt x="4" y="263"/>
                  </a:lnTo>
                  <a:lnTo>
                    <a:pt x="4" y="250"/>
                  </a:lnTo>
                  <a:lnTo>
                    <a:pt x="4" y="235"/>
                  </a:lnTo>
                  <a:lnTo>
                    <a:pt x="6" y="223"/>
                  </a:lnTo>
                  <a:lnTo>
                    <a:pt x="6" y="199"/>
                  </a:lnTo>
                  <a:lnTo>
                    <a:pt x="7" y="177"/>
                  </a:lnTo>
                  <a:lnTo>
                    <a:pt x="7" y="155"/>
                  </a:lnTo>
                  <a:lnTo>
                    <a:pt x="8" y="132"/>
                  </a:lnTo>
                  <a:lnTo>
                    <a:pt x="9" y="113"/>
                  </a:lnTo>
                  <a:lnTo>
                    <a:pt x="9" y="104"/>
                  </a:lnTo>
                  <a:lnTo>
                    <a:pt x="9" y="95"/>
                  </a:lnTo>
                  <a:lnTo>
                    <a:pt x="11" y="86"/>
                  </a:lnTo>
                  <a:lnTo>
                    <a:pt x="11" y="77"/>
                  </a:lnTo>
                  <a:lnTo>
                    <a:pt x="11" y="70"/>
                  </a:lnTo>
                  <a:lnTo>
                    <a:pt x="12" y="62"/>
                  </a:lnTo>
                  <a:lnTo>
                    <a:pt x="12" y="49"/>
                  </a:lnTo>
                  <a:lnTo>
                    <a:pt x="13" y="37"/>
                  </a:lnTo>
                  <a:lnTo>
                    <a:pt x="13" y="31"/>
                  </a:lnTo>
                  <a:lnTo>
                    <a:pt x="13" y="27"/>
                  </a:lnTo>
                  <a:lnTo>
                    <a:pt x="14" y="21"/>
                  </a:lnTo>
                  <a:lnTo>
                    <a:pt x="14" y="16"/>
                  </a:lnTo>
                  <a:lnTo>
                    <a:pt x="14" y="13"/>
                  </a:lnTo>
                  <a:lnTo>
                    <a:pt x="15" y="9"/>
                  </a:lnTo>
                  <a:lnTo>
                    <a:pt x="15" y="6"/>
                  </a:lnTo>
                  <a:lnTo>
                    <a:pt x="15" y="4"/>
                  </a:lnTo>
                  <a:lnTo>
                    <a:pt x="17" y="1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1"/>
                  </a:lnTo>
                  <a:lnTo>
                    <a:pt x="19" y="4"/>
                  </a:lnTo>
                  <a:lnTo>
                    <a:pt x="19" y="6"/>
                  </a:lnTo>
                  <a:lnTo>
                    <a:pt x="19" y="9"/>
                  </a:lnTo>
                  <a:lnTo>
                    <a:pt x="20" y="13"/>
                  </a:lnTo>
                  <a:lnTo>
                    <a:pt x="20" y="18"/>
                  </a:lnTo>
                  <a:lnTo>
                    <a:pt x="20" y="22"/>
                  </a:lnTo>
                  <a:lnTo>
                    <a:pt x="22" y="27"/>
                  </a:lnTo>
                  <a:lnTo>
                    <a:pt x="22" y="31"/>
                  </a:lnTo>
                  <a:lnTo>
                    <a:pt x="22" y="37"/>
                  </a:lnTo>
                  <a:lnTo>
                    <a:pt x="23" y="49"/>
                  </a:lnTo>
                  <a:lnTo>
                    <a:pt x="24" y="62"/>
                  </a:lnTo>
                  <a:lnTo>
                    <a:pt x="24" y="70"/>
                  </a:lnTo>
                  <a:lnTo>
                    <a:pt x="24" y="77"/>
                  </a:lnTo>
                  <a:lnTo>
                    <a:pt x="25" y="86"/>
                  </a:lnTo>
                  <a:lnTo>
                    <a:pt x="25" y="95"/>
                  </a:lnTo>
                  <a:lnTo>
                    <a:pt x="25" y="104"/>
                  </a:lnTo>
                  <a:lnTo>
                    <a:pt x="27" y="113"/>
                  </a:lnTo>
                  <a:lnTo>
                    <a:pt x="28" y="132"/>
                  </a:lnTo>
                  <a:lnTo>
                    <a:pt x="29" y="153"/>
                  </a:lnTo>
                  <a:lnTo>
                    <a:pt x="29" y="176"/>
                  </a:lnTo>
                  <a:lnTo>
                    <a:pt x="30" y="199"/>
                  </a:lnTo>
                  <a:lnTo>
                    <a:pt x="31" y="223"/>
                  </a:lnTo>
                  <a:lnTo>
                    <a:pt x="31" y="235"/>
                  </a:lnTo>
                  <a:lnTo>
                    <a:pt x="31" y="249"/>
                  </a:lnTo>
                  <a:lnTo>
                    <a:pt x="33" y="263"/>
                  </a:lnTo>
                  <a:lnTo>
                    <a:pt x="33" y="278"/>
                  </a:lnTo>
                  <a:lnTo>
                    <a:pt x="33" y="293"/>
                  </a:lnTo>
                  <a:lnTo>
                    <a:pt x="34" y="310"/>
                  </a:lnTo>
                  <a:lnTo>
                    <a:pt x="34" y="341"/>
                  </a:lnTo>
                  <a:lnTo>
                    <a:pt x="34" y="356"/>
                  </a:lnTo>
                  <a:lnTo>
                    <a:pt x="34" y="372"/>
                  </a:lnTo>
                  <a:lnTo>
                    <a:pt x="35" y="387"/>
                  </a:lnTo>
                  <a:lnTo>
                    <a:pt x="35" y="400"/>
                  </a:lnTo>
                  <a:lnTo>
                    <a:pt x="35" y="414"/>
                  </a:lnTo>
                  <a:lnTo>
                    <a:pt x="35" y="426"/>
                  </a:lnTo>
                  <a:lnTo>
                    <a:pt x="35" y="436"/>
                  </a:lnTo>
                  <a:lnTo>
                    <a:pt x="35" y="441"/>
                  </a:lnTo>
                  <a:lnTo>
                    <a:pt x="36" y="447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60" name="Freeform 428"/>
            <p:cNvSpPr>
              <a:spLocks/>
            </p:cNvSpPr>
            <p:nvPr/>
          </p:nvSpPr>
          <p:spPr bwMode="auto">
            <a:xfrm>
              <a:off x="5210" y="1389"/>
              <a:ext cx="37" cy="223"/>
            </a:xfrm>
            <a:custGeom>
              <a:avLst/>
              <a:gdLst>
                <a:gd name="T0" fmla="*/ 0 w 37"/>
                <a:gd name="T1" fmla="*/ 442 h 447"/>
                <a:gd name="T2" fmla="*/ 0 w 37"/>
                <a:gd name="T3" fmla="*/ 433 h 447"/>
                <a:gd name="T4" fmla="*/ 0 w 37"/>
                <a:gd name="T5" fmla="*/ 423 h 447"/>
                <a:gd name="T6" fmla="*/ 0 w 37"/>
                <a:gd name="T7" fmla="*/ 405 h 447"/>
                <a:gd name="T8" fmla="*/ 1 w 37"/>
                <a:gd name="T9" fmla="*/ 377 h 447"/>
                <a:gd name="T10" fmla="*/ 3 w 37"/>
                <a:gd name="T11" fmla="*/ 345 h 447"/>
                <a:gd name="T12" fmla="*/ 4 w 37"/>
                <a:gd name="T13" fmla="*/ 296 h 447"/>
                <a:gd name="T14" fmla="*/ 5 w 37"/>
                <a:gd name="T15" fmla="*/ 263 h 447"/>
                <a:gd name="T16" fmla="*/ 5 w 37"/>
                <a:gd name="T17" fmla="*/ 235 h 447"/>
                <a:gd name="T18" fmla="*/ 6 w 37"/>
                <a:gd name="T19" fmla="*/ 199 h 447"/>
                <a:gd name="T20" fmla="*/ 7 w 37"/>
                <a:gd name="T21" fmla="*/ 155 h 447"/>
                <a:gd name="T22" fmla="*/ 10 w 37"/>
                <a:gd name="T23" fmla="*/ 113 h 447"/>
                <a:gd name="T24" fmla="*/ 10 w 37"/>
                <a:gd name="T25" fmla="*/ 95 h 447"/>
                <a:gd name="T26" fmla="*/ 11 w 37"/>
                <a:gd name="T27" fmla="*/ 77 h 447"/>
                <a:gd name="T28" fmla="*/ 12 w 37"/>
                <a:gd name="T29" fmla="*/ 62 h 447"/>
                <a:gd name="T30" fmla="*/ 14 w 37"/>
                <a:gd name="T31" fmla="*/ 37 h 447"/>
                <a:gd name="T32" fmla="*/ 14 w 37"/>
                <a:gd name="T33" fmla="*/ 27 h 447"/>
                <a:gd name="T34" fmla="*/ 15 w 37"/>
                <a:gd name="T35" fmla="*/ 16 h 447"/>
                <a:gd name="T36" fmla="*/ 16 w 37"/>
                <a:gd name="T37" fmla="*/ 9 h 447"/>
                <a:gd name="T38" fmla="*/ 16 w 37"/>
                <a:gd name="T39" fmla="*/ 4 h 447"/>
                <a:gd name="T40" fmla="*/ 17 w 37"/>
                <a:gd name="T41" fmla="*/ 0 h 447"/>
                <a:gd name="T42" fmla="*/ 18 w 37"/>
                <a:gd name="T43" fmla="*/ 0 h 447"/>
                <a:gd name="T44" fmla="*/ 18 w 37"/>
                <a:gd name="T45" fmla="*/ 0 h 447"/>
                <a:gd name="T46" fmla="*/ 20 w 37"/>
                <a:gd name="T47" fmla="*/ 4 h 447"/>
                <a:gd name="T48" fmla="*/ 20 w 37"/>
                <a:gd name="T49" fmla="*/ 9 h 447"/>
                <a:gd name="T50" fmla="*/ 21 w 37"/>
                <a:gd name="T51" fmla="*/ 18 h 447"/>
                <a:gd name="T52" fmla="*/ 22 w 37"/>
                <a:gd name="T53" fmla="*/ 27 h 447"/>
                <a:gd name="T54" fmla="*/ 22 w 37"/>
                <a:gd name="T55" fmla="*/ 37 h 447"/>
                <a:gd name="T56" fmla="*/ 25 w 37"/>
                <a:gd name="T57" fmla="*/ 62 h 447"/>
                <a:gd name="T58" fmla="*/ 25 w 37"/>
                <a:gd name="T59" fmla="*/ 77 h 447"/>
                <a:gd name="T60" fmla="*/ 26 w 37"/>
                <a:gd name="T61" fmla="*/ 95 h 447"/>
                <a:gd name="T62" fmla="*/ 27 w 37"/>
                <a:gd name="T63" fmla="*/ 113 h 447"/>
                <a:gd name="T64" fmla="*/ 30 w 37"/>
                <a:gd name="T65" fmla="*/ 153 h 447"/>
                <a:gd name="T66" fmla="*/ 31 w 37"/>
                <a:gd name="T67" fmla="*/ 199 h 447"/>
                <a:gd name="T68" fmla="*/ 32 w 37"/>
                <a:gd name="T69" fmla="*/ 235 h 447"/>
                <a:gd name="T70" fmla="*/ 33 w 37"/>
                <a:gd name="T71" fmla="*/ 263 h 447"/>
                <a:gd name="T72" fmla="*/ 33 w 37"/>
                <a:gd name="T73" fmla="*/ 293 h 447"/>
                <a:gd name="T74" fmla="*/ 34 w 37"/>
                <a:gd name="T75" fmla="*/ 341 h 447"/>
                <a:gd name="T76" fmla="*/ 34 w 37"/>
                <a:gd name="T77" fmla="*/ 372 h 447"/>
                <a:gd name="T78" fmla="*/ 36 w 37"/>
                <a:gd name="T79" fmla="*/ 400 h 447"/>
                <a:gd name="T80" fmla="*/ 36 w 37"/>
                <a:gd name="T81" fmla="*/ 426 h 447"/>
                <a:gd name="T82" fmla="*/ 36 w 37"/>
                <a:gd name="T83" fmla="*/ 44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7" h="447">
                  <a:moveTo>
                    <a:pt x="0" y="447"/>
                  </a:moveTo>
                  <a:lnTo>
                    <a:pt x="0" y="442"/>
                  </a:lnTo>
                  <a:lnTo>
                    <a:pt x="0" y="438"/>
                  </a:lnTo>
                  <a:lnTo>
                    <a:pt x="0" y="433"/>
                  </a:lnTo>
                  <a:lnTo>
                    <a:pt x="0" y="429"/>
                  </a:lnTo>
                  <a:lnTo>
                    <a:pt x="0" y="423"/>
                  </a:lnTo>
                  <a:lnTo>
                    <a:pt x="0" y="417"/>
                  </a:lnTo>
                  <a:lnTo>
                    <a:pt x="0" y="405"/>
                  </a:lnTo>
                  <a:lnTo>
                    <a:pt x="1" y="391"/>
                  </a:lnTo>
                  <a:lnTo>
                    <a:pt x="1" y="377"/>
                  </a:lnTo>
                  <a:lnTo>
                    <a:pt x="1" y="360"/>
                  </a:lnTo>
                  <a:lnTo>
                    <a:pt x="3" y="345"/>
                  </a:lnTo>
                  <a:lnTo>
                    <a:pt x="3" y="313"/>
                  </a:lnTo>
                  <a:lnTo>
                    <a:pt x="4" y="296"/>
                  </a:lnTo>
                  <a:lnTo>
                    <a:pt x="4" y="280"/>
                  </a:lnTo>
                  <a:lnTo>
                    <a:pt x="5" y="263"/>
                  </a:lnTo>
                  <a:lnTo>
                    <a:pt x="5" y="250"/>
                  </a:lnTo>
                  <a:lnTo>
                    <a:pt x="5" y="235"/>
                  </a:lnTo>
                  <a:lnTo>
                    <a:pt x="6" y="223"/>
                  </a:lnTo>
                  <a:lnTo>
                    <a:pt x="6" y="199"/>
                  </a:lnTo>
                  <a:lnTo>
                    <a:pt x="7" y="177"/>
                  </a:lnTo>
                  <a:lnTo>
                    <a:pt x="7" y="155"/>
                  </a:lnTo>
                  <a:lnTo>
                    <a:pt x="9" y="132"/>
                  </a:lnTo>
                  <a:lnTo>
                    <a:pt x="10" y="113"/>
                  </a:lnTo>
                  <a:lnTo>
                    <a:pt x="10" y="104"/>
                  </a:lnTo>
                  <a:lnTo>
                    <a:pt x="10" y="95"/>
                  </a:lnTo>
                  <a:lnTo>
                    <a:pt x="11" y="86"/>
                  </a:lnTo>
                  <a:lnTo>
                    <a:pt x="11" y="77"/>
                  </a:lnTo>
                  <a:lnTo>
                    <a:pt x="11" y="70"/>
                  </a:lnTo>
                  <a:lnTo>
                    <a:pt x="12" y="62"/>
                  </a:lnTo>
                  <a:lnTo>
                    <a:pt x="12" y="49"/>
                  </a:lnTo>
                  <a:lnTo>
                    <a:pt x="14" y="37"/>
                  </a:lnTo>
                  <a:lnTo>
                    <a:pt x="14" y="31"/>
                  </a:lnTo>
                  <a:lnTo>
                    <a:pt x="14" y="27"/>
                  </a:lnTo>
                  <a:lnTo>
                    <a:pt x="15" y="21"/>
                  </a:lnTo>
                  <a:lnTo>
                    <a:pt x="15" y="16"/>
                  </a:lnTo>
                  <a:lnTo>
                    <a:pt x="15" y="13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6" y="4"/>
                  </a:lnTo>
                  <a:lnTo>
                    <a:pt x="17" y="1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1"/>
                  </a:lnTo>
                  <a:lnTo>
                    <a:pt x="20" y="4"/>
                  </a:lnTo>
                  <a:lnTo>
                    <a:pt x="20" y="6"/>
                  </a:lnTo>
                  <a:lnTo>
                    <a:pt x="20" y="9"/>
                  </a:lnTo>
                  <a:lnTo>
                    <a:pt x="21" y="13"/>
                  </a:lnTo>
                  <a:lnTo>
                    <a:pt x="21" y="18"/>
                  </a:lnTo>
                  <a:lnTo>
                    <a:pt x="21" y="22"/>
                  </a:lnTo>
                  <a:lnTo>
                    <a:pt x="22" y="27"/>
                  </a:lnTo>
                  <a:lnTo>
                    <a:pt x="22" y="31"/>
                  </a:lnTo>
                  <a:lnTo>
                    <a:pt x="22" y="37"/>
                  </a:lnTo>
                  <a:lnTo>
                    <a:pt x="23" y="49"/>
                  </a:lnTo>
                  <a:lnTo>
                    <a:pt x="25" y="62"/>
                  </a:lnTo>
                  <a:lnTo>
                    <a:pt x="25" y="70"/>
                  </a:lnTo>
                  <a:lnTo>
                    <a:pt x="25" y="77"/>
                  </a:lnTo>
                  <a:lnTo>
                    <a:pt x="26" y="86"/>
                  </a:lnTo>
                  <a:lnTo>
                    <a:pt x="26" y="95"/>
                  </a:lnTo>
                  <a:lnTo>
                    <a:pt x="26" y="104"/>
                  </a:lnTo>
                  <a:lnTo>
                    <a:pt x="27" y="113"/>
                  </a:lnTo>
                  <a:lnTo>
                    <a:pt x="28" y="132"/>
                  </a:lnTo>
                  <a:lnTo>
                    <a:pt x="30" y="153"/>
                  </a:lnTo>
                  <a:lnTo>
                    <a:pt x="30" y="176"/>
                  </a:lnTo>
                  <a:lnTo>
                    <a:pt x="31" y="199"/>
                  </a:lnTo>
                  <a:lnTo>
                    <a:pt x="32" y="223"/>
                  </a:lnTo>
                  <a:lnTo>
                    <a:pt x="32" y="235"/>
                  </a:lnTo>
                  <a:lnTo>
                    <a:pt x="32" y="249"/>
                  </a:lnTo>
                  <a:lnTo>
                    <a:pt x="33" y="263"/>
                  </a:lnTo>
                  <a:lnTo>
                    <a:pt x="33" y="278"/>
                  </a:lnTo>
                  <a:lnTo>
                    <a:pt x="33" y="293"/>
                  </a:lnTo>
                  <a:lnTo>
                    <a:pt x="34" y="310"/>
                  </a:lnTo>
                  <a:lnTo>
                    <a:pt x="34" y="341"/>
                  </a:lnTo>
                  <a:lnTo>
                    <a:pt x="34" y="356"/>
                  </a:lnTo>
                  <a:lnTo>
                    <a:pt x="34" y="372"/>
                  </a:lnTo>
                  <a:lnTo>
                    <a:pt x="36" y="387"/>
                  </a:lnTo>
                  <a:lnTo>
                    <a:pt x="36" y="400"/>
                  </a:lnTo>
                  <a:lnTo>
                    <a:pt x="36" y="414"/>
                  </a:lnTo>
                  <a:lnTo>
                    <a:pt x="36" y="426"/>
                  </a:lnTo>
                  <a:lnTo>
                    <a:pt x="36" y="436"/>
                  </a:lnTo>
                  <a:lnTo>
                    <a:pt x="36" y="441"/>
                  </a:lnTo>
                  <a:lnTo>
                    <a:pt x="37" y="447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61" name="Freeform 429"/>
            <p:cNvSpPr>
              <a:spLocks/>
            </p:cNvSpPr>
            <p:nvPr/>
          </p:nvSpPr>
          <p:spPr bwMode="auto">
            <a:xfrm>
              <a:off x="5284" y="1389"/>
              <a:ext cx="36" cy="223"/>
            </a:xfrm>
            <a:custGeom>
              <a:avLst/>
              <a:gdLst>
                <a:gd name="T0" fmla="*/ 0 w 36"/>
                <a:gd name="T1" fmla="*/ 442 h 447"/>
                <a:gd name="T2" fmla="*/ 0 w 36"/>
                <a:gd name="T3" fmla="*/ 433 h 447"/>
                <a:gd name="T4" fmla="*/ 0 w 36"/>
                <a:gd name="T5" fmla="*/ 423 h 447"/>
                <a:gd name="T6" fmla="*/ 0 w 36"/>
                <a:gd name="T7" fmla="*/ 405 h 447"/>
                <a:gd name="T8" fmla="*/ 1 w 36"/>
                <a:gd name="T9" fmla="*/ 377 h 447"/>
                <a:gd name="T10" fmla="*/ 2 w 36"/>
                <a:gd name="T11" fmla="*/ 345 h 447"/>
                <a:gd name="T12" fmla="*/ 3 w 36"/>
                <a:gd name="T13" fmla="*/ 296 h 447"/>
                <a:gd name="T14" fmla="*/ 5 w 36"/>
                <a:gd name="T15" fmla="*/ 263 h 447"/>
                <a:gd name="T16" fmla="*/ 5 w 36"/>
                <a:gd name="T17" fmla="*/ 235 h 447"/>
                <a:gd name="T18" fmla="*/ 6 w 36"/>
                <a:gd name="T19" fmla="*/ 199 h 447"/>
                <a:gd name="T20" fmla="*/ 7 w 36"/>
                <a:gd name="T21" fmla="*/ 155 h 447"/>
                <a:gd name="T22" fmla="*/ 9 w 36"/>
                <a:gd name="T23" fmla="*/ 113 h 447"/>
                <a:gd name="T24" fmla="*/ 9 w 36"/>
                <a:gd name="T25" fmla="*/ 95 h 447"/>
                <a:gd name="T26" fmla="*/ 11 w 36"/>
                <a:gd name="T27" fmla="*/ 77 h 447"/>
                <a:gd name="T28" fmla="*/ 12 w 36"/>
                <a:gd name="T29" fmla="*/ 62 h 447"/>
                <a:gd name="T30" fmla="*/ 13 w 36"/>
                <a:gd name="T31" fmla="*/ 37 h 447"/>
                <a:gd name="T32" fmla="*/ 13 w 36"/>
                <a:gd name="T33" fmla="*/ 27 h 447"/>
                <a:gd name="T34" fmla="*/ 14 w 36"/>
                <a:gd name="T35" fmla="*/ 16 h 447"/>
                <a:gd name="T36" fmla="*/ 16 w 36"/>
                <a:gd name="T37" fmla="*/ 9 h 447"/>
                <a:gd name="T38" fmla="*/ 16 w 36"/>
                <a:gd name="T39" fmla="*/ 4 h 447"/>
                <a:gd name="T40" fmla="*/ 17 w 36"/>
                <a:gd name="T41" fmla="*/ 0 h 447"/>
                <a:gd name="T42" fmla="*/ 18 w 36"/>
                <a:gd name="T43" fmla="*/ 0 h 447"/>
                <a:gd name="T44" fmla="*/ 18 w 36"/>
                <a:gd name="T45" fmla="*/ 0 h 447"/>
                <a:gd name="T46" fmla="*/ 19 w 36"/>
                <a:gd name="T47" fmla="*/ 4 h 447"/>
                <a:gd name="T48" fmla="*/ 19 w 36"/>
                <a:gd name="T49" fmla="*/ 9 h 447"/>
                <a:gd name="T50" fmla="*/ 20 w 36"/>
                <a:gd name="T51" fmla="*/ 18 h 447"/>
                <a:gd name="T52" fmla="*/ 22 w 36"/>
                <a:gd name="T53" fmla="*/ 27 h 447"/>
                <a:gd name="T54" fmla="*/ 22 w 36"/>
                <a:gd name="T55" fmla="*/ 37 h 447"/>
                <a:gd name="T56" fmla="*/ 24 w 36"/>
                <a:gd name="T57" fmla="*/ 62 h 447"/>
                <a:gd name="T58" fmla="*/ 24 w 36"/>
                <a:gd name="T59" fmla="*/ 77 h 447"/>
                <a:gd name="T60" fmla="*/ 25 w 36"/>
                <a:gd name="T61" fmla="*/ 95 h 447"/>
                <a:gd name="T62" fmla="*/ 27 w 36"/>
                <a:gd name="T63" fmla="*/ 113 h 447"/>
                <a:gd name="T64" fmla="*/ 29 w 36"/>
                <a:gd name="T65" fmla="*/ 153 h 447"/>
                <a:gd name="T66" fmla="*/ 30 w 36"/>
                <a:gd name="T67" fmla="*/ 199 h 447"/>
                <a:gd name="T68" fmla="*/ 32 w 36"/>
                <a:gd name="T69" fmla="*/ 235 h 447"/>
                <a:gd name="T70" fmla="*/ 33 w 36"/>
                <a:gd name="T71" fmla="*/ 263 h 447"/>
                <a:gd name="T72" fmla="*/ 33 w 36"/>
                <a:gd name="T73" fmla="*/ 293 h 447"/>
                <a:gd name="T74" fmla="*/ 34 w 36"/>
                <a:gd name="T75" fmla="*/ 341 h 447"/>
                <a:gd name="T76" fmla="*/ 34 w 36"/>
                <a:gd name="T77" fmla="*/ 372 h 447"/>
                <a:gd name="T78" fmla="*/ 35 w 36"/>
                <a:gd name="T79" fmla="*/ 400 h 447"/>
                <a:gd name="T80" fmla="*/ 35 w 36"/>
                <a:gd name="T81" fmla="*/ 426 h 447"/>
                <a:gd name="T82" fmla="*/ 35 w 36"/>
                <a:gd name="T83" fmla="*/ 441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6" h="447">
                  <a:moveTo>
                    <a:pt x="0" y="447"/>
                  </a:moveTo>
                  <a:lnTo>
                    <a:pt x="0" y="442"/>
                  </a:lnTo>
                  <a:lnTo>
                    <a:pt x="0" y="438"/>
                  </a:lnTo>
                  <a:lnTo>
                    <a:pt x="0" y="433"/>
                  </a:lnTo>
                  <a:lnTo>
                    <a:pt x="0" y="429"/>
                  </a:lnTo>
                  <a:lnTo>
                    <a:pt x="0" y="423"/>
                  </a:lnTo>
                  <a:lnTo>
                    <a:pt x="0" y="417"/>
                  </a:lnTo>
                  <a:lnTo>
                    <a:pt x="0" y="405"/>
                  </a:lnTo>
                  <a:lnTo>
                    <a:pt x="1" y="391"/>
                  </a:lnTo>
                  <a:lnTo>
                    <a:pt x="1" y="377"/>
                  </a:lnTo>
                  <a:lnTo>
                    <a:pt x="1" y="360"/>
                  </a:lnTo>
                  <a:lnTo>
                    <a:pt x="2" y="345"/>
                  </a:lnTo>
                  <a:lnTo>
                    <a:pt x="2" y="313"/>
                  </a:lnTo>
                  <a:lnTo>
                    <a:pt x="3" y="296"/>
                  </a:lnTo>
                  <a:lnTo>
                    <a:pt x="3" y="280"/>
                  </a:lnTo>
                  <a:lnTo>
                    <a:pt x="5" y="263"/>
                  </a:lnTo>
                  <a:lnTo>
                    <a:pt x="5" y="250"/>
                  </a:lnTo>
                  <a:lnTo>
                    <a:pt x="5" y="235"/>
                  </a:lnTo>
                  <a:lnTo>
                    <a:pt x="6" y="223"/>
                  </a:lnTo>
                  <a:lnTo>
                    <a:pt x="6" y="199"/>
                  </a:lnTo>
                  <a:lnTo>
                    <a:pt x="7" y="177"/>
                  </a:lnTo>
                  <a:lnTo>
                    <a:pt x="7" y="155"/>
                  </a:lnTo>
                  <a:lnTo>
                    <a:pt x="8" y="132"/>
                  </a:lnTo>
                  <a:lnTo>
                    <a:pt x="9" y="113"/>
                  </a:lnTo>
                  <a:lnTo>
                    <a:pt x="9" y="104"/>
                  </a:lnTo>
                  <a:lnTo>
                    <a:pt x="9" y="95"/>
                  </a:lnTo>
                  <a:lnTo>
                    <a:pt x="11" y="86"/>
                  </a:lnTo>
                  <a:lnTo>
                    <a:pt x="11" y="77"/>
                  </a:lnTo>
                  <a:lnTo>
                    <a:pt x="11" y="70"/>
                  </a:lnTo>
                  <a:lnTo>
                    <a:pt x="12" y="62"/>
                  </a:lnTo>
                  <a:lnTo>
                    <a:pt x="12" y="49"/>
                  </a:lnTo>
                  <a:lnTo>
                    <a:pt x="13" y="37"/>
                  </a:lnTo>
                  <a:lnTo>
                    <a:pt x="13" y="31"/>
                  </a:lnTo>
                  <a:lnTo>
                    <a:pt x="13" y="27"/>
                  </a:lnTo>
                  <a:lnTo>
                    <a:pt x="14" y="21"/>
                  </a:lnTo>
                  <a:lnTo>
                    <a:pt x="14" y="16"/>
                  </a:lnTo>
                  <a:lnTo>
                    <a:pt x="14" y="13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6" y="4"/>
                  </a:lnTo>
                  <a:lnTo>
                    <a:pt x="17" y="1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1"/>
                  </a:lnTo>
                  <a:lnTo>
                    <a:pt x="19" y="4"/>
                  </a:lnTo>
                  <a:lnTo>
                    <a:pt x="19" y="6"/>
                  </a:lnTo>
                  <a:lnTo>
                    <a:pt x="19" y="9"/>
                  </a:lnTo>
                  <a:lnTo>
                    <a:pt x="20" y="13"/>
                  </a:lnTo>
                  <a:lnTo>
                    <a:pt x="20" y="18"/>
                  </a:lnTo>
                  <a:lnTo>
                    <a:pt x="20" y="22"/>
                  </a:lnTo>
                  <a:lnTo>
                    <a:pt x="22" y="27"/>
                  </a:lnTo>
                  <a:lnTo>
                    <a:pt x="22" y="31"/>
                  </a:lnTo>
                  <a:lnTo>
                    <a:pt x="22" y="37"/>
                  </a:lnTo>
                  <a:lnTo>
                    <a:pt x="23" y="49"/>
                  </a:lnTo>
                  <a:lnTo>
                    <a:pt x="24" y="62"/>
                  </a:lnTo>
                  <a:lnTo>
                    <a:pt x="24" y="70"/>
                  </a:lnTo>
                  <a:lnTo>
                    <a:pt x="24" y="77"/>
                  </a:lnTo>
                  <a:lnTo>
                    <a:pt x="25" y="86"/>
                  </a:lnTo>
                  <a:lnTo>
                    <a:pt x="25" y="95"/>
                  </a:lnTo>
                  <a:lnTo>
                    <a:pt x="25" y="104"/>
                  </a:lnTo>
                  <a:lnTo>
                    <a:pt x="27" y="113"/>
                  </a:lnTo>
                  <a:lnTo>
                    <a:pt x="28" y="132"/>
                  </a:lnTo>
                  <a:lnTo>
                    <a:pt x="29" y="153"/>
                  </a:lnTo>
                  <a:lnTo>
                    <a:pt x="29" y="176"/>
                  </a:lnTo>
                  <a:lnTo>
                    <a:pt x="30" y="199"/>
                  </a:lnTo>
                  <a:lnTo>
                    <a:pt x="32" y="223"/>
                  </a:lnTo>
                  <a:lnTo>
                    <a:pt x="32" y="235"/>
                  </a:lnTo>
                  <a:lnTo>
                    <a:pt x="32" y="249"/>
                  </a:lnTo>
                  <a:lnTo>
                    <a:pt x="33" y="263"/>
                  </a:lnTo>
                  <a:lnTo>
                    <a:pt x="33" y="278"/>
                  </a:lnTo>
                  <a:lnTo>
                    <a:pt x="33" y="293"/>
                  </a:lnTo>
                  <a:lnTo>
                    <a:pt x="34" y="310"/>
                  </a:lnTo>
                  <a:lnTo>
                    <a:pt x="34" y="341"/>
                  </a:lnTo>
                  <a:lnTo>
                    <a:pt x="34" y="356"/>
                  </a:lnTo>
                  <a:lnTo>
                    <a:pt x="34" y="372"/>
                  </a:lnTo>
                  <a:lnTo>
                    <a:pt x="35" y="387"/>
                  </a:lnTo>
                  <a:lnTo>
                    <a:pt x="35" y="400"/>
                  </a:lnTo>
                  <a:lnTo>
                    <a:pt x="35" y="414"/>
                  </a:lnTo>
                  <a:lnTo>
                    <a:pt x="35" y="426"/>
                  </a:lnTo>
                  <a:lnTo>
                    <a:pt x="35" y="436"/>
                  </a:lnTo>
                  <a:lnTo>
                    <a:pt x="35" y="441"/>
                  </a:lnTo>
                  <a:lnTo>
                    <a:pt x="36" y="447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62" name="Freeform 430"/>
            <p:cNvSpPr>
              <a:spLocks/>
            </p:cNvSpPr>
            <p:nvPr/>
          </p:nvSpPr>
          <p:spPr bwMode="auto">
            <a:xfrm>
              <a:off x="5100" y="1612"/>
              <a:ext cx="37" cy="224"/>
            </a:xfrm>
            <a:custGeom>
              <a:avLst/>
              <a:gdLst>
                <a:gd name="T0" fmla="*/ 0 w 37"/>
                <a:gd name="T1" fmla="*/ 3 h 446"/>
                <a:gd name="T2" fmla="*/ 0 w 37"/>
                <a:gd name="T3" fmla="*/ 11 h 446"/>
                <a:gd name="T4" fmla="*/ 0 w 37"/>
                <a:gd name="T5" fmla="*/ 22 h 446"/>
                <a:gd name="T6" fmla="*/ 0 w 37"/>
                <a:gd name="T7" fmla="*/ 40 h 446"/>
                <a:gd name="T8" fmla="*/ 1 w 37"/>
                <a:gd name="T9" fmla="*/ 70 h 446"/>
                <a:gd name="T10" fmla="*/ 2 w 37"/>
                <a:gd name="T11" fmla="*/ 101 h 446"/>
                <a:gd name="T12" fmla="*/ 3 w 37"/>
                <a:gd name="T13" fmla="*/ 150 h 446"/>
                <a:gd name="T14" fmla="*/ 5 w 37"/>
                <a:gd name="T15" fmla="*/ 181 h 446"/>
                <a:gd name="T16" fmla="*/ 5 w 37"/>
                <a:gd name="T17" fmla="*/ 209 h 446"/>
                <a:gd name="T18" fmla="*/ 6 w 37"/>
                <a:gd name="T19" fmla="*/ 245 h 446"/>
                <a:gd name="T20" fmla="*/ 7 w 37"/>
                <a:gd name="T21" fmla="*/ 290 h 446"/>
                <a:gd name="T22" fmla="*/ 10 w 37"/>
                <a:gd name="T23" fmla="*/ 332 h 446"/>
                <a:gd name="T24" fmla="*/ 10 w 37"/>
                <a:gd name="T25" fmla="*/ 349 h 446"/>
                <a:gd name="T26" fmla="*/ 11 w 37"/>
                <a:gd name="T27" fmla="*/ 367 h 446"/>
                <a:gd name="T28" fmla="*/ 12 w 37"/>
                <a:gd name="T29" fmla="*/ 382 h 446"/>
                <a:gd name="T30" fmla="*/ 13 w 37"/>
                <a:gd name="T31" fmla="*/ 407 h 446"/>
                <a:gd name="T32" fmla="*/ 13 w 37"/>
                <a:gd name="T33" fmla="*/ 418 h 446"/>
                <a:gd name="T34" fmla="*/ 14 w 37"/>
                <a:gd name="T35" fmla="*/ 428 h 446"/>
                <a:gd name="T36" fmla="*/ 16 w 37"/>
                <a:gd name="T37" fmla="*/ 436 h 446"/>
                <a:gd name="T38" fmla="*/ 16 w 37"/>
                <a:gd name="T39" fmla="*/ 440 h 446"/>
                <a:gd name="T40" fmla="*/ 17 w 37"/>
                <a:gd name="T41" fmla="*/ 445 h 446"/>
                <a:gd name="T42" fmla="*/ 18 w 37"/>
                <a:gd name="T43" fmla="*/ 446 h 446"/>
                <a:gd name="T44" fmla="*/ 18 w 37"/>
                <a:gd name="T45" fmla="*/ 445 h 446"/>
                <a:gd name="T46" fmla="*/ 19 w 37"/>
                <a:gd name="T47" fmla="*/ 440 h 446"/>
                <a:gd name="T48" fmla="*/ 19 w 37"/>
                <a:gd name="T49" fmla="*/ 436 h 446"/>
                <a:gd name="T50" fmla="*/ 21 w 37"/>
                <a:gd name="T51" fmla="*/ 428 h 446"/>
                <a:gd name="T52" fmla="*/ 22 w 37"/>
                <a:gd name="T53" fmla="*/ 418 h 446"/>
                <a:gd name="T54" fmla="*/ 22 w 37"/>
                <a:gd name="T55" fmla="*/ 407 h 446"/>
                <a:gd name="T56" fmla="*/ 24 w 37"/>
                <a:gd name="T57" fmla="*/ 382 h 446"/>
                <a:gd name="T58" fmla="*/ 24 w 37"/>
                <a:gd name="T59" fmla="*/ 367 h 446"/>
                <a:gd name="T60" fmla="*/ 25 w 37"/>
                <a:gd name="T61" fmla="*/ 349 h 446"/>
                <a:gd name="T62" fmla="*/ 27 w 37"/>
                <a:gd name="T63" fmla="*/ 332 h 446"/>
                <a:gd name="T64" fmla="*/ 29 w 37"/>
                <a:gd name="T65" fmla="*/ 291 h 446"/>
                <a:gd name="T66" fmla="*/ 30 w 37"/>
                <a:gd name="T67" fmla="*/ 245 h 446"/>
                <a:gd name="T68" fmla="*/ 32 w 37"/>
                <a:gd name="T69" fmla="*/ 209 h 446"/>
                <a:gd name="T70" fmla="*/ 33 w 37"/>
                <a:gd name="T71" fmla="*/ 181 h 446"/>
                <a:gd name="T72" fmla="*/ 33 w 37"/>
                <a:gd name="T73" fmla="*/ 151 h 446"/>
                <a:gd name="T74" fmla="*/ 34 w 37"/>
                <a:gd name="T75" fmla="*/ 104 h 446"/>
                <a:gd name="T76" fmla="*/ 34 w 37"/>
                <a:gd name="T77" fmla="*/ 72 h 446"/>
                <a:gd name="T78" fmla="*/ 35 w 37"/>
                <a:gd name="T79" fmla="*/ 44 h 446"/>
                <a:gd name="T80" fmla="*/ 35 w 37"/>
                <a:gd name="T81" fmla="*/ 19 h 446"/>
                <a:gd name="T82" fmla="*/ 35 w 37"/>
                <a:gd name="T83" fmla="*/ 4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7" h="446">
                  <a:moveTo>
                    <a:pt x="0" y="0"/>
                  </a:moveTo>
                  <a:lnTo>
                    <a:pt x="0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0" y="40"/>
                  </a:lnTo>
                  <a:lnTo>
                    <a:pt x="1" y="55"/>
                  </a:lnTo>
                  <a:lnTo>
                    <a:pt x="1" y="70"/>
                  </a:lnTo>
                  <a:lnTo>
                    <a:pt x="1" y="84"/>
                  </a:lnTo>
                  <a:lnTo>
                    <a:pt x="2" y="101"/>
                  </a:lnTo>
                  <a:lnTo>
                    <a:pt x="2" y="134"/>
                  </a:lnTo>
                  <a:lnTo>
                    <a:pt x="3" y="150"/>
                  </a:lnTo>
                  <a:lnTo>
                    <a:pt x="3" y="165"/>
                  </a:lnTo>
                  <a:lnTo>
                    <a:pt x="5" y="181"/>
                  </a:lnTo>
                  <a:lnTo>
                    <a:pt x="5" y="196"/>
                  </a:lnTo>
                  <a:lnTo>
                    <a:pt x="5" y="209"/>
                  </a:lnTo>
                  <a:lnTo>
                    <a:pt x="6" y="221"/>
                  </a:lnTo>
                  <a:lnTo>
                    <a:pt x="6" y="245"/>
                  </a:lnTo>
                  <a:lnTo>
                    <a:pt x="7" y="269"/>
                  </a:lnTo>
                  <a:lnTo>
                    <a:pt x="7" y="290"/>
                  </a:lnTo>
                  <a:lnTo>
                    <a:pt x="8" y="312"/>
                  </a:lnTo>
                  <a:lnTo>
                    <a:pt x="10" y="332"/>
                  </a:lnTo>
                  <a:lnTo>
                    <a:pt x="10" y="340"/>
                  </a:lnTo>
                  <a:lnTo>
                    <a:pt x="10" y="349"/>
                  </a:lnTo>
                  <a:lnTo>
                    <a:pt x="11" y="358"/>
                  </a:lnTo>
                  <a:lnTo>
                    <a:pt x="11" y="367"/>
                  </a:lnTo>
                  <a:lnTo>
                    <a:pt x="11" y="375"/>
                  </a:lnTo>
                  <a:lnTo>
                    <a:pt x="12" y="382"/>
                  </a:lnTo>
                  <a:lnTo>
                    <a:pt x="12" y="396"/>
                  </a:lnTo>
                  <a:lnTo>
                    <a:pt x="13" y="407"/>
                  </a:lnTo>
                  <a:lnTo>
                    <a:pt x="13" y="413"/>
                  </a:lnTo>
                  <a:lnTo>
                    <a:pt x="13" y="418"/>
                  </a:lnTo>
                  <a:lnTo>
                    <a:pt x="14" y="424"/>
                  </a:lnTo>
                  <a:lnTo>
                    <a:pt x="14" y="428"/>
                  </a:lnTo>
                  <a:lnTo>
                    <a:pt x="14" y="431"/>
                  </a:lnTo>
                  <a:lnTo>
                    <a:pt x="16" y="436"/>
                  </a:lnTo>
                  <a:lnTo>
                    <a:pt x="16" y="439"/>
                  </a:lnTo>
                  <a:lnTo>
                    <a:pt x="16" y="440"/>
                  </a:lnTo>
                  <a:lnTo>
                    <a:pt x="17" y="443"/>
                  </a:lnTo>
                  <a:lnTo>
                    <a:pt x="17" y="445"/>
                  </a:lnTo>
                  <a:lnTo>
                    <a:pt x="17" y="445"/>
                  </a:lnTo>
                  <a:lnTo>
                    <a:pt x="18" y="446"/>
                  </a:lnTo>
                  <a:lnTo>
                    <a:pt x="18" y="445"/>
                  </a:lnTo>
                  <a:lnTo>
                    <a:pt x="18" y="445"/>
                  </a:lnTo>
                  <a:lnTo>
                    <a:pt x="18" y="443"/>
                  </a:lnTo>
                  <a:lnTo>
                    <a:pt x="19" y="440"/>
                  </a:lnTo>
                  <a:lnTo>
                    <a:pt x="19" y="439"/>
                  </a:lnTo>
                  <a:lnTo>
                    <a:pt x="19" y="436"/>
                  </a:lnTo>
                  <a:lnTo>
                    <a:pt x="21" y="431"/>
                  </a:lnTo>
                  <a:lnTo>
                    <a:pt x="21" y="428"/>
                  </a:lnTo>
                  <a:lnTo>
                    <a:pt x="21" y="424"/>
                  </a:lnTo>
                  <a:lnTo>
                    <a:pt x="22" y="418"/>
                  </a:lnTo>
                  <a:lnTo>
                    <a:pt x="22" y="413"/>
                  </a:lnTo>
                  <a:lnTo>
                    <a:pt x="22" y="407"/>
                  </a:lnTo>
                  <a:lnTo>
                    <a:pt x="23" y="396"/>
                  </a:lnTo>
                  <a:lnTo>
                    <a:pt x="24" y="382"/>
                  </a:lnTo>
                  <a:lnTo>
                    <a:pt x="24" y="375"/>
                  </a:lnTo>
                  <a:lnTo>
                    <a:pt x="24" y="367"/>
                  </a:lnTo>
                  <a:lnTo>
                    <a:pt x="25" y="358"/>
                  </a:lnTo>
                  <a:lnTo>
                    <a:pt x="25" y="349"/>
                  </a:lnTo>
                  <a:lnTo>
                    <a:pt x="25" y="340"/>
                  </a:lnTo>
                  <a:lnTo>
                    <a:pt x="27" y="332"/>
                  </a:lnTo>
                  <a:lnTo>
                    <a:pt x="28" y="312"/>
                  </a:lnTo>
                  <a:lnTo>
                    <a:pt x="29" y="291"/>
                  </a:lnTo>
                  <a:lnTo>
                    <a:pt x="29" y="269"/>
                  </a:lnTo>
                  <a:lnTo>
                    <a:pt x="30" y="245"/>
                  </a:lnTo>
                  <a:lnTo>
                    <a:pt x="32" y="223"/>
                  </a:lnTo>
                  <a:lnTo>
                    <a:pt x="32" y="209"/>
                  </a:lnTo>
                  <a:lnTo>
                    <a:pt x="32" y="196"/>
                  </a:lnTo>
                  <a:lnTo>
                    <a:pt x="33" y="181"/>
                  </a:lnTo>
                  <a:lnTo>
                    <a:pt x="33" y="166"/>
                  </a:lnTo>
                  <a:lnTo>
                    <a:pt x="33" y="151"/>
                  </a:lnTo>
                  <a:lnTo>
                    <a:pt x="34" y="135"/>
                  </a:lnTo>
                  <a:lnTo>
                    <a:pt x="34" y="104"/>
                  </a:lnTo>
                  <a:lnTo>
                    <a:pt x="34" y="89"/>
                  </a:lnTo>
                  <a:lnTo>
                    <a:pt x="34" y="72"/>
                  </a:lnTo>
                  <a:lnTo>
                    <a:pt x="35" y="58"/>
                  </a:lnTo>
                  <a:lnTo>
                    <a:pt x="35" y="44"/>
                  </a:lnTo>
                  <a:lnTo>
                    <a:pt x="35" y="31"/>
                  </a:lnTo>
                  <a:lnTo>
                    <a:pt x="35" y="19"/>
                  </a:lnTo>
                  <a:lnTo>
                    <a:pt x="35" y="8"/>
                  </a:lnTo>
                  <a:lnTo>
                    <a:pt x="35" y="4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63" name="Freeform 431"/>
            <p:cNvSpPr>
              <a:spLocks/>
            </p:cNvSpPr>
            <p:nvPr/>
          </p:nvSpPr>
          <p:spPr bwMode="auto">
            <a:xfrm>
              <a:off x="5173" y="1612"/>
              <a:ext cx="37" cy="224"/>
            </a:xfrm>
            <a:custGeom>
              <a:avLst/>
              <a:gdLst>
                <a:gd name="T0" fmla="*/ 0 w 37"/>
                <a:gd name="T1" fmla="*/ 3 h 446"/>
                <a:gd name="T2" fmla="*/ 0 w 37"/>
                <a:gd name="T3" fmla="*/ 11 h 446"/>
                <a:gd name="T4" fmla="*/ 0 w 37"/>
                <a:gd name="T5" fmla="*/ 22 h 446"/>
                <a:gd name="T6" fmla="*/ 0 w 37"/>
                <a:gd name="T7" fmla="*/ 40 h 446"/>
                <a:gd name="T8" fmla="*/ 2 w 37"/>
                <a:gd name="T9" fmla="*/ 70 h 446"/>
                <a:gd name="T10" fmla="*/ 3 w 37"/>
                <a:gd name="T11" fmla="*/ 101 h 446"/>
                <a:gd name="T12" fmla="*/ 4 w 37"/>
                <a:gd name="T13" fmla="*/ 150 h 446"/>
                <a:gd name="T14" fmla="*/ 5 w 37"/>
                <a:gd name="T15" fmla="*/ 181 h 446"/>
                <a:gd name="T16" fmla="*/ 5 w 37"/>
                <a:gd name="T17" fmla="*/ 209 h 446"/>
                <a:gd name="T18" fmla="*/ 6 w 37"/>
                <a:gd name="T19" fmla="*/ 245 h 446"/>
                <a:gd name="T20" fmla="*/ 8 w 37"/>
                <a:gd name="T21" fmla="*/ 290 h 446"/>
                <a:gd name="T22" fmla="*/ 10 w 37"/>
                <a:gd name="T23" fmla="*/ 332 h 446"/>
                <a:gd name="T24" fmla="*/ 10 w 37"/>
                <a:gd name="T25" fmla="*/ 349 h 446"/>
                <a:gd name="T26" fmla="*/ 11 w 37"/>
                <a:gd name="T27" fmla="*/ 367 h 446"/>
                <a:gd name="T28" fmla="*/ 13 w 37"/>
                <a:gd name="T29" fmla="*/ 382 h 446"/>
                <a:gd name="T30" fmla="*/ 14 w 37"/>
                <a:gd name="T31" fmla="*/ 407 h 446"/>
                <a:gd name="T32" fmla="*/ 14 w 37"/>
                <a:gd name="T33" fmla="*/ 418 h 446"/>
                <a:gd name="T34" fmla="*/ 15 w 37"/>
                <a:gd name="T35" fmla="*/ 428 h 446"/>
                <a:gd name="T36" fmla="*/ 16 w 37"/>
                <a:gd name="T37" fmla="*/ 436 h 446"/>
                <a:gd name="T38" fmla="*/ 16 w 37"/>
                <a:gd name="T39" fmla="*/ 440 h 446"/>
                <a:gd name="T40" fmla="*/ 17 w 37"/>
                <a:gd name="T41" fmla="*/ 445 h 446"/>
                <a:gd name="T42" fmla="*/ 19 w 37"/>
                <a:gd name="T43" fmla="*/ 446 h 446"/>
                <a:gd name="T44" fmla="*/ 19 w 37"/>
                <a:gd name="T45" fmla="*/ 445 h 446"/>
                <a:gd name="T46" fmla="*/ 20 w 37"/>
                <a:gd name="T47" fmla="*/ 440 h 446"/>
                <a:gd name="T48" fmla="*/ 20 w 37"/>
                <a:gd name="T49" fmla="*/ 436 h 446"/>
                <a:gd name="T50" fmla="*/ 21 w 37"/>
                <a:gd name="T51" fmla="*/ 428 h 446"/>
                <a:gd name="T52" fmla="*/ 22 w 37"/>
                <a:gd name="T53" fmla="*/ 418 h 446"/>
                <a:gd name="T54" fmla="*/ 22 w 37"/>
                <a:gd name="T55" fmla="*/ 407 h 446"/>
                <a:gd name="T56" fmla="*/ 25 w 37"/>
                <a:gd name="T57" fmla="*/ 382 h 446"/>
                <a:gd name="T58" fmla="*/ 25 w 37"/>
                <a:gd name="T59" fmla="*/ 367 h 446"/>
                <a:gd name="T60" fmla="*/ 26 w 37"/>
                <a:gd name="T61" fmla="*/ 349 h 446"/>
                <a:gd name="T62" fmla="*/ 27 w 37"/>
                <a:gd name="T63" fmla="*/ 332 h 446"/>
                <a:gd name="T64" fmla="*/ 30 w 37"/>
                <a:gd name="T65" fmla="*/ 291 h 446"/>
                <a:gd name="T66" fmla="*/ 31 w 37"/>
                <a:gd name="T67" fmla="*/ 245 h 446"/>
                <a:gd name="T68" fmla="*/ 32 w 37"/>
                <a:gd name="T69" fmla="*/ 209 h 446"/>
                <a:gd name="T70" fmla="*/ 33 w 37"/>
                <a:gd name="T71" fmla="*/ 181 h 446"/>
                <a:gd name="T72" fmla="*/ 33 w 37"/>
                <a:gd name="T73" fmla="*/ 151 h 446"/>
                <a:gd name="T74" fmla="*/ 35 w 37"/>
                <a:gd name="T75" fmla="*/ 104 h 446"/>
                <a:gd name="T76" fmla="*/ 35 w 37"/>
                <a:gd name="T77" fmla="*/ 72 h 446"/>
                <a:gd name="T78" fmla="*/ 36 w 37"/>
                <a:gd name="T79" fmla="*/ 44 h 446"/>
                <a:gd name="T80" fmla="*/ 36 w 37"/>
                <a:gd name="T81" fmla="*/ 19 h 446"/>
                <a:gd name="T82" fmla="*/ 36 w 37"/>
                <a:gd name="T83" fmla="*/ 4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7" h="446">
                  <a:moveTo>
                    <a:pt x="0" y="0"/>
                  </a:moveTo>
                  <a:lnTo>
                    <a:pt x="0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0" y="40"/>
                  </a:lnTo>
                  <a:lnTo>
                    <a:pt x="2" y="55"/>
                  </a:lnTo>
                  <a:lnTo>
                    <a:pt x="2" y="70"/>
                  </a:lnTo>
                  <a:lnTo>
                    <a:pt x="2" y="84"/>
                  </a:lnTo>
                  <a:lnTo>
                    <a:pt x="3" y="101"/>
                  </a:lnTo>
                  <a:lnTo>
                    <a:pt x="3" y="134"/>
                  </a:lnTo>
                  <a:lnTo>
                    <a:pt x="4" y="150"/>
                  </a:lnTo>
                  <a:lnTo>
                    <a:pt x="4" y="165"/>
                  </a:lnTo>
                  <a:lnTo>
                    <a:pt x="5" y="181"/>
                  </a:lnTo>
                  <a:lnTo>
                    <a:pt x="5" y="196"/>
                  </a:lnTo>
                  <a:lnTo>
                    <a:pt x="5" y="209"/>
                  </a:lnTo>
                  <a:lnTo>
                    <a:pt x="6" y="221"/>
                  </a:lnTo>
                  <a:lnTo>
                    <a:pt x="6" y="245"/>
                  </a:lnTo>
                  <a:lnTo>
                    <a:pt x="8" y="269"/>
                  </a:lnTo>
                  <a:lnTo>
                    <a:pt x="8" y="290"/>
                  </a:lnTo>
                  <a:lnTo>
                    <a:pt x="9" y="312"/>
                  </a:lnTo>
                  <a:lnTo>
                    <a:pt x="10" y="332"/>
                  </a:lnTo>
                  <a:lnTo>
                    <a:pt x="10" y="340"/>
                  </a:lnTo>
                  <a:lnTo>
                    <a:pt x="10" y="349"/>
                  </a:lnTo>
                  <a:lnTo>
                    <a:pt x="11" y="358"/>
                  </a:lnTo>
                  <a:lnTo>
                    <a:pt x="11" y="367"/>
                  </a:lnTo>
                  <a:lnTo>
                    <a:pt x="11" y="375"/>
                  </a:lnTo>
                  <a:lnTo>
                    <a:pt x="13" y="382"/>
                  </a:lnTo>
                  <a:lnTo>
                    <a:pt x="13" y="396"/>
                  </a:lnTo>
                  <a:lnTo>
                    <a:pt x="14" y="407"/>
                  </a:lnTo>
                  <a:lnTo>
                    <a:pt x="14" y="413"/>
                  </a:lnTo>
                  <a:lnTo>
                    <a:pt x="14" y="418"/>
                  </a:lnTo>
                  <a:lnTo>
                    <a:pt x="15" y="424"/>
                  </a:lnTo>
                  <a:lnTo>
                    <a:pt x="15" y="428"/>
                  </a:lnTo>
                  <a:lnTo>
                    <a:pt x="15" y="431"/>
                  </a:lnTo>
                  <a:lnTo>
                    <a:pt x="16" y="436"/>
                  </a:lnTo>
                  <a:lnTo>
                    <a:pt x="16" y="439"/>
                  </a:lnTo>
                  <a:lnTo>
                    <a:pt x="16" y="440"/>
                  </a:lnTo>
                  <a:lnTo>
                    <a:pt x="17" y="443"/>
                  </a:lnTo>
                  <a:lnTo>
                    <a:pt x="17" y="445"/>
                  </a:lnTo>
                  <a:lnTo>
                    <a:pt x="17" y="445"/>
                  </a:lnTo>
                  <a:lnTo>
                    <a:pt x="19" y="446"/>
                  </a:lnTo>
                  <a:lnTo>
                    <a:pt x="19" y="445"/>
                  </a:lnTo>
                  <a:lnTo>
                    <a:pt x="19" y="445"/>
                  </a:lnTo>
                  <a:lnTo>
                    <a:pt x="19" y="443"/>
                  </a:lnTo>
                  <a:lnTo>
                    <a:pt x="20" y="440"/>
                  </a:lnTo>
                  <a:lnTo>
                    <a:pt x="20" y="439"/>
                  </a:lnTo>
                  <a:lnTo>
                    <a:pt x="20" y="436"/>
                  </a:lnTo>
                  <a:lnTo>
                    <a:pt x="21" y="431"/>
                  </a:lnTo>
                  <a:lnTo>
                    <a:pt x="21" y="428"/>
                  </a:lnTo>
                  <a:lnTo>
                    <a:pt x="21" y="424"/>
                  </a:lnTo>
                  <a:lnTo>
                    <a:pt x="22" y="418"/>
                  </a:lnTo>
                  <a:lnTo>
                    <a:pt x="22" y="413"/>
                  </a:lnTo>
                  <a:lnTo>
                    <a:pt x="22" y="407"/>
                  </a:lnTo>
                  <a:lnTo>
                    <a:pt x="24" y="396"/>
                  </a:lnTo>
                  <a:lnTo>
                    <a:pt x="25" y="382"/>
                  </a:lnTo>
                  <a:lnTo>
                    <a:pt x="25" y="375"/>
                  </a:lnTo>
                  <a:lnTo>
                    <a:pt x="25" y="367"/>
                  </a:lnTo>
                  <a:lnTo>
                    <a:pt x="26" y="358"/>
                  </a:lnTo>
                  <a:lnTo>
                    <a:pt x="26" y="349"/>
                  </a:lnTo>
                  <a:lnTo>
                    <a:pt x="26" y="340"/>
                  </a:lnTo>
                  <a:lnTo>
                    <a:pt x="27" y="332"/>
                  </a:lnTo>
                  <a:lnTo>
                    <a:pt x="29" y="312"/>
                  </a:lnTo>
                  <a:lnTo>
                    <a:pt x="30" y="291"/>
                  </a:lnTo>
                  <a:lnTo>
                    <a:pt x="30" y="269"/>
                  </a:lnTo>
                  <a:lnTo>
                    <a:pt x="31" y="245"/>
                  </a:lnTo>
                  <a:lnTo>
                    <a:pt x="32" y="223"/>
                  </a:lnTo>
                  <a:lnTo>
                    <a:pt x="32" y="209"/>
                  </a:lnTo>
                  <a:lnTo>
                    <a:pt x="32" y="196"/>
                  </a:lnTo>
                  <a:lnTo>
                    <a:pt x="33" y="181"/>
                  </a:lnTo>
                  <a:lnTo>
                    <a:pt x="33" y="166"/>
                  </a:lnTo>
                  <a:lnTo>
                    <a:pt x="33" y="151"/>
                  </a:lnTo>
                  <a:lnTo>
                    <a:pt x="35" y="135"/>
                  </a:lnTo>
                  <a:lnTo>
                    <a:pt x="35" y="104"/>
                  </a:lnTo>
                  <a:lnTo>
                    <a:pt x="35" y="89"/>
                  </a:lnTo>
                  <a:lnTo>
                    <a:pt x="35" y="72"/>
                  </a:lnTo>
                  <a:lnTo>
                    <a:pt x="36" y="58"/>
                  </a:lnTo>
                  <a:lnTo>
                    <a:pt x="36" y="44"/>
                  </a:lnTo>
                  <a:lnTo>
                    <a:pt x="36" y="31"/>
                  </a:lnTo>
                  <a:lnTo>
                    <a:pt x="36" y="19"/>
                  </a:lnTo>
                  <a:lnTo>
                    <a:pt x="36" y="8"/>
                  </a:lnTo>
                  <a:lnTo>
                    <a:pt x="36" y="4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64" name="Freeform 432"/>
            <p:cNvSpPr>
              <a:spLocks/>
            </p:cNvSpPr>
            <p:nvPr/>
          </p:nvSpPr>
          <p:spPr bwMode="auto">
            <a:xfrm>
              <a:off x="5247" y="1612"/>
              <a:ext cx="37" cy="224"/>
            </a:xfrm>
            <a:custGeom>
              <a:avLst/>
              <a:gdLst>
                <a:gd name="T0" fmla="*/ 0 w 37"/>
                <a:gd name="T1" fmla="*/ 3 h 446"/>
                <a:gd name="T2" fmla="*/ 0 w 37"/>
                <a:gd name="T3" fmla="*/ 11 h 446"/>
                <a:gd name="T4" fmla="*/ 0 w 37"/>
                <a:gd name="T5" fmla="*/ 22 h 446"/>
                <a:gd name="T6" fmla="*/ 0 w 37"/>
                <a:gd name="T7" fmla="*/ 40 h 446"/>
                <a:gd name="T8" fmla="*/ 1 w 37"/>
                <a:gd name="T9" fmla="*/ 70 h 446"/>
                <a:gd name="T10" fmla="*/ 2 w 37"/>
                <a:gd name="T11" fmla="*/ 101 h 446"/>
                <a:gd name="T12" fmla="*/ 4 w 37"/>
                <a:gd name="T13" fmla="*/ 150 h 446"/>
                <a:gd name="T14" fmla="*/ 5 w 37"/>
                <a:gd name="T15" fmla="*/ 181 h 446"/>
                <a:gd name="T16" fmla="*/ 5 w 37"/>
                <a:gd name="T17" fmla="*/ 209 h 446"/>
                <a:gd name="T18" fmla="*/ 6 w 37"/>
                <a:gd name="T19" fmla="*/ 245 h 446"/>
                <a:gd name="T20" fmla="*/ 7 w 37"/>
                <a:gd name="T21" fmla="*/ 290 h 446"/>
                <a:gd name="T22" fmla="*/ 10 w 37"/>
                <a:gd name="T23" fmla="*/ 332 h 446"/>
                <a:gd name="T24" fmla="*/ 10 w 37"/>
                <a:gd name="T25" fmla="*/ 349 h 446"/>
                <a:gd name="T26" fmla="*/ 11 w 37"/>
                <a:gd name="T27" fmla="*/ 367 h 446"/>
                <a:gd name="T28" fmla="*/ 12 w 37"/>
                <a:gd name="T29" fmla="*/ 382 h 446"/>
                <a:gd name="T30" fmla="*/ 13 w 37"/>
                <a:gd name="T31" fmla="*/ 407 h 446"/>
                <a:gd name="T32" fmla="*/ 13 w 37"/>
                <a:gd name="T33" fmla="*/ 418 h 446"/>
                <a:gd name="T34" fmla="*/ 15 w 37"/>
                <a:gd name="T35" fmla="*/ 428 h 446"/>
                <a:gd name="T36" fmla="*/ 16 w 37"/>
                <a:gd name="T37" fmla="*/ 436 h 446"/>
                <a:gd name="T38" fmla="*/ 16 w 37"/>
                <a:gd name="T39" fmla="*/ 440 h 446"/>
                <a:gd name="T40" fmla="*/ 17 w 37"/>
                <a:gd name="T41" fmla="*/ 445 h 446"/>
                <a:gd name="T42" fmla="*/ 18 w 37"/>
                <a:gd name="T43" fmla="*/ 446 h 446"/>
                <a:gd name="T44" fmla="*/ 18 w 37"/>
                <a:gd name="T45" fmla="*/ 445 h 446"/>
                <a:gd name="T46" fmla="*/ 19 w 37"/>
                <a:gd name="T47" fmla="*/ 440 h 446"/>
                <a:gd name="T48" fmla="*/ 19 w 37"/>
                <a:gd name="T49" fmla="*/ 436 h 446"/>
                <a:gd name="T50" fmla="*/ 21 w 37"/>
                <a:gd name="T51" fmla="*/ 428 h 446"/>
                <a:gd name="T52" fmla="*/ 22 w 37"/>
                <a:gd name="T53" fmla="*/ 418 h 446"/>
                <a:gd name="T54" fmla="*/ 22 w 37"/>
                <a:gd name="T55" fmla="*/ 407 h 446"/>
                <a:gd name="T56" fmla="*/ 24 w 37"/>
                <a:gd name="T57" fmla="*/ 382 h 446"/>
                <a:gd name="T58" fmla="*/ 24 w 37"/>
                <a:gd name="T59" fmla="*/ 367 h 446"/>
                <a:gd name="T60" fmla="*/ 26 w 37"/>
                <a:gd name="T61" fmla="*/ 349 h 446"/>
                <a:gd name="T62" fmla="*/ 27 w 37"/>
                <a:gd name="T63" fmla="*/ 332 h 446"/>
                <a:gd name="T64" fmla="*/ 29 w 37"/>
                <a:gd name="T65" fmla="*/ 291 h 446"/>
                <a:gd name="T66" fmla="*/ 31 w 37"/>
                <a:gd name="T67" fmla="*/ 245 h 446"/>
                <a:gd name="T68" fmla="*/ 32 w 37"/>
                <a:gd name="T69" fmla="*/ 209 h 446"/>
                <a:gd name="T70" fmla="*/ 33 w 37"/>
                <a:gd name="T71" fmla="*/ 181 h 446"/>
                <a:gd name="T72" fmla="*/ 33 w 37"/>
                <a:gd name="T73" fmla="*/ 151 h 446"/>
                <a:gd name="T74" fmla="*/ 34 w 37"/>
                <a:gd name="T75" fmla="*/ 104 h 446"/>
                <a:gd name="T76" fmla="*/ 34 w 37"/>
                <a:gd name="T77" fmla="*/ 72 h 446"/>
                <a:gd name="T78" fmla="*/ 35 w 37"/>
                <a:gd name="T79" fmla="*/ 44 h 446"/>
                <a:gd name="T80" fmla="*/ 35 w 37"/>
                <a:gd name="T81" fmla="*/ 19 h 446"/>
                <a:gd name="T82" fmla="*/ 35 w 37"/>
                <a:gd name="T83" fmla="*/ 4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7" h="446">
                  <a:moveTo>
                    <a:pt x="0" y="0"/>
                  </a:moveTo>
                  <a:lnTo>
                    <a:pt x="0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0" y="40"/>
                  </a:lnTo>
                  <a:lnTo>
                    <a:pt x="1" y="55"/>
                  </a:lnTo>
                  <a:lnTo>
                    <a:pt x="1" y="70"/>
                  </a:lnTo>
                  <a:lnTo>
                    <a:pt x="1" y="84"/>
                  </a:lnTo>
                  <a:lnTo>
                    <a:pt x="2" y="101"/>
                  </a:lnTo>
                  <a:lnTo>
                    <a:pt x="2" y="134"/>
                  </a:lnTo>
                  <a:lnTo>
                    <a:pt x="4" y="150"/>
                  </a:lnTo>
                  <a:lnTo>
                    <a:pt x="4" y="165"/>
                  </a:lnTo>
                  <a:lnTo>
                    <a:pt x="5" y="181"/>
                  </a:lnTo>
                  <a:lnTo>
                    <a:pt x="5" y="196"/>
                  </a:lnTo>
                  <a:lnTo>
                    <a:pt x="5" y="209"/>
                  </a:lnTo>
                  <a:lnTo>
                    <a:pt x="6" y="221"/>
                  </a:lnTo>
                  <a:lnTo>
                    <a:pt x="6" y="245"/>
                  </a:lnTo>
                  <a:lnTo>
                    <a:pt x="7" y="269"/>
                  </a:lnTo>
                  <a:lnTo>
                    <a:pt x="7" y="290"/>
                  </a:lnTo>
                  <a:lnTo>
                    <a:pt x="8" y="312"/>
                  </a:lnTo>
                  <a:lnTo>
                    <a:pt x="10" y="332"/>
                  </a:lnTo>
                  <a:lnTo>
                    <a:pt x="10" y="340"/>
                  </a:lnTo>
                  <a:lnTo>
                    <a:pt x="10" y="349"/>
                  </a:lnTo>
                  <a:lnTo>
                    <a:pt x="11" y="358"/>
                  </a:lnTo>
                  <a:lnTo>
                    <a:pt x="11" y="367"/>
                  </a:lnTo>
                  <a:lnTo>
                    <a:pt x="11" y="375"/>
                  </a:lnTo>
                  <a:lnTo>
                    <a:pt x="12" y="382"/>
                  </a:lnTo>
                  <a:lnTo>
                    <a:pt x="12" y="396"/>
                  </a:lnTo>
                  <a:lnTo>
                    <a:pt x="13" y="407"/>
                  </a:lnTo>
                  <a:lnTo>
                    <a:pt x="13" y="413"/>
                  </a:lnTo>
                  <a:lnTo>
                    <a:pt x="13" y="418"/>
                  </a:lnTo>
                  <a:lnTo>
                    <a:pt x="15" y="424"/>
                  </a:lnTo>
                  <a:lnTo>
                    <a:pt x="15" y="428"/>
                  </a:lnTo>
                  <a:lnTo>
                    <a:pt x="15" y="431"/>
                  </a:lnTo>
                  <a:lnTo>
                    <a:pt x="16" y="436"/>
                  </a:lnTo>
                  <a:lnTo>
                    <a:pt x="16" y="439"/>
                  </a:lnTo>
                  <a:lnTo>
                    <a:pt x="16" y="440"/>
                  </a:lnTo>
                  <a:lnTo>
                    <a:pt x="17" y="443"/>
                  </a:lnTo>
                  <a:lnTo>
                    <a:pt x="17" y="445"/>
                  </a:lnTo>
                  <a:lnTo>
                    <a:pt x="17" y="445"/>
                  </a:lnTo>
                  <a:lnTo>
                    <a:pt x="18" y="446"/>
                  </a:lnTo>
                  <a:lnTo>
                    <a:pt x="18" y="445"/>
                  </a:lnTo>
                  <a:lnTo>
                    <a:pt x="18" y="445"/>
                  </a:lnTo>
                  <a:lnTo>
                    <a:pt x="18" y="443"/>
                  </a:lnTo>
                  <a:lnTo>
                    <a:pt x="19" y="440"/>
                  </a:lnTo>
                  <a:lnTo>
                    <a:pt x="19" y="439"/>
                  </a:lnTo>
                  <a:lnTo>
                    <a:pt x="19" y="436"/>
                  </a:lnTo>
                  <a:lnTo>
                    <a:pt x="21" y="431"/>
                  </a:lnTo>
                  <a:lnTo>
                    <a:pt x="21" y="428"/>
                  </a:lnTo>
                  <a:lnTo>
                    <a:pt x="21" y="424"/>
                  </a:lnTo>
                  <a:lnTo>
                    <a:pt x="22" y="418"/>
                  </a:lnTo>
                  <a:lnTo>
                    <a:pt x="22" y="413"/>
                  </a:lnTo>
                  <a:lnTo>
                    <a:pt x="22" y="407"/>
                  </a:lnTo>
                  <a:lnTo>
                    <a:pt x="23" y="396"/>
                  </a:lnTo>
                  <a:lnTo>
                    <a:pt x="24" y="382"/>
                  </a:lnTo>
                  <a:lnTo>
                    <a:pt x="24" y="375"/>
                  </a:lnTo>
                  <a:lnTo>
                    <a:pt x="24" y="367"/>
                  </a:lnTo>
                  <a:lnTo>
                    <a:pt x="26" y="358"/>
                  </a:lnTo>
                  <a:lnTo>
                    <a:pt x="26" y="349"/>
                  </a:lnTo>
                  <a:lnTo>
                    <a:pt x="26" y="340"/>
                  </a:lnTo>
                  <a:lnTo>
                    <a:pt x="27" y="332"/>
                  </a:lnTo>
                  <a:lnTo>
                    <a:pt x="28" y="312"/>
                  </a:lnTo>
                  <a:lnTo>
                    <a:pt x="29" y="291"/>
                  </a:lnTo>
                  <a:lnTo>
                    <a:pt x="29" y="269"/>
                  </a:lnTo>
                  <a:lnTo>
                    <a:pt x="31" y="245"/>
                  </a:lnTo>
                  <a:lnTo>
                    <a:pt x="32" y="223"/>
                  </a:lnTo>
                  <a:lnTo>
                    <a:pt x="32" y="209"/>
                  </a:lnTo>
                  <a:lnTo>
                    <a:pt x="32" y="196"/>
                  </a:lnTo>
                  <a:lnTo>
                    <a:pt x="33" y="181"/>
                  </a:lnTo>
                  <a:lnTo>
                    <a:pt x="33" y="166"/>
                  </a:lnTo>
                  <a:lnTo>
                    <a:pt x="33" y="151"/>
                  </a:lnTo>
                  <a:lnTo>
                    <a:pt x="34" y="135"/>
                  </a:lnTo>
                  <a:lnTo>
                    <a:pt x="34" y="104"/>
                  </a:lnTo>
                  <a:lnTo>
                    <a:pt x="34" y="89"/>
                  </a:lnTo>
                  <a:lnTo>
                    <a:pt x="34" y="72"/>
                  </a:lnTo>
                  <a:lnTo>
                    <a:pt x="35" y="58"/>
                  </a:lnTo>
                  <a:lnTo>
                    <a:pt x="35" y="44"/>
                  </a:lnTo>
                  <a:lnTo>
                    <a:pt x="35" y="31"/>
                  </a:lnTo>
                  <a:lnTo>
                    <a:pt x="35" y="19"/>
                  </a:lnTo>
                  <a:lnTo>
                    <a:pt x="35" y="8"/>
                  </a:lnTo>
                  <a:lnTo>
                    <a:pt x="35" y="4"/>
                  </a:lnTo>
                  <a:lnTo>
                    <a:pt x="37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065" name="Freeform 433"/>
            <p:cNvSpPr>
              <a:spLocks/>
            </p:cNvSpPr>
            <p:nvPr/>
          </p:nvSpPr>
          <p:spPr bwMode="auto">
            <a:xfrm>
              <a:off x="2677" y="3657"/>
              <a:ext cx="2716" cy="236"/>
            </a:xfrm>
            <a:custGeom>
              <a:avLst/>
              <a:gdLst>
                <a:gd name="T0" fmla="*/ 0 w 2716"/>
                <a:gd name="T1" fmla="*/ 121 h 236"/>
                <a:gd name="T2" fmla="*/ 171 w 2716"/>
                <a:gd name="T3" fmla="*/ 16 h 236"/>
                <a:gd name="T4" fmla="*/ 362 w 2716"/>
                <a:gd name="T5" fmla="*/ 134 h 236"/>
                <a:gd name="T6" fmla="*/ 586 w 2716"/>
                <a:gd name="T7" fmla="*/ 233 h 236"/>
                <a:gd name="T8" fmla="*/ 811 w 2716"/>
                <a:gd name="T9" fmla="*/ 121 h 236"/>
                <a:gd name="T10" fmla="*/ 995 w 2716"/>
                <a:gd name="T11" fmla="*/ 9 h 236"/>
                <a:gd name="T12" fmla="*/ 1338 w 2716"/>
                <a:gd name="T13" fmla="*/ 174 h 236"/>
                <a:gd name="T14" fmla="*/ 1496 w 2716"/>
                <a:gd name="T15" fmla="*/ 227 h 236"/>
                <a:gd name="T16" fmla="*/ 1681 w 2716"/>
                <a:gd name="T17" fmla="*/ 121 h 236"/>
                <a:gd name="T18" fmla="*/ 1885 w 2716"/>
                <a:gd name="T19" fmla="*/ 3 h 236"/>
                <a:gd name="T20" fmla="*/ 2136 w 2716"/>
                <a:gd name="T21" fmla="*/ 121 h 236"/>
                <a:gd name="T22" fmla="*/ 2373 w 2716"/>
                <a:gd name="T23" fmla="*/ 233 h 236"/>
                <a:gd name="T24" fmla="*/ 2591 w 2716"/>
                <a:gd name="T25" fmla="*/ 108 h 236"/>
                <a:gd name="T26" fmla="*/ 2716 w 2716"/>
                <a:gd name="T27" fmla="*/ 3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16" h="236">
                  <a:moveTo>
                    <a:pt x="0" y="121"/>
                  </a:moveTo>
                  <a:cubicBezTo>
                    <a:pt x="55" y="67"/>
                    <a:pt x="111" y="14"/>
                    <a:pt x="171" y="16"/>
                  </a:cubicBezTo>
                  <a:cubicBezTo>
                    <a:pt x="231" y="18"/>
                    <a:pt x="293" y="98"/>
                    <a:pt x="362" y="134"/>
                  </a:cubicBezTo>
                  <a:cubicBezTo>
                    <a:pt x="431" y="170"/>
                    <a:pt x="511" y="235"/>
                    <a:pt x="586" y="233"/>
                  </a:cubicBezTo>
                  <a:cubicBezTo>
                    <a:pt x="661" y="231"/>
                    <a:pt x="743" y="158"/>
                    <a:pt x="811" y="121"/>
                  </a:cubicBezTo>
                  <a:cubicBezTo>
                    <a:pt x="879" y="84"/>
                    <a:pt x="907" y="0"/>
                    <a:pt x="995" y="9"/>
                  </a:cubicBezTo>
                  <a:cubicBezTo>
                    <a:pt x="1083" y="18"/>
                    <a:pt x="1255" y="138"/>
                    <a:pt x="1338" y="174"/>
                  </a:cubicBezTo>
                  <a:cubicBezTo>
                    <a:pt x="1421" y="210"/>
                    <a:pt x="1439" y="236"/>
                    <a:pt x="1496" y="227"/>
                  </a:cubicBezTo>
                  <a:cubicBezTo>
                    <a:pt x="1553" y="218"/>
                    <a:pt x="1616" y="158"/>
                    <a:pt x="1681" y="121"/>
                  </a:cubicBezTo>
                  <a:cubicBezTo>
                    <a:pt x="1746" y="84"/>
                    <a:pt x="1809" y="3"/>
                    <a:pt x="1885" y="3"/>
                  </a:cubicBezTo>
                  <a:cubicBezTo>
                    <a:pt x="1961" y="3"/>
                    <a:pt x="2055" y="83"/>
                    <a:pt x="2136" y="121"/>
                  </a:cubicBezTo>
                  <a:cubicBezTo>
                    <a:pt x="2217" y="159"/>
                    <a:pt x="2297" y="235"/>
                    <a:pt x="2373" y="233"/>
                  </a:cubicBezTo>
                  <a:cubicBezTo>
                    <a:pt x="2449" y="231"/>
                    <a:pt x="2534" y="146"/>
                    <a:pt x="2591" y="108"/>
                  </a:cubicBezTo>
                  <a:cubicBezTo>
                    <a:pt x="2648" y="70"/>
                    <a:pt x="2682" y="36"/>
                    <a:pt x="2716" y="3"/>
                  </a:cubicBezTo>
                </a:path>
              </a:pathLst>
            </a:custGeom>
            <a:noFill/>
            <a:ln w="127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98066" name="Text Box 434"/>
          <p:cNvSpPr txBox="1">
            <a:spLocks noChangeArrowheads="1"/>
          </p:cNvSpPr>
          <p:nvPr/>
        </p:nvSpPr>
        <p:spPr bwMode="auto">
          <a:xfrm>
            <a:off x="381000" y="381000"/>
            <a:ext cx="279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GB" altLang="en-US" sz="2400" b="1"/>
              <a:t>FM Demodulation</a:t>
            </a:r>
          </a:p>
        </p:txBody>
      </p:sp>
    </p:spTree>
    <p:extLst>
      <p:ext uri="{BB962C8B-B14F-4D97-AF65-F5344CB8AC3E}">
        <p14:creationId xmlns:p14="http://schemas.microsoft.com/office/powerpoint/2010/main" val="12809339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 Box 4"/>
          <p:cNvSpPr txBox="1">
            <a:spLocks noChangeArrowheads="1"/>
          </p:cNvSpPr>
          <p:nvPr/>
        </p:nvSpPr>
        <p:spPr bwMode="auto">
          <a:xfrm>
            <a:off x="430213" y="366713"/>
            <a:ext cx="63960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2400" b="1"/>
              <a:t>Frequency Modulation – Modulation Index</a:t>
            </a:r>
          </a:p>
        </p:txBody>
      </p:sp>
      <p:sp>
        <p:nvSpPr>
          <p:cNvPr id="3076" name="Text Box 5"/>
          <p:cNvSpPr txBox="1">
            <a:spLocks noChangeArrowheads="1"/>
          </p:cNvSpPr>
          <p:nvPr/>
        </p:nvSpPr>
        <p:spPr bwMode="auto">
          <a:xfrm>
            <a:off x="430213" y="1098550"/>
            <a:ext cx="8275637" cy="48936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dirty="0"/>
              <a:t>Often denoted as </a:t>
            </a:r>
            <a:r>
              <a:rPr lang="el-GR" sz="1600" dirty="0">
                <a:ea typeface="Lucida Sans Unicode" pitchFamily="34" charset="0"/>
                <a:cs typeface="Lucida Sans Unicode" pitchFamily="34" charset="0"/>
              </a:rPr>
              <a:t>β</a:t>
            </a:r>
            <a:endParaRPr lang="en-GB" sz="1600" dirty="0">
              <a:ea typeface="Lucida Sans Unicode" pitchFamily="34" charset="0"/>
              <a:cs typeface="Lucida Sans Unicode" pitchFamily="34" charset="0"/>
            </a:endParaRPr>
          </a:p>
          <a:p>
            <a:r>
              <a:rPr lang="en-GB" sz="1600" dirty="0">
                <a:ea typeface="Lucida Sans Unicode" pitchFamily="34" charset="0"/>
                <a:cs typeface="Lucida Sans Unicode" pitchFamily="34" charset="0"/>
              </a:rPr>
              <a:t>indicates how much the frequency of the carrier will deviate in relation to the frequency of the modulating signal</a:t>
            </a:r>
          </a:p>
          <a:p>
            <a:endParaRPr lang="en-GB" sz="1600" dirty="0">
              <a:ea typeface="Lucida Sans Unicode" pitchFamily="34" charset="0"/>
              <a:cs typeface="Lucida Sans Unicode" pitchFamily="34" charset="0"/>
            </a:endParaRPr>
          </a:p>
          <a:p>
            <a:endParaRPr lang="en-GB" sz="1600" dirty="0">
              <a:ea typeface="Lucida Sans Unicode" pitchFamily="34" charset="0"/>
              <a:cs typeface="Lucida Sans Unicode" pitchFamily="34" charset="0"/>
            </a:endParaRPr>
          </a:p>
          <a:p>
            <a:r>
              <a:rPr lang="en-GB" sz="1600" dirty="0">
                <a:ea typeface="Lucida Sans Unicode" pitchFamily="34" charset="0"/>
                <a:cs typeface="Lucida Sans Unicode" pitchFamily="34" charset="0"/>
              </a:rPr>
              <a:t>i.e.</a:t>
            </a:r>
          </a:p>
          <a:p>
            <a:r>
              <a:rPr lang="en-GB" sz="1600" dirty="0">
                <a:ea typeface="Lucida Sans Unicode" pitchFamily="34" charset="0"/>
                <a:cs typeface="Lucida Sans Unicode" pitchFamily="34" charset="0"/>
              </a:rPr>
              <a:t> </a:t>
            </a:r>
          </a:p>
          <a:p>
            <a:endParaRPr lang="en-GB" sz="1600" dirty="0">
              <a:ea typeface="Lucida Sans Unicode" pitchFamily="34" charset="0"/>
              <a:cs typeface="Lucida Sans Unicode" pitchFamily="34" charset="0"/>
            </a:endParaRPr>
          </a:p>
          <a:p>
            <a:r>
              <a:rPr lang="el-GR" sz="1600" dirty="0"/>
              <a:t>β</a:t>
            </a:r>
            <a:r>
              <a:rPr lang="en-GB" sz="1600" dirty="0"/>
              <a:t> =           =  the change of frequency / frequency of the carrier</a:t>
            </a:r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r>
              <a:rPr lang="en-GB" sz="1600" dirty="0"/>
              <a:t>e.g.  </a:t>
            </a:r>
            <a:r>
              <a:rPr lang="el-GR" sz="1600" dirty="0"/>
              <a:t>β</a:t>
            </a:r>
            <a:r>
              <a:rPr lang="en-GB" sz="1600" dirty="0"/>
              <a:t>=5 means the frequency of the modulated carrier will deviate </a:t>
            </a:r>
          </a:p>
          <a:p>
            <a:r>
              <a:rPr lang="en-GB" sz="1600" dirty="0"/>
              <a:t>	by 5</a:t>
            </a:r>
            <a:r>
              <a:rPr lang="en-GB" sz="1200" dirty="0"/>
              <a:t>x</a:t>
            </a:r>
            <a:r>
              <a:rPr lang="en-GB" sz="1600" dirty="0"/>
              <a:t> the modulating signal</a:t>
            </a:r>
          </a:p>
          <a:p>
            <a:endParaRPr lang="en-GB" sz="1600" dirty="0"/>
          </a:p>
          <a:p>
            <a:endParaRPr lang="en-GB" sz="1600" dirty="0"/>
          </a:p>
          <a:p>
            <a:r>
              <a:rPr lang="en-GB" sz="1600" dirty="0"/>
              <a:t>e.g. if </a:t>
            </a:r>
            <a:r>
              <a:rPr lang="en-GB" sz="1600" dirty="0" err="1"/>
              <a:t>freq</a:t>
            </a:r>
            <a:r>
              <a:rPr lang="en-GB" sz="1600" dirty="0"/>
              <a:t> range of the signal is 20Hz to 15KHz  (i.e. typical FM spec)</a:t>
            </a:r>
          </a:p>
          <a:p>
            <a:r>
              <a:rPr lang="en-GB" sz="1600" dirty="0"/>
              <a:t>then the frequency of the carrier will deviate by 100Hz up to 75KHz </a:t>
            </a:r>
            <a:endParaRPr lang="el-GR" sz="1600" dirty="0">
              <a:ea typeface="Lucida Sans Unicode" pitchFamily="34" charset="0"/>
              <a:cs typeface="Lucida Sans Unicode" pitchFamily="34" charset="0"/>
            </a:endParaRPr>
          </a:p>
          <a:p>
            <a:endParaRPr lang="el-GR" sz="1600" dirty="0">
              <a:ea typeface="Lucida Sans Unicode" pitchFamily="34" charset="0"/>
              <a:cs typeface="Lucida Sans Unicode" pitchFamily="34" charset="0"/>
            </a:endParaRPr>
          </a:p>
        </p:txBody>
      </p:sp>
      <p:graphicFrame>
        <p:nvGraphicFramePr>
          <p:cNvPr id="3074" name="Object 6"/>
          <p:cNvGraphicFramePr>
            <a:graphicFrameLocks noChangeAspect="1"/>
          </p:cNvGraphicFramePr>
          <p:nvPr/>
        </p:nvGraphicFramePr>
        <p:xfrm>
          <a:off x="1025525" y="2897188"/>
          <a:ext cx="36195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200" imgH="431640" progId="Equation.3">
                  <p:embed/>
                </p:oleObj>
              </mc:Choice>
              <mc:Fallback>
                <p:oleObj name="Equation" r:id="rId2" imgW="241200" imgH="431640" progId="Equation.3">
                  <p:embed/>
                  <p:pic>
                    <p:nvPicPr>
                      <p:cNvPr id="307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5525" y="2897188"/>
                        <a:ext cx="361950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018014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81000" y="1468438"/>
            <a:ext cx="8148638" cy="1077912"/>
            <a:chOff x="240" y="3085"/>
            <a:chExt cx="5133" cy="679"/>
          </a:xfrm>
        </p:grpSpPr>
        <p:sp>
          <p:nvSpPr>
            <p:cNvPr id="16424" name="Freeform 6"/>
            <p:cNvSpPr>
              <a:spLocks/>
            </p:cNvSpPr>
            <p:nvPr/>
          </p:nvSpPr>
          <p:spPr bwMode="auto">
            <a:xfrm>
              <a:off x="1494" y="3088"/>
              <a:ext cx="120" cy="672"/>
            </a:xfrm>
            <a:custGeom>
              <a:avLst/>
              <a:gdLst>
                <a:gd name="T0" fmla="*/ 0 w 1536"/>
                <a:gd name="T1" fmla="*/ 13 h 1152"/>
                <a:gd name="T2" fmla="*/ 0 w 1536"/>
                <a:gd name="T3" fmla="*/ 0 h 1152"/>
                <a:gd name="T4" fmla="*/ 0 w 1536"/>
                <a:gd name="T5" fmla="*/ 13 h 1152"/>
                <a:gd name="T6" fmla="*/ 0 w 1536"/>
                <a:gd name="T7" fmla="*/ 26 h 1152"/>
                <a:gd name="T8" fmla="*/ 0 w 1536"/>
                <a:gd name="T9" fmla="*/ 13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6425" name="Freeform 7"/>
            <p:cNvSpPr>
              <a:spLocks/>
            </p:cNvSpPr>
            <p:nvPr/>
          </p:nvSpPr>
          <p:spPr bwMode="auto">
            <a:xfrm>
              <a:off x="1614" y="3087"/>
              <a:ext cx="225" cy="674"/>
            </a:xfrm>
            <a:custGeom>
              <a:avLst/>
              <a:gdLst>
                <a:gd name="T0" fmla="*/ 0 w 225"/>
                <a:gd name="T1" fmla="*/ 337 h 674"/>
                <a:gd name="T2" fmla="*/ 48 w 225"/>
                <a:gd name="T3" fmla="*/ 1 h 674"/>
                <a:gd name="T4" fmla="*/ 114 w 225"/>
                <a:gd name="T5" fmla="*/ 330 h 674"/>
                <a:gd name="T6" fmla="*/ 144 w 225"/>
                <a:gd name="T7" fmla="*/ 673 h 674"/>
                <a:gd name="T8" fmla="*/ 225 w 225"/>
                <a:gd name="T9" fmla="*/ 336 h 6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5"/>
                <a:gd name="T16" fmla="*/ 0 h 674"/>
                <a:gd name="T17" fmla="*/ 225 w 225"/>
                <a:gd name="T18" fmla="*/ 674 h 6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5" h="674">
                  <a:moveTo>
                    <a:pt x="0" y="337"/>
                  </a:moveTo>
                  <a:cubicBezTo>
                    <a:pt x="16" y="169"/>
                    <a:pt x="29" y="2"/>
                    <a:pt x="48" y="1"/>
                  </a:cubicBezTo>
                  <a:cubicBezTo>
                    <a:pt x="67" y="0"/>
                    <a:pt x="98" y="218"/>
                    <a:pt x="114" y="330"/>
                  </a:cubicBezTo>
                  <a:cubicBezTo>
                    <a:pt x="130" y="442"/>
                    <a:pt x="126" y="672"/>
                    <a:pt x="144" y="673"/>
                  </a:cubicBezTo>
                  <a:cubicBezTo>
                    <a:pt x="162" y="674"/>
                    <a:pt x="208" y="406"/>
                    <a:pt x="225" y="33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6426" name="Freeform 8"/>
            <p:cNvSpPr>
              <a:spLocks/>
            </p:cNvSpPr>
            <p:nvPr/>
          </p:nvSpPr>
          <p:spPr bwMode="auto">
            <a:xfrm>
              <a:off x="1839" y="3086"/>
              <a:ext cx="438" cy="667"/>
            </a:xfrm>
            <a:custGeom>
              <a:avLst/>
              <a:gdLst>
                <a:gd name="T0" fmla="*/ 0 w 438"/>
                <a:gd name="T1" fmla="*/ 331 h 667"/>
                <a:gd name="T2" fmla="*/ 87 w 438"/>
                <a:gd name="T3" fmla="*/ 2 h 667"/>
                <a:gd name="T4" fmla="*/ 216 w 438"/>
                <a:gd name="T5" fmla="*/ 343 h 667"/>
                <a:gd name="T6" fmla="*/ 330 w 438"/>
                <a:gd name="T7" fmla="*/ 667 h 667"/>
                <a:gd name="T8" fmla="*/ 438 w 438"/>
                <a:gd name="T9" fmla="*/ 343 h 6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8"/>
                <a:gd name="T16" fmla="*/ 0 h 667"/>
                <a:gd name="T17" fmla="*/ 438 w 438"/>
                <a:gd name="T18" fmla="*/ 667 h 6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8" h="667">
                  <a:moveTo>
                    <a:pt x="0" y="331"/>
                  </a:moveTo>
                  <a:cubicBezTo>
                    <a:pt x="14" y="276"/>
                    <a:pt x="51" y="0"/>
                    <a:pt x="87" y="2"/>
                  </a:cubicBezTo>
                  <a:cubicBezTo>
                    <a:pt x="123" y="4"/>
                    <a:pt x="176" y="232"/>
                    <a:pt x="216" y="343"/>
                  </a:cubicBezTo>
                  <a:cubicBezTo>
                    <a:pt x="256" y="454"/>
                    <a:pt x="293" y="667"/>
                    <a:pt x="330" y="667"/>
                  </a:cubicBezTo>
                  <a:cubicBezTo>
                    <a:pt x="367" y="667"/>
                    <a:pt x="415" y="410"/>
                    <a:pt x="438" y="343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6427" name="Freeform 9"/>
            <p:cNvSpPr>
              <a:spLocks/>
            </p:cNvSpPr>
            <p:nvPr/>
          </p:nvSpPr>
          <p:spPr bwMode="auto">
            <a:xfrm>
              <a:off x="2271" y="3098"/>
              <a:ext cx="426" cy="666"/>
            </a:xfrm>
            <a:custGeom>
              <a:avLst/>
              <a:gdLst>
                <a:gd name="T0" fmla="*/ 0 w 387"/>
                <a:gd name="T1" fmla="*/ 334 h 666"/>
                <a:gd name="T2" fmla="*/ 207 w 387"/>
                <a:gd name="T3" fmla="*/ 1 h 666"/>
                <a:gd name="T4" fmla="*/ 383 w 387"/>
                <a:gd name="T5" fmla="*/ 340 h 666"/>
                <a:gd name="T6" fmla="*/ 545 w 387"/>
                <a:gd name="T7" fmla="*/ 664 h 666"/>
                <a:gd name="T8" fmla="*/ 757 w 387"/>
                <a:gd name="T9" fmla="*/ 331 h 6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7"/>
                <a:gd name="T16" fmla="*/ 0 h 666"/>
                <a:gd name="T17" fmla="*/ 387 w 387"/>
                <a:gd name="T18" fmla="*/ 666 h 6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7" h="666">
                  <a:moveTo>
                    <a:pt x="0" y="334"/>
                  </a:moveTo>
                  <a:cubicBezTo>
                    <a:pt x="18" y="278"/>
                    <a:pt x="73" y="0"/>
                    <a:pt x="105" y="1"/>
                  </a:cubicBezTo>
                  <a:cubicBezTo>
                    <a:pt x="137" y="2"/>
                    <a:pt x="166" y="230"/>
                    <a:pt x="195" y="340"/>
                  </a:cubicBezTo>
                  <a:cubicBezTo>
                    <a:pt x="224" y="450"/>
                    <a:pt x="247" y="666"/>
                    <a:pt x="279" y="664"/>
                  </a:cubicBezTo>
                  <a:cubicBezTo>
                    <a:pt x="311" y="662"/>
                    <a:pt x="364" y="401"/>
                    <a:pt x="387" y="331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6428" name="Freeform 10"/>
            <p:cNvSpPr>
              <a:spLocks/>
            </p:cNvSpPr>
            <p:nvPr/>
          </p:nvSpPr>
          <p:spPr bwMode="auto">
            <a:xfrm>
              <a:off x="3123" y="3085"/>
              <a:ext cx="288" cy="672"/>
            </a:xfrm>
            <a:custGeom>
              <a:avLst/>
              <a:gdLst>
                <a:gd name="T0" fmla="*/ 0 w 1536"/>
                <a:gd name="T1" fmla="*/ 13 h 1152"/>
                <a:gd name="T2" fmla="*/ 0 w 1536"/>
                <a:gd name="T3" fmla="*/ 0 h 1152"/>
                <a:gd name="T4" fmla="*/ 0 w 1536"/>
                <a:gd name="T5" fmla="*/ 13 h 1152"/>
                <a:gd name="T6" fmla="*/ 0 w 1536"/>
                <a:gd name="T7" fmla="*/ 26 h 1152"/>
                <a:gd name="T8" fmla="*/ 0 w 1536"/>
                <a:gd name="T9" fmla="*/ 13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6429" name="Freeform 11"/>
            <p:cNvSpPr>
              <a:spLocks/>
            </p:cNvSpPr>
            <p:nvPr/>
          </p:nvSpPr>
          <p:spPr bwMode="auto">
            <a:xfrm>
              <a:off x="3414" y="3088"/>
              <a:ext cx="204" cy="672"/>
            </a:xfrm>
            <a:custGeom>
              <a:avLst/>
              <a:gdLst>
                <a:gd name="T0" fmla="*/ 0 w 1536"/>
                <a:gd name="T1" fmla="*/ 13 h 1152"/>
                <a:gd name="T2" fmla="*/ 0 w 1536"/>
                <a:gd name="T3" fmla="*/ 0 h 1152"/>
                <a:gd name="T4" fmla="*/ 0 w 1536"/>
                <a:gd name="T5" fmla="*/ 13 h 1152"/>
                <a:gd name="T6" fmla="*/ 0 w 1536"/>
                <a:gd name="T7" fmla="*/ 26 h 1152"/>
                <a:gd name="T8" fmla="*/ 0 w 1536"/>
                <a:gd name="T9" fmla="*/ 13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6430" name="Freeform 12"/>
            <p:cNvSpPr>
              <a:spLocks/>
            </p:cNvSpPr>
            <p:nvPr/>
          </p:nvSpPr>
          <p:spPr bwMode="auto">
            <a:xfrm>
              <a:off x="3615" y="3085"/>
              <a:ext cx="192" cy="672"/>
            </a:xfrm>
            <a:custGeom>
              <a:avLst/>
              <a:gdLst>
                <a:gd name="T0" fmla="*/ 0 w 1536"/>
                <a:gd name="T1" fmla="*/ 13 h 1152"/>
                <a:gd name="T2" fmla="*/ 0 w 1536"/>
                <a:gd name="T3" fmla="*/ 0 h 1152"/>
                <a:gd name="T4" fmla="*/ 0 w 1536"/>
                <a:gd name="T5" fmla="*/ 13 h 1152"/>
                <a:gd name="T6" fmla="*/ 0 w 1536"/>
                <a:gd name="T7" fmla="*/ 26 h 1152"/>
                <a:gd name="T8" fmla="*/ 0 w 1536"/>
                <a:gd name="T9" fmla="*/ 13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6431" name="Freeform 13"/>
            <p:cNvSpPr>
              <a:spLocks/>
            </p:cNvSpPr>
            <p:nvPr/>
          </p:nvSpPr>
          <p:spPr bwMode="auto">
            <a:xfrm>
              <a:off x="3807" y="3088"/>
              <a:ext cx="156" cy="672"/>
            </a:xfrm>
            <a:custGeom>
              <a:avLst/>
              <a:gdLst>
                <a:gd name="T0" fmla="*/ 0 w 1536"/>
                <a:gd name="T1" fmla="*/ 13 h 1152"/>
                <a:gd name="T2" fmla="*/ 0 w 1536"/>
                <a:gd name="T3" fmla="*/ 0 h 1152"/>
                <a:gd name="T4" fmla="*/ 0 w 1536"/>
                <a:gd name="T5" fmla="*/ 13 h 1152"/>
                <a:gd name="T6" fmla="*/ 0 w 1536"/>
                <a:gd name="T7" fmla="*/ 26 h 1152"/>
                <a:gd name="T8" fmla="*/ 0 w 1536"/>
                <a:gd name="T9" fmla="*/ 13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6432" name="Freeform 14"/>
            <p:cNvSpPr>
              <a:spLocks/>
            </p:cNvSpPr>
            <p:nvPr/>
          </p:nvSpPr>
          <p:spPr bwMode="auto">
            <a:xfrm>
              <a:off x="3963" y="3088"/>
              <a:ext cx="225" cy="673"/>
            </a:xfrm>
            <a:custGeom>
              <a:avLst/>
              <a:gdLst>
                <a:gd name="T0" fmla="*/ 0 w 225"/>
                <a:gd name="T1" fmla="*/ 336 h 673"/>
                <a:gd name="T2" fmla="*/ 41 w 225"/>
                <a:gd name="T3" fmla="*/ 0 h 673"/>
                <a:gd name="T4" fmla="*/ 83 w 225"/>
                <a:gd name="T5" fmla="*/ 336 h 673"/>
                <a:gd name="T6" fmla="*/ 124 w 225"/>
                <a:gd name="T7" fmla="*/ 672 h 673"/>
                <a:gd name="T8" fmla="*/ 225 w 225"/>
                <a:gd name="T9" fmla="*/ 341 h 6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5"/>
                <a:gd name="T16" fmla="*/ 0 h 673"/>
                <a:gd name="T17" fmla="*/ 225 w 225"/>
                <a:gd name="T18" fmla="*/ 673 h 67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5" h="673">
                  <a:moveTo>
                    <a:pt x="0" y="336"/>
                  </a:moveTo>
                  <a:cubicBezTo>
                    <a:pt x="14" y="168"/>
                    <a:pt x="28" y="0"/>
                    <a:pt x="41" y="0"/>
                  </a:cubicBezTo>
                  <a:cubicBezTo>
                    <a:pt x="55" y="0"/>
                    <a:pt x="69" y="224"/>
                    <a:pt x="83" y="336"/>
                  </a:cubicBezTo>
                  <a:cubicBezTo>
                    <a:pt x="96" y="448"/>
                    <a:pt x="100" y="671"/>
                    <a:pt x="124" y="672"/>
                  </a:cubicBezTo>
                  <a:cubicBezTo>
                    <a:pt x="148" y="673"/>
                    <a:pt x="204" y="410"/>
                    <a:pt x="225" y="341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6433" name="Freeform 15"/>
            <p:cNvSpPr>
              <a:spLocks/>
            </p:cNvSpPr>
            <p:nvPr/>
          </p:nvSpPr>
          <p:spPr bwMode="auto">
            <a:xfrm>
              <a:off x="4191" y="3087"/>
              <a:ext cx="216" cy="673"/>
            </a:xfrm>
            <a:custGeom>
              <a:avLst/>
              <a:gdLst>
                <a:gd name="T0" fmla="*/ 0 w 216"/>
                <a:gd name="T1" fmla="*/ 330 h 673"/>
                <a:gd name="T2" fmla="*/ 72 w 216"/>
                <a:gd name="T3" fmla="*/ 1 h 673"/>
                <a:gd name="T4" fmla="*/ 120 w 216"/>
                <a:gd name="T5" fmla="*/ 337 h 673"/>
                <a:gd name="T6" fmla="*/ 168 w 216"/>
                <a:gd name="T7" fmla="*/ 673 h 673"/>
                <a:gd name="T8" fmla="*/ 216 w 216"/>
                <a:gd name="T9" fmla="*/ 337 h 6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6"/>
                <a:gd name="T16" fmla="*/ 0 h 673"/>
                <a:gd name="T17" fmla="*/ 216 w 216"/>
                <a:gd name="T18" fmla="*/ 673 h 67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6" h="673">
                  <a:moveTo>
                    <a:pt x="0" y="330"/>
                  </a:moveTo>
                  <a:cubicBezTo>
                    <a:pt x="11" y="275"/>
                    <a:pt x="52" y="0"/>
                    <a:pt x="72" y="1"/>
                  </a:cubicBezTo>
                  <a:cubicBezTo>
                    <a:pt x="92" y="2"/>
                    <a:pt x="104" y="225"/>
                    <a:pt x="120" y="337"/>
                  </a:cubicBezTo>
                  <a:cubicBezTo>
                    <a:pt x="136" y="449"/>
                    <a:pt x="152" y="673"/>
                    <a:pt x="168" y="673"/>
                  </a:cubicBezTo>
                  <a:cubicBezTo>
                    <a:pt x="184" y="673"/>
                    <a:pt x="200" y="505"/>
                    <a:pt x="216" y="337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6434" name="Freeform 16"/>
            <p:cNvSpPr>
              <a:spLocks/>
            </p:cNvSpPr>
            <p:nvPr/>
          </p:nvSpPr>
          <p:spPr bwMode="auto">
            <a:xfrm>
              <a:off x="4407" y="3088"/>
              <a:ext cx="192" cy="672"/>
            </a:xfrm>
            <a:custGeom>
              <a:avLst/>
              <a:gdLst>
                <a:gd name="T0" fmla="*/ 0 w 1536"/>
                <a:gd name="T1" fmla="*/ 13 h 1152"/>
                <a:gd name="T2" fmla="*/ 0 w 1536"/>
                <a:gd name="T3" fmla="*/ 0 h 1152"/>
                <a:gd name="T4" fmla="*/ 0 w 1536"/>
                <a:gd name="T5" fmla="*/ 13 h 1152"/>
                <a:gd name="T6" fmla="*/ 0 w 1536"/>
                <a:gd name="T7" fmla="*/ 26 h 1152"/>
                <a:gd name="T8" fmla="*/ 0 w 1536"/>
                <a:gd name="T9" fmla="*/ 13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6435" name="Freeform 17"/>
            <p:cNvSpPr>
              <a:spLocks/>
            </p:cNvSpPr>
            <p:nvPr/>
          </p:nvSpPr>
          <p:spPr bwMode="auto">
            <a:xfrm>
              <a:off x="4599" y="3085"/>
              <a:ext cx="390" cy="672"/>
            </a:xfrm>
            <a:custGeom>
              <a:avLst/>
              <a:gdLst>
                <a:gd name="T0" fmla="*/ 0 w 1536"/>
                <a:gd name="T1" fmla="*/ 13 h 1152"/>
                <a:gd name="T2" fmla="*/ 0 w 1536"/>
                <a:gd name="T3" fmla="*/ 0 h 1152"/>
                <a:gd name="T4" fmla="*/ 0 w 1536"/>
                <a:gd name="T5" fmla="*/ 13 h 1152"/>
                <a:gd name="T6" fmla="*/ 0 w 1536"/>
                <a:gd name="T7" fmla="*/ 26 h 1152"/>
                <a:gd name="T8" fmla="*/ 0 w 1536"/>
                <a:gd name="T9" fmla="*/ 13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6436" name="Freeform 18"/>
            <p:cNvSpPr>
              <a:spLocks/>
            </p:cNvSpPr>
            <p:nvPr/>
          </p:nvSpPr>
          <p:spPr bwMode="auto">
            <a:xfrm>
              <a:off x="4989" y="3087"/>
              <a:ext cx="384" cy="389"/>
            </a:xfrm>
            <a:custGeom>
              <a:avLst/>
              <a:gdLst>
                <a:gd name="T0" fmla="*/ 0 w 384"/>
                <a:gd name="T1" fmla="*/ 337 h 389"/>
                <a:gd name="T2" fmla="*/ 133 w 384"/>
                <a:gd name="T3" fmla="*/ 1 h 389"/>
                <a:gd name="T4" fmla="*/ 348 w 384"/>
                <a:gd name="T5" fmla="*/ 333 h 389"/>
                <a:gd name="T6" fmla="*/ 351 w 384"/>
                <a:gd name="T7" fmla="*/ 339 h 389"/>
                <a:gd name="T8" fmla="*/ 354 w 384"/>
                <a:gd name="T9" fmla="*/ 351 h 3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4"/>
                <a:gd name="T16" fmla="*/ 0 h 389"/>
                <a:gd name="T17" fmla="*/ 384 w 384"/>
                <a:gd name="T18" fmla="*/ 389 h 3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4" h="389">
                  <a:moveTo>
                    <a:pt x="0" y="337"/>
                  </a:moveTo>
                  <a:cubicBezTo>
                    <a:pt x="44" y="169"/>
                    <a:pt x="75" y="2"/>
                    <a:pt x="133" y="1"/>
                  </a:cubicBezTo>
                  <a:cubicBezTo>
                    <a:pt x="191" y="0"/>
                    <a:pt x="312" y="277"/>
                    <a:pt x="348" y="333"/>
                  </a:cubicBezTo>
                  <a:cubicBezTo>
                    <a:pt x="384" y="389"/>
                    <a:pt x="350" y="336"/>
                    <a:pt x="351" y="339"/>
                  </a:cubicBezTo>
                  <a:cubicBezTo>
                    <a:pt x="352" y="342"/>
                    <a:pt x="354" y="349"/>
                    <a:pt x="354" y="351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6437" name="Freeform 19"/>
            <p:cNvSpPr>
              <a:spLocks/>
            </p:cNvSpPr>
            <p:nvPr/>
          </p:nvSpPr>
          <p:spPr bwMode="auto">
            <a:xfrm>
              <a:off x="2694" y="3092"/>
              <a:ext cx="426" cy="666"/>
            </a:xfrm>
            <a:custGeom>
              <a:avLst/>
              <a:gdLst>
                <a:gd name="T0" fmla="*/ 0 w 387"/>
                <a:gd name="T1" fmla="*/ 334 h 666"/>
                <a:gd name="T2" fmla="*/ 207 w 387"/>
                <a:gd name="T3" fmla="*/ 1 h 666"/>
                <a:gd name="T4" fmla="*/ 383 w 387"/>
                <a:gd name="T5" fmla="*/ 340 h 666"/>
                <a:gd name="T6" fmla="*/ 545 w 387"/>
                <a:gd name="T7" fmla="*/ 664 h 666"/>
                <a:gd name="T8" fmla="*/ 757 w 387"/>
                <a:gd name="T9" fmla="*/ 331 h 6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7"/>
                <a:gd name="T16" fmla="*/ 0 h 666"/>
                <a:gd name="T17" fmla="*/ 387 w 387"/>
                <a:gd name="T18" fmla="*/ 666 h 6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7" h="666">
                  <a:moveTo>
                    <a:pt x="0" y="334"/>
                  </a:moveTo>
                  <a:cubicBezTo>
                    <a:pt x="18" y="278"/>
                    <a:pt x="73" y="0"/>
                    <a:pt x="105" y="1"/>
                  </a:cubicBezTo>
                  <a:cubicBezTo>
                    <a:pt x="137" y="2"/>
                    <a:pt x="166" y="230"/>
                    <a:pt x="195" y="340"/>
                  </a:cubicBezTo>
                  <a:cubicBezTo>
                    <a:pt x="224" y="450"/>
                    <a:pt x="247" y="666"/>
                    <a:pt x="279" y="664"/>
                  </a:cubicBezTo>
                  <a:cubicBezTo>
                    <a:pt x="311" y="662"/>
                    <a:pt x="364" y="401"/>
                    <a:pt x="387" y="331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6438" name="Text Box 20"/>
            <p:cNvSpPr txBox="1">
              <a:spLocks noChangeArrowheads="1"/>
            </p:cNvSpPr>
            <p:nvPr/>
          </p:nvSpPr>
          <p:spPr bwMode="auto">
            <a:xfrm>
              <a:off x="240" y="3240"/>
              <a:ext cx="1096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r>
                <a:rPr lang="en-GB" sz="1600" dirty="0"/>
                <a:t>Transmitted FM signal</a:t>
              </a:r>
              <a:endParaRPr lang="en-GB" sz="2000" dirty="0"/>
            </a:p>
          </p:txBody>
        </p:sp>
      </p:grpSp>
      <p:sp>
        <p:nvSpPr>
          <p:cNvPr id="16387" name="AutoShape 21"/>
          <p:cNvSpPr>
            <a:spLocks noChangeArrowheads="1"/>
          </p:cNvSpPr>
          <p:nvPr/>
        </p:nvSpPr>
        <p:spPr bwMode="auto">
          <a:xfrm>
            <a:off x="2922588" y="1762125"/>
            <a:ext cx="344487" cy="438150"/>
          </a:xfrm>
          <a:prstGeom prst="irregularSeal1">
            <a:avLst/>
          </a:prstGeom>
          <a:solidFill>
            <a:srgbClr val="FFFF00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6388" name="AutoShape 22"/>
          <p:cNvSpPr>
            <a:spLocks noChangeArrowheads="1"/>
          </p:cNvSpPr>
          <p:nvPr/>
        </p:nvSpPr>
        <p:spPr bwMode="auto">
          <a:xfrm>
            <a:off x="4217988" y="1685925"/>
            <a:ext cx="344487" cy="438150"/>
          </a:xfrm>
          <a:prstGeom prst="irregularSeal1">
            <a:avLst/>
          </a:prstGeom>
          <a:solidFill>
            <a:srgbClr val="FFFF00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6389" name="AutoShape 23"/>
          <p:cNvSpPr>
            <a:spLocks noChangeArrowheads="1"/>
          </p:cNvSpPr>
          <p:nvPr/>
        </p:nvSpPr>
        <p:spPr bwMode="auto">
          <a:xfrm>
            <a:off x="5275263" y="1800225"/>
            <a:ext cx="344487" cy="438150"/>
          </a:xfrm>
          <a:prstGeom prst="irregularSeal1">
            <a:avLst/>
          </a:prstGeom>
          <a:solidFill>
            <a:srgbClr val="FFFF00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6390" name="AutoShape 24"/>
          <p:cNvSpPr>
            <a:spLocks noChangeArrowheads="1"/>
          </p:cNvSpPr>
          <p:nvPr/>
        </p:nvSpPr>
        <p:spPr bwMode="auto">
          <a:xfrm>
            <a:off x="6494463" y="1819275"/>
            <a:ext cx="344487" cy="438150"/>
          </a:xfrm>
          <a:prstGeom prst="irregularSeal1">
            <a:avLst/>
          </a:prstGeom>
          <a:solidFill>
            <a:srgbClr val="FFFF00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6391" name="Freeform 25"/>
          <p:cNvSpPr>
            <a:spLocks/>
          </p:cNvSpPr>
          <p:nvPr/>
        </p:nvSpPr>
        <p:spPr bwMode="auto">
          <a:xfrm>
            <a:off x="2371725" y="2835275"/>
            <a:ext cx="190500" cy="1066800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400"/>
          </a:p>
        </p:txBody>
      </p:sp>
      <p:sp>
        <p:nvSpPr>
          <p:cNvPr id="16392" name="Freeform 26"/>
          <p:cNvSpPr>
            <a:spLocks/>
          </p:cNvSpPr>
          <p:nvPr/>
        </p:nvSpPr>
        <p:spPr bwMode="auto">
          <a:xfrm>
            <a:off x="2562225" y="2833688"/>
            <a:ext cx="357188" cy="1069975"/>
          </a:xfrm>
          <a:custGeom>
            <a:avLst/>
            <a:gdLst>
              <a:gd name="T0" fmla="*/ 0 w 225"/>
              <a:gd name="T1" fmla="*/ 2147483647 h 674"/>
              <a:gd name="T2" fmla="*/ 2147483647 w 225"/>
              <a:gd name="T3" fmla="*/ 2147483647 h 674"/>
              <a:gd name="T4" fmla="*/ 2147483647 w 225"/>
              <a:gd name="T5" fmla="*/ 2147483647 h 674"/>
              <a:gd name="T6" fmla="*/ 2147483647 w 225"/>
              <a:gd name="T7" fmla="*/ 2147483647 h 674"/>
              <a:gd name="T8" fmla="*/ 2147483647 w 225"/>
              <a:gd name="T9" fmla="*/ 2147483647 h 67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5"/>
              <a:gd name="T16" fmla="*/ 0 h 674"/>
              <a:gd name="T17" fmla="*/ 225 w 225"/>
              <a:gd name="T18" fmla="*/ 674 h 67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5" h="674">
                <a:moveTo>
                  <a:pt x="0" y="337"/>
                </a:moveTo>
                <a:cubicBezTo>
                  <a:pt x="16" y="169"/>
                  <a:pt x="29" y="2"/>
                  <a:pt x="48" y="1"/>
                </a:cubicBezTo>
                <a:cubicBezTo>
                  <a:pt x="67" y="0"/>
                  <a:pt x="98" y="218"/>
                  <a:pt x="114" y="330"/>
                </a:cubicBezTo>
                <a:cubicBezTo>
                  <a:pt x="130" y="442"/>
                  <a:pt x="126" y="672"/>
                  <a:pt x="144" y="673"/>
                </a:cubicBezTo>
                <a:cubicBezTo>
                  <a:pt x="162" y="674"/>
                  <a:pt x="208" y="406"/>
                  <a:pt x="225" y="336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400"/>
          </a:p>
        </p:txBody>
      </p:sp>
      <p:sp>
        <p:nvSpPr>
          <p:cNvPr id="16393" name="Freeform 27"/>
          <p:cNvSpPr>
            <a:spLocks/>
          </p:cNvSpPr>
          <p:nvPr/>
        </p:nvSpPr>
        <p:spPr bwMode="auto">
          <a:xfrm>
            <a:off x="2947988" y="3790950"/>
            <a:ext cx="695325" cy="1490663"/>
          </a:xfrm>
          <a:custGeom>
            <a:avLst/>
            <a:gdLst>
              <a:gd name="T0" fmla="*/ 0 w 438"/>
              <a:gd name="T1" fmla="*/ 2147483647 h 939"/>
              <a:gd name="T2" fmla="*/ 2147483647 w 438"/>
              <a:gd name="T3" fmla="*/ 2147483647 h 939"/>
              <a:gd name="T4" fmla="*/ 2147483647 w 438"/>
              <a:gd name="T5" fmla="*/ 2147483647 h 939"/>
              <a:gd name="T6" fmla="*/ 2147483647 w 438"/>
              <a:gd name="T7" fmla="*/ 2147483647 h 939"/>
              <a:gd name="T8" fmla="*/ 2147483647 w 438"/>
              <a:gd name="T9" fmla="*/ 2147483647 h 939"/>
              <a:gd name="T10" fmla="*/ 2147483647 w 438"/>
              <a:gd name="T11" fmla="*/ 2147483647 h 939"/>
              <a:gd name="T12" fmla="*/ 2147483647 w 438"/>
              <a:gd name="T13" fmla="*/ 2147483647 h 9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38"/>
              <a:gd name="T22" fmla="*/ 0 h 939"/>
              <a:gd name="T23" fmla="*/ 438 w 438"/>
              <a:gd name="T24" fmla="*/ 939 h 9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38" h="939">
                <a:moveTo>
                  <a:pt x="0" y="603"/>
                </a:moveTo>
                <a:cubicBezTo>
                  <a:pt x="11" y="516"/>
                  <a:pt x="52" y="142"/>
                  <a:pt x="69" y="78"/>
                </a:cubicBezTo>
                <a:cubicBezTo>
                  <a:pt x="86" y="14"/>
                  <a:pt x="93" y="218"/>
                  <a:pt x="105" y="216"/>
                </a:cubicBezTo>
                <a:cubicBezTo>
                  <a:pt x="117" y="214"/>
                  <a:pt x="123" y="0"/>
                  <a:pt x="141" y="66"/>
                </a:cubicBezTo>
                <a:cubicBezTo>
                  <a:pt x="159" y="132"/>
                  <a:pt x="185" y="470"/>
                  <a:pt x="216" y="615"/>
                </a:cubicBezTo>
                <a:cubicBezTo>
                  <a:pt x="247" y="760"/>
                  <a:pt x="293" y="939"/>
                  <a:pt x="330" y="939"/>
                </a:cubicBezTo>
                <a:cubicBezTo>
                  <a:pt x="367" y="939"/>
                  <a:pt x="415" y="682"/>
                  <a:pt x="438" y="615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400"/>
          </a:p>
        </p:txBody>
      </p:sp>
      <p:sp>
        <p:nvSpPr>
          <p:cNvPr id="16394" name="Freeform 28"/>
          <p:cNvSpPr>
            <a:spLocks/>
          </p:cNvSpPr>
          <p:nvPr/>
        </p:nvSpPr>
        <p:spPr bwMode="auto">
          <a:xfrm>
            <a:off x="3605213" y="2851150"/>
            <a:ext cx="684212" cy="811213"/>
          </a:xfrm>
          <a:custGeom>
            <a:avLst/>
            <a:gdLst>
              <a:gd name="T0" fmla="*/ 0 w 431"/>
              <a:gd name="T1" fmla="*/ 2147483647 h 511"/>
              <a:gd name="T2" fmla="*/ 2147483647 w 431"/>
              <a:gd name="T3" fmla="*/ 2147483647 h 511"/>
              <a:gd name="T4" fmla="*/ 2147483647 w 431"/>
              <a:gd name="T5" fmla="*/ 2147483647 h 511"/>
              <a:gd name="T6" fmla="*/ 2147483647 w 431"/>
              <a:gd name="T7" fmla="*/ 2147483647 h 511"/>
              <a:gd name="T8" fmla="*/ 2147483647 w 431"/>
              <a:gd name="T9" fmla="*/ 2147483647 h 511"/>
              <a:gd name="T10" fmla="*/ 2147483647 w 431"/>
              <a:gd name="T11" fmla="*/ 2147483647 h 51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31"/>
              <a:gd name="T19" fmla="*/ 0 h 511"/>
              <a:gd name="T20" fmla="*/ 431 w 431"/>
              <a:gd name="T21" fmla="*/ 511 h 51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31" h="511">
                <a:moveTo>
                  <a:pt x="0" y="334"/>
                </a:moveTo>
                <a:cubicBezTo>
                  <a:pt x="20" y="278"/>
                  <a:pt x="80" y="0"/>
                  <a:pt x="116" y="1"/>
                </a:cubicBezTo>
                <a:cubicBezTo>
                  <a:pt x="151" y="2"/>
                  <a:pt x="177" y="256"/>
                  <a:pt x="215" y="340"/>
                </a:cubicBezTo>
                <a:cubicBezTo>
                  <a:pt x="253" y="424"/>
                  <a:pt x="311" y="505"/>
                  <a:pt x="345" y="508"/>
                </a:cubicBezTo>
                <a:cubicBezTo>
                  <a:pt x="379" y="511"/>
                  <a:pt x="403" y="388"/>
                  <a:pt x="417" y="358"/>
                </a:cubicBezTo>
                <a:cubicBezTo>
                  <a:pt x="431" y="328"/>
                  <a:pt x="424" y="337"/>
                  <a:pt x="426" y="331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400"/>
          </a:p>
        </p:txBody>
      </p:sp>
      <p:sp>
        <p:nvSpPr>
          <p:cNvPr id="16395" name="Freeform 29"/>
          <p:cNvSpPr>
            <a:spLocks/>
          </p:cNvSpPr>
          <p:nvPr/>
        </p:nvSpPr>
        <p:spPr bwMode="auto">
          <a:xfrm>
            <a:off x="4957763" y="2830513"/>
            <a:ext cx="457200" cy="1066800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400"/>
          </a:p>
        </p:txBody>
      </p:sp>
      <p:sp>
        <p:nvSpPr>
          <p:cNvPr id="16396" name="Freeform 30"/>
          <p:cNvSpPr>
            <a:spLocks/>
          </p:cNvSpPr>
          <p:nvPr/>
        </p:nvSpPr>
        <p:spPr bwMode="auto">
          <a:xfrm>
            <a:off x="5419725" y="2825750"/>
            <a:ext cx="323850" cy="1076325"/>
          </a:xfrm>
          <a:custGeom>
            <a:avLst/>
            <a:gdLst>
              <a:gd name="T0" fmla="*/ 0 w 204"/>
              <a:gd name="T1" fmla="*/ 2147483647 h 678"/>
              <a:gd name="T2" fmla="*/ 2147483647 w 204"/>
              <a:gd name="T3" fmla="*/ 2147483647 h 678"/>
              <a:gd name="T4" fmla="*/ 2147483647 w 204"/>
              <a:gd name="T5" fmla="*/ 2147483647 h 678"/>
              <a:gd name="T6" fmla="*/ 2147483647 w 204"/>
              <a:gd name="T7" fmla="*/ 2147483647 h 678"/>
              <a:gd name="T8" fmla="*/ 2147483647 w 204"/>
              <a:gd name="T9" fmla="*/ 2147483647 h 678"/>
              <a:gd name="T10" fmla="*/ 2147483647 w 204"/>
              <a:gd name="T11" fmla="*/ 2147483647 h 678"/>
              <a:gd name="T12" fmla="*/ 2147483647 w 204"/>
              <a:gd name="T13" fmla="*/ 2147483647 h 678"/>
              <a:gd name="T14" fmla="*/ 2147483647 w 204"/>
              <a:gd name="T15" fmla="*/ 2147483647 h 678"/>
              <a:gd name="T16" fmla="*/ 2147483647 w 204"/>
              <a:gd name="T17" fmla="*/ 2147483647 h 67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04"/>
              <a:gd name="T28" fmla="*/ 0 h 678"/>
              <a:gd name="T29" fmla="*/ 204 w 204"/>
              <a:gd name="T30" fmla="*/ 678 h 67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04" h="678">
                <a:moveTo>
                  <a:pt x="0" y="342"/>
                </a:moveTo>
                <a:cubicBezTo>
                  <a:pt x="3" y="313"/>
                  <a:pt x="14" y="217"/>
                  <a:pt x="18" y="170"/>
                </a:cubicBezTo>
                <a:cubicBezTo>
                  <a:pt x="22" y="123"/>
                  <a:pt x="18" y="74"/>
                  <a:pt x="24" y="62"/>
                </a:cubicBezTo>
                <a:cubicBezTo>
                  <a:pt x="30" y="50"/>
                  <a:pt x="45" y="105"/>
                  <a:pt x="54" y="98"/>
                </a:cubicBezTo>
                <a:cubicBezTo>
                  <a:pt x="63" y="91"/>
                  <a:pt x="71" y="0"/>
                  <a:pt x="78" y="20"/>
                </a:cubicBezTo>
                <a:cubicBezTo>
                  <a:pt x="85" y="40"/>
                  <a:pt x="92" y="164"/>
                  <a:pt x="96" y="218"/>
                </a:cubicBezTo>
                <a:cubicBezTo>
                  <a:pt x="100" y="272"/>
                  <a:pt x="93" y="265"/>
                  <a:pt x="102" y="342"/>
                </a:cubicBezTo>
                <a:cubicBezTo>
                  <a:pt x="111" y="419"/>
                  <a:pt x="136" y="678"/>
                  <a:pt x="153" y="678"/>
                </a:cubicBezTo>
                <a:cubicBezTo>
                  <a:pt x="170" y="678"/>
                  <a:pt x="187" y="510"/>
                  <a:pt x="204" y="342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400"/>
          </a:p>
        </p:txBody>
      </p:sp>
      <p:sp>
        <p:nvSpPr>
          <p:cNvPr id="16397" name="Freeform 31"/>
          <p:cNvSpPr>
            <a:spLocks/>
          </p:cNvSpPr>
          <p:nvPr/>
        </p:nvSpPr>
        <p:spPr bwMode="auto">
          <a:xfrm>
            <a:off x="5738813" y="2830513"/>
            <a:ext cx="304800" cy="1066800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400"/>
          </a:p>
        </p:txBody>
      </p:sp>
      <p:sp>
        <p:nvSpPr>
          <p:cNvPr id="16398" name="Freeform 32"/>
          <p:cNvSpPr>
            <a:spLocks/>
          </p:cNvSpPr>
          <p:nvPr/>
        </p:nvSpPr>
        <p:spPr bwMode="auto">
          <a:xfrm>
            <a:off x="6043613" y="2835275"/>
            <a:ext cx="247650" cy="1066800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400"/>
          </a:p>
        </p:txBody>
      </p:sp>
      <p:sp>
        <p:nvSpPr>
          <p:cNvPr id="16399" name="Freeform 33"/>
          <p:cNvSpPr>
            <a:spLocks/>
          </p:cNvSpPr>
          <p:nvPr/>
        </p:nvSpPr>
        <p:spPr bwMode="auto">
          <a:xfrm>
            <a:off x="6291263" y="2835275"/>
            <a:ext cx="357187" cy="1068388"/>
          </a:xfrm>
          <a:custGeom>
            <a:avLst/>
            <a:gdLst>
              <a:gd name="T0" fmla="*/ 0 w 225"/>
              <a:gd name="T1" fmla="*/ 2147483647 h 673"/>
              <a:gd name="T2" fmla="*/ 2147483647 w 225"/>
              <a:gd name="T3" fmla="*/ 0 h 673"/>
              <a:gd name="T4" fmla="*/ 2147483647 w 225"/>
              <a:gd name="T5" fmla="*/ 2147483647 h 673"/>
              <a:gd name="T6" fmla="*/ 2147483647 w 225"/>
              <a:gd name="T7" fmla="*/ 2147483647 h 673"/>
              <a:gd name="T8" fmla="*/ 2147483647 w 225"/>
              <a:gd name="T9" fmla="*/ 2147483647 h 6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5"/>
              <a:gd name="T16" fmla="*/ 0 h 673"/>
              <a:gd name="T17" fmla="*/ 225 w 225"/>
              <a:gd name="T18" fmla="*/ 673 h 6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5" h="673">
                <a:moveTo>
                  <a:pt x="0" y="336"/>
                </a:moveTo>
                <a:cubicBezTo>
                  <a:pt x="14" y="168"/>
                  <a:pt x="28" y="0"/>
                  <a:pt x="41" y="0"/>
                </a:cubicBezTo>
                <a:cubicBezTo>
                  <a:pt x="55" y="0"/>
                  <a:pt x="69" y="224"/>
                  <a:pt x="83" y="336"/>
                </a:cubicBezTo>
                <a:cubicBezTo>
                  <a:pt x="96" y="448"/>
                  <a:pt x="100" y="671"/>
                  <a:pt x="124" y="672"/>
                </a:cubicBezTo>
                <a:cubicBezTo>
                  <a:pt x="148" y="673"/>
                  <a:pt x="204" y="410"/>
                  <a:pt x="225" y="341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400"/>
          </a:p>
        </p:txBody>
      </p:sp>
      <p:sp>
        <p:nvSpPr>
          <p:cNvPr id="16400" name="Freeform 34"/>
          <p:cNvSpPr>
            <a:spLocks/>
          </p:cNvSpPr>
          <p:nvPr/>
        </p:nvSpPr>
        <p:spPr bwMode="auto">
          <a:xfrm>
            <a:off x="6653213" y="2611438"/>
            <a:ext cx="342900" cy="1290637"/>
          </a:xfrm>
          <a:custGeom>
            <a:avLst/>
            <a:gdLst>
              <a:gd name="T0" fmla="*/ 0 w 216"/>
              <a:gd name="T1" fmla="*/ 2147483647 h 813"/>
              <a:gd name="T2" fmla="*/ 2147483647 w 216"/>
              <a:gd name="T3" fmla="*/ 2147483647 h 813"/>
              <a:gd name="T4" fmla="*/ 2147483647 w 216"/>
              <a:gd name="T5" fmla="*/ 2147483647 h 813"/>
              <a:gd name="T6" fmla="*/ 2147483647 w 216"/>
              <a:gd name="T7" fmla="*/ 2147483647 h 813"/>
              <a:gd name="T8" fmla="*/ 2147483647 w 216"/>
              <a:gd name="T9" fmla="*/ 2147483647 h 813"/>
              <a:gd name="T10" fmla="*/ 2147483647 w 216"/>
              <a:gd name="T11" fmla="*/ 2147483647 h 813"/>
              <a:gd name="T12" fmla="*/ 2147483647 w 216"/>
              <a:gd name="T13" fmla="*/ 2147483647 h 813"/>
              <a:gd name="T14" fmla="*/ 2147483647 w 216"/>
              <a:gd name="T15" fmla="*/ 2147483647 h 81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16"/>
              <a:gd name="T25" fmla="*/ 0 h 813"/>
              <a:gd name="T26" fmla="*/ 216 w 216"/>
              <a:gd name="T27" fmla="*/ 813 h 81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" h="813">
                <a:moveTo>
                  <a:pt x="0" y="470"/>
                </a:moveTo>
                <a:cubicBezTo>
                  <a:pt x="1" y="401"/>
                  <a:pt x="7" y="106"/>
                  <a:pt x="9" y="53"/>
                </a:cubicBezTo>
                <a:cubicBezTo>
                  <a:pt x="11" y="0"/>
                  <a:pt x="9" y="111"/>
                  <a:pt x="15" y="149"/>
                </a:cubicBezTo>
                <a:cubicBezTo>
                  <a:pt x="21" y="187"/>
                  <a:pt x="34" y="295"/>
                  <a:pt x="45" y="281"/>
                </a:cubicBezTo>
                <a:cubicBezTo>
                  <a:pt x="56" y="267"/>
                  <a:pt x="69" y="32"/>
                  <a:pt x="81" y="65"/>
                </a:cubicBezTo>
                <a:cubicBezTo>
                  <a:pt x="93" y="98"/>
                  <a:pt x="106" y="352"/>
                  <a:pt x="120" y="477"/>
                </a:cubicBezTo>
                <a:cubicBezTo>
                  <a:pt x="134" y="602"/>
                  <a:pt x="152" y="813"/>
                  <a:pt x="168" y="813"/>
                </a:cubicBezTo>
                <a:cubicBezTo>
                  <a:pt x="184" y="813"/>
                  <a:pt x="200" y="645"/>
                  <a:pt x="216" y="477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400"/>
          </a:p>
        </p:txBody>
      </p:sp>
      <p:sp>
        <p:nvSpPr>
          <p:cNvPr id="16401" name="Freeform 35"/>
          <p:cNvSpPr>
            <a:spLocks/>
          </p:cNvSpPr>
          <p:nvPr/>
        </p:nvSpPr>
        <p:spPr bwMode="auto">
          <a:xfrm>
            <a:off x="6996113" y="2835275"/>
            <a:ext cx="304800" cy="1066800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400"/>
          </a:p>
        </p:txBody>
      </p:sp>
      <p:sp>
        <p:nvSpPr>
          <p:cNvPr id="16402" name="Freeform 36"/>
          <p:cNvSpPr>
            <a:spLocks/>
          </p:cNvSpPr>
          <p:nvPr/>
        </p:nvSpPr>
        <p:spPr bwMode="auto">
          <a:xfrm>
            <a:off x="7300913" y="2830513"/>
            <a:ext cx="619125" cy="1066800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400"/>
          </a:p>
        </p:txBody>
      </p:sp>
      <p:sp>
        <p:nvSpPr>
          <p:cNvPr id="16403" name="Freeform 37"/>
          <p:cNvSpPr>
            <a:spLocks/>
          </p:cNvSpPr>
          <p:nvPr/>
        </p:nvSpPr>
        <p:spPr bwMode="auto">
          <a:xfrm>
            <a:off x="7920038" y="2833688"/>
            <a:ext cx="609600" cy="617537"/>
          </a:xfrm>
          <a:custGeom>
            <a:avLst/>
            <a:gdLst>
              <a:gd name="T0" fmla="*/ 0 w 384"/>
              <a:gd name="T1" fmla="*/ 2147483647 h 389"/>
              <a:gd name="T2" fmla="*/ 2147483647 w 384"/>
              <a:gd name="T3" fmla="*/ 2147483647 h 389"/>
              <a:gd name="T4" fmla="*/ 2147483647 w 384"/>
              <a:gd name="T5" fmla="*/ 2147483647 h 389"/>
              <a:gd name="T6" fmla="*/ 2147483647 w 384"/>
              <a:gd name="T7" fmla="*/ 2147483647 h 389"/>
              <a:gd name="T8" fmla="*/ 2147483647 w 384"/>
              <a:gd name="T9" fmla="*/ 2147483647 h 38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84"/>
              <a:gd name="T16" fmla="*/ 0 h 389"/>
              <a:gd name="T17" fmla="*/ 384 w 384"/>
              <a:gd name="T18" fmla="*/ 389 h 38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84" h="389">
                <a:moveTo>
                  <a:pt x="0" y="337"/>
                </a:moveTo>
                <a:cubicBezTo>
                  <a:pt x="44" y="169"/>
                  <a:pt x="75" y="2"/>
                  <a:pt x="133" y="1"/>
                </a:cubicBezTo>
                <a:cubicBezTo>
                  <a:pt x="191" y="0"/>
                  <a:pt x="312" y="277"/>
                  <a:pt x="348" y="333"/>
                </a:cubicBezTo>
                <a:cubicBezTo>
                  <a:pt x="384" y="389"/>
                  <a:pt x="350" y="336"/>
                  <a:pt x="351" y="339"/>
                </a:cubicBezTo>
                <a:cubicBezTo>
                  <a:pt x="352" y="342"/>
                  <a:pt x="354" y="349"/>
                  <a:pt x="354" y="351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6404" name="Freeform 38"/>
          <p:cNvSpPr>
            <a:spLocks/>
          </p:cNvSpPr>
          <p:nvPr/>
        </p:nvSpPr>
        <p:spPr bwMode="auto">
          <a:xfrm>
            <a:off x="4276725" y="2614613"/>
            <a:ext cx="676275" cy="1284287"/>
          </a:xfrm>
          <a:custGeom>
            <a:avLst/>
            <a:gdLst>
              <a:gd name="T0" fmla="*/ 0 w 426"/>
              <a:gd name="T1" fmla="*/ 2147483647 h 809"/>
              <a:gd name="T2" fmla="*/ 2147483647 w 426"/>
              <a:gd name="T3" fmla="*/ 2147483647 h 809"/>
              <a:gd name="T4" fmla="*/ 2147483647 w 426"/>
              <a:gd name="T5" fmla="*/ 2147483647 h 809"/>
              <a:gd name="T6" fmla="*/ 2147483647 w 426"/>
              <a:gd name="T7" fmla="*/ 2147483647 h 809"/>
              <a:gd name="T8" fmla="*/ 2147483647 w 426"/>
              <a:gd name="T9" fmla="*/ 2147483647 h 809"/>
              <a:gd name="T10" fmla="*/ 2147483647 w 426"/>
              <a:gd name="T11" fmla="*/ 2147483647 h 809"/>
              <a:gd name="T12" fmla="*/ 2147483647 w 426"/>
              <a:gd name="T13" fmla="*/ 2147483647 h 809"/>
              <a:gd name="T14" fmla="*/ 2147483647 w 426"/>
              <a:gd name="T15" fmla="*/ 2147483647 h 80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26"/>
              <a:gd name="T25" fmla="*/ 0 h 809"/>
              <a:gd name="T26" fmla="*/ 426 w 426"/>
              <a:gd name="T27" fmla="*/ 809 h 80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26" h="809">
                <a:moveTo>
                  <a:pt x="0" y="477"/>
                </a:moveTo>
                <a:cubicBezTo>
                  <a:pt x="6" y="406"/>
                  <a:pt x="25" y="102"/>
                  <a:pt x="36" y="51"/>
                </a:cubicBezTo>
                <a:cubicBezTo>
                  <a:pt x="47" y="0"/>
                  <a:pt x="57" y="151"/>
                  <a:pt x="66" y="171"/>
                </a:cubicBezTo>
                <a:cubicBezTo>
                  <a:pt x="75" y="191"/>
                  <a:pt x="76" y="178"/>
                  <a:pt x="90" y="171"/>
                </a:cubicBezTo>
                <a:cubicBezTo>
                  <a:pt x="104" y="164"/>
                  <a:pt x="129" y="77"/>
                  <a:pt x="150" y="129"/>
                </a:cubicBezTo>
                <a:cubicBezTo>
                  <a:pt x="171" y="181"/>
                  <a:pt x="189" y="370"/>
                  <a:pt x="215" y="483"/>
                </a:cubicBezTo>
                <a:cubicBezTo>
                  <a:pt x="241" y="596"/>
                  <a:pt x="272" y="809"/>
                  <a:pt x="307" y="807"/>
                </a:cubicBezTo>
                <a:cubicBezTo>
                  <a:pt x="342" y="805"/>
                  <a:pt x="401" y="544"/>
                  <a:pt x="426" y="474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400"/>
          </a:p>
        </p:txBody>
      </p:sp>
      <p:sp>
        <p:nvSpPr>
          <p:cNvPr id="16405" name="Text Box 39"/>
          <p:cNvSpPr txBox="1">
            <a:spLocks noChangeArrowheads="1"/>
          </p:cNvSpPr>
          <p:nvPr/>
        </p:nvSpPr>
        <p:spPr bwMode="auto">
          <a:xfrm>
            <a:off x="381000" y="3108652"/>
            <a:ext cx="14795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GB" sz="1400"/>
              <a:t>Noise-hit FM signal</a:t>
            </a:r>
            <a:endParaRPr lang="en-GB"/>
          </a:p>
        </p:txBody>
      </p:sp>
      <p:sp>
        <p:nvSpPr>
          <p:cNvPr id="16406" name="Text Box 40"/>
          <p:cNvSpPr txBox="1">
            <a:spLocks noChangeArrowheads="1"/>
          </p:cNvSpPr>
          <p:nvPr/>
        </p:nvSpPr>
        <p:spPr bwMode="auto">
          <a:xfrm>
            <a:off x="381000" y="5263117"/>
            <a:ext cx="7813675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GB" sz="1400" dirty="0"/>
              <a:t>... however - frequency of signal is still intact:</a:t>
            </a:r>
          </a:p>
          <a:p>
            <a:r>
              <a:rPr lang="en-GB" sz="1400" dirty="0"/>
              <a:t>Since we are only interested in the frequency of the carrier, the original audio signal can still be recovered</a:t>
            </a:r>
            <a:endParaRPr lang="en-GB" dirty="0"/>
          </a:p>
        </p:txBody>
      </p:sp>
      <p:sp>
        <p:nvSpPr>
          <p:cNvPr id="16407" name="Rectangle 41"/>
          <p:cNvSpPr>
            <a:spLocks noChangeArrowheads="1"/>
          </p:cNvSpPr>
          <p:nvPr/>
        </p:nvSpPr>
        <p:spPr bwMode="auto">
          <a:xfrm>
            <a:off x="381000" y="4269343"/>
            <a:ext cx="17399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GB" sz="1400"/>
              <a:t>Amplitude of signal is corrupted...</a:t>
            </a:r>
          </a:p>
        </p:txBody>
      </p:sp>
      <p:sp>
        <p:nvSpPr>
          <p:cNvPr id="16408" name="Freeform 42"/>
          <p:cNvSpPr>
            <a:spLocks/>
          </p:cNvSpPr>
          <p:nvPr/>
        </p:nvSpPr>
        <p:spPr bwMode="auto">
          <a:xfrm>
            <a:off x="2390775" y="4225925"/>
            <a:ext cx="190500" cy="1066800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400"/>
          </a:p>
        </p:txBody>
      </p:sp>
      <p:sp>
        <p:nvSpPr>
          <p:cNvPr id="16409" name="Freeform 43"/>
          <p:cNvSpPr>
            <a:spLocks/>
          </p:cNvSpPr>
          <p:nvPr/>
        </p:nvSpPr>
        <p:spPr bwMode="auto">
          <a:xfrm>
            <a:off x="2581275" y="4224338"/>
            <a:ext cx="357188" cy="1069975"/>
          </a:xfrm>
          <a:custGeom>
            <a:avLst/>
            <a:gdLst>
              <a:gd name="T0" fmla="*/ 0 w 225"/>
              <a:gd name="T1" fmla="*/ 2147483647 h 674"/>
              <a:gd name="T2" fmla="*/ 2147483647 w 225"/>
              <a:gd name="T3" fmla="*/ 2147483647 h 674"/>
              <a:gd name="T4" fmla="*/ 2147483647 w 225"/>
              <a:gd name="T5" fmla="*/ 2147483647 h 674"/>
              <a:gd name="T6" fmla="*/ 2147483647 w 225"/>
              <a:gd name="T7" fmla="*/ 2147483647 h 674"/>
              <a:gd name="T8" fmla="*/ 2147483647 w 225"/>
              <a:gd name="T9" fmla="*/ 2147483647 h 67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5"/>
              <a:gd name="T16" fmla="*/ 0 h 674"/>
              <a:gd name="T17" fmla="*/ 225 w 225"/>
              <a:gd name="T18" fmla="*/ 674 h 67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5" h="674">
                <a:moveTo>
                  <a:pt x="0" y="337"/>
                </a:moveTo>
                <a:cubicBezTo>
                  <a:pt x="16" y="169"/>
                  <a:pt x="29" y="2"/>
                  <a:pt x="48" y="1"/>
                </a:cubicBezTo>
                <a:cubicBezTo>
                  <a:pt x="67" y="0"/>
                  <a:pt x="98" y="218"/>
                  <a:pt x="114" y="330"/>
                </a:cubicBezTo>
                <a:cubicBezTo>
                  <a:pt x="130" y="442"/>
                  <a:pt x="126" y="672"/>
                  <a:pt x="144" y="673"/>
                </a:cubicBezTo>
                <a:cubicBezTo>
                  <a:pt x="162" y="674"/>
                  <a:pt x="208" y="406"/>
                  <a:pt x="225" y="336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400"/>
          </a:p>
        </p:txBody>
      </p:sp>
      <p:sp>
        <p:nvSpPr>
          <p:cNvPr id="16410" name="Freeform 44"/>
          <p:cNvSpPr>
            <a:spLocks/>
          </p:cNvSpPr>
          <p:nvPr/>
        </p:nvSpPr>
        <p:spPr bwMode="auto">
          <a:xfrm>
            <a:off x="3624263" y="4241800"/>
            <a:ext cx="684212" cy="811213"/>
          </a:xfrm>
          <a:custGeom>
            <a:avLst/>
            <a:gdLst>
              <a:gd name="T0" fmla="*/ 0 w 431"/>
              <a:gd name="T1" fmla="*/ 2147483647 h 511"/>
              <a:gd name="T2" fmla="*/ 2147483647 w 431"/>
              <a:gd name="T3" fmla="*/ 2147483647 h 511"/>
              <a:gd name="T4" fmla="*/ 2147483647 w 431"/>
              <a:gd name="T5" fmla="*/ 2147483647 h 511"/>
              <a:gd name="T6" fmla="*/ 2147483647 w 431"/>
              <a:gd name="T7" fmla="*/ 2147483647 h 511"/>
              <a:gd name="T8" fmla="*/ 2147483647 w 431"/>
              <a:gd name="T9" fmla="*/ 2147483647 h 511"/>
              <a:gd name="T10" fmla="*/ 2147483647 w 431"/>
              <a:gd name="T11" fmla="*/ 2147483647 h 51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31"/>
              <a:gd name="T19" fmla="*/ 0 h 511"/>
              <a:gd name="T20" fmla="*/ 431 w 431"/>
              <a:gd name="T21" fmla="*/ 511 h 51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31" h="511">
                <a:moveTo>
                  <a:pt x="0" y="334"/>
                </a:moveTo>
                <a:cubicBezTo>
                  <a:pt x="20" y="278"/>
                  <a:pt x="80" y="0"/>
                  <a:pt x="116" y="1"/>
                </a:cubicBezTo>
                <a:cubicBezTo>
                  <a:pt x="151" y="2"/>
                  <a:pt x="177" y="256"/>
                  <a:pt x="215" y="340"/>
                </a:cubicBezTo>
                <a:cubicBezTo>
                  <a:pt x="253" y="424"/>
                  <a:pt x="311" y="505"/>
                  <a:pt x="345" y="508"/>
                </a:cubicBezTo>
                <a:cubicBezTo>
                  <a:pt x="379" y="511"/>
                  <a:pt x="403" y="388"/>
                  <a:pt x="417" y="358"/>
                </a:cubicBezTo>
                <a:cubicBezTo>
                  <a:pt x="431" y="328"/>
                  <a:pt x="424" y="337"/>
                  <a:pt x="426" y="331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400"/>
          </a:p>
        </p:txBody>
      </p:sp>
      <p:sp>
        <p:nvSpPr>
          <p:cNvPr id="16411" name="Freeform 45"/>
          <p:cNvSpPr>
            <a:spLocks/>
          </p:cNvSpPr>
          <p:nvPr/>
        </p:nvSpPr>
        <p:spPr bwMode="auto">
          <a:xfrm>
            <a:off x="4976813" y="4221163"/>
            <a:ext cx="457200" cy="1066800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400"/>
          </a:p>
        </p:txBody>
      </p:sp>
      <p:sp>
        <p:nvSpPr>
          <p:cNvPr id="16412" name="Freeform 46"/>
          <p:cNvSpPr>
            <a:spLocks/>
          </p:cNvSpPr>
          <p:nvPr/>
        </p:nvSpPr>
        <p:spPr bwMode="auto">
          <a:xfrm>
            <a:off x="5438775" y="4187825"/>
            <a:ext cx="323850" cy="1104900"/>
          </a:xfrm>
          <a:custGeom>
            <a:avLst/>
            <a:gdLst>
              <a:gd name="T0" fmla="*/ 0 w 204"/>
              <a:gd name="T1" fmla="*/ 2147483647 h 696"/>
              <a:gd name="T2" fmla="*/ 2147483647 w 204"/>
              <a:gd name="T3" fmla="*/ 2147483647 h 696"/>
              <a:gd name="T4" fmla="*/ 2147483647 w 204"/>
              <a:gd name="T5" fmla="*/ 2147483647 h 696"/>
              <a:gd name="T6" fmla="*/ 2147483647 w 204"/>
              <a:gd name="T7" fmla="*/ 2147483647 h 696"/>
              <a:gd name="T8" fmla="*/ 2147483647 w 204"/>
              <a:gd name="T9" fmla="*/ 2147483647 h 696"/>
              <a:gd name="T10" fmla="*/ 2147483647 w 204"/>
              <a:gd name="T11" fmla="*/ 2147483647 h 696"/>
              <a:gd name="T12" fmla="*/ 2147483647 w 204"/>
              <a:gd name="T13" fmla="*/ 2147483647 h 6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4"/>
              <a:gd name="T22" fmla="*/ 0 h 696"/>
              <a:gd name="T23" fmla="*/ 204 w 204"/>
              <a:gd name="T24" fmla="*/ 696 h 6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4" h="696">
                <a:moveTo>
                  <a:pt x="0" y="360"/>
                </a:moveTo>
                <a:cubicBezTo>
                  <a:pt x="3" y="305"/>
                  <a:pt x="10" y="64"/>
                  <a:pt x="18" y="32"/>
                </a:cubicBezTo>
                <a:cubicBezTo>
                  <a:pt x="26" y="0"/>
                  <a:pt x="38" y="169"/>
                  <a:pt x="48" y="170"/>
                </a:cubicBezTo>
                <a:cubicBezTo>
                  <a:pt x="58" y="171"/>
                  <a:pt x="69" y="7"/>
                  <a:pt x="78" y="38"/>
                </a:cubicBezTo>
                <a:cubicBezTo>
                  <a:pt x="87" y="69"/>
                  <a:pt x="90" y="250"/>
                  <a:pt x="102" y="360"/>
                </a:cubicBezTo>
                <a:cubicBezTo>
                  <a:pt x="114" y="470"/>
                  <a:pt x="136" y="696"/>
                  <a:pt x="153" y="696"/>
                </a:cubicBezTo>
                <a:cubicBezTo>
                  <a:pt x="170" y="696"/>
                  <a:pt x="187" y="528"/>
                  <a:pt x="204" y="36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400"/>
          </a:p>
        </p:txBody>
      </p:sp>
      <p:sp>
        <p:nvSpPr>
          <p:cNvPr id="16413" name="Freeform 47"/>
          <p:cNvSpPr>
            <a:spLocks/>
          </p:cNvSpPr>
          <p:nvPr/>
        </p:nvSpPr>
        <p:spPr bwMode="auto">
          <a:xfrm>
            <a:off x="5757863" y="4221163"/>
            <a:ext cx="304800" cy="1066800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400"/>
          </a:p>
        </p:txBody>
      </p:sp>
      <p:sp>
        <p:nvSpPr>
          <p:cNvPr id="16414" name="Freeform 48"/>
          <p:cNvSpPr>
            <a:spLocks/>
          </p:cNvSpPr>
          <p:nvPr/>
        </p:nvSpPr>
        <p:spPr bwMode="auto">
          <a:xfrm>
            <a:off x="6062663" y="4225925"/>
            <a:ext cx="247650" cy="1066800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400"/>
          </a:p>
        </p:txBody>
      </p:sp>
      <p:sp>
        <p:nvSpPr>
          <p:cNvPr id="16415" name="Freeform 49"/>
          <p:cNvSpPr>
            <a:spLocks/>
          </p:cNvSpPr>
          <p:nvPr/>
        </p:nvSpPr>
        <p:spPr bwMode="auto">
          <a:xfrm>
            <a:off x="6310313" y="4225925"/>
            <a:ext cx="357187" cy="1068388"/>
          </a:xfrm>
          <a:custGeom>
            <a:avLst/>
            <a:gdLst>
              <a:gd name="T0" fmla="*/ 0 w 225"/>
              <a:gd name="T1" fmla="*/ 2147483647 h 673"/>
              <a:gd name="T2" fmla="*/ 2147483647 w 225"/>
              <a:gd name="T3" fmla="*/ 0 h 673"/>
              <a:gd name="T4" fmla="*/ 2147483647 w 225"/>
              <a:gd name="T5" fmla="*/ 2147483647 h 673"/>
              <a:gd name="T6" fmla="*/ 2147483647 w 225"/>
              <a:gd name="T7" fmla="*/ 2147483647 h 673"/>
              <a:gd name="T8" fmla="*/ 2147483647 w 225"/>
              <a:gd name="T9" fmla="*/ 2147483647 h 6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5"/>
              <a:gd name="T16" fmla="*/ 0 h 673"/>
              <a:gd name="T17" fmla="*/ 225 w 225"/>
              <a:gd name="T18" fmla="*/ 673 h 6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5" h="673">
                <a:moveTo>
                  <a:pt x="0" y="336"/>
                </a:moveTo>
                <a:cubicBezTo>
                  <a:pt x="14" y="168"/>
                  <a:pt x="28" y="0"/>
                  <a:pt x="41" y="0"/>
                </a:cubicBezTo>
                <a:cubicBezTo>
                  <a:pt x="55" y="0"/>
                  <a:pt x="69" y="224"/>
                  <a:pt x="83" y="336"/>
                </a:cubicBezTo>
                <a:cubicBezTo>
                  <a:pt x="96" y="448"/>
                  <a:pt x="100" y="671"/>
                  <a:pt x="124" y="672"/>
                </a:cubicBezTo>
                <a:cubicBezTo>
                  <a:pt x="148" y="673"/>
                  <a:pt x="204" y="410"/>
                  <a:pt x="225" y="341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400"/>
          </a:p>
        </p:txBody>
      </p:sp>
      <p:sp>
        <p:nvSpPr>
          <p:cNvPr id="16416" name="Freeform 50"/>
          <p:cNvSpPr>
            <a:spLocks/>
          </p:cNvSpPr>
          <p:nvPr/>
        </p:nvSpPr>
        <p:spPr bwMode="auto">
          <a:xfrm>
            <a:off x="6634163" y="3856038"/>
            <a:ext cx="381000" cy="1436687"/>
          </a:xfrm>
          <a:custGeom>
            <a:avLst/>
            <a:gdLst>
              <a:gd name="T0" fmla="*/ 2147483647 w 240"/>
              <a:gd name="T1" fmla="*/ 2147483647 h 905"/>
              <a:gd name="T2" fmla="*/ 2147483647 w 240"/>
              <a:gd name="T3" fmla="*/ 2147483647 h 905"/>
              <a:gd name="T4" fmla="*/ 2147483647 w 240"/>
              <a:gd name="T5" fmla="*/ 2147483647 h 905"/>
              <a:gd name="T6" fmla="*/ 2147483647 w 240"/>
              <a:gd name="T7" fmla="*/ 2147483647 h 905"/>
              <a:gd name="T8" fmla="*/ 2147483647 w 240"/>
              <a:gd name="T9" fmla="*/ 2147483647 h 905"/>
              <a:gd name="T10" fmla="*/ 2147483647 w 240"/>
              <a:gd name="T11" fmla="*/ 2147483647 h 905"/>
              <a:gd name="T12" fmla="*/ 2147483647 w 240"/>
              <a:gd name="T13" fmla="*/ 2147483647 h 905"/>
              <a:gd name="T14" fmla="*/ 2147483647 w 240"/>
              <a:gd name="T15" fmla="*/ 2147483647 h 90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40"/>
              <a:gd name="T25" fmla="*/ 0 h 905"/>
              <a:gd name="T26" fmla="*/ 240 w 240"/>
              <a:gd name="T27" fmla="*/ 905 h 905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40" h="905">
                <a:moveTo>
                  <a:pt x="24" y="562"/>
                </a:moveTo>
                <a:cubicBezTo>
                  <a:pt x="21" y="482"/>
                  <a:pt x="0" y="142"/>
                  <a:pt x="6" y="80"/>
                </a:cubicBezTo>
                <a:cubicBezTo>
                  <a:pt x="12" y="18"/>
                  <a:pt x="48" y="188"/>
                  <a:pt x="60" y="189"/>
                </a:cubicBezTo>
                <a:cubicBezTo>
                  <a:pt x="72" y="190"/>
                  <a:pt x="67" y="106"/>
                  <a:pt x="76" y="88"/>
                </a:cubicBezTo>
                <a:cubicBezTo>
                  <a:pt x="85" y="70"/>
                  <a:pt x="104" y="0"/>
                  <a:pt x="115" y="80"/>
                </a:cubicBezTo>
                <a:cubicBezTo>
                  <a:pt x="126" y="160"/>
                  <a:pt x="131" y="432"/>
                  <a:pt x="144" y="569"/>
                </a:cubicBezTo>
                <a:cubicBezTo>
                  <a:pt x="157" y="706"/>
                  <a:pt x="176" y="905"/>
                  <a:pt x="192" y="905"/>
                </a:cubicBezTo>
                <a:cubicBezTo>
                  <a:pt x="208" y="905"/>
                  <a:pt x="224" y="737"/>
                  <a:pt x="240" y="569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400"/>
          </a:p>
        </p:txBody>
      </p:sp>
      <p:sp>
        <p:nvSpPr>
          <p:cNvPr id="16417" name="Freeform 51"/>
          <p:cNvSpPr>
            <a:spLocks/>
          </p:cNvSpPr>
          <p:nvPr/>
        </p:nvSpPr>
        <p:spPr bwMode="auto">
          <a:xfrm>
            <a:off x="7015163" y="4225925"/>
            <a:ext cx="304800" cy="1066800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400"/>
          </a:p>
        </p:txBody>
      </p:sp>
      <p:sp>
        <p:nvSpPr>
          <p:cNvPr id="16418" name="Freeform 52"/>
          <p:cNvSpPr>
            <a:spLocks/>
          </p:cNvSpPr>
          <p:nvPr/>
        </p:nvSpPr>
        <p:spPr bwMode="auto">
          <a:xfrm>
            <a:off x="7319963" y="4221163"/>
            <a:ext cx="619125" cy="1066800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400"/>
          </a:p>
        </p:txBody>
      </p:sp>
      <p:sp>
        <p:nvSpPr>
          <p:cNvPr id="16419" name="Freeform 53"/>
          <p:cNvSpPr>
            <a:spLocks/>
          </p:cNvSpPr>
          <p:nvPr/>
        </p:nvSpPr>
        <p:spPr bwMode="auto">
          <a:xfrm>
            <a:off x="7939088" y="4224338"/>
            <a:ext cx="609600" cy="617537"/>
          </a:xfrm>
          <a:custGeom>
            <a:avLst/>
            <a:gdLst>
              <a:gd name="T0" fmla="*/ 0 w 384"/>
              <a:gd name="T1" fmla="*/ 2147483647 h 389"/>
              <a:gd name="T2" fmla="*/ 2147483647 w 384"/>
              <a:gd name="T3" fmla="*/ 2147483647 h 389"/>
              <a:gd name="T4" fmla="*/ 2147483647 w 384"/>
              <a:gd name="T5" fmla="*/ 2147483647 h 389"/>
              <a:gd name="T6" fmla="*/ 2147483647 w 384"/>
              <a:gd name="T7" fmla="*/ 2147483647 h 389"/>
              <a:gd name="T8" fmla="*/ 2147483647 w 384"/>
              <a:gd name="T9" fmla="*/ 2147483647 h 38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84"/>
              <a:gd name="T16" fmla="*/ 0 h 389"/>
              <a:gd name="T17" fmla="*/ 384 w 384"/>
              <a:gd name="T18" fmla="*/ 389 h 38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84" h="389">
                <a:moveTo>
                  <a:pt x="0" y="337"/>
                </a:moveTo>
                <a:cubicBezTo>
                  <a:pt x="44" y="169"/>
                  <a:pt x="75" y="2"/>
                  <a:pt x="133" y="1"/>
                </a:cubicBezTo>
                <a:cubicBezTo>
                  <a:pt x="191" y="0"/>
                  <a:pt x="312" y="277"/>
                  <a:pt x="348" y="333"/>
                </a:cubicBezTo>
                <a:cubicBezTo>
                  <a:pt x="384" y="389"/>
                  <a:pt x="350" y="336"/>
                  <a:pt x="351" y="339"/>
                </a:cubicBezTo>
                <a:cubicBezTo>
                  <a:pt x="352" y="342"/>
                  <a:pt x="354" y="349"/>
                  <a:pt x="354" y="351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6420" name="Freeform 54"/>
          <p:cNvSpPr>
            <a:spLocks/>
          </p:cNvSpPr>
          <p:nvPr/>
        </p:nvSpPr>
        <p:spPr bwMode="auto">
          <a:xfrm>
            <a:off x="4295775" y="4005263"/>
            <a:ext cx="676275" cy="1284287"/>
          </a:xfrm>
          <a:custGeom>
            <a:avLst/>
            <a:gdLst>
              <a:gd name="T0" fmla="*/ 0 w 426"/>
              <a:gd name="T1" fmla="*/ 2147483647 h 809"/>
              <a:gd name="T2" fmla="*/ 2147483647 w 426"/>
              <a:gd name="T3" fmla="*/ 2147483647 h 809"/>
              <a:gd name="T4" fmla="*/ 2147483647 w 426"/>
              <a:gd name="T5" fmla="*/ 2147483647 h 809"/>
              <a:gd name="T6" fmla="*/ 2147483647 w 426"/>
              <a:gd name="T7" fmla="*/ 2147483647 h 809"/>
              <a:gd name="T8" fmla="*/ 2147483647 w 426"/>
              <a:gd name="T9" fmla="*/ 2147483647 h 809"/>
              <a:gd name="T10" fmla="*/ 2147483647 w 426"/>
              <a:gd name="T11" fmla="*/ 2147483647 h 809"/>
              <a:gd name="T12" fmla="*/ 2147483647 w 426"/>
              <a:gd name="T13" fmla="*/ 2147483647 h 809"/>
              <a:gd name="T14" fmla="*/ 2147483647 w 426"/>
              <a:gd name="T15" fmla="*/ 2147483647 h 80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26"/>
              <a:gd name="T25" fmla="*/ 0 h 809"/>
              <a:gd name="T26" fmla="*/ 426 w 426"/>
              <a:gd name="T27" fmla="*/ 809 h 809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26" h="809">
                <a:moveTo>
                  <a:pt x="0" y="477"/>
                </a:moveTo>
                <a:cubicBezTo>
                  <a:pt x="6" y="406"/>
                  <a:pt x="25" y="102"/>
                  <a:pt x="36" y="51"/>
                </a:cubicBezTo>
                <a:cubicBezTo>
                  <a:pt x="47" y="0"/>
                  <a:pt x="57" y="151"/>
                  <a:pt x="66" y="171"/>
                </a:cubicBezTo>
                <a:cubicBezTo>
                  <a:pt x="75" y="191"/>
                  <a:pt x="76" y="178"/>
                  <a:pt x="90" y="171"/>
                </a:cubicBezTo>
                <a:cubicBezTo>
                  <a:pt x="104" y="164"/>
                  <a:pt x="129" y="77"/>
                  <a:pt x="150" y="129"/>
                </a:cubicBezTo>
                <a:cubicBezTo>
                  <a:pt x="171" y="181"/>
                  <a:pt x="189" y="370"/>
                  <a:pt x="215" y="483"/>
                </a:cubicBezTo>
                <a:cubicBezTo>
                  <a:pt x="241" y="596"/>
                  <a:pt x="272" y="809"/>
                  <a:pt x="307" y="807"/>
                </a:cubicBezTo>
                <a:cubicBezTo>
                  <a:pt x="342" y="805"/>
                  <a:pt x="401" y="544"/>
                  <a:pt x="426" y="474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400"/>
          </a:p>
        </p:txBody>
      </p:sp>
      <p:sp>
        <p:nvSpPr>
          <p:cNvPr id="16421" name="Freeform 55"/>
          <p:cNvSpPr>
            <a:spLocks/>
          </p:cNvSpPr>
          <p:nvPr/>
        </p:nvSpPr>
        <p:spPr bwMode="auto">
          <a:xfrm>
            <a:off x="2909888" y="2419350"/>
            <a:ext cx="695325" cy="1490663"/>
          </a:xfrm>
          <a:custGeom>
            <a:avLst/>
            <a:gdLst>
              <a:gd name="T0" fmla="*/ 0 w 438"/>
              <a:gd name="T1" fmla="*/ 2147483647 h 939"/>
              <a:gd name="T2" fmla="*/ 2147483647 w 438"/>
              <a:gd name="T3" fmla="*/ 2147483647 h 939"/>
              <a:gd name="T4" fmla="*/ 2147483647 w 438"/>
              <a:gd name="T5" fmla="*/ 2147483647 h 939"/>
              <a:gd name="T6" fmla="*/ 2147483647 w 438"/>
              <a:gd name="T7" fmla="*/ 2147483647 h 939"/>
              <a:gd name="T8" fmla="*/ 2147483647 w 438"/>
              <a:gd name="T9" fmla="*/ 2147483647 h 939"/>
              <a:gd name="T10" fmla="*/ 2147483647 w 438"/>
              <a:gd name="T11" fmla="*/ 2147483647 h 939"/>
              <a:gd name="T12" fmla="*/ 2147483647 w 438"/>
              <a:gd name="T13" fmla="*/ 2147483647 h 9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38"/>
              <a:gd name="T22" fmla="*/ 0 h 939"/>
              <a:gd name="T23" fmla="*/ 438 w 438"/>
              <a:gd name="T24" fmla="*/ 939 h 9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38" h="939">
                <a:moveTo>
                  <a:pt x="0" y="603"/>
                </a:moveTo>
                <a:cubicBezTo>
                  <a:pt x="11" y="516"/>
                  <a:pt x="52" y="142"/>
                  <a:pt x="69" y="78"/>
                </a:cubicBezTo>
                <a:cubicBezTo>
                  <a:pt x="86" y="14"/>
                  <a:pt x="93" y="218"/>
                  <a:pt x="105" y="216"/>
                </a:cubicBezTo>
                <a:cubicBezTo>
                  <a:pt x="117" y="214"/>
                  <a:pt x="123" y="0"/>
                  <a:pt x="141" y="66"/>
                </a:cubicBezTo>
                <a:cubicBezTo>
                  <a:pt x="159" y="132"/>
                  <a:pt x="185" y="470"/>
                  <a:pt x="216" y="615"/>
                </a:cubicBezTo>
                <a:cubicBezTo>
                  <a:pt x="247" y="760"/>
                  <a:pt x="293" y="939"/>
                  <a:pt x="330" y="939"/>
                </a:cubicBezTo>
                <a:cubicBezTo>
                  <a:pt x="367" y="939"/>
                  <a:pt x="415" y="682"/>
                  <a:pt x="438" y="615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400"/>
          </a:p>
        </p:txBody>
      </p:sp>
      <p:sp>
        <p:nvSpPr>
          <p:cNvPr id="16422" name="Text Box 56"/>
          <p:cNvSpPr txBox="1">
            <a:spLocks noChangeArrowheads="1"/>
          </p:cNvSpPr>
          <p:nvPr/>
        </p:nvSpPr>
        <p:spPr bwMode="auto">
          <a:xfrm>
            <a:off x="381000" y="381000"/>
            <a:ext cx="6511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2400" b="1"/>
              <a:t>Frequency Modulation - Immunity to noise</a:t>
            </a:r>
          </a:p>
        </p:txBody>
      </p:sp>
      <p:sp>
        <p:nvSpPr>
          <p:cNvPr id="16423" name="Freeform 57"/>
          <p:cNvSpPr>
            <a:spLocks/>
          </p:cNvSpPr>
          <p:nvPr/>
        </p:nvSpPr>
        <p:spPr bwMode="auto">
          <a:xfrm flipH="1">
            <a:off x="2393950" y="4227513"/>
            <a:ext cx="6038850" cy="650875"/>
          </a:xfrm>
          <a:custGeom>
            <a:avLst/>
            <a:gdLst>
              <a:gd name="T0" fmla="*/ 0 w 1536"/>
              <a:gd name="T1" fmla="*/ 2147483647 h 1152"/>
              <a:gd name="T2" fmla="*/ 2147483647 w 1536"/>
              <a:gd name="T3" fmla="*/ 0 h 1152"/>
              <a:gd name="T4" fmla="*/ 2147483647 w 1536"/>
              <a:gd name="T5" fmla="*/ 2147483647 h 1152"/>
              <a:gd name="T6" fmla="*/ 2147483647 w 1536"/>
              <a:gd name="T7" fmla="*/ 2147483647 h 1152"/>
              <a:gd name="T8" fmla="*/ 2147483647 w 1536"/>
              <a:gd name="T9" fmla="*/ 2147483647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6"/>
              <a:gd name="T16" fmla="*/ 0 h 1152"/>
              <a:gd name="T17" fmla="*/ 1536 w 153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6" h="1152">
                <a:moveTo>
                  <a:pt x="0" y="576"/>
                </a:moveTo>
                <a:cubicBezTo>
                  <a:pt x="128" y="288"/>
                  <a:pt x="256" y="0"/>
                  <a:pt x="384" y="0"/>
                </a:cubicBezTo>
                <a:cubicBezTo>
                  <a:pt x="512" y="0"/>
                  <a:pt x="640" y="384"/>
                  <a:pt x="768" y="576"/>
                </a:cubicBezTo>
                <a:cubicBezTo>
                  <a:pt x="896" y="768"/>
                  <a:pt x="1024" y="1152"/>
                  <a:pt x="1152" y="1152"/>
                </a:cubicBezTo>
                <a:cubicBezTo>
                  <a:pt x="1280" y="1152"/>
                  <a:pt x="1408" y="864"/>
                  <a:pt x="1536" y="576"/>
                </a:cubicBezTo>
              </a:path>
            </a:pathLst>
          </a:cu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4899467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5763" y="1988840"/>
            <a:ext cx="690389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>
                <a:latin typeface="Lucida Sans Unicode" pitchFamily="34" charset="0"/>
              </a:rPr>
              <a:t>Spectrum of an Analogue PAL TV Transmission</a:t>
            </a:r>
            <a:endParaRPr lang="en-GB" sz="5400" b="1" dirty="0">
              <a:latin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3300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ChangeArrowheads="1"/>
          </p:cNvSpPr>
          <p:nvPr/>
        </p:nvSpPr>
        <p:spPr bwMode="auto">
          <a:xfrm>
            <a:off x="3724275" y="1127125"/>
            <a:ext cx="4572000" cy="477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0975" indent="-180975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GB" altLang="en-US"/>
              <a:t>SSB produced by filtering one of the sidebands, usually the lower (LSB) </a:t>
            </a:r>
          </a:p>
          <a:p>
            <a:pPr>
              <a:buFont typeface="Arial" panose="020B0604020202020204" pitchFamily="34" charset="0"/>
              <a:buChar char="•"/>
            </a:pPr>
            <a:endParaRPr lang="en-GB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GB" altLang="en-US"/>
              <a:t>Carrier is also often reduced or removed entirely (suppressed)</a:t>
            </a:r>
          </a:p>
          <a:p>
            <a:r>
              <a:rPr lang="en-GB" altLang="en-US"/>
              <a:t>	= single sideband suppressed carrier (SSBSC)</a:t>
            </a:r>
          </a:p>
          <a:p>
            <a:endParaRPr lang="en-GB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GB" altLang="en-US"/>
              <a:t>No information is lost in the process</a:t>
            </a:r>
          </a:p>
          <a:p>
            <a:pPr>
              <a:buFont typeface="Arial" panose="020B0604020202020204" pitchFamily="34" charset="0"/>
              <a:buChar char="•"/>
            </a:pPr>
            <a:endParaRPr lang="en-GB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GB" altLang="en-US"/>
              <a:t>Radio frequency transmission is now concentrated in a single sideband</a:t>
            </a:r>
          </a:p>
          <a:p>
            <a:r>
              <a:rPr lang="en-GB" altLang="en-US">
                <a:cs typeface="Lucida Sans Unicode" panose="020B0602030504020204" pitchFamily="34" charset="0"/>
              </a:rPr>
              <a:t>∴ </a:t>
            </a:r>
            <a:r>
              <a:rPr lang="en-GB" altLang="en-US"/>
              <a:t>effective power output is greater than in normal AM </a:t>
            </a:r>
          </a:p>
          <a:p>
            <a:r>
              <a:rPr lang="en-GB" altLang="en-US"/>
              <a:t>	(since the carrier and redundant sideband account for well over half of the power output of an AM transmitter)</a:t>
            </a:r>
          </a:p>
          <a:p>
            <a:pPr>
              <a:buFont typeface="Arial" panose="020B0604020202020204" pitchFamily="34" charset="0"/>
              <a:buChar char="•"/>
            </a:pPr>
            <a:endParaRPr lang="en-GB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GB" altLang="en-US"/>
              <a:t>Requires special reception to demodulate</a:t>
            </a:r>
          </a:p>
        </p:txBody>
      </p:sp>
      <p:sp>
        <p:nvSpPr>
          <p:cNvPr id="8195" name="TextBox 2"/>
          <p:cNvSpPr txBox="1">
            <a:spLocks noChangeArrowheads="1"/>
          </p:cNvSpPr>
          <p:nvPr/>
        </p:nvSpPr>
        <p:spPr bwMode="auto">
          <a:xfrm>
            <a:off x="395288" y="331788"/>
            <a:ext cx="4435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 sz="2400" b="1"/>
              <a:t>Sidebands – Single, Vestigial</a:t>
            </a:r>
          </a:p>
        </p:txBody>
      </p:sp>
      <p:pic>
        <p:nvPicPr>
          <p:cNvPr id="819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760413"/>
            <a:ext cx="2832100" cy="580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35234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ChangeArrowheads="1"/>
          </p:cNvSpPr>
          <p:nvPr/>
        </p:nvSpPr>
        <p:spPr bwMode="auto">
          <a:xfrm>
            <a:off x="3929063" y="833438"/>
            <a:ext cx="493395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0975" indent="-180975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GB" altLang="en-US"/>
              <a:t>sideband that has been only partly cut off or suppressed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altLang="en-US"/>
              <a:t>to reduce the large bandwidth of the original video signal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altLang="en-US"/>
              <a:t>also be used in digital transmission, such as the ATSC standardized 8-VSB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altLang="en-US"/>
              <a:t>by the RF and IF filters</a:t>
            </a:r>
          </a:p>
        </p:txBody>
      </p:sp>
      <p:sp>
        <p:nvSpPr>
          <p:cNvPr id="9219" name="Rectangle 16"/>
          <p:cNvSpPr>
            <a:spLocks noChangeArrowheads="1"/>
          </p:cNvSpPr>
          <p:nvPr/>
        </p:nvSpPr>
        <p:spPr bwMode="auto">
          <a:xfrm>
            <a:off x="395288" y="331788"/>
            <a:ext cx="37766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 sz="2400" b="1">
                <a:solidFill>
                  <a:srgbClr val="000000"/>
                </a:solidFill>
              </a:rPr>
              <a:t>Vestigial Sideband (VSB)</a:t>
            </a:r>
          </a:p>
        </p:txBody>
      </p:sp>
      <p:sp>
        <p:nvSpPr>
          <p:cNvPr id="9220" name="Rectangle 17"/>
          <p:cNvSpPr>
            <a:spLocks noChangeArrowheads="1"/>
          </p:cNvSpPr>
          <p:nvPr/>
        </p:nvSpPr>
        <p:spPr bwMode="auto">
          <a:xfrm>
            <a:off x="395288" y="2970213"/>
            <a:ext cx="7951787" cy="329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0975" indent="-180975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GB" altLang="en-US"/>
              <a:t>For video - SSB would be desirable</a:t>
            </a:r>
          </a:p>
          <a:p>
            <a:r>
              <a:rPr lang="en-GB" altLang="en-US"/>
              <a:t>... but the video signal has significant low frequency content, plus square sync pulses</a:t>
            </a:r>
          </a:p>
          <a:p>
            <a:r>
              <a:rPr lang="en-GB" altLang="en-US"/>
              <a:t>... so some of the lower sideband is retained </a:t>
            </a:r>
          </a:p>
          <a:p>
            <a:pPr>
              <a:buFont typeface="Arial" panose="020B0604020202020204" pitchFamily="34" charset="0"/>
              <a:buChar char="•"/>
            </a:pPr>
            <a:endParaRPr lang="en-GB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GB" altLang="en-US"/>
              <a:t>VSB - full upper sideband of bandwidth transmitted = 4MHz</a:t>
            </a:r>
          </a:p>
          <a:p>
            <a:r>
              <a:rPr lang="en-GB" altLang="en-US"/>
              <a:t>... but only 1.25MHz of the lower sideband is transmitted, plus the carrier</a:t>
            </a:r>
          </a:p>
          <a:p>
            <a:endParaRPr lang="en-GB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GB" altLang="en-US"/>
              <a:t>effectively makes the system AM at low modulation frequencies and SSB at high modulation frequencies</a:t>
            </a:r>
          </a:p>
          <a:p>
            <a:pPr>
              <a:buFont typeface="Arial" panose="020B0604020202020204" pitchFamily="34" charset="0"/>
              <a:buChar char="•"/>
            </a:pPr>
            <a:endParaRPr lang="en-GB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GB" altLang="en-US"/>
              <a:t>absence of the lower sideband components at high frequencies must be compensated for, and this is done by the RF and IF filters</a:t>
            </a:r>
          </a:p>
        </p:txBody>
      </p:sp>
      <p:grpSp>
        <p:nvGrpSpPr>
          <p:cNvPr id="9221" name="Group 19"/>
          <p:cNvGrpSpPr>
            <a:grpSpLocks/>
          </p:cNvGrpSpPr>
          <p:nvPr/>
        </p:nvGrpSpPr>
        <p:grpSpPr bwMode="auto">
          <a:xfrm>
            <a:off x="395288" y="935038"/>
            <a:ext cx="3357562" cy="1646237"/>
            <a:chOff x="395288" y="935038"/>
            <a:chExt cx="3357562" cy="1646237"/>
          </a:xfrm>
        </p:grpSpPr>
        <p:grpSp>
          <p:nvGrpSpPr>
            <p:cNvPr id="9222" name="Group 18"/>
            <p:cNvGrpSpPr>
              <a:grpSpLocks/>
            </p:cNvGrpSpPr>
            <p:nvPr/>
          </p:nvGrpSpPr>
          <p:grpSpPr bwMode="auto">
            <a:xfrm>
              <a:off x="395288" y="935038"/>
              <a:ext cx="3357562" cy="1646237"/>
              <a:chOff x="395288" y="935038"/>
              <a:chExt cx="3357562" cy="1646237"/>
            </a:xfrm>
          </p:grpSpPr>
          <p:pic>
            <p:nvPicPr>
              <p:cNvPr id="9224" name="Picture 2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5288" y="935038"/>
                <a:ext cx="3357562" cy="16462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" name="Rectangle 5"/>
              <p:cNvSpPr/>
              <p:nvPr/>
            </p:nvSpPr>
            <p:spPr bwMode="auto">
              <a:xfrm>
                <a:off x="1804988" y="1600200"/>
                <a:ext cx="571500" cy="455613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9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GB"/>
              </a:p>
            </p:txBody>
          </p:sp>
          <p:cxnSp>
            <p:nvCxnSpPr>
              <p:cNvPr id="9226" name="Straight Connector 11"/>
              <p:cNvCxnSpPr>
                <a:cxnSpLocks noChangeShapeType="1"/>
              </p:cNvCxnSpPr>
              <p:nvPr/>
            </p:nvCxnSpPr>
            <p:spPr bwMode="auto">
              <a:xfrm flipV="1">
                <a:off x="1920898" y="2065884"/>
                <a:ext cx="457972" cy="6318"/>
              </a:xfrm>
              <a:prstGeom prst="line">
                <a:avLst/>
              </a:prstGeom>
              <a:noFill/>
              <a:ln w="28575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9223" name="Straight Connector 11"/>
            <p:cNvCxnSpPr>
              <a:cxnSpLocks noChangeShapeType="1"/>
            </p:cNvCxnSpPr>
            <p:nvPr/>
          </p:nvCxnSpPr>
          <p:spPr bwMode="auto">
            <a:xfrm rot="5400000" flipH="1" flipV="1">
              <a:off x="2195550" y="1879784"/>
              <a:ext cx="394704" cy="3288"/>
            </a:xfrm>
            <a:prstGeom prst="line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3216961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29" y="1016776"/>
            <a:ext cx="6007219" cy="3956367"/>
          </a:xfrm>
          <a:prstGeom prst="rect">
            <a:avLst/>
          </a:prstGeom>
        </p:spPr>
      </p:pic>
      <p:sp>
        <p:nvSpPr>
          <p:cNvPr id="3" name="Text Box 20"/>
          <p:cNvSpPr txBox="1">
            <a:spLocks noChangeArrowheads="1"/>
          </p:cNvSpPr>
          <p:nvPr/>
        </p:nvSpPr>
        <p:spPr bwMode="auto">
          <a:xfrm>
            <a:off x="395288" y="368300"/>
            <a:ext cx="20152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400" b="1"/>
              <a:t>Sub Carriers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83017" y="5159954"/>
            <a:ext cx="19152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/>
              <a:t>sub carrier is 848kHz below main carrier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4615" y="794420"/>
            <a:ext cx="28575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The subcarrier is modulated with a signal, the resulting signal is then modulated onto main carrier. (i.e. two levels of modulation)</a:t>
            </a:r>
          </a:p>
          <a:p>
            <a:endParaRPr lang="en-GB"/>
          </a:p>
          <a:p>
            <a:r>
              <a:rPr lang="en-GB"/>
              <a:t>(This example is actually for contactless payment systems, but the principle is common for subcarrier modulation)</a:t>
            </a:r>
          </a:p>
          <a:p>
            <a:endParaRPr lang="en-GB"/>
          </a:p>
          <a:p>
            <a:endParaRPr lang="en-GB"/>
          </a:p>
        </p:txBody>
      </p:sp>
      <p:cxnSp>
        <p:nvCxnSpPr>
          <p:cNvPr id="7" name="Straight Arrow Connector 6"/>
          <p:cNvCxnSpPr>
            <a:cxnSpLocks/>
          </p:cNvCxnSpPr>
          <p:nvPr/>
        </p:nvCxnSpPr>
        <p:spPr bwMode="auto">
          <a:xfrm flipH="1">
            <a:off x="5292969" y="2699239"/>
            <a:ext cx="861647" cy="295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Rectangle 8"/>
          <p:cNvSpPr/>
          <p:nvPr/>
        </p:nvSpPr>
        <p:spPr>
          <a:xfrm>
            <a:off x="4652594" y="5195499"/>
            <a:ext cx="19152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/>
              <a:t>sub carrier is 848kHz above main carrier</a:t>
            </a:r>
          </a:p>
        </p:txBody>
      </p:sp>
    </p:spTree>
    <p:extLst>
      <p:ext uri="{BB962C8B-B14F-4D97-AF65-F5344CB8AC3E}">
        <p14:creationId xmlns:p14="http://schemas.microsoft.com/office/powerpoint/2010/main" val="19212408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Line 5"/>
          <p:cNvSpPr>
            <a:spLocks noChangeShapeType="1"/>
          </p:cNvSpPr>
          <p:nvPr/>
        </p:nvSpPr>
        <p:spPr bwMode="auto">
          <a:xfrm>
            <a:off x="723900" y="4711700"/>
            <a:ext cx="7912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2531" name="AutoShape 6"/>
          <p:cNvSpPr>
            <a:spLocks noChangeArrowheads="1"/>
          </p:cNvSpPr>
          <p:nvPr/>
        </p:nvSpPr>
        <p:spPr bwMode="auto">
          <a:xfrm flipV="1">
            <a:off x="800100" y="3073400"/>
            <a:ext cx="6540500" cy="16256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2532" name="Line 7"/>
          <p:cNvSpPr>
            <a:spLocks noChangeShapeType="1"/>
          </p:cNvSpPr>
          <p:nvPr/>
        </p:nvSpPr>
        <p:spPr bwMode="auto">
          <a:xfrm flipV="1">
            <a:off x="2349500" y="2516188"/>
            <a:ext cx="0" cy="2157412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2533" name="Line 8"/>
          <p:cNvSpPr>
            <a:spLocks noChangeShapeType="1"/>
          </p:cNvSpPr>
          <p:nvPr/>
        </p:nvSpPr>
        <p:spPr bwMode="auto">
          <a:xfrm flipV="1">
            <a:off x="5613400" y="1860550"/>
            <a:ext cx="0" cy="2838450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2534" name="Line 9"/>
          <p:cNvSpPr>
            <a:spLocks noChangeShapeType="1"/>
          </p:cNvSpPr>
          <p:nvPr/>
        </p:nvSpPr>
        <p:spPr bwMode="auto">
          <a:xfrm flipV="1">
            <a:off x="7327900" y="3122613"/>
            <a:ext cx="0" cy="1589087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2535" name="Line 10"/>
          <p:cNvSpPr>
            <a:spLocks noChangeShapeType="1"/>
          </p:cNvSpPr>
          <p:nvPr/>
        </p:nvSpPr>
        <p:spPr bwMode="auto">
          <a:xfrm flipV="1">
            <a:off x="812800" y="2120900"/>
            <a:ext cx="0" cy="2589213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2536" name="Text Box 11"/>
          <p:cNvSpPr txBox="1">
            <a:spLocks noChangeArrowheads="1"/>
          </p:cNvSpPr>
          <p:nvPr/>
        </p:nvSpPr>
        <p:spPr bwMode="auto">
          <a:xfrm>
            <a:off x="1550523" y="1593850"/>
            <a:ext cx="154080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GB" sz="1600"/>
              <a:t>Vision Carrier</a:t>
            </a:r>
          </a:p>
          <a:p>
            <a:pPr algn="ctr"/>
            <a:r>
              <a:rPr lang="en-GB" sz="1600"/>
              <a:t>1.25MHz</a:t>
            </a:r>
          </a:p>
          <a:p>
            <a:pPr algn="ctr"/>
            <a:r>
              <a:rPr lang="en-GB" sz="1600"/>
              <a:t>(AM / VSB)</a:t>
            </a:r>
          </a:p>
        </p:txBody>
      </p:sp>
      <p:sp>
        <p:nvSpPr>
          <p:cNvPr id="22537" name="Text Box 12"/>
          <p:cNvSpPr txBox="1">
            <a:spLocks noChangeArrowheads="1"/>
          </p:cNvSpPr>
          <p:nvPr/>
        </p:nvSpPr>
        <p:spPr bwMode="auto">
          <a:xfrm>
            <a:off x="4057650" y="808038"/>
            <a:ext cx="3049588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600"/>
              <a:t>Colour Sub-Carrier</a:t>
            </a:r>
          </a:p>
          <a:p>
            <a:pPr algn="ctr"/>
            <a:r>
              <a:rPr lang="en-GB" sz="1600"/>
              <a:t>(suppressed)</a:t>
            </a:r>
          </a:p>
          <a:p>
            <a:pPr algn="ctr"/>
            <a:r>
              <a:rPr lang="en-GB" sz="1600"/>
              <a:t>5.68MHz</a:t>
            </a:r>
          </a:p>
          <a:p>
            <a:pPr algn="ctr"/>
            <a:r>
              <a:rPr lang="en-GB" sz="1600"/>
              <a:t>Chroma coding (QAM)</a:t>
            </a:r>
          </a:p>
          <a:p>
            <a:pPr algn="ctr"/>
            <a:endParaRPr lang="en-GB" sz="2000"/>
          </a:p>
        </p:txBody>
      </p:sp>
      <p:sp>
        <p:nvSpPr>
          <p:cNvPr id="22538" name="Text Box 13"/>
          <p:cNvSpPr txBox="1">
            <a:spLocks noChangeArrowheads="1"/>
          </p:cNvSpPr>
          <p:nvPr/>
        </p:nvSpPr>
        <p:spPr bwMode="auto">
          <a:xfrm>
            <a:off x="6527800" y="2105025"/>
            <a:ext cx="1554163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600"/>
              <a:t>Sound Centre Freq</a:t>
            </a:r>
          </a:p>
          <a:p>
            <a:pPr algn="ctr"/>
            <a:r>
              <a:rPr lang="en-GB" sz="1600"/>
              <a:t>6.75MHz</a:t>
            </a:r>
          </a:p>
          <a:p>
            <a:pPr algn="ctr"/>
            <a:r>
              <a:rPr lang="en-GB" sz="1600"/>
              <a:t>(FM)</a:t>
            </a:r>
            <a:endParaRPr lang="en-GB" sz="2000"/>
          </a:p>
        </p:txBody>
      </p:sp>
      <p:sp>
        <p:nvSpPr>
          <p:cNvPr id="22539" name="AutoShape 14"/>
          <p:cNvSpPr>
            <a:spLocks noChangeArrowheads="1"/>
          </p:cNvSpPr>
          <p:nvPr/>
        </p:nvSpPr>
        <p:spPr bwMode="auto">
          <a:xfrm flipV="1">
            <a:off x="7048500" y="4508500"/>
            <a:ext cx="508000" cy="1905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9933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2540" name="Line 15"/>
          <p:cNvSpPr>
            <a:spLocks noChangeShapeType="1"/>
          </p:cNvSpPr>
          <p:nvPr/>
        </p:nvSpPr>
        <p:spPr bwMode="auto">
          <a:xfrm flipH="1" flipV="1">
            <a:off x="7556500" y="4152900"/>
            <a:ext cx="12700" cy="1092200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2541" name="Line 16"/>
          <p:cNvSpPr>
            <a:spLocks noChangeShapeType="1"/>
          </p:cNvSpPr>
          <p:nvPr/>
        </p:nvSpPr>
        <p:spPr bwMode="auto">
          <a:xfrm>
            <a:off x="800100" y="4978400"/>
            <a:ext cx="6769100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2542" name="Text Box 17"/>
          <p:cNvSpPr txBox="1">
            <a:spLocks noChangeArrowheads="1"/>
          </p:cNvSpPr>
          <p:nvPr/>
        </p:nvSpPr>
        <p:spPr bwMode="auto">
          <a:xfrm>
            <a:off x="3743325" y="4872038"/>
            <a:ext cx="946150" cy="336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7.0MHz</a:t>
            </a:r>
            <a:endParaRPr lang="en-GB" sz="2000"/>
          </a:p>
        </p:txBody>
      </p:sp>
      <p:sp>
        <p:nvSpPr>
          <p:cNvPr id="22543" name="Freeform 18"/>
          <p:cNvSpPr>
            <a:spLocks/>
          </p:cNvSpPr>
          <p:nvPr/>
        </p:nvSpPr>
        <p:spPr bwMode="auto">
          <a:xfrm>
            <a:off x="2654300" y="3238500"/>
            <a:ext cx="4610100" cy="1460500"/>
          </a:xfrm>
          <a:custGeom>
            <a:avLst/>
            <a:gdLst>
              <a:gd name="T0" fmla="*/ 0 w 3368"/>
              <a:gd name="T1" fmla="*/ 2147483647 h 920"/>
              <a:gd name="T2" fmla="*/ 2147483647 w 3368"/>
              <a:gd name="T3" fmla="*/ 0 h 920"/>
              <a:gd name="T4" fmla="*/ 2147483647 w 3368"/>
              <a:gd name="T5" fmla="*/ 0 h 920"/>
              <a:gd name="T6" fmla="*/ 2147483647 w 3368"/>
              <a:gd name="T7" fmla="*/ 2147483647 h 920"/>
              <a:gd name="T8" fmla="*/ 0 60000 65536"/>
              <a:gd name="T9" fmla="*/ 0 60000 65536"/>
              <a:gd name="T10" fmla="*/ 0 60000 65536"/>
              <a:gd name="T11" fmla="*/ 0 60000 65536"/>
              <a:gd name="T12" fmla="*/ 0 w 3368"/>
              <a:gd name="T13" fmla="*/ 0 h 920"/>
              <a:gd name="T14" fmla="*/ 3368 w 3368"/>
              <a:gd name="T15" fmla="*/ 920 h 92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368" h="920">
                <a:moveTo>
                  <a:pt x="0" y="920"/>
                </a:moveTo>
                <a:lnTo>
                  <a:pt x="856" y="0"/>
                </a:lnTo>
                <a:lnTo>
                  <a:pt x="2760" y="0"/>
                </a:lnTo>
                <a:lnTo>
                  <a:pt x="3368" y="904"/>
                </a:lnTo>
              </a:path>
            </a:pathLst>
          </a:custGeom>
          <a:solidFill>
            <a:srgbClr val="FF9933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2544" name="Freeform 19"/>
          <p:cNvSpPr>
            <a:spLocks/>
          </p:cNvSpPr>
          <p:nvPr/>
        </p:nvSpPr>
        <p:spPr bwMode="auto">
          <a:xfrm>
            <a:off x="850900" y="4368800"/>
            <a:ext cx="1219200" cy="330200"/>
          </a:xfrm>
          <a:custGeom>
            <a:avLst/>
            <a:gdLst>
              <a:gd name="T0" fmla="*/ 0 w 3368"/>
              <a:gd name="T1" fmla="*/ 2147483647 h 920"/>
              <a:gd name="T2" fmla="*/ 2147483647 w 3368"/>
              <a:gd name="T3" fmla="*/ 0 h 920"/>
              <a:gd name="T4" fmla="*/ 2147483647 w 3368"/>
              <a:gd name="T5" fmla="*/ 0 h 920"/>
              <a:gd name="T6" fmla="*/ 2147483647 w 3368"/>
              <a:gd name="T7" fmla="*/ 2147483647 h 920"/>
              <a:gd name="T8" fmla="*/ 0 60000 65536"/>
              <a:gd name="T9" fmla="*/ 0 60000 65536"/>
              <a:gd name="T10" fmla="*/ 0 60000 65536"/>
              <a:gd name="T11" fmla="*/ 0 60000 65536"/>
              <a:gd name="T12" fmla="*/ 0 w 3368"/>
              <a:gd name="T13" fmla="*/ 0 h 920"/>
              <a:gd name="T14" fmla="*/ 3368 w 3368"/>
              <a:gd name="T15" fmla="*/ 920 h 92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368" h="920">
                <a:moveTo>
                  <a:pt x="0" y="920"/>
                </a:moveTo>
                <a:lnTo>
                  <a:pt x="856" y="0"/>
                </a:lnTo>
                <a:lnTo>
                  <a:pt x="2760" y="0"/>
                </a:lnTo>
                <a:lnTo>
                  <a:pt x="3368" y="904"/>
                </a:lnTo>
              </a:path>
            </a:pathLst>
          </a:custGeom>
          <a:solidFill>
            <a:srgbClr val="FF9933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2545" name="Text Box 20"/>
          <p:cNvSpPr txBox="1">
            <a:spLocks noChangeArrowheads="1"/>
          </p:cNvSpPr>
          <p:nvPr/>
        </p:nvSpPr>
        <p:spPr bwMode="auto">
          <a:xfrm>
            <a:off x="361950" y="419100"/>
            <a:ext cx="32051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400" b="1"/>
              <a:t>PAL Signal Spectrum</a:t>
            </a:r>
          </a:p>
        </p:txBody>
      </p:sp>
      <p:sp>
        <p:nvSpPr>
          <p:cNvPr id="22546" name="Text Box 21"/>
          <p:cNvSpPr txBox="1">
            <a:spLocks noChangeArrowheads="1"/>
          </p:cNvSpPr>
          <p:nvPr/>
        </p:nvSpPr>
        <p:spPr bwMode="auto">
          <a:xfrm>
            <a:off x="7680325" y="4719638"/>
            <a:ext cx="582613" cy="336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freq</a:t>
            </a:r>
            <a:endParaRPr lang="en-GB" sz="2000"/>
          </a:p>
        </p:txBody>
      </p:sp>
      <p:sp>
        <p:nvSpPr>
          <p:cNvPr id="22547" name="Line 22"/>
          <p:cNvSpPr>
            <a:spLocks noChangeShapeType="1"/>
          </p:cNvSpPr>
          <p:nvPr/>
        </p:nvSpPr>
        <p:spPr bwMode="auto">
          <a:xfrm>
            <a:off x="8191500" y="4876800"/>
            <a:ext cx="241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2548" name="AutoShape 23"/>
          <p:cNvSpPr>
            <a:spLocks/>
          </p:cNvSpPr>
          <p:nvPr/>
        </p:nvSpPr>
        <p:spPr bwMode="auto">
          <a:xfrm rot="5400000">
            <a:off x="4979194" y="3037682"/>
            <a:ext cx="247650" cy="4551362"/>
          </a:xfrm>
          <a:prstGeom prst="rightBrace">
            <a:avLst>
              <a:gd name="adj1" fmla="val 153152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22549" name="AutoShape 24"/>
          <p:cNvSpPr>
            <a:spLocks/>
          </p:cNvSpPr>
          <p:nvPr/>
        </p:nvSpPr>
        <p:spPr bwMode="auto">
          <a:xfrm rot="5400000">
            <a:off x="1378744" y="4718844"/>
            <a:ext cx="284163" cy="1247775"/>
          </a:xfrm>
          <a:prstGeom prst="rightBrace">
            <a:avLst>
              <a:gd name="adj1" fmla="val 36592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22550" name="Text Box 25"/>
          <p:cNvSpPr txBox="1">
            <a:spLocks noChangeArrowheads="1"/>
          </p:cNvSpPr>
          <p:nvPr/>
        </p:nvSpPr>
        <p:spPr bwMode="auto">
          <a:xfrm>
            <a:off x="4318428" y="5570329"/>
            <a:ext cx="151996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1600"/>
              <a:t>Full Sideband</a:t>
            </a:r>
            <a:endParaRPr lang="en-GB" sz="2000"/>
          </a:p>
        </p:txBody>
      </p:sp>
      <p:sp>
        <p:nvSpPr>
          <p:cNvPr id="22551" name="Text Box 26"/>
          <p:cNvSpPr txBox="1">
            <a:spLocks noChangeArrowheads="1"/>
          </p:cNvSpPr>
          <p:nvPr/>
        </p:nvSpPr>
        <p:spPr bwMode="auto">
          <a:xfrm>
            <a:off x="712788" y="5546437"/>
            <a:ext cx="16049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GB" sz="1600"/>
              <a:t>Vestigial Sideband</a:t>
            </a: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15668099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250825" y="4700588"/>
            <a:ext cx="8642350" cy="144145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381000" y="381000"/>
            <a:ext cx="59404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2400" b="1"/>
              <a:t>Broadcast Channels Frequency Spacing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 rot="5400000">
            <a:off x="4468019" y="2596356"/>
            <a:ext cx="352425" cy="6481763"/>
            <a:chOff x="5346" y="341"/>
            <a:chExt cx="222" cy="3690"/>
          </a:xfrm>
        </p:grpSpPr>
        <p:sp>
          <p:nvSpPr>
            <p:cNvPr id="23603" name="Freeform 5"/>
            <p:cNvSpPr>
              <a:spLocks/>
            </p:cNvSpPr>
            <p:nvPr/>
          </p:nvSpPr>
          <p:spPr bwMode="auto">
            <a:xfrm>
              <a:off x="5349" y="638"/>
              <a:ext cx="219" cy="3393"/>
            </a:xfrm>
            <a:custGeom>
              <a:avLst/>
              <a:gdLst>
                <a:gd name="T0" fmla="*/ 0 w 219"/>
                <a:gd name="T1" fmla="*/ 0 h 3393"/>
                <a:gd name="T2" fmla="*/ 207 w 219"/>
                <a:gd name="T3" fmla="*/ 49 h 3393"/>
                <a:gd name="T4" fmla="*/ 9 w 219"/>
                <a:gd name="T5" fmla="*/ 100 h 3393"/>
                <a:gd name="T6" fmla="*/ 207 w 219"/>
                <a:gd name="T7" fmla="*/ 153 h 3393"/>
                <a:gd name="T8" fmla="*/ 9 w 219"/>
                <a:gd name="T9" fmla="*/ 205 h 3393"/>
                <a:gd name="T10" fmla="*/ 207 w 219"/>
                <a:gd name="T11" fmla="*/ 284 h 3393"/>
                <a:gd name="T12" fmla="*/ 9 w 219"/>
                <a:gd name="T13" fmla="*/ 362 h 3393"/>
                <a:gd name="T14" fmla="*/ 212 w 219"/>
                <a:gd name="T15" fmla="*/ 441 h 3393"/>
                <a:gd name="T16" fmla="*/ 9 w 219"/>
                <a:gd name="T17" fmla="*/ 544 h 3393"/>
                <a:gd name="T18" fmla="*/ 205 w 219"/>
                <a:gd name="T19" fmla="*/ 656 h 3393"/>
                <a:gd name="T20" fmla="*/ 37 w 219"/>
                <a:gd name="T21" fmla="*/ 806 h 3393"/>
                <a:gd name="T22" fmla="*/ 205 w 219"/>
                <a:gd name="T23" fmla="*/ 954 h 3393"/>
                <a:gd name="T24" fmla="*/ 37 w 219"/>
                <a:gd name="T25" fmla="*/ 1094 h 3393"/>
                <a:gd name="T26" fmla="*/ 219 w 219"/>
                <a:gd name="T27" fmla="*/ 1231 h 3393"/>
                <a:gd name="T28" fmla="*/ 37 w 219"/>
                <a:gd name="T29" fmla="*/ 1355 h 3393"/>
                <a:gd name="T30" fmla="*/ 207 w 219"/>
                <a:gd name="T31" fmla="*/ 1486 h 3393"/>
                <a:gd name="T32" fmla="*/ 37 w 219"/>
                <a:gd name="T33" fmla="*/ 1668 h 3393"/>
                <a:gd name="T34" fmla="*/ 179 w 219"/>
                <a:gd name="T35" fmla="*/ 1825 h 3393"/>
                <a:gd name="T36" fmla="*/ 9 w 219"/>
                <a:gd name="T37" fmla="*/ 2034 h 3393"/>
                <a:gd name="T38" fmla="*/ 207 w 219"/>
                <a:gd name="T39" fmla="*/ 2269 h 3393"/>
                <a:gd name="T40" fmla="*/ 9 w 219"/>
                <a:gd name="T41" fmla="*/ 2557 h 3393"/>
                <a:gd name="T42" fmla="*/ 179 w 219"/>
                <a:gd name="T43" fmla="*/ 2845 h 3393"/>
                <a:gd name="T44" fmla="*/ 37 w 219"/>
                <a:gd name="T45" fmla="*/ 3185 h 3393"/>
                <a:gd name="T46" fmla="*/ 207 w 219"/>
                <a:gd name="T47" fmla="*/ 3393 h 339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219"/>
                <a:gd name="T73" fmla="*/ 0 h 3393"/>
                <a:gd name="T74" fmla="*/ 219 w 219"/>
                <a:gd name="T75" fmla="*/ 3393 h 3393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219" h="3393">
                  <a:moveTo>
                    <a:pt x="0" y="0"/>
                  </a:moveTo>
                  <a:cubicBezTo>
                    <a:pt x="35" y="8"/>
                    <a:pt x="205" y="32"/>
                    <a:pt x="207" y="49"/>
                  </a:cubicBezTo>
                  <a:cubicBezTo>
                    <a:pt x="209" y="66"/>
                    <a:pt x="9" y="83"/>
                    <a:pt x="9" y="100"/>
                  </a:cubicBezTo>
                  <a:cubicBezTo>
                    <a:pt x="9" y="118"/>
                    <a:pt x="207" y="135"/>
                    <a:pt x="207" y="153"/>
                  </a:cubicBezTo>
                  <a:cubicBezTo>
                    <a:pt x="207" y="170"/>
                    <a:pt x="9" y="183"/>
                    <a:pt x="9" y="205"/>
                  </a:cubicBezTo>
                  <a:cubicBezTo>
                    <a:pt x="9" y="227"/>
                    <a:pt x="207" y="258"/>
                    <a:pt x="207" y="284"/>
                  </a:cubicBezTo>
                  <a:cubicBezTo>
                    <a:pt x="207" y="309"/>
                    <a:pt x="8" y="336"/>
                    <a:pt x="9" y="362"/>
                  </a:cubicBezTo>
                  <a:cubicBezTo>
                    <a:pt x="10" y="388"/>
                    <a:pt x="212" y="411"/>
                    <a:pt x="212" y="441"/>
                  </a:cubicBezTo>
                  <a:cubicBezTo>
                    <a:pt x="212" y="472"/>
                    <a:pt x="10" y="509"/>
                    <a:pt x="9" y="544"/>
                  </a:cubicBezTo>
                  <a:cubicBezTo>
                    <a:pt x="8" y="580"/>
                    <a:pt x="200" y="613"/>
                    <a:pt x="205" y="656"/>
                  </a:cubicBezTo>
                  <a:cubicBezTo>
                    <a:pt x="210" y="699"/>
                    <a:pt x="37" y="757"/>
                    <a:pt x="37" y="806"/>
                  </a:cubicBezTo>
                  <a:cubicBezTo>
                    <a:pt x="37" y="856"/>
                    <a:pt x="205" y="906"/>
                    <a:pt x="205" y="954"/>
                  </a:cubicBezTo>
                  <a:cubicBezTo>
                    <a:pt x="205" y="1002"/>
                    <a:pt x="35" y="1048"/>
                    <a:pt x="37" y="1094"/>
                  </a:cubicBezTo>
                  <a:cubicBezTo>
                    <a:pt x="39" y="1140"/>
                    <a:pt x="219" y="1188"/>
                    <a:pt x="219" y="1231"/>
                  </a:cubicBezTo>
                  <a:cubicBezTo>
                    <a:pt x="219" y="1275"/>
                    <a:pt x="39" y="1312"/>
                    <a:pt x="37" y="1355"/>
                  </a:cubicBezTo>
                  <a:cubicBezTo>
                    <a:pt x="35" y="1397"/>
                    <a:pt x="207" y="1433"/>
                    <a:pt x="207" y="1486"/>
                  </a:cubicBezTo>
                  <a:cubicBezTo>
                    <a:pt x="207" y="1538"/>
                    <a:pt x="42" y="1612"/>
                    <a:pt x="37" y="1668"/>
                  </a:cubicBezTo>
                  <a:cubicBezTo>
                    <a:pt x="32" y="1724"/>
                    <a:pt x="184" y="1764"/>
                    <a:pt x="179" y="1825"/>
                  </a:cubicBezTo>
                  <a:cubicBezTo>
                    <a:pt x="174" y="1886"/>
                    <a:pt x="4" y="1960"/>
                    <a:pt x="9" y="2034"/>
                  </a:cubicBezTo>
                  <a:cubicBezTo>
                    <a:pt x="14" y="2108"/>
                    <a:pt x="207" y="2183"/>
                    <a:pt x="207" y="2269"/>
                  </a:cubicBezTo>
                  <a:cubicBezTo>
                    <a:pt x="207" y="2356"/>
                    <a:pt x="14" y="2461"/>
                    <a:pt x="9" y="2557"/>
                  </a:cubicBezTo>
                  <a:cubicBezTo>
                    <a:pt x="4" y="2653"/>
                    <a:pt x="174" y="2740"/>
                    <a:pt x="179" y="2845"/>
                  </a:cubicBezTo>
                  <a:cubicBezTo>
                    <a:pt x="184" y="2949"/>
                    <a:pt x="32" y="3093"/>
                    <a:pt x="37" y="3185"/>
                  </a:cubicBezTo>
                  <a:cubicBezTo>
                    <a:pt x="42" y="3276"/>
                    <a:pt x="124" y="3334"/>
                    <a:pt x="207" y="3393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3604" name="Freeform 6"/>
            <p:cNvSpPr>
              <a:spLocks/>
            </p:cNvSpPr>
            <p:nvPr/>
          </p:nvSpPr>
          <p:spPr bwMode="auto">
            <a:xfrm>
              <a:off x="5346" y="341"/>
              <a:ext cx="208" cy="297"/>
            </a:xfrm>
            <a:custGeom>
              <a:avLst/>
              <a:gdLst>
                <a:gd name="T0" fmla="*/ 30 w 208"/>
                <a:gd name="T1" fmla="*/ 297 h 297"/>
                <a:gd name="T2" fmla="*/ 200 w 208"/>
                <a:gd name="T3" fmla="*/ 260 h 297"/>
                <a:gd name="T4" fmla="*/ 25 w 208"/>
                <a:gd name="T5" fmla="*/ 235 h 297"/>
                <a:gd name="T6" fmla="*/ 208 w 208"/>
                <a:gd name="T7" fmla="*/ 194 h 297"/>
                <a:gd name="T8" fmla="*/ 25 w 208"/>
                <a:gd name="T9" fmla="*/ 180 h 297"/>
                <a:gd name="T10" fmla="*/ 200 w 208"/>
                <a:gd name="T11" fmla="*/ 146 h 297"/>
                <a:gd name="T12" fmla="*/ 4 w 208"/>
                <a:gd name="T13" fmla="*/ 146 h 297"/>
                <a:gd name="T14" fmla="*/ 200 w 208"/>
                <a:gd name="T15" fmla="*/ 118 h 297"/>
                <a:gd name="T16" fmla="*/ 4 w 208"/>
                <a:gd name="T17" fmla="*/ 118 h 297"/>
                <a:gd name="T18" fmla="*/ 200 w 208"/>
                <a:gd name="T19" fmla="*/ 90 h 297"/>
                <a:gd name="T20" fmla="*/ 4 w 208"/>
                <a:gd name="T21" fmla="*/ 90 h 297"/>
                <a:gd name="T22" fmla="*/ 176 w 208"/>
                <a:gd name="T23" fmla="*/ 61 h 297"/>
                <a:gd name="T24" fmla="*/ 4 w 208"/>
                <a:gd name="T25" fmla="*/ 61 h 297"/>
                <a:gd name="T26" fmla="*/ 200 w 208"/>
                <a:gd name="T27" fmla="*/ 61 h 297"/>
                <a:gd name="T28" fmla="*/ 4 w 208"/>
                <a:gd name="T29" fmla="*/ 61 h 297"/>
                <a:gd name="T30" fmla="*/ 200 w 208"/>
                <a:gd name="T31" fmla="*/ 33 h 297"/>
                <a:gd name="T32" fmla="*/ 28 w 208"/>
                <a:gd name="T33" fmla="*/ 33 h 297"/>
                <a:gd name="T34" fmla="*/ 200 w 208"/>
                <a:gd name="T35" fmla="*/ 5 h 297"/>
                <a:gd name="T36" fmla="*/ 4 w 208"/>
                <a:gd name="T37" fmla="*/ 5 h 29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08"/>
                <a:gd name="T58" fmla="*/ 0 h 297"/>
                <a:gd name="T59" fmla="*/ 208 w 208"/>
                <a:gd name="T60" fmla="*/ 297 h 29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08" h="297">
                  <a:moveTo>
                    <a:pt x="30" y="297"/>
                  </a:moveTo>
                  <a:cubicBezTo>
                    <a:pt x="60" y="291"/>
                    <a:pt x="201" y="270"/>
                    <a:pt x="200" y="260"/>
                  </a:cubicBezTo>
                  <a:cubicBezTo>
                    <a:pt x="199" y="250"/>
                    <a:pt x="23" y="246"/>
                    <a:pt x="25" y="235"/>
                  </a:cubicBezTo>
                  <a:cubicBezTo>
                    <a:pt x="27" y="224"/>
                    <a:pt x="208" y="203"/>
                    <a:pt x="208" y="194"/>
                  </a:cubicBezTo>
                  <a:cubicBezTo>
                    <a:pt x="208" y="185"/>
                    <a:pt x="27" y="188"/>
                    <a:pt x="25" y="180"/>
                  </a:cubicBezTo>
                  <a:cubicBezTo>
                    <a:pt x="23" y="172"/>
                    <a:pt x="204" y="152"/>
                    <a:pt x="200" y="146"/>
                  </a:cubicBezTo>
                  <a:cubicBezTo>
                    <a:pt x="197" y="140"/>
                    <a:pt x="4" y="151"/>
                    <a:pt x="4" y="146"/>
                  </a:cubicBezTo>
                  <a:cubicBezTo>
                    <a:pt x="4" y="141"/>
                    <a:pt x="200" y="123"/>
                    <a:pt x="200" y="118"/>
                  </a:cubicBezTo>
                  <a:cubicBezTo>
                    <a:pt x="200" y="113"/>
                    <a:pt x="4" y="123"/>
                    <a:pt x="4" y="118"/>
                  </a:cubicBezTo>
                  <a:cubicBezTo>
                    <a:pt x="4" y="113"/>
                    <a:pt x="200" y="95"/>
                    <a:pt x="200" y="90"/>
                  </a:cubicBezTo>
                  <a:cubicBezTo>
                    <a:pt x="200" y="85"/>
                    <a:pt x="9" y="95"/>
                    <a:pt x="4" y="90"/>
                  </a:cubicBezTo>
                  <a:cubicBezTo>
                    <a:pt x="0" y="85"/>
                    <a:pt x="176" y="66"/>
                    <a:pt x="176" y="61"/>
                  </a:cubicBezTo>
                  <a:cubicBezTo>
                    <a:pt x="176" y="56"/>
                    <a:pt x="0" y="61"/>
                    <a:pt x="4" y="61"/>
                  </a:cubicBezTo>
                  <a:cubicBezTo>
                    <a:pt x="9" y="61"/>
                    <a:pt x="200" y="61"/>
                    <a:pt x="200" y="61"/>
                  </a:cubicBezTo>
                  <a:cubicBezTo>
                    <a:pt x="200" y="61"/>
                    <a:pt x="4" y="66"/>
                    <a:pt x="4" y="61"/>
                  </a:cubicBezTo>
                  <a:cubicBezTo>
                    <a:pt x="4" y="56"/>
                    <a:pt x="196" y="38"/>
                    <a:pt x="200" y="33"/>
                  </a:cubicBezTo>
                  <a:cubicBezTo>
                    <a:pt x="205" y="28"/>
                    <a:pt x="28" y="38"/>
                    <a:pt x="28" y="33"/>
                  </a:cubicBezTo>
                  <a:cubicBezTo>
                    <a:pt x="28" y="28"/>
                    <a:pt x="205" y="10"/>
                    <a:pt x="200" y="5"/>
                  </a:cubicBezTo>
                  <a:cubicBezTo>
                    <a:pt x="196" y="0"/>
                    <a:pt x="33" y="5"/>
                    <a:pt x="4" y="5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</p:grpSp>
      <p:sp>
        <p:nvSpPr>
          <p:cNvPr id="23557" name="Rectangle 7"/>
          <p:cNvSpPr>
            <a:spLocks noChangeArrowheads="1"/>
          </p:cNvSpPr>
          <p:nvPr/>
        </p:nvSpPr>
        <p:spPr bwMode="auto">
          <a:xfrm>
            <a:off x="433388" y="5732463"/>
            <a:ext cx="10096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475MHz</a:t>
            </a:r>
          </a:p>
        </p:txBody>
      </p:sp>
      <p:sp>
        <p:nvSpPr>
          <p:cNvPr id="23558" name="Rectangle 8"/>
          <p:cNvSpPr>
            <a:spLocks noChangeArrowheads="1"/>
          </p:cNvSpPr>
          <p:nvPr/>
        </p:nvSpPr>
        <p:spPr bwMode="auto">
          <a:xfrm>
            <a:off x="7885113" y="5732463"/>
            <a:ext cx="10096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850MHz</a:t>
            </a:r>
          </a:p>
        </p:txBody>
      </p:sp>
      <p:sp>
        <p:nvSpPr>
          <p:cNvPr id="23559" name="Freeform 9"/>
          <p:cNvSpPr>
            <a:spLocks/>
          </p:cNvSpPr>
          <p:nvPr/>
        </p:nvSpPr>
        <p:spPr bwMode="auto">
          <a:xfrm>
            <a:off x="2008188" y="2024063"/>
            <a:ext cx="3848100" cy="1143000"/>
          </a:xfrm>
          <a:custGeom>
            <a:avLst/>
            <a:gdLst>
              <a:gd name="T0" fmla="*/ 2147483647 w 2424"/>
              <a:gd name="T1" fmla="*/ 2147483647 h 720"/>
              <a:gd name="T2" fmla="*/ 2147483647 w 2424"/>
              <a:gd name="T3" fmla="*/ 2147483647 h 720"/>
              <a:gd name="T4" fmla="*/ 2147483647 w 2424"/>
              <a:gd name="T5" fmla="*/ 2147483647 h 720"/>
              <a:gd name="T6" fmla="*/ 0 w 2424"/>
              <a:gd name="T7" fmla="*/ 0 h 720"/>
              <a:gd name="T8" fmla="*/ 2147483647 w 2424"/>
              <a:gd name="T9" fmla="*/ 2147483647 h 7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24"/>
              <a:gd name="T16" fmla="*/ 0 h 720"/>
              <a:gd name="T17" fmla="*/ 2424 w 2424"/>
              <a:gd name="T18" fmla="*/ 720 h 7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24" h="720">
                <a:moveTo>
                  <a:pt x="1000" y="712"/>
                </a:moveTo>
                <a:lnTo>
                  <a:pt x="1520" y="720"/>
                </a:lnTo>
                <a:lnTo>
                  <a:pt x="2424" y="8"/>
                </a:lnTo>
                <a:lnTo>
                  <a:pt x="0" y="0"/>
                </a:lnTo>
                <a:lnTo>
                  <a:pt x="1000" y="71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60" name="Freeform 10"/>
          <p:cNvSpPr>
            <a:spLocks/>
          </p:cNvSpPr>
          <p:nvPr/>
        </p:nvSpPr>
        <p:spPr bwMode="auto">
          <a:xfrm>
            <a:off x="827088" y="3357563"/>
            <a:ext cx="7556500" cy="2087562"/>
          </a:xfrm>
          <a:custGeom>
            <a:avLst/>
            <a:gdLst>
              <a:gd name="T0" fmla="*/ 2147483647 w 4760"/>
              <a:gd name="T1" fmla="*/ 2147483647 h 1208"/>
              <a:gd name="T2" fmla="*/ 2147483647 w 4760"/>
              <a:gd name="T3" fmla="*/ 2147483647 h 1208"/>
              <a:gd name="T4" fmla="*/ 2147483647 w 4760"/>
              <a:gd name="T5" fmla="*/ 0 h 1208"/>
              <a:gd name="T6" fmla="*/ 0 w 4760"/>
              <a:gd name="T7" fmla="*/ 2147483647 h 1208"/>
              <a:gd name="T8" fmla="*/ 2147483647 w 4760"/>
              <a:gd name="T9" fmla="*/ 2147483647 h 120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760"/>
              <a:gd name="T16" fmla="*/ 0 h 1208"/>
              <a:gd name="T17" fmla="*/ 4760 w 4760"/>
              <a:gd name="T18" fmla="*/ 1208 h 120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760" h="1208">
                <a:moveTo>
                  <a:pt x="1680" y="1200"/>
                </a:moveTo>
                <a:lnTo>
                  <a:pt x="3016" y="1208"/>
                </a:lnTo>
                <a:lnTo>
                  <a:pt x="4760" y="0"/>
                </a:lnTo>
                <a:lnTo>
                  <a:pt x="0" y="11"/>
                </a:lnTo>
                <a:lnTo>
                  <a:pt x="1680" y="120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61" name="AutoShape 11"/>
          <p:cNvSpPr>
            <a:spLocks noChangeArrowheads="1"/>
          </p:cNvSpPr>
          <p:nvPr/>
        </p:nvSpPr>
        <p:spPr bwMode="auto">
          <a:xfrm flipV="1">
            <a:off x="3417888" y="2962275"/>
            <a:ext cx="1201737" cy="3333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62" name="Line 12"/>
          <p:cNvSpPr>
            <a:spLocks noChangeShapeType="1"/>
          </p:cNvSpPr>
          <p:nvPr/>
        </p:nvSpPr>
        <p:spPr bwMode="auto">
          <a:xfrm flipV="1">
            <a:off x="4303713" y="2763838"/>
            <a:ext cx="0" cy="531812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63" name="Line 13"/>
          <p:cNvSpPr>
            <a:spLocks noChangeShapeType="1"/>
          </p:cNvSpPr>
          <p:nvPr/>
        </p:nvSpPr>
        <p:spPr bwMode="auto">
          <a:xfrm>
            <a:off x="979488" y="3294063"/>
            <a:ext cx="7734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64" name="AutoShape 14"/>
          <p:cNvSpPr>
            <a:spLocks noChangeArrowheads="1"/>
          </p:cNvSpPr>
          <p:nvPr/>
        </p:nvSpPr>
        <p:spPr bwMode="auto">
          <a:xfrm flipV="1">
            <a:off x="4700588" y="2962275"/>
            <a:ext cx="1201737" cy="3333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65" name="AutoShape 15"/>
          <p:cNvSpPr>
            <a:spLocks noChangeArrowheads="1"/>
          </p:cNvSpPr>
          <p:nvPr/>
        </p:nvSpPr>
        <p:spPr bwMode="auto">
          <a:xfrm flipV="1">
            <a:off x="5970588" y="2949575"/>
            <a:ext cx="1201737" cy="3333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66" name="AutoShape 16"/>
          <p:cNvSpPr>
            <a:spLocks noChangeArrowheads="1"/>
          </p:cNvSpPr>
          <p:nvPr/>
        </p:nvSpPr>
        <p:spPr bwMode="auto">
          <a:xfrm flipV="1">
            <a:off x="7240588" y="2962275"/>
            <a:ext cx="1201737" cy="3333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67" name="AutoShape 17"/>
          <p:cNvSpPr>
            <a:spLocks noChangeArrowheads="1"/>
          </p:cNvSpPr>
          <p:nvPr/>
        </p:nvSpPr>
        <p:spPr bwMode="auto">
          <a:xfrm flipV="1">
            <a:off x="852488" y="2949575"/>
            <a:ext cx="1201737" cy="3333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68" name="AutoShape 18"/>
          <p:cNvSpPr>
            <a:spLocks noChangeArrowheads="1"/>
          </p:cNvSpPr>
          <p:nvPr/>
        </p:nvSpPr>
        <p:spPr bwMode="auto">
          <a:xfrm flipV="1">
            <a:off x="2135188" y="2949575"/>
            <a:ext cx="1201737" cy="3333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69" name="AutoShape 19"/>
          <p:cNvSpPr>
            <a:spLocks noChangeArrowheads="1"/>
          </p:cNvSpPr>
          <p:nvPr/>
        </p:nvSpPr>
        <p:spPr bwMode="auto">
          <a:xfrm flipV="1">
            <a:off x="1944688" y="1122363"/>
            <a:ext cx="3954462" cy="84772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70" name="Line 20"/>
          <p:cNvSpPr>
            <a:spLocks noChangeShapeType="1"/>
          </p:cNvSpPr>
          <p:nvPr/>
        </p:nvSpPr>
        <p:spPr bwMode="auto">
          <a:xfrm>
            <a:off x="1042988" y="5500688"/>
            <a:ext cx="190023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71" name="AutoShape 21"/>
          <p:cNvSpPr>
            <a:spLocks noChangeArrowheads="1"/>
          </p:cNvSpPr>
          <p:nvPr/>
        </p:nvSpPr>
        <p:spPr bwMode="auto">
          <a:xfrm flipV="1">
            <a:off x="69151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72" name="AutoShape 22"/>
          <p:cNvSpPr>
            <a:spLocks noChangeArrowheads="1"/>
          </p:cNvSpPr>
          <p:nvPr/>
        </p:nvSpPr>
        <p:spPr bwMode="auto">
          <a:xfrm flipV="1">
            <a:off x="5391150" y="5259388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73" name="AutoShape 23"/>
          <p:cNvSpPr>
            <a:spLocks noChangeArrowheads="1"/>
          </p:cNvSpPr>
          <p:nvPr/>
        </p:nvSpPr>
        <p:spPr bwMode="auto">
          <a:xfrm flipV="1">
            <a:off x="3897313" y="524986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74" name="AutoShape 24"/>
          <p:cNvSpPr>
            <a:spLocks noChangeArrowheads="1"/>
          </p:cNvSpPr>
          <p:nvPr/>
        </p:nvSpPr>
        <p:spPr bwMode="auto">
          <a:xfrm flipV="1">
            <a:off x="23177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75" name="AutoShape 25"/>
          <p:cNvSpPr>
            <a:spLocks noChangeArrowheads="1"/>
          </p:cNvSpPr>
          <p:nvPr/>
        </p:nvSpPr>
        <p:spPr bwMode="auto">
          <a:xfrm flipV="1">
            <a:off x="8572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76" name="Line 26"/>
          <p:cNvSpPr>
            <a:spLocks noChangeShapeType="1"/>
          </p:cNvSpPr>
          <p:nvPr/>
        </p:nvSpPr>
        <p:spPr bwMode="auto">
          <a:xfrm>
            <a:off x="1797050" y="5503863"/>
            <a:ext cx="1900238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77" name="AutoShape 27"/>
          <p:cNvSpPr>
            <a:spLocks noChangeArrowheads="1"/>
          </p:cNvSpPr>
          <p:nvPr/>
        </p:nvSpPr>
        <p:spPr bwMode="auto">
          <a:xfrm flipV="1">
            <a:off x="7669213" y="5248275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78" name="AutoShape 28"/>
          <p:cNvSpPr>
            <a:spLocks noChangeArrowheads="1"/>
          </p:cNvSpPr>
          <p:nvPr/>
        </p:nvSpPr>
        <p:spPr bwMode="auto">
          <a:xfrm flipV="1">
            <a:off x="61404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79" name="AutoShape 29"/>
          <p:cNvSpPr>
            <a:spLocks noChangeArrowheads="1"/>
          </p:cNvSpPr>
          <p:nvPr/>
        </p:nvSpPr>
        <p:spPr bwMode="auto">
          <a:xfrm flipV="1">
            <a:off x="4641850" y="524986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80" name="AutoShape 30"/>
          <p:cNvSpPr>
            <a:spLocks noChangeArrowheads="1"/>
          </p:cNvSpPr>
          <p:nvPr/>
        </p:nvSpPr>
        <p:spPr bwMode="auto">
          <a:xfrm flipV="1">
            <a:off x="3067050" y="524351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81" name="AutoShape 31"/>
          <p:cNvSpPr>
            <a:spLocks noChangeArrowheads="1"/>
          </p:cNvSpPr>
          <p:nvPr/>
        </p:nvSpPr>
        <p:spPr bwMode="auto">
          <a:xfrm flipV="1">
            <a:off x="1606550" y="524351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82" name="Line 32"/>
          <p:cNvSpPr>
            <a:spLocks noChangeShapeType="1"/>
          </p:cNvSpPr>
          <p:nvPr/>
        </p:nvSpPr>
        <p:spPr bwMode="auto">
          <a:xfrm>
            <a:off x="1423988" y="5500688"/>
            <a:ext cx="190023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83" name="AutoShape 33"/>
          <p:cNvSpPr>
            <a:spLocks noChangeArrowheads="1"/>
          </p:cNvSpPr>
          <p:nvPr/>
        </p:nvSpPr>
        <p:spPr bwMode="auto">
          <a:xfrm flipV="1">
            <a:off x="72961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84" name="AutoShape 34"/>
          <p:cNvSpPr>
            <a:spLocks noChangeArrowheads="1"/>
          </p:cNvSpPr>
          <p:nvPr/>
        </p:nvSpPr>
        <p:spPr bwMode="auto">
          <a:xfrm flipV="1">
            <a:off x="5772150" y="5259388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85" name="AutoShape 35"/>
          <p:cNvSpPr>
            <a:spLocks noChangeArrowheads="1"/>
          </p:cNvSpPr>
          <p:nvPr/>
        </p:nvSpPr>
        <p:spPr bwMode="auto">
          <a:xfrm flipV="1">
            <a:off x="42735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86" name="AutoShape 36"/>
          <p:cNvSpPr>
            <a:spLocks noChangeArrowheads="1"/>
          </p:cNvSpPr>
          <p:nvPr/>
        </p:nvSpPr>
        <p:spPr bwMode="auto">
          <a:xfrm flipV="1">
            <a:off x="26987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87" name="AutoShape 37"/>
          <p:cNvSpPr>
            <a:spLocks noChangeArrowheads="1"/>
          </p:cNvSpPr>
          <p:nvPr/>
        </p:nvSpPr>
        <p:spPr bwMode="auto">
          <a:xfrm flipV="1">
            <a:off x="12382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88" name="Line 38"/>
          <p:cNvSpPr>
            <a:spLocks noChangeShapeType="1"/>
          </p:cNvSpPr>
          <p:nvPr/>
        </p:nvSpPr>
        <p:spPr bwMode="auto">
          <a:xfrm>
            <a:off x="3276600" y="5507038"/>
            <a:ext cx="50403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89" name="AutoShape 39"/>
          <p:cNvSpPr>
            <a:spLocks noChangeArrowheads="1"/>
          </p:cNvSpPr>
          <p:nvPr/>
        </p:nvSpPr>
        <p:spPr bwMode="auto">
          <a:xfrm flipV="1">
            <a:off x="8045450" y="5253038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90" name="AutoShape 40"/>
          <p:cNvSpPr>
            <a:spLocks noChangeArrowheads="1"/>
          </p:cNvSpPr>
          <p:nvPr/>
        </p:nvSpPr>
        <p:spPr bwMode="auto">
          <a:xfrm flipV="1">
            <a:off x="65214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91" name="AutoShape 41"/>
          <p:cNvSpPr>
            <a:spLocks noChangeArrowheads="1"/>
          </p:cNvSpPr>
          <p:nvPr/>
        </p:nvSpPr>
        <p:spPr bwMode="auto">
          <a:xfrm flipV="1">
            <a:off x="50228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92" name="AutoShape 42"/>
          <p:cNvSpPr>
            <a:spLocks noChangeArrowheads="1"/>
          </p:cNvSpPr>
          <p:nvPr/>
        </p:nvSpPr>
        <p:spPr bwMode="auto">
          <a:xfrm flipV="1">
            <a:off x="3443288" y="524351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93" name="AutoShape 43"/>
          <p:cNvSpPr>
            <a:spLocks noChangeArrowheads="1"/>
          </p:cNvSpPr>
          <p:nvPr/>
        </p:nvSpPr>
        <p:spPr bwMode="auto">
          <a:xfrm flipV="1">
            <a:off x="1987550" y="524351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94" name="Text Box 44"/>
          <p:cNvSpPr txBox="1">
            <a:spLocks noChangeArrowheads="1"/>
          </p:cNvSpPr>
          <p:nvPr/>
        </p:nvSpPr>
        <p:spPr bwMode="auto">
          <a:xfrm>
            <a:off x="5856288" y="1135063"/>
            <a:ext cx="1987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1600"/>
              <a:t>7Mhz TV Channel </a:t>
            </a:r>
          </a:p>
        </p:txBody>
      </p:sp>
      <p:sp>
        <p:nvSpPr>
          <p:cNvPr id="23595" name="Text Box 45"/>
          <p:cNvSpPr txBox="1">
            <a:spLocks noChangeArrowheads="1"/>
          </p:cNvSpPr>
          <p:nvPr/>
        </p:nvSpPr>
        <p:spPr bwMode="auto">
          <a:xfrm>
            <a:off x="6697121" y="2063363"/>
            <a:ext cx="122822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1200"/>
              <a:t>8Mhz Spacing</a:t>
            </a:r>
            <a:endParaRPr lang="en-GB" sz="1600"/>
          </a:p>
        </p:txBody>
      </p:sp>
      <p:sp>
        <p:nvSpPr>
          <p:cNvPr id="23596" name="AutoShape 46"/>
          <p:cNvSpPr>
            <a:spLocks/>
          </p:cNvSpPr>
          <p:nvPr/>
        </p:nvSpPr>
        <p:spPr bwMode="auto">
          <a:xfrm rot="-5400000">
            <a:off x="6503988" y="2163763"/>
            <a:ext cx="152400" cy="1143000"/>
          </a:xfrm>
          <a:prstGeom prst="rightBrace">
            <a:avLst>
              <a:gd name="adj1" fmla="val 6250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23597" name="AutoShape 47"/>
          <p:cNvSpPr>
            <a:spLocks/>
          </p:cNvSpPr>
          <p:nvPr/>
        </p:nvSpPr>
        <p:spPr bwMode="auto">
          <a:xfrm rot="-5400000">
            <a:off x="7723188" y="2163763"/>
            <a:ext cx="152400" cy="1143000"/>
          </a:xfrm>
          <a:prstGeom prst="rightBrace">
            <a:avLst>
              <a:gd name="adj1" fmla="val 6250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23598" name="AutoShape 48"/>
          <p:cNvSpPr>
            <a:spLocks/>
          </p:cNvSpPr>
          <p:nvPr/>
        </p:nvSpPr>
        <p:spPr bwMode="auto">
          <a:xfrm rot="-5400000">
            <a:off x="7113588" y="1935163"/>
            <a:ext cx="152400" cy="1143000"/>
          </a:xfrm>
          <a:prstGeom prst="rightBrace">
            <a:avLst>
              <a:gd name="adj1" fmla="val 6250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23599" name="Text Box 49"/>
          <p:cNvSpPr txBox="1">
            <a:spLocks noChangeArrowheads="1"/>
          </p:cNvSpPr>
          <p:nvPr/>
        </p:nvSpPr>
        <p:spPr bwMode="auto">
          <a:xfrm>
            <a:off x="684213" y="4868863"/>
            <a:ext cx="58221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200"/>
              <a:t>Ch21</a:t>
            </a:r>
          </a:p>
        </p:txBody>
      </p:sp>
      <p:sp>
        <p:nvSpPr>
          <p:cNvPr id="23600" name="Text Box 50"/>
          <p:cNvSpPr txBox="1">
            <a:spLocks noChangeArrowheads="1"/>
          </p:cNvSpPr>
          <p:nvPr/>
        </p:nvSpPr>
        <p:spPr bwMode="auto">
          <a:xfrm>
            <a:off x="7885113" y="4868863"/>
            <a:ext cx="58221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200"/>
              <a:t>Ch68</a:t>
            </a:r>
          </a:p>
        </p:txBody>
      </p:sp>
      <p:sp>
        <p:nvSpPr>
          <p:cNvPr id="23601" name="Line 51"/>
          <p:cNvSpPr>
            <a:spLocks noChangeShapeType="1"/>
          </p:cNvSpPr>
          <p:nvPr/>
        </p:nvSpPr>
        <p:spPr bwMode="auto">
          <a:xfrm>
            <a:off x="1258888" y="5013325"/>
            <a:ext cx="6626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stealth" w="med" len="med"/>
            <a:tailEnd type="arrow" w="med" len="med"/>
          </a:ln>
        </p:spPr>
        <p:txBody>
          <a:bodyPr/>
          <a:lstStyle/>
          <a:p>
            <a:endParaRPr lang="en-GB" sz="1600"/>
          </a:p>
        </p:txBody>
      </p:sp>
      <p:sp>
        <p:nvSpPr>
          <p:cNvPr id="23602" name="Text Box 52"/>
          <p:cNvSpPr txBox="1">
            <a:spLocks noChangeArrowheads="1"/>
          </p:cNvSpPr>
          <p:nvPr/>
        </p:nvSpPr>
        <p:spPr bwMode="auto">
          <a:xfrm>
            <a:off x="3995738" y="4868863"/>
            <a:ext cx="1088760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200"/>
              <a:t>48 channels</a:t>
            </a:r>
          </a:p>
        </p:txBody>
      </p:sp>
    </p:spTree>
    <p:extLst>
      <p:ext uri="{BB962C8B-B14F-4D97-AF65-F5344CB8AC3E}">
        <p14:creationId xmlns:p14="http://schemas.microsoft.com/office/powerpoint/2010/main" val="28041813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0A587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pic>
        <p:nvPicPr>
          <p:cNvPr id="44034" name="Picture 34"/>
          <p:cNvPicPr>
            <a:picLocks noChangeAspect="1" noChangeArrowheads="1"/>
          </p:cNvPicPr>
          <p:nvPr/>
        </p:nvPicPr>
        <p:blipFill>
          <a:blip r:embed="rId2" cstate="print"/>
          <a:srcRect t="5328"/>
          <a:stretch>
            <a:fillRect/>
          </a:stretch>
        </p:blipFill>
        <p:spPr bwMode="auto">
          <a:xfrm>
            <a:off x="2532821" y="1165645"/>
            <a:ext cx="6611179" cy="504537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44036" name="Picture 3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34608" y="810884"/>
            <a:ext cx="6599207" cy="3321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44037" name="Rectangle 35"/>
          <p:cNvSpPr>
            <a:spLocks noChangeArrowheads="1"/>
          </p:cNvSpPr>
          <p:nvPr/>
        </p:nvSpPr>
        <p:spPr bwMode="auto">
          <a:xfrm>
            <a:off x="2670175" y="2157832"/>
            <a:ext cx="6463641" cy="507730"/>
          </a:xfrm>
          <a:prstGeom prst="rect">
            <a:avLst/>
          </a:prstGeom>
          <a:solidFill>
            <a:schemeClr val="bg1">
              <a:alpha val="85097"/>
            </a:schemeClr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38" name="Rectangle 36"/>
          <p:cNvSpPr>
            <a:spLocks noChangeArrowheads="1"/>
          </p:cNvSpPr>
          <p:nvPr/>
        </p:nvSpPr>
        <p:spPr bwMode="auto">
          <a:xfrm>
            <a:off x="2638425" y="3977107"/>
            <a:ext cx="6495391" cy="534508"/>
          </a:xfrm>
          <a:prstGeom prst="rect">
            <a:avLst/>
          </a:prstGeom>
          <a:solidFill>
            <a:schemeClr val="bg1">
              <a:alpha val="85097"/>
            </a:schemeClr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39" name="Rectangle 37"/>
          <p:cNvSpPr>
            <a:spLocks noChangeArrowheads="1"/>
          </p:cNvSpPr>
          <p:nvPr/>
        </p:nvSpPr>
        <p:spPr bwMode="auto">
          <a:xfrm>
            <a:off x="2555876" y="5589918"/>
            <a:ext cx="6293270" cy="629728"/>
          </a:xfrm>
          <a:prstGeom prst="rect">
            <a:avLst/>
          </a:prstGeom>
          <a:solidFill>
            <a:schemeClr val="bg1">
              <a:alpha val="85097"/>
            </a:schemeClr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0" y="6387471"/>
            <a:ext cx="3381556" cy="253916"/>
          </a:xfrm>
          <a:prstGeom prst="rect">
            <a:avLst/>
          </a:prstGeom>
          <a:solidFill>
            <a:srgbClr val="9999FF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050" dirty="0">
                <a:solidFill>
                  <a:schemeClr val="bg1"/>
                </a:solidFill>
                <a:hlinkClick r:id="rId4"/>
              </a:rPr>
              <a:t>http://www.ukfree.tv/txdetail.php?a=SK113003</a:t>
            </a:r>
            <a:endParaRPr lang="en-GB" sz="1050" dirty="0">
              <a:solidFill>
                <a:schemeClr val="bg1"/>
              </a:solidFill>
            </a:endParaRPr>
          </a:p>
        </p:txBody>
      </p:sp>
      <p:sp>
        <p:nvSpPr>
          <p:cNvPr id="44041" name="Oval 1"/>
          <p:cNvSpPr>
            <a:spLocks noChangeArrowheads="1"/>
          </p:cNvSpPr>
          <p:nvPr/>
        </p:nvSpPr>
        <p:spPr bwMode="auto">
          <a:xfrm>
            <a:off x="6448545" y="1081088"/>
            <a:ext cx="1236663" cy="342900"/>
          </a:xfrm>
          <a:prstGeom prst="ellipse">
            <a:avLst/>
          </a:prstGeom>
          <a:noFill/>
          <a:ln w="50800" algn="ctr">
            <a:solidFill>
              <a:srgbClr val="FF33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42" name="Oval 40"/>
          <p:cNvSpPr>
            <a:spLocks noChangeArrowheads="1"/>
          </p:cNvSpPr>
          <p:nvPr/>
        </p:nvSpPr>
        <p:spPr bwMode="auto">
          <a:xfrm>
            <a:off x="6498447" y="2768750"/>
            <a:ext cx="1236663" cy="342900"/>
          </a:xfrm>
          <a:prstGeom prst="ellipse">
            <a:avLst/>
          </a:prstGeom>
          <a:noFill/>
          <a:ln w="50800" algn="ctr">
            <a:solidFill>
              <a:srgbClr val="FF33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43" name="Oval 41"/>
          <p:cNvSpPr>
            <a:spLocks noChangeArrowheads="1"/>
          </p:cNvSpPr>
          <p:nvPr/>
        </p:nvSpPr>
        <p:spPr bwMode="auto">
          <a:xfrm>
            <a:off x="6487334" y="4473395"/>
            <a:ext cx="1393825" cy="342900"/>
          </a:xfrm>
          <a:prstGeom prst="ellipse">
            <a:avLst/>
          </a:prstGeom>
          <a:noFill/>
          <a:ln w="50800" algn="ctr">
            <a:solidFill>
              <a:srgbClr val="FF33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348162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2113472"/>
            <a:ext cx="2173857" cy="3923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" name="Left Brace 25"/>
          <p:cNvSpPr/>
          <p:nvPr/>
        </p:nvSpPr>
        <p:spPr>
          <a:xfrm>
            <a:off x="2242869" y="828136"/>
            <a:ext cx="250166" cy="5357004"/>
          </a:xfrm>
          <a:prstGeom prst="leftBrace">
            <a:avLst>
              <a:gd name="adj1" fmla="val 79989"/>
              <a:gd name="adj2" fmla="val 50000"/>
            </a:avLst>
          </a:prstGeom>
          <a:noFill/>
          <a:ln w="25400">
            <a:solidFill>
              <a:srgbClr val="40C5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48164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0" y="331788"/>
            <a:ext cx="2171700" cy="17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286792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287" y="918132"/>
            <a:ext cx="731068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latin typeface="Lucida Sans Unicode" pitchFamily="34" charset="0"/>
              </a:rPr>
              <a:t>Multiplexing:</a:t>
            </a:r>
          </a:p>
          <a:p>
            <a:r>
              <a:rPr lang="en-GB" sz="5400" b="1" dirty="0">
                <a:latin typeface="Lucida Sans Unicode" pitchFamily="34" charset="0"/>
              </a:rPr>
              <a:t>FDM, TDM</a:t>
            </a:r>
          </a:p>
          <a:p>
            <a:r>
              <a:rPr lang="en-GB" sz="5400" b="1" dirty="0">
                <a:latin typeface="Lucida Sans Unicode" pitchFamily="34" charset="0"/>
              </a:rPr>
              <a:t>Statistical</a:t>
            </a:r>
          </a:p>
          <a:p>
            <a:endParaRPr lang="en-GB" sz="5400" b="1" dirty="0"/>
          </a:p>
          <a:p>
            <a:r>
              <a:rPr lang="en-GB" sz="3200" dirty="0">
                <a:latin typeface="Lucida Sans Unicode" pitchFamily="34" charset="0"/>
              </a:rPr>
              <a:t>Multiplexing: combination of signals to transmit on a common bearer / channel</a:t>
            </a:r>
          </a:p>
        </p:txBody>
      </p:sp>
    </p:spTree>
    <p:extLst>
      <p:ext uri="{BB962C8B-B14F-4D97-AF65-F5344CB8AC3E}">
        <p14:creationId xmlns:p14="http://schemas.microsoft.com/office/powerpoint/2010/main" val="22677652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Box 4"/>
          <p:cNvSpPr txBox="1">
            <a:spLocks noChangeArrowheads="1"/>
          </p:cNvSpPr>
          <p:nvPr/>
        </p:nvSpPr>
        <p:spPr bwMode="auto">
          <a:xfrm>
            <a:off x="393700" y="742411"/>
            <a:ext cx="785495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180975" indent="-180975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lvl="1">
              <a:lnSpc>
                <a:spcPct val="150000"/>
              </a:lnSpc>
              <a:buFont typeface="Arial" charset="0"/>
              <a:buChar char="•"/>
            </a:pPr>
            <a:r>
              <a:rPr lang="en-GB" dirty="0"/>
              <a:t>Each signal is modulated onto a different frequency (</a:t>
            </a:r>
            <a:r>
              <a:rPr lang="en-GB" i="1" dirty="0"/>
              <a:t>subcarrier</a:t>
            </a:r>
            <a:r>
              <a:rPr lang="en-GB" dirty="0"/>
              <a:t> )</a:t>
            </a:r>
          </a:p>
          <a:p>
            <a:endParaRPr lang="en-GB" dirty="0"/>
          </a:p>
        </p:txBody>
      </p:sp>
      <p:sp>
        <p:nvSpPr>
          <p:cNvPr id="7171" name="Rectangle 5"/>
          <p:cNvSpPr>
            <a:spLocks noChangeArrowheads="1"/>
          </p:cNvSpPr>
          <p:nvPr/>
        </p:nvSpPr>
        <p:spPr bwMode="auto">
          <a:xfrm>
            <a:off x="395288" y="331788"/>
            <a:ext cx="827021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lvl="1"/>
            <a:r>
              <a:rPr lang="en-GB" sz="2400" b="1" dirty="0">
                <a:solidFill>
                  <a:srgbClr val="000000"/>
                </a:solidFill>
                <a:latin typeface="Lucida Sans Unicode" pitchFamily="34" charset="0"/>
              </a:rPr>
              <a:t>Multiplexing - </a:t>
            </a:r>
            <a:r>
              <a:rPr lang="en-GB" sz="2400" b="1" dirty="0"/>
              <a:t>Frequency Division Multiplexing (FDM) </a:t>
            </a:r>
          </a:p>
          <a:p>
            <a:endParaRPr lang="en-GB" sz="2400" b="1" dirty="0">
              <a:solidFill>
                <a:srgbClr val="000000"/>
              </a:solidFill>
              <a:latin typeface="Lucida Sans Unicode" pitchFamily="34" charset="0"/>
            </a:endParaRPr>
          </a:p>
        </p:txBody>
      </p:sp>
      <p:pic>
        <p:nvPicPr>
          <p:cNvPr id="7172" name="Picture 5" descr="Figure 6.4 FDM proces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56" r="8748" b="5109"/>
          <a:stretch>
            <a:fillRect/>
          </a:stretch>
        </p:blipFill>
        <p:spPr bwMode="auto">
          <a:xfrm>
            <a:off x="148487" y="4140680"/>
            <a:ext cx="4483270" cy="2044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7" descr="Figure 6.5 FDM demultiplexing exampl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3" t="14244" b="4424"/>
          <a:stretch>
            <a:fillRect/>
          </a:stretch>
        </p:blipFill>
        <p:spPr bwMode="auto">
          <a:xfrm>
            <a:off x="4603750" y="4149306"/>
            <a:ext cx="4462890" cy="2030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11" descr="http://upload.wikimedia.org/wikipedia/commons/e/ee/Frequency_division_multiplexing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659"/>
          <a:stretch/>
        </p:blipFill>
        <p:spPr bwMode="auto">
          <a:xfrm>
            <a:off x="2068633" y="1389213"/>
            <a:ext cx="2313241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ight Brace 1"/>
          <p:cNvSpPr/>
          <p:nvPr/>
        </p:nvSpPr>
        <p:spPr bwMode="auto">
          <a:xfrm>
            <a:off x="4519034" y="1595715"/>
            <a:ext cx="329184" cy="1773936"/>
          </a:xfrm>
          <a:prstGeom prst="rightBrace">
            <a:avLst>
              <a:gd name="adj1" fmla="val 27777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3700" y="1963373"/>
            <a:ext cx="178015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Lucida Sans Unicode" pitchFamily="34" charset="0"/>
              </a:rPr>
              <a:t>“baseband”</a:t>
            </a:r>
          </a:p>
          <a:p>
            <a:r>
              <a:rPr lang="en-GB" sz="1400" dirty="0">
                <a:latin typeface="Lucida Sans Unicode" pitchFamily="34" charset="0"/>
              </a:rPr>
              <a:t>signals</a:t>
            </a:r>
          </a:p>
          <a:p>
            <a:pPr marL="85725"/>
            <a:r>
              <a:rPr lang="en-GB" sz="1400" dirty="0">
                <a:latin typeface="Lucida Sans Unicode" pitchFamily="34" charset="0"/>
              </a:rPr>
              <a:t>i.e. </a:t>
            </a:r>
            <a:r>
              <a:rPr lang="en-GB" sz="1400" dirty="0" err="1">
                <a:latin typeface="Lucida Sans Unicode" pitchFamily="34" charset="0"/>
              </a:rPr>
              <a:t>unmodulated</a:t>
            </a:r>
            <a:r>
              <a:rPr lang="en-GB" sz="1400" dirty="0">
                <a:latin typeface="Lucida Sans Unicode" pitchFamily="34" charset="0"/>
              </a:rPr>
              <a:t> original signal</a:t>
            </a:r>
          </a:p>
          <a:p>
            <a:endParaRPr lang="en-GB" sz="1400" dirty="0">
              <a:latin typeface="Lucida Sans Unicode" pitchFamily="34" charset="0"/>
            </a:endParaRPr>
          </a:p>
        </p:txBody>
      </p:sp>
      <p:cxnSp>
        <p:nvCxnSpPr>
          <p:cNvPr id="5" name="Straight Arrow Connector 4"/>
          <p:cNvCxnSpPr/>
          <p:nvPr/>
        </p:nvCxnSpPr>
        <p:spPr bwMode="auto">
          <a:xfrm>
            <a:off x="1775834" y="2043771"/>
            <a:ext cx="896114" cy="365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>
            <a:off x="1757546" y="2052915"/>
            <a:ext cx="950978" cy="97840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865" y="1379198"/>
            <a:ext cx="3061716" cy="1887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495544" y="2979909"/>
            <a:ext cx="14350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Lucida Sans Unicode" pitchFamily="34" charset="0"/>
              </a:rPr>
              <a:t>f</a:t>
            </a:r>
            <a:r>
              <a:rPr lang="en-GB" sz="1200" baseline="-25000" dirty="0">
                <a:latin typeface="Lucida Sans Unicode" pitchFamily="34" charset="0"/>
              </a:rPr>
              <a:t>1</a:t>
            </a:r>
            <a:r>
              <a:rPr lang="en-GB" sz="1200" dirty="0">
                <a:latin typeface="Lucida Sans Unicode" pitchFamily="34" charset="0"/>
              </a:rPr>
              <a:t>                    f</a:t>
            </a:r>
            <a:r>
              <a:rPr lang="en-GB" sz="1200" baseline="-25000" dirty="0">
                <a:latin typeface="Lucida Sans Unicode" pitchFamily="34" charset="0"/>
              </a:rPr>
              <a:t>2</a:t>
            </a:r>
            <a:r>
              <a:rPr lang="en-GB" sz="1200" dirty="0">
                <a:latin typeface="Lucida Sans Unicode" pitchFamily="34" charset="0"/>
              </a:rPr>
              <a:t> </a:t>
            </a:r>
          </a:p>
        </p:txBody>
      </p:sp>
      <p:cxnSp>
        <p:nvCxnSpPr>
          <p:cNvPr id="7" name="Straight Connector 6"/>
          <p:cNvCxnSpPr/>
          <p:nvPr/>
        </p:nvCxnSpPr>
        <p:spPr bwMode="auto">
          <a:xfrm>
            <a:off x="5641848" y="2275821"/>
            <a:ext cx="0" cy="65836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/>
          <p:cNvCxnSpPr/>
          <p:nvPr/>
        </p:nvCxnSpPr>
        <p:spPr bwMode="auto">
          <a:xfrm>
            <a:off x="6729984" y="2294109"/>
            <a:ext cx="0" cy="6858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032277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ChangeArrowheads="1"/>
          </p:cNvSpPr>
          <p:nvPr/>
        </p:nvSpPr>
        <p:spPr bwMode="auto">
          <a:xfrm>
            <a:off x="393700" y="766763"/>
            <a:ext cx="73025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180975" lvl="1" indent="-180975">
              <a:lnSpc>
                <a:spcPct val="150000"/>
              </a:lnSpc>
              <a:buFont typeface="Arial" charset="0"/>
              <a:buChar char="•"/>
            </a:pPr>
            <a:r>
              <a:rPr lang="en-GB" sz="1600" dirty="0">
                <a:latin typeface="Lucida Sans Unicode" pitchFamily="34" charset="0"/>
              </a:rPr>
              <a:t>Multiple signals are interleaved (in bits or blocks) over time</a:t>
            </a:r>
          </a:p>
        </p:txBody>
      </p:sp>
      <p:sp>
        <p:nvSpPr>
          <p:cNvPr id="8195" name="Rectangle 2"/>
          <p:cNvSpPr>
            <a:spLocks noChangeArrowheads="1"/>
          </p:cNvSpPr>
          <p:nvPr/>
        </p:nvSpPr>
        <p:spPr bwMode="auto">
          <a:xfrm>
            <a:off x="395288" y="331788"/>
            <a:ext cx="75168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lvl="1"/>
            <a:r>
              <a:rPr lang="en-GB" sz="2400" b="1" dirty="0">
                <a:solidFill>
                  <a:srgbClr val="000000"/>
                </a:solidFill>
                <a:latin typeface="Lucida Sans Unicode" pitchFamily="34" charset="0"/>
              </a:rPr>
              <a:t>Multiplexing - </a:t>
            </a:r>
            <a:r>
              <a:rPr lang="en-GB" sz="2400" b="1" dirty="0">
                <a:latin typeface="Lucida Sans Unicode" pitchFamily="34" charset="0"/>
              </a:rPr>
              <a:t>Time Division Multiplexing (TDM) </a:t>
            </a:r>
          </a:p>
        </p:txBody>
      </p:sp>
      <p:pic>
        <p:nvPicPr>
          <p:cNvPr id="8197" name="Picture 10" descr="http://www.globalspec.com/RefArticleImages/1002E2581441ED3C3C876BC8F6D930F7_6_CH06_12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23" t="21654" r="13351" b="5763"/>
          <a:stretch>
            <a:fillRect/>
          </a:stretch>
        </p:blipFill>
        <p:spPr bwMode="auto">
          <a:xfrm>
            <a:off x="393700" y="1337543"/>
            <a:ext cx="4643437" cy="183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8" descr="http://image.absoluteastronomy.com/images/encyclopediaimages/t/td/tdma-frame-structur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051" b="10465"/>
          <a:stretch>
            <a:fillRect/>
          </a:stretch>
        </p:blipFill>
        <p:spPr bwMode="auto">
          <a:xfrm>
            <a:off x="5529533" y="3390180"/>
            <a:ext cx="3262844" cy="2941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673525" y="3536831"/>
            <a:ext cx="389914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400" dirty="0">
                <a:latin typeface="Lucida Sans Unicode" pitchFamily="34" charset="0"/>
              </a:rPr>
              <a:t>Data streams divided into frames</a:t>
            </a:r>
          </a:p>
          <a:p>
            <a:pPr algn="r"/>
            <a:endParaRPr lang="en-GB" sz="1400" dirty="0">
              <a:latin typeface="Lucida Sans Unicode" pitchFamily="34" charset="0"/>
            </a:endParaRPr>
          </a:p>
          <a:p>
            <a:pPr algn="r"/>
            <a:endParaRPr lang="en-GB" sz="1400" dirty="0">
              <a:latin typeface="Lucida Sans Unicode" pitchFamily="34" charset="0"/>
            </a:endParaRPr>
          </a:p>
          <a:p>
            <a:pPr algn="r"/>
            <a:endParaRPr lang="en-GB" sz="1400" dirty="0">
              <a:latin typeface="Lucida Sans Unicode" pitchFamily="34" charset="0"/>
            </a:endParaRPr>
          </a:p>
          <a:p>
            <a:pPr algn="r"/>
            <a:r>
              <a:rPr lang="en-GB" sz="1400" dirty="0">
                <a:latin typeface="Lucida Sans Unicode" pitchFamily="34" charset="0"/>
              </a:rPr>
              <a:t>Frames divided into time slots</a:t>
            </a:r>
          </a:p>
          <a:p>
            <a:pPr algn="r"/>
            <a:r>
              <a:rPr lang="en-GB" sz="1400" dirty="0">
                <a:latin typeface="Lucida Sans Unicode" pitchFamily="34" charset="0"/>
              </a:rPr>
              <a:t>Each user is allocated one time slot</a:t>
            </a:r>
          </a:p>
          <a:p>
            <a:pPr algn="r"/>
            <a:endParaRPr lang="en-GB" sz="1400" dirty="0">
              <a:latin typeface="Lucida Sans Unicode" pitchFamily="34" charset="0"/>
            </a:endParaRPr>
          </a:p>
          <a:p>
            <a:pPr algn="r"/>
            <a:endParaRPr lang="en-GB" sz="1400" dirty="0">
              <a:latin typeface="Lucida Sans Unicode" pitchFamily="34" charset="0"/>
            </a:endParaRPr>
          </a:p>
          <a:p>
            <a:pPr algn="r"/>
            <a:endParaRPr lang="en-GB" sz="1400" dirty="0">
              <a:latin typeface="Lucida Sans Unicode" pitchFamily="34" charset="0"/>
            </a:endParaRPr>
          </a:p>
          <a:p>
            <a:pPr algn="r"/>
            <a:r>
              <a:rPr lang="en-GB" sz="1400" dirty="0">
                <a:latin typeface="Lucida Sans Unicode" pitchFamily="34" charset="0"/>
              </a:rPr>
              <a:t>Time slots contain data with guard period if needed for synchronisation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47117" y="4615132"/>
            <a:ext cx="298480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Lucida Sans Unicode" pitchFamily="34" charset="0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54815" y="4623757"/>
            <a:ext cx="298480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Lucida Sans Unicode" pitchFamily="34" charset="0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24159" y="4623757"/>
            <a:ext cx="298480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Lucida Sans Unicode" pitchFamily="34" charset="0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450" y="4278702"/>
            <a:ext cx="560715" cy="681487"/>
          </a:xfrm>
          <a:prstGeom prst="rect">
            <a:avLst/>
          </a:prstGeom>
          <a:solidFill>
            <a:srgbClr val="0000FF"/>
          </a:solidFill>
        </p:spPr>
        <p:txBody>
          <a:bodyPr wrap="square" rtlCol="0">
            <a:noAutofit/>
          </a:bodyPr>
          <a:lstStyle/>
          <a:p>
            <a:endParaRPr lang="en-GB" sz="1400" dirty="0">
              <a:solidFill>
                <a:schemeClr val="bg1"/>
              </a:solidFill>
              <a:latin typeface="Lucida Sans Unicode" pitchFamily="34" charset="0"/>
            </a:endParaRPr>
          </a:p>
          <a:p>
            <a:endParaRPr lang="en-GB" sz="800" dirty="0">
              <a:solidFill>
                <a:schemeClr val="bg1"/>
              </a:solidFill>
              <a:latin typeface="Lucida Sans Unicode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Lucida Sans Unicode" pitchFamily="34" charset="0"/>
              </a:rPr>
              <a:t>  </a:t>
            </a:r>
            <a:r>
              <a:rPr lang="en-GB" sz="1400" b="1" dirty="0">
                <a:solidFill>
                  <a:schemeClr val="bg1"/>
                </a:solidFill>
                <a:latin typeface="Lucida Sans Unicode" pitchFamily="34" charset="0"/>
              </a:rPr>
              <a:t>2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5546785" y="5615796"/>
            <a:ext cx="2639683" cy="474453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5581291" y="5641675"/>
            <a:ext cx="370936" cy="439948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0409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596900" y="4337050"/>
            <a:ext cx="8115300" cy="338138"/>
            <a:chOff x="385" y="1253"/>
            <a:chExt cx="5112" cy="213"/>
          </a:xfrm>
        </p:grpSpPr>
        <p:sp>
          <p:nvSpPr>
            <p:cNvPr id="4118" name="Text Box 4"/>
            <p:cNvSpPr txBox="1">
              <a:spLocks noChangeArrowheads="1"/>
            </p:cNvSpPr>
            <p:nvPr/>
          </p:nvSpPr>
          <p:spPr bwMode="auto">
            <a:xfrm>
              <a:off x="2109" y="1253"/>
              <a:ext cx="780" cy="21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 sz="1600" b="1" dirty="0">
                  <a:solidFill>
                    <a:srgbClr val="FF3300"/>
                  </a:solidFill>
                  <a:latin typeface="Lucida Sans Unicode" pitchFamily="34" charset="0"/>
                </a:rPr>
                <a:t>10110011</a:t>
              </a:r>
              <a:endParaRPr lang="en-US" sz="1600" b="1" dirty="0">
                <a:solidFill>
                  <a:srgbClr val="FF3300"/>
                </a:solidFill>
                <a:latin typeface="Lucida Sans Unicode" pitchFamily="34" charset="0"/>
              </a:endParaRPr>
            </a:p>
          </p:txBody>
        </p:sp>
        <p:sp>
          <p:nvSpPr>
            <p:cNvPr id="4119" name="Text Box 5"/>
            <p:cNvSpPr txBox="1">
              <a:spLocks noChangeArrowheads="1"/>
            </p:cNvSpPr>
            <p:nvPr/>
          </p:nvSpPr>
          <p:spPr bwMode="auto">
            <a:xfrm>
              <a:off x="1292" y="1289"/>
              <a:ext cx="439" cy="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800" dirty="0">
                  <a:latin typeface="Lucida Sans Unicode" pitchFamily="34" charset="0"/>
                </a:rPr>
                <a:t>01001001</a:t>
              </a:r>
              <a:endParaRPr lang="en-US" sz="800" dirty="0">
                <a:latin typeface="Lucida Sans Unicode" pitchFamily="34" charset="0"/>
              </a:endParaRPr>
            </a:p>
          </p:txBody>
        </p:sp>
        <p:sp>
          <p:nvSpPr>
            <p:cNvPr id="4120" name="Text Box 6"/>
            <p:cNvSpPr txBox="1">
              <a:spLocks noChangeArrowheads="1"/>
            </p:cNvSpPr>
            <p:nvPr/>
          </p:nvSpPr>
          <p:spPr bwMode="auto">
            <a:xfrm>
              <a:off x="1701" y="1298"/>
              <a:ext cx="439" cy="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800" dirty="0">
                  <a:latin typeface="Lucida Sans Unicode" pitchFamily="34" charset="0"/>
                </a:rPr>
                <a:t>10010001</a:t>
              </a:r>
              <a:endParaRPr lang="en-US" sz="800" dirty="0">
                <a:latin typeface="Lucida Sans Unicode" pitchFamily="34" charset="0"/>
              </a:endParaRPr>
            </a:p>
          </p:txBody>
        </p:sp>
        <p:sp>
          <p:nvSpPr>
            <p:cNvPr id="4121" name="Text Box 7"/>
            <p:cNvSpPr txBox="1">
              <a:spLocks noChangeArrowheads="1"/>
            </p:cNvSpPr>
            <p:nvPr/>
          </p:nvSpPr>
          <p:spPr bwMode="auto">
            <a:xfrm>
              <a:off x="838" y="1289"/>
              <a:ext cx="480" cy="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800" dirty="0">
                  <a:latin typeface="Lucida Sans Unicode" pitchFamily="34" charset="0"/>
                </a:rPr>
                <a:t>010100101</a:t>
              </a:r>
              <a:endParaRPr lang="en-US" sz="800" dirty="0">
                <a:latin typeface="Lucida Sans Unicode" pitchFamily="34" charset="0"/>
              </a:endParaRPr>
            </a:p>
          </p:txBody>
        </p:sp>
        <p:sp>
          <p:nvSpPr>
            <p:cNvPr id="4122" name="Text Box 8"/>
            <p:cNvSpPr txBox="1">
              <a:spLocks noChangeArrowheads="1"/>
            </p:cNvSpPr>
            <p:nvPr/>
          </p:nvSpPr>
          <p:spPr bwMode="auto">
            <a:xfrm>
              <a:off x="385" y="1289"/>
              <a:ext cx="480" cy="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800" dirty="0">
                  <a:latin typeface="Lucida Sans Unicode" pitchFamily="34" charset="0"/>
                </a:rPr>
                <a:t>010100101</a:t>
              </a:r>
              <a:endParaRPr lang="en-US" sz="800" dirty="0">
                <a:latin typeface="Lucida Sans Unicode" pitchFamily="34" charset="0"/>
              </a:endParaRPr>
            </a:p>
          </p:txBody>
        </p:sp>
        <p:sp>
          <p:nvSpPr>
            <p:cNvPr id="4123" name="Text Box 9"/>
            <p:cNvSpPr txBox="1">
              <a:spLocks noChangeArrowheads="1"/>
            </p:cNvSpPr>
            <p:nvPr/>
          </p:nvSpPr>
          <p:spPr bwMode="auto">
            <a:xfrm>
              <a:off x="3334" y="1298"/>
              <a:ext cx="439" cy="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800" dirty="0">
                  <a:latin typeface="Lucida Sans Unicode" pitchFamily="34" charset="0"/>
                </a:rPr>
                <a:t>10010001</a:t>
              </a:r>
              <a:endParaRPr lang="en-US" sz="800" dirty="0">
                <a:latin typeface="Lucida Sans Unicode" pitchFamily="34" charset="0"/>
              </a:endParaRPr>
            </a:p>
          </p:txBody>
        </p:sp>
        <p:sp>
          <p:nvSpPr>
            <p:cNvPr id="4124" name="Text Box 11"/>
            <p:cNvSpPr txBox="1">
              <a:spLocks noChangeArrowheads="1"/>
            </p:cNvSpPr>
            <p:nvPr/>
          </p:nvSpPr>
          <p:spPr bwMode="auto">
            <a:xfrm>
              <a:off x="3742" y="1298"/>
              <a:ext cx="439" cy="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800" dirty="0">
                  <a:latin typeface="Lucida Sans Unicode" pitchFamily="34" charset="0"/>
                </a:rPr>
                <a:t>01001001</a:t>
              </a:r>
              <a:endParaRPr lang="en-US" sz="800" dirty="0">
                <a:latin typeface="Lucida Sans Unicode" pitchFamily="34" charset="0"/>
              </a:endParaRPr>
            </a:p>
          </p:txBody>
        </p:sp>
        <p:sp>
          <p:nvSpPr>
            <p:cNvPr id="4125" name="Text Box 10"/>
            <p:cNvSpPr txBox="1">
              <a:spLocks noChangeArrowheads="1"/>
            </p:cNvSpPr>
            <p:nvPr/>
          </p:nvSpPr>
          <p:spPr bwMode="auto">
            <a:xfrm>
              <a:off x="2880" y="1298"/>
              <a:ext cx="480" cy="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800" dirty="0">
                  <a:latin typeface="Lucida Sans Unicode" pitchFamily="34" charset="0"/>
                </a:rPr>
                <a:t>010100101</a:t>
              </a:r>
              <a:endParaRPr lang="en-US" sz="800" dirty="0">
                <a:latin typeface="Lucida Sans Unicode" pitchFamily="34" charset="0"/>
              </a:endParaRPr>
            </a:p>
          </p:txBody>
        </p:sp>
        <p:sp>
          <p:nvSpPr>
            <p:cNvPr id="4126" name="Text Box 12"/>
            <p:cNvSpPr txBox="1">
              <a:spLocks noChangeArrowheads="1"/>
            </p:cNvSpPr>
            <p:nvPr/>
          </p:nvSpPr>
          <p:spPr bwMode="auto">
            <a:xfrm>
              <a:off x="4150" y="1298"/>
              <a:ext cx="480" cy="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800" dirty="0">
                  <a:latin typeface="Lucida Sans Unicode" pitchFamily="34" charset="0"/>
                </a:rPr>
                <a:t>010100101</a:t>
              </a:r>
              <a:endParaRPr lang="en-US" sz="800" dirty="0">
                <a:latin typeface="Lucida Sans Unicode" pitchFamily="34" charset="0"/>
              </a:endParaRPr>
            </a:p>
          </p:txBody>
        </p:sp>
        <p:sp>
          <p:nvSpPr>
            <p:cNvPr id="4127" name="Text Box 14"/>
            <p:cNvSpPr txBox="1">
              <a:spLocks noChangeArrowheads="1"/>
            </p:cNvSpPr>
            <p:nvPr/>
          </p:nvSpPr>
          <p:spPr bwMode="auto">
            <a:xfrm>
              <a:off x="5058" y="1298"/>
              <a:ext cx="439" cy="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800" dirty="0">
                  <a:latin typeface="Lucida Sans Unicode" pitchFamily="34" charset="0"/>
                </a:rPr>
                <a:t>01001001</a:t>
              </a:r>
              <a:endParaRPr lang="en-US" sz="800" dirty="0">
                <a:latin typeface="Lucida Sans Unicode" pitchFamily="34" charset="0"/>
              </a:endParaRPr>
            </a:p>
          </p:txBody>
        </p:sp>
        <p:sp>
          <p:nvSpPr>
            <p:cNvPr id="4128" name="Text Box 15"/>
            <p:cNvSpPr txBox="1">
              <a:spLocks noChangeArrowheads="1"/>
            </p:cNvSpPr>
            <p:nvPr/>
          </p:nvSpPr>
          <p:spPr bwMode="auto">
            <a:xfrm>
              <a:off x="4604" y="1298"/>
              <a:ext cx="480" cy="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800" dirty="0">
                  <a:latin typeface="Lucida Sans Unicode" pitchFamily="34" charset="0"/>
                </a:rPr>
                <a:t>010100101</a:t>
              </a:r>
              <a:endParaRPr lang="en-US" sz="800" dirty="0">
                <a:latin typeface="Lucida Sans Unicode" pitchFamily="34" charset="0"/>
              </a:endParaRPr>
            </a:p>
          </p:txBody>
        </p:sp>
      </p:grpSp>
      <p:sp>
        <p:nvSpPr>
          <p:cNvPr id="4099" name="Text Box 17"/>
          <p:cNvSpPr txBox="1">
            <a:spLocks noChangeArrowheads="1"/>
          </p:cNvSpPr>
          <p:nvPr/>
        </p:nvSpPr>
        <p:spPr bwMode="auto">
          <a:xfrm>
            <a:off x="381000" y="381000"/>
            <a:ext cx="37147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latin typeface="Lucida Sans Unicode" pitchFamily="34" charset="0"/>
              </a:rPr>
              <a:t>Time Division Multiplex</a:t>
            </a:r>
            <a:endParaRPr lang="en-US" sz="2400" b="1" dirty="0">
              <a:latin typeface="Lucida Sans Unicode" pitchFamily="34" charset="0"/>
            </a:endParaRPr>
          </a:p>
        </p:txBody>
      </p:sp>
      <p:sp>
        <p:nvSpPr>
          <p:cNvPr id="4100" name="Text Box 18"/>
          <p:cNvSpPr txBox="1">
            <a:spLocks noChangeArrowheads="1"/>
          </p:cNvSpPr>
          <p:nvPr/>
        </p:nvSpPr>
        <p:spPr bwMode="auto">
          <a:xfrm>
            <a:off x="381000" y="981075"/>
            <a:ext cx="587853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dirty="0">
                <a:latin typeface="Lucida Sans Unicode" pitchFamily="34" charset="0"/>
              </a:rPr>
              <a:t>4kHz voice sampled at 8kHz (f</a:t>
            </a:r>
            <a:r>
              <a:rPr lang="en-GB" sz="1400" dirty="0">
                <a:latin typeface="Lucida Sans Unicode" pitchFamily="34" charset="0"/>
              </a:rPr>
              <a:t>s</a:t>
            </a:r>
            <a:r>
              <a:rPr lang="en-GB" dirty="0">
                <a:latin typeface="Lucida Sans Unicode" pitchFamily="34" charset="0"/>
              </a:rPr>
              <a:t>) into 8 bits binary</a:t>
            </a:r>
            <a:endParaRPr lang="en-US" dirty="0">
              <a:latin typeface="Lucida Sans Unicode" pitchFamily="34" charset="0"/>
            </a:endParaRPr>
          </a:p>
        </p:txBody>
      </p:sp>
      <p:sp>
        <p:nvSpPr>
          <p:cNvPr id="4101" name="Rectangle 21"/>
          <p:cNvSpPr>
            <a:spLocks noChangeArrowheads="1"/>
          </p:cNvSpPr>
          <p:nvPr/>
        </p:nvSpPr>
        <p:spPr bwMode="auto">
          <a:xfrm>
            <a:off x="1802251" y="5438775"/>
            <a:ext cx="611417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e.g. for UK / European E1 Multiplexes: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30 channels of speech into 32 channel frame “Multiplex”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Lucida Sans Unicode" pitchFamily="34" charset="0"/>
              </a:rPr>
              <a:t>32 channels x 8b x 8kHz = 2.048Mbs-1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 dirty="0">
                <a:latin typeface="Lucida Sans Unicode" pitchFamily="34" charset="0"/>
              </a:rPr>
              <a:t>(includes 1 channel signalling and 1 channel synchronisation) </a:t>
            </a:r>
          </a:p>
        </p:txBody>
      </p:sp>
      <p:sp>
        <p:nvSpPr>
          <p:cNvPr id="4102" name="AutoShape 26"/>
          <p:cNvSpPr>
            <a:spLocks/>
          </p:cNvSpPr>
          <p:nvPr/>
        </p:nvSpPr>
        <p:spPr bwMode="auto">
          <a:xfrm rot="5400000">
            <a:off x="4485481" y="1124744"/>
            <a:ext cx="287338" cy="8064500"/>
          </a:xfrm>
          <a:prstGeom prst="rightBrace">
            <a:avLst>
              <a:gd name="adj1" fmla="val 233885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>
              <a:latin typeface="Lucida Sans Unicode" pitchFamily="34" charset="0"/>
            </a:endParaRPr>
          </a:p>
        </p:txBody>
      </p:sp>
      <p:sp>
        <p:nvSpPr>
          <p:cNvPr id="4103" name="Rectangle 27"/>
          <p:cNvSpPr>
            <a:spLocks noChangeArrowheads="1"/>
          </p:cNvSpPr>
          <p:nvPr/>
        </p:nvSpPr>
        <p:spPr bwMode="auto">
          <a:xfrm>
            <a:off x="-14288" y="4408488"/>
            <a:ext cx="611188" cy="2159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Lucida Sans Unicode" pitchFamily="34" charset="0"/>
            </a:endParaRPr>
          </a:p>
        </p:txBody>
      </p:sp>
      <p:sp>
        <p:nvSpPr>
          <p:cNvPr id="4104" name="Rectangle 28"/>
          <p:cNvSpPr>
            <a:spLocks noChangeArrowheads="1"/>
          </p:cNvSpPr>
          <p:nvPr/>
        </p:nvSpPr>
        <p:spPr bwMode="auto">
          <a:xfrm>
            <a:off x="8661400" y="4408488"/>
            <a:ext cx="468313" cy="2159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Lucida Sans Unicode" pitchFamily="34" charset="0"/>
            </a:endParaRPr>
          </a:p>
        </p:txBody>
      </p:sp>
      <p:sp>
        <p:nvSpPr>
          <p:cNvPr id="4105" name="Text Box 29"/>
          <p:cNvSpPr txBox="1">
            <a:spLocks noChangeArrowheads="1"/>
          </p:cNvSpPr>
          <p:nvPr/>
        </p:nvSpPr>
        <p:spPr bwMode="auto">
          <a:xfrm>
            <a:off x="93663" y="4697413"/>
            <a:ext cx="91376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000" dirty="0">
                <a:latin typeface="Lucida Sans Unicode" pitchFamily="34" charset="0"/>
              </a:rPr>
              <a:t>TS1             TS2            TS3           TS4          TS5                 TS6                    TS7           TS8 …………………………………………………………………. </a:t>
            </a:r>
            <a:endParaRPr lang="en-US" sz="1000" dirty="0">
              <a:latin typeface="Lucida Sans Unicode" pitchFamily="34" charset="0"/>
            </a:endParaRPr>
          </a:p>
        </p:txBody>
      </p:sp>
      <p:pic>
        <p:nvPicPr>
          <p:cNvPr id="4106" name="Picture 3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773238"/>
            <a:ext cx="8763000" cy="100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7" name="Line 31"/>
          <p:cNvSpPr>
            <a:spLocks noChangeShapeType="1"/>
          </p:cNvSpPr>
          <p:nvPr/>
        </p:nvSpPr>
        <p:spPr bwMode="auto">
          <a:xfrm flipH="1">
            <a:off x="0" y="2492375"/>
            <a:ext cx="4859338" cy="12969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4108" name="Line 32"/>
          <p:cNvSpPr>
            <a:spLocks noChangeShapeType="1"/>
          </p:cNvSpPr>
          <p:nvPr/>
        </p:nvSpPr>
        <p:spPr bwMode="auto">
          <a:xfrm flipH="1">
            <a:off x="4140200" y="2708275"/>
            <a:ext cx="863600" cy="15128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4109" name="Line 33"/>
          <p:cNvSpPr>
            <a:spLocks noChangeShapeType="1"/>
          </p:cNvSpPr>
          <p:nvPr/>
        </p:nvSpPr>
        <p:spPr bwMode="auto">
          <a:xfrm>
            <a:off x="5148263" y="2565400"/>
            <a:ext cx="3995737" cy="122396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4110" name="Line 34"/>
          <p:cNvSpPr>
            <a:spLocks noChangeShapeType="1"/>
          </p:cNvSpPr>
          <p:nvPr/>
        </p:nvSpPr>
        <p:spPr bwMode="auto">
          <a:xfrm>
            <a:off x="4932363" y="2133600"/>
            <a:ext cx="0" cy="4318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4111" name="Line 35"/>
          <p:cNvSpPr>
            <a:spLocks noChangeShapeType="1"/>
          </p:cNvSpPr>
          <p:nvPr/>
        </p:nvSpPr>
        <p:spPr bwMode="auto">
          <a:xfrm>
            <a:off x="5003800" y="1989138"/>
            <a:ext cx="0" cy="7207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4112" name="Line 36"/>
          <p:cNvSpPr>
            <a:spLocks noChangeShapeType="1"/>
          </p:cNvSpPr>
          <p:nvPr/>
        </p:nvSpPr>
        <p:spPr bwMode="auto">
          <a:xfrm>
            <a:off x="5076825" y="2062163"/>
            <a:ext cx="0" cy="57467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/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4113" name="Text Box 37"/>
          <p:cNvSpPr txBox="1">
            <a:spLocks noChangeArrowheads="1"/>
          </p:cNvSpPr>
          <p:nvPr/>
        </p:nvSpPr>
        <p:spPr bwMode="auto">
          <a:xfrm>
            <a:off x="381000" y="2924175"/>
            <a:ext cx="8129588" cy="338138"/>
          </a:xfrm>
          <a:prstGeom prst="rect">
            <a:avLst/>
          </a:prstGeom>
          <a:solidFill>
            <a:schemeClr val="bg1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>
                <a:latin typeface="Lucida Sans Unicode" pitchFamily="34" charset="0"/>
              </a:rPr>
              <a:t>Analogue – Digital:  Samples are dropped into allocated timeslot for each frame</a:t>
            </a:r>
            <a:endParaRPr lang="en-US" sz="1600" dirty="0">
              <a:latin typeface="Lucida Sans Unicode" pitchFamily="34" charset="0"/>
            </a:endParaRPr>
          </a:p>
        </p:txBody>
      </p:sp>
      <p:sp>
        <p:nvSpPr>
          <p:cNvPr id="4114" name="Text Box 38"/>
          <p:cNvSpPr txBox="1">
            <a:spLocks noChangeArrowheads="1"/>
          </p:cNvSpPr>
          <p:nvPr/>
        </p:nvSpPr>
        <p:spPr bwMode="auto">
          <a:xfrm>
            <a:off x="381000" y="3644900"/>
            <a:ext cx="224631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400" dirty="0">
                <a:latin typeface="Lucida Sans Unicode" pitchFamily="34" charset="0"/>
              </a:rPr>
              <a:t>TS6 previous frame</a:t>
            </a:r>
            <a:endParaRPr lang="en-US" sz="1400" dirty="0">
              <a:latin typeface="Lucida Sans Unicode" pitchFamily="34" charset="0"/>
            </a:endParaRPr>
          </a:p>
        </p:txBody>
      </p:sp>
      <p:sp>
        <p:nvSpPr>
          <p:cNvPr id="4115" name="Text Box 39"/>
          <p:cNvSpPr txBox="1">
            <a:spLocks noChangeArrowheads="1"/>
          </p:cNvSpPr>
          <p:nvPr/>
        </p:nvSpPr>
        <p:spPr bwMode="auto">
          <a:xfrm>
            <a:off x="4284663" y="3789363"/>
            <a:ext cx="1449387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dirty="0">
                <a:latin typeface="Lucida Sans Unicode" pitchFamily="34" charset="0"/>
              </a:rPr>
              <a:t>TS6 this frame</a:t>
            </a:r>
            <a:endParaRPr lang="en-US" sz="1400" dirty="0">
              <a:latin typeface="Lucida Sans Unicode" pitchFamily="34" charset="0"/>
            </a:endParaRPr>
          </a:p>
        </p:txBody>
      </p:sp>
      <p:sp>
        <p:nvSpPr>
          <p:cNvPr id="4116" name="Text Box 40"/>
          <p:cNvSpPr txBox="1">
            <a:spLocks noChangeArrowheads="1"/>
          </p:cNvSpPr>
          <p:nvPr/>
        </p:nvSpPr>
        <p:spPr bwMode="auto">
          <a:xfrm>
            <a:off x="6948488" y="3429000"/>
            <a:ext cx="15160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 dirty="0">
                <a:latin typeface="Lucida Sans Unicode" pitchFamily="34" charset="0"/>
              </a:rPr>
              <a:t>TS6 next frame</a:t>
            </a:r>
            <a:endParaRPr lang="en-US" sz="1400" dirty="0">
              <a:latin typeface="Lucida Sans Unicode" pitchFamily="34" charset="0"/>
            </a:endParaRPr>
          </a:p>
        </p:txBody>
      </p:sp>
      <p:sp>
        <p:nvSpPr>
          <p:cNvPr id="4117" name="Line 41"/>
          <p:cNvSpPr>
            <a:spLocks noChangeShapeType="1"/>
          </p:cNvSpPr>
          <p:nvPr/>
        </p:nvSpPr>
        <p:spPr bwMode="auto">
          <a:xfrm>
            <a:off x="4859338" y="1268413"/>
            <a:ext cx="144462" cy="6477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GB" dirty="0">
              <a:latin typeface="Lucida Sans Unicode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954838" y="5634245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sz="1600" dirty="0">
              <a:latin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0669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2425149" y="1176794"/>
            <a:ext cx="2385390" cy="32202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none" rtlCol="0">
            <a:noAutofit/>
          </a:bodyPr>
          <a:lstStyle/>
          <a:p>
            <a:r>
              <a:rPr lang="en-GB" sz="1600" b="1" dirty="0">
                <a:latin typeface="Lucida Sans Unicode" pitchFamily="34" charset="0"/>
              </a:rPr>
              <a:t>Statistical Multiplexer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23190" y="1520725"/>
            <a:ext cx="733245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Lucida Sans Unicode" pitchFamily="34" charset="0"/>
              </a:rPr>
              <a:t>Input buffer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95288" y="331788"/>
            <a:ext cx="582563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000000"/>
                </a:solidFill>
                <a:latin typeface="Lucida Sans Unicode" pitchFamily="34" charset="0"/>
              </a:rPr>
              <a:t>Multiplexing - </a:t>
            </a:r>
            <a:r>
              <a:rPr lang="en-GB" sz="2400" b="1" dirty="0"/>
              <a:t>Statistical Multiplexing</a:t>
            </a:r>
          </a:p>
          <a:p>
            <a:endParaRPr lang="en-GB" sz="2400" b="1" dirty="0">
              <a:solidFill>
                <a:srgbClr val="000000"/>
              </a:solidFill>
              <a:latin typeface="Lucida Sans Unicode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23190" y="2098694"/>
            <a:ext cx="733245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Lucida Sans Unicode" pitchFamily="34" charset="0"/>
              </a:rPr>
              <a:t>Input buffer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3191" y="3220129"/>
            <a:ext cx="733245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Lucida Sans Unicode" pitchFamily="34" charset="0"/>
              </a:rPr>
              <a:t>Input buffer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3191" y="3798098"/>
            <a:ext cx="733245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Lucida Sans Unicode" pitchFamily="34" charset="0"/>
              </a:rPr>
              <a:t>Input buffer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12042" y="2659411"/>
            <a:ext cx="836762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Lucida Sans Unicode" pitchFamily="34" charset="0"/>
              </a:rPr>
              <a:t>Output buffer</a:t>
            </a:r>
          </a:p>
        </p:txBody>
      </p:sp>
      <p:cxnSp>
        <p:nvCxnSpPr>
          <p:cNvPr id="11" name="Straight Arrow Connector 10"/>
          <p:cNvCxnSpPr>
            <a:stCxn id="3" idx="3"/>
          </p:cNvCxnSpPr>
          <p:nvPr/>
        </p:nvCxnSpPr>
        <p:spPr>
          <a:xfrm>
            <a:off x="3256435" y="1782335"/>
            <a:ext cx="646981" cy="946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3"/>
          </p:cNvCxnSpPr>
          <p:nvPr/>
        </p:nvCxnSpPr>
        <p:spPr>
          <a:xfrm flipV="1">
            <a:off x="3256436" y="3125238"/>
            <a:ext cx="646980" cy="9344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3"/>
          </p:cNvCxnSpPr>
          <p:nvPr/>
        </p:nvCxnSpPr>
        <p:spPr>
          <a:xfrm flipV="1">
            <a:off x="3256436" y="3038974"/>
            <a:ext cx="638353" cy="4427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6" idx="3"/>
          </p:cNvCxnSpPr>
          <p:nvPr/>
        </p:nvCxnSpPr>
        <p:spPr>
          <a:xfrm>
            <a:off x="3256435" y="2360304"/>
            <a:ext cx="646980" cy="4658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523191" y="2659411"/>
            <a:ext cx="733245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Lucida Sans Unicode" pitchFamily="34" charset="0"/>
              </a:rPr>
              <a:t>Input buffer</a:t>
            </a:r>
          </a:p>
        </p:txBody>
      </p:sp>
      <p:cxnSp>
        <p:nvCxnSpPr>
          <p:cNvPr id="24" name="Straight Arrow Connector 23"/>
          <p:cNvCxnSpPr>
            <a:stCxn id="18" idx="3"/>
            <a:endCxn id="9" idx="1"/>
          </p:cNvCxnSpPr>
          <p:nvPr/>
        </p:nvCxnSpPr>
        <p:spPr>
          <a:xfrm>
            <a:off x="3256436" y="2921021"/>
            <a:ext cx="65560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V="1">
            <a:off x="1289612" y="1797937"/>
            <a:ext cx="1242204" cy="74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1280986" y="2367280"/>
            <a:ext cx="1242204" cy="74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1298238" y="2936624"/>
            <a:ext cx="1242204" cy="74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1289612" y="3497341"/>
            <a:ext cx="1242204" cy="74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1289612" y="4058058"/>
            <a:ext cx="1242204" cy="74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8142" y="1581110"/>
            <a:ext cx="848309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500"/>
              </a:lnSpc>
            </a:pPr>
            <a:r>
              <a:rPr lang="en-GB" sz="1200" dirty="0">
                <a:latin typeface="Lucida Sans Unicode" pitchFamily="34" charset="0"/>
              </a:rPr>
              <a:t>Source A</a:t>
            </a:r>
          </a:p>
          <a:p>
            <a:pPr>
              <a:lnSpc>
                <a:spcPts val="1500"/>
              </a:lnSpc>
            </a:pPr>
            <a:endParaRPr lang="en-GB" sz="1200" dirty="0">
              <a:latin typeface="Lucida Sans Unicode" pitchFamily="34" charset="0"/>
            </a:endParaRPr>
          </a:p>
          <a:p>
            <a:pPr>
              <a:lnSpc>
                <a:spcPts val="1500"/>
              </a:lnSpc>
            </a:pPr>
            <a:endParaRPr lang="en-GB" sz="1200" dirty="0">
              <a:latin typeface="Lucida Sans Unicode" pitchFamily="34" charset="0"/>
            </a:endParaRPr>
          </a:p>
          <a:p>
            <a:pPr>
              <a:lnSpc>
                <a:spcPts val="1500"/>
              </a:lnSpc>
            </a:pPr>
            <a:r>
              <a:rPr lang="en-GB" sz="1200" dirty="0">
                <a:latin typeface="Lucida Sans Unicode" pitchFamily="34" charset="0"/>
              </a:rPr>
              <a:t>Source B</a:t>
            </a:r>
          </a:p>
          <a:p>
            <a:pPr>
              <a:lnSpc>
                <a:spcPts val="1500"/>
              </a:lnSpc>
            </a:pPr>
            <a:endParaRPr lang="en-GB" sz="1200" dirty="0">
              <a:latin typeface="Lucida Sans Unicode" pitchFamily="34" charset="0"/>
            </a:endParaRPr>
          </a:p>
          <a:p>
            <a:pPr>
              <a:lnSpc>
                <a:spcPts val="1500"/>
              </a:lnSpc>
            </a:pPr>
            <a:endParaRPr lang="en-GB" sz="1200" dirty="0">
              <a:latin typeface="Lucida Sans Unicode" pitchFamily="34" charset="0"/>
            </a:endParaRPr>
          </a:p>
          <a:p>
            <a:pPr>
              <a:lnSpc>
                <a:spcPts val="1500"/>
              </a:lnSpc>
            </a:pPr>
            <a:r>
              <a:rPr lang="en-GB" sz="1200" dirty="0">
                <a:latin typeface="Lucida Sans Unicode" pitchFamily="34" charset="0"/>
              </a:rPr>
              <a:t>Source C</a:t>
            </a:r>
          </a:p>
          <a:p>
            <a:pPr>
              <a:lnSpc>
                <a:spcPts val="1500"/>
              </a:lnSpc>
            </a:pPr>
            <a:endParaRPr lang="en-GB" sz="1200" dirty="0">
              <a:latin typeface="Lucida Sans Unicode" pitchFamily="34" charset="0"/>
            </a:endParaRPr>
          </a:p>
          <a:p>
            <a:pPr>
              <a:lnSpc>
                <a:spcPts val="1500"/>
              </a:lnSpc>
            </a:pPr>
            <a:endParaRPr lang="en-GB" sz="1200" dirty="0">
              <a:latin typeface="Lucida Sans Unicode" pitchFamily="34" charset="0"/>
            </a:endParaRPr>
          </a:p>
          <a:p>
            <a:pPr>
              <a:lnSpc>
                <a:spcPts val="1500"/>
              </a:lnSpc>
            </a:pPr>
            <a:r>
              <a:rPr lang="en-GB" sz="1200" dirty="0">
                <a:latin typeface="Lucida Sans Unicode" pitchFamily="34" charset="0"/>
              </a:rPr>
              <a:t>Source D</a:t>
            </a:r>
          </a:p>
          <a:p>
            <a:pPr>
              <a:lnSpc>
                <a:spcPts val="1500"/>
              </a:lnSpc>
            </a:pPr>
            <a:endParaRPr lang="en-GB" sz="1200" dirty="0">
              <a:latin typeface="Lucida Sans Unicode" pitchFamily="34" charset="0"/>
            </a:endParaRPr>
          </a:p>
          <a:p>
            <a:pPr>
              <a:lnSpc>
                <a:spcPts val="1500"/>
              </a:lnSpc>
            </a:pPr>
            <a:endParaRPr lang="en-GB" sz="1200" dirty="0">
              <a:latin typeface="Lucida Sans Unicode" pitchFamily="34" charset="0"/>
            </a:endParaRPr>
          </a:p>
          <a:p>
            <a:pPr>
              <a:lnSpc>
                <a:spcPts val="1500"/>
              </a:lnSpc>
            </a:pPr>
            <a:r>
              <a:rPr lang="en-GB" sz="1200" dirty="0">
                <a:latin typeface="Lucida Sans Unicode" pitchFamily="34" charset="0"/>
              </a:rPr>
              <a:t>Source E</a:t>
            </a:r>
          </a:p>
        </p:txBody>
      </p:sp>
      <p:sp>
        <p:nvSpPr>
          <p:cNvPr id="38" name="Rectangle 37"/>
          <p:cNvSpPr/>
          <p:nvPr/>
        </p:nvSpPr>
        <p:spPr bwMode="auto">
          <a:xfrm>
            <a:off x="1626042" y="2018369"/>
            <a:ext cx="129396" cy="33855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1513899" y="1440400"/>
            <a:ext cx="129396" cy="338554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1798571" y="1440400"/>
            <a:ext cx="129396" cy="338554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2014230" y="1440401"/>
            <a:ext cx="129396" cy="338554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1513899" y="2587713"/>
            <a:ext cx="129396" cy="338554"/>
          </a:xfrm>
          <a:prstGeom prst="rect">
            <a:avLst/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>
            <a:off x="2005605" y="2587713"/>
            <a:ext cx="129396" cy="338554"/>
          </a:xfrm>
          <a:prstGeom prst="rect">
            <a:avLst/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1651922" y="3148430"/>
            <a:ext cx="129396" cy="33855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1815824" y="3148430"/>
            <a:ext cx="129396" cy="33855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2229892" y="3148430"/>
            <a:ext cx="129396" cy="33855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2014232" y="3709147"/>
            <a:ext cx="129396" cy="33855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cxnSp>
        <p:nvCxnSpPr>
          <p:cNvPr id="48" name="Straight Arrow Connector 47"/>
          <p:cNvCxnSpPr/>
          <p:nvPr/>
        </p:nvCxnSpPr>
        <p:spPr>
          <a:xfrm flipV="1">
            <a:off x="4748805" y="2926081"/>
            <a:ext cx="1842827" cy="35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 bwMode="auto">
          <a:xfrm>
            <a:off x="4852321" y="2570460"/>
            <a:ext cx="129396" cy="338554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5562480" y="2573801"/>
            <a:ext cx="129396" cy="338554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4990344" y="2570460"/>
            <a:ext cx="129396" cy="338554"/>
          </a:xfrm>
          <a:prstGeom prst="rect">
            <a:avLst/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54" name="Rectangle 53"/>
          <p:cNvSpPr/>
          <p:nvPr/>
        </p:nvSpPr>
        <p:spPr bwMode="auto">
          <a:xfrm>
            <a:off x="5130361" y="2573352"/>
            <a:ext cx="129396" cy="33855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55" name="Rectangle 54"/>
          <p:cNvSpPr/>
          <p:nvPr/>
        </p:nvSpPr>
        <p:spPr bwMode="auto">
          <a:xfrm>
            <a:off x="5277809" y="2572306"/>
            <a:ext cx="129396" cy="33855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56" name="Rectangle 55"/>
          <p:cNvSpPr/>
          <p:nvPr/>
        </p:nvSpPr>
        <p:spPr bwMode="auto">
          <a:xfrm>
            <a:off x="5420569" y="2572306"/>
            <a:ext cx="129396" cy="33855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57" name="Rectangle 56"/>
          <p:cNvSpPr/>
          <p:nvPr/>
        </p:nvSpPr>
        <p:spPr bwMode="auto">
          <a:xfrm>
            <a:off x="5705489" y="2571856"/>
            <a:ext cx="129396" cy="338554"/>
          </a:xfrm>
          <a:prstGeom prst="rect">
            <a:avLst/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5846255" y="2572754"/>
            <a:ext cx="129396" cy="33855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59" name="Rectangle 58"/>
          <p:cNvSpPr/>
          <p:nvPr/>
        </p:nvSpPr>
        <p:spPr bwMode="auto">
          <a:xfrm>
            <a:off x="5984275" y="2573801"/>
            <a:ext cx="129396" cy="338554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60" name="Rectangle 59"/>
          <p:cNvSpPr/>
          <p:nvPr/>
        </p:nvSpPr>
        <p:spPr bwMode="auto">
          <a:xfrm>
            <a:off x="6130627" y="2572305"/>
            <a:ext cx="129396" cy="33855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93700" y="4476584"/>
            <a:ext cx="19916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Lucida Sans Unicode" pitchFamily="34" charset="0"/>
              </a:rPr>
              <a:t>Incoming ports: </a:t>
            </a:r>
            <a:r>
              <a:rPr lang="en-GB" sz="1400" dirty="0">
                <a:latin typeface="Lucida Sans Unicode" pitchFamily="34" charset="0"/>
              </a:rPr>
              <a:t>Data blocks arrive asynchronously from variable-rate sources </a:t>
            </a:r>
          </a:p>
        </p:txBody>
      </p:sp>
      <p:sp>
        <p:nvSpPr>
          <p:cNvPr id="62" name="Rectangle 61"/>
          <p:cNvSpPr/>
          <p:nvPr/>
        </p:nvSpPr>
        <p:spPr bwMode="auto">
          <a:xfrm>
            <a:off x="2377440" y="2752828"/>
            <a:ext cx="244900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677588" y="4715124"/>
            <a:ext cx="48144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Arial" pitchFamily="34" charset="0"/>
              <a:buChar char="•"/>
            </a:pPr>
            <a:r>
              <a:rPr lang="en-GB" sz="1400" dirty="0">
                <a:latin typeface="Lucida Sans Unicode" pitchFamily="34" charset="0"/>
              </a:rPr>
              <a:t>Input buffers smooth fluctuation in input data rates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GB" sz="1400" dirty="0">
                <a:latin typeface="Lucida Sans Unicode" pitchFamily="34" charset="0"/>
              </a:rPr>
              <a:t>Headers containing addresses and other information are added to the data blocks – to form packets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GB" sz="1400" dirty="0">
                <a:latin typeface="Lucida Sans Unicode" pitchFamily="34" charset="0"/>
              </a:rPr>
              <a:t>Packets are then fed to the output buffer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98724" y="3045349"/>
            <a:ext cx="19678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Lucida Sans Unicode" pitchFamily="34" charset="0"/>
              </a:rPr>
              <a:t>Outgoing Port:</a:t>
            </a:r>
          </a:p>
          <a:p>
            <a:r>
              <a:rPr lang="en-GB" sz="1400" dirty="0">
                <a:latin typeface="Lucida Sans Unicode" pitchFamily="34" charset="0"/>
              </a:rPr>
              <a:t>Packets are placed on the outgoing channel</a:t>
            </a:r>
          </a:p>
        </p:txBody>
      </p:sp>
    </p:spTree>
    <p:extLst>
      <p:ext uri="{BB962C8B-B14F-4D97-AF65-F5344CB8AC3E}">
        <p14:creationId xmlns:p14="http://schemas.microsoft.com/office/powerpoint/2010/main" val="21620520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95288" y="331788"/>
            <a:ext cx="582563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000000"/>
                </a:solidFill>
                <a:latin typeface="Lucida Sans Unicode" pitchFamily="34" charset="0"/>
              </a:rPr>
              <a:t>Multiplexing - </a:t>
            </a:r>
            <a:r>
              <a:rPr lang="en-GB" sz="2400" b="1" dirty="0"/>
              <a:t>Statistical Multiplexing</a:t>
            </a:r>
          </a:p>
          <a:p>
            <a:endParaRPr lang="en-GB" sz="2400" b="1" dirty="0">
              <a:solidFill>
                <a:srgbClr val="000000"/>
              </a:solidFill>
              <a:latin typeface="Lucida Sans Unicode" pitchFamily="34" charset="0"/>
            </a:endParaRPr>
          </a:p>
        </p:txBody>
      </p:sp>
      <p:pic>
        <p:nvPicPr>
          <p:cNvPr id="3" name="Picture 6" descr="http://www.tsreader.com/mpeg/stream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4590" y="1305709"/>
            <a:ext cx="5164196" cy="2646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11"/>
          <p:cNvSpPr txBox="1">
            <a:spLocks noChangeArrowheads="1"/>
          </p:cNvSpPr>
          <p:nvPr/>
        </p:nvSpPr>
        <p:spPr bwMode="auto">
          <a:xfrm>
            <a:off x="393700" y="1089329"/>
            <a:ext cx="21732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dirty="0"/>
              <a:t>e.g. DVB multiplex: </a:t>
            </a:r>
          </a:p>
        </p:txBody>
      </p:sp>
      <p:grpSp>
        <p:nvGrpSpPr>
          <p:cNvPr id="5" name="Group 11"/>
          <p:cNvGrpSpPr/>
          <p:nvPr/>
        </p:nvGrpSpPr>
        <p:grpSpPr>
          <a:xfrm>
            <a:off x="393701" y="4929807"/>
            <a:ext cx="8161902" cy="564543"/>
            <a:chOff x="393701" y="4882099"/>
            <a:chExt cx="8161902" cy="564543"/>
          </a:xfrm>
        </p:grpSpPr>
        <p:sp>
          <p:nvSpPr>
            <p:cNvPr id="6" name="TextBox 5"/>
            <p:cNvSpPr txBox="1"/>
            <p:nvPr/>
          </p:nvSpPr>
          <p:spPr>
            <a:xfrm>
              <a:off x="7724802" y="4882099"/>
              <a:ext cx="830801" cy="56454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tx2"/>
              </a:solidFill>
            </a:ln>
          </p:spPr>
          <p:txBody>
            <a:bodyPr wrap="none" rtlCol="0">
              <a:noAutofit/>
            </a:bodyPr>
            <a:lstStyle/>
            <a:p>
              <a:r>
                <a:rPr lang="en-GB" sz="1600" dirty="0">
                  <a:latin typeface="Lucida Sans Unicode" pitchFamily="34" charset="0"/>
                </a:rPr>
                <a:t>End</a:t>
              </a:r>
            </a:p>
            <a:p>
              <a:r>
                <a:rPr lang="en-GB" sz="1600" dirty="0">
                  <a:latin typeface="Lucida Sans Unicode" pitchFamily="34" charset="0"/>
                </a:rPr>
                <a:t>Flag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01864" y="4882099"/>
              <a:ext cx="1701579" cy="56454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tx2"/>
              </a:solidFill>
            </a:ln>
          </p:spPr>
          <p:txBody>
            <a:bodyPr wrap="none" rtlCol="0">
              <a:noAutofit/>
            </a:bodyPr>
            <a:lstStyle/>
            <a:p>
              <a:r>
                <a:rPr lang="en-GB" sz="1600" dirty="0">
                  <a:latin typeface="Lucida Sans Unicode" pitchFamily="34" charset="0"/>
                </a:rPr>
                <a:t>Address </a:t>
              </a:r>
            </a:p>
            <a:p>
              <a:r>
                <a:rPr lang="en-GB" sz="1600" dirty="0">
                  <a:latin typeface="Lucida Sans Unicode" pitchFamily="34" charset="0"/>
                </a:rPr>
                <a:t>Field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956022" y="4882099"/>
              <a:ext cx="2210462" cy="56454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tx2"/>
              </a:solidFill>
            </a:ln>
          </p:spPr>
          <p:txBody>
            <a:bodyPr wrap="none" rtlCol="0">
              <a:noAutofit/>
            </a:bodyPr>
            <a:lstStyle/>
            <a:p>
              <a:r>
                <a:rPr lang="en-GB" sz="1600" dirty="0">
                  <a:latin typeface="Lucida Sans Unicode" pitchFamily="34" charset="0"/>
                </a:rPr>
                <a:t>Control </a:t>
              </a:r>
            </a:p>
            <a:p>
              <a:r>
                <a:rPr lang="en-GB" sz="1600" dirty="0">
                  <a:latin typeface="Lucida Sans Unicode" pitchFamily="34" charset="0"/>
                </a:rPr>
                <a:t>Field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846567" y="4882099"/>
              <a:ext cx="3840479" cy="56454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tx2"/>
              </a:solidFill>
            </a:ln>
          </p:spPr>
          <p:txBody>
            <a:bodyPr wrap="none" rtlCol="0">
              <a:noAutofit/>
            </a:bodyPr>
            <a:lstStyle/>
            <a:p>
              <a:r>
                <a:rPr lang="en-GB" sz="1600" dirty="0">
                  <a:latin typeface="Lucida Sans Unicode" pitchFamily="34" charset="0"/>
                </a:rPr>
                <a:t>Information </a:t>
              </a:r>
            </a:p>
            <a:p>
              <a:r>
                <a:rPr lang="en-GB" sz="1600" dirty="0">
                  <a:latin typeface="Lucida Sans Unicode" pitchFamily="34" charset="0"/>
                </a:rPr>
                <a:t>Payload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679095" y="4882099"/>
              <a:ext cx="1041621" cy="56454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tx2"/>
              </a:solidFill>
            </a:ln>
          </p:spPr>
          <p:txBody>
            <a:bodyPr wrap="none" rtlCol="0">
              <a:noAutofit/>
            </a:bodyPr>
            <a:lstStyle/>
            <a:p>
              <a:r>
                <a:rPr lang="en-GB" sz="1600" dirty="0">
                  <a:latin typeface="Lucida Sans Unicode" pitchFamily="34" charset="0"/>
                </a:rPr>
                <a:t>Error </a:t>
              </a:r>
            </a:p>
            <a:p>
              <a:r>
                <a:rPr lang="en-GB" sz="1600" dirty="0">
                  <a:latin typeface="Lucida Sans Unicode" pitchFamily="34" charset="0"/>
                </a:rPr>
                <a:t>Control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93701" y="4882099"/>
              <a:ext cx="608164" cy="56454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tx2"/>
              </a:solidFill>
            </a:ln>
          </p:spPr>
          <p:txBody>
            <a:bodyPr wrap="none" rtlCol="0">
              <a:noAutofit/>
            </a:bodyPr>
            <a:lstStyle/>
            <a:p>
              <a:r>
                <a:rPr lang="en-GB" sz="1600" dirty="0">
                  <a:latin typeface="Lucida Sans Unicode" pitchFamily="34" charset="0"/>
                </a:rPr>
                <a:t>Start</a:t>
              </a:r>
            </a:p>
            <a:p>
              <a:r>
                <a:rPr lang="en-GB" sz="1600" dirty="0">
                  <a:latin typeface="Lucida Sans Unicode" pitchFamily="34" charset="0"/>
                </a:rPr>
                <a:t>Flag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393699" y="4492487"/>
            <a:ext cx="7088477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1600" dirty="0">
                <a:latin typeface="Lucida Sans Unicode" pitchFamily="34" charset="0"/>
              </a:rPr>
              <a:t>Packet format: Control, management and content assigned into fields</a:t>
            </a:r>
          </a:p>
        </p:txBody>
      </p:sp>
    </p:spTree>
    <p:extLst>
      <p:ext uri="{BB962C8B-B14F-4D97-AF65-F5344CB8AC3E}">
        <p14:creationId xmlns:p14="http://schemas.microsoft.com/office/powerpoint/2010/main" val="29785861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286" y="790575"/>
            <a:ext cx="4258935" cy="20672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GB" sz="1600" b="1" dirty="0">
                <a:latin typeface="Lucida Sans Unicode" pitchFamily="34" charset="0"/>
                <a:cs typeface="Lucida Sans Unicode" pitchFamily="34" charset="0"/>
              </a:rPr>
              <a:t>Dynamic capacity allocation</a:t>
            </a:r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  <a:p>
            <a:pPr marL="177800" indent="-177800">
              <a:lnSpc>
                <a:spcPts val="2200"/>
              </a:lnSpc>
              <a:buFont typeface="Arial" pitchFamily="34" charset="0"/>
              <a:buChar char="•"/>
            </a:pPr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  <a:p>
            <a:pPr marL="177800" indent="-177800">
              <a:lnSpc>
                <a:spcPts val="22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Variable Bit Rate – VBR</a:t>
            </a:r>
          </a:p>
          <a:p>
            <a:pPr marL="177800" indent="-177800">
              <a:lnSpc>
                <a:spcPts val="2200"/>
              </a:lnSpc>
              <a:buFont typeface="Arial" pitchFamily="34" charset="0"/>
              <a:buChar char="•"/>
            </a:pPr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  <a:p>
            <a:pPr marL="177800" indent="-177800">
              <a:lnSpc>
                <a:spcPts val="22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one channel capacity reallocated to meet immediate service needs of other channels</a:t>
            </a: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381000" y="333375"/>
            <a:ext cx="3552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2400" b="1">
                <a:latin typeface="Lucida Sans Unicode" pitchFamily="34" charset="0"/>
                <a:ea typeface="Lucida Sans Unicode" pitchFamily="34" charset="0"/>
                <a:cs typeface="Lucida Sans Unicode" pitchFamily="34" charset="0"/>
              </a:rPr>
              <a:t>Statistical Multiplexing</a:t>
            </a:r>
          </a:p>
        </p:txBody>
      </p:sp>
      <p:pic>
        <p:nvPicPr>
          <p:cNvPr id="5" name="Picture 5" descr="Statistical Multiplexi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54222" y="666035"/>
            <a:ext cx="3997065" cy="20486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410075" y="6319838"/>
            <a:ext cx="4479925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000">
                <a:latin typeface="Lucida Sans Unicode" pitchFamily="34" charset="0"/>
                <a:ea typeface="Lucida Sans Unicode" pitchFamily="34" charset="0"/>
                <a:cs typeface="Lucida Sans Unicode" pitchFamily="34" charset="0"/>
              </a:rPr>
              <a:t>http://igorfuna.com/dvb-t/slovenia/multiplex-a-usage-chart</a:t>
            </a:r>
            <a:endParaRPr lang="en-GB" sz="800">
              <a:latin typeface="Lucida Sans Unicode" pitchFamily="34" charset="0"/>
              <a:ea typeface="Lucida Sans Unicode" pitchFamily="34" charset="0"/>
              <a:cs typeface="Lucida Sans Unicode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119" y="2846895"/>
            <a:ext cx="5075880" cy="334074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1000" y="2982348"/>
            <a:ext cx="3287026" cy="2349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>
              <a:lnSpc>
                <a:spcPts val="2200"/>
              </a:lnSpc>
              <a:buFont typeface="Arial" pitchFamily="34" charset="0"/>
              <a:buChar char="•"/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allow additional elementary bit streams to be added at the input of the multiplexer </a:t>
            </a:r>
          </a:p>
          <a:p>
            <a:pPr marL="177800" indent="-177800">
              <a:lnSpc>
                <a:spcPts val="2200"/>
              </a:lnSpc>
              <a:buFont typeface="Arial" pitchFamily="34" charset="0"/>
              <a:buChar char="•"/>
            </a:pPr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  <a:p>
            <a:pPr marL="177800" indent="-177800">
              <a:lnSpc>
                <a:spcPts val="2200"/>
              </a:lnSpc>
            </a:pPr>
            <a:r>
              <a:rPr lang="en-GB" sz="1600" dirty="0">
                <a:latin typeface="Lucida Sans Unicode" pitchFamily="34" charset="0"/>
                <a:cs typeface="Lucida Sans Unicode" pitchFamily="34" charset="0"/>
              </a:rPr>
              <a:t>	... or allow elementary bit streams to be multiplexed at a </a:t>
            </a:r>
            <a:r>
              <a:rPr lang="en-GB" sz="1600" i="1" dirty="0">
                <a:latin typeface="Lucida Sans Unicode" pitchFamily="34" charset="0"/>
                <a:cs typeface="Lucida Sans Unicode" pitchFamily="34" charset="0"/>
              </a:rPr>
              <a:t>second stage</a:t>
            </a:r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  <a:p>
            <a:pPr marL="177800" indent="-177800">
              <a:lnSpc>
                <a:spcPts val="2200"/>
              </a:lnSpc>
              <a:buFont typeface="Arial" pitchFamily="34" charset="0"/>
              <a:buChar char="•"/>
            </a:pPr>
            <a:endParaRPr lang="en-GB" sz="1600" dirty="0">
              <a:latin typeface="Lucida Sans Unicode" pitchFamily="34" charset="0"/>
              <a:cs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368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Box 2"/>
          <p:cNvSpPr txBox="1">
            <a:spLocks noChangeArrowheads="1"/>
          </p:cNvSpPr>
          <p:nvPr/>
        </p:nvSpPr>
        <p:spPr bwMode="auto">
          <a:xfrm>
            <a:off x="395288" y="331788"/>
            <a:ext cx="53149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WDM – Wave Division Multiplexing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5288" y="777875"/>
            <a:ext cx="7547259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1600" dirty="0">
                <a:latin typeface="Lucida Sans Unicode" pitchFamily="34" charset="0"/>
              </a:rPr>
              <a:t>A number of multiplexes (each of many channels) are carried on one fibre</a:t>
            </a:r>
          </a:p>
          <a:p>
            <a:pPr marL="174625" indent="-174625">
              <a:buFont typeface="Arial" pitchFamily="34" charset="0"/>
              <a:buChar char="•"/>
              <a:defRPr/>
            </a:pPr>
            <a:r>
              <a:rPr lang="en-GB" sz="1600" dirty="0">
                <a:latin typeface="Lucida Sans Unicode" pitchFamily="34" charset="0"/>
              </a:rPr>
              <a:t>Each multiplex is a string of data</a:t>
            </a:r>
          </a:p>
          <a:p>
            <a:pPr marL="631825" lvl="1" indent="-174625">
              <a:buFont typeface="Arial" pitchFamily="34" charset="0"/>
              <a:buChar char="•"/>
              <a:defRPr/>
            </a:pPr>
            <a:r>
              <a:rPr lang="en-GB" sz="1600" dirty="0">
                <a:latin typeface="Lucida Sans Unicode" pitchFamily="34" charset="0"/>
              </a:rPr>
              <a:t>each on it’s own wavelength</a:t>
            </a:r>
          </a:p>
          <a:p>
            <a:pPr marL="174625" indent="-174625">
              <a:buFont typeface="Arial" pitchFamily="34" charset="0"/>
              <a:buChar char="•"/>
              <a:defRPr/>
            </a:pPr>
            <a:r>
              <a:rPr lang="en-GB" sz="1600" dirty="0">
                <a:latin typeface="Lucida Sans Unicode" pitchFamily="34" charset="0"/>
              </a:rPr>
              <a:t>Uses single mode fibre</a:t>
            </a:r>
          </a:p>
          <a:p>
            <a:pPr>
              <a:defRPr/>
            </a:pPr>
            <a:endParaRPr lang="en-GB" sz="1600" dirty="0">
              <a:latin typeface="Lucida Sans Unicode" pitchFamily="34" charset="0"/>
            </a:endParaRPr>
          </a:p>
        </p:txBody>
      </p:sp>
      <p:pic>
        <p:nvPicPr>
          <p:cNvPr id="3078" name="Picture 6" descr="Wavelength Division Multiplexi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3262" y="2406770"/>
            <a:ext cx="7575230" cy="2972101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862640" y="2372264"/>
            <a:ext cx="1250831" cy="307777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Lucida Sans Unicode" pitchFamily="34" charset="0"/>
              </a:rPr>
              <a:t>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4647" y="2389517"/>
            <a:ext cx="1250831" cy="307777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Lucida Sans Unicode" pitchFamily="34" charset="0"/>
              </a:rPr>
              <a:t>Receivers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0896" y="3416060"/>
            <a:ext cx="1250831" cy="307777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Lucida Sans Unicode" pitchFamily="34" charset="0"/>
              </a:rPr>
              <a:t>Fibre Optic </a:t>
            </a:r>
          </a:p>
        </p:txBody>
      </p:sp>
    </p:spTree>
    <p:extLst>
      <p:ext uri="{BB962C8B-B14F-4D97-AF65-F5344CB8AC3E}">
        <p14:creationId xmlns:p14="http://schemas.microsoft.com/office/powerpoint/2010/main" val="26519913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395288" y="2478977"/>
            <a:ext cx="5952270" cy="19389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6000" b="1" dirty="0"/>
              <a:t>Modulation for </a:t>
            </a:r>
          </a:p>
          <a:p>
            <a:r>
              <a:rPr lang="en-GB" sz="6000" b="1" dirty="0"/>
              <a:t>Digital Data</a:t>
            </a:r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30540684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 bwMode="auto">
          <a:xfrm>
            <a:off x="395288" y="4528033"/>
            <a:ext cx="8593264" cy="20299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395288" y="749808"/>
            <a:ext cx="8593264" cy="8229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2" name="Rectangle 31"/>
          <p:cNvSpPr/>
          <p:nvPr/>
        </p:nvSpPr>
        <p:spPr bwMode="auto">
          <a:xfrm>
            <a:off x="4118846" y="1060057"/>
            <a:ext cx="4620552" cy="364141"/>
          </a:xfrm>
          <a:prstGeom prst="rect">
            <a:avLst/>
          </a:prstGeom>
          <a:solidFill>
            <a:srgbClr val="FFCC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8434" name="Text Box 4"/>
          <p:cNvSpPr txBox="1">
            <a:spLocks noChangeArrowheads="1"/>
          </p:cNvSpPr>
          <p:nvPr/>
        </p:nvSpPr>
        <p:spPr bwMode="auto">
          <a:xfrm>
            <a:off x="430213" y="366713"/>
            <a:ext cx="4254500" cy="4619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Modulation for Digital Data</a:t>
            </a:r>
            <a:endParaRPr lang="en-US" sz="2400" b="1" dirty="0"/>
          </a:p>
        </p:txBody>
      </p:sp>
      <p:sp>
        <p:nvSpPr>
          <p:cNvPr id="18435" name="Text Box 5"/>
          <p:cNvSpPr txBox="1">
            <a:spLocks noChangeArrowheads="1"/>
          </p:cNvSpPr>
          <p:nvPr/>
        </p:nvSpPr>
        <p:spPr bwMode="auto">
          <a:xfrm>
            <a:off x="430213" y="817563"/>
            <a:ext cx="8535987" cy="427809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6213" indent="-176213"/>
            <a:r>
              <a:rPr lang="en-GB" dirty="0"/>
              <a:t>objective:</a:t>
            </a:r>
          </a:p>
          <a:p>
            <a:pPr marL="176213" indent="-176213"/>
            <a:r>
              <a:rPr lang="en-GB" dirty="0"/>
              <a:t>We need to transmit a digital file of   </a:t>
            </a:r>
            <a:r>
              <a:rPr lang="en-GB" sz="1400" b="1" dirty="0">
                <a:latin typeface="Courier New" pitchFamily="49" charset="0"/>
                <a:cs typeface="Courier New" pitchFamily="49" charset="0"/>
              </a:rPr>
              <a:t>00010101100110101000101010100101100110101…</a:t>
            </a:r>
            <a:endParaRPr lang="en-GB" sz="800" b="1" dirty="0">
              <a:latin typeface="Courier New" pitchFamily="49" charset="0"/>
              <a:cs typeface="Courier New" pitchFamily="49" charset="0"/>
            </a:endParaRPr>
          </a:p>
          <a:p>
            <a:pPr marL="176213" indent="-176213"/>
            <a:endParaRPr lang="en-GB" dirty="0"/>
          </a:p>
          <a:p>
            <a:pPr marL="176213" indent="-176213">
              <a:buFontTx/>
              <a:buChar char="•"/>
            </a:pPr>
            <a:endParaRPr lang="en-GB" dirty="0"/>
          </a:p>
          <a:p>
            <a:pPr marL="176213" indent="-176213">
              <a:buFontTx/>
              <a:buChar char="•"/>
            </a:pPr>
            <a:r>
              <a:rPr lang="en-GB" dirty="0"/>
              <a:t>can’t transmit “neat” digital 1’s and 0’s from a transmitter</a:t>
            </a:r>
          </a:p>
          <a:p>
            <a:pPr marL="539750" lvl="1" indent="-176213">
              <a:buFontTx/>
              <a:buChar char="•"/>
            </a:pPr>
            <a:r>
              <a:rPr lang="en-GB" dirty="0"/>
              <a:t>(or receive them at a receiver)</a:t>
            </a:r>
          </a:p>
          <a:p>
            <a:pPr marL="539750" lvl="1" indent="-176213">
              <a:buFontTx/>
              <a:buChar char="•"/>
            </a:pPr>
            <a:endParaRPr lang="en-GB" dirty="0"/>
          </a:p>
          <a:p>
            <a:pPr marL="539750" lvl="1" indent="-176213">
              <a:buFontTx/>
              <a:buChar char="•"/>
            </a:pPr>
            <a:endParaRPr lang="en-GB" dirty="0"/>
          </a:p>
          <a:p>
            <a:pPr marL="539750" lvl="1" indent="-176213">
              <a:buFontTx/>
              <a:buChar char="•"/>
            </a:pPr>
            <a:endParaRPr lang="en-GB" dirty="0"/>
          </a:p>
          <a:p>
            <a:pPr marL="539750" lvl="1" indent="-176213">
              <a:buFontTx/>
              <a:buChar char="•"/>
            </a:pPr>
            <a:endParaRPr lang="en-GB" dirty="0"/>
          </a:p>
          <a:p>
            <a:pPr marL="176213" indent="-176213">
              <a:buFontTx/>
              <a:buChar char="•"/>
            </a:pPr>
            <a:endParaRPr lang="en-GB" dirty="0"/>
          </a:p>
          <a:p>
            <a:pPr marL="176213" indent="-176213">
              <a:buFontTx/>
              <a:buChar char="•"/>
            </a:pPr>
            <a:endParaRPr lang="en-GB" dirty="0"/>
          </a:p>
          <a:p>
            <a:pPr marL="176213" indent="-176213">
              <a:buFontTx/>
              <a:buChar char="•"/>
            </a:pPr>
            <a:r>
              <a:rPr lang="en-GB" dirty="0"/>
              <a:t>transmission technologies operate only on analogue signals </a:t>
            </a:r>
          </a:p>
          <a:p>
            <a:pPr marL="539750" lvl="1" indent="-176213">
              <a:buFontTx/>
              <a:buChar char="•"/>
            </a:pPr>
            <a:r>
              <a:rPr lang="en-GB" dirty="0"/>
              <a:t>we also need to retain the carrier frequency concept to allow for many stations</a:t>
            </a:r>
          </a:p>
          <a:p>
            <a:pPr marL="539750" lvl="1" indent="-176213">
              <a:buFontTx/>
              <a:buChar char="•"/>
            </a:pPr>
            <a:endParaRPr lang="en-GB" dirty="0"/>
          </a:p>
          <a:p>
            <a:pPr marL="539750" lvl="1" indent="-176213">
              <a:buFontTx/>
              <a:buChar char="•"/>
            </a:pPr>
            <a:endParaRPr lang="en-GB" dirty="0"/>
          </a:p>
          <a:p>
            <a:pPr marL="176213" indent="-176213">
              <a:buFontTx/>
              <a:buChar char="•"/>
            </a:pPr>
            <a:r>
              <a:rPr lang="en-GB" dirty="0"/>
              <a:t>so carry 1’s and 0’s on analogue signals:</a:t>
            </a:r>
            <a:endParaRPr lang="en-US" dirty="0"/>
          </a:p>
        </p:txBody>
      </p:sp>
      <p:pic>
        <p:nvPicPr>
          <p:cNvPr id="190472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63850" y="2503488"/>
            <a:ext cx="830263" cy="11033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grpSp>
        <p:nvGrpSpPr>
          <p:cNvPr id="2" name="Group 23"/>
          <p:cNvGrpSpPr>
            <a:grpSpLocks/>
          </p:cNvGrpSpPr>
          <p:nvPr/>
        </p:nvGrpSpPr>
        <p:grpSpPr bwMode="auto">
          <a:xfrm rot="-315872">
            <a:off x="3776663" y="2667000"/>
            <a:ext cx="2371725" cy="274638"/>
            <a:chOff x="1462" y="647"/>
            <a:chExt cx="3360" cy="650"/>
          </a:xfrm>
        </p:grpSpPr>
        <p:grpSp>
          <p:nvGrpSpPr>
            <p:cNvPr id="3" name="Group 22"/>
            <p:cNvGrpSpPr>
              <a:grpSpLocks/>
            </p:cNvGrpSpPr>
            <p:nvPr/>
          </p:nvGrpSpPr>
          <p:grpSpPr bwMode="auto">
            <a:xfrm>
              <a:off x="1462" y="647"/>
              <a:ext cx="3360" cy="624"/>
              <a:chOff x="1462" y="647"/>
              <a:chExt cx="3360" cy="624"/>
            </a:xfrm>
          </p:grpSpPr>
          <p:sp>
            <p:nvSpPr>
              <p:cNvPr id="18455" name="Line 10"/>
              <p:cNvSpPr>
                <a:spLocks noChangeShapeType="1"/>
              </p:cNvSpPr>
              <p:nvPr/>
            </p:nvSpPr>
            <p:spPr bwMode="auto">
              <a:xfrm>
                <a:off x="1462" y="647"/>
                <a:ext cx="480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8456" name="Line 11"/>
              <p:cNvSpPr>
                <a:spLocks noChangeShapeType="1"/>
              </p:cNvSpPr>
              <p:nvPr/>
            </p:nvSpPr>
            <p:spPr bwMode="auto">
              <a:xfrm>
                <a:off x="1942" y="1271"/>
                <a:ext cx="480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8457" name="Line 12"/>
              <p:cNvSpPr>
                <a:spLocks noChangeShapeType="1"/>
              </p:cNvSpPr>
              <p:nvPr/>
            </p:nvSpPr>
            <p:spPr bwMode="auto">
              <a:xfrm>
                <a:off x="2422" y="647"/>
                <a:ext cx="960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8458" name="Line 13"/>
              <p:cNvSpPr>
                <a:spLocks noChangeShapeType="1"/>
              </p:cNvSpPr>
              <p:nvPr/>
            </p:nvSpPr>
            <p:spPr bwMode="auto">
              <a:xfrm>
                <a:off x="3382" y="1271"/>
                <a:ext cx="960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8459" name="Line 14"/>
              <p:cNvSpPr>
                <a:spLocks noChangeShapeType="1"/>
              </p:cNvSpPr>
              <p:nvPr/>
            </p:nvSpPr>
            <p:spPr bwMode="auto">
              <a:xfrm>
                <a:off x="4342" y="647"/>
                <a:ext cx="480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8460" name="Line 15"/>
              <p:cNvSpPr>
                <a:spLocks noChangeShapeType="1"/>
              </p:cNvSpPr>
              <p:nvPr/>
            </p:nvSpPr>
            <p:spPr bwMode="auto">
              <a:xfrm>
                <a:off x="1942" y="647"/>
                <a:ext cx="0" cy="62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8461" name="Line 16"/>
              <p:cNvSpPr>
                <a:spLocks noChangeShapeType="1"/>
              </p:cNvSpPr>
              <p:nvPr/>
            </p:nvSpPr>
            <p:spPr bwMode="auto">
              <a:xfrm>
                <a:off x="2422" y="647"/>
                <a:ext cx="0" cy="62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8462" name="Line 17"/>
              <p:cNvSpPr>
                <a:spLocks noChangeShapeType="1"/>
              </p:cNvSpPr>
              <p:nvPr/>
            </p:nvSpPr>
            <p:spPr bwMode="auto">
              <a:xfrm>
                <a:off x="3382" y="647"/>
                <a:ext cx="0" cy="62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8463" name="Line 18"/>
              <p:cNvSpPr>
                <a:spLocks noChangeShapeType="1"/>
              </p:cNvSpPr>
              <p:nvPr/>
            </p:nvSpPr>
            <p:spPr bwMode="auto">
              <a:xfrm>
                <a:off x="4342" y="647"/>
                <a:ext cx="0" cy="62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18454" name="Text Box 19"/>
            <p:cNvSpPr txBox="1">
              <a:spLocks noChangeArrowheads="1"/>
            </p:cNvSpPr>
            <p:nvPr/>
          </p:nvSpPr>
          <p:spPr bwMode="auto">
            <a:xfrm>
              <a:off x="1583" y="718"/>
              <a:ext cx="3214" cy="5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GB" sz="1000"/>
                <a:t>1     0      1       1      0      0       1 </a:t>
              </a:r>
            </a:p>
          </p:txBody>
        </p:sp>
      </p:grpSp>
      <p:grpSp>
        <p:nvGrpSpPr>
          <p:cNvPr id="4" name="Group 49"/>
          <p:cNvGrpSpPr>
            <a:grpSpLocks/>
          </p:cNvGrpSpPr>
          <p:nvPr/>
        </p:nvGrpSpPr>
        <p:grpSpPr bwMode="auto">
          <a:xfrm>
            <a:off x="3481007" y="5129469"/>
            <a:ext cx="3662363" cy="477838"/>
            <a:chOff x="1786" y="3424"/>
            <a:chExt cx="2307" cy="301"/>
          </a:xfrm>
        </p:grpSpPr>
        <p:grpSp>
          <p:nvGrpSpPr>
            <p:cNvPr id="5" name="Group 47"/>
            <p:cNvGrpSpPr>
              <a:grpSpLocks/>
            </p:cNvGrpSpPr>
            <p:nvPr/>
          </p:nvGrpSpPr>
          <p:grpSpPr bwMode="auto">
            <a:xfrm rot="-432610">
              <a:off x="1854" y="3574"/>
              <a:ext cx="2147" cy="151"/>
              <a:chOff x="1837" y="3396"/>
              <a:chExt cx="3118" cy="298"/>
            </a:xfrm>
          </p:grpSpPr>
          <p:grpSp>
            <p:nvGrpSpPr>
              <p:cNvPr id="6" name="Group 42"/>
              <p:cNvGrpSpPr>
                <a:grpSpLocks/>
              </p:cNvGrpSpPr>
              <p:nvPr/>
            </p:nvGrpSpPr>
            <p:grpSpPr bwMode="auto">
              <a:xfrm>
                <a:off x="1837" y="3396"/>
                <a:ext cx="1560" cy="292"/>
                <a:chOff x="1837" y="3396"/>
                <a:chExt cx="1560" cy="292"/>
              </a:xfrm>
            </p:grpSpPr>
            <p:sp>
              <p:nvSpPr>
                <p:cNvPr id="18450" name="Freeform 31"/>
                <p:cNvSpPr>
                  <a:spLocks/>
                </p:cNvSpPr>
                <p:nvPr/>
              </p:nvSpPr>
              <p:spPr bwMode="auto">
                <a:xfrm>
                  <a:off x="1837" y="3396"/>
                  <a:ext cx="519" cy="292"/>
                </a:xfrm>
                <a:custGeom>
                  <a:avLst/>
                  <a:gdLst>
                    <a:gd name="T0" fmla="*/ 0 w 1920"/>
                    <a:gd name="T1" fmla="*/ 0 h 1536"/>
                    <a:gd name="T2" fmla="*/ 0 w 1920"/>
                    <a:gd name="T3" fmla="*/ 0 h 1536"/>
                    <a:gd name="T4" fmla="*/ 0 w 1920"/>
                    <a:gd name="T5" fmla="*/ 0 h 1536"/>
                    <a:gd name="T6" fmla="*/ 0 w 1920"/>
                    <a:gd name="T7" fmla="*/ 0 h 1536"/>
                    <a:gd name="T8" fmla="*/ 0 w 1920"/>
                    <a:gd name="T9" fmla="*/ 0 h 153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20"/>
                    <a:gd name="T16" fmla="*/ 0 h 1536"/>
                    <a:gd name="T17" fmla="*/ 1920 w 1920"/>
                    <a:gd name="T18" fmla="*/ 1536 h 1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20" h="1536">
                      <a:moveTo>
                        <a:pt x="0" y="768"/>
                      </a:moveTo>
                      <a:cubicBezTo>
                        <a:pt x="160" y="384"/>
                        <a:pt x="320" y="0"/>
                        <a:pt x="480" y="0"/>
                      </a:cubicBezTo>
                      <a:cubicBezTo>
                        <a:pt x="640" y="0"/>
                        <a:pt x="800" y="512"/>
                        <a:pt x="960" y="768"/>
                      </a:cubicBezTo>
                      <a:cubicBezTo>
                        <a:pt x="1120" y="1024"/>
                        <a:pt x="1280" y="1536"/>
                        <a:pt x="1440" y="1536"/>
                      </a:cubicBezTo>
                      <a:cubicBezTo>
                        <a:pt x="1600" y="1536"/>
                        <a:pt x="1840" y="896"/>
                        <a:pt x="1920" y="768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8451" name="Freeform 40"/>
                <p:cNvSpPr>
                  <a:spLocks/>
                </p:cNvSpPr>
                <p:nvPr/>
              </p:nvSpPr>
              <p:spPr bwMode="auto">
                <a:xfrm>
                  <a:off x="2361" y="3396"/>
                  <a:ext cx="519" cy="292"/>
                </a:xfrm>
                <a:custGeom>
                  <a:avLst/>
                  <a:gdLst>
                    <a:gd name="T0" fmla="*/ 0 w 1920"/>
                    <a:gd name="T1" fmla="*/ 0 h 1536"/>
                    <a:gd name="T2" fmla="*/ 0 w 1920"/>
                    <a:gd name="T3" fmla="*/ 0 h 1536"/>
                    <a:gd name="T4" fmla="*/ 0 w 1920"/>
                    <a:gd name="T5" fmla="*/ 0 h 1536"/>
                    <a:gd name="T6" fmla="*/ 0 w 1920"/>
                    <a:gd name="T7" fmla="*/ 0 h 1536"/>
                    <a:gd name="T8" fmla="*/ 0 w 1920"/>
                    <a:gd name="T9" fmla="*/ 0 h 153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20"/>
                    <a:gd name="T16" fmla="*/ 0 h 1536"/>
                    <a:gd name="T17" fmla="*/ 1920 w 1920"/>
                    <a:gd name="T18" fmla="*/ 1536 h 1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20" h="1536">
                      <a:moveTo>
                        <a:pt x="0" y="768"/>
                      </a:moveTo>
                      <a:cubicBezTo>
                        <a:pt x="160" y="384"/>
                        <a:pt x="320" y="0"/>
                        <a:pt x="480" y="0"/>
                      </a:cubicBezTo>
                      <a:cubicBezTo>
                        <a:pt x="640" y="0"/>
                        <a:pt x="800" y="512"/>
                        <a:pt x="960" y="768"/>
                      </a:cubicBezTo>
                      <a:cubicBezTo>
                        <a:pt x="1120" y="1024"/>
                        <a:pt x="1280" y="1536"/>
                        <a:pt x="1440" y="1536"/>
                      </a:cubicBezTo>
                      <a:cubicBezTo>
                        <a:pt x="1600" y="1536"/>
                        <a:pt x="1840" y="896"/>
                        <a:pt x="1920" y="768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8452" name="Freeform 41"/>
                <p:cNvSpPr>
                  <a:spLocks/>
                </p:cNvSpPr>
                <p:nvPr/>
              </p:nvSpPr>
              <p:spPr bwMode="auto">
                <a:xfrm>
                  <a:off x="2878" y="3396"/>
                  <a:ext cx="519" cy="292"/>
                </a:xfrm>
                <a:custGeom>
                  <a:avLst/>
                  <a:gdLst>
                    <a:gd name="T0" fmla="*/ 0 w 1920"/>
                    <a:gd name="T1" fmla="*/ 0 h 1536"/>
                    <a:gd name="T2" fmla="*/ 0 w 1920"/>
                    <a:gd name="T3" fmla="*/ 0 h 1536"/>
                    <a:gd name="T4" fmla="*/ 0 w 1920"/>
                    <a:gd name="T5" fmla="*/ 0 h 1536"/>
                    <a:gd name="T6" fmla="*/ 0 w 1920"/>
                    <a:gd name="T7" fmla="*/ 0 h 1536"/>
                    <a:gd name="T8" fmla="*/ 0 w 1920"/>
                    <a:gd name="T9" fmla="*/ 0 h 153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20"/>
                    <a:gd name="T16" fmla="*/ 0 h 1536"/>
                    <a:gd name="T17" fmla="*/ 1920 w 1920"/>
                    <a:gd name="T18" fmla="*/ 1536 h 1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20" h="1536">
                      <a:moveTo>
                        <a:pt x="0" y="768"/>
                      </a:moveTo>
                      <a:cubicBezTo>
                        <a:pt x="160" y="384"/>
                        <a:pt x="320" y="0"/>
                        <a:pt x="480" y="0"/>
                      </a:cubicBezTo>
                      <a:cubicBezTo>
                        <a:pt x="640" y="0"/>
                        <a:pt x="800" y="512"/>
                        <a:pt x="960" y="768"/>
                      </a:cubicBezTo>
                      <a:cubicBezTo>
                        <a:pt x="1120" y="1024"/>
                        <a:pt x="1280" y="1536"/>
                        <a:pt x="1440" y="1536"/>
                      </a:cubicBezTo>
                      <a:cubicBezTo>
                        <a:pt x="1600" y="1536"/>
                        <a:pt x="1840" y="896"/>
                        <a:pt x="1920" y="768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7" name="Group 43"/>
              <p:cNvGrpSpPr>
                <a:grpSpLocks/>
              </p:cNvGrpSpPr>
              <p:nvPr/>
            </p:nvGrpSpPr>
            <p:grpSpPr bwMode="auto">
              <a:xfrm>
                <a:off x="3395" y="3402"/>
                <a:ext cx="1560" cy="292"/>
                <a:chOff x="1837" y="3396"/>
                <a:chExt cx="1560" cy="292"/>
              </a:xfrm>
            </p:grpSpPr>
            <p:sp>
              <p:nvSpPr>
                <p:cNvPr id="18447" name="Freeform 44"/>
                <p:cNvSpPr>
                  <a:spLocks/>
                </p:cNvSpPr>
                <p:nvPr/>
              </p:nvSpPr>
              <p:spPr bwMode="auto">
                <a:xfrm>
                  <a:off x="1837" y="3396"/>
                  <a:ext cx="519" cy="292"/>
                </a:xfrm>
                <a:custGeom>
                  <a:avLst/>
                  <a:gdLst>
                    <a:gd name="T0" fmla="*/ 0 w 1920"/>
                    <a:gd name="T1" fmla="*/ 0 h 1536"/>
                    <a:gd name="T2" fmla="*/ 0 w 1920"/>
                    <a:gd name="T3" fmla="*/ 0 h 1536"/>
                    <a:gd name="T4" fmla="*/ 0 w 1920"/>
                    <a:gd name="T5" fmla="*/ 0 h 1536"/>
                    <a:gd name="T6" fmla="*/ 0 w 1920"/>
                    <a:gd name="T7" fmla="*/ 0 h 1536"/>
                    <a:gd name="T8" fmla="*/ 0 w 1920"/>
                    <a:gd name="T9" fmla="*/ 0 h 153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20"/>
                    <a:gd name="T16" fmla="*/ 0 h 1536"/>
                    <a:gd name="T17" fmla="*/ 1920 w 1920"/>
                    <a:gd name="T18" fmla="*/ 1536 h 1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20" h="1536">
                      <a:moveTo>
                        <a:pt x="0" y="768"/>
                      </a:moveTo>
                      <a:cubicBezTo>
                        <a:pt x="160" y="384"/>
                        <a:pt x="320" y="0"/>
                        <a:pt x="480" y="0"/>
                      </a:cubicBezTo>
                      <a:cubicBezTo>
                        <a:pt x="640" y="0"/>
                        <a:pt x="800" y="512"/>
                        <a:pt x="960" y="768"/>
                      </a:cubicBezTo>
                      <a:cubicBezTo>
                        <a:pt x="1120" y="1024"/>
                        <a:pt x="1280" y="1536"/>
                        <a:pt x="1440" y="1536"/>
                      </a:cubicBezTo>
                      <a:cubicBezTo>
                        <a:pt x="1600" y="1536"/>
                        <a:pt x="1840" y="896"/>
                        <a:pt x="1920" y="768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8448" name="Freeform 45"/>
                <p:cNvSpPr>
                  <a:spLocks/>
                </p:cNvSpPr>
                <p:nvPr/>
              </p:nvSpPr>
              <p:spPr bwMode="auto">
                <a:xfrm>
                  <a:off x="2361" y="3396"/>
                  <a:ext cx="519" cy="292"/>
                </a:xfrm>
                <a:custGeom>
                  <a:avLst/>
                  <a:gdLst>
                    <a:gd name="T0" fmla="*/ 0 w 1920"/>
                    <a:gd name="T1" fmla="*/ 0 h 1536"/>
                    <a:gd name="T2" fmla="*/ 0 w 1920"/>
                    <a:gd name="T3" fmla="*/ 0 h 1536"/>
                    <a:gd name="T4" fmla="*/ 0 w 1920"/>
                    <a:gd name="T5" fmla="*/ 0 h 1536"/>
                    <a:gd name="T6" fmla="*/ 0 w 1920"/>
                    <a:gd name="T7" fmla="*/ 0 h 1536"/>
                    <a:gd name="T8" fmla="*/ 0 w 1920"/>
                    <a:gd name="T9" fmla="*/ 0 h 153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20"/>
                    <a:gd name="T16" fmla="*/ 0 h 1536"/>
                    <a:gd name="T17" fmla="*/ 1920 w 1920"/>
                    <a:gd name="T18" fmla="*/ 1536 h 1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20" h="1536">
                      <a:moveTo>
                        <a:pt x="0" y="768"/>
                      </a:moveTo>
                      <a:cubicBezTo>
                        <a:pt x="160" y="384"/>
                        <a:pt x="320" y="0"/>
                        <a:pt x="480" y="0"/>
                      </a:cubicBezTo>
                      <a:cubicBezTo>
                        <a:pt x="640" y="0"/>
                        <a:pt x="800" y="512"/>
                        <a:pt x="960" y="768"/>
                      </a:cubicBezTo>
                      <a:cubicBezTo>
                        <a:pt x="1120" y="1024"/>
                        <a:pt x="1280" y="1536"/>
                        <a:pt x="1440" y="1536"/>
                      </a:cubicBezTo>
                      <a:cubicBezTo>
                        <a:pt x="1600" y="1536"/>
                        <a:pt x="1840" y="896"/>
                        <a:pt x="1920" y="768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8449" name="Freeform 46"/>
                <p:cNvSpPr>
                  <a:spLocks/>
                </p:cNvSpPr>
                <p:nvPr/>
              </p:nvSpPr>
              <p:spPr bwMode="auto">
                <a:xfrm>
                  <a:off x="2878" y="3396"/>
                  <a:ext cx="519" cy="292"/>
                </a:xfrm>
                <a:custGeom>
                  <a:avLst/>
                  <a:gdLst>
                    <a:gd name="T0" fmla="*/ 0 w 1920"/>
                    <a:gd name="T1" fmla="*/ 0 h 1536"/>
                    <a:gd name="T2" fmla="*/ 0 w 1920"/>
                    <a:gd name="T3" fmla="*/ 0 h 1536"/>
                    <a:gd name="T4" fmla="*/ 0 w 1920"/>
                    <a:gd name="T5" fmla="*/ 0 h 1536"/>
                    <a:gd name="T6" fmla="*/ 0 w 1920"/>
                    <a:gd name="T7" fmla="*/ 0 h 1536"/>
                    <a:gd name="T8" fmla="*/ 0 w 1920"/>
                    <a:gd name="T9" fmla="*/ 0 h 153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20"/>
                    <a:gd name="T16" fmla="*/ 0 h 1536"/>
                    <a:gd name="T17" fmla="*/ 1920 w 1920"/>
                    <a:gd name="T18" fmla="*/ 1536 h 1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20" h="1536">
                      <a:moveTo>
                        <a:pt x="0" y="768"/>
                      </a:moveTo>
                      <a:cubicBezTo>
                        <a:pt x="160" y="384"/>
                        <a:pt x="320" y="0"/>
                        <a:pt x="480" y="0"/>
                      </a:cubicBezTo>
                      <a:cubicBezTo>
                        <a:pt x="640" y="0"/>
                        <a:pt x="800" y="512"/>
                        <a:pt x="960" y="768"/>
                      </a:cubicBezTo>
                      <a:cubicBezTo>
                        <a:pt x="1120" y="1024"/>
                        <a:pt x="1280" y="1536"/>
                        <a:pt x="1440" y="1536"/>
                      </a:cubicBezTo>
                      <a:cubicBezTo>
                        <a:pt x="1600" y="1536"/>
                        <a:pt x="1840" y="896"/>
                        <a:pt x="1920" y="768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</p:grpSp>
        <p:sp>
          <p:nvSpPr>
            <p:cNvPr id="18444" name="Text Box 48"/>
            <p:cNvSpPr txBox="1">
              <a:spLocks noChangeArrowheads="1"/>
            </p:cNvSpPr>
            <p:nvPr/>
          </p:nvSpPr>
          <p:spPr bwMode="auto">
            <a:xfrm rot="21243611">
              <a:off x="1786" y="3424"/>
              <a:ext cx="2307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400" dirty="0"/>
                <a:t>1 0 1 1 0 0 1 0 0 1 0 0 1 0 0 0 1 1 0 0 1</a:t>
              </a:r>
              <a:endParaRPr lang="en-US" sz="1400" dirty="0"/>
            </a:p>
          </p:txBody>
        </p:sp>
      </p:grpSp>
      <p:sp>
        <p:nvSpPr>
          <p:cNvPr id="190514" name="Text Box 50"/>
          <p:cNvSpPr txBox="1">
            <a:spLocks noChangeArrowheads="1"/>
          </p:cNvSpPr>
          <p:nvPr/>
        </p:nvSpPr>
        <p:spPr bwMode="auto">
          <a:xfrm>
            <a:off x="5440573" y="5973711"/>
            <a:ext cx="3298825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dirty="0"/>
              <a:t>… often at hundreds of </a:t>
            </a:r>
            <a:r>
              <a:rPr lang="en-GB" dirty="0" err="1"/>
              <a:t>Mbits</a:t>
            </a:r>
            <a:r>
              <a:rPr lang="en-GB" dirty="0"/>
              <a:t>/s</a:t>
            </a:r>
            <a:endParaRPr lang="en-US" dirty="0"/>
          </a:p>
        </p:txBody>
      </p:sp>
      <p:sp>
        <p:nvSpPr>
          <p:cNvPr id="18441" name="Text Box 51"/>
          <p:cNvSpPr txBox="1">
            <a:spLocks noChangeArrowheads="1"/>
          </p:cNvSpPr>
          <p:nvPr/>
        </p:nvSpPr>
        <p:spPr bwMode="auto">
          <a:xfrm>
            <a:off x="7110413" y="4500563"/>
            <a:ext cx="1439862" cy="2057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900" b="1" dirty="0">
                <a:solidFill>
                  <a:srgbClr val="00CC99"/>
                </a:solidFill>
                <a:sym typeface="Wingdings 2" pitchFamily="18" charset="2"/>
              </a:rPr>
              <a:t></a:t>
            </a:r>
          </a:p>
        </p:txBody>
      </p:sp>
      <p:sp>
        <p:nvSpPr>
          <p:cNvPr id="18442" name="Text Box 52"/>
          <p:cNvSpPr txBox="1">
            <a:spLocks noChangeArrowheads="1"/>
          </p:cNvSpPr>
          <p:nvPr/>
        </p:nvSpPr>
        <p:spPr bwMode="auto">
          <a:xfrm>
            <a:off x="5265738" y="1166813"/>
            <a:ext cx="2060575" cy="3581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2900" dirty="0">
                <a:solidFill>
                  <a:srgbClr val="FF0000"/>
                </a:solidFill>
                <a:sym typeface="Wingdings 2" pitchFamily="18" charset="2"/>
              </a:rPr>
              <a:t>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5134" y="5245880"/>
            <a:ext cx="828675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440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0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0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0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51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Line 5"/>
          <p:cNvSpPr>
            <a:spLocks noChangeShapeType="1"/>
          </p:cNvSpPr>
          <p:nvPr/>
        </p:nvSpPr>
        <p:spPr bwMode="auto">
          <a:xfrm>
            <a:off x="723900" y="4711700"/>
            <a:ext cx="7912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2531" name="AutoShape 6"/>
          <p:cNvSpPr>
            <a:spLocks noChangeArrowheads="1"/>
          </p:cNvSpPr>
          <p:nvPr/>
        </p:nvSpPr>
        <p:spPr bwMode="auto">
          <a:xfrm flipV="1">
            <a:off x="800100" y="3073400"/>
            <a:ext cx="6540500" cy="16256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 dirty="0"/>
          </a:p>
        </p:txBody>
      </p:sp>
      <p:sp>
        <p:nvSpPr>
          <p:cNvPr id="22535" name="Line 10"/>
          <p:cNvSpPr>
            <a:spLocks noChangeShapeType="1"/>
          </p:cNvSpPr>
          <p:nvPr/>
        </p:nvSpPr>
        <p:spPr bwMode="auto">
          <a:xfrm flipV="1">
            <a:off x="812800" y="2120900"/>
            <a:ext cx="0" cy="2589213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2540" name="Line 15"/>
          <p:cNvSpPr>
            <a:spLocks noChangeShapeType="1"/>
          </p:cNvSpPr>
          <p:nvPr/>
        </p:nvSpPr>
        <p:spPr bwMode="auto">
          <a:xfrm flipH="1" flipV="1">
            <a:off x="7556500" y="4152900"/>
            <a:ext cx="12700" cy="1092200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2541" name="Line 16"/>
          <p:cNvSpPr>
            <a:spLocks noChangeShapeType="1"/>
          </p:cNvSpPr>
          <p:nvPr/>
        </p:nvSpPr>
        <p:spPr bwMode="auto">
          <a:xfrm>
            <a:off x="800100" y="4978400"/>
            <a:ext cx="6769100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2542" name="Text Box 17"/>
          <p:cNvSpPr txBox="1">
            <a:spLocks noChangeArrowheads="1"/>
          </p:cNvSpPr>
          <p:nvPr/>
        </p:nvSpPr>
        <p:spPr bwMode="auto">
          <a:xfrm>
            <a:off x="3743325" y="4872038"/>
            <a:ext cx="946150" cy="3365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7.0MHz</a:t>
            </a:r>
            <a:endParaRPr lang="en-GB" sz="2000"/>
          </a:p>
        </p:txBody>
      </p:sp>
      <p:sp>
        <p:nvSpPr>
          <p:cNvPr id="22545" name="Text Box 20"/>
          <p:cNvSpPr txBox="1">
            <a:spLocks noChangeArrowheads="1"/>
          </p:cNvSpPr>
          <p:nvPr/>
        </p:nvSpPr>
        <p:spPr bwMode="auto">
          <a:xfrm>
            <a:off x="395288" y="333375"/>
            <a:ext cx="512351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2400" b="1" dirty="0" err="1"/>
              <a:t>e.g</a:t>
            </a:r>
            <a:r>
              <a:rPr lang="en-GB" sz="2400" b="1" dirty="0"/>
              <a:t>: Analogue TV … to Digital TV</a:t>
            </a:r>
          </a:p>
          <a:p>
            <a:endParaRPr lang="en-GB" sz="2400" b="1" dirty="0"/>
          </a:p>
        </p:txBody>
      </p:sp>
      <p:sp>
        <p:nvSpPr>
          <p:cNvPr id="22546" name="Text Box 21"/>
          <p:cNvSpPr txBox="1">
            <a:spLocks noChangeArrowheads="1"/>
          </p:cNvSpPr>
          <p:nvPr/>
        </p:nvSpPr>
        <p:spPr bwMode="auto">
          <a:xfrm>
            <a:off x="5697776" y="5383185"/>
            <a:ext cx="1290738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800" dirty="0"/>
              <a:t>frequency</a:t>
            </a:r>
            <a:endParaRPr lang="en-GB" sz="2400" dirty="0"/>
          </a:p>
        </p:txBody>
      </p:sp>
      <p:sp>
        <p:nvSpPr>
          <p:cNvPr id="22547" name="Line 22"/>
          <p:cNvSpPr>
            <a:spLocks noChangeShapeType="1"/>
          </p:cNvSpPr>
          <p:nvPr/>
        </p:nvSpPr>
        <p:spPr bwMode="auto">
          <a:xfrm>
            <a:off x="6969603" y="5548438"/>
            <a:ext cx="620726" cy="26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" name="Rectangle 1"/>
          <p:cNvSpPr/>
          <p:nvPr/>
        </p:nvSpPr>
        <p:spPr>
          <a:xfrm>
            <a:off x="395288" y="1438100"/>
            <a:ext cx="312617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u="sng" dirty="0"/>
              <a:t>Analogue</a:t>
            </a:r>
            <a:r>
              <a:rPr lang="en-GB" b="1" dirty="0"/>
              <a:t> TV Signal Spectrum</a:t>
            </a:r>
          </a:p>
        </p:txBody>
      </p:sp>
      <p:pic>
        <p:nvPicPr>
          <p:cNvPr id="1026" name="Picture 2" descr="http://thumbs.dreamstime.com/x/old-tv-43466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0754" y="690719"/>
            <a:ext cx="2089239" cy="1906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/>
          <p:cNvCxnSpPr/>
          <p:nvPr/>
        </p:nvCxnSpPr>
        <p:spPr bwMode="auto">
          <a:xfrm flipV="1">
            <a:off x="5430644" y="2253401"/>
            <a:ext cx="762714" cy="728115"/>
          </a:xfrm>
          <a:prstGeom prst="straightConnector1">
            <a:avLst/>
          </a:prstGeom>
          <a:solidFill>
            <a:schemeClr val="accent1"/>
          </a:solidFill>
          <a:ln w="92075" cap="flat" cmpd="sng" algn="ctr">
            <a:solidFill>
              <a:srgbClr val="FF0000">
                <a:alpha val="35000"/>
              </a:srgbClr>
            </a:solidFill>
            <a:prstDash val="solid"/>
            <a:round/>
            <a:headEnd type="none" w="lg" len="lg"/>
            <a:tailEnd type="triangle"/>
          </a:ln>
          <a:effectLst/>
        </p:spPr>
      </p:cxnSp>
      <p:sp>
        <p:nvSpPr>
          <p:cNvPr id="3" name="TextBox 2"/>
          <p:cNvSpPr txBox="1"/>
          <p:nvPr/>
        </p:nvSpPr>
        <p:spPr>
          <a:xfrm>
            <a:off x="1535049" y="3339336"/>
            <a:ext cx="48529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Frequency spectrum (range) for Analogue TV broadcast: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video signal (luminance + colour)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audio signal</a:t>
            </a:r>
          </a:p>
        </p:txBody>
      </p:sp>
    </p:spTree>
    <p:extLst>
      <p:ext uri="{BB962C8B-B14F-4D97-AF65-F5344CB8AC3E}">
        <p14:creationId xmlns:p14="http://schemas.microsoft.com/office/powerpoint/2010/main" val="18851827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250825" y="4233862"/>
            <a:ext cx="8642350" cy="1908176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395288" y="331788"/>
            <a:ext cx="59404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2400" b="1" dirty="0"/>
              <a:t>Broadcast Channels Frequency Spacing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 rot="5400000">
            <a:off x="4468019" y="2596356"/>
            <a:ext cx="352425" cy="6481763"/>
            <a:chOff x="5346" y="341"/>
            <a:chExt cx="222" cy="3690"/>
          </a:xfrm>
        </p:grpSpPr>
        <p:sp>
          <p:nvSpPr>
            <p:cNvPr id="23603" name="Freeform 5"/>
            <p:cNvSpPr>
              <a:spLocks/>
            </p:cNvSpPr>
            <p:nvPr/>
          </p:nvSpPr>
          <p:spPr bwMode="auto">
            <a:xfrm>
              <a:off x="5349" y="638"/>
              <a:ext cx="219" cy="3393"/>
            </a:xfrm>
            <a:custGeom>
              <a:avLst/>
              <a:gdLst>
                <a:gd name="T0" fmla="*/ 0 w 219"/>
                <a:gd name="T1" fmla="*/ 0 h 3393"/>
                <a:gd name="T2" fmla="*/ 207 w 219"/>
                <a:gd name="T3" fmla="*/ 49 h 3393"/>
                <a:gd name="T4" fmla="*/ 9 w 219"/>
                <a:gd name="T5" fmla="*/ 100 h 3393"/>
                <a:gd name="T6" fmla="*/ 207 w 219"/>
                <a:gd name="T7" fmla="*/ 153 h 3393"/>
                <a:gd name="T8" fmla="*/ 9 w 219"/>
                <a:gd name="T9" fmla="*/ 205 h 3393"/>
                <a:gd name="T10" fmla="*/ 207 w 219"/>
                <a:gd name="T11" fmla="*/ 284 h 3393"/>
                <a:gd name="T12" fmla="*/ 9 w 219"/>
                <a:gd name="T13" fmla="*/ 362 h 3393"/>
                <a:gd name="T14" fmla="*/ 212 w 219"/>
                <a:gd name="T15" fmla="*/ 441 h 3393"/>
                <a:gd name="T16" fmla="*/ 9 w 219"/>
                <a:gd name="T17" fmla="*/ 544 h 3393"/>
                <a:gd name="T18" fmla="*/ 205 w 219"/>
                <a:gd name="T19" fmla="*/ 656 h 3393"/>
                <a:gd name="T20" fmla="*/ 37 w 219"/>
                <a:gd name="T21" fmla="*/ 806 h 3393"/>
                <a:gd name="T22" fmla="*/ 205 w 219"/>
                <a:gd name="T23" fmla="*/ 954 h 3393"/>
                <a:gd name="T24" fmla="*/ 37 w 219"/>
                <a:gd name="T25" fmla="*/ 1094 h 3393"/>
                <a:gd name="T26" fmla="*/ 219 w 219"/>
                <a:gd name="T27" fmla="*/ 1231 h 3393"/>
                <a:gd name="T28" fmla="*/ 37 w 219"/>
                <a:gd name="T29" fmla="*/ 1355 h 3393"/>
                <a:gd name="T30" fmla="*/ 207 w 219"/>
                <a:gd name="T31" fmla="*/ 1486 h 3393"/>
                <a:gd name="T32" fmla="*/ 37 w 219"/>
                <a:gd name="T33" fmla="*/ 1668 h 3393"/>
                <a:gd name="T34" fmla="*/ 179 w 219"/>
                <a:gd name="T35" fmla="*/ 1825 h 3393"/>
                <a:gd name="T36" fmla="*/ 9 w 219"/>
                <a:gd name="T37" fmla="*/ 2034 h 3393"/>
                <a:gd name="T38" fmla="*/ 207 w 219"/>
                <a:gd name="T39" fmla="*/ 2269 h 3393"/>
                <a:gd name="T40" fmla="*/ 9 w 219"/>
                <a:gd name="T41" fmla="*/ 2557 h 3393"/>
                <a:gd name="T42" fmla="*/ 179 w 219"/>
                <a:gd name="T43" fmla="*/ 2845 h 3393"/>
                <a:gd name="T44" fmla="*/ 37 w 219"/>
                <a:gd name="T45" fmla="*/ 3185 h 3393"/>
                <a:gd name="T46" fmla="*/ 207 w 219"/>
                <a:gd name="T47" fmla="*/ 3393 h 339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219"/>
                <a:gd name="T73" fmla="*/ 0 h 3393"/>
                <a:gd name="T74" fmla="*/ 219 w 219"/>
                <a:gd name="T75" fmla="*/ 3393 h 3393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219" h="3393">
                  <a:moveTo>
                    <a:pt x="0" y="0"/>
                  </a:moveTo>
                  <a:cubicBezTo>
                    <a:pt x="35" y="8"/>
                    <a:pt x="205" y="32"/>
                    <a:pt x="207" y="49"/>
                  </a:cubicBezTo>
                  <a:cubicBezTo>
                    <a:pt x="209" y="66"/>
                    <a:pt x="9" y="83"/>
                    <a:pt x="9" y="100"/>
                  </a:cubicBezTo>
                  <a:cubicBezTo>
                    <a:pt x="9" y="118"/>
                    <a:pt x="207" y="135"/>
                    <a:pt x="207" y="153"/>
                  </a:cubicBezTo>
                  <a:cubicBezTo>
                    <a:pt x="207" y="170"/>
                    <a:pt x="9" y="183"/>
                    <a:pt x="9" y="205"/>
                  </a:cubicBezTo>
                  <a:cubicBezTo>
                    <a:pt x="9" y="227"/>
                    <a:pt x="207" y="258"/>
                    <a:pt x="207" y="284"/>
                  </a:cubicBezTo>
                  <a:cubicBezTo>
                    <a:pt x="207" y="309"/>
                    <a:pt x="8" y="336"/>
                    <a:pt x="9" y="362"/>
                  </a:cubicBezTo>
                  <a:cubicBezTo>
                    <a:pt x="10" y="388"/>
                    <a:pt x="212" y="411"/>
                    <a:pt x="212" y="441"/>
                  </a:cubicBezTo>
                  <a:cubicBezTo>
                    <a:pt x="212" y="472"/>
                    <a:pt x="10" y="509"/>
                    <a:pt x="9" y="544"/>
                  </a:cubicBezTo>
                  <a:cubicBezTo>
                    <a:pt x="8" y="580"/>
                    <a:pt x="200" y="613"/>
                    <a:pt x="205" y="656"/>
                  </a:cubicBezTo>
                  <a:cubicBezTo>
                    <a:pt x="210" y="699"/>
                    <a:pt x="37" y="757"/>
                    <a:pt x="37" y="806"/>
                  </a:cubicBezTo>
                  <a:cubicBezTo>
                    <a:pt x="37" y="856"/>
                    <a:pt x="205" y="906"/>
                    <a:pt x="205" y="954"/>
                  </a:cubicBezTo>
                  <a:cubicBezTo>
                    <a:pt x="205" y="1002"/>
                    <a:pt x="35" y="1048"/>
                    <a:pt x="37" y="1094"/>
                  </a:cubicBezTo>
                  <a:cubicBezTo>
                    <a:pt x="39" y="1140"/>
                    <a:pt x="219" y="1188"/>
                    <a:pt x="219" y="1231"/>
                  </a:cubicBezTo>
                  <a:cubicBezTo>
                    <a:pt x="219" y="1275"/>
                    <a:pt x="39" y="1312"/>
                    <a:pt x="37" y="1355"/>
                  </a:cubicBezTo>
                  <a:cubicBezTo>
                    <a:pt x="35" y="1397"/>
                    <a:pt x="207" y="1433"/>
                    <a:pt x="207" y="1486"/>
                  </a:cubicBezTo>
                  <a:cubicBezTo>
                    <a:pt x="207" y="1538"/>
                    <a:pt x="42" y="1612"/>
                    <a:pt x="37" y="1668"/>
                  </a:cubicBezTo>
                  <a:cubicBezTo>
                    <a:pt x="32" y="1724"/>
                    <a:pt x="184" y="1764"/>
                    <a:pt x="179" y="1825"/>
                  </a:cubicBezTo>
                  <a:cubicBezTo>
                    <a:pt x="174" y="1886"/>
                    <a:pt x="4" y="1960"/>
                    <a:pt x="9" y="2034"/>
                  </a:cubicBezTo>
                  <a:cubicBezTo>
                    <a:pt x="14" y="2108"/>
                    <a:pt x="207" y="2183"/>
                    <a:pt x="207" y="2269"/>
                  </a:cubicBezTo>
                  <a:cubicBezTo>
                    <a:pt x="207" y="2356"/>
                    <a:pt x="14" y="2461"/>
                    <a:pt x="9" y="2557"/>
                  </a:cubicBezTo>
                  <a:cubicBezTo>
                    <a:pt x="4" y="2653"/>
                    <a:pt x="174" y="2740"/>
                    <a:pt x="179" y="2845"/>
                  </a:cubicBezTo>
                  <a:cubicBezTo>
                    <a:pt x="184" y="2949"/>
                    <a:pt x="32" y="3093"/>
                    <a:pt x="37" y="3185"/>
                  </a:cubicBezTo>
                  <a:cubicBezTo>
                    <a:pt x="42" y="3276"/>
                    <a:pt x="124" y="3334"/>
                    <a:pt x="207" y="3393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3604" name="Freeform 6"/>
            <p:cNvSpPr>
              <a:spLocks/>
            </p:cNvSpPr>
            <p:nvPr/>
          </p:nvSpPr>
          <p:spPr bwMode="auto">
            <a:xfrm>
              <a:off x="5346" y="341"/>
              <a:ext cx="208" cy="297"/>
            </a:xfrm>
            <a:custGeom>
              <a:avLst/>
              <a:gdLst>
                <a:gd name="T0" fmla="*/ 30 w 208"/>
                <a:gd name="T1" fmla="*/ 297 h 297"/>
                <a:gd name="T2" fmla="*/ 200 w 208"/>
                <a:gd name="T3" fmla="*/ 260 h 297"/>
                <a:gd name="T4" fmla="*/ 25 w 208"/>
                <a:gd name="T5" fmla="*/ 235 h 297"/>
                <a:gd name="T6" fmla="*/ 208 w 208"/>
                <a:gd name="T7" fmla="*/ 194 h 297"/>
                <a:gd name="T8" fmla="*/ 25 w 208"/>
                <a:gd name="T9" fmla="*/ 180 h 297"/>
                <a:gd name="T10" fmla="*/ 200 w 208"/>
                <a:gd name="T11" fmla="*/ 146 h 297"/>
                <a:gd name="T12" fmla="*/ 4 w 208"/>
                <a:gd name="T13" fmla="*/ 146 h 297"/>
                <a:gd name="T14" fmla="*/ 200 w 208"/>
                <a:gd name="T15" fmla="*/ 118 h 297"/>
                <a:gd name="T16" fmla="*/ 4 w 208"/>
                <a:gd name="T17" fmla="*/ 118 h 297"/>
                <a:gd name="T18" fmla="*/ 200 w 208"/>
                <a:gd name="T19" fmla="*/ 90 h 297"/>
                <a:gd name="T20" fmla="*/ 4 w 208"/>
                <a:gd name="T21" fmla="*/ 90 h 297"/>
                <a:gd name="T22" fmla="*/ 176 w 208"/>
                <a:gd name="T23" fmla="*/ 61 h 297"/>
                <a:gd name="T24" fmla="*/ 4 w 208"/>
                <a:gd name="T25" fmla="*/ 61 h 297"/>
                <a:gd name="T26" fmla="*/ 200 w 208"/>
                <a:gd name="T27" fmla="*/ 61 h 297"/>
                <a:gd name="T28" fmla="*/ 4 w 208"/>
                <a:gd name="T29" fmla="*/ 61 h 297"/>
                <a:gd name="T30" fmla="*/ 200 w 208"/>
                <a:gd name="T31" fmla="*/ 33 h 297"/>
                <a:gd name="T32" fmla="*/ 28 w 208"/>
                <a:gd name="T33" fmla="*/ 33 h 297"/>
                <a:gd name="T34" fmla="*/ 200 w 208"/>
                <a:gd name="T35" fmla="*/ 5 h 297"/>
                <a:gd name="T36" fmla="*/ 4 w 208"/>
                <a:gd name="T37" fmla="*/ 5 h 29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08"/>
                <a:gd name="T58" fmla="*/ 0 h 297"/>
                <a:gd name="T59" fmla="*/ 208 w 208"/>
                <a:gd name="T60" fmla="*/ 297 h 29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08" h="297">
                  <a:moveTo>
                    <a:pt x="30" y="297"/>
                  </a:moveTo>
                  <a:cubicBezTo>
                    <a:pt x="60" y="291"/>
                    <a:pt x="201" y="270"/>
                    <a:pt x="200" y="260"/>
                  </a:cubicBezTo>
                  <a:cubicBezTo>
                    <a:pt x="199" y="250"/>
                    <a:pt x="23" y="246"/>
                    <a:pt x="25" y="235"/>
                  </a:cubicBezTo>
                  <a:cubicBezTo>
                    <a:pt x="27" y="224"/>
                    <a:pt x="208" y="203"/>
                    <a:pt x="208" y="194"/>
                  </a:cubicBezTo>
                  <a:cubicBezTo>
                    <a:pt x="208" y="185"/>
                    <a:pt x="27" y="188"/>
                    <a:pt x="25" y="180"/>
                  </a:cubicBezTo>
                  <a:cubicBezTo>
                    <a:pt x="23" y="172"/>
                    <a:pt x="204" y="152"/>
                    <a:pt x="200" y="146"/>
                  </a:cubicBezTo>
                  <a:cubicBezTo>
                    <a:pt x="197" y="140"/>
                    <a:pt x="4" y="151"/>
                    <a:pt x="4" y="146"/>
                  </a:cubicBezTo>
                  <a:cubicBezTo>
                    <a:pt x="4" y="141"/>
                    <a:pt x="200" y="123"/>
                    <a:pt x="200" y="118"/>
                  </a:cubicBezTo>
                  <a:cubicBezTo>
                    <a:pt x="200" y="113"/>
                    <a:pt x="4" y="123"/>
                    <a:pt x="4" y="118"/>
                  </a:cubicBezTo>
                  <a:cubicBezTo>
                    <a:pt x="4" y="113"/>
                    <a:pt x="200" y="95"/>
                    <a:pt x="200" y="90"/>
                  </a:cubicBezTo>
                  <a:cubicBezTo>
                    <a:pt x="200" y="85"/>
                    <a:pt x="9" y="95"/>
                    <a:pt x="4" y="90"/>
                  </a:cubicBezTo>
                  <a:cubicBezTo>
                    <a:pt x="0" y="85"/>
                    <a:pt x="176" y="66"/>
                    <a:pt x="176" y="61"/>
                  </a:cubicBezTo>
                  <a:cubicBezTo>
                    <a:pt x="176" y="56"/>
                    <a:pt x="0" y="61"/>
                    <a:pt x="4" y="61"/>
                  </a:cubicBezTo>
                  <a:cubicBezTo>
                    <a:pt x="9" y="61"/>
                    <a:pt x="200" y="61"/>
                    <a:pt x="200" y="61"/>
                  </a:cubicBezTo>
                  <a:cubicBezTo>
                    <a:pt x="200" y="61"/>
                    <a:pt x="4" y="66"/>
                    <a:pt x="4" y="61"/>
                  </a:cubicBezTo>
                  <a:cubicBezTo>
                    <a:pt x="4" y="56"/>
                    <a:pt x="196" y="38"/>
                    <a:pt x="200" y="33"/>
                  </a:cubicBezTo>
                  <a:cubicBezTo>
                    <a:pt x="205" y="28"/>
                    <a:pt x="28" y="38"/>
                    <a:pt x="28" y="33"/>
                  </a:cubicBezTo>
                  <a:cubicBezTo>
                    <a:pt x="28" y="28"/>
                    <a:pt x="205" y="10"/>
                    <a:pt x="200" y="5"/>
                  </a:cubicBezTo>
                  <a:cubicBezTo>
                    <a:pt x="196" y="0"/>
                    <a:pt x="33" y="5"/>
                    <a:pt x="4" y="5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</p:grpSp>
      <p:sp>
        <p:nvSpPr>
          <p:cNvPr id="23557" name="Rectangle 7"/>
          <p:cNvSpPr>
            <a:spLocks noChangeArrowheads="1"/>
          </p:cNvSpPr>
          <p:nvPr/>
        </p:nvSpPr>
        <p:spPr bwMode="auto">
          <a:xfrm>
            <a:off x="433388" y="5732463"/>
            <a:ext cx="10096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475MHz</a:t>
            </a:r>
          </a:p>
        </p:txBody>
      </p:sp>
      <p:sp>
        <p:nvSpPr>
          <p:cNvPr id="23558" name="Rectangle 8"/>
          <p:cNvSpPr>
            <a:spLocks noChangeArrowheads="1"/>
          </p:cNvSpPr>
          <p:nvPr/>
        </p:nvSpPr>
        <p:spPr bwMode="auto">
          <a:xfrm>
            <a:off x="7885113" y="5732463"/>
            <a:ext cx="10096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850MHz</a:t>
            </a:r>
          </a:p>
        </p:txBody>
      </p:sp>
      <p:sp>
        <p:nvSpPr>
          <p:cNvPr id="23559" name="Freeform 9"/>
          <p:cNvSpPr>
            <a:spLocks/>
          </p:cNvSpPr>
          <p:nvPr/>
        </p:nvSpPr>
        <p:spPr bwMode="auto">
          <a:xfrm>
            <a:off x="2008188" y="2024063"/>
            <a:ext cx="3848100" cy="1143000"/>
          </a:xfrm>
          <a:custGeom>
            <a:avLst/>
            <a:gdLst>
              <a:gd name="T0" fmla="*/ 2147483647 w 2424"/>
              <a:gd name="T1" fmla="*/ 2147483647 h 720"/>
              <a:gd name="T2" fmla="*/ 2147483647 w 2424"/>
              <a:gd name="T3" fmla="*/ 2147483647 h 720"/>
              <a:gd name="T4" fmla="*/ 2147483647 w 2424"/>
              <a:gd name="T5" fmla="*/ 2147483647 h 720"/>
              <a:gd name="T6" fmla="*/ 0 w 2424"/>
              <a:gd name="T7" fmla="*/ 0 h 720"/>
              <a:gd name="T8" fmla="*/ 2147483647 w 2424"/>
              <a:gd name="T9" fmla="*/ 2147483647 h 7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24"/>
              <a:gd name="T16" fmla="*/ 0 h 720"/>
              <a:gd name="T17" fmla="*/ 2424 w 2424"/>
              <a:gd name="T18" fmla="*/ 720 h 7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24" h="720">
                <a:moveTo>
                  <a:pt x="1000" y="712"/>
                </a:moveTo>
                <a:lnTo>
                  <a:pt x="1520" y="720"/>
                </a:lnTo>
                <a:lnTo>
                  <a:pt x="2424" y="8"/>
                </a:lnTo>
                <a:lnTo>
                  <a:pt x="0" y="0"/>
                </a:lnTo>
                <a:lnTo>
                  <a:pt x="1000" y="712"/>
                </a:lnTo>
                <a:close/>
              </a:path>
            </a:pathLst>
          </a:custGeom>
          <a:solidFill>
            <a:schemeClr val="hlink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60" name="Freeform 10"/>
          <p:cNvSpPr>
            <a:spLocks/>
          </p:cNvSpPr>
          <p:nvPr/>
        </p:nvSpPr>
        <p:spPr bwMode="auto">
          <a:xfrm>
            <a:off x="827088" y="3357563"/>
            <a:ext cx="7556500" cy="2087562"/>
          </a:xfrm>
          <a:custGeom>
            <a:avLst/>
            <a:gdLst>
              <a:gd name="T0" fmla="*/ 2147483647 w 4760"/>
              <a:gd name="T1" fmla="*/ 2147483647 h 1208"/>
              <a:gd name="T2" fmla="*/ 2147483647 w 4760"/>
              <a:gd name="T3" fmla="*/ 2147483647 h 1208"/>
              <a:gd name="T4" fmla="*/ 2147483647 w 4760"/>
              <a:gd name="T5" fmla="*/ 0 h 1208"/>
              <a:gd name="T6" fmla="*/ 0 w 4760"/>
              <a:gd name="T7" fmla="*/ 2147483647 h 1208"/>
              <a:gd name="T8" fmla="*/ 2147483647 w 4760"/>
              <a:gd name="T9" fmla="*/ 2147483647 h 120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760"/>
              <a:gd name="T16" fmla="*/ 0 h 1208"/>
              <a:gd name="T17" fmla="*/ 4760 w 4760"/>
              <a:gd name="T18" fmla="*/ 1208 h 120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760" h="1208">
                <a:moveTo>
                  <a:pt x="1680" y="1200"/>
                </a:moveTo>
                <a:lnTo>
                  <a:pt x="3016" y="1208"/>
                </a:lnTo>
                <a:lnTo>
                  <a:pt x="4760" y="0"/>
                </a:lnTo>
                <a:lnTo>
                  <a:pt x="0" y="11"/>
                </a:lnTo>
                <a:lnTo>
                  <a:pt x="1680" y="1200"/>
                </a:lnTo>
                <a:close/>
              </a:path>
            </a:pathLst>
          </a:custGeom>
          <a:solidFill>
            <a:schemeClr val="hlink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61" name="AutoShape 11"/>
          <p:cNvSpPr>
            <a:spLocks noChangeArrowheads="1"/>
          </p:cNvSpPr>
          <p:nvPr/>
        </p:nvSpPr>
        <p:spPr bwMode="auto">
          <a:xfrm flipV="1">
            <a:off x="3417888" y="2962275"/>
            <a:ext cx="1201737" cy="3333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63" name="Line 13"/>
          <p:cNvSpPr>
            <a:spLocks noChangeShapeType="1"/>
          </p:cNvSpPr>
          <p:nvPr/>
        </p:nvSpPr>
        <p:spPr bwMode="auto">
          <a:xfrm>
            <a:off x="979488" y="3294063"/>
            <a:ext cx="7734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64" name="AutoShape 14"/>
          <p:cNvSpPr>
            <a:spLocks noChangeArrowheads="1"/>
          </p:cNvSpPr>
          <p:nvPr/>
        </p:nvSpPr>
        <p:spPr bwMode="auto">
          <a:xfrm flipV="1">
            <a:off x="4700588" y="2962275"/>
            <a:ext cx="1201737" cy="3333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65" name="AutoShape 15"/>
          <p:cNvSpPr>
            <a:spLocks noChangeArrowheads="1"/>
          </p:cNvSpPr>
          <p:nvPr/>
        </p:nvSpPr>
        <p:spPr bwMode="auto">
          <a:xfrm flipV="1">
            <a:off x="5970588" y="2949575"/>
            <a:ext cx="1201737" cy="3333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66" name="AutoShape 16"/>
          <p:cNvSpPr>
            <a:spLocks noChangeArrowheads="1"/>
          </p:cNvSpPr>
          <p:nvPr/>
        </p:nvSpPr>
        <p:spPr bwMode="auto">
          <a:xfrm flipV="1">
            <a:off x="7240588" y="2962275"/>
            <a:ext cx="1201737" cy="3333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67" name="AutoShape 17"/>
          <p:cNvSpPr>
            <a:spLocks noChangeArrowheads="1"/>
          </p:cNvSpPr>
          <p:nvPr/>
        </p:nvSpPr>
        <p:spPr bwMode="auto">
          <a:xfrm flipV="1">
            <a:off x="852488" y="2949575"/>
            <a:ext cx="1201737" cy="3333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68" name="AutoShape 18"/>
          <p:cNvSpPr>
            <a:spLocks noChangeArrowheads="1"/>
          </p:cNvSpPr>
          <p:nvPr/>
        </p:nvSpPr>
        <p:spPr bwMode="auto">
          <a:xfrm flipV="1">
            <a:off x="2135188" y="2949575"/>
            <a:ext cx="1201737" cy="3333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69" name="AutoShape 19"/>
          <p:cNvSpPr>
            <a:spLocks noChangeArrowheads="1"/>
          </p:cNvSpPr>
          <p:nvPr/>
        </p:nvSpPr>
        <p:spPr bwMode="auto">
          <a:xfrm flipV="1">
            <a:off x="1944688" y="1122363"/>
            <a:ext cx="3954462" cy="84772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70" name="Line 20"/>
          <p:cNvSpPr>
            <a:spLocks noChangeShapeType="1"/>
          </p:cNvSpPr>
          <p:nvPr/>
        </p:nvSpPr>
        <p:spPr bwMode="auto">
          <a:xfrm>
            <a:off x="1042988" y="5500688"/>
            <a:ext cx="190023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71" name="AutoShape 21"/>
          <p:cNvSpPr>
            <a:spLocks noChangeArrowheads="1"/>
          </p:cNvSpPr>
          <p:nvPr/>
        </p:nvSpPr>
        <p:spPr bwMode="auto">
          <a:xfrm flipV="1">
            <a:off x="69151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72" name="AutoShape 22"/>
          <p:cNvSpPr>
            <a:spLocks noChangeArrowheads="1"/>
          </p:cNvSpPr>
          <p:nvPr/>
        </p:nvSpPr>
        <p:spPr bwMode="auto">
          <a:xfrm flipV="1">
            <a:off x="5391150" y="5259388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73" name="AutoShape 23"/>
          <p:cNvSpPr>
            <a:spLocks noChangeArrowheads="1"/>
          </p:cNvSpPr>
          <p:nvPr/>
        </p:nvSpPr>
        <p:spPr bwMode="auto">
          <a:xfrm flipV="1">
            <a:off x="3897313" y="524986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74" name="AutoShape 24"/>
          <p:cNvSpPr>
            <a:spLocks noChangeArrowheads="1"/>
          </p:cNvSpPr>
          <p:nvPr/>
        </p:nvSpPr>
        <p:spPr bwMode="auto">
          <a:xfrm flipV="1">
            <a:off x="23177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75" name="AutoShape 25"/>
          <p:cNvSpPr>
            <a:spLocks noChangeArrowheads="1"/>
          </p:cNvSpPr>
          <p:nvPr/>
        </p:nvSpPr>
        <p:spPr bwMode="auto">
          <a:xfrm flipV="1">
            <a:off x="8572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76" name="Line 26"/>
          <p:cNvSpPr>
            <a:spLocks noChangeShapeType="1"/>
          </p:cNvSpPr>
          <p:nvPr/>
        </p:nvSpPr>
        <p:spPr bwMode="auto">
          <a:xfrm>
            <a:off x="1797050" y="5503863"/>
            <a:ext cx="1900238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77" name="AutoShape 27"/>
          <p:cNvSpPr>
            <a:spLocks noChangeArrowheads="1"/>
          </p:cNvSpPr>
          <p:nvPr/>
        </p:nvSpPr>
        <p:spPr bwMode="auto">
          <a:xfrm flipV="1">
            <a:off x="7669213" y="5248275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78" name="AutoShape 28"/>
          <p:cNvSpPr>
            <a:spLocks noChangeArrowheads="1"/>
          </p:cNvSpPr>
          <p:nvPr/>
        </p:nvSpPr>
        <p:spPr bwMode="auto">
          <a:xfrm flipV="1">
            <a:off x="61404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79" name="AutoShape 29"/>
          <p:cNvSpPr>
            <a:spLocks noChangeArrowheads="1"/>
          </p:cNvSpPr>
          <p:nvPr/>
        </p:nvSpPr>
        <p:spPr bwMode="auto">
          <a:xfrm flipV="1">
            <a:off x="4641850" y="524986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80" name="AutoShape 30"/>
          <p:cNvSpPr>
            <a:spLocks noChangeArrowheads="1"/>
          </p:cNvSpPr>
          <p:nvPr/>
        </p:nvSpPr>
        <p:spPr bwMode="auto">
          <a:xfrm flipV="1">
            <a:off x="3067050" y="524351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81" name="AutoShape 31"/>
          <p:cNvSpPr>
            <a:spLocks noChangeArrowheads="1"/>
          </p:cNvSpPr>
          <p:nvPr/>
        </p:nvSpPr>
        <p:spPr bwMode="auto">
          <a:xfrm flipV="1">
            <a:off x="1606550" y="524351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82" name="Line 32"/>
          <p:cNvSpPr>
            <a:spLocks noChangeShapeType="1"/>
          </p:cNvSpPr>
          <p:nvPr/>
        </p:nvSpPr>
        <p:spPr bwMode="auto">
          <a:xfrm>
            <a:off x="1423988" y="5500688"/>
            <a:ext cx="190023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83" name="AutoShape 33"/>
          <p:cNvSpPr>
            <a:spLocks noChangeArrowheads="1"/>
          </p:cNvSpPr>
          <p:nvPr/>
        </p:nvSpPr>
        <p:spPr bwMode="auto">
          <a:xfrm flipV="1">
            <a:off x="72961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84" name="AutoShape 34"/>
          <p:cNvSpPr>
            <a:spLocks noChangeArrowheads="1"/>
          </p:cNvSpPr>
          <p:nvPr/>
        </p:nvSpPr>
        <p:spPr bwMode="auto">
          <a:xfrm flipV="1">
            <a:off x="5772150" y="5259388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85" name="AutoShape 35"/>
          <p:cNvSpPr>
            <a:spLocks noChangeArrowheads="1"/>
          </p:cNvSpPr>
          <p:nvPr/>
        </p:nvSpPr>
        <p:spPr bwMode="auto">
          <a:xfrm flipV="1">
            <a:off x="42735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86" name="AutoShape 36"/>
          <p:cNvSpPr>
            <a:spLocks noChangeArrowheads="1"/>
          </p:cNvSpPr>
          <p:nvPr/>
        </p:nvSpPr>
        <p:spPr bwMode="auto">
          <a:xfrm flipV="1">
            <a:off x="26987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87" name="AutoShape 37"/>
          <p:cNvSpPr>
            <a:spLocks noChangeArrowheads="1"/>
          </p:cNvSpPr>
          <p:nvPr/>
        </p:nvSpPr>
        <p:spPr bwMode="auto">
          <a:xfrm flipV="1">
            <a:off x="12382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88" name="Line 38"/>
          <p:cNvSpPr>
            <a:spLocks noChangeShapeType="1"/>
          </p:cNvSpPr>
          <p:nvPr/>
        </p:nvSpPr>
        <p:spPr bwMode="auto">
          <a:xfrm>
            <a:off x="3276600" y="5507038"/>
            <a:ext cx="50403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89" name="AutoShape 39"/>
          <p:cNvSpPr>
            <a:spLocks noChangeArrowheads="1"/>
          </p:cNvSpPr>
          <p:nvPr/>
        </p:nvSpPr>
        <p:spPr bwMode="auto">
          <a:xfrm flipV="1">
            <a:off x="8045450" y="5253038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90" name="AutoShape 40"/>
          <p:cNvSpPr>
            <a:spLocks noChangeArrowheads="1"/>
          </p:cNvSpPr>
          <p:nvPr/>
        </p:nvSpPr>
        <p:spPr bwMode="auto">
          <a:xfrm flipV="1">
            <a:off x="65214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91" name="AutoShape 41"/>
          <p:cNvSpPr>
            <a:spLocks noChangeArrowheads="1"/>
          </p:cNvSpPr>
          <p:nvPr/>
        </p:nvSpPr>
        <p:spPr bwMode="auto">
          <a:xfrm flipV="1">
            <a:off x="50228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92" name="AutoShape 42"/>
          <p:cNvSpPr>
            <a:spLocks noChangeArrowheads="1"/>
          </p:cNvSpPr>
          <p:nvPr/>
        </p:nvSpPr>
        <p:spPr bwMode="auto">
          <a:xfrm flipV="1">
            <a:off x="3443288" y="524351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93" name="AutoShape 43"/>
          <p:cNvSpPr>
            <a:spLocks noChangeArrowheads="1"/>
          </p:cNvSpPr>
          <p:nvPr/>
        </p:nvSpPr>
        <p:spPr bwMode="auto">
          <a:xfrm flipV="1">
            <a:off x="1987550" y="524351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594" name="Text Box 44"/>
          <p:cNvSpPr txBox="1">
            <a:spLocks noChangeArrowheads="1"/>
          </p:cNvSpPr>
          <p:nvPr/>
        </p:nvSpPr>
        <p:spPr bwMode="auto">
          <a:xfrm>
            <a:off x="5856288" y="1135063"/>
            <a:ext cx="1987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1600"/>
              <a:t>7Mhz TV Channel </a:t>
            </a:r>
          </a:p>
        </p:txBody>
      </p:sp>
      <p:sp>
        <p:nvSpPr>
          <p:cNvPr id="23595" name="Text Box 45"/>
          <p:cNvSpPr txBox="1">
            <a:spLocks noChangeArrowheads="1"/>
          </p:cNvSpPr>
          <p:nvPr/>
        </p:nvSpPr>
        <p:spPr bwMode="auto">
          <a:xfrm>
            <a:off x="6697121" y="2063363"/>
            <a:ext cx="122822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1200"/>
              <a:t>8Mhz Spacing</a:t>
            </a:r>
            <a:endParaRPr lang="en-GB" sz="1600"/>
          </a:p>
        </p:txBody>
      </p:sp>
      <p:sp>
        <p:nvSpPr>
          <p:cNvPr id="23596" name="AutoShape 46"/>
          <p:cNvSpPr>
            <a:spLocks/>
          </p:cNvSpPr>
          <p:nvPr/>
        </p:nvSpPr>
        <p:spPr bwMode="auto">
          <a:xfrm rot="-5400000">
            <a:off x="6503988" y="2163763"/>
            <a:ext cx="152400" cy="1143000"/>
          </a:xfrm>
          <a:prstGeom prst="rightBrace">
            <a:avLst>
              <a:gd name="adj1" fmla="val 6250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23597" name="AutoShape 47"/>
          <p:cNvSpPr>
            <a:spLocks/>
          </p:cNvSpPr>
          <p:nvPr/>
        </p:nvSpPr>
        <p:spPr bwMode="auto">
          <a:xfrm rot="-5400000">
            <a:off x="7723188" y="2163763"/>
            <a:ext cx="152400" cy="1143000"/>
          </a:xfrm>
          <a:prstGeom prst="rightBrace">
            <a:avLst>
              <a:gd name="adj1" fmla="val 6250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23598" name="AutoShape 48"/>
          <p:cNvSpPr>
            <a:spLocks/>
          </p:cNvSpPr>
          <p:nvPr/>
        </p:nvSpPr>
        <p:spPr bwMode="auto">
          <a:xfrm rot="-5400000">
            <a:off x="7113588" y="1935163"/>
            <a:ext cx="152400" cy="1143000"/>
          </a:xfrm>
          <a:prstGeom prst="rightBrace">
            <a:avLst>
              <a:gd name="adj1" fmla="val 6250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23599" name="Text Box 49"/>
          <p:cNvSpPr txBox="1">
            <a:spLocks noChangeArrowheads="1"/>
          </p:cNvSpPr>
          <p:nvPr/>
        </p:nvSpPr>
        <p:spPr bwMode="auto">
          <a:xfrm>
            <a:off x="684213" y="4868863"/>
            <a:ext cx="58221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200"/>
              <a:t>Ch21</a:t>
            </a:r>
          </a:p>
        </p:txBody>
      </p:sp>
      <p:sp>
        <p:nvSpPr>
          <p:cNvPr id="23600" name="Text Box 50"/>
          <p:cNvSpPr txBox="1">
            <a:spLocks noChangeArrowheads="1"/>
          </p:cNvSpPr>
          <p:nvPr/>
        </p:nvSpPr>
        <p:spPr bwMode="auto">
          <a:xfrm>
            <a:off x="7885113" y="4868863"/>
            <a:ext cx="58221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200"/>
              <a:t>Ch68</a:t>
            </a:r>
          </a:p>
        </p:txBody>
      </p:sp>
      <p:sp>
        <p:nvSpPr>
          <p:cNvPr id="23601" name="Line 51"/>
          <p:cNvSpPr>
            <a:spLocks noChangeShapeType="1"/>
          </p:cNvSpPr>
          <p:nvPr/>
        </p:nvSpPr>
        <p:spPr bwMode="auto">
          <a:xfrm>
            <a:off x="1258888" y="5013325"/>
            <a:ext cx="6626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stealth" w="med" len="med"/>
            <a:tailEnd type="arrow" w="med" len="med"/>
          </a:ln>
        </p:spPr>
        <p:txBody>
          <a:bodyPr/>
          <a:lstStyle/>
          <a:p>
            <a:endParaRPr lang="en-GB" sz="1600"/>
          </a:p>
        </p:txBody>
      </p:sp>
      <p:sp>
        <p:nvSpPr>
          <p:cNvPr id="23602" name="Text Box 52"/>
          <p:cNvSpPr txBox="1">
            <a:spLocks noChangeArrowheads="1"/>
          </p:cNvSpPr>
          <p:nvPr/>
        </p:nvSpPr>
        <p:spPr bwMode="auto">
          <a:xfrm>
            <a:off x="3995738" y="4868863"/>
            <a:ext cx="1088760" cy="276999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200"/>
              <a:t>48 channels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9237" y="4250464"/>
            <a:ext cx="170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UHF band</a:t>
            </a:r>
          </a:p>
        </p:txBody>
      </p:sp>
    </p:spTree>
    <p:extLst>
      <p:ext uri="{BB962C8B-B14F-4D97-AF65-F5344CB8AC3E}">
        <p14:creationId xmlns:p14="http://schemas.microsoft.com/office/powerpoint/2010/main" val="16324193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661734" y="488061"/>
            <a:ext cx="4910138" cy="6088063"/>
            <a:chOff x="2669" y="198"/>
            <a:chExt cx="3093" cy="3835"/>
          </a:xfrm>
        </p:grpSpPr>
        <p:pic>
          <p:nvPicPr>
            <p:cNvPr id="3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11" t="7071" r="3595" b="6842"/>
            <a:stretch>
              <a:fillRect/>
            </a:stretch>
          </p:blipFill>
          <p:spPr bwMode="auto">
            <a:xfrm>
              <a:off x="2669" y="198"/>
              <a:ext cx="3093" cy="3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Rectangle 18"/>
            <p:cNvSpPr>
              <a:spLocks noChangeArrowheads="1"/>
            </p:cNvSpPr>
            <p:nvPr/>
          </p:nvSpPr>
          <p:spPr bwMode="auto">
            <a:xfrm>
              <a:off x="3696" y="1769"/>
              <a:ext cx="597" cy="96"/>
            </a:xfrm>
            <a:prstGeom prst="rect">
              <a:avLst/>
            </a:prstGeom>
            <a:noFill/>
            <a:ln w="19050" algn="ctr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2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9pPr>
            </a:lstStyle>
            <a:p>
              <a:endParaRPr lang="en-US" altLang="en-US"/>
            </a:p>
          </p:txBody>
        </p: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035266" y="2493234"/>
            <a:ext cx="4556475" cy="2838033"/>
          </a:xfrm>
          <a:prstGeom prst="rect">
            <a:avLst/>
          </a:prstGeom>
        </p:spPr>
      </p:pic>
      <p:sp>
        <p:nvSpPr>
          <p:cNvPr id="9" name="Freeform 8"/>
          <p:cNvSpPr/>
          <p:nvPr/>
        </p:nvSpPr>
        <p:spPr bwMode="auto">
          <a:xfrm>
            <a:off x="3364992" y="1581912"/>
            <a:ext cx="5367528" cy="4608576"/>
          </a:xfrm>
          <a:custGeom>
            <a:avLst/>
            <a:gdLst>
              <a:gd name="connsiteX0" fmla="*/ 18288 w 5367528"/>
              <a:gd name="connsiteY0" fmla="*/ 2752344 h 4608576"/>
              <a:gd name="connsiteX1" fmla="*/ 2048256 w 5367528"/>
              <a:gd name="connsiteY1" fmla="*/ 2761488 h 4608576"/>
              <a:gd name="connsiteX2" fmla="*/ 2542032 w 5367528"/>
              <a:gd name="connsiteY2" fmla="*/ 9144 h 4608576"/>
              <a:gd name="connsiteX3" fmla="*/ 5358384 w 5367528"/>
              <a:gd name="connsiteY3" fmla="*/ 0 h 4608576"/>
              <a:gd name="connsiteX4" fmla="*/ 5367528 w 5367528"/>
              <a:gd name="connsiteY4" fmla="*/ 4608576 h 4608576"/>
              <a:gd name="connsiteX5" fmla="*/ 2487168 w 5367528"/>
              <a:gd name="connsiteY5" fmla="*/ 4608576 h 4608576"/>
              <a:gd name="connsiteX6" fmla="*/ 2084832 w 5367528"/>
              <a:gd name="connsiteY6" fmla="*/ 3026664 h 4608576"/>
              <a:gd name="connsiteX7" fmla="*/ 0 w 5367528"/>
              <a:gd name="connsiteY7" fmla="*/ 3017520 h 4608576"/>
              <a:gd name="connsiteX8" fmla="*/ 18288 w 5367528"/>
              <a:gd name="connsiteY8" fmla="*/ 2752344 h 4608576"/>
              <a:gd name="connsiteX0" fmla="*/ 0 w 5376672"/>
              <a:gd name="connsiteY0" fmla="*/ 2734056 h 4608576"/>
              <a:gd name="connsiteX1" fmla="*/ 2057400 w 5376672"/>
              <a:gd name="connsiteY1" fmla="*/ 2761488 h 4608576"/>
              <a:gd name="connsiteX2" fmla="*/ 2551176 w 5376672"/>
              <a:gd name="connsiteY2" fmla="*/ 9144 h 4608576"/>
              <a:gd name="connsiteX3" fmla="*/ 5367528 w 5376672"/>
              <a:gd name="connsiteY3" fmla="*/ 0 h 4608576"/>
              <a:gd name="connsiteX4" fmla="*/ 5376672 w 5376672"/>
              <a:gd name="connsiteY4" fmla="*/ 4608576 h 4608576"/>
              <a:gd name="connsiteX5" fmla="*/ 2496312 w 5376672"/>
              <a:gd name="connsiteY5" fmla="*/ 4608576 h 4608576"/>
              <a:gd name="connsiteX6" fmla="*/ 2093976 w 5376672"/>
              <a:gd name="connsiteY6" fmla="*/ 3026664 h 4608576"/>
              <a:gd name="connsiteX7" fmla="*/ 9144 w 5376672"/>
              <a:gd name="connsiteY7" fmla="*/ 3017520 h 4608576"/>
              <a:gd name="connsiteX8" fmla="*/ 0 w 5376672"/>
              <a:gd name="connsiteY8" fmla="*/ 2734056 h 4608576"/>
              <a:gd name="connsiteX0" fmla="*/ 9144 w 5367528"/>
              <a:gd name="connsiteY0" fmla="*/ 2743200 h 4608576"/>
              <a:gd name="connsiteX1" fmla="*/ 2048256 w 5367528"/>
              <a:gd name="connsiteY1" fmla="*/ 2761488 h 4608576"/>
              <a:gd name="connsiteX2" fmla="*/ 2542032 w 5367528"/>
              <a:gd name="connsiteY2" fmla="*/ 9144 h 4608576"/>
              <a:gd name="connsiteX3" fmla="*/ 5358384 w 5367528"/>
              <a:gd name="connsiteY3" fmla="*/ 0 h 4608576"/>
              <a:gd name="connsiteX4" fmla="*/ 5367528 w 5367528"/>
              <a:gd name="connsiteY4" fmla="*/ 4608576 h 4608576"/>
              <a:gd name="connsiteX5" fmla="*/ 2487168 w 5367528"/>
              <a:gd name="connsiteY5" fmla="*/ 4608576 h 4608576"/>
              <a:gd name="connsiteX6" fmla="*/ 2084832 w 5367528"/>
              <a:gd name="connsiteY6" fmla="*/ 3026664 h 4608576"/>
              <a:gd name="connsiteX7" fmla="*/ 0 w 5367528"/>
              <a:gd name="connsiteY7" fmla="*/ 3017520 h 4608576"/>
              <a:gd name="connsiteX8" fmla="*/ 9144 w 5367528"/>
              <a:gd name="connsiteY8" fmla="*/ 2743200 h 4608576"/>
              <a:gd name="connsiteX0" fmla="*/ 9144 w 5367528"/>
              <a:gd name="connsiteY0" fmla="*/ 2743200 h 4608576"/>
              <a:gd name="connsiteX1" fmla="*/ 2048256 w 5367528"/>
              <a:gd name="connsiteY1" fmla="*/ 2743200 h 4608576"/>
              <a:gd name="connsiteX2" fmla="*/ 2542032 w 5367528"/>
              <a:gd name="connsiteY2" fmla="*/ 9144 h 4608576"/>
              <a:gd name="connsiteX3" fmla="*/ 5358384 w 5367528"/>
              <a:gd name="connsiteY3" fmla="*/ 0 h 4608576"/>
              <a:gd name="connsiteX4" fmla="*/ 5367528 w 5367528"/>
              <a:gd name="connsiteY4" fmla="*/ 4608576 h 4608576"/>
              <a:gd name="connsiteX5" fmla="*/ 2487168 w 5367528"/>
              <a:gd name="connsiteY5" fmla="*/ 4608576 h 4608576"/>
              <a:gd name="connsiteX6" fmla="*/ 2084832 w 5367528"/>
              <a:gd name="connsiteY6" fmla="*/ 3026664 h 4608576"/>
              <a:gd name="connsiteX7" fmla="*/ 0 w 5367528"/>
              <a:gd name="connsiteY7" fmla="*/ 3017520 h 4608576"/>
              <a:gd name="connsiteX8" fmla="*/ 9144 w 5367528"/>
              <a:gd name="connsiteY8" fmla="*/ 2743200 h 460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67528" h="4608576">
                <a:moveTo>
                  <a:pt x="9144" y="2743200"/>
                </a:moveTo>
                <a:lnTo>
                  <a:pt x="2048256" y="2743200"/>
                </a:lnTo>
                <a:lnTo>
                  <a:pt x="2542032" y="9144"/>
                </a:lnTo>
                <a:lnTo>
                  <a:pt x="5358384" y="0"/>
                </a:lnTo>
                <a:lnTo>
                  <a:pt x="5367528" y="4608576"/>
                </a:lnTo>
                <a:lnTo>
                  <a:pt x="2487168" y="4608576"/>
                </a:lnTo>
                <a:lnTo>
                  <a:pt x="2084832" y="3026664"/>
                </a:lnTo>
                <a:lnTo>
                  <a:pt x="0" y="3017520"/>
                </a:lnTo>
                <a:lnTo>
                  <a:pt x="9144" y="2743200"/>
                </a:lnTo>
                <a:close/>
              </a:path>
            </a:pathLst>
          </a:cu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395288" y="329556"/>
            <a:ext cx="6232796" cy="46166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2400" b="1" dirty="0"/>
              <a:t>UHF TV in the Electromagnetic Spectrum</a:t>
            </a:r>
          </a:p>
        </p:txBody>
      </p:sp>
    </p:spTree>
    <p:extLst>
      <p:ext uri="{BB962C8B-B14F-4D97-AF65-F5344CB8AC3E}">
        <p14:creationId xmlns:p14="http://schemas.microsoft.com/office/powerpoint/2010/main" val="15876322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0A587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0" anchor="ctr">
            <a:spAutoFit/>
          </a:bodyPr>
          <a:lstStyle/>
          <a:p>
            <a:pPr marL="179388" indent="-179388" algn="ctr"/>
            <a:endParaRPr lang="en-GB" sz="1600" b="1" dirty="0">
              <a:latin typeface="Lucida Sans Unicode" pitchFamily="34" charset="0"/>
              <a:cs typeface="Lucida Sans Unicode" pitchFamily="34" charset="0"/>
            </a:endParaRPr>
          </a:p>
        </p:txBody>
      </p:sp>
      <p:pic>
        <p:nvPicPr>
          <p:cNvPr id="44034" name="Picture 34"/>
          <p:cNvPicPr>
            <a:picLocks noChangeAspect="1" noChangeArrowheads="1"/>
          </p:cNvPicPr>
          <p:nvPr/>
        </p:nvPicPr>
        <p:blipFill>
          <a:blip r:embed="rId2" cstate="print"/>
          <a:srcRect t="5328"/>
          <a:stretch>
            <a:fillRect/>
          </a:stretch>
        </p:blipFill>
        <p:spPr bwMode="auto">
          <a:xfrm>
            <a:off x="2532821" y="695111"/>
            <a:ext cx="6611179" cy="504537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44036" name="Picture 3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34608" y="340350"/>
            <a:ext cx="6599207" cy="3321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44037" name="Rectangle 35"/>
          <p:cNvSpPr>
            <a:spLocks noChangeArrowheads="1"/>
          </p:cNvSpPr>
          <p:nvPr/>
        </p:nvSpPr>
        <p:spPr bwMode="auto">
          <a:xfrm>
            <a:off x="2670175" y="1687298"/>
            <a:ext cx="6463641" cy="507730"/>
          </a:xfrm>
          <a:prstGeom prst="rect">
            <a:avLst/>
          </a:prstGeom>
          <a:solidFill>
            <a:schemeClr val="bg1">
              <a:alpha val="85097"/>
            </a:schemeClr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38" name="Rectangle 36"/>
          <p:cNvSpPr>
            <a:spLocks noChangeArrowheads="1"/>
          </p:cNvSpPr>
          <p:nvPr/>
        </p:nvSpPr>
        <p:spPr bwMode="auto">
          <a:xfrm>
            <a:off x="2638425" y="3506573"/>
            <a:ext cx="6495391" cy="534508"/>
          </a:xfrm>
          <a:prstGeom prst="rect">
            <a:avLst/>
          </a:prstGeom>
          <a:solidFill>
            <a:schemeClr val="bg1">
              <a:alpha val="85097"/>
            </a:schemeClr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39" name="Rectangle 37"/>
          <p:cNvSpPr>
            <a:spLocks noChangeArrowheads="1"/>
          </p:cNvSpPr>
          <p:nvPr/>
        </p:nvSpPr>
        <p:spPr bwMode="auto">
          <a:xfrm>
            <a:off x="2555876" y="5119384"/>
            <a:ext cx="6293270" cy="629728"/>
          </a:xfrm>
          <a:prstGeom prst="rect">
            <a:avLst/>
          </a:prstGeom>
          <a:solidFill>
            <a:schemeClr val="bg1">
              <a:alpha val="85097"/>
            </a:schemeClr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0" y="6387471"/>
            <a:ext cx="3381556" cy="253916"/>
          </a:xfrm>
          <a:prstGeom prst="rect">
            <a:avLst/>
          </a:prstGeom>
          <a:solidFill>
            <a:srgbClr val="9999FF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050" dirty="0">
                <a:solidFill>
                  <a:schemeClr val="bg1"/>
                </a:solidFill>
                <a:hlinkClick r:id="rId4"/>
              </a:rPr>
              <a:t>http://www.ukfree.tv/txdetail.php?a=SK113003</a:t>
            </a:r>
            <a:endParaRPr lang="en-GB" sz="1050" dirty="0">
              <a:solidFill>
                <a:schemeClr val="bg1"/>
              </a:solidFill>
            </a:endParaRPr>
          </a:p>
        </p:txBody>
      </p:sp>
      <p:sp>
        <p:nvSpPr>
          <p:cNvPr id="44041" name="Oval 1"/>
          <p:cNvSpPr>
            <a:spLocks noChangeArrowheads="1"/>
          </p:cNvSpPr>
          <p:nvPr/>
        </p:nvSpPr>
        <p:spPr bwMode="auto">
          <a:xfrm>
            <a:off x="6448545" y="610554"/>
            <a:ext cx="1236663" cy="342900"/>
          </a:xfrm>
          <a:prstGeom prst="ellipse">
            <a:avLst/>
          </a:prstGeom>
          <a:noFill/>
          <a:ln w="50800" algn="ctr">
            <a:solidFill>
              <a:srgbClr val="FF33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42" name="Oval 40"/>
          <p:cNvSpPr>
            <a:spLocks noChangeArrowheads="1"/>
          </p:cNvSpPr>
          <p:nvPr/>
        </p:nvSpPr>
        <p:spPr bwMode="auto">
          <a:xfrm>
            <a:off x="6498447" y="2298216"/>
            <a:ext cx="1236663" cy="342900"/>
          </a:xfrm>
          <a:prstGeom prst="ellipse">
            <a:avLst/>
          </a:prstGeom>
          <a:noFill/>
          <a:ln w="50800" algn="ctr">
            <a:solidFill>
              <a:srgbClr val="FF33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43" name="Oval 41"/>
          <p:cNvSpPr>
            <a:spLocks noChangeArrowheads="1"/>
          </p:cNvSpPr>
          <p:nvPr/>
        </p:nvSpPr>
        <p:spPr bwMode="auto">
          <a:xfrm>
            <a:off x="6487334" y="4002861"/>
            <a:ext cx="1393825" cy="342900"/>
          </a:xfrm>
          <a:prstGeom prst="ellipse">
            <a:avLst/>
          </a:prstGeom>
          <a:noFill/>
          <a:ln w="50800" algn="ctr">
            <a:solidFill>
              <a:srgbClr val="FF33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348162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2113472"/>
            <a:ext cx="2173857" cy="3923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" name="Left Brace 25"/>
          <p:cNvSpPr/>
          <p:nvPr/>
        </p:nvSpPr>
        <p:spPr>
          <a:xfrm>
            <a:off x="2242869" y="331788"/>
            <a:ext cx="250166" cy="5357004"/>
          </a:xfrm>
          <a:prstGeom prst="leftBrace">
            <a:avLst>
              <a:gd name="adj1" fmla="val 79989"/>
              <a:gd name="adj2" fmla="val 50000"/>
            </a:avLst>
          </a:prstGeom>
          <a:noFill/>
          <a:ln w="25400">
            <a:solidFill>
              <a:srgbClr val="40C5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48164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0" y="331788"/>
            <a:ext cx="2171700" cy="17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232097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4"/>
          <p:cNvPicPr>
            <a:picLocks noChangeAspect="1" noChangeArrowheads="1"/>
          </p:cNvPicPr>
          <p:nvPr/>
        </p:nvPicPr>
        <p:blipFill>
          <a:blip r:embed="rId2" cstate="print"/>
          <a:srcRect t="5328"/>
          <a:stretch>
            <a:fillRect/>
          </a:stretch>
        </p:blipFill>
        <p:spPr bwMode="auto">
          <a:xfrm>
            <a:off x="2532821" y="695111"/>
            <a:ext cx="6611179" cy="504537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50825" y="4700588"/>
            <a:ext cx="8642350" cy="144145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grpSp>
        <p:nvGrpSpPr>
          <p:cNvPr id="3" name="Group 4"/>
          <p:cNvGrpSpPr>
            <a:grpSpLocks/>
          </p:cNvGrpSpPr>
          <p:nvPr/>
        </p:nvGrpSpPr>
        <p:grpSpPr bwMode="auto">
          <a:xfrm rot="5400000">
            <a:off x="4468019" y="2596356"/>
            <a:ext cx="352425" cy="6481763"/>
            <a:chOff x="5346" y="341"/>
            <a:chExt cx="222" cy="3690"/>
          </a:xfrm>
        </p:grpSpPr>
        <p:sp>
          <p:nvSpPr>
            <p:cNvPr id="4" name="Freeform 5"/>
            <p:cNvSpPr>
              <a:spLocks/>
            </p:cNvSpPr>
            <p:nvPr/>
          </p:nvSpPr>
          <p:spPr bwMode="auto">
            <a:xfrm>
              <a:off x="5349" y="638"/>
              <a:ext cx="219" cy="3393"/>
            </a:xfrm>
            <a:custGeom>
              <a:avLst/>
              <a:gdLst>
                <a:gd name="T0" fmla="*/ 0 w 219"/>
                <a:gd name="T1" fmla="*/ 0 h 3393"/>
                <a:gd name="T2" fmla="*/ 207 w 219"/>
                <a:gd name="T3" fmla="*/ 49 h 3393"/>
                <a:gd name="T4" fmla="*/ 9 w 219"/>
                <a:gd name="T5" fmla="*/ 100 h 3393"/>
                <a:gd name="T6" fmla="*/ 207 w 219"/>
                <a:gd name="T7" fmla="*/ 153 h 3393"/>
                <a:gd name="T8" fmla="*/ 9 w 219"/>
                <a:gd name="T9" fmla="*/ 205 h 3393"/>
                <a:gd name="T10" fmla="*/ 207 w 219"/>
                <a:gd name="T11" fmla="*/ 284 h 3393"/>
                <a:gd name="T12" fmla="*/ 9 w 219"/>
                <a:gd name="T13" fmla="*/ 362 h 3393"/>
                <a:gd name="T14" fmla="*/ 212 w 219"/>
                <a:gd name="T15" fmla="*/ 441 h 3393"/>
                <a:gd name="T16" fmla="*/ 9 w 219"/>
                <a:gd name="T17" fmla="*/ 544 h 3393"/>
                <a:gd name="T18" fmla="*/ 205 w 219"/>
                <a:gd name="T19" fmla="*/ 656 h 3393"/>
                <a:gd name="T20" fmla="*/ 37 w 219"/>
                <a:gd name="T21" fmla="*/ 806 h 3393"/>
                <a:gd name="T22" fmla="*/ 205 w 219"/>
                <a:gd name="T23" fmla="*/ 954 h 3393"/>
                <a:gd name="T24" fmla="*/ 37 w 219"/>
                <a:gd name="T25" fmla="*/ 1094 h 3393"/>
                <a:gd name="T26" fmla="*/ 219 w 219"/>
                <a:gd name="T27" fmla="*/ 1231 h 3393"/>
                <a:gd name="T28" fmla="*/ 37 w 219"/>
                <a:gd name="T29" fmla="*/ 1355 h 3393"/>
                <a:gd name="T30" fmla="*/ 207 w 219"/>
                <a:gd name="T31" fmla="*/ 1486 h 3393"/>
                <a:gd name="T32" fmla="*/ 37 w 219"/>
                <a:gd name="T33" fmla="*/ 1668 h 3393"/>
                <a:gd name="T34" fmla="*/ 179 w 219"/>
                <a:gd name="T35" fmla="*/ 1825 h 3393"/>
                <a:gd name="T36" fmla="*/ 9 w 219"/>
                <a:gd name="T37" fmla="*/ 2034 h 3393"/>
                <a:gd name="T38" fmla="*/ 207 w 219"/>
                <a:gd name="T39" fmla="*/ 2269 h 3393"/>
                <a:gd name="T40" fmla="*/ 9 w 219"/>
                <a:gd name="T41" fmla="*/ 2557 h 3393"/>
                <a:gd name="T42" fmla="*/ 179 w 219"/>
                <a:gd name="T43" fmla="*/ 2845 h 3393"/>
                <a:gd name="T44" fmla="*/ 37 w 219"/>
                <a:gd name="T45" fmla="*/ 3185 h 3393"/>
                <a:gd name="T46" fmla="*/ 207 w 219"/>
                <a:gd name="T47" fmla="*/ 3393 h 339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219"/>
                <a:gd name="T73" fmla="*/ 0 h 3393"/>
                <a:gd name="T74" fmla="*/ 219 w 219"/>
                <a:gd name="T75" fmla="*/ 3393 h 3393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219" h="3393">
                  <a:moveTo>
                    <a:pt x="0" y="0"/>
                  </a:moveTo>
                  <a:cubicBezTo>
                    <a:pt x="35" y="8"/>
                    <a:pt x="205" y="32"/>
                    <a:pt x="207" y="49"/>
                  </a:cubicBezTo>
                  <a:cubicBezTo>
                    <a:pt x="209" y="66"/>
                    <a:pt x="9" y="83"/>
                    <a:pt x="9" y="100"/>
                  </a:cubicBezTo>
                  <a:cubicBezTo>
                    <a:pt x="9" y="118"/>
                    <a:pt x="207" y="135"/>
                    <a:pt x="207" y="153"/>
                  </a:cubicBezTo>
                  <a:cubicBezTo>
                    <a:pt x="207" y="170"/>
                    <a:pt x="9" y="183"/>
                    <a:pt x="9" y="205"/>
                  </a:cubicBezTo>
                  <a:cubicBezTo>
                    <a:pt x="9" y="227"/>
                    <a:pt x="207" y="258"/>
                    <a:pt x="207" y="284"/>
                  </a:cubicBezTo>
                  <a:cubicBezTo>
                    <a:pt x="207" y="309"/>
                    <a:pt x="8" y="336"/>
                    <a:pt x="9" y="362"/>
                  </a:cubicBezTo>
                  <a:cubicBezTo>
                    <a:pt x="10" y="388"/>
                    <a:pt x="212" y="411"/>
                    <a:pt x="212" y="441"/>
                  </a:cubicBezTo>
                  <a:cubicBezTo>
                    <a:pt x="212" y="472"/>
                    <a:pt x="10" y="509"/>
                    <a:pt x="9" y="544"/>
                  </a:cubicBezTo>
                  <a:cubicBezTo>
                    <a:pt x="8" y="580"/>
                    <a:pt x="200" y="613"/>
                    <a:pt x="205" y="656"/>
                  </a:cubicBezTo>
                  <a:cubicBezTo>
                    <a:pt x="210" y="699"/>
                    <a:pt x="37" y="757"/>
                    <a:pt x="37" y="806"/>
                  </a:cubicBezTo>
                  <a:cubicBezTo>
                    <a:pt x="37" y="856"/>
                    <a:pt x="205" y="906"/>
                    <a:pt x="205" y="954"/>
                  </a:cubicBezTo>
                  <a:cubicBezTo>
                    <a:pt x="205" y="1002"/>
                    <a:pt x="35" y="1048"/>
                    <a:pt x="37" y="1094"/>
                  </a:cubicBezTo>
                  <a:cubicBezTo>
                    <a:pt x="39" y="1140"/>
                    <a:pt x="219" y="1188"/>
                    <a:pt x="219" y="1231"/>
                  </a:cubicBezTo>
                  <a:cubicBezTo>
                    <a:pt x="219" y="1275"/>
                    <a:pt x="39" y="1312"/>
                    <a:pt x="37" y="1355"/>
                  </a:cubicBezTo>
                  <a:cubicBezTo>
                    <a:pt x="35" y="1397"/>
                    <a:pt x="207" y="1433"/>
                    <a:pt x="207" y="1486"/>
                  </a:cubicBezTo>
                  <a:cubicBezTo>
                    <a:pt x="207" y="1538"/>
                    <a:pt x="42" y="1612"/>
                    <a:pt x="37" y="1668"/>
                  </a:cubicBezTo>
                  <a:cubicBezTo>
                    <a:pt x="32" y="1724"/>
                    <a:pt x="184" y="1764"/>
                    <a:pt x="179" y="1825"/>
                  </a:cubicBezTo>
                  <a:cubicBezTo>
                    <a:pt x="174" y="1886"/>
                    <a:pt x="4" y="1960"/>
                    <a:pt x="9" y="2034"/>
                  </a:cubicBezTo>
                  <a:cubicBezTo>
                    <a:pt x="14" y="2108"/>
                    <a:pt x="207" y="2183"/>
                    <a:pt x="207" y="2269"/>
                  </a:cubicBezTo>
                  <a:cubicBezTo>
                    <a:pt x="207" y="2356"/>
                    <a:pt x="14" y="2461"/>
                    <a:pt x="9" y="2557"/>
                  </a:cubicBezTo>
                  <a:cubicBezTo>
                    <a:pt x="4" y="2653"/>
                    <a:pt x="174" y="2740"/>
                    <a:pt x="179" y="2845"/>
                  </a:cubicBezTo>
                  <a:cubicBezTo>
                    <a:pt x="184" y="2949"/>
                    <a:pt x="32" y="3093"/>
                    <a:pt x="37" y="3185"/>
                  </a:cubicBezTo>
                  <a:cubicBezTo>
                    <a:pt x="42" y="3276"/>
                    <a:pt x="124" y="3334"/>
                    <a:pt x="207" y="3393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5" name="Freeform 6"/>
            <p:cNvSpPr>
              <a:spLocks/>
            </p:cNvSpPr>
            <p:nvPr/>
          </p:nvSpPr>
          <p:spPr bwMode="auto">
            <a:xfrm>
              <a:off x="5346" y="341"/>
              <a:ext cx="208" cy="297"/>
            </a:xfrm>
            <a:custGeom>
              <a:avLst/>
              <a:gdLst>
                <a:gd name="T0" fmla="*/ 30 w 208"/>
                <a:gd name="T1" fmla="*/ 297 h 297"/>
                <a:gd name="T2" fmla="*/ 200 w 208"/>
                <a:gd name="T3" fmla="*/ 260 h 297"/>
                <a:gd name="T4" fmla="*/ 25 w 208"/>
                <a:gd name="T5" fmla="*/ 235 h 297"/>
                <a:gd name="T6" fmla="*/ 208 w 208"/>
                <a:gd name="T7" fmla="*/ 194 h 297"/>
                <a:gd name="T8" fmla="*/ 25 w 208"/>
                <a:gd name="T9" fmla="*/ 180 h 297"/>
                <a:gd name="T10" fmla="*/ 200 w 208"/>
                <a:gd name="T11" fmla="*/ 146 h 297"/>
                <a:gd name="T12" fmla="*/ 4 w 208"/>
                <a:gd name="T13" fmla="*/ 146 h 297"/>
                <a:gd name="T14" fmla="*/ 200 w 208"/>
                <a:gd name="T15" fmla="*/ 118 h 297"/>
                <a:gd name="T16" fmla="*/ 4 w 208"/>
                <a:gd name="T17" fmla="*/ 118 h 297"/>
                <a:gd name="T18" fmla="*/ 200 w 208"/>
                <a:gd name="T19" fmla="*/ 90 h 297"/>
                <a:gd name="T20" fmla="*/ 4 w 208"/>
                <a:gd name="T21" fmla="*/ 90 h 297"/>
                <a:gd name="T22" fmla="*/ 176 w 208"/>
                <a:gd name="T23" fmla="*/ 61 h 297"/>
                <a:gd name="T24" fmla="*/ 4 w 208"/>
                <a:gd name="T25" fmla="*/ 61 h 297"/>
                <a:gd name="T26" fmla="*/ 200 w 208"/>
                <a:gd name="T27" fmla="*/ 61 h 297"/>
                <a:gd name="T28" fmla="*/ 4 w 208"/>
                <a:gd name="T29" fmla="*/ 61 h 297"/>
                <a:gd name="T30" fmla="*/ 200 w 208"/>
                <a:gd name="T31" fmla="*/ 33 h 297"/>
                <a:gd name="T32" fmla="*/ 28 w 208"/>
                <a:gd name="T33" fmla="*/ 33 h 297"/>
                <a:gd name="T34" fmla="*/ 200 w 208"/>
                <a:gd name="T35" fmla="*/ 5 h 297"/>
                <a:gd name="T36" fmla="*/ 4 w 208"/>
                <a:gd name="T37" fmla="*/ 5 h 29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08"/>
                <a:gd name="T58" fmla="*/ 0 h 297"/>
                <a:gd name="T59" fmla="*/ 208 w 208"/>
                <a:gd name="T60" fmla="*/ 297 h 29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08" h="297">
                  <a:moveTo>
                    <a:pt x="30" y="297"/>
                  </a:moveTo>
                  <a:cubicBezTo>
                    <a:pt x="60" y="291"/>
                    <a:pt x="201" y="270"/>
                    <a:pt x="200" y="260"/>
                  </a:cubicBezTo>
                  <a:cubicBezTo>
                    <a:pt x="199" y="250"/>
                    <a:pt x="23" y="246"/>
                    <a:pt x="25" y="235"/>
                  </a:cubicBezTo>
                  <a:cubicBezTo>
                    <a:pt x="27" y="224"/>
                    <a:pt x="208" y="203"/>
                    <a:pt x="208" y="194"/>
                  </a:cubicBezTo>
                  <a:cubicBezTo>
                    <a:pt x="208" y="185"/>
                    <a:pt x="27" y="188"/>
                    <a:pt x="25" y="180"/>
                  </a:cubicBezTo>
                  <a:cubicBezTo>
                    <a:pt x="23" y="172"/>
                    <a:pt x="204" y="152"/>
                    <a:pt x="200" y="146"/>
                  </a:cubicBezTo>
                  <a:cubicBezTo>
                    <a:pt x="197" y="140"/>
                    <a:pt x="4" y="151"/>
                    <a:pt x="4" y="146"/>
                  </a:cubicBezTo>
                  <a:cubicBezTo>
                    <a:pt x="4" y="141"/>
                    <a:pt x="200" y="123"/>
                    <a:pt x="200" y="118"/>
                  </a:cubicBezTo>
                  <a:cubicBezTo>
                    <a:pt x="200" y="113"/>
                    <a:pt x="4" y="123"/>
                    <a:pt x="4" y="118"/>
                  </a:cubicBezTo>
                  <a:cubicBezTo>
                    <a:pt x="4" y="113"/>
                    <a:pt x="200" y="95"/>
                    <a:pt x="200" y="90"/>
                  </a:cubicBezTo>
                  <a:cubicBezTo>
                    <a:pt x="200" y="85"/>
                    <a:pt x="9" y="95"/>
                    <a:pt x="4" y="90"/>
                  </a:cubicBezTo>
                  <a:cubicBezTo>
                    <a:pt x="0" y="85"/>
                    <a:pt x="176" y="66"/>
                    <a:pt x="176" y="61"/>
                  </a:cubicBezTo>
                  <a:cubicBezTo>
                    <a:pt x="176" y="56"/>
                    <a:pt x="0" y="61"/>
                    <a:pt x="4" y="61"/>
                  </a:cubicBezTo>
                  <a:cubicBezTo>
                    <a:pt x="9" y="61"/>
                    <a:pt x="200" y="61"/>
                    <a:pt x="200" y="61"/>
                  </a:cubicBezTo>
                  <a:cubicBezTo>
                    <a:pt x="200" y="61"/>
                    <a:pt x="4" y="66"/>
                    <a:pt x="4" y="61"/>
                  </a:cubicBezTo>
                  <a:cubicBezTo>
                    <a:pt x="4" y="56"/>
                    <a:pt x="196" y="38"/>
                    <a:pt x="200" y="33"/>
                  </a:cubicBezTo>
                  <a:cubicBezTo>
                    <a:pt x="205" y="28"/>
                    <a:pt x="28" y="38"/>
                    <a:pt x="28" y="33"/>
                  </a:cubicBezTo>
                  <a:cubicBezTo>
                    <a:pt x="28" y="28"/>
                    <a:pt x="205" y="10"/>
                    <a:pt x="200" y="5"/>
                  </a:cubicBezTo>
                  <a:cubicBezTo>
                    <a:pt x="196" y="0"/>
                    <a:pt x="33" y="5"/>
                    <a:pt x="4" y="5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600"/>
            </a:p>
          </p:txBody>
        </p:sp>
      </p:grp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433388" y="5732463"/>
            <a:ext cx="10096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475MHz</a:t>
            </a: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7885113" y="5732463"/>
            <a:ext cx="10096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850MHz</a:t>
            </a:r>
          </a:p>
        </p:txBody>
      </p:sp>
      <p:sp>
        <p:nvSpPr>
          <p:cNvPr id="8" name="Line 20"/>
          <p:cNvSpPr>
            <a:spLocks noChangeShapeType="1"/>
          </p:cNvSpPr>
          <p:nvPr/>
        </p:nvSpPr>
        <p:spPr bwMode="auto">
          <a:xfrm>
            <a:off x="1042988" y="5500688"/>
            <a:ext cx="190023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9" name="AutoShape 21"/>
          <p:cNvSpPr>
            <a:spLocks noChangeArrowheads="1"/>
          </p:cNvSpPr>
          <p:nvPr/>
        </p:nvSpPr>
        <p:spPr bwMode="auto">
          <a:xfrm flipV="1">
            <a:off x="69151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0" name="AutoShape 22"/>
          <p:cNvSpPr>
            <a:spLocks noChangeArrowheads="1"/>
          </p:cNvSpPr>
          <p:nvPr/>
        </p:nvSpPr>
        <p:spPr bwMode="auto">
          <a:xfrm flipV="1">
            <a:off x="5391150" y="5259388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1" name="AutoShape 23"/>
          <p:cNvSpPr>
            <a:spLocks noChangeArrowheads="1"/>
          </p:cNvSpPr>
          <p:nvPr/>
        </p:nvSpPr>
        <p:spPr bwMode="auto">
          <a:xfrm flipV="1">
            <a:off x="3897313" y="524986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2" name="AutoShape 24"/>
          <p:cNvSpPr>
            <a:spLocks noChangeArrowheads="1"/>
          </p:cNvSpPr>
          <p:nvPr/>
        </p:nvSpPr>
        <p:spPr bwMode="auto">
          <a:xfrm flipV="1">
            <a:off x="23177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3" name="AutoShape 25"/>
          <p:cNvSpPr>
            <a:spLocks noChangeArrowheads="1"/>
          </p:cNvSpPr>
          <p:nvPr/>
        </p:nvSpPr>
        <p:spPr bwMode="auto">
          <a:xfrm flipV="1">
            <a:off x="8572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4" name="Line 26"/>
          <p:cNvSpPr>
            <a:spLocks noChangeShapeType="1"/>
          </p:cNvSpPr>
          <p:nvPr/>
        </p:nvSpPr>
        <p:spPr bwMode="auto">
          <a:xfrm>
            <a:off x="1797050" y="5503863"/>
            <a:ext cx="1900238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5" name="AutoShape 27"/>
          <p:cNvSpPr>
            <a:spLocks noChangeArrowheads="1"/>
          </p:cNvSpPr>
          <p:nvPr/>
        </p:nvSpPr>
        <p:spPr bwMode="auto">
          <a:xfrm flipV="1">
            <a:off x="7669213" y="5248275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6" name="AutoShape 28"/>
          <p:cNvSpPr>
            <a:spLocks noChangeArrowheads="1"/>
          </p:cNvSpPr>
          <p:nvPr/>
        </p:nvSpPr>
        <p:spPr bwMode="auto">
          <a:xfrm flipV="1">
            <a:off x="61404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7" name="AutoShape 29"/>
          <p:cNvSpPr>
            <a:spLocks noChangeArrowheads="1"/>
          </p:cNvSpPr>
          <p:nvPr/>
        </p:nvSpPr>
        <p:spPr bwMode="auto">
          <a:xfrm flipV="1">
            <a:off x="4641850" y="524986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8" name="AutoShape 30"/>
          <p:cNvSpPr>
            <a:spLocks noChangeArrowheads="1"/>
          </p:cNvSpPr>
          <p:nvPr/>
        </p:nvSpPr>
        <p:spPr bwMode="auto">
          <a:xfrm flipV="1">
            <a:off x="3067050" y="524351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9" name="AutoShape 31"/>
          <p:cNvSpPr>
            <a:spLocks noChangeArrowheads="1"/>
          </p:cNvSpPr>
          <p:nvPr/>
        </p:nvSpPr>
        <p:spPr bwMode="auto">
          <a:xfrm flipV="1">
            <a:off x="1606550" y="524351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0" name="Line 32"/>
          <p:cNvSpPr>
            <a:spLocks noChangeShapeType="1"/>
          </p:cNvSpPr>
          <p:nvPr/>
        </p:nvSpPr>
        <p:spPr bwMode="auto">
          <a:xfrm>
            <a:off x="1423988" y="5500688"/>
            <a:ext cx="190023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1" name="AutoShape 33"/>
          <p:cNvSpPr>
            <a:spLocks noChangeArrowheads="1"/>
          </p:cNvSpPr>
          <p:nvPr/>
        </p:nvSpPr>
        <p:spPr bwMode="auto">
          <a:xfrm flipV="1">
            <a:off x="72961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2" name="AutoShape 34"/>
          <p:cNvSpPr>
            <a:spLocks noChangeArrowheads="1"/>
          </p:cNvSpPr>
          <p:nvPr/>
        </p:nvSpPr>
        <p:spPr bwMode="auto">
          <a:xfrm flipV="1">
            <a:off x="5772150" y="5259388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3" name="AutoShape 35"/>
          <p:cNvSpPr>
            <a:spLocks noChangeArrowheads="1"/>
          </p:cNvSpPr>
          <p:nvPr/>
        </p:nvSpPr>
        <p:spPr bwMode="auto">
          <a:xfrm flipV="1">
            <a:off x="42735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4" name="AutoShape 36"/>
          <p:cNvSpPr>
            <a:spLocks noChangeArrowheads="1"/>
          </p:cNvSpPr>
          <p:nvPr/>
        </p:nvSpPr>
        <p:spPr bwMode="auto">
          <a:xfrm flipV="1">
            <a:off x="26987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5" name="AutoShape 37"/>
          <p:cNvSpPr>
            <a:spLocks noChangeArrowheads="1"/>
          </p:cNvSpPr>
          <p:nvPr/>
        </p:nvSpPr>
        <p:spPr bwMode="auto">
          <a:xfrm flipV="1">
            <a:off x="12382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6" name="Line 38"/>
          <p:cNvSpPr>
            <a:spLocks noChangeShapeType="1"/>
          </p:cNvSpPr>
          <p:nvPr/>
        </p:nvSpPr>
        <p:spPr bwMode="auto">
          <a:xfrm>
            <a:off x="3276600" y="5507038"/>
            <a:ext cx="50403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7" name="AutoShape 39"/>
          <p:cNvSpPr>
            <a:spLocks noChangeArrowheads="1"/>
          </p:cNvSpPr>
          <p:nvPr/>
        </p:nvSpPr>
        <p:spPr bwMode="auto">
          <a:xfrm flipV="1">
            <a:off x="8045450" y="5253038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8" name="AutoShape 40"/>
          <p:cNvSpPr>
            <a:spLocks noChangeArrowheads="1"/>
          </p:cNvSpPr>
          <p:nvPr/>
        </p:nvSpPr>
        <p:spPr bwMode="auto">
          <a:xfrm flipV="1">
            <a:off x="65214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9" name="AutoShape 41"/>
          <p:cNvSpPr>
            <a:spLocks noChangeArrowheads="1"/>
          </p:cNvSpPr>
          <p:nvPr/>
        </p:nvSpPr>
        <p:spPr bwMode="auto">
          <a:xfrm flipV="1">
            <a:off x="5022850" y="5245100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0" name="AutoShape 42"/>
          <p:cNvSpPr>
            <a:spLocks noChangeArrowheads="1"/>
          </p:cNvSpPr>
          <p:nvPr/>
        </p:nvSpPr>
        <p:spPr bwMode="auto">
          <a:xfrm flipV="1">
            <a:off x="3443288" y="524351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1" name="AutoShape 43"/>
          <p:cNvSpPr>
            <a:spLocks noChangeArrowheads="1"/>
          </p:cNvSpPr>
          <p:nvPr/>
        </p:nvSpPr>
        <p:spPr bwMode="auto">
          <a:xfrm flipV="1">
            <a:off x="1987550" y="5243513"/>
            <a:ext cx="295275" cy="2571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22 w 21600"/>
              <a:gd name="T13" fmla="*/ 3022 h 21600"/>
              <a:gd name="T14" fmla="*/ 18578 w 21600"/>
              <a:gd name="T15" fmla="*/ 1857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443" y="21600"/>
                </a:lnTo>
                <a:lnTo>
                  <a:pt x="19157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2" name="Text Box 49"/>
          <p:cNvSpPr txBox="1">
            <a:spLocks noChangeArrowheads="1"/>
          </p:cNvSpPr>
          <p:nvPr/>
        </p:nvSpPr>
        <p:spPr bwMode="auto">
          <a:xfrm>
            <a:off x="684213" y="4868863"/>
            <a:ext cx="58221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200"/>
              <a:t>Ch21</a:t>
            </a:r>
          </a:p>
        </p:txBody>
      </p:sp>
      <p:sp>
        <p:nvSpPr>
          <p:cNvPr id="33" name="Text Box 50"/>
          <p:cNvSpPr txBox="1">
            <a:spLocks noChangeArrowheads="1"/>
          </p:cNvSpPr>
          <p:nvPr/>
        </p:nvSpPr>
        <p:spPr bwMode="auto">
          <a:xfrm>
            <a:off x="7885113" y="4868863"/>
            <a:ext cx="58221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200"/>
              <a:t>Ch68</a:t>
            </a:r>
          </a:p>
        </p:txBody>
      </p:sp>
      <p:sp>
        <p:nvSpPr>
          <p:cNvPr id="34" name="Line 51"/>
          <p:cNvSpPr>
            <a:spLocks noChangeShapeType="1"/>
          </p:cNvSpPr>
          <p:nvPr/>
        </p:nvSpPr>
        <p:spPr bwMode="auto">
          <a:xfrm>
            <a:off x="1258888" y="5013325"/>
            <a:ext cx="6626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stealth" w="med" len="med"/>
            <a:tailEnd type="arrow" w="med" len="med"/>
          </a:ln>
        </p:spPr>
        <p:txBody>
          <a:bodyPr/>
          <a:lstStyle/>
          <a:p>
            <a:endParaRPr lang="en-GB" sz="1600"/>
          </a:p>
        </p:txBody>
      </p:sp>
      <p:sp>
        <p:nvSpPr>
          <p:cNvPr id="35" name="Text Box 52"/>
          <p:cNvSpPr txBox="1">
            <a:spLocks noChangeArrowheads="1"/>
          </p:cNvSpPr>
          <p:nvPr/>
        </p:nvSpPr>
        <p:spPr bwMode="auto">
          <a:xfrm>
            <a:off x="3995738" y="4868863"/>
            <a:ext cx="1088760" cy="276999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200"/>
              <a:t>48 channels</a:t>
            </a:r>
          </a:p>
        </p:txBody>
      </p:sp>
      <p:pic>
        <p:nvPicPr>
          <p:cNvPr id="38" name="Picture 3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34608" y="340350"/>
            <a:ext cx="6599207" cy="3321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39" name="Rectangle 35"/>
          <p:cNvSpPr>
            <a:spLocks noChangeArrowheads="1"/>
          </p:cNvSpPr>
          <p:nvPr/>
        </p:nvSpPr>
        <p:spPr bwMode="auto">
          <a:xfrm>
            <a:off x="2670175" y="1687298"/>
            <a:ext cx="6463641" cy="507730"/>
          </a:xfrm>
          <a:prstGeom prst="rect">
            <a:avLst/>
          </a:prstGeom>
          <a:solidFill>
            <a:schemeClr val="bg1">
              <a:alpha val="85097"/>
            </a:schemeClr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6"/>
          <p:cNvSpPr>
            <a:spLocks noChangeArrowheads="1"/>
          </p:cNvSpPr>
          <p:nvPr/>
        </p:nvSpPr>
        <p:spPr bwMode="auto">
          <a:xfrm>
            <a:off x="2638425" y="3506573"/>
            <a:ext cx="6495391" cy="534508"/>
          </a:xfrm>
          <a:prstGeom prst="rect">
            <a:avLst/>
          </a:prstGeom>
          <a:solidFill>
            <a:schemeClr val="bg1">
              <a:alpha val="85097"/>
            </a:schemeClr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" name="Oval 1"/>
          <p:cNvSpPr>
            <a:spLocks noChangeArrowheads="1"/>
          </p:cNvSpPr>
          <p:nvPr/>
        </p:nvSpPr>
        <p:spPr bwMode="auto">
          <a:xfrm>
            <a:off x="6448545" y="610554"/>
            <a:ext cx="1236663" cy="342900"/>
          </a:xfrm>
          <a:prstGeom prst="ellipse">
            <a:avLst/>
          </a:prstGeom>
          <a:noFill/>
          <a:ln w="50800" algn="ctr">
            <a:solidFill>
              <a:srgbClr val="FF33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" name="Oval 40"/>
          <p:cNvSpPr>
            <a:spLocks noChangeArrowheads="1"/>
          </p:cNvSpPr>
          <p:nvPr/>
        </p:nvSpPr>
        <p:spPr bwMode="auto">
          <a:xfrm>
            <a:off x="6498447" y="2298216"/>
            <a:ext cx="1236663" cy="342900"/>
          </a:xfrm>
          <a:prstGeom prst="ellipse">
            <a:avLst/>
          </a:prstGeom>
          <a:noFill/>
          <a:ln w="50800" algn="ctr">
            <a:solidFill>
              <a:srgbClr val="FF33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" name="Oval 41"/>
          <p:cNvSpPr>
            <a:spLocks noChangeArrowheads="1"/>
          </p:cNvSpPr>
          <p:nvPr/>
        </p:nvSpPr>
        <p:spPr bwMode="auto">
          <a:xfrm>
            <a:off x="6487334" y="4002861"/>
            <a:ext cx="1393825" cy="342900"/>
          </a:xfrm>
          <a:prstGeom prst="ellipse">
            <a:avLst/>
          </a:prstGeom>
          <a:noFill/>
          <a:ln w="50800" algn="ctr">
            <a:solidFill>
              <a:srgbClr val="FF33CC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46" name="Straight Arrow Connector 45"/>
          <p:cNvCxnSpPr/>
          <p:nvPr/>
        </p:nvCxnSpPr>
        <p:spPr bwMode="auto">
          <a:xfrm flipH="1">
            <a:off x="1423988" y="1118586"/>
            <a:ext cx="1274824" cy="4083728"/>
          </a:xfrm>
          <a:prstGeom prst="straightConnector1">
            <a:avLst/>
          </a:prstGeom>
          <a:solidFill>
            <a:schemeClr val="accent1"/>
          </a:solidFill>
          <a:ln w="44450" cap="flat" cmpd="sng" algn="ctr">
            <a:solidFill>
              <a:srgbClr val="C00000">
                <a:alpha val="56000"/>
              </a:srgb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3" name="Straight Arrow Connector 52"/>
          <p:cNvCxnSpPr/>
          <p:nvPr/>
        </p:nvCxnSpPr>
        <p:spPr bwMode="auto">
          <a:xfrm flipH="1">
            <a:off x="2149661" y="2769833"/>
            <a:ext cx="584662" cy="2402327"/>
          </a:xfrm>
          <a:prstGeom prst="straightConnector1">
            <a:avLst/>
          </a:prstGeom>
          <a:solidFill>
            <a:schemeClr val="accent1"/>
          </a:solidFill>
          <a:ln w="44450" cap="flat" cmpd="sng" algn="ctr">
            <a:solidFill>
              <a:srgbClr val="C00000">
                <a:alpha val="56000"/>
              </a:srgb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5" name="Straight Arrow Connector 54"/>
          <p:cNvCxnSpPr/>
          <p:nvPr/>
        </p:nvCxnSpPr>
        <p:spPr bwMode="auto">
          <a:xfrm>
            <a:off x="2839758" y="4492100"/>
            <a:ext cx="272743" cy="710214"/>
          </a:xfrm>
          <a:prstGeom prst="straightConnector1">
            <a:avLst/>
          </a:prstGeom>
          <a:solidFill>
            <a:schemeClr val="accent1"/>
          </a:solidFill>
          <a:ln w="44450" cap="flat" cmpd="sng" algn="ctr">
            <a:solidFill>
              <a:srgbClr val="C00000">
                <a:alpha val="56000"/>
              </a:srgb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8" name="Rectangle 47"/>
          <p:cNvSpPr/>
          <p:nvPr/>
        </p:nvSpPr>
        <p:spPr bwMode="auto">
          <a:xfrm>
            <a:off x="2532821" y="672450"/>
            <a:ext cx="579680" cy="446136"/>
          </a:xfrm>
          <a:prstGeom prst="rect">
            <a:avLst/>
          </a:prstGeom>
          <a:noFill/>
          <a:ln w="38100" cap="flat" cmpd="sng" algn="ctr">
            <a:solidFill>
              <a:srgbClr val="FF999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1" name="Rectangle 50"/>
          <p:cNvSpPr/>
          <p:nvPr/>
        </p:nvSpPr>
        <p:spPr bwMode="auto">
          <a:xfrm>
            <a:off x="2497201" y="2335028"/>
            <a:ext cx="579680" cy="446136"/>
          </a:xfrm>
          <a:prstGeom prst="rect">
            <a:avLst/>
          </a:prstGeom>
          <a:noFill/>
          <a:ln w="38100" cap="flat" cmpd="sng" algn="ctr">
            <a:solidFill>
              <a:srgbClr val="FF999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2532821" y="4035594"/>
            <a:ext cx="534229" cy="446136"/>
          </a:xfrm>
          <a:prstGeom prst="rect">
            <a:avLst/>
          </a:prstGeom>
          <a:noFill/>
          <a:ln w="38100" cap="flat" cmpd="sng" algn="ctr">
            <a:solidFill>
              <a:srgbClr val="FF999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82777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Line 2"/>
          <p:cNvSpPr>
            <a:spLocks noChangeShapeType="1"/>
          </p:cNvSpPr>
          <p:nvPr/>
        </p:nvSpPr>
        <p:spPr bwMode="auto">
          <a:xfrm flipH="1">
            <a:off x="2341563" y="990600"/>
            <a:ext cx="1587" cy="5089525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1747" name="Line 3"/>
          <p:cNvSpPr>
            <a:spLocks noChangeShapeType="1"/>
          </p:cNvSpPr>
          <p:nvPr/>
        </p:nvSpPr>
        <p:spPr bwMode="auto">
          <a:xfrm flipH="1">
            <a:off x="3103563" y="990600"/>
            <a:ext cx="1587" cy="5089525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1748" name="Line 4"/>
          <p:cNvSpPr>
            <a:spLocks noChangeShapeType="1"/>
          </p:cNvSpPr>
          <p:nvPr/>
        </p:nvSpPr>
        <p:spPr bwMode="auto">
          <a:xfrm flipH="1">
            <a:off x="3865563" y="1014413"/>
            <a:ext cx="1587" cy="5065712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1749" name="Line 5"/>
          <p:cNvSpPr>
            <a:spLocks noChangeShapeType="1"/>
          </p:cNvSpPr>
          <p:nvPr/>
        </p:nvSpPr>
        <p:spPr bwMode="auto">
          <a:xfrm flipH="1">
            <a:off x="4627563" y="1050925"/>
            <a:ext cx="12700" cy="50292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1750" name="Line 6"/>
          <p:cNvSpPr>
            <a:spLocks noChangeShapeType="1"/>
          </p:cNvSpPr>
          <p:nvPr/>
        </p:nvSpPr>
        <p:spPr bwMode="auto">
          <a:xfrm flipH="1">
            <a:off x="5389563" y="1027113"/>
            <a:ext cx="1587" cy="5053012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1751" name="Line 7"/>
          <p:cNvSpPr>
            <a:spLocks noChangeShapeType="1"/>
          </p:cNvSpPr>
          <p:nvPr/>
        </p:nvSpPr>
        <p:spPr bwMode="auto">
          <a:xfrm flipH="1">
            <a:off x="6151563" y="1014413"/>
            <a:ext cx="1587" cy="5065712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1752" name="Line 8"/>
          <p:cNvSpPr>
            <a:spLocks noChangeShapeType="1"/>
          </p:cNvSpPr>
          <p:nvPr/>
        </p:nvSpPr>
        <p:spPr bwMode="auto">
          <a:xfrm flipH="1">
            <a:off x="6913563" y="1050925"/>
            <a:ext cx="1587" cy="50292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1753" name="Line 9"/>
          <p:cNvSpPr>
            <a:spLocks noChangeShapeType="1"/>
          </p:cNvSpPr>
          <p:nvPr/>
        </p:nvSpPr>
        <p:spPr bwMode="auto">
          <a:xfrm flipH="1">
            <a:off x="7599363" y="1027113"/>
            <a:ext cx="1587" cy="5053012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1754" name="Line 10"/>
          <p:cNvSpPr>
            <a:spLocks noChangeShapeType="1"/>
          </p:cNvSpPr>
          <p:nvPr/>
        </p:nvSpPr>
        <p:spPr bwMode="auto">
          <a:xfrm>
            <a:off x="2168525" y="1554997"/>
            <a:ext cx="57912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1755" name="Line 11"/>
          <p:cNvSpPr>
            <a:spLocks noChangeShapeType="1"/>
          </p:cNvSpPr>
          <p:nvPr/>
        </p:nvSpPr>
        <p:spPr bwMode="auto">
          <a:xfrm>
            <a:off x="2320925" y="1021597"/>
            <a:ext cx="762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1756" name="Line 12"/>
          <p:cNvSpPr>
            <a:spLocks noChangeShapeType="1"/>
          </p:cNvSpPr>
          <p:nvPr/>
        </p:nvSpPr>
        <p:spPr bwMode="auto">
          <a:xfrm>
            <a:off x="3082925" y="2012197"/>
            <a:ext cx="762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1757" name="Line 13"/>
          <p:cNvSpPr>
            <a:spLocks noChangeShapeType="1"/>
          </p:cNvSpPr>
          <p:nvPr/>
        </p:nvSpPr>
        <p:spPr bwMode="auto">
          <a:xfrm>
            <a:off x="3844925" y="1021597"/>
            <a:ext cx="1524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1758" name="Line 14"/>
          <p:cNvSpPr>
            <a:spLocks noChangeShapeType="1"/>
          </p:cNvSpPr>
          <p:nvPr/>
        </p:nvSpPr>
        <p:spPr bwMode="auto">
          <a:xfrm>
            <a:off x="5368925" y="2012197"/>
            <a:ext cx="1524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1759" name="Line 15"/>
          <p:cNvSpPr>
            <a:spLocks noChangeShapeType="1"/>
          </p:cNvSpPr>
          <p:nvPr/>
        </p:nvSpPr>
        <p:spPr bwMode="auto">
          <a:xfrm>
            <a:off x="6892925" y="1021597"/>
            <a:ext cx="762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1760" name="Line 16"/>
          <p:cNvSpPr>
            <a:spLocks noChangeShapeType="1"/>
          </p:cNvSpPr>
          <p:nvPr/>
        </p:nvSpPr>
        <p:spPr bwMode="auto">
          <a:xfrm>
            <a:off x="3082925" y="1021597"/>
            <a:ext cx="0" cy="990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1761" name="Line 17"/>
          <p:cNvSpPr>
            <a:spLocks noChangeShapeType="1"/>
          </p:cNvSpPr>
          <p:nvPr/>
        </p:nvSpPr>
        <p:spPr bwMode="auto">
          <a:xfrm>
            <a:off x="3844925" y="1021597"/>
            <a:ext cx="0" cy="990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1762" name="Line 18"/>
          <p:cNvSpPr>
            <a:spLocks noChangeShapeType="1"/>
          </p:cNvSpPr>
          <p:nvPr/>
        </p:nvSpPr>
        <p:spPr bwMode="auto">
          <a:xfrm>
            <a:off x="5368925" y="1021597"/>
            <a:ext cx="0" cy="990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1763" name="Line 19"/>
          <p:cNvSpPr>
            <a:spLocks noChangeShapeType="1"/>
          </p:cNvSpPr>
          <p:nvPr/>
        </p:nvSpPr>
        <p:spPr bwMode="auto">
          <a:xfrm>
            <a:off x="6892925" y="1021597"/>
            <a:ext cx="0" cy="990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1764" name="Text Box 20"/>
          <p:cNvSpPr txBox="1">
            <a:spLocks noChangeArrowheads="1"/>
          </p:cNvSpPr>
          <p:nvPr/>
        </p:nvSpPr>
        <p:spPr bwMode="auto">
          <a:xfrm>
            <a:off x="2514600" y="1137484"/>
            <a:ext cx="563245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/>
              <a:t>1           0          1         1          0         0         1</a:t>
            </a:r>
            <a:r>
              <a:rPr lang="en-GB" sz="2000"/>
              <a:t> </a:t>
            </a:r>
          </a:p>
        </p:txBody>
      </p:sp>
      <p:sp>
        <p:nvSpPr>
          <p:cNvPr id="31765" name="Text Box 21"/>
          <p:cNvSpPr txBox="1">
            <a:spLocks noChangeArrowheads="1"/>
          </p:cNvSpPr>
          <p:nvPr/>
        </p:nvSpPr>
        <p:spPr bwMode="auto">
          <a:xfrm>
            <a:off x="7575550" y="1526422"/>
            <a:ext cx="26161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t</a:t>
            </a:r>
            <a:endParaRPr lang="en-GB" sz="2000"/>
          </a:p>
        </p:txBody>
      </p:sp>
      <p:sp>
        <p:nvSpPr>
          <p:cNvPr id="31766" name="Text Box 22"/>
          <p:cNvSpPr txBox="1">
            <a:spLocks noChangeArrowheads="1"/>
          </p:cNvSpPr>
          <p:nvPr/>
        </p:nvSpPr>
        <p:spPr bwMode="auto">
          <a:xfrm>
            <a:off x="817563" y="1386722"/>
            <a:ext cx="1406154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/>
              <a:t>Digital Data</a:t>
            </a:r>
          </a:p>
          <a:p>
            <a:endParaRPr lang="en-GB" dirty="0"/>
          </a:p>
          <a:p>
            <a:r>
              <a:rPr lang="en-GB" sz="1200" dirty="0"/>
              <a:t>… is modulated </a:t>
            </a:r>
          </a:p>
          <a:p>
            <a:r>
              <a:rPr lang="en-GB" sz="1200" dirty="0"/>
              <a:t>        on to a</a:t>
            </a:r>
          </a:p>
          <a:p>
            <a:endParaRPr lang="en-GB" sz="1200" dirty="0"/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854075" y="2579091"/>
            <a:ext cx="7105649" cy="584745"/>
            <a:chOff x="516" y="1567"/>
            <a:chExt cx="4476" cy="575"/>
          </a:xfrm>
        </p:grpSpPr>
        <p:sp>
          <p:nvSpPr>
            <p:cNvPr id="31819" name="Line 24"/>
            <p:cNvSpPr>
              <a:spLocks noChangeShapeType="1"/>
            </p:cNvSpPr>
            <p:nvPr/>
          </p:nvSpPr>
          <p:spPr bwMode="auto">
            <a:xfrm>
              <a:off x="1344" y="1824"/>
              <a:ext cx="3648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grpSp>
          <p:nvGrpSpPr>
            <p:cNvPr id="3" name="Group 25"/>
            <p:cNvGrpSpPr>
              <a:grpSpLocks/>
            </p:cNvGrpSpPr>
            <p:nvPr/>
          </p:nvGrpSpPr>
          <p:grpSpPr bwMode="auto">
            <a:xfrm>
              <a:off x="1440" y="1632"/>
              <a:ext cx="480" cy="432"/>
              <a:chOff x="1440" y="1440"/>
              <a:chExt cx="480" cy="768"/>
            </a:xfrm>
          </p:grpSpPr>
          <p:sp>
            <p:nvSpPr>
              <p:cNvPr id="31840" name="Freeform 26"/>
              <p:cNvSpPr>
                <a:spLocks/>
              </p:cNvSpPr>
              <p:nvPr/>
            </p:nvSpPr>
            <p:spPr bwMode="auto">
              <a:xfrm>
                <a:off x="1440" y="1440"/>
                <a:ext cx="240" cy="768"/>
              </a:xfrm>
              <a:custGeom>
                <a:avLst/>
                <a:gdLst>
                  <a:gd name="T0" fmla="*/ 0 w 1920"/>
                  <a:gd name="T1" fmla="*/ 6 h 1536"/>
                  <a:gd name="T2" fmla="*/ 0 w 1920"/>
                  <a:gd name="T3" fmla="*/ 0 h 1536"/>
                  <a:gd name="T4" fmla="*/ 0 w 1920"/>
                  <a:gd name="T5" fmla="*/ 6 h 1536"/>
                  <a:gd name="T6" fmla="*/ 0 w 1920"/>
                  <a:gd name="T7" fmla="*/ 12 h 1536"/>
                  <a:gd name="T8" fmla="*/ 0 w 1920"/>
                  <a:gd name="T9" fmla="*/ 6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31841" name="Freeform 27"/>
              <p:cNvSpPr>
                <a:spLocks/>
              </p:cNvSpPr>
              <p:nvPr/>
            </p:nvSpPr>
            <p:spPr bwMode="auto">
              <a:xfrm>
                <a:off x="1680" y="1440"/>
                <a:ext cx="240" cy="768"/>
              </a:xfrm>
              <a:custGeom>
                <a:avLst/>
                <a:gdLst>
                  <a:gd name="T0" fmla="*/ 0 w 1920"/>
                  <a:gd name="T1" fmla="*/ 6 h 1536"/>
                  <a:gd name="T2" fmla="*/ 0 w 1920"/>
                  <a:gd name="T3" fmla="*/ 0 h 1536"/>
                  <a:gd name="T4" fmla="*/ 0 w 1920"/>
                  <a:gd name="T5" fmla="*/ 6 h 1536"/>
                  <a:gd name="T6" fmla="*/ 0 w 1920"/>
                  <a:gd name="T7" fmla="*/ 12 h 1536"/>
                  <a:gd name="T8" fmla="*/ 0 w 1920"/>
                  <a:gd name="T9" fmla="*/ 6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  <p:grpSp>
          <p:nvGrpSpPr>
            <p:cNvPr id="4" name="Group 28"/>
            <p:cNvGrpSpPr>
              <a:grpSpLocks/>
            </p:cNvGrpSpPr>
            <p:nvPr/>
          </p:nvGrpSpPr>
          <p:grpSpPr bwMode="auto">
            <a:xfrm>
              <a:off x="1920" y="1632"/>
              <a:ext cx="480" cy="432"/>
              <a:chOff x="1440" y="1440"/>
              <a:chExt cx="480" cy="768"/>
            </a:xfrm>
          </p:grpSpPr>
          <p:sp>
            <p:nvSpPr>
              <p:cNvPr id="31838" name="Freeform 29"/>
              <p:cNvSpPr>
                <a:spLocks/>
              </p:cNvSpPr>
              <p:nvPr/>
            </p:nvSpPr>
            <p:spPr bwMode="auto">
              <a:xfrm>
                <a:off x="1440" y="1440"/>
                <a:ext cx="240" cy="768"/>
              </a:xfrm>
              <a:custGeom>
                <a:avLst/>
                <a:gdLst>
                  <a:gd name="T0" fmla="*/ 0 w 1920"/>
                  <a:gd name="T1" fmla="*/ 6 h 1536"/>
                  <a:gd name="T2" fmla="*/ 0 w 1920"/>
                  <a:gd name="T3" fmla="*/ 0 h 1536"/>
                  <a:gd name="T4" fmla="*/ 0 w 1920"/>
                  <a:gd name="T5" fmla="*/ 6 h 1536"/>
                  <a:gd name="T6" fmla="*/ 0 w 1920"/>
                  <a:gd name="T7" fmla="*/ 12 h 1536"/>
                  <a:gd name="T8" fmla="*/ 0 w 1920"/>
                  <a:gd name="T9" fmla="*/ 6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31839" name="Freeform 30"/>
              <p:cNvSpPr>
                <a:spLocks/>
              </p:cNvSpPr>
              <p:nvPr/>
            </p:nvSpPr>
            <p:spPr bwMode="auto">
              <a:xfrm>
                <a:off x="1680" y="1440"/>
                <a:ext cx="240" cy="768"/>
              </a:xfrm>
              <a:custGeom>
                <a:avLst/>
                <a:gdLst>
                  <a:gd name="T0" fmla="*/ 0 w 1920"/>
                  <a:gd name="T1" fmla="*/ 6 h 1536"/>
                  <a:gd name="T2" fmla="*/ 0 w 1920"/>
                  <a:gd name="T3" fmla="*/ 0 h 1536"/>
                  <a:gd name="T4" fmla="*/ 0 w 1920"/>
                  <a:gd name="T5" fmla="*/ 6 h 1536"/>
                  <a:gd name="T6" fmla="*/ 0 w 1920"/>
                  <a:gd name="T7" fmla="*/ 12 h 1536"/>
                  <a:gd name="T8" fmla="*/ 0 w 1920"/>
                  <a:gd name="T9" fmla="*/ 6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  <p:grpSp>
          <p:nvGrpSpPr>
            <p:cNvPr id="5" name="Group 31"/>
            <p:cNvGrpSpPr>
              <a:grpSpLocks/>
            </p:cNvGrpSpPr>
            <p:nvPr/>
          </p:nvGrpSpPr>
          <p:grpSpPr bwMode="auto">
            <a:xfrm>
              <a:off x="2400" y="1632"/>
              <a:ext cx="480" cy="432"/>
              <a:chOff x="1440" y="1440"/>
              <a:chExt cx="480" cy="768"/>
            </a:xfrm>
          </p:grpSpPr>
          <p:sp>
            <p:nvSpPr>
              <p:cNvPr id="31836" name="Freeform 32"/>
              <p:cNvSpPr>
                <a:spLocks/>
              </p:cNvSpPr>
              <p:nvPr/>
            </p:nvSpPr>
            <p:spPr bwMode="auto">
              <a:xfrm>
                <a:off x="1440" y="1440"/>
                <a:ext cx="240" cy="768"/>
              </a:xfrm>
              <a:custGeom>
                <a:avLst/>
                <a:gdLst>
                  <a:gd name="T0" fmla="*/ 0 w 1920"/>
                  <a:gd name="T1" fmla="*/ 6 h 1536"/>
                  <a:gd name="T2" fmla="*/ 0 w 1920"/>
                  <a:gd name="T3" fmla="*/ 0 h 1536"/>
                  <a:gd name="T4" fmla="*/ 0 w 1920"/>
                  <a:gd name="T5" fmla="*/ 6 h 1536"/>
                  <a:gd name="T6" fmla="*/ 0 w 1920"/>
                  <a:gd name="T7" fmla="*/ 12 h 1536"/>
                  <a:gd name="T8" fmla="*/ 0 w 1920"/>
                  <a:gd name="T9" fmla="*/ 6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31837" name="Freeform 33"/>
              <p:cNvSpPr>
                <a:spLocks/>
              </p:cNvSpPr>
              <p:nvPr/>
            </p:nvSpPr>
            <p:spPr bwMode="auto">
              <a:xfrm>
                <a:off x="1680" y="1440"/>
                <a:ext cx="240" cy="768"/>
              </a:xfrm>
              <a:custGeom>
                <a:avLst/>
                <a:gdLst>
                  <a:gd name="T0" fmla="*/ 0 w 1920"/>
                  <a:gd name="T1" fmla="*/ 6 h 1536"/>
                  <a:gd name="T2" fmla="*/ 0 w 1920"/>
                  <a:gd name="T3" fmla="*/ 0 h 1536"/>
                  <a:gd name="T4" fmla="*/ 0 w 1920"/>
                  <a:gd name="T5" fmla="*/ 6 h 1536"/>
                  <a:gd name="T6" fmla="*/ 0 w 1920"/>
                  <a:gd name="T7" fmla="*/ 12 h 1536"/>
                  <a:gd name="T8" fmla="*/ 0 w 1920"/>
                  <a:gd name="T9" fmla="*/ 6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  <p:grpSp>
          <p:nvGrpSpPr>
            <p:cNvPr id="6" name="Group 34"/>
            <p:cNvGrpSpPr>
              <a:grpSpLocks/>
            </p:cNvGrpSpPr>
            <p:nvPr/>
          </p:nvGrpSpPr>
          <p:grpSpPr bwMode="auto">
            <a:xfrm>
              <a:off x="2880" y="1632"/>
              <a:ext cx="480" cy="432"/>
              <a:chOff x="1440" y="1440"/>
              <a:chExt cx="480" cy="768"/>
            </a:xfrm>
          </p:grpSpPr>
          <p:sp>
            <p:nvSpPr>
              <p:cNvPr id="31834" name="Freeform 35"/>
              <p:cNvSpPr>
                <a:spLocks/>
              </p:cNvSpPr>
              <p:nvPr/>
            </p:nvSpPr>
            <p:spPr bwMode="auto">
              <a:xfrm>
                <a:off x="1440" y="1440"/>
                <a:ext cx="240" cy="768"/>
              </a:xfrm>
              <a:custGeom>
                <a:avLst/>
                <a:gdLst>
                  <a:gd name="T0" fmla="*/ 0 w 1920"/>
                  <a:gd name="T1" fmla="*/ 6 h 1536"/>
                  <a:gd name="T2" fmla="*/ 0 w 1920"/>
                  <a:gd name="T3" fmla="*/ 0 h 1536"/>
                  <a:gd name="T4" fmla="*/ 0 w 1920"/>
                  <a:gd name="T5" fmla="*/ 6 h 1536"/>
                  <a:gd name="T6" fmla="*/ 0 w 1920"/>
                  <a:gd name="T7" fmla="*/ 12 h 1536"/>
                  <a:gd name="T8" fmla="*/ 0 w 1920"/>
                  <a:gd name="T9" fmla="*/ 6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31835" name="Freeform 36"/>
              <p:cNvSpPr>
                <a:spLocks/>
              </p:cNvSpPr>
              <p:nvPr/>
            </p:nvSpPr>
            <p:spPr bwMode="auto">
              <a:xfrm>
                <a:off x="1680" y="1440"/>
                <a:ext cx="240" cy="768"/>
              </a:xfrm>
              <a:custGeom>
                <a:avLst/>
                <a:gdLst>
                  <a:gd name="T0" fmla="*/ 0 w 1920"/>
                  <a:gd name="T1" fmla="*/ 6 h 1536"/>
                  <a:gd name="T2" fmla="*/ 0 w 1920"/>
                  <a:gd name="T3" fmla="*/ 0 h 1536"/>
                  <a:gd name="T4" fmla="*/ 0 w 1920"/>
                  <a:gd name="T5" fmla="*/ 6 h 1536"/>
                  <a:gd name="T6" fmla="*/ 0 w 1920"/>
                  <a:gd name="T7" fmla="*/ 12 h 1536"/>
                  <a:gd name="T8" fmla="*/ 0 w 1920"/>
                  <a:gd name="T9" fmla="*/ 6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  <p:grpSp>
          <p:nvGrpSpPr>
            <p:cNvPr id="7" name="Group 37"/>
            <p:cNvGrpSpPr>
              <a:grpSpLocks/>
            </p:cNvGrpSpPr>
            <p:nvPr/>
          </p:nvGrpSpPr>
          <p:grpSpPr bwMode="auto">
            <a:xfrm>
              <a:off x="3360" y="1632"/>
              <a:ext cx="480" cy="432"/>
              <a:chOff x="1440" y="1440"/>
              <a:chExt cx="480" cy="768"/>
            </a:xfrm>
          </p:grpSpPr>
          <p:sp>
            <p:nvSpPr>
              <p:cNvPr id="31832" name="Freeform 38"/>
              <p:cNvSpPr>
                <a:spLocks/>
              </p:cNvSpPr>
              <p:nvPr/>
            </p:nvSpPr>
            <p:spPr bwMode="auto">
              <a:xfrm>
                <a:off x="1440" y="1440"/>
                <a:ext cx="240" cy="768"/>
              </a:xfrm>
              <a:custGeom>
                <a:avLst/>
                <a:gdLst>
                  <a:gd name="T0" fmla="*/ 0 w 1920"/>
                  <a:gd name="T1" fmla="*/ 6 h 1536"/>
                  <a:gd name="T2" fmla="*/ 0 w 1920"/>
                  <a:gd name="T3" fmla="*/ 0 h 1536"/>
                  <a:gd name="T4" fmla="*/ 0 w 1920"/>
                  <a:gd name="T5" fmla="*/ 6 h 1536"/>
                  <a:gd name="T6" fmla="*/ 0 w 1920"/>
                  <a:gd name="T7" fmla="*/ 12 h 1536"/>
                  <a:gd name="T8" fmla="*/ 0 w 1920"/>
                  <a:gd name="T9" fmla="*/ 6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31833" name="Freeform 39"/>
              <p:cNvSpPr>
                <a:spLocks/>
              </p:cNvSpPr>
              <p:nvPr/>
            </p:nvSpPr>
            <p:spPr bwMode="auto">
              <a:xfrm>
                <a:off x="1680" y="1440"/>
                <a:ext cx="240" cy="768"/>
              </a:xfrm>
              <a:custGeom>
                <a:avLst/>
                <a:gdLst>
                  <a:gd name="T0" fmla="*/ 0 w 1920"/>
                  <a:gd name="T1" fmla="*/ 6 h 1536"/>
                  <a:gd name="T2" fmla="*/ 0 w 1920"/>
                  <a:gd name="T3" fmla="*/ 0 h 1536"/>
                  <a:gd name="T4" fmla="*/ 0 w 1920"/>
                  <a:gd name="T5" fmla="*/ 6 h 1536"/>
                  <a:gd name="T6" fmla="*/ 0 w 1920"/>
                  <a:gd name="T7" fmla="*/ 12 h 1536"/>
                  <a:gd name="T8" fmla="*/ 0 w 1920"/>
                  <a:gd name="T9" fmla="*/ 6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  <p:grpSp>
          <p:nvGrpSpPr>
            <p:cNvPr id="8" name="Group 40"/>
            <p:cNvGrpSpPr>
              <a:grpSpLocks/>
            </p:cNvGrpSpPr>
            <p:nvPr/>
          </p:nvGrpSpPr>
          <p:grpSpPr bwMode="auto">
            <a:xfrm>
              <a:off x="3840" y="1632"/>
              <a:ext cx="480" cy="432"/>
              <a:chOff x="1440" y="1440"/>
              <a:chExt cx="480" cy="768"/>
            </a:xfrm>
          </p:grpSpPr>
          <p:sp>
            <p:nvSpPr>
              <p:cNvPr id="31830" name="Freeform 41"/>
              <p:cNvSpPr>
                <a:spLocks/>
              </p:cNvSpPr>
              <p:nvPr/>
            </p:nvSpPr>
            <p:spPr bwMode="auto">
              <a:xfrm>
                <a:off x="1440" y="1440"/>
                <a:ext cx="240" cy="768"/>
              </a:xfrm>
              <a:custGeom>
                <a:avLst/>
                <a:gdLst>
                  <a:gd name="T0" fmla="*/ 0 w 1920"/>
                  <a:gd name="T1" fmla="*/ 6 h 1536"/>
                  <a:gd name="T2" fmla="*/ 0 w 1920"/>
                  <a:gd name="T3" fmla="*/ 0 h 1536"/>
                  <a:gd name="T4" fmla="*/ 0 w 1920"/>
                  <a:gd name="T5" fmla="*/ 6 h 1536"/>
                  <a:gd name="T6" fmla="*/ 0 w 1920"/>
                  <a:gd name="T7" fmla="*/ 12 h 1536"/>
                  <a:gd name="T8" fmla="*/ 0 w 1920"/>
                  <a:gd name="T9" fmla="*/ 6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31831" name="Freeform 42"/>
              <p:cNvSpPr>
                <a:spLocks/>
              </p:cNvSpPr>
              <p:nvPr/>
            </p:nvSpPr>
            <p:spPr bwMode="auto">
              <a:xfrm>
                <a:off x="1680" y="1440"/>
                <a:ext cx="240" cy="768"/>
              </a:xfrm>
              <a:custGeom>
                <a:avLst/>
                <a:gdLst>
                  <a:gd name="T0" fmla="*/ 0 w 1920"/>
                  <a:gd name="T1" fmla="*/ 6 h 1536"/>
                  <a:gd name="T2" fmla="*/ 0 w 1920"/>
                  <a:gd name="T3" fmla="*/ 0 h 1536"/>
                  <a:gd name="T4" fmla="*/ 0 w 1920"/>
                  <a:gd name="T5" fmla="*/ 6 h 1536"/>
                  <a:gd name="T6" fmla="*/ 0 w 1920"/>
                  <a:gd name="T7" fmla="*/ 12 h 1536"/>
                  <a:gd name="T8" fmla="*/ 0 w 1920"/>
                  <a:gd name="T9" fmla="*/ 6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  <p:grpSp>
          <p:nvGrpSpPr>
            <p:cNvPr id="9" name="Group 43"/>
            <p:cNvGrpSpPr>
              <a:grpSpLocks/>
            </p:cNvGrpSpPr>
            <p:nvPr/>
          </p:nvGrpSpPr>
          <p:grpSpPr bwMode="auto">
            <a:xfrm>
              <a:off x="4320" y="1632"/>
              <a:ext cx="480" cy="432"/>
              <a:chOff x="1440" y="1440"/>
              <a:chExt cx="480" cy="768"/>
            </a:xfrm>
          </p:grpSpPr>
          <p:sp>
            <p:nvSpPr>
              <p:cNvPr id="31828" name="Freeform 44"/>
              <p:cNvSpPr>
                <a:spLocks/>
              </p:cNvSpPr>
              <p:nvPr/>
            </p:nvSpPr>
            <p:spPr bwMode="auto">
              <a:xfrm>
                <a:off x="1440" y="1440"/>
                <a:ext cx="240" cy="768"/>
              </a:xfrm>
              <a:custGeom>
                <a:avLst/>
                <a:gdLst>
                  <a:gd name="T0" fmla="*/ 0 w 1920"/>
                  <a:gd name="T1" fmla="*/ 6 h 1536"/>
                  <a:gd name="T2" fmla="*/ 0 w 1920"/>
                  <a:gd name="T3" fmla="*/ 0 h 1536"/>
                  <a:gd name="T4" fmla="*/ 0 w 1920"/>
                  <a:gd name="T5" fmla="*/ 6 h 1536"/>
                  <a:gd name="T6" fmla="*/ 0 w 1920"/>
                  <a:gd name="T7" fmla="*/ 12 h 1536"/>
                  <a:gd name="T8" fmla="*/ 0 w 1920"/>
                  <a:gd name="T9" fmla="*/ 6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31829" name="Freeform 45"/>
              <p:cNvSpPr>
                <a:spLocks/>
              </p:cNvSpPr>
              <p:nvPr/>
            </p:nvSpPr>
            <p:spPr bwMode="auto">
              <a:xfrm>
                <a:off x="1680" y="1440"/>
                <a:ext cx="240" cy="768"/>
              </a:xfrm>
              <a:custGeom>
                <a:avLst/>
                <a:gdLst>
                  <a:gd name="T0" fmla="*/ 0 w 1920"/>
                  <a:gd name="T1" fmla="*/ 6 h 1536"/>
                  <a:gd name="T2" fmla="*/ 0 w 1920"/>
                  <a:gd name="T3" fmla="*/ 0 h 1536"/>
                  <a:gd name="T4" fmla="*/ 0 w 1920"/>
                  <a:gd name="T5" fmla="*/ 6 h 1536"/>
                  <a:gd name="T6" fmla="*/ 0 w 1920"/>
                  <a:gd name="T7" fmla="*/ 12 h 1536"/>
                  <a:gd name="T8" fmla="*/ 0 w 1920"/>
                  <a:gd name="T9" fmla="*/ 6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  <p:sp>
          <p:nvSpPr>
            <p:cNvPr id="31827" name="Text Box 46"/>
            <p:cNvSpPr txBox="1">
              <a:spLocks noChangeArrowheads="1"/>
            </p:cNvSpPr>
            <p:nvPr/>
          </p:nvSpPr>
          <p:spPr bwMode="auto">
            <a:xfrm>
              <a:off x="516" y="1567"/>
              <a:ext cx="747" cy="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GB" sz="1600" dirty="0"/>
                <a:t>Analogue </a:t>
              </a:r>
            </a:p>
            <a:p>
              <a:pPr algn="ctr"/>
              <a:r>
                <a:rPr lang="en-GB" sz="1600" dirty="0"/>
                <a:t>Carrier</a:t>
              </a:r>
              <a:endParaRPr lang="en-GB" sz="2000" dirty="0"/>
            </a:p>
          </p:txBody>
        </p:sp>
      </p:grpSp>
      <p:grpSp>
        <p:nvGrpSpPr>
          <p:cNvPr id="10" name="Group 47"/>
          <p:cNvGrpSpPr>
            <a:grpSpLocks/>
          </p:cNvGrpSpPr>
          <p:nvPr/>
        </p:nvGrpSpPr>
        <p:grpSpPr bwMode="auto">
          <a:xfrm>
            <a:off x="914400" y="3967861"/>
            <a:ext cx="6989763" cy="1038225"/>
            <a:chOff x="576" y="2390"/>
            <a:chExt cx="4403" cy="654"/>
          </a:xfrm>
        </p:grpSpPr>
        <p:sp>
          <p:nvSpPr>
            <p:cNvPr id="31796" name="Line 48"/>
            <p:cNvSpPr>
              <a:spLocks noChangeShapeType="1"/>
            </p:cNvSpPr>
            <p:nvPr/>
          </p:nvSpPr>
          <p:spPr bwMode="auto">
            <a:xfrm>
              <a:off x="1331" y="2630"/>
              <a:ext cx="3648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grpSp>
          <p:nvGrpSpPr>
            <p:cNvPr id="11" name="Group 49"/>
            <p:cNvGrpSpPr>
              <a:grpSpLocks/>
            </p:cNvGrpSpPr>
            <p:nvPr/>
          </p:nvGrpSpPr>
          <p:grpSpPr bwMode="auto">
            <a:xfrm>
              <a:off x="1475" y="2390"/>
              <a:ext cx="480" cy="432"/>
              <a:chOff x="1475" y="2390"/>
              <a:chExt cx="480" cy="432"/>
            </a:xfrm>
          </p:grpSpPr>
          <p:sp>
            <p:nvSpPr>
              <p:cNvPr id="31817" name="Freeform 50"/>
              <p:cNvSpPr>
                <a:spLocks/>
              </p:cNvSpPr>
              <p:nvPr/>
            </p:nvSpPr>
            <p:spPr bwMode="auto">
              <a:xfrm>
                <a:off x="1475" y="2390"/>
                <a:ext cx="240" cy="432"/>
              </a:xfrm>
              <a:custGeom>
                <a:avLst/>
                <a:gdLst>
                  <a:gd name="T0" fmla="*/ 0 w 1920"/>
                  <a:gd name="T1" fmla="*/ 0 h 1536"/>
                  <a:gd name="T2" fmla="*/ 0 w 1920"/>
                  <a:gd name="T3" fmla="*/ 0 h 1536"/>
                  <a:gd name="T4" fmla="*/ 0 w 1920"/>
                  <a:gd name="T5" fmla="*/ 0 h 1536"/>
                  <a:gd name="T6" fmla="*/ 0 w 1920"/>
                  <a:gd name="T7" fmla="*/ 0 h 1536"/>
                  <a:gd name="T8" fmla="*/ 0 w 1920"/>
                  <a:gd name="T9" fmla="*/ 0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31818" name="Freeform 51"/>
              <p:cNvSpPr>
                <a:spLocks/>
              </p:cNvSpPr>
              <p:nvPr/>
            </p:nvSpPr>
            <p:spPr bwMode="auto">
              <a:xfrm>
                <a:off x="1715" y="2390"/>
                <a:ext cx="240" cy="432"/>
              </a:xfrm>
              <a:custGeom>
                <a:avLst/>
                <a:gdLst>
                  <a:gd name="T0" fmla="*/ 0 w 1920"/>
                  <a:gd name="T1" fmla="*/ 0 h 1536"/>
                  <a:gd name="T2" fmla="*/ 0 w 1920"/>
                  <a:gd name="T3" fmla="*/ 0 h 1536"/>
                  <a:gd name="T4" fmla="*/ 0 w 1920"/>
                  <a:gd name="T5" fmla="*/ 0 h 1536"/>
                  <a:gd name="T6" fmla="*/ 0 w 1920"/>
                  <a:gd name="T7" fmla="*/ 0 h 1536"/>
                  <a:gd name="T8" fmla="*/ 0 w 1920"/>
                  <a:gd name="T9" fmla="*/ 0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  <p:grpSp>
          <p:nvGrpSpPr>
            <p:cNvPr id="12" name="Group 52"/>
            <p:cNvGrpSpPr>
              <a:grpSpLocks/>
            </p:cNvGrpSpPr>
            <p:nvPr/>
          </p:nvGrpSpPr>
          <p:grpSpPr bwMode="auto">
            <a:xfrm>
              <a:off x="1955" y="2390"/>
              <a:ext cx="480" cy="432"/>
              <a:chOff x="1955" y="2390"/>
              <a:chExt cx="480" cy="432"/>
            </a:xfrm>
          </p:grpSpPr>
          <p:sp>
            <p:nvSpPr>
              <p:cNvPr id="31815" name="Freeform 53"/>
              <p:cNvSpPr>
                <a:spLocks/>
              </p:cNvSpPr>
              <p:nvPr/>
            </p:nvSpPr>
            <p:spPr bwMode="auto">
              <a:xfrm flipV="1">
                <a:off x="1955" y="2390"/>
                <a:ext cx="240" cy="432"/>
              </a:xfrm>
              <a:custGeom>
                <a:avLst/>
                <a:gdLst>
                  <a:gd name="T0" fmla="*/ 0 w 1920"/>
                  <a:gd name="T1" fmla="*/ 0 h 1536"/>
                  <a:gd name="T2" fmla="*/ 0 w 1920"/>
                  <a:gd name="T3" fmla="*/ 0 h 1536"/>
                  <a:gd name="T4" fmla="*/ 0 w 1920"/>
                  <a:gd name="T5" fmla="*/ 0 h 1536"/>
                  <a:gd name="T6" fmla="*/ 0 w 1920"/>
                  <a:gd name="T7" fmla="*/ 0 h 1536"/>
                  <a:gd name="T8" fmla="*/ 0 w 1920"/>
                  <a:gd name="T9" fmla="*/ 0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31816" name="Freeform 54"/>
              <p:cNvSpPr>
                <a:spLocks/>
              </p:cNvSpPr>
              <p:nvPr/>
            </p:nvSpPr>
            <p:spPr bwMode="auto">
              <a:xfrm flipV="1">
                <a:off x="2195" y="2390"/>
                <a:ext cx="240" cy="432"/>
              </a:xfrm>
              <a:custGeom>
                <a:avLst/>
                <a:gdLst>
                  <a:gd name="T0" fmla="*/ 0 w 1920"/>
                  <a:gd name="T1" fmla="*/ 0 h 1536"/>
                  <a:gd name="T2" fmla="*/ 0 w 1920"/>
                  <a:gd name="T3" fmla="*/ 0 h 1536"/>
                  <a:gd name="T4" fmla="*/ 0 w 1920"/>
                  <a:gd name="T5" fmla="*/ 0 h 1536"/>
                  <a:gd name="T6" fmla="*/ 0 w 1920"/>
                  <a:gd name="T7" fmla="*/ 0 h 1536"/>
                  <a:gd name="T8" fmla="*/ 0 w 1920"/>
                  <a:gd name="T9" fmla="*/ 0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  <p:grpSp>
          <p:nvGrpSpPr>
            <p:cNvPr id="13" name="Group 55"/>
            <p:cNvGrpSpPr>
              <a:grpSpLocks/>
            </p:cNvGrpSpPr>
            <p:nvPr/>
          </p:nvGrpSpPr>
          <p:grpSpPr bwMode="auto">
            <a:xfrm>
              <a:off x="2435" y="2390"/>
              <a:ext cx="480" cy="432"/>
              <a:chOff x="2435" y="2390"/>
              <a:chExt cx="480" cy="432"/>
            </a:xfrm>
          </p:grpSpPr>
          <p:sp>
            <p:nvSpPr>
              <p:cNvPr id="31813" name="Freeform 56"/>
              <p:cNvSpPr>
                <a:spLocks/>
              </p:cNvSpPr>
              <p:nvPr/>
            </p:nvSpPr>
            <p:spPr bwMode="auto">
              <a:xfrm>
                <a:off x="2435" y="2390"/>
                <a:ext cx="240" cy="432"/>
              </a:xfrm>
              <a:custGeom>
                <a:avLst/>
                <a:gdLst>
                  <a:gd name="T0" fmla="*/ 0 w 1920"/>
                  <a:gd name="T1" fmla="*/ 0 h 1536"/>
                  <a:gd name="T2" fmla="*/ 0 w 1920"/>
                  <a:gd name="T3" fmla="*/ 0 h 1536"/>
                  <a:gd name="T4" fmla="*/ 0 w 1920"/>
                  <a:gd name="T5" fmla="*/ 0 h 1536"/>
                  <a:gd name="T6" fmla="*/ 0 w 1920"/>
                  <a:gd name="T7" fmla="*/ 0 h 1536"/>
                  <a:gd name="T8" fmla="*/ 0 w 1920"/>
                  <a:gd name="T9" fmla="*/ 0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31814" name="Freeform 57"/>
              <p:cNvSpPr>
                <a:spLocks/>
              </p:cNvSpPr>
              <p:nvPr/>
            </p:nvSpPr>
            <p:spPr bwMode="auto">
              <a:xfrm>
                <a:off x="2675" y="2390"/>
                <a:ext cx="240" cy="432"/>
              </a:xfrm>
              <a:custGeom>
                <a:avLst/>
                <a:gdLst>
                  <a:gd name="T0" fmla="*/ 0 w 1920"/>
                  <a:gd name="T1" fmla="*/ 0 h 1536"/>
                  <a:gd name="T2" fmla="*/ 0 w 1920"/>
                  <a:gd name="T3" fmla="*/ 0 h 1536"/>
                  <a:gd name="T4" fmla="*/ 0 w 1920"/>
                  <a:gd name="T5" fmla="*/ 0 h 1536"/>
                  <a:gd name="T6" fmla="*/ 0 w 1920"/>
                  <a:gd name="T7" fmla="*/ 0 h 1536"/>
                  <a:gd name="T8" fmla="*/ 0 w 1920"/>
                  <a:gd name="T9" fmla="*/ 0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  <p:grpSp>
          <p:nvGrpSpPr>
            <p:cNvPr id="14" name="Group 58"/>
            <p:cNvGrpSpPr>
              <a:grpSpLocks/>
            </p:cNvGrpSpPr>
            <p:nvPr/>
          </p:nvGrpSpPr>
          <p:grpSpPr bwMode="auto">
            <a:xfrm>
              <a:off x="2915" y="2390"/>
              <a:ext cx="480" cy="432"/>
              <a:chOff x="2915" y="2390"/>
              <a:chExt cx="480" cy="432"/>
            </a:xfrm>
          </p:grpSpPr>
          <p:sp>
            <p:nvSpPr>
              <p:cNvPr id="31811" name="Freeform 59"/>
              <p:cNvSpPr>
                <a:spLocks/>
              </p:cNvSpPr>
              <p:nvPr/>
            </p:nvSpPr>
            <p:spPr bwMode="auto">
              <a:xfrm>
                <a:off x="2915" y="2390"/>
                <a:ext cx="240" cy="432"/>
              </a:xfrm>
              <a:custGeom>
                <a:avLst/>
                <a:gdLst>
                  <a:gd name="T0" fmla="*/ 0 w 1920"/>
                  <a:gd name="T1" fmla="*/ 0 h 1536"/>
                  <a:gd name="T2" fmla="*/ 0 w 1920"/>
                  <a:gd name="T3" fmla="*/ 0 h 1536"/>
                  <a:gd name="T4" fmla="*/ 0 w 1920"/>
                  <a:gd name="T5" fmla="*/ 0 h 1536"/>
                  <a:gd name="T6" fmla="*/ 0 w 1920"/>
                  <a:gd name="T7" fmla="*/ 0 h 1536"/>
                  <a:gd name="T8" fmla="*/ 0 w 1920"/>
                  <a:gd name="T9" fmla="*/ 0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31812" name="Freeform 60"/>
              <p:cNvSpPr>
                <a:spLocks/>
              </p:cNvSpPr>
              <p:nvPr/>
            </p:nvSpPr>
            <p:spPr bwMode="auto">
              <a:xfrm>
                <a:off x="3155" y="2390"/>
                <a:ext cx="240" cy="432"/>
              </a:xfrm>
              <a:custGeom>
                <a:avLst/>
                <a:gdLst>
                  <a:gd name="T0" fmla="*/ 0 w 1920"/>
                  <a:gd name="T1" fmla="*/ 0 h 1536"/>
                  <a:gd name="T2" fmla="*/ 0 w 1920"/>
                  <a:gd name="T3" fmla="*/ 0 h 1536"/>
                  <a:gd name="T4" fmla="*/ 0 w 1920"/>
                  <a:gd name="T5" fmla="*/ 0 h 1536"/>
                  <a:gd name="T6" fmla="*/ 0 w 1920"/>
                  <a:gd name="T7" fmla="*/ 0 h 1536"/>
                  <a:gd name="T8" fmla="*/ 0 w 1920"/>
                  <a:gd name="T9" fmla="*/ 0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  <p:grpSp>
          <p:nvGrpSpPr>
            <p:cNvPr id="15" name="Group 61"/>
            <p:cNvGrpSpPr>
              <a:grpSpLocks/>
            </p:cNvGrpSpPr>
            <p:nvPr/>
          </p:nvGrpSpPr>
          <p:grpSpPr bwMode="auto">
            <a:xfrm>
              <a:off x="3395" y="2390"/>
              <a:ext cx="480" cy="432"/>
              <a:chOff x="3395" y="2390"/>
              <a:chExt cx="480" cy="432"/>
            </a:xfrm>
          </p:grpSpPr>
          <p:sp>
            <p:nvSpPr>
              <p:cNvPr id="31809" name="Freeform 62"/>
              <p:cNvSpPr>
                <a:spLocks/>
              </p:cNvSpPr>
              <p:nvPr/>
            </p:nvSpPr>
            <p:spPr bwMode="auto">
              <a:xfrm flipV="1">
                <a:off x="3395" y="2390"/>
                <a:ext cx="240" cy="432"/>
              </a:xfrm>
              <a:custGeom>
                <a:avLst/>
                <a:gdLst>
                  <a:gd name="T0" fmla="*/ 0 w 1920"/>
                  <a:gd name="T1" fmla="*/ 0 h 1536"/>
                  <a:gd name="T2" fmla="*/ 0 w 1920"/>
                  <a:gd name="T3" fmla="*/ 0 h 1536"/>
                  <a:gd name="T4" fmla="*/ 0 w 1920"/>
                  <a:gd name="T5" fmla="*/ 0 h 1536"/>
                  <a:gd name="T6" fmla="*/ 0 w 1920"/>
                  <a:gd name="T7" fmla="*/ 0 h 1536"/>
                  <a:gd name="T8" fmla="*/ 0 w 1920"/>
                  <a:gd name="T9" fmla="*/ 0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31810" name="Freeform 63"/>
              <p:cNvSpPr>
                <a:spLocks/>
              </p:cNvSpPr>
              <p:nvPr/>
            </p:nvSpPr>
            <p:spPr bwMode="auto">
              <a:xfrm flipV="1">
                <a:off x="3635" y="2390"/>
                <a:ext cx="240" cy="432"/>
              </a:xfrm>
              <a:custGeom>
                <a:avLst/>
                <a:gdLst>
                  <a:gd name="T0" fmla="*/ 0 w 1920"/>
                  <a:gd name="T1" fmla="*/ 0 h 1536"/>
                  <a:gd name="T2" fmla="*/ 0 w 1920"/>
                  <a:gd name="T3" fmla="*/ 0 h 1536"/>
                  <a:gd name="T4" fmla="*/ 0 w 1920"/>
                  <a:gd name="T5" fmla="*/ 0 h 1536"/>
                  <a:gd name="T6" fmla="*/ 0 w 1920"/>
                  <a:gd name="T7" fmla="*/ 0 h 1536"/>
                  <a:gd name="T8" fmla="*/ 0 w 1920"/>
                  <a:gd name="T9" fmla="*/ 0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  <p:grpSp>
          <p:nvGrpSpPr>
            <p:cNvPr id="16" name="Group 64"/>
            <p:cNvGrpSpPr>
              <a:grpSpLocks/>
            </p:cNvGrpSpPr>
            <p:nvPr/>
          </p:nvGrpSpPr>
          <p:grpSpPr bwMode="auto">
            <a:xfrm>
              <a:off x="3875" y="2390"/>
              <a:ext cx="480" cy="432"/>
              <a:chOff x="3875" y="2390"/>
              <a:chExt cx="480" cy="432"/>
            </a:xfrm>
          </p:grpSpPr>
          <p:sp>
            <p:nvSpPr>
              <p:cNvPr id="31807" name="Freeform 65"/>
              <p:cNvSpPr>
                <a:spLocks/>
              </p:cNvSpPr>
              <p:nvPr/>
            </p:nvSpPr>
            <p:spPr bwMode="auto">
              <a:xfrm flipV="1">
                <a:off x="3875" y="2390"/>
                <a:ext cx="240" cy="432"/>
              </a:xfrm>
              <a:custGeom>
                <a:avLst/>
                <a:gdLst>
                  <a:gd name="T0" fmla="*/ 0 w 1920"/>
                  <a:gd name="T1" fmla="*/ 0 h 1536"/>
                  <a:gd name="T2" fmla="*/ 0 w 1920"/>
                  <a:gd name="T3" fmla="*/ 0 h 1536"/>
                  <a:gd name="T4" fmla="*/ 0 w 1920"/>
                  <a:gd name="T5" fmla="*/ 0 h 1536"/>
                  <a:gd name="T6" fmla="*/ 0 w 1920"/>
                  <a:gd name="T7" fmla="*/ 0 h 1536"/>
                  <a:gd name="T8" fmla="*/ 0 w 1920"/>
                  <a:gd name="T9" fmla="*/ 0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31808" name="Freeform 66"/>
              <p:cNvSpPr>
                <a:spLocks/>
              </p:cNvSpPr>
              <p:nvPr/>
            </p:nvSpPr>
            <p:spPr bwMode="auto">
              <a:xfrm flipV="1">
                <a:off x="4115" y="2390"/>
                <a:ext cx="240" cy="432"/>
              </a:xfrm>
              <a:custGeom>
                <a:avLst/>
                <a:gdLst>
                  <a:gd name="T0" fmla="*/ 0 w 1920"/>
                  <a:gd name="T1" fmla="*/ 0 h 1536"/>
                  <a:gd name="T2" fmla="*/ 0 w 1920"/>
                  <a:gd name="T3" fmla="*/ 0 h 1536"/>
                  <a:gd name="T4" fmla="*/ 0 w 1920"/>
                  <a:gd name="T5" fmla="*/ 0 h 1536"/>
                  <a:gd name="T6" fmla="*/ 0 w 1920"/>
                  <a:gd name="T7" fmla="*/ 0 h 1536"/>
                  <a:gd name="T8" fmla="*/ 0 w 1920"/>
                  <a:gd name="T9" fmla="*/ 0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  <p:sp>
          <p:nvSpPr>
            <p:cNvPr id="31803" name="Freeform 67"/>
            <p:cNvSpPr>
              <a:spLocks/>
            </p:cNvSpPr>
            <p:nvPr/>
          </p:nvSpPr>
          <p:spPr bwMode="auto">
            <a:xfrm>
              <a:off x="4355" y="2390"/>
              <a:ext cx="240" cy="432"/>
            </a:xfrm>
            <a:custGeom>
              <a:avLst/>
              <a:gdLst>
                <a:gd name="T0" fmla="*/ 0 w 1920"/>
                <a:gd name="T1" fmla="*/ 0 h 1536"/>
                <a:gd name="T2" fmla="*/ 0 w 1920"/>
                <a:gd name="T3" fmla="*/ 0 h 1536"/>
                <a:gd name="T4" fmla="*/ 0 w 1920"/>
                <a:gd name="T5" fmla="*/ 0 h 1536"/>
                <a:gd name="T6" fmla="*/ 0 w 1920"/>
                <a:gd name="T7" fmla="*/ 0 h 1536"/>
                <a:gd name="T8" fmla="*/ 0 w 1920"/>
                <a:gd name="T9" fmla="*/ 0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0"/>
                <a:gd name="T16" fmla="*/ 0 h 1536"/>
                <a:gd name="T17" fmla="*/ 1920 w 1920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0" h="1536">
                  <a:moveTo>
                    <a:pt x="0" y="768"/>
                  </a:moveTo>
                  <a:cubicBezTo>
                    <a:pt x="160" y="384"/>
                    <a:pt x="320" y="0"/>
                    <a:pt x="480" y="0"/>
                  </a:cubicBezTo>
                  <a:cubicBezTo>
                    <a:pt x="640" y="0"/>
                    <a:pt x="800" y="512"/>
                    <a:pt x="960" y="768"/>
                  </a:cubicBezTo>
                  <a:cubicBezTo>
                    <a:pt x="1120" y="1024"/>
                    <a:pt x="1280" y="1536"/>
                    <a:pt x="1440" y="1536"/>
                  </a:cubicBezTo>
                  <a:cubicBezTo>
                    <a:pt x="1600" y="1536"/>
                    <a:pt x="1840" y="896"/>
                    <a:pt x="1920" y="76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1804" name="Freeform 68"/>
            <p:cNvSpPr>
              <a:spLocks/>
            </p:cNvSpPr>
            <p:nvPr/>
          </p:nvSpPr>
          <p:spPr bwMode="auto">
            <a:xfrm>
              <a:off x="4595" y="2390"/>
              <a:ext cx="198" cy="465"/>
            </a:xfrm>
            <a:custGeom>
              <a:avLst/>
              <a:gdLst>
                <a:gd name="T0" fmla="*/ 0 w 198"/>
                <a:gd name="T1" fmla="*/ 216 h 465"/>
                <a:gd name="T2" fmla="*/ 60 w 198"/>
                <a:gd name="T3" fmla="*/ 0 h 465"/>
                <a:gd name="T4" fmla="*/ 120 w 198"/>
                <a:gd name="T5" fmla="*/ 216 h 465"/>
                <a:gd name="T6" fmla="*/ 180 w 198"/>
                <a:gd name="T7" fmla="*/ 432 h 465"/>
                <a:gd name="T8" fmla="*/ 198 w 198"/>
                <a:gd name="T9" fmla="*/ 414 h 4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8"/>
                <a:gd name="T16" fmla="*/ 0 h 465"/>
                <a:gd name="T17" fmla="*/ 198 w 198"/>
                <a:gd name="T18" fmla="*/ 465 h 4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8" h="465">
                  <a:moveTo>
                    <a:pt x="0" y="216"/>
                  </a:moveTo>
                  <a:cubicBezTo>
                    <a:pt x="20" y="108"/>
                    <a:pt x="40" y="0"/>
                    <a:pt x="60" y="0"/>
                  </a:cubicBezTo>
                  <a:cubicBezTo>
                    <a:pt x="80" y="0"/>
                    <a:pt x="100" y="144"/>
                    <a:pt x="120" y="216"/>
                  </a:cubicBezTo>
                  <a:cubicBezTo>
                    <a:pt x="140" y="288"/>
                    <a:pt x="167" y="399"/>
                    <a:pt x="180" y="432"/>
                  </a:cubicBezTo>
                  <a:cubicBezTo>
                    <a:pt x="193" y="465"/>
                    <a:pt x="194" y="418"/>
                    <a:pt x="198" y="414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1805" name="Text Box 69"/>
            <p:cNvSpPr txBox="1">
              <a:spLocks noChangeArrowheads="1"/>
            </p:cNvSpPr>
            <p:nvPr/>
          </p:nvSpPr>
          <p:spPr bwMode="auto">
            <a:xfrm>
              <a:off x="1824" y="2832"/>
              <a:ext cx="272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600"/>
                <a:t>180      180      0        180        0        180</a:t>
              </a:r>
              <a:endParaRPr lang="en-GB" sz="2000"/>
            </a:p>
          </p:txBody>
        </p:sp>
        <p:sp>
          <p:nvSpPr>
            <p:cNvPr id="31806" name="Text Box 70"/>
            <p:cNvSpPr txBox="1">
              <a:spLocks noChangeArrowheads="1"/>
            </p:cNvSpPr>
            <p:nvPr/>
          </p:nvSpPr>
          <p:spPr bwMode="auto">
            <a:xfrm>
              <a:off x="576" y="2496"/>
              <a:ext cx="776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GB" sz="1600" dirty="0"/>
                <a:t>Phase Coherent</a:t>
              </a:r>
              <a:endParaRPr lang="en-GB" sz="2000" dirty="0"/>
            </a:p>
          </p:txBody>
        </p:sp>
      </p:grpSp>
      <p:grpSp>
        <p:nvGrpSpPr>
          <p:cNvPr id="17" name="Group 71"/>
          <p:cNvGrpSpPr>
            <a:grpSpLocks/>
          </p:cNvGrpSpPr>
          <p:nvPr/>
        </p:nvGrpSpPr>
        <p:grpSpPr bwMode="auto">
          <a:xfrm>
            <a:off x="762000" y="5110861"/>
            <a:ext cx="7142163" cy="1190625"/>
            <a:chOff x="480" y="3110"/>
            <a:chExt cx="4499" cy="750"/>
          </a:xfrm>
        </p:grpSpPr>
        <p:sp>
          <p:nvSpPr>
            <p:cNvPr id="31773" name="Line 72"/>
            <p:cNvSpPr>
              <a:spLocks noChangeShapeType="1"/>
            </p:cNvSpPr>
            <p:nvPr/>
          </p:nvSpPr>
          <p:spPr bwMode="auto">
            <a:xfrm>
              <a:off x="1331" y="3398"/>
              <a:ext cx="3648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grpSp>
          <p:nvGrpSpPr>
            <p:cNvPr id="18" name="Group 73"/>
            <p:cNvGrpSpPr>
              <a:grpSpLocks/>
            </p:cNvGrpSpPr>
            <p:nvPr/>
          </p:nvGrpSpPr>
          <p:grpSpPr bwMode="auto">
            <a:xfrm>
              <a:off x="1475" y="3158"/>
              <a:ext cx="480" cy="432"/>
              <a:chOff x="1475" y="3158"/>
              <a:chExt cx="480" cy="432"/>
            </a:xfrm>
          </p:grpSpPr>
          <p:sp>
            <p:nvSpPr>
              <p:cNvPr id="31794" name="Freeform 74"/>
              <p:cNvSpPr>
                <a:spLocks/>
              </p:cNvSpPr>
              <p:nvPr/>
            </p:nvSpPr>
            <p:spPr bwMode="auto">
              <a:xfrm>
                <a:off x="1475" y="3158"/>
                <a:ext cx="240" cy="432"/>
              </a:xfrm>
              <a:custGeom>
                <a:avLst/>
                <a:gdLst>
                  <a:gd name="T0" fmla="*/ 0 w 1920"/>
                  <a:gd name="T1" fmla="*/ 0 h 1536"/>
                  <a:gd name="T2" fmla="*/ 0 w 1920"/>
                  <a:gd name="T3" fmla="*/ 0 h 1536"/>
                  <a:gd name="T4" fmla="*/ 0 w 1920"/>
                  <a:gd name="T5" fmla="*/ 0 h 1536"/>
                  <a:gd name="T6" fmla="*/ 0 w 1920"/>
                  <a:gd name="T7" fmla="*/ 0 h 1536"/>
                  <a:gd name="T8" fmla="*/ 0 w 1920"/>
                  <a:gd name="T9" fmla="*/ 0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31795" name="Freeform 75"/>
              <p:cNvSpPr>
                <a:spLocks/>
              </p:cNvSpPr>
              <p:nvPr/>
            </p:nvSpPr>
            <p:spPr bwMode="auto">
              <a:xfrm>
                <a:off x="1715" y="3158"/>
                <a:ext cx="240" cy="432"/>
              </a:xfrm>
              <a:custGeom>
                <a:avLst/>
                <a:gdLst>
                  <a:gd name="T0" fmla="*/ 0 w 1920"/>
                  <a:gd name="T1" fmla="*/ 0 h 1536"/>
                  <a:gd name="T2" fmla="*/ 0 w 1920"/>
                  <a:gd name="T3" fmla="*/ 0 h 1536"/>
                  <a:gd name="T4" fmla="*/ 0 w 1920"/>
                  <a:gd name="T5" fmla="*/ 0 h 1536"/>
                  <a:gd name="T6" fmla="*/ 0 w 1920"/>
                  <a:gd name="T7" fmla="*/ 0 h 1536"/>
                  <a:gd name="T8" fmla="*/ 0 w 1920"/>
                  <a:gd name="T9" fmla="*/ 0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  <p:sp>
          <p:nvSpPr>
            <p:cNvPr id="31775" name="Freeform 76"/>
            <p:cNvSpPr>
              <a:spLocks/>
            </p:cNvSpPr>
            <p:nvPr/>
          </p:nvSpPr>
          <p:spPr bwMode="auto">
            <a:xfrm>
              <a:off x="1955" y="3142"/>
              <a:ext cx="480" cy="479"/>
            </a:xfrm>
            <a:custGeom>
              <a:avLst/>
              <a:gdLst>
                <a:gd name="T0" fmla="*/ 0 w 480"/>
                <a:gd name="T1" fmla="*/ 16 h 479"/>
                <a:gd name="T2" fmla="*/ 40 w 480"/>
                <a:gd name="T3" fmla="*/ 80 h 479"/>
                <a:gd name="T4" fmla="*/ 120 w 480"/>
                <a:gd name="T5" fmla="*/ 448 h 479"/>
                <a:gd name="T6" fmla="*/ 180 w 480"/>
                <a:gd name="T7" fmla="*/ 256 h 479"/>
                <a:gd name="T8" fmla="*/ 240 w 480"/>
                <a:gd name="T9" fmla="*/ 16 h 479"/>
                <a:gd name="T10" fmla="*/ 312 w 480"/>
                <a:gd name="T11" fmla="*/ 256 h 479"/>
                <a:gd name="T12" fmla="*/ 360 w 480"/>
                <a:gd name="T13" fmla="*/ 448 h 479"/>
                <a:gd name="T14" fmla="*/ 444 w 480"/>
                <a:gd name="T15" fmla="*/ 72 h 479"/>
                <a:gd name="T16" fmla="*/ 480 w 480"/>
                <a:gd name="T17" fmla="*/ 16 h 4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80"/>
                <a:gd name="T28" fmla="*/ 0 h 479"/>
                <a:gd name="T29" fmla="*/ 480 w 480"/>
                <a:gd name="T30" fmla="*/ 479 h 47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80" h="479">
                  <a:moveTo>
                    <a:pt x="0" y="16"/>
                  </a:moveTo>
                  <a:cubicBezTo>
                    <a:pt x="7" y="27"/>
                    <a:pt x="20" y="8"/>
                    <a:pt x="40" y="80"/>
                  </a:cubicBezTo>
                  <a:cubicBezTo>
                    <a:pt x="60" y="152"/>
                    <a:pt x="97" y="419"/>
                    <a:pt x="120" y="448"/>
                  </a:cubicBezTo>
                  <a:cubicBezTo>
                    <a:pt x="143" y="477"/>
                    <a:pt x="160" y="328"/>
                    <a:pt x="180" y="256"/>
                  </a:cubicBezTo>
                  <a:cubicBezTo>
                    <a:pt x="200" y="184"/>
                    <a:pt x="218" y="16"/>
                    <a:pt x="240" y="16"/>
                  </a:cubicBezTo>
                  <a:cubicBezTo>
                    <a:pt x="262" y="16"/>
                    <a:pt x="292" y="184"/>
                    <a:pt x="312" y="256"/>
                  </a:cubicBezTo>
                  <a:cubicBezTo>
                    <a:pt x="332" y="328"/>
                    <a:pt x="338" y="479"/>
                    <a:pt x="360" y="448"/>
                  </a:cubicBezTo>
                  <a:cubicBezTo>
                    <a:pt x="382" y="417"/>
                    <a:pt x="424" y="144"/>
                    <a:pt x="444" y="72"/>
                  </a:cubicBezTo>
                  <a:cubicBezTo>
                    <a:pt x="464" y="0"/>
                    <a:pt x="472" y="28"/>
                    <a:pt x="480" y="1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grpSp>
          <p:nvGrpSpPr>
            <p:cNvPr id="19" name="Group 77"/>
            <p:cNvGrpSpPr>
              <a:grpSpLocks/>
            </p:cNvGrpSpPr>
            <p:nvPr/>
          </p:nvGrpSpPr>
          <p:grpSpPr bwMode="auto">
            <a:xfrm>
              <a:off x="2435" y="3158"/>
              <a:ext cx="480" cy="432"/>
              <a:chOff x="2435" y="3158"/>
              <a:chExt cx="480" cy="432"/>
            </a:xfrm>
          </p:grpSpPr>
          <p:sp>
            <p:nvSpPr>
              <p:cNvPr id="31792" name="Freeform 78"/>
              <p:cNvSpPr>
                <a:spLocks/>
              </p:cNvSpPr>
              <p:nvPr/>
            </p:nvSpPr>
            <p:spPr bwMode="auto">
              <a:xfrm>
                <a:off x="2435" y="3158"/>
                <a:ext cx="240" cy="432"/>
              </a:xfrm>
              <a:custGeom>
                <a:avLst/>
                <a:gdLst>
                  <a:gd name="T0" fmla="*/ 0 w 1920"/>
                  <a:gd name="T1" fmla="*/ 0 h 1536"/>
                  <a:gd name="T2" fmla="*/ 0 w 1920"/>
                  <a:gd name="T3" fmla="*/ 0 h 1536"/>
                  <a:gd name="T4" fmla="*/ 0 w 1920"/>
                  <a:gd name="T5" fmla="*/ 0 h 1536"/>
                  <a:gd name="T6" fmla="*/ 0 w 1920"/>
                  <a:gd name="T7" fmla="*/ 0 h 1536"/>
                  <a:gd name="T8" fmla="*/ 0 w 1920"/>
                  <a:gd name="T9" fmla="*/ 0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31793" name="Freeform 79"/>
              <p:cNvSpPr>
                <a:spLocks/>
              </p:cNvSpPr>
              <p:nvPr/>
            </p:nvSpPr>
            <p:spPr bwMode="auto">
              <a:xfrm>
                <a:off x="2675" y="3158"/>
                <a:ext cx="240" cy="432"/>
              </a:xfrm>
              <a:custGeom>
                <a:avLst/>
                <a:gdLst>
                  <a:gd name="T0" fmla="*/ 0 w 1920"/>
                  <a:gd name="T1" fmla="*/ 0 h 1536"/>
                  <a:gd name="T2" fmla="*/ 0 w 1920"/>
                  <a:gd name="T3" fmla="*/ 0 h 1536"/>
                  <a:gd name="T4" fmla="*/ 0 w 1920"/>
                  <a:gd name="T5" fmla="*/ 0 h 1536"/>
                  <a:gd name="T6" fmla="*/ 0 w 1920"/>
                  <a:gd name="T7" fmla="*/ 0 h 1536"/>
                  <a:gd name="T8" fmla="*/ 0 w 1920"/>
                  <a:gd name="T9" fmla="*/ 0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  <p:sp>
          <p:nvSpPr>
            <p:cNvPr id="31777" name="Freeform 80"/>
            <p:cNvSpPr>
              <a:spLocks/>
            </p:cNvSpPr>
            <p:nvPr/>
          </p:nvSpPr>
          <p:spPr bwMode="auto">
            <a:xfrm flipV="1">
              <a:off x="2915" y="3110"/>
              <a:ext cx="480" cy="479"/>
            </a:xfrm>
            <a:custGeom>
              <a:avLst/>
              <a:gdLst>
                <a:gd name="T0" fmla="*/ 0 w 480"/>
                <a:gd name="T1" fmla="*/ 16 h 479"/>
                <a:gd name="T2" fmla="*/ 40 w 480"/>
                <a:gd name="T3" fmla="*/ 80 h 479"/>
                <a:gd name="T4" fmla="*/ 120 w 480"/>
                <a:gd name="T5" fmla="*/ 448 h 479"/>
                <a:gd name="T6" fmla="*/ 180 w 480"/>
                <a:gd name="T7" fmla="*/ 256 h 479"/>
                <a:gd name="T8" fmla="*/ 240 w 480"/>
                <a:gd name="T9" fmla="*/ 16 h 479"/>
                <a:gd name="T10" fmla="*/ 312 w 480"/>
                <a:gd name="T11" fmla="*/ 256 h 479"/>
                <a:gd name="T12" fmla="*/ 360 w 480"/>
                <a:gd name="T13" fmla="*/ 448 h 479"/>
                <a:gd name="T14" fmla="*/ 444 w 480"/>
                <a:gd name="T15" fmla="*/ 72 h 479"/>
                <a:gd name="T16" fmla="*/ 480 w 480"/>
                <a:gd name="T17" fmla="*/ 16 h 4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80"/>
                <a:gd name="T28" fmla="*/ 0 h 479"/>
                <a:gd name="T29" fmla="*/ 480 w 480"/>
                <a:gd name="T30" fmla="*/ 479 h 47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80" h="479">
                  <a:moveTo>
                    <a:pt x="0" y="16"/>
                  </a:moveTo>
                  <a:cubicBezTo>
                    <a:pt x="7" y="27"/>
                    <a:pt x="20" y="8"/>
                    <a:pt x="40" y="80"/>
                  </a:cubicBezTo>
                  <a:cubicBezTo>
                    <a:pt x="60" y="152"/>
                    <a:pt x="97" y="419"/>
                    <a:pt x="120" y="448"/>
                  </a:cubicBezTo>
                  <a:cubicBezTo>
                    <a:pt x="143" y="477"/>
                    <a:pt x="160" y="328"/>
                    <a:pt x="180" y="256"/>
                  </a:cubicBezTo>
                  <a:cubicBezTo>
                    <a:pt x="200" y="184"/>
                    <a:pt x="218" y="16"/>
                    <a:pt x="240" y="16"/>
                  </a:cubicBezTo>
                  <a:cubicBezTo>
                    <a:pt x="262" y="16"/>
                    <a:pt x="292" y="184"/>
                    <a:pt x="312" y="256"/>
                  </a:cubicBezTo>
                  <a:cubicBezTo>
                    <a:pt x="332" y="328"/>
                    <a:pt x="338" y="479"/>
                    <a:pt x="360" y="448"/>
                  </a:cubicBezTo>
                  <a:cubicBezTo>
                    <a:pt x="382" y="417"/>
                    <a:pt x="424" y="144"/>
                    <a:pt x="444" y="72"/>
                  </a:cubicBezTo>
                  <a:cubicBezTo>
                    <a:pt x="464" y="0"/>
                    <a:pt x="472" y="28"/>
                    <a:pt x="480" y="1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grpSp>
          <p:nvGrpSpPr>
            <p:cNvPr id="20" name="Group 81"/>
            <p:cNvGrpSpPr>
              <a:grpSpLocks/>
            </p:cNvGrpSpPr>
            <p:nvPr/>
          </p:nvGrpSpPr>
          <p:grpSpPr bwMode="auto">
            <a:xfrm>
              <a:off x="3395" y="3158"/>
              <a:ext cx="480" cy="432"/>
              <a:chOff x="3395" y="3158"/>
              <a:chExt cx="480" cy="432"/>
            </a:xfrm>
          </p:grpSpPr>
          <p:sp>
            <p:nvSpPr>
              <p:cNvPr id="31790" name="Freeform 82"/>
              <p:cNvSpPr>
                <a:spLocks/>
              </p:cNvSpPr>
              <p:nvPr/>
            </p:nvSpPr>
            <p:spPr bwMode="auto">
              <a:xfrm>
                <a:off x="3395" y="3158"/>
                <a:ext cx="240" cy="432"/>
              </a:xfrm>
              <a:custGeom>
                <a:avLst/>
                <a:gdLst>
                  <a:gd name="T0" fmla="*/ 0 w 1920"/>
                  <a:gd name="T1" fmla="*/ 0 h 1536"/>
                  <a:gd name="T2" fmla="*/ 0 w 1920"/>
                  <a:gd name="T3" fmla="*/ 0 h 1536"/>
                  <a:gd name="T4" fmla="*/ 0 w 1920"/>
                  <a:gd name="T5" fmla="*/ 0 h 1536"/>
                  <a:gd name="T6" fmla="*/ 0 w 1920"/>
                  <a:gd name="T7" fmla="*/ 0 h 1536"/>
                  <a:gd name="T8" fmla="*/ 0 w 1920"/>
                  <a:gd name="T9" fmla="*/ 0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31791" name="Freeform 83"/>
              <p:cNvSpPr>
                <a:spLocks/>
              </p:cNvSpPr>
              <p:nvPr/>
            </p:nvSpPr>
            <p:spPr bwMode="auto">
              <a:xfrm>
                <a:off x="3635" y="3158"/>
                <a:ext cx="240" cy="432"/>
              </a:xfrm>
              <a:custGeom>
                <a:avLst/>
                <a:gdLst>
                  <a:gd name="T0" fmla="*/ 0 w 1920"/>
                  <a:gd name="T1" fmla="*/ 0 h 1536"/>
                  <a:gd name="T2" fmla="*/ 0 w 1920"/>
                  <a:gd name="T3" fmla="*/ 0 h 1536"/>
                  <a:gd name="T4" fmla="*/ 0 w 1920"/>
                  <a:gd name="T5" fmla="*/ 0 h 1536"/>
                  <a:gd name="T6" fmla="*/ 0 w 1920"/>
                  <a:gd name="T7" fmla="*/ 0 h 1536"/>
                  <a:gd name="T8" fmla="*/ 0 w 1920"/>
                  <a:gd name="T9" fmla="*/ 0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  <p:sp>
          <p:nvSpPr>
            <p:cNvPr id="31779" name="Freeform 84"/>
            <p:cNvSpPr>
              <a:spLocks/>
            </p:cNvSpPr>
            <p:nvPr/>
          </p:nvSpPr>
          <p:spPr bwMode="auto">
            <a:xfrm>
              <a:off x="3881" y="3135"/>
              <a:ext cx="480" cy="479"/>
            </a:xfrm>
            <a:custGeom>
              <a:avLst/>
              <a:gdLst>
                <a:gd name="T0" fmla="*/ 0 w 480"/>
                <a:gd name="T1" fmla="*/ 16 h 479"/>
                <a:gd name="T2" fmla="*/ 40 w 480"/>
                <a:gd name="T3" fmla="*/ 80 h 479"/>
                <a:gd name="T4" fmla="*/ 120 w 480"/>
                <a:gd name="T5" fmla="*/ 448 h 479"/>
                <a:gd name="T6" fmla="*/ 180 w 480"/>
                <a:gd name="T7" fmla="*/ 256 h 479"/>
                <a:gd name="T8" fmla="*/ 240 w 480"/>
                <a:gd name="T9" fmla="*/ 16 h 479"/>
                <a:gd name="T10" fmla="*/ 312 w 480"/>
                <a:gd name="T11" fmla="*/ 256 h 479"/>
                <a:gd name="T12" fmla="*/ 360 w 480"/>
                <a:gd name="T13" fmla="*/ 448 h 479"/>
                <a:gd name="T14" fmla="*/ 444 w 480"/>
                <a:gd name="T15" fmla="*/ 72 h 479"/>
                <a:gd name="T16" fmla="*/ 480 w 480"/>
                <a:gd name="T17" fmla="*/ 16 h 4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80"/>
                <a:gd name="T28" fmla="*/ 0 h 479"/>
                <a:gd name="T29" fmla="*/ 480 w 480"/>
                <a:gd name="T30" fmla="*/ 479 h 47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80" h="479">
                  <a:moveTo>
                    <a:pt x="0" y="16"/>
                  </a:moveTo>
                  <a:cubicBezTo>
                    <a:pt x="7" y="27"/>
                    <a:pt x="20" y="8"/>
                    <a:pt x="40" y="80"/>
                  </a:cubicBezTo>
                  <a:cubicBezTo>
                    <a:pt x="60" y="152"/>
                    <a:pt x="97" y="419"/>
                    <a:pt x="120" y="448"/>
                  </a:cubicBezTo>
                  <a:cubicBezTo>
                    <a:pt x="143" y="477"/>
                    <a:pt x="160" y="328"/>
                    <a:pt x="180" y="256"/>
                  </a:cubicBezTo>
                  <a:cubicBezTo>
                    <a:pt x="200" y="184"/>
                    <a:pt x="218" y="16"/>
                    <a:pt x="240" y="16"/>
                  </a:cubicBezTo>
                  <a:cubicBezTo>
                    <a:pt x="262" y="16"/>
                    <a:pt x="292" y="184"/>
                    <a:pt x="312" y="256"/>
                  </a:cubicBezTo>
                  <a:cubicBezTo>
                    <a:pt x="332" y="328"/>
                    <a:pt x="338" y="479"/>
                    <a:pt x="360" y="448"/>
                  </a:cubicBezTo>
                  <a:cubicBezTo>
                    <a:pt x="382" y="417"/>
                    <a:pt x="424" y="144"/>
                    <a:pt x="444" y="72"/>
                  </a:cubicBezTo>
                  <a:cubicBezTo>
                    <a:pt x="464" y="0"/>
                    <a:pt x="472" y="28"/>
                    <a:pt x="480" y="1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1780" name="Freeform 85"/>
            <p:cNvSpPr>
              <a:spLocks/>
            </p:cNvSpPr>
            <p:nvPr/>
          </p:nvSpPr>
          <p:spPr bwMode="auto">
            <a:xfrm>
              <a:off x="4355" y="3158"/>
              <a:ext cx="240" cy="432"/>
            </a:xfrm>
            <a:custGeom>
              <a:avLst/>
              <a:gdLst>
                <a:gd name="T0" fmla="*/ 0 w 1920"/>
                <a:gd name="T1" fmla="*/ 0 h 1536"/>
                <a:gd name="T2" fmla="*/ 0 w 1920"/>
                <a:gd name="T3" fmla="*/ 0 h 1536"/>
                <a:gd name="T4" fmla="*/ 0 w 1920"/>
                <a:gd name="T5" fmla="*/ 0 h 1536"/>
                <a:gd name="T6" fmla="*/ 0 w 1920"/>
                <a:gd name="T7" fmla="*/ 0 h 1536"/>
                <a:gd name="T8" fmla="*/ 0 w 1920"/>
                <a:gd name="T9" fmla="*/ 0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0"/>
                <a:gd name="T16" fmla="*/ 0 h 1536"/>
                <a:gd name="T17" fmla="*/ 1920 w 1920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0" h="1536">
                  <a:moveTo>
                    <a:pt x="0" y="768"/>
                  </a:moveTo>
                  <a:cubicBezTo>
                    <a:pt x="160" y="384"/>
                    <a:pt x="320" y="0"/>
                    <a:pt x="480" y="0"/>
                  </a:cubicBezTo>
                  <a:cubicBezTo>
                    <a:pt x="640" y="0"/>
                    <a:pt x="800" y="512"/>
                    <a:pt x="960" y="768"/>
                  </a:cubicBezTo>
                  <a:cubicBezTo>
                    <a:pt x="1120" y="1024"/>
                    <a:pt x="1280" y="1536"/>
                    <a:pt x="1440" y="1536"/>
                  </a:cubicBezTo>
                  <a:cubicBezTo>
                    <a:pt x="1600" y="1536"/>
                    <a:pt x="1840" y="896"/>
                    <a:pt x="1920" y="76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1781" name="Freeform 86"/>
            <p:cNvSpPr>
              <a:spLocks/>
            </p:cNvSpPr>
            <p:nvPr/>
          </p:nvSpPr>
          <p:spPr bwMode="auto">
            <a:xfrm>
              <a:off x="4595" y="3158"/>
              <a:ext cx="198" cy="408"/>
            </a:xfrm>
            <a:custGeom>
              <a:avLst/>
              <a:gdLst>
                <a:gd name="T0" fmla="*/ 0 w 198"/>
                <a:gd name="T1" fmla="*/ 216 h 408"/>
                <a:gd name="T2" fmla="*/ 60 w 198"/>
                <a:gd name="T3" fmla="*/ 0 h 408"/>
                <a:gd name="T4" fmla="*/ 120 w 198"/>
                <a:gd name="T5" fmla="*/ 216 h 408"/>
                <a:gd name="T6" fmla="*/ 162 w 198"/>
                <a:gd name="T7" fmla="*/ 372 h 408"/>
                <a:gd name="T8" fmla="*/ 198 w 198"/>
                <a:gd name="T9" fmla="*/ 408 h 4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8"/>
                <a:gd name="T16" fmla="*/ 0 h 408"/>
                <a:gd name="T17" fmla="*/ 198 w 198"/>
                <a:gd name="T18" fmla="*/ 408 h 40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8" h="408">
                  <a:moveTo>
                    <a:pt x="0" y="216"/>
                  </a:moveTo>
                  <a:cubicBezTo>
                    <a:pt x="20" y="108"/>
                    <a:pt x="40" y="0"/>
                    <a:pt x="60" y="0"/>
                  </a:cubicBezTo>
                  <a:cubicBezTo>
                    <a:pt x="80" y="0"/>
                    <a:pt x="103" y="154"/>
                    <a:pt x="120" y="216"/>
                  </a:cubicBezTo>
                  <a:cubicBezTo>
                    <a:pt x="137" y="278"/>
                    <a:pt x="149" y="340"/>
                    <a:pt x="162" y="372"/>
                  </a:cubicBezTo>
                  <a:cubicBezTo>
                    <a:pt x="175" y="404"/>
                    <a:pt x="191" y="401"/>
                    <a:pt x="198" y="40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1782" name="Line 87"/>
            <p:cNvSpPr>
              <a:spLocks noChangeShapeType="1"/>
            </p:cNvSpPr>
            <p:nvPr/>
          </p:nvSpPr>
          <p:spPr bwMode="auto">
            <a:xfrm>
              <a:off x="1955" y="3158"/>
              <a:ext cx="0" cy="2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1783" name="Line 88"/>
            <p:cNvSpPr>
              <a:spLocks noChangeShapeType="1"/>
            </p:cNvSpPr>
            <p:nvPr/>
          </p:nvSpPr>
          <p:spPr bwMode="auto">
            <a:xfrm>
              <a:off x="2435" y="3158"/>
              <a:ext cx="0" cy="2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1784" name="Line 89"/>
            <p:cNvSpPr>
              <a:spLocks noChangeShapeType="1"/>
            </p:cNvSpPr>
            <p:nvPr/>
          </p:nvSpPr>
          <p:spPr bwMode="auto">
            <a:xfrm>
              <a:off x="2915" y="3338"/>
              <a:ext cx="0" cy="2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1785" name="Line 90"/>
            <p:cNvSpPr>
              <a:spLocks noChangeShapeType="1"/>
            </p:cNvSpPr>
            <p:nvPr/>
          </p:nvSpPr>
          <p:spPr bwMode="auto">
            <a:xfrm>
              <a:off x="3395" y="3350"/>
              <a:ext cx="0" cy="2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1786" name="Line 91"/>
            <p:cNvSpPr>
              <a:spLocks noChangeShapeType="1"/>
            </p:cNvSpPr>
            <p:nvPr/>
          </p:nvSpPr>
          <p:spPr bwMode="auto">
            <a:xfrm>
              <a:off x="3875" y="3158"/>
              <a:ext cx="0" cy="2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1787" name="Line 92"/>
            <p:cNvSpPr>
              <a:spLocks noChangeShapeType="1"/>
            </p:cNvSpPr>
            <p:nvPr/>
          </p:nvSpPr>
          <p:spPr bwMode="auto">
            <a:xfrm>
              <a:off x="4355" y="3158"/>
              <a:ext cx="0" cy="2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1788" name="Text Box 93"/>
            <p:cNvSpPr txBox="1">
              <a:spLocks noChangeArrowheads="1"/>
            </p:cNvSpPr>
            <p:nvPr/>
          </p:nvSpPr>
          <p:spPr bwMode="auto">
            <a:xfrm>
              <a:off x="1776" y="3648"/>
              <a:ext cx="2725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1600"/>
                <a:t>90        270      270      90        90      270</a:t>
              </a:r>
              <a:endParaRPr lang="en-GB" sz="2000"/>
            </a:p>
          </p:txBody>
        </p:sp>
        <p:sp>
          <p:nvSpPr>
            <p:cNvPr id="31789" name="Text Box 94"/>
            <p:cNvSpPr txBox="1">
              <a:spLocks noChangeArrowheads="1"/>
            </p:cNvSpPr>
            <p:nvPr/>
          </p:nvSpPr>
          <p:spPr bwMode="auto">
            <a:xfrm>
              <a:off x="480" y="3300"/>
              <a:ext cx="86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GB" sz="1600"/>
                <a:t>Differential</a:t>
              </a:r>
              <a:endParaRPr lang="en-GB" sz="2000"/>
            </a:p>
          </p:txBody>
        </p:sp>
      </p:grpSp>
      <p:sp>
        <p:nvSpPr>
          <p:cNvPr id="31770" name="Text Box 95"/>
          <p:cNvSpPr txBox="1">
            <a:spLocks noChangeArrowheads="1"/>
          </p:cNvSpPr>
          <p:nvPr/>
        </p:nvSpPr>
        <p:spPr bwMode="auto">
          <a:xfrm>
            <a:off x="392113" y="366713"/>
            <a:ext cx="79752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Digital Data on Analogue Carrier </a:t>
            </a:r>
            <a:r>
              <a:rPr lang="en-GB" b="1" i="1" dirty="0"/>
              <a:t>e.g. Phase Shift Keying (PSK)</a:t>
            </a:r>
          </a:p>
        </p:txBody>
      </p:sp>
      <p:sp>
        <p:nvSpPr>
          <p:cNvPr id="31771" name="Line 96"/>
          <p:cNvSpPr>
            <a:spLocks noChangeShapeType="1"/>
          </p:cNvSpPr>
          <p:nvPr/>
        </p:nvSpPr>
        <p:spPr bwMode="auto">
          <a:xfrm>
            <a:off x="7578725" y="1542297"/>
            <a:ext cx="368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172129" name="Text Box 97"/>
          <p:cNvSpPr txBox="1">
            <a:spLocks noChangeArrowheads="1"/>
          </p:cNvSpPr>
          <p:nvPr/>
        </p:nvSpPr>
        <p:spPr bwMode="auto">
          <a:xfrm>
            <a:off x="422007" y="3538820"/>
            <a:ext cx="379783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b="1" dirty="0"/>
              <a:t>Binary PSK </a:t>
            </a:r>
            <a:r>
              <a:rPr lang="en-GB" sz="1600" dirty="0"/>
              <a:t>(there’s various formats)</a:t>
            </a:r>
            <a:r>
              <a:rPr lang="en-GB" sz="1600" b="1" dirty="0"/>
              <a:t>:</a:t>
            </a:r>
            <a:endParaRPr lang="en-GB" sz="2000" dirty="0"/>
          </a:p>
        </p:txBody>
      </p:sp>
      <p:cxnSp>
        <p:nvCxnSpPr>
          <p:cNvPr id="22" name="Straight Arrow Connector 21"/>
          <p:cNvCxnSpPr/>
          <p:nvPr/>
        </p:nvCxnSpPr>
        <p:spPr bwMode="auto">
          <a:xfrm>
            <a:off x="1520640" y="1665278"/>
            <a:ext cx="0" cy="29083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9999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0" name="Straight Arrow Connector 99"/>
          <p:cNvCxnSpPr/>
          <p:nvPr/>
        </p:nvCxnSpPr>
        <p:spPr bwMode="auto">
          <a:xfrm>
            <a:off x="1530350" y="2354363"/>
            <a:ext cx="0" cy="29083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9999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072563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2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129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5"/>
          <p:cNvPicPr>
            <a:picLocks noChangeAspect="1" noChangeArrowheads="1"/>
          </p:cNvPicPr>
          <p:nvPr/>
        </p:nvPicPr>
        <p:blipFill>
          <a:blip r:embed="rId2" cstate="print"/>
          <a:srcRect t="7057"/>
          <a:stretch>
            <a:fillRect/>
          </a:stretch>
        </p:blipFill>
        <p:spPr bwMode="auto">
          <a:xfrm>
            <a:off x="4059238" y="930275"/>
            <a:ext cx="4056062" cy="53308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45059" name="Text Box 6"/>
          <p:cNvSpPr txBox="1">
            <a:spLocks noChangeArrowheads="1"/>
          </p:cNvSpPr>
          <p:nvPr/>
        </p:nvSpPr>
        <p:spPr bwMode="auto">
          <a:xfrm>
            <a:off x="395288" y="331788"/>
            <a:ext cx="3650358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The Transmitted Signal</a:t>
            </a:r>
            <a:endParaRPr lang="en-US" sz="2400" b="1" dirty="0"/>
          </a:p>
        </p:txBody>
      </p:sp>
      <p:sp>
        <p:nvSpPr>
          <p:cNvPr id="45060" name="Text Box 7"/>
          <p:cNvSpPr txBox="1">
            <a:spLocks noChangeArrowheads="1"/>
          </p:cNvSpPr>
          <p:nvPr/>
        </p:nvSpPr>
        <p:spPr bwMode="auto">
          <a:xfrm>
            <a:off x="430213" y="1433513"/>
            <a:ext cx="2843212" cy="424731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3038" indent="-173038">
              <a:lnSpc>
                <a:spcPct val="120000"/>
              </a:lnSpc>
              <a:buFontTx/>
              <a:buChar char="•"/>
            </a:pPr>
            <a:r>
              <a:rPr lang="en-GB" sz="1600" dirty="0"/>
              <a:t>Shown here – 8 QAM</a:t>
            </a:r>
          </a:p>
          <a:p>
            <a:pPr marL="173038" indent="-173038">
              <a:lnSpc>
                <a:spcPct val="120000"/>
              </a:lnSpc>
              <a:buFontTx/>
              <a:buChar char="•"/>
            </a:pPr>
            <a:r>
              <a:rPr lang="en-GB" sz="1600" dirty="0"/>
              <a:t>i.e. eight digital codes can be transmitted:</a:t>
            </a:r>
          </a:p>
          <a:p>
            <a:pPr marL="625475" lvl="1" indent="-168275">
              <a:lnSpc>
                <a:spcPct val="120000"/>
              </a:lnSpc>
              <a:buFontTx/>
              <a:buChar char="•"/>
            </a:pPr>
            <a:r>
              <a:rPr lang="en-GB" sz="1600" dirty="0"/>
              <a:t>000, 001, 010, 011, 100, 101, 110, 111</a:t>
            </a:r>
          </a:p>
          <a:p>
            <a:pPr marL="625475" lvl="1" indent="-168275">
              <a:lnSpc>
                <a:spcPct val="120000"/>
              </a:lnSpc>
              <a:buFontTx/>
              <a:buChar char="•"/>
            </a:pPr>
            <a:endParaRPr lang="en-GB" sz="1600" dirty="0"/>
          </a:p>
          <a:p>
            <a:pPr marL="625475" lvl="1" indent="-168275">
              <a:lnSpc>
                <a:spcPct val="120000"/>
              </a:lnSpc>
              <a:buFontTx/>
              <a:buChar char="•"/>
            </a:pPr>
            <a:endParaRPr lang="en-GB" sz="1600" dirty="0"/>
          </a:p>
          <a:p>
            <a:pPr marL="173038" indent="-173038">
              <a:lnSpc>
                <a:spcPct val="120000"/>
              </a:lnSpc>
              <a:buFontTx/>
              <a:buChar char="•"/>
            </a:pPr>
            <a:r>
              <a:rPr lang="en-GB" sz="1600" dirty="0"/>
              <a:t>So transmit the signal </a:t>
            </a:r>
            <a:r>
              <a:rPr lang="en-GB" sz="1600" b="1" dirty="0">
                <a:solidFill>
                  <a:srgbClr val="FF0000"/>
                </a:solidFill>
              </a:rPr>
              <a:t>000110001111</a:t>
            </a:r>
            <a:r>
              <a:rPr lang="en-GB" sz="1600" dirty="0"/>
              <a:t>:</a:t>
            </a:r>
          </a:p>
          <a:p>
            <a:pPr marL="173038" indent="-173038">
              <a:lnSpc>
                <a:spcPct val="120000"/>
              </a:lnSpc>
            </a:pPr>
            <a:r>
              <a:rPr lang="en-GB" sz="1600" dirty="0"/>
              <a:t>	…break it into the groups of codes available </a:t>
            </a:r>
          </a:p>
          <a:p>
            <a:pPr marL="173038" indent="-173038">
              <a:lnSpc>
                <a:spcPct val="120000"/>
              </a:lnSpc>
            </a:pPr>
            <a:r>
              <a:rPr lang="en-GB" sz="1600" dirty="0"/>
              <a:t>	</a:t>
            </a:r>
            <a:r>
              <a:rPr lang="en-GB" sz="1600" b="1" dirty="0">
                <a:solidFill>
                  <a:srgbClr val="FF0000"/>
                </a:solidFill>
              </a:rPr>
              <a:t>000</a:t>
            </a:r>
            <a:r>
              <a:rPr lang="en-GB" sz="1600" dirty="0"/>
              <a:t> </a:t>
            </a:r>
            <a:r>
              <a:rPr lang="en-GB" sz="1600" b="1" dirty="0">
                <a:solidFill>
                  <a:srgbClr val="0070C0"/>
                </a:solidFill>
              </a:rPr>
              <a:t>110</a:t>
            </a:r>
            <a:r>
              <a:rPr lang="en-GB" sz="1600" dirty="0"/>
              <a:t> </a:t>
            </a:r>
            <a:r>
              <a:rPr lang="en-GB" sz="1600" b="1" dirty="0">
                <a:solidFill>
                  <a:srgbClr val="FF0000"/>
                </a:solidFill>
              </a:rPr>
              <a:t>001</a:t>
            </a:r>
            <a:r>
              <a:rPr lang="en-GB" sz="1600" dirty="0"/>
              <a:t> </a:t>
            </a:r>
            <a:r>
              <a:rPr lang="en-GB" sz="1600" b="1" dirty="0">
                <a:solidFill>
                  <a:srgbClr val="0070C0"/>
                </a:solidFill>
              </a:rPr>
              <a:t>111</a:t>
            </a:r>
          </a:p>
          <a:p>
            <a:pPr marL="173038" indent="-173038"/>
            <a:r>
              <a:rPr lang="en-GB" sz="1600" dirty="0"/>
              <a:t>	</a:t>
            </a:r>
            <a:endParaRPr lang="en-US" sz="1600" dirty="0"/>
          </a:p>
        </p:txBody>
      </p:sp>
      <p:sp>
        <p:nvSpPr>
          <p:cNvPr id="214025" name="Line 9"/>
          <p:cNvSpPr>
            <a:spLocks noChangeShapeType="1"/>
          </p:cNvSpPr>
          <p:nvPr/>
        </p:nvSpPr>
        <p:spPr bwMode="auto">
          <a:xfrm flipV="1">
            <a:off x="1014413" y="3579813"/>
            <a:ext cx="3322637" cy="1404937"/>
          </a:xfrm>
          <a:prstGeom prst="line">
            <a:avLst/>
          </a:prstGeom>
          <a:noFill/>
          <a:ln w="57150">
            <a:solidFill>
              <a:srgbClr val="FF0000">
                <a:alpha val="50195"/>
              </a:srgbClr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214027" name="Line 11"/>
          <p:cNvSpPr>
            <a:spLocks noChangeShapeType="1"/>
          </p:cNvSpPr>
          <p:nvPr/>
        </p:nvSpPr>
        <p:spPr bwMode="auto">
          <a:xfrm flipV="1">
            <a:off x="1884363" y="3624263"/>
            <a:ext cx="4494212" cy="1382712"/>
          </a:xfrm>
          <a:prstGeom prst="line">
            <a:avLst/>
          </a:prstGeom>
          <a:noFill/>
          <a:ln w="57150">
            <a:solidFill>
              <a:srgbClr val="FF0000">
                <a:alpha val="50195"/>
              </a:srgbClr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214028" name="Line 12"/>
          <p:cNvSpPr>
            <a:spLocks noChangeShapeType="1"/>
          </p:cNvSpPr>
          <p:nvPr/>
        </p:nvSpPr>
        <p:spPr bwMode="auto">
          <a:xfrm flipV="1">
            <a:off x="1460500" y="3624263"/>
            <a:ext cx="4003675" cy="1393825"/>
          </a:xfrm>
          <a:prstGeom prst="line">
            <a:avLst/>
          </a:prstGeom>
          <a:noFill/>
          <a:ln w="57150">
            <a:solidFill>
              <a:srgbClr val="3333CC">
                <a:alpha val="59999"/>
              </a:srgbClr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214029" name="Line 13"/>
          <p:cNvSpPr>
            <a:spLocks noChangeShapeType="1"/>
          </p:cNvSpPr>
          <p:nvPr/>
        </p:nvSpPr>
        <p:spPr bwMode="auto">
          <a:xfrm flipV="1">
            <a:off x="2419350" y="3635375"/>
            <a:ext cx="4929188" cy="1382713"/>
          </a:xfrm>
          <a:prstGeom prst="line">
            <a:avLst/>
          </a:prstGeom>
          <a:noFill/>
          <a:ln w="57150">
            <a:solidFill>
              <a:srgbClr val="3333CC">
                <a:alpha val="59999"/>
              </a:srgbClr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865157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14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214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214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214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5" grpId="0" animBg="1"/>
      <p:bldP spid="214027" grpId="0" animBg="1"/>
      <p:bldP spid="214028" grpId="0" animBg="1"/>
      <p:bldP spid="21402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95" y="1996196"/>
            <a:ext cx="2033278" cy="49123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06" y="3856307"/>
            <a:ext cx="2867617" cy="8115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0377" y="2225815"/>
            <a:ext cx="3478340" cy="530683"/>
          </a:xfrm>
          <a:prstGeom prst="rect">
            <a:avLst/>
          </a:prstGeom>
        </p:spPr>
      </p:pic>
      <p:sp>
        <p:nvSpPr>
          <p:cNvPr id="51" name="Text Box 48"/>
          <p:cNvSpPr txBox="1">
            <a:spLocks noChangeArrowheads="1"/>
          </p:cNvSpPr>
          <p:nvPr/>
        </p:nvSpPr>
        <p:spPr bwMode="auto">
          <a:xfrm>
            <a:off x="395288" y="4895078"/>
            <a:ext cx="1404427" cy="584775"/>
          </a:xfrm>
          <a:prstGeom prst="rect">
            <a:avLst/>
          </a:prstGeom>
          <a:solidFill>
            <a:srgbClr val="CC3300"/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GB" sz="1600" b="1" dirty="0">
                <a:solidFill>
                  <a:schemeClr val="bg1"/>
                </a:solidFill>
              </a:rPr>
              <a:t>Digital </a:t>
            </a:r>
          </a:p>
          <a:p>
            <a:pPr algn="ctr"/>
            <a:r>
              <a:rPr lang="en-GB" sz="1600" b="1" dirty="0">
                <a:solidFill>
                  <a:schemeClr val="bg1"/>
                </a:solidFill>
              </a:rPr>
              <a:t>Data</a:t>
            </a:r>
          </a:p>
        </p:txBody>
      </p:sp>
      <p:sp>
        <p:nvSpPr>
          <p:cNvPr id="52" name="Text Box 49"/>
          <p:cNvSpPr txBox="1">
            <a:spLocks noChangeArrowheads="1"/>
          </p:cNvSpPr>
          <p:nvPr/>
        </p:nvSpPr>
        <p:spPr bwMode="auto">
          <a:xfrm>
            <a:off x="395288" y="1072405"/>
            <a:ext cx="1447800" cy="581025"/>
          </a:xfrm>
          <a:prstGeom prst="rect">
            <a:avLst/>
          </a:prstGeom>
          <a:solidFill>
            <a:srgbClr val="CC3300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GB" sz="1600" b="1" dirty="0">
                <a:solidFill>
                  <a:schemeClr val="bg1"/>
                </a:solidFill>
              </a:rPr>
              <a:t>Carrier Wave Generator</a:t>
            </a:r>
          </a:p>
        </p:txBody>
      </p:sp>
      <p:sp>
        <p:nvSpPr>
          <p:cNvPr id="53" name="Text Box 50"/>
          <p:cNvSpPr txBox="1">
            <a:spLocks noChangeArrowheads="1"/>
          </p:cNvSpPr>
          <p:nvPr/>
        </p:nvSpPr>
        <p:spPr bwMode="auto">
          <a:xfrm>
            <a:off x="2180717" y="2662295"/>
            <a:ext cx="1447800" cy="861774"/>
          </a:xfrm>
          <a:prstGeom prst="rect">
            <a:avLst/>
          </a:prstGeom>
          <a:solidFill>
            <a:srgbClr val="CC3300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endParaRPr lang="en-GB" sz="1600" b="1" dirty="0">
              <a:solidFill>
                <a:schemeClr val="bg1"/>
              </a:solidFill>
            </a:endParaRPr>
          </a:p>
          <a:p>
            <a:pPr algn="ctr"/>
            <a:r>
              <a:rPr lang="en-GB" sz="1600" b="1" dirty="0">
                <a:solidFill>
                  <a:schemeClr val="bg1"/>
                </a:solidFill>
              </a:rPr>
              <a:t>Transmitter</a:t>
            </a:r>
          </a:p>
          <a:p>
            <a:pPr algn="ctr"/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54" name="Text Box 51"/>
          <p:cNvSpPr txBox="1">
            <a:spLocks noChangeArrowheads="1"/>
          </p:cNvSpPr>
          <p:nvPr/>
        </p:nvSpPr>
        <p:spPr bwMode="auto">
          <a:xfrm>
            <a:off x="436986" y="2669294"/>
            <a:ext cx="1447800" cy="830997"/>
          </a:xfrm>
          <a:prstGeom prst="rect">
            <a:avLst/>
          </a:prstGeom>
          <a:solidFill>
            <a:srgbClr val="CC3300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endParaRPr lang="en-GB" sz="1600" b="1">
              <a:solidFill>
                <a:schemeClr val="bg1"/>
              </a:solidFill>
            </a:endParaRPr>
          </a:p>
          <a:p>
            <a:pPr algn="ctr"/>
            <a:r>
              <a:rPr lang="en-GB" sz="1600" b="1">
                <a:solidFill>
                  <a:schemeClr val="bg1"/>
                </a:solidFill>
              </a:rPr>
              <a:t>Modulator</a:t>
            </a:r>
          </a:p>
          <a:p>
            <a:pPr algn="ctr"/>
            <a:endParaRPr lang="en-GB" sz="1600" b="1">
              <a:solidFill>
                <a:schemeClr val="bg1"/>
              </a:solidFill>
            </a:endParaRPr>
          </a:p>
        </p:txBody>
      </p:sp>
      <p:sp>
        <p:nvSpPr>
          <p:cNvPr id="55" name="Rectangle 52"/>
          <p:cNvSpPr>
            <a:spLocks noChangeArrowheads="1"/>
          </p:cNvSpPr>
          <p:nvPr/>
        </p:nvSpPr>
        <p:spPr bwMode="auto">
          <a:xfrm>
            <a:off x="915966" y="1676173"/>
            <a:ext cx="4138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000" dirty="0">
                <a:sym typeface="Wingdings" pitchFamily="2" charset="2"/>
              </a:rPr>
              <a:t></a:t>
            </a:r>
          </a:p>
        </p:txBody>
      </p:sp>
      <p:sp>
        <p:nvSpPr>
          <p:cNvPr id="56" name="Rectangle 53"/>
          <p:cNvSpPr>
            <a:spLocks noChangeArrowheads="1"/>
          </p:cNvSpPr>
          <p:nvPr/>
        </p:nvSpPr>
        <p:spPr bwMode="auto">
          <a:xfrm flipV="1">
            <a:off x="957506" y="3429294"/>
            <a:ext cx="4138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000" dirty="0">
                <a:sym typeface="Wingdings" pitchFamily="2" charset="2"/>
              </a:rPr>
              <a:t></a:t>
            </a:r>
          </a:p>
        </p:txBody>
      </p:sp>
      <p:sp>
        <p:nvSpPr>
          <p:cNvPr id="57" name="Rectangle 54"/>
          <p:cNvSpPr>
            <a:spLocks noChangeArrowheads="1"/>
          </p:cNvSpPr>
          <p:nvPr/>
        </p:nvSpPr>
        <p:spPr bwMode="auto">
          <a:xfrm>
            <a:off x="912240" y="2370223"/>
            <a:ext cx="4138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000" dirty="0">
                <a:sym typeface="Wingdings" pitchFamily="2" charset="2"/>
              </a:rPr>
              <a:t></a:t>
            </a:r>
          </a:p>
        </p:txBody>
      </p:sp>
      <p:sp>
        <p:nvSpPr>
          <p:cNvPr id="58" name="Rectangle 55"/>
          <p:cNvSpPr>
            <a:spLocks noChangeArrowheads="1"/>
          </p:cNvSpPr>
          <p:nvPr/>
        </p:nvSpPr>
        <p:spPr bwMode="auto">
          <a:xfrm flipV="1">
            <a:off x="957506" y="4428219"/>
            <a:ext cx="4138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000" dirty="0">
                <a:sym typeface="Wingdings" pitchFamily="2" charset="2"/>
              </a:rPr>
              <a:t></a:t>
            </a:r>
          </a:p>
        </p:txBody>
      </p:sp>
      <p:sp>
        <p:nvSpPr>
          <p:cNvPr id="59" name="Rectangle 56"/>
          <p:cNvSpPr>
            <a:spLocks noChangeArrowheads="1"/>
          </p:cNvSpPr>
          <p:nvPr/>
        </p:nvSpPr>
        <p:spPr bwMode="auto">
          <a:xfrm rot="-5400000">
            <a:off x="1881563" y="2850489"/>
            <a:ext cx="4138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000" dirty="0">
                <a:sym typeface="Wingdings" pitchFamily="2" charset="2"/>
              </a:rPr>
              <a:t></a:t>
            </a:r>
          </a:p>
        </p:txBody>
      </p:sp>
      <p:sp>
        <p:nvSpPr>
          <p:cNvPr id="60" name="Rectangle 57"/>
          <p:cNvSpPr>
            <a:spLocks noChangeArrowheads="1"/>
          </p:cNvSpPr>
          <p:nvPr/>
        </p:nvSpPr>
        <p:spPr bwMode="auto">
          <a:xfrm rot="-5400000">
            <a:off x="3721677" y="2850620"/>
            <a:ext cx="4138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000" dirty="0">
                <a:sym typeface="Wingdings" pitchFamily="2" charset="2"/>
              </a:rPr>
              <a:t></a:t>
            </a:r>
          </a:p>
        </p:txBody>
      </p:sp>
      <p:grpSp>
        <p:nvGrpSpPr>
          <p:cNvPr id="61" name="Group 58"/>
          <p:cNvGrpSpPr>
            <a:grpSpLocks/>
          </p:cNvGrpSpPr>
          <p:nvPr/>
        </p:nvGrpSpPr>
        <p:grpSpPr bwMode="auto">
          <a:xfrm>
            <a:off x="4071776" y="2149615"/>
            <a:ext cx="842963" cy="1612900"/>
            <a:chOff x="2968" y="1560"/>
            <a:chExt cx="531" cy="1016"/>
          </a:xfrm>
        </p:grpSpPr>
        <p:grpSp>
          <p:nvGrpSpPr>
            <p:cNvPr id="62" name="Group 59"/>
            <p:cNvGrpSpPr>
              <a:grpSpLocks/>
            </p:cNvGrpSpPr>
            <p:nvPr/>
          </p:nvGrpSpPr>
          <p:grpSpPr bwMode="auto">
            <a:xfrm>
              <a:off x="2968" y="1640"/>
              <a:ext cx="296" cy="936"/>
              <a:chOff x="3024" y="1816"/>
              <a:chExt cx="480" cy="1256"/>
            </a:xfrm>
          </p:grpSpPr>
          <p:sp>
            <p:nvSpPr>
              <p:cNvPr id="66" name="Line 60"/>
              <p:cNvSpPr>
                <a:spLocks noChangeShapeType="1"/>
              </p:cNvSpPr>
              <p:nvPr/>
            </p:nvSpPr>
            <p:spPr bwMode="auto">
              <a:xfrm flipV="1">
                <a:off x="3024" y="2304"/>
                <a:ext cx="192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67" name="Line 61"/>
              <p:cNvSpPr>
                <a:spLocks noChangeShapeType="1"/>
              </p:cNvSpPr>
              <p:nvPr/>
            </p:nvSpPr>
            <p:spPr bwMode="auto">
              <a:xfrm flipH="1" flipV="1">
                <a:off x="3312" y="2304"/>
                <a:ext cx="192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68" name="Line 62"/>
              <p:cNvSpPr>
                <a:spLocks noChangeShapeType="1"/>
              </p:cNvSpPr>
              <p:nvPr/>
            </p:nvSpPr>
            <p:spPr bwMode="auto">
              <a:xfrm flipH="1" flipV="1">
                <a:off x="3168" y="2544"/>
                <a:ext cx="280" cy="26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69" name="Line 63"/>
              <p:cNvSpPr>
                <a:spLocks noChangeShapeType="1"/>
              </p:cNvSpPr>
              <p:nvPr/>
            </p:nvSpPr>
            <p:spPr bwMode="auto">
              <a:xfrm flipV="1">
                <a:off x="3072" y="2544"/>
                <a:ext cx="288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70" name="Line 64"/>
              <p:cNvSpPr>
                <a:spLocks noChangeShapeType="1"/>
              </p:cNvSpPr>
              <p:nvPr/>
            </p:nvSpPr>
            <p:spPr bwMode="auto">
              <a:xfrm flipV="1">
                <a:off x="3040" y="2784"/>
                <a:ext cx="408" cy="2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71" name="Line 65"/>
              <p:cNvSpPr>
                <a:spLocks noChangeShapeType="1"/>
              </p:cNvSpPr>
              <p:nvPr/>
            </p:nvSpPr>
            <p:spPr bwMode="auto">
              <a:xfrm flipH="1" flipV="1">
                <a:off x="3104" y="2800"/>
                <a:ext cx="392" cy="26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72" name="Line 66"/>
              <p:cNvSpPr>
                <a:spLocks noChangeShapeType="1"/>
              </p:cNvSpPr>
              <p:nvPr/>
            </p:nvSpPr>
            <p:spPr bwMode="auto">
              <a:xfrm flipH="1" flipV="1">
                <a:off x="3216" y="2320"/>
                <a:ext cx="144" cy="23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73" name="Line 67"/>
              <p:cNvSpPr>
                <a:spLocks noChangeShapeType="1"/>
              </p:cNvSpPr>
              <p:nvPr/>
            </p:nvSpPr>
            <p:spPr bwMode="auto">
              <a:xfrm flipV="1">
                <a:off x="3144" y="2304"/>
                <a:ext cx="168" cy="26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74" name="Line 68"/>
              <p:cNvSpPr>
                <a:spLocks noChangeShapeType="1"/>
              </p:cNvSpPr>
              <p:nvPr/>
            </p:nvSpPr>
            <p:spPr bwMode="auto">
              <a:xfrm flipV="1">
                <a:off x="3208" y="2304"/>
                <a:ext cx="10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75" name="Line 69"/>
              <p:cNvSpPr>
                <a:spLocks noChangeShapeType="1"/>
              </p:cNvSpPr>
              <p:nvPr/>
            </p:nvSpPr>
            <p:spPr bwMode="auto">
              <a:xfrm flipH="1" flipV="1">
                <a:off x="3248" y="1816"/>
                <a:ext cx="8" cy="4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  <p:sp>
          <p:nvSpPr>
            <p:cNvPr id="63" name="Freeform 70"/>
            <p:cNvSpPr>
              <a:spLocks/>
            </p:cNvSpPr>
            <p:nvPr/>
          </p:nvSpPr>
          <p:spPr bwMode="auto">
            <a:xfrm>
              <a:off x="3200" y="1656"/>
              <a:ext cx="67" cy="208"/>
            </a:xfrm>
            <a:custGeom>
              <a:avLst/>
              <a:gdLst>
                <a:gd name="T0" fmla="*/ 0 w 155"/>
                <a:gd name="T1" fmla="*/ 0 h 368"/>
                <a:gd name="T2" fmla="*/ 0 w 155"/>
                <a:gd name="T3" fmla="*/ 1 h 368"/>
                <a:gd name="T4" fmla="*/ 0 w 155"/>
                <a:gd name="T5" fmla="*/ 1 h 368"/>
                <a:gd name="T6" fmla="*/ 0 w 155"/>
                <a:gd name="T7" fmla="*/ 1 h 368"/>
                <a:gd name="T8" fmla="*/ 0 w 155"/>
                <a:gd name="T9" fmla="*/ 1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5"/>
                <a:gd name="T16" fmla="*/ 0 h 368"/>
                <a:gd name="T17" fmla="*/ 155 w 155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5" h="368">
                  <a:moveTo>
                    <a:pt x="0" y="0"/>
                  </a:moveTo>
                  <a:cubicBezTo>
                    <a:pt x="43" y="26"/>
                    <a:pt x="87" y="52"/>
                    <a:pt x="112" y="80"/>
                  </a:cubicBezTo>
                  <a:cubicBezTo>
                    <a:pt x="137" y="108"/>
                    <a:pt x="149" y="135"/>
                    <a:pt x="152" y="168"/>
                  </a:cubicBezTo>
                  <a:cubicBezTo>
                    <a:pt x="155" y="201"/>
                    <a:pt x="143" y="247"/>
                    <a:pt x="128" y="280"/>
                  </a:cubicBezTo>
                  <a:cubicBezTo>
                    <a:pt x="113" y="313"/>
                    <a:pt x="88" y="340"/>
                    <a:pt x="64" y="36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4" name="Freeform 71"/>
            <p:cNvSpPr>
              <a:spLocks/>
            </p:cNvSpPr>
            <p:nvPr/>
          </p:nvSpPr>
          <p:spPr bwMode="auto">
            <a:xfrm>
              <a:off x="3280" y="1608"/>
              <a:ext cx="91" cy="280"/>
            </a:xfrm>
            <a:custGeom>
              <a:avLst/>
              <a:gdLst>
                <a:gd name="T0" fmla="*/ 0 w 155"/>
                <a:gd name="T1" fmla="*/ 0 h 368"/>
                <a:gd name="T2" fmla="*/ 1 w 155"/>
                <a:gd name="T3" fmla="*/ 2 h 368"/>
                <a:gd name="T4" fmla="*/ 1 w 155"/>
                <a:gd name="T5" fmla="*/ 3 h 368"/>
                <a:gd name="T6" fmla="*/ 1 w 155"/>
                <a:gd name="T7" fmla="*/ 5 h 368"/>
                <a:gd name="T8" fmla="*/ 1 w 155"/>
                <a:gd name="T9" fmla="*/ 6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5"/>
                <a:gd name="T16" fmla="*/ 0 h 368"/>
                <a:gd name="T17" fmla="*/ 155 w 155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5" h="368">
                  <a:moveTo>
                    <a:pt x="0" y="0"/>
                  </a:moveTo>
                  <a:cubicBezTo>
                    <a:pt x="43" y="26"/>
                    <a:pt x="87" y="52"/>
                    <a:pt x="112" y="80"/>
                  </a:cubicBezTo>
                  <a:cubicBezTo>
                    <a:pt x="137" y="108"/>
                    <a:pt x="149" y="135"/>
                    <a:pt x="152" y="168"/>
                  </a:cubicBezTo>
                  <a:cubicBezTo>
                    <a:pt x="155" y="201"/>
                    <a:pt x="143" y="247"/>
                    <a:pt x="128" y="280"/>
                  </a:cubicBezTo>
                  <a:cubicBezTo>
                    <a:pt x="113" y="313"/>
                    <a:pt x="88" y="340"/>
                    <a:pt x="64" y="36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65" name="Freeform 72"/>
            <p:cNvSpPr>
              <a:spLocks/>
            </p:cNvSpPr>
            <p:nvPr/>
          </p:nvSpPr>
          <p:spPr bwMode="auto">
            <a:xfrm>
              <a:off x="3376" y="1560"/>
              <a:ext cx="123" cy="376"/>
            </a:xfrm>
            <a:custGeom>
              <a:avLst/>
              <a:gdLst>
                <a:gd name="T0" fmla="*/ 0 w 155"/>
                <a:gd name="T1" fmla="*/ 0 h 368"/>
                <a:gd name="T2" fmla="*/ 3 w 155"/>
                <a:gd name="T3" fmla="*/ 110 h 368"/>
                <a:gd name="T4" fmla="*/ 5 w 155"/>
                <a:gd name="T5" fmla="*/ 233 h 368"/>
                <a:gd name="T6" fmla="*/ 4 w 155"/>
                <a:gd name="T7" fmla="*/ 386 h 368"/>
                <a:gd name="T8" fmla="*/ 2 w 155"/>
                <a:gd name="T9" fmla="*/ 509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5"/>
                <a:gd name="T16" fmla="*/ 0 h 368"/>
                <a:gd name="T17" fmla="*/ 155 w 155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5" h="368">
                  <a:moveTo>
                    <a:pt x="0" y="0"/>
                  </a:moveTo>
                  <a:cubicBezTo>
                    <a:pt x="43" y="26"/>
                    <a:pt x="87" y="52"/>
                    <a:pt x="112" y="80"/>
                  </a:cubicBezTo>
                  <a:cubicBezTo>
                    <a:pt x="137" y="108"/>
                    <a:pt x="149" y="135"/>
                    <a:pt x="152" y="168"/>
                  </a:cubicBezTo>
                  <a:cubicBezTo>
                    <a:pt x="155" y="201"/>
                    <a:pt x="143" y="247"/>
                    <a:pt x="128" y="280"/>
                  </a:cubicBezTo>
                  <a:cubicBezTo>
                    <a:pt x="113" y="313"/>
                    <a:pt x="88" y="340"/>
                    <a:pt x="64" y="36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sp>
        <p:nvSpPr>
          <p:cNvPr id="76" name="Text Box 73"/>
          <p:cNvSpPr txBox="1">
            <a:spLocks noChangeArrowheads="1"/>
          </p:cNvSpPr>
          <p:nvPr/>
        </p:nvSpPr>
        <p:spPr bwMode="auto">
          <a:xfrm>
            <a:off x="365906" y="299237"/>
            <a:ext cx="32608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400" b="1" dirty="0"/>
              <a:t>Digital Transmission</a:t>
            </a:r>
          </a:p>
        </p:txBody>
      </p:sp>
      <p:sp>
        <p:nvSpPr>
          <p:cNvPr id="78" name="Text Box 26"/>
          <p:cNvSpPr txBox="1">
            <a:spLocks noChangeArrowheads="1"/>
          </p:cNvSpPr>
          <p:nvPr/>
        </p:nvSpPr>
        <p:spPr bwMode="auto">
          <a:xfrm>
            <a:off x="6955997" y="4327661"/>
            <a:ext cx="1447800" cy="830997"/>
          </a:xfrm>
          <a:prstGeom prst="rect">
            <a:avLst/>
          </a:prstGeom>
          <a:solidFill>
            <a:srgbClr val="CC3300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endParaRPr lang="en-GB" sz="1600" b="1" dirty="0">
              <a:solidFill>
                <a:schemeClr val="bg1"/>
              </a:solidFill>
            </a:endParaRPr>
          </a:p>
          <a:p>
            <a:pPr algn="ctr"/>
            <a:r>
              <a:rPr lang="en-GB" sz="1600" b="1" dirty="0">
                <a:solidFill>
                  <a:schemeClr val="bg1"/>
                </a:solidFill>
              </a:rPr>
              <a:t>Receiver</a:t>
            </a:r>
          </a:p>
          <a:p>
            <a:pPr algn="ctr"/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79" name="Line 27"/>
          <p:cNvSpPr>
            <a:spLocks noChangeShapeType="1"/>
          </p:cNvSpPr>
          <p:nvPr/>
        </p:nvSpPr>
        <p:spPr bwMode="auto">
          <a:xfrm>
            <a:off x="8575628" y="3627008"/>
            <a:ext cx="0" cy="10953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80" name="Line 28"/>
          <p:cNvSpPr>
            <a:spLocks noChangeShapeType="1"/>
          </p:cNvSpPr>
          <p:nvPr/>
        </p:nvSpPr>
        <p:spPr bwMode="auto">
          <a:xfrm>
            <a:off x="8403797" y="4722383"/>
            <a:ext cx="180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81" name="Rectangle 51"/>
          <p:cNvSpPr>
            <a:spLocks noChangeArrowheads="1"/>
          </p:cNvSpPr>
          <p:nvPr/>
        </p:nvSpPr>
        <p:spPr bwMode="auto">
          <a:xfrm>
            <a:off x="7472949" y="5158658"/>
            <a:ext cx="4138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000" dirty="0">
                <a:sym typeface="Wingdings" pitchFamily="2" charset="2"/>
              </a:rPr>
              <a:t>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62634" y="5466435"/>
            <a:ext cx="12345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Data retrieval, </a:t>
            </a:r>
            <a:r>
              <a:rPr lang="en-GB" sz="1400" dirty="0" err="1"/>
              <a:t>etc</a:t>
            </a:r>
            <a:r>
              <a:rPr lang="en-GB" sz="1400" dirty="0"/>
              <a:t> </a:t>
            </a:r>
          </a:p>
        </p:txBody>
      </p:sp>
      <p:grpSp>
        <p:nvGrpSpPr>
          <p:cNvPr id="101" name="Group 100"/>
          <p:cNvGrpSpPr/>
          <p:nvPr/>
        </p:nvGrpSpPr>
        <p:grpSpPr>
          <a:xfrm rot="4407723">
            <a:off x="8115558" y="2960747"/>
            <a:ext cx="474663" cy="596900"/>
            <a:chOff x="7249279" y="3309200"/>
            <a:chExt cx="474663" cy="596900"/>
          </a:xfrm>
        </p:grpSpPr>
        <p:sp>
          <p:nvSpPr>
            <p:cNvPr id="98" name="Freeform 70"/>
            <p:cNvSpPr>
              <a:spLocks/>
            </p:cNvSpPr>
            <p:nvPr/>
          </p:nvSpPr>
          <p:spPr bwMode="auto">
            <a:xfrm>
              <a:off x="7249279" y="3461600"/>
              <a:ext cx="106363" cy="330200"/>
            </a:xfrm>
            <a:custGeom>
              <a:avLst/>
              <a:gdLst>
                <a:gd name="T0" fmla="*/ 0 w 155"/>
                <a:gd name="T1" fmla="*/ 0 h 368"/>
                <a:gd name="T2" fmla="*/ 0 w 155"/>
                <a:gd name="T3" fmla="*/ 1 h 368"/>
                <a:gd name="T4" fmla="*/ 0 w 155"/>
                <a:gd name="T5" fmla="*/ 1 h 368"/>
                <a:gd name="T6" fmla="*/ 0 w 155"/>
                <a:gd name="T7" fmla="*/ 1 h 368"/>
                <a:gd name="T8" fmla="*/ 0 w 155"/>
                <a:gd name="T9" fmla="*/ 1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5"/>
                <a:gd name="T16" fmla="*/ 0 h 368"/>
                <a:gd name="T17" fmla="*/ 155 w 155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5" h="368">
                  <a:moveTo>
                    <a:pt x="0" y="0"/>
                  </a:moveTo>
                  <a:cubicBezTo>
                    <a:pt x="43" y="26"/>
                    <a:pt x="87" y="52"/>
                    <a:pt x="112" y="80"/>
                  </a:cubicBezTo>
                  <a:cubicBezTo>
                    <a:pt x="137" y="108"/>
                    <a:pt x="149" y="135"/>
                    <a:pt x="152" y="168"/>
                  </a:cubicBezTo>
                  <a:cubicBezTo>
                    <a:pt x="155" y="201"/>
                    <a:pt x="143" y="247"/>
                    <a:pt x="128" y="280"/>
                  </a:cubicBezTo>
                  <a:cubicBezTo>
                    <a:pt x="113" y="313"/>
                    <a:pt x="88" y="340"/>
                    <a:pt x="64" y="36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99" name="Freeform 71"/>
            <p:cNvSpPr>
              <a:spLocks/>
            </p:cNvSpPr>
            <p:nvPr/>
          </p:nvSpPr>
          <p:spPr bwMode="auto">
            <a:xfrm>
              <a:off x="7376279" y="3385400"/>
              <a:ext cx="144463" cy="444500"/>
            </a:xfrm>
            <a:custGeom>
              <a:avLst/>
              <a:gdLst>
                <a:gd name="T0" fmla="*/ 0 w 155"/>
                <a:gd name="T1" fmla="*/ 0 h 368"/>
                <a:gd name="T2" fmla="*/ 1 w 155"/>
                <a:gd name="T3" fmla="*/ 2 h 368"/>
                <a:gd name="T4" fmla="*/ 1 w 155"/>
                <a:gd name="T5" fmla="*/ 3 h 368"/>
                <a:gd name="T6" fmla="*/ 1 w 155"/>
                <a:gd name="T7" fmla="*/ 5 h 368"/>
                <a:gd name="T8" fmla="*/ 1 w 155"/>
                <a:gd name="T9" fmla="*/ 6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5"/>
                <a:gd name="T16" fmla="*/ 0 h 368"/>
                <a:gd name="T17" fmla="*/ 155 w 155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5" h="368">
                  <a:moveTo>
                    <a:pt x="0" y="0"/>
                  </a:moveTo>
                  <a:cubicBezTo>
                    <a:pt x="43" y="26"/>
                    <a:pt x="87" y="52"/>
                    <a:pt x="112" y="80"/>
                  </a:cubicBezTo>
                  <a:cubicBezTo>
                    <a:pt x="137" y="108"/>
                    <a:pt x="149" y="135"/>
                    <a:pt x="152" y="168"/>
                  </a:cubicBezTo>
                  <a:cubicBezTo>
                    <a:pt x="155" y="201"/>
                    <a:pt x="143" y="247"/>
                    <a:pt x="128" y="280"/>
                  </a:cubicBezTo>
                  <a:cubicBezTo>
                    <a:pt x="113" y="313"/>
                    <a:pt x="88" y="340"/>
                    <a:pt x="64" y="36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00" name="Freeform 72"/>
            <p:cNvSpPr>
              <a:spLocks/>
            </p:cNvSpPr>
            <p:nvPr/>
          </p:nvSpPr>
          <p:spPr bwMode="auto">
            <a:xfrm>
              <a:off x="7528679" y="3309200"/>
              <a:ext cx="195263" cy="596900"/>
            </a:xfrm>
            <a:custGeom>
              <a:avLst/>
              <a:gdLst>
                <a:gd name="T0" fmla="*/ 0 w 155"/>
                <a:gd name="T1" fmla="*/ 0 h 368"/>
                <a:gd name="T2" fmla="*/ 3 w 155"/>
                <a:gd name="T3" fmla="*/ 110 h 368"/>
                <a:gd name="T4" fmla="*/ 5 w 155"/>
                <a:gd name="T5" fmla="*/ 233 h 368"/>
                <a:gd name="T6" fmla="*/ 4 w 155"/>
                <a:gd name="T7" fmla="*/ 386 h 368"/>
                <a:gd name="T8" fmla="*/ 2 w 155"/>
                <a:gd name="T9" fmla="*/ 509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5"/>
                <a:gd name="T16" fmla="*/ 0 h 368"/>
                <a:gd name="T17" fmla="*/ 155 w 155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5" h="368">
                  <a:moveTo>
                    <a:pt x="0" y="0"/>
                  </a:moveTo>
                  <a:cubicBezTo>
                    <a:pt x="43" y="26"/>
                    <a:pt x="87" y="52"/>
                    <a:pt x="112" y="80"/>
                  </a:cubicBezTo>
                  <a:cubicBezTo>
                    <a:pt x="137" y="108"/>
                    <a:pt x="149" y="135"/>
                    <a:pt x="152" y="168"/>
                  </a:cubicBezTo>
                  <a:cubicBezTo>
                    <a:pt x="155" y="201"/>
                    <a:pt x="143" y="247"/>
                    <a:pt x="128" y="280"/>
                  </a:cubicBezTo>
                  <a:cubicBezTo>
                    <a:pt x="113" y="313"/>
                    <a:pt x="88" y="340"/>
                    <a:pt x="64" y="36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sp>
        <p:nvSpPr>
          <p:cNvPr id="102" name="TextBox 101"/>
          <p:cNvSpPr txBox="1"/>
          <p:nvPr/>
        </p:nvSpPr>
        <p:spPr>
          <a:xfrm>
            <a:off x="4808943" y="4926369"/>
            <a:ext cx="22851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Receiver tunes into carrier, detects phase changes, retrieves data</a:t>
            </a:r>
          </a:p>
        </p:txBody>
      </p:sp>
      <p:pic>
        <p:nvPicPr>
          <p:cNvPr id="103" name="Picture 1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8334" y="2734914"/>
            <a:ext cx="1248376" cy="19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6778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7" name="Picture 9" descr="http://www.skydsp.com/publications/4thyrthesis/multipath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7347" y="2104190"/>
            <a:ext cx="7760907" cy="350148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385763" y="333375"/>
            <a:ext cx="7023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Inter-Symbol Interference for Modulated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5763" y="803667"/>
            <a:ext cx="55870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Causes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multipath interference, including atmospherics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channel gain variations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signal spreading over a transmission line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600" dirty="0"/>
              <a:t>jitter and other timing issues</a:t>
            </a:r>
          </a:p>
          <a:p>
            <a:pPr marL="180975" indent="-180975">
              <a:buFont typeface="Arial" pitchFamily="34" charset="0"/>
              <a:buChar char="•"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4117769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72" y="882817"/>
            <a:ext cx="8768127" cy="3234488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2850" y="3361375"/>
            <a:ext cx="819150" cy="552450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566" y="3328002"/>
            <a:ext cx="819150" cy="552450"/>
          </a:xfrm>
          <a:prstGeom prst="rect">
            <a:avLst/>
          </a:prstGeom>
        </p:spPr>
      </p:pic>
      <p:grpSp>
        <p:nvGrpSpPr>
          <p:cNvPr id="52" name="Group 8"/>
          <p:cNvGrpSpPr>
            <a:grpSpLocks/>
          </p:cNvGrpSpPr>
          <p:nvPr/>
        </p:nvGrpSpPr>
        <p:grpSpPr bwMode="auto">
          <a:xfrm rot="159847">
            <a:off x="7351872" y="1632191"/>
            <a:ext cx="729553" cy="238462"/>
            <a:chOff x="1226" y="1384"/>
            <a:chExt cx="576" cy="432"/>
          </a:xfrm>
        </p:grpSpPr>
        <p:sp>
          <p:nvSpPr>
            <p:cNvPr id="53" name="Freeform 9"/>
            <p:cNvSpPr>
              <a:spLocks/>
            </p:cNvSpPr>
            <p:nvPr/>
          </p:nvSpPr>
          <p:spPr bwMode="auto">
            <a:xfrm>
              <a:off x="1226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54" name="Freeform 10"/>
            <p:cNvSpPr>
              <a:spLocks/>
            </p:cNvSpPr>
            <p:nvPr/>
          </p:nvSpPr>
          <p:spPr bwMode="auto">
            <a:xfrm>
              <a:off x="1418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55" name="Freeform 11"/>
            <p:cNvSpPr>
              <a:spLocks/>
            </p:cNvSpPr>
            <p:nvPr/>
          </p:nvSpPr>
          <p:spPr bwMode="auto">
            <a:xfrm>
              <a:off x="1610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cxnSp>
        <p:nvCxnSpPr>
          <p:cNvPr id="57" name="Straight Arrow Connector 56"/>
          <p:cNvCxnSpPr/>
          <p:nvPr/>
        </p:nvCxnSpPr>
        <p:spPr>
          <a:xfrm flipH="1" flipV="1">
            <a:off x="2243466" y="1635122"/>
            <a:ext cx="5908964" cy="33834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H="1">
            <a:off x="5235553" y="2094615"/>
            <a:ext cx="2809060" cy="121186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flipH="1">
            <a:off x="4278118" y="2038491"/>
            <a:ext cx="3745021" cy="134068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2354767" y="1712239"/>
            <a:ext cx="2764867" cy="1594243"/>
          </a:xfrm>
          <a:prstGeom prst="straightConnector1">
            <a:avLst/>
          </a:prstGeom>
          <a:ln w="285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2302642" y="1727546"/>
            <a:ext cx="1937077" cy="1651627"/>
          </a:xfrm>
          <a:prstGeom prst="straightConnector1">
            <a:avLst/>
          </a:prstGeom>
          <a:ln w="285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oup 8"/>
          <p:cNvGrpSpPr>
            <a:grpSpLocks/>
          </p:cNvGrpSpPr>
          <p:nvPr/>
        </p:nvGrpSpPr>
        <p:grpSpPr bwMode="auto">
          <a:xfrm rot="1688732">
            <a:off x="3509579" y="2252586"/>
            <a:ext cx="729553" cy="238462"/>
            <a:chOff x="1226" y="1384"/>
            <a:chExt cx="576" cy="432"/>
          </a:xfrm>
        </p:grpSpPr>
        <p:sp>
          <p:nvSpPr>
            <p:cNvPr id="80" name="Freeform 9"/>
            <p:cNvSpPr>
              <a:spLocks/>
            </p:cNvSpPr>
            <p:nvPr/>
          </p:nvSpPr>
          <p:spPr bwMode="auto">
            <a:xfrm>
              <a:off x="1226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81" name="Freeform 10"/>
            <p:cNvSpPr>
              <a:spLocks/>
            </p:cNvSpPr>
            <p:nvPr/>
          </p:nvSpPr>
          <p:spPr bwMode="auto">
            <a:xfrm>
              <a:off x="1418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82" name="Freeform 11"/>
            <p:cNvSpPr>
              <a:spLocks/>
            </p:cNvSpPr>
            <p:nvPr/>
          </p:nvSpPr>
          <p:spPr bwMode="auto">
            <a:xfrm>
              <a:off x="1610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83" name="Group 8"/>
          <p:cNvGrpSpPr>
            <a:grpSpLocks/>
          </p:cNvGrpSpPr>
          <p:nvPr/>
        </p:nvGrpSpPr>
        <p:grpSpPr bwMode="auto">
          <a:xfrm rot="2458438">
            <a:off x="2870020" y="2713117"/>
            <a:ext cx="729553" cy="238462"/>
            <a:chOff x="1226" y="1384"/>
            <a:chExt cx="576" cy="432"/>
          </a:xfrm>
        </p:grpSpPr>
        <p:sp>
          <p:nvSpPr>
            <p:cNvPr id="84" name="Freeform 9"/>
            <p:cNvSpPr>
              <a:spLocks/>
            </p:cNvSpPr>
            <p:nvPr/>
          </p:nvSpPr>
          <p:spPr bwMode="auto">
            <a:xfrm>
              <a:off x="1226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85" name="Freeform 10"/>
            <p:cNvSpPr>
              <a:spLocks/>
            </p:cNvSpPr>
            <p:nvPr/>
          </p:nvSpPr>
          <p:spPr bwMode="auto">
            <a:xfrm>
              <a:off x="1418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86" name="Freeform 11"/>
            <p:cNvSpPr>
              <a:spLocks/>
            </p:cNvSpPr>
            <p:nvPr/>
          </p:nvSpPr>
          <p:spPr bwMode="auto">
            <a:xfrm>
              <a:off x="1610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362817" y="315843"/>
            <a:ext cx="7023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Inter-Symbol Interference for Modulated Data</a:t>
            </a:r>
          </a:p>
        </p:txBody>
      </p:sp>
      <p:grpSp>
        <p:nvGrpSpPr>
          <p:cNvPr id="103" name="Group 102"/>
          <p:cNvGrpSpPr/>
          <p:nvPr/>
        </p:nvGrpSpPr>
        <p:grpSpPr>
          <a:xfrm>
            <a:off x="5835135" y="4653308"/>
            <a:ext cx="2823889" cy="548640"/>
            <a:chOff x="6043350" y="3180522"/>
            <a:chExt cx="2823889" cy="548640"/>
          </a:xfrm>
        </p:grpSpPr>
        <p:sp>
          <p:nvSpPr>
            <p:cNvPr id="101" name="Rounded Rectangular Callout 100"/>
            <p:cNvSpPr/>
            <p:nvPr/>
          </p:nvSpPr>
          <p:spPr>
            <a:xfrm>
              <a:off x="6043350" y="3180522"/>
              <a:ext cx="2823889" cy="548640"/>
            </a:xfrm>
            <a:prstGeom prst="wedgeRoundRectCallout">
              <a:avLst>
                <a:gd name="adj1" fmla="val -54622"/>
                <a:gd name="adj2" fmla="val -185327"/>
                <a:gd name="adj3" fmla="val 16667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grpSp>
          <p:nvGrpSpPr>
            <p:cNvPr id="100" name="Group 99"/>
            <p:cNvGrpSpPr/>
            <p:nvPr/>
          </p:nvGrpSpPr>
          <p:grpSpPr>
            <a:xfrm>
              <a:off x="6114904" y="3278124"/>
              <a:ext cx="2659059" cy="338554"/>
              <a:chOff x="6043350" y="3166636"/>
              <a:chExt cx="2659059" cy="338554"/>
            </a:xfrm>
          </p:grpSpPr>
          <p:sp>
            <p:nvSpPr>
              <p:cNvPr id="43" name="Freeform 9"/>
              <p:cNvSpPr>
                <a:spLocks/>
              </p:cNvSpPr>
              <p:nvPr/>
            </p:nvSpPr>
            <p:spPr bwMode="auto">
              <a:xfrm>
                <a:off x="7093788" y="3208288"/>
                <a:ext cx="243184" cy="238462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44" name="Freeform 10"/>
              <p:cNvSpPr>
                <a:spLocks/>
              </p:cNvSpPr>
              <p:nvPr/>
            </p:nvSpPr>
            <p:spPr bwMode="auto">
              <a:xfrm>
                <a:off x="7336972" y="3208288"/>
                <a:ext cx="243184" cy="238462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45" name="Freeform 11"/>
              <p:cNvSpPr>
                <a:spLocks/>
              </p:cNvSpPr>
              <p:nvPr/>
            </p:nvSpPr>
            <p:spPr bwMode="auto">
              <a:xfrm>
                <a:off x="7580157" y="3208288"/>
                <a:ext cx="243184" cy="238462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90" name="Freeform 9"/>
              <p:cNvSpPr>
                <a:spLocks/>
              </p:cNvSpPr>
              <p:nvPr/>
            </p:nvSpPr>
            <p:spPr bwMode="auto">
              <a:xfrm flipV="1">
                <a:off x="6043350" y="3211282"/>
                <a:ext cx="243184" cy="235468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91" name="Freeform 10"/>
              <p:cNvSpPr>
                <a:spLocks/>
              </p:cNvSpPr>
              <p:nvPr/>
            </p:nvSpPr>
            <p:spPr bwMode="auto">
              <a:xfrm flipV="1">
                <a:off x="6286534" y="3211282"/>
                <a:ext cx="243184" cy="235468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92" name="Freeform 11"/>
              <p:cNvSpPr>
                <a:spLocks/>
              </p:cNvSpPr>
              <p:nvPr/>
            </p:nvSpPr>
            <p:spPr bwMode="auto">
              <a:xfrm flipV="1">
                <a:off x="6529719" y="3211282"/>
                <a:ext cx="243184" cy="235468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96" name="TextBox 95"/>
              <p:cNvSpPr txBox="1"/>
              <p:nvPr/>
            </p:nvSpPr>
            <p:spPr>
              <a:xfrm>
                <a:off x="6794953" y="3166636"/>
                <a:ext cx="142218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600" b="1" dirty="0">
                    <a:solidFill>
                      <a:srgbClr val="C00000"/>
                    </a:solidFill>
                    <a:latin typeface="Arial Black" panose="020B0A04020102020204" pitchFamily="34" charset="0"/>
                  </a:rPr>
                  <a:t>+             = </a:t>
                </a:r>
              </a:p>
            </p:txBody>
          </p:sp>
          <p:cxnSp>
            <p:nvCxnSpPr>
              <p:cNvPr id="98" name="Straight Connector 97"/>
              <p:cNvCxnSpPr/>
              <p:nvPr/>
            </p:nvCxnSpPr>
            <p:spPr>
              <a:xfrm flipV="1">
                <a:off x="8136240" y="3315490"/>
                <a:ext cx="566169" cy="8394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7" name="Group 126"/>
          <p:cNvGrpSpPr/>
          <p:nvPr/>
        </p:nvGrpSpPr>
        <p:grpSpPr>
          <a:xfrm>
            <a:off x="912250" y="4684279"/>
            <a:ext cx="2963148" cy="549473"/>
            <a:chOff x="2157658" y="3211493"/>
            <a:chExt cx="2963148" cy="549473"/>
          </a:xfrm>
        </p:grpSpPr>
        <p:sp>
          <p:nvSpPr>
            <p:cNvPr id="105" name="Rounded Rectangular Callout 104"/>
            <p:cNvSpPr/>
            <p:nvPr/>
          </p:nvSpPr>
          <p:spPr>
            <a:xfrm>
              <a:off x="2157658" y="3211493"/>
              <a:ext cx="2963148" cy="549473"/>
            </a:xfrm>
            <a:prstGeom prst="wedgeRoundRectCallout">
              <a:avLst>
                <a:gd name="adj1" fmla="val 55506"/>
                <a:gd name="adj2" fmla="val -188080"/>
                <a:gd name="adj3" fmla="val 16667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2975095" y="3310290"/>
              <a:ext cx="14221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b="1" dirty="0">
                  <a:solidFill>
                    <a:srgbClr val="C00000"/>
                  </a:solidFill>
                  <a:latin typeface="Arial Black" panose="020B0A04020102020204" pitchFamily="34" charset="0"/>
                </a:rPr>
                <a:t>+             = </a:t>
              </a:r>
            </a:p>
          </p:txBody>
        </p:sp>
        <p:grpSp>
          <p:nvGrpSpPr>
            <p:cNvPr id="115" name="Group 8"/>
            <p:cNvGrpSpPr>
              <a:grpSpLocks/>
            </p:cNvGrpSpPr>
            <p:nvPr/>
          </p:nvGrpSpPr>
          <p:grpSpPr bwMode="auto">
            <a:xfrm>
              <a:off x="2282094" y="3335611"/>
              <a:ext cx="729553" cy="238462"/>
              <a:chOff x="1226" y="1384"/>
              <a:chExt cx="576" cy="432"/>
            </a:xfrm>
          </p:grpSpPr>
          <p:sp>
            <p:nvSpPr>
              <p:cNvPr id="116" name="Freeform 9"/>
              <p:cNvSpPr>
                <a:spLocks/>
              </p:cNvSpPr>
              <p:nvPr/>
            </p:nvSpPr>
            <p:spPr bwMode="auto">
              <a:xfrm>
                <a:off x="1226" y="1384"/>
                <a:ext cx="192" cy="432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17" name="Freeform 10"/>
              <p:cNvSpPr>
                <a:spLocks/>
              </p:cNvSpPr>
              <p:nvPr/>
            </p:nvSpPr>
            <p:spPr bwMode="auto">
              <a:xfrm>
                <a:off x="1418" y="1384"/>
                <a:ext cx="192" cy="432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18" name="Freeform 11"/>
              <p:cNvSpPr>
                <a:spLocks/>
              </p:cNvSpPr>
              <p:nvPr/>
            </p:nvSpPr>
            <p:spPr bwMode="auto">
              <a:xfrm>
                <a:off x="1610" y="1384"/>
                <a:ext cx="192" cy="432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  <p:grpSp>
          <p:nvGrpSpPr>
            <p:cNvPr id="119" name="Group 8"/>
            <p:cNvGrpSpPr>
              <a:grpSpLocks/>
            </p:cNvGrpSpPr>
            <p:nvPr/>
          </p:nvGrpSpPr>
          <p:grpSpPr bwMode="auto">
            <a:xfrm>
              <a:off x="3260299" y="3319776"/>
              <a:ext cx="729553" cy="238462"/>
              <a:chOff x="1226" y="1384"/>
              <a:chExt cx="576" cy="432"/>
            </a:xfrm>
          </p:grpSpPr>
          <p:sp>
            <p:nvSpPr>
              <p:cNvPr id="120" name="Freeform 9"/>
              <p:cNvSpPr>
                <a:spLocks/>
              </p:cNvSpPr>
              <p:nvPr/>
            </p:nvSpPr>
            <p:spPr bwMode="auto">
              <a:xfrm>
                <a:off x="1226" y="1384"/>
                <a:ext cx="192" cy="432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21" name="Freeform 10"/>
              <p:cNvSpPr>
                <a:spLocks/>
              </p:cNvSpPr>
              <p:nvPr/>
            </p:nvSpPr>
            <p:spPr bwMode="auto">
              <a:xfrm>
                <a:off x="1418" y="1384"/>
                <a:ext cx="192" cy="432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22" name="Freeform 11"/>
              <p:cNvSpPr>
                <a:spLocks/>
              </p:cNvSpPr>
              <p:nvPr/>
            </p:nvSpPr>
            <p:spPr bwMode="auto">
              <a:xfrm>
                <a:off x="1610" y="1384"/>
                <a:ext cx="192" cy="432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  <p:grpSp>
          <p:nvGrpSpPr>
            <p:cNvPr id="123" name="Group 8"/>
            <p:cNvGrpSpPr>
              <a:grpSpLocks/>
            </p:cNvGrpSpPr>
            <p:nvPr/>
          </p:nvGrpSpPr>
          <p:grpSpPr bwMode="auto">
            <a:xfrm>
              <a:off x="4285580" y="3254534"/>
              <a:ext cx="729553" cy="474627"/>
              <a:chOff x="1226" y="1384"/>
              <a:chExt cx="576" cy="432"/>
            </a:xfrm>
          </p:grpSpPr>
          <p:sp>
            <p:nvSpPr>
              <p:cNvPr id="124" name="Freeform 9"/>
              <p:cNvSpPr>
                <a:spLocks/>
              </p:cNvSpPr>
              <p:nvPr/>
            </p:nvSpPr>
            <p:spPr bwMode="auto">
              <a:xfrm>
                <a:off x="1226" y="1384"/>
                <a:ext cx="192" cy="432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25" name="Freeform 10"/>
              <p:cNvSpPr>
                <a:spLocks/>
              </p:cNvSpPr>
              <p:nvPr/>
            </p:nvSpPr>
            <p:spPr bwMode="auto">
              <a:xfrm>
                <a:off x="1418" y="1384"/>
                <a:ext cx="192" cy="432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  <p:sp>
            <p:nvSpPr>
              <p:cNvPr id="126" name="Freeform 11"/>
              <p:cNvSpPr>
                <a:spLocks/>
              </p:cNvSpPr>
              <p:nvPr/>
            </p:nvSpPr>
            <p:spPr bwMode="auto">
              <a:xfrm>
                <a:off x="1610" y="1384"/>
                <a:ext cx="192" cy="432"/>
              </a:xfrm>
              <a:custGeom>
                <a:avLst/>
                <a:gdLst>
                  <a:gd name="T0" fmla="*/ 0 w 1536"/>
                  <a:gd name="T1" fmla="*/ 0 h 1152"/>
                  <a:gd name="T2" fmla="*/ 0 w 1536"/>
                  <a:gd name="T3" fmla="*/ 0 h 1152"/>
                  <a:gd name="T4" fmla="*/ 0 w 1536"/>
                  <a:gd name="T5" fmla="*/ 0 h 1152"/>
                  <a:gd name="T6" fmla="*/ 0 w 1536"/>
                  <a:gd name="T7" fmla="*/ 0 h 1152"/>
                  <a:gd name="T8" fmla="*/ 0 w 15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6"/>
                  <a:gd name="T16" fmla="*/ 0 h 1152"/>
                  <a:gd name="T17" fmla="*/ 1536 w 1536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6" h="1152">
                    <a:moveTo>
                      <a:pt x="0" y="576"/>
                    </a:moveTo>
                    <a:cubicBezTo>
                      <a:pt x="128" y="288"/>
                      <a:pt x="256" y="0"/>
                      <a:pt x="384" y="0"/>
                    </a:cubicBezTo>
                    <a:cubicBezTo>
                      <a:pt x="512" y="0"/>
                      <a:pt x="640" y="384"/>
                      <a:pt x="768" y="576"/>
                    </a:cubicBezTo>
                    <a:cubicBezTo>
                      <a:pt x="896" y="768"/>
                      <a:pt x="1024" y="1152"/>
                      <a:pt x="1152" y="1152"/>
                    </a:cubicBezTo>
                    <a:cubicBezTo>
                      <a:pt x="1280" y="1152"/>
                      <a:pt x="1408" y="864"/>
                      <a:pt x="1536" y="5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 sz="1600"/>
              </a:p>
            </p:txBody>
          </p:sp>
        </p:grpSp>
      </p:grpSp>
      <p:grpSp>
        <p:nvGrpSpPr>
          <p:cNvPr id="128" name="Group 8"/>
          <p:cNvGrpSpPr>
            <a:grpSpLocks/>
          </p:cNvGrpSpPr>
          <p:nvPr/>
        </p:nvGrpSpPr>
        <p:grpSpPr bwMode="auto">
          <a:xfrm rot="20593582">
            <a:off x="6634914" y="2069205"/>
            <a:ext cx="729553" cy="238462"/>
            <a:chOff x="1226" y="1384"/>
            <a:chExt cx="576" cy="432"/>
          </a:xfrm>
        </p:grpSpPr>
        <p:sp>
          <p:nvSpPr>
            <p:cNvPr id="129" name="Freeform 9"/>
            <p:cNvSpPr>
              <a:spLocks/>
            </p:cNvSpPr>
            <p:nvPr/>
          </p:nvSpPr>
          <p:spPr bwMode="auto">
            <a:xfrm>
              <a:off x="1226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0" name="Freeform 10"/>
            <p:cNvSpPr>
              <a:spLocks/>
            </p:cNvSpPr>
            <p:nvPr/>
          </p:nvSpPr>
          <p:spPr bwMode="auto">
            <a:xfrm>
              <a:off x="1418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1" name="Freeform 11"/>
            <p:cNvSpPr>
              <a:spLocks/>
            </p:cNvSpPr>
            <p:nvPr/>
          </p:nvSpPr>
          <p:spPr bwMode="auto">
            <a:xfrm>
              <a:off x="1610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grpSp>
        <p:nvGrpSpPr>
          <p:cNvPr id="137" name="Group 8"/>
          <p:cNvGrpSpPr>
            <a:grpSpLocks/>
          </p:cNvGrpSpPr>
          <p:nvPr/>
        </p:nvGrpSpPr>
        <p:grpSpPr bwMode="auto">
          <a:xfrm rot="19926146">
            <a:off x="7260475" y="2357943"/>
            <a:ext cx="729553" cy="238462"/>
            <a:chOff x="1226" y="1384"/>
            <a:chExt cx="576" cy="432"/>
          </a:xfrm>
        </p:grpSpPr>
        <p:sp>
          <p:nvSpPr>
            <p:cNvPr id="138" name="Freeform 9"/>
            <p:cNvSpPr>
              <a:spLocks/>
            </p:cNvSpPr>
            <p:nvPr/>
          </p:nvSpPr>
          <p:spPr bwMode="auto">
            <a:xfrm>
              <a:off x="1226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39" name="Freeform 10"/>
            <p:cNvSpPr>
              <a:spLocks/>
            </p:cNvSpPr>
            <p:nvPr/>
          </p:nvSpPr>
          <p:spPr bwMode="auto">
            <a:xfrm>
              <a:off x="1418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140" name="Freeform 11"/>
            <p:cNvSpPr>
              <a:spLocks/>
            </p:cNvSpPr>
            <p:nvPr/>
          </p:nvSpPr>
          <p:spPr bwMode="auto">
            <a:xfrm>
              <a:off x="1610" y="1384"/>
              <a:ext cx="192" cy="432"/>
            </a:xfrm>
            <a:custGeom>
              <a:avLst/>
              <a:gdLst>
                <a:gd name="T0" fmla="*/ 0 w 1536"/>
                <a:gd name="T1" fmla="*/ 0 h 1152"/>
                <a:gd name="T2" fmla="*/ 0 w 1536"/>
                <a:gd name="T3" fmla="*/ 0 h 1152"/>
                <a:gd name="T4" fmla="*/ 0 w 1536"/>
                <a:gd name="T5" fmla="*/ 0 h 1152"/>
                <a:gd name="T6" fmla="*/ 0 w 1536"/>
                <a:gd name="T7" fmla="*/ 0 h 1152"/>
                <a:gd name="T8" fmla="*/ 0 w 15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6"/>
                <a:gd name="T16" fmla="*/ 0 h 1152"/>
                <a:gd name="T17" fmla="*/ 1536 w 153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6" h="1152">
                  <a:moveTo>
                    <a:pt x="0" y="576"/>
                  </a:moveTo>
                  <a:cubicBezTo>
                    <a:pt x="128" y="288"/>
                    <a:pt x="256" y="0"/>
                    <a:pt x="384" y="0"/>
                  </a:cubicBezTo>
                  <a:cubicBezTo>
                    <a:pt x="512" y="0"/>
                    <a:pt x="640" y="384"/>
                    <a:pt x="768" y="576"/>
                  </a:cubicBezTo>
                  <a:cubicBezTo>
                    <a:pt x="896" y="768"/>
                    <a:pt x="1024" y="1152"/>
                    <a:pt x="1152" y="1152"/>
                  </a:cubicBezTo>
                  <a:cubicBezTo>
                    <a:pt x="1280" y="1152"/>
                    <a:pt x="1408" y="864"/>
                    <a:pt x="1536" y="576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 sz="1600"/>
            </a:p>
          </p:txBody>
        </p:sp>
      </p:grpSp>
      <p:sp>
        <p:nvSpPr>
          <p:cNvPr id="141" name="Right Brace 140"/>
          <p:cNvSpPr/>
          <p:nvPr/>
        </p:nvSpPr>
        <p:spPr>
          <a:xfrm rot="18145091" flipH="1">
            <a:off x="4741453" y="3043711"/>
            <a:ext cx="171348" cy="568582"/>
          </a:xfrm>
          <a:prstGeom prst="rightBrace">
            <a:avLst>
              <a:gd name="adj1" fmla="val 33596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TextBox 148"/>
          <p:cNvSpPr txBox="1"/>
          <p:nvPr/>
        </p:nvSpPr>
        <p:spPr>
          <a:xfrm>
            <a:off x="3750523" y="5476534"/>
            <a:ext cx="26368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Path difference – results in phase difference</a:t>
            </a:r>
          </a:p>
        </p:txBody>
      </p:sp>
      <p:cxnSp>
        <p:nvCxnSpPr>
          <p:cNvPr id="151" name="Straight Arrow Connector 150"/>
          <p:cNvCxnSpPr/>
          <p:nvPr/>
        </p:nvCxnSpPr>
        <p:spPr>
          <a:xfrm flipH="1" flipV="1">
            <a:off x="4767080" y="3461861"/>
            <a:ext cx="635906" cy="2072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369215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615706" y="4199480"/>
            <a:ext cx="6694095" cy="2047105"/>
            <a:chOff x="2216013" y="4497984"/>
            <a:chExt cx="6694095" cy="2047105"/>
          </a:xfrm>
        </p:grpSpPr>
        <p:cxnSp>
          <p:nvCxnSpPr>
            <p:cNvPr id="3" name="Straight Connector 2"/>
            <p:cNvCxnSpPr/>
            <p:nvPr/>
          </p:nvCxnSpPr>
          <p:spPr>
            <a:xfrm>
              <a:off x="3302941" y="4920679"/>
              <a:ext cx="0" cy="845389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/>
            <p:cNvSpPr txBox="1"/>
            <p:nvPr/>
          </p:nvSpPr>
          <p:spPr>
            <a:xfrm>
              <a:off x="2216013" y="4592875"/>
              <a:ext cx="1095555" cy="27699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/>
                <a:t>Symbol n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306065" y="4592875"/>
              <a:ext cx="1083803" cy="27699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/>
                <a:t>Symbol n+1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398496" y="4592875"/>
              <a:ext cx="1095555" cy="27699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/>
                <a:t>Symbol n+2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488548" y="4592875"/>
              <a:ext cx="1083803" cy="27699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/>
                <a:t>Symbol n+3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580978" y="4584250"/>
              <a:ext cx="1095555" cy="27699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/>
                <a:t>Symbol n+4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671030" y="4584250"/>
              <a:ext cx="1083803" cy="27699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/>
                <a:t>Symbol n+5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371288" y="5032822"/>
              <a:ext cx="1095555" cy="276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/>
                <a:t>Symbol n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461340" y="5032822"/>
              <a:ext cx="1083803" cy="276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/>
                <a:t>Symbol n+1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553771" y="5032822"/>
              <a:ext cx="1095555" cy="276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/>
                <a:t>Symbol n+2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643823" y="5032822"/>
              <a:ext cx="1083803" cy="276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/>
                <a:t>Symbol n+3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736253" y="5024197"/>
              <a:ext cx="1095555" cy="276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/>
                <a:t>Symbol n+4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826305" y="5024197"/>
              <a:ext cx="1083803" cy="276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/>
                <a:t>Symbol n+5</a:t>
              </a:r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2224639" y="4946558"/>
              <a:ext cx="0" cy="845389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>
              <a:off x="2379915" y="5343373"/>
              <a:ext cx="1" cy="431321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2224639" y="5809199"/>
              <a:ext cx="146649" cy="24154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371288" y="5809200"/>
              <a:ext cx="948906" cy="23291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>
            <a:xfrm flipH="1">
              <a:off x="3466843" y="5352000"/>
              <a:ext cx="1" cy="431321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/>
            <p:cNvSpPr/>
            <p:nvPr/>
          </p:nvSpPr>
          <p:spPr>
            <a:xfrm>
              <a:off x="3320194" y="5800573"/>
              <a:ext cx="146649" cy="24154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466843" y="5800574"/>
              <a:ext cx="948906" cy="23291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407122" y="5791946"/>
              <a:ext cx="146649" cy="24154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553771" y="5791947"/>
              <a:ext cx="948906" cy="23291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502677" y="5783320"/>
              <a:ext cx="146649" cy="24154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649326" y="5783321"/>
              <a:ext cx="948906" cy="23291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598232" y="5783320"/>
              <a:ext cx="146649" cy="24154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744881" y="5783321"/>
              <a:ext cx="948906" cy="23291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7693787" y="5774694"/>
              <a:ext cx="146649" cy="24154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840436" y="5774695"/>
              <a:ext cx="948906" cy="23291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n-GB" sz="1600" dirty="0">
                <a:latin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294979" y="4497984"/>
              <a:ext cx="654346" cy="276999"/>
            </a:xfrm>
            <a:prstGeom prst="rect">
              <a:avLst/>
            </a:prstGeom>
            <a:solidFill>
              <a:schemeClr val="bg1">
                <a:lumMod val="85000"/>
                <a:alpha val="94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Path 1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416413" y="4903425"/>
              <a:ext cx="654346" cy="276999"/>
            </a:xfrm>
            <a:prstGeom prst="rect">
              <a:avLst/>
            </a:prstGeom>
            <a:solidFill>
              <a:schemeClr val="bg1">
                <a:lumMod val="85000"/>
                <a:alpha val="94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Path 2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097900" y="5645297"/>
              <a:ext cx="873957" cy="276999"/>
            </a:xfrm>
            <a:prstGeom prst="rect">
              <a:avLst/>
            </a:prstGeom>
            <a:solidFill>
              <a:schemeClr val="bg1">
                <a:lumMod val="85000"/>
                <a:alpha val="94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Path 1+2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768767" y="5446890"/>
              <a:ext cx="135806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echo delay time</a:t>
              </a:r>
            </a:p>
          </p:txBody>
        </p:sp>
        <p:cxnSp>
          <p:nvCxnSpPr>
            <p:cNvPr id="35" name="Straight Arrow Connector 34"/>
            <p:cNvCxnSpPr>
              <a:stCxn id="34" idx="1"/>
            </p:cNvCxnSpPr>
            <p:nvPr/>
          </p:nvCxnSpPr>
          <p:spPr>
            <a:xfrm flipH="1" flipV="1">
              <a:off x="3440964" y="5584913"/>
              <a:ext cx="327803" cy="47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 flipV="1">
              <a:off x="2949258" y="5593540"/>
              <a:ext cx="327803" cy="47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5164735" y="6268090"/>
              <a:ext cx="201208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 err="1"/>
                <a:t>intersymbol</a:t>
              </a:r>
              <a:r>
                <a:rPr lang="en-GB" sz="1200" dirty="0"/>
                <a:t> interference</a:t>
              </a:r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 flipH="1" flipV="1">
              <a:off x="4540832" y="6053882"/>
              <a:ext cx="623903" cy="21420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9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46" y="2109064"/>
            <a:ext cx="2896759" cy="1970290"/>
          </a:xfrm>
          <a:prstGeom prst="rect">
            <a:avLst/>
          </a:prstGeom>
        </p:spPr>
      </p:pic>
      <p:pic>
        <p:nvPicPr>
          <p:cNvPr id="40" name="Picture 9" descr="http://www.skydsp.com/publications/4thyrthesis/multipath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96595" y="937061"/>
            <a:ext cx="5641359" cy="2545206"/>
          </a:xfrm>
          <a:prstGeom prst="rect">
            <a:avLst/>
          </a:prstGeom>
          <a:noFill/>
        </p:spPr>
      </p:pic>
      <p:sp>
        <p:nvSpPr>
          <p:cNvPr id="41" name="TextBox 40"/>
          <p:cNvSpPr txBox="1"/>
          <p:nvPr/>
        </p:nvSpPr>
        <p:spPr>
          <a:xfrm>
            <a:off x="362817" y="315843"/>
            <a:ext cx="7023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Inter-Symbol Interference for Modulated Data</a:t>
            </a:r>
          </a:p>
        </p:txBody>
      </p:sp>
    </p:spTree>
    <p:extLst>
      <p:ext uri="{BB962C8B-B14F-4D97-AF65-F5344CB8AC3E}">
        <p14:creationId xmlns:p14="http://schemas.microsoft.com/office/powerpoint/2010/main" val="203382206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68.media.tumblr.com/3a08f3947b016dbac889a97c1eae06c7/tumblr_noe42t9Xdv1uvcudho1_128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780035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395288" y="2478977"/>
            <a:ext cx="7850215" cy="19389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6000" b="1"/>
              <a:t>Advanced: QAM (later in the Course)</a:t>
            </a:r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66868415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4"/>
          <p:cNvSpPr txBox="1">
            <a:spLocks noChangeArrowheads="1"/>
          </p:cNvSpPr>
          <p:nvPr/>
        </p:nvSpPr>
        <p:spPr bwMode="auto">
          <a:xfrm>
            <a:off x="542925" y="2638425"/>
            <a:ext cx="34194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1600" dirty="0"/>
              <a:t>0°…… 90°……180°..…270°…360°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61988" y="1387475"/>
            <a:ext cx="6197600" cy="1085850"/>
            <a:chOff x="417" y="874"/>
            <a:chExt cx="3904" cy="684"/>
          </a:xfrm>
        </p:grpSpPr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417" y="874"/>
              <a:ext cx="1955" cy="672"/>
              <a:chOff x="417" y="874"/>
              <a:chExt cx="1968" cy="672"/>
            </a:xfrm>
          </p:grpSpPr>
          <p:sp>
            <p:nvSpPr>
              <p:cNvPr id="26641" name="Freeform 7"/>
              <p:cNvSpPr>
                <a:spLocks/>
              </p:cNvSpPr>
              <p:nvPr/>
            </p:nvSpPr>
            <p:spPr bwMode="auto">
              <a:xfrm>
                <a:off x="417" y="874"/>
                <a:ext cx="1968" cy="672"/>
              </a:xfrm>
              <a:custGeom>
                <a:avLst/>
                <a:gdLst>
                  <a:gd name="T0" fmla="*/ 0 w 1920"/>
                  <a:gd name="T1" fmla="*/ 0 h 1536"/>
                  <a:gd name="T2" fmla="*/ 696 w 1920"/>
                  <a:gd name="T3" fmla="*/ 0 h 1536"/>
                  <a:gd name="T4" fmla="*/ 1392 w 1920"/>
                  <a:gd name="T5" fmla="*/ 0 h 1536"/>
                  <a:gd name="T6" fmla="*/ 2087 w 1920"/>
                  <a:gd name="T7" fmla="*/ 0 h 1536"/>
                  <a:gd name="T8" fmla="*/ 2780 w 1920"/>
                  <a:gd name="T9" fmla="*/ 0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rgbClr val="00B05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642" name="Rectangle 8"/>
              <p:cNvSpPr>
                <a:spLocks noChangeArrowheads="1"/>
              </p:cNvSpPr>
              <p:nvPr/>
            </p:nvSpPr>
            <p:spPr bwMode="auto">
              <a:xfrm>
                <a:off x="417" y="874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43" name="Rectangle 9"/>
              <p:cNvSpPr>
                <a:spLocks noChangeArrowheads="1"/>
              </p:cNvSpPr>
              <p:nvPr/>
            </p:nvSpPr>
            <p:spPr bwMode="auto">
              <a:xfrm>
                <a:off x="417" y="1210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44" name="Rectangle 10"/>
              <p:cNvSpPr>
                <a:spLocks noChangeArrowheads="1"/>
              </p:cNvSpPr>
              <p:nvPr/>
            </p:nvSpPr>
            <p:spPr bwMode="auto">
              <a:xfrm>
                <a:off x="909" y="874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45" name="Rectangle 11"/>
              <p:cNvSpPr>
                <a:spLocks noChangeArrowheads="1"/>
              </p:cNvSpPr>
              <p:nvPr/>
            </p:nvSpPr>
            <p:spPr bwMode="auto">
              <a:xfrm>
                <a:off x="909" y="1210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46" name="Rectangle 12"/>
              <p:cNvSpPr>
                <a:spLocks noChangeArrowheads="1"/>
              </p:cNvSpPr>
              <p:nvPr/>
            </p:nvSpPr>
            <p:spPr bwMode="auto">
              <a:xfrm>
                <a:off x="1401" y="874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47" name="Rectangle 13"/>
              <p:cNvSpPr>
                <a:spLocks noChangeArrowheads="1"/>
              </p:cNvSpPr>
              <p:nvPr/>
            </p:nvSpPr>
            <p:spPr bwMode="auto">
              <a:xfrm>
                <a:off x="1401" y="1210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48" name="Rectangle 14"/>
              <p:cNvSpPr>
                <a:spLocks noChangeArrowheads="1"/>
              </p:cNvSpPr>
              <p:nvPr/>
            </p:nvSpPr>
            <p:spPr bwMode="auto">
              <a:xfrm>
                <a:off x="1893" y="874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49" name="Rectangle 15"/>
              <p:cNvSpPr>
                <a:spLocks noChangeArrowheads="1"/>
              </p:cNvSpPr>
              <p:nvPr/>
            </p:nvSpPr>
            <p:spPr bwMode="auto">
              <a:xfrm>
                <a:off x="1893" y="1210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16"/>
            <p:cNvGrpSpPr>
              <a:grpSpLocks/>
            </p:cNvGrpSpPr>
            <p:nvPr/>
          </p:nvGrpSpPr>
          <p:grpSpPr bwMode="auto">
            <a:xfrm>
              <a:off x="2366" y="886"/>
              <a:ext cx="1955" cy="672"/>
              <a:chOff x="417" y="874"/>
              <a:chExt cx="1968" cy="672"/>
            </a:xfrm>
          </p:grpSpPr>
          <p:sp>
            <p:nvSpPr>
              <p:cNvPr id="26632" name="Freeform 17"/>
              <p:cNvSpPr>
                <a:spLocks/>
              </p:cNvSpPr>
              <p:nvPr/>
            </p:nvSpPr>
            <p:spPr bwMode="auto">
              <a:xfrm>
                <a:off x="417" y="874"/>
                <a:ext cx="1968" cy="672"/>
              </a:xfrm>
              <a:custGeom>
                <a:avLst/>
                <a:gdLst>
                  <a:gd name="T0" fmla="*/ 0 w 1920"/>
                  <a:gd name="T1" fmla="*/ 0 h 1536"/>
                  <a:gd name="T2" fmla="*/ 696 w 1920"/>
                  <a:gd name="T3" fmla="*/ 0 h 1536"/>
                  <a:gd name="T4" fmla="*/ 1392 w 1920"/>
                  <a:gd name="T5" fmla="*/ 0 h 1536"/>
                  <a:gd name="T6" fmla="*/ 2087 w 1920"/>
                  <a:gd name="T7" fmla="*/ 0 h 1536"/>
                  <a:gd name="T8" fmla="*/ 2780 w 1920"/>
                  <a:gd name="T9" fmla="*/ 0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rgbClr val="00B05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6633" name="Rectangle 18"/>
              <p:cNvSpPr>
                <a:spLocks noChangeArrowheads="1"/>
              </p:cNvSpPr>
              <p:nvPr/>
            </p:nvSpPr>
            <p:spPr bwMode="auto">
              <a:xfrm>
                <a:off x="417" y="874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34" name="Rectangle 19"/>
              <p:cNvSpPr>
                <a:spLocks noChangeArrowheads="1"/>
              </p:cNvSpPr>
              <p:nvPr/>
            </p:nvSpPr>
            <p:spPr bwMode="auto">
              <a:xfrm>
                <a:off x="417" y="1210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35" name="Rectangle 20"/>
              <p:cNvSpPr>
                <a:spLocks noChangeArrowheads="1"/>
              </p:cNvSpPr>
              <p:nvPr/>
            </p:nvSpPr>
            <p:spPr bwMode="auto">
              <a:xfrm>
                <a:off x="909" y="874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36" name="Rectangle 21"/>
              <p:cNvSpPr>
                <a:spLocks noChangeArrowheads="1"/>
              </p:cNvSpPr>
              <p:nvPr/>
            </p:nvSpPr>
            <p:spPr bwMode="auto">
              <a:xfrm>
                <a:off x="909" y="1210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37" name="Rectangle 22"/>
              <p:cNvSpPr>
                <a:spLocks noChangeArrowheads="1"/>
              </p:cNvSpPr>
              <p:nvPr/>
            </p:nvSpPr>
            <p:spPr bwMode="auto">
              <a:xfrm>
                <a:off x="1401" y="874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38" name="Rectangle 23"/>
              <p:cNvSpPr>
                <a:spLocks noChangeArrowheads="1"/>
              </p:cNvSpPr>
              <p:nvPr/>
            </p:nvSpPr>
            <p:spPr bwMode="auto">
              <a:xfrm>
                <a:off x="1401" y="1210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39" name="Rectangle 24"/>
              <p:cNvSpPr>
                <a:spLocks noChangeArrowheads="1"/>
              </p:cNvSpPr>
              <p:nvPr/>
            </p:nvSpPr>
            <p:spPr bwMode="auto">
              <a:xfrm>
                <a:off x="1893" y="874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40" name="Rectangle 25"/>
              <p:cNvSpPr>
                <a:spLocks noChangeArrowheads="1"/>
              </p:cNvSpPr>
              <p:nvPr/>
            </p:nvSpPr>
            <p:spPr bwMode="auto">
              <a:xfrm>
                <a:off x="1893" y="1210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26628" name="Text Box 26"/>
          <p:cNvSpPr txBox="1">
            <a:spLocks noChangeArrowheads="1"/>
          </p:cNvSpPr>
          <p:nvPr/>
        </p:nvSpPr>
        <p:spPr bwMode="auto">
          <a:xfrm>
            <a:off x="430213" y="366713"/>
            <a:ext cx="70548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400" b="1"/>
              <a:t>The Carrier for Digital – Still a Sinusoidal Wave</a:t>
            </a:r>
          </a:p>
        </p:txBody>
      </p:sp>
      <p:sp>
        <p:nvSpPr>
          <p:cNvPr id="26629" name="Text Box 27"/>
          <p:cNvSpPr txBox="1">
            <a:spLocks noChangeArrowheads="1"/>
          </p:cNvSpPr>
          <p:nvPr/>
        </p:nvSpPr>
        <p:spPr bwMode="auto">
          <a:xfrm>
            <a:off x="430213" y="3494088"/>
            <a:ext cx="6647974" cy="13234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tabLst>
                <a:tab pos="446088" algn="l"/>
              </a:tabLst>
            </a:pPr>
            <a:r>
              <a:rPr lang="en-GB" sz="1600" dirty="0"/>
              <a:t>Carrier wave</a:t>
            </a:r>
          </a:p>
          <a:p>
            <a:pPr>
              <a:tabLst>
                <a:tab pos="446088" algn="l"/>
              </a:tabLst>
            </a:pPr>
            <a:r>
              <a:rPr lang="en-GB" sz="1600" dirty="0"/>
              <a:t>e.g. for Digital </a:t>
            </a:r>
            <a:r>
              <a:rPr lang="en-GB" sz="1600" dirty="0" err="1"/>
              <a:t>Terriestrial</a:t>
            </a:r>
            <a:r>
              <a:rPr lang="en-GB" sz="1600" dirty="0"/>
              <a:t> TV = 475 – 850 MHz</a:t>
            </a:r>
          </a:p>
          <a:p>
            <a:pPr>
              <a:tabLst>
                <a:tab pos="446088" algn="l"/>
              </a:tabLst>
            </a:pPr>
            <a:r>
              <a:rPr lang="en-GB" sz="1600" dirty="0"/>
              <a:t>…  	for Bluetooth = 2.4GHz</a:t>
            </a:r>
          </a:p>
          <a:p>
            <a:pPr>
              <a:tabLst>
                <a:tab pos="446088" algn="l"/>
              </a:tabLst>
            </a:pPr>
            <a:r>
              <a:rPr lang="en-GB" sz="1600" dirty="0"/>
              <a:t>…	for </a:t>
            </a:r>
            <a:r>
              <a:rPr lang="en-GB" sz="1600" dirty="0" err="1"/>
              <a:t>Wifi</a:t>
            </a:r>
            <a:r>
              <a:rPr lang="en-GB" sz="1600" dirty="0"/>
              <a:t> = 2.4GHz and 5GHz</a:t>
            </a:r>
          </a:p>
          <a:p>
            <a:pPr>
              <a:tabLst>
                <a:tab pos="446088" algn="l"/>
              </a:tabLst>
            </a:pPr>
            <a:r>
              <a:rPr lang="en-GB" sz="1600" dirty="0"/>
              <a:t>…	for DSL broadband – many frequencies (OFDM)		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4176202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reeform 2"/>
          <p:cNvSpPr>
            <a:spLocks/>
          </p:cNvSpPr>
          <p:nvPr/>
        </p:nvSpPr>
        <p:spPr bwMode="auto">
          <a:xfrm>
            <a:off x="674688" y="3797300"/>
            <a:ext cx="3124200" cy="1066800"/>
          </a:xfrm>
          <a:custGeom>
            <a:avLst/>
            <a:gdLst>
              <a:gd name="T0" fmla="*/ 0 w 1920"/>
              <a:gd name="T1" fmla="*/ 2147483647 h 1536"/>
              <a:gd name="T2" fmla="*/ 2147483647 w 1920"/>
              <a:gd name="T3" fmla="*/ 0 h 1536"/>
              <a:gd name="T4" fmla="*/ 2147483647 w 1920"/>
              <a:gd name="T5" fmla="*/ 2147483647 h 1536"/>
              <a:gd name="T6" fmla="*/ 2147483647 w 1920"/>
              <a:gd name="T7" fmla="*/ 2147483647 h 1536"/>
              <a:gd name="T8" fmla="*/ 2147483647 w 1920"/>
              <a:gd name="T9" fmla="*/ 2147483647 h 1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0"/>
              <a:gd name="T16" fmla="*/ 0 h 1536"/>
              <a:gd name="T17" fmla="*/ 1920 w 1920"/>
              <a:gd name="T18" fmla="*/ 1536 h 1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0" h="1536">
                <a:moveTo>
                  <a:pt x="0" y="768"/>
                </a:moveTo>
                <a:cubicBezTo>
                  <a:pt x="160" y="384"/>
                  <a:pt x="320" y="0"/>
                  <a:pt x="480" y="0"/>
                </a:cubicBezTo>
                <a:cubicBezTo>
                  <a:pt x="640" y="0"/>
                  <a:pt x="800" y="512"/>
                  <a:pt x="960" y="768"/>
                </a:cubicBezTo>
                <a:cubicBezTo>
                  <a:pt x="1120" y="1024"/>
                  <a:pt x="1280" y="1536"/>
                  <a:pt x="1440" y="1536"/>
                </a:cubicBezTo>
                <a:cubicBezTo>
                  <a:pt x="1600" y="1536"/>
                  <a:pt x="1840" y="896"/>
                  <a:pt x="1920" y="768"/>
                </a:cubicBezTo>
              </a:path>
            </a:pathLst>
          </a:custGeom>
          <a:noFill/>
          <a:ln w="28575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674688" y="3797300"/>
            <a:ext cx="781050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674688" y="4330700"/>
            <a:ext cx="781050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1455738" y="3797300"/>
            <a:ext cx="781050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4" name="Rectangle 6"/>
          <p:cNvSpPr>
            <a:spLocks noChangeArrowheads="1"/>
          </p:cNvSpPr>
          <p:nvPr/>
        </p:nvSpPr>
        <p:spPr bwMode="auto">
          <a:xfrm>
            <a:off x="1455738" y="4330700"/>
            <a:ext cx="781050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5" name="Rectangle 7"/>
          <p:cNvSpPr>
            <a:spLocks noChangeArrowheads="1"/>
          </p:cNvSpPr>
          <p:nvPr/>
        </p:nvSpPr>
        <p:spPr bwMode="auto">
          <a:xfrm>
            <a:off x="2236788" y="3797300"/>
            <a:ext cx="781050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6" name="Rectangle 8"/>
          <p:cNvSpPr>
            <a:spLocks noChangeArrowheads="1"/>
          </p:cNvSpPr>
          <p:nvPr/>
        </p:nvSpPr>
        <p:spPr bwMode="auto">
          <a:xfrm>
            <a:off x="2236788" y="4330700"/>
            <a:ext cx="781050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7" name="Rectangle 9"/>
          <p:cNvSpPr>
            <a:spLocks noChangeArrowheads="1"/>
          </p:cNvSpPr>
          <p:nvPr/>
        </p:nvSpPr>
        <p:spPr bwMode="auto">
          <a:xfrm>
            <a:off x="3017838" y="3797300"/>
            <a:ext cx="781050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8" name="Rectangle 10"/>
          <p:cNvSpPr>
            <a:spLocks noChangeArrowheads="1"/>
          </p:cNvSpPr>
          <p:nvPr/>
        </p:nvSpPr>
        <p:spPr bwMode="auto">
          <a:xfrm>
            <a:off x="3017838" y="4330700"/>
            <a:ext cx="781050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9" name="Rectangle 11"/>
          <p:cNvSpPr>
            <a:spLocks noChangeArrowheads="1"/>
          </p:cNvSpPr>
          <p:nvPr/>
        </p:nvSpPr>
        <p:spPr bwMode="auto">
          <a:xfrm>
            <a:off x="3798888" y="3797300"/>
            <a:ext cx="781050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0" name="Rectangle 12"/>
          <p:cNvSpPr>
            <a:spLocks noChangeArrowheads="1"/>
          </p:cNvSpPr>
          <p:nvPr/>
        </p:nvSpPr>
        <p:spPr bwMode="auto">
          <a:xfrm>
            <a:off x="3798888" y="4330700"/>
            <a:ext cx="781050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1" name="Rectangle 13"/>
          <p:cNvSpPr>
            <a:spLocks noChangeArrowheads="1"/>
          </p:cNvSpPr>
          <p:nvPr/>
        </p:nvSpPr>
        <p:spPr bwMode="auto">
          <a:xfrm>
            <a:off x="4579938" y="3797300"/>
            <a:ext cx="781050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2" name="Rectangle 14"/>
          <p:cNvSpPr>
            <a:spLocks noChangeArrowheads="1"/>
          </p:cNvSpPr>
          <p:nvPr/>
        </p:nvSpPr>
        <p:spPr bwMode="auto">
          <a:xfrm>
            <a:off x="4579938" y="4330700"/>
            <a:ext cx="781050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3" name="Rectangle 15"/>
          <p:cNvSpPr>
            <a:spLocks noChangeArrowheads="1"/>
          </p:cNvSpPr>
          <p:nvPr/>
        </p:nvSpPr>
        <p:spPr bwMode="auto">
          <a:xfrm>
            <a:off x="5360988" y="3797300"/>
            <a:ext cx="781050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4" name="Rectangle 16"/>
          <p:cNvSpPr>
            <a:spLocks noChangeArrowheads="1"/>
          </p:cNvSpPr>
          <p:nvPr/>
        </p:nvSpPr>
        <p:spPr bwMode="auto">
          <a:xfrm>
            <a:off x="5360988" y="4330700"/>
            <a:ext cx="781050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5" name="Rectangle 17"/>
          <p:cNvSpPr>
            <a:spLocks noChangeArrowheads="1"/>
          </p:cNvSpPr>
          <p:nvPr/>
        </p:nvSpPr>
        <p:spPr bwMode="auto">
          <a:xfrm>
            <a:off x="6142038" y="3797300"/>
            <a:ext cx="781050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6" name="Rectangle 18"/>
          <p:cNvSpPr>
            <a:spLocks noChangeArrowheads="1"/>
          </p:cNvSpPr>
          <p:nvPr/>
        </p:nvSpPr>
        <p:spPr bwMode="auto">
          <a:xfrm>
            <a:off x="6142038" y="4330700"/>
            <a:ext cx="781050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67" name="Freeform 19"/>
          <p:cNvSpPr>
            <a:spLocks/>
          </p:cNvSpPr>
          <p:nvPr/>
        </p:nvSpPr>
        <p:spPr bwMode="auto">
          <a:xfrm>
            <a:off x="3786188" y="3810000"/>
            <a:ext cx="2362200" cy="1044575"/>
          </a:xfrm>
          <a:custGeom>
            <a:avLst/>
            <a:gdLst>
              <a:gd name="T0" fmla="*/ 0 w 1488"/>
              <a:gd name="T1" fmla="*/ 0 h 658"/>
              <a:gd name="T2" fmla="*/ 2147483647 w 1488"/>
              <a:gd name="T3" fmla="*/ 2147483647 h 658"/>
              <a:gd name="T4" fmla="*/ 2147483647 w 1488"/>
              <a:gd name="T5" fmla="*/ 2147483647 h 658"/>
              <a:gd name="T6" fmla="*/ 2147483647 w 1488"/>
              <a:gd name="T7" fmla="*/ 2147483647 h 658"/>
              <a:gd name="T8" fmla="*/ 0 60000 65536"/>
              <a:gd name="T9" fmla="*/ 0 60000 65536"/>
              <a:gd name="T10" fmla="*/ 0 60000 65536"/>
              <a:gd name="T11" fmla="*/ 0 60000 65536"/>
              <a:gd name="T12" fmla="*/ 0 w 1488"/>
              <a:gd name="T13" fmla="*/ 0 h 658"/>
              <a:gd name="T14" fmla="*/ 1488 w 1488"/>
              <a:gd name="T15" fmla="*/ 658 h 6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88" h="658">
                <a:moveTo>
                  <a:pt x="0" y="0"/>
                </a:moveTo>
                <a:cubicBezTo>
                  <a:pt x="174" y="117"/>
                  <a:pt x="348" y="234"/>
                  <a:pt x="514" y="343"/>
                </a:cubicBezTo>
                <a:cubicBezTo>
                  <a:pt x="680" y="452"/>
                  <a:pt x="835" y="658"/>
                  <a:pt x="997" y="655"/>
                </a:cubicBezTo>
                <a:cubicBezTo>
                  <a:pt x="1159" y="652"/>
                  <a:pt x="1408" y="382"/>
                  <a:pt x="1488" y="327"/>
                </a:cubicBezTo>
              </a:path>
            </a:pathLst>
          </a:custGeom>
          <a:noFill/>
          <a:ln w="190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7668" name="Line 20"/>
          <p:cNvSpPr>
            <a:spLocks noChangeShapeType="1"/>
          </p:cNvSpPr>
          <p:nvPr/>
        </p:nvSpPr>
        <p:spPr bwMode="auto">
          <a:xfrm flipH="1" flipV="1">
            <a:off x="3797300" y="3797300"/>
            <a:ext cx="0" cy="560388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7669" name="Freeform 21"/>
          <p:cNvSpPr>
            <a:spLocks/>
          </p:cNvSpPr>
          <p:nvPr/>
        </p:nvSpPr>
        <p:spPr bwMode="auto">
          <a:xfrm>
            <a:off x="6135688" y="3773488"/>
            <a:ext cx="1409700" cy="1100137"/>
          </a:xfrm>
          <a:custGeom>
            <a:avLst/>
            <a:gdLst>
              <a:gd name="T0" fmla="*/ 0 w 888"/>
              <a:gd name="T1" fmla="*/ 2147483647 h 693"/>
              <a:gd name="T2" fmla="*/ 2147483647 w 888"/>
              <a:gd name="T3" fmla="*/ 2147483647 h 693"/>
              <a:gd name="T4" fmla="*/ 2147483647 w 888"/>
              <a:gd name="T5" fmla="*/ 0 h 693"/>
              <a:gd name="T6" fmla="*/ 0 60000 65536"/>
              <a:gd name="T7" fmla="*/ 0 60000 65536"/>
              <a:gd name="T8" fmla="*/ 0 60000 65536"/>
              <a:gd name="T9" fmla="*/ 0 w 888"/>
              <a:gd name="T10" fmla="*/ 0 h 693"/>
              <a:gd name="T11" fmla="*/ 888 w 888"/>
              <a:gd name="T12" fmla="*/ 693 h 6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88" h="693">
                <a:moveTo>
                  <a:pt x="0" y="693"/>
                </a:moveTo>
                <a:cubicBezTo>
                  <a:pt x="179" y="571"/>
                  <a:pt x="359" y="450"/>
                  <a:pt x="507" y="335"/>
                </a:cubicBezTo>
                <a:cubicBezTo>
                  <a:pt x="655" y="220"/>
                  <a:pt x="823" y="56"/>
                  <a:pt x="888" y="0"/>
                </a:cubicBezTo>
              </a:path>
            </a:pathLst>
          </a:custGeom>
          <a:noFill/>
          <a:ln w="190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7670" name="Line 22"/>
          <p:cNvSpPr>
            <a:spLocks noChangeShapeType="1"/>
          </p:cNvSpPr>
          <p:nvPr/>
        </p:nvSpPr>
        <p:spPr bwMode="auto">
          <a:xfrm>
            <a:off x="6135688" y="4329113"/>
            <a:ext cx="0" cy="544512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7671" name="Text Box 23"/>
          <p:cNvSpPr txBox="1">
            <a:spLocks noChangeArrowheads="1"/>
          </p:cNvSpPr>
          <p:nvPr/>
        </p:nvSpPr>
        <p:spPr bwMode="auto">
          <a:xfrm>
            <a:off x="2922588" y="5180013"/>
            <a:ext cx="1727200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GB" sz="1600" dirty="0"/>
              <a:t>90° phase change (advanced)</a:t>
            </a:r>
            <a:endParaRPr lang="en-GB" dirty="0"/>
          </a:p>
        </p:txBody>
      </p:sp>
      <p:sp>
        <p:nvSpPr>
          <p:cNvPr id="27672" name="Text Box 24"/>
          <p:cNvSpPr txBox="1">
            <a:spLocks noChangeArrowheads="1"/>
          </p:cNvSpPr>
          <p:nvPr/>
        </p:nvSpPr>
        <p:spPr bwMode="auto">
          <a:xfrm>
            <a:off x="5357813" y="5231726"/>
            <a:ext cx="17272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GB" sz="1600"/>
              <a:t>270° phase change</a:t>
            </a:r>
          </a:p>
          <a:p>
            <a:pPr algn="ctr"/>
            <a:r>
              <a:rPr lang="en-GB" sz="1600"/>
              <a:t>(advanced)</a:t>
            </a:r>
            <a:endParaRPr lang="en-GB" sz="2000"/>
          </a:p>
        </p:txBody>
      </p:sp>
      <p:sp>
        <p:nvSpPr>
          <p:cNvPr id="27673" name="Line 25"/>
          <p:cNvSpPr>
            <a:spLocks noChangeShapeType="1"/>
          </p:cNvSpPr>
          <p:nvPr/>
        </p:nvSpPr>
        <p:spPr bwMode="auto">
          <a:xfrm flipV="1">
            <a:off x="3810000" y="4614863"/>
            <a:ext cx="0" cy="6175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7674" name="Line 26"/>
          <p:cNvSpPr>
            <a:spLocks noChangeShapeType="1"/>
          </p:cNvSpPr>
          <p:nvPr/>
        </p:nvSpPr>
        <p:spPr bwMode="auto">
          <a:xfrm flipH="1" flipV="1">
            <a:off x="6126163" y="4997450"/>
            <a:ext cx="11112" cy="2825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7675" name="Text Box 27"/>
          <p:cNvSpPr txBox="1">
            <a:spLocks noChangeArrowheads="1"/>
          </p:cNvSpPr>
          <p:nvPr/>
        </p:nvSpPr>
        <p:spPr bwMode="auto">
          <a:xfrm>
            <a:off x="349250" y="381000"/>
            <a:ext cx="55483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400" b="1"/>
              <a:t>Phase Changes In A Sinusoidal Wave</a:t>
            </a:r>
          </a:p>
        </p:txBody>
      </p:sp>
      <p:sp>
        <p:nvSpPr>
          <p:cNvPr id="27676" name="Text Box 38"/>
          <p:cNvSpPr txBox="1">
            <a:spLocks noChangeArrowheads="1"/>
          </p:cNvSpPr>
          <p:nvPr/>
        </p:nvSpPr>
        <p:spPr bwMode="auto">
          <a:xfrm>
            <a:off x="542925" y="2638425"/>
            <a:ext cx="34194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1600" dirty="0"/>
              <a:t>0°…… 90°……180°..…270°…360°</a:t>
            </a:r>
          </a:p>
        </p:txBody>
      </p:sp>
      <p:sp>
        <p:nvSpPr>
          <p:cNvPr id="27677" name="Line 40"/>
          <p:cNvSpPr>
            <a:spLocks noChangeShapeType="1"/>
          </p:cNvSpPr>
          <p:nvPr/>
        </p:nvSpPr>
        <p:spPr bwMode="auto">
          <a:xfrm flipV="1">
            <a:off x="3824288" y="4114800"/>
            <a:ext cx="176212" cy="185738"/>
          </a:xfrm>
          <a:prstGeom prst="line">
            <a:avLst/>
          </a:prstGeom>
          <a:noFill/>
          <a:ln w="28575">
            <a:solidFill>
              <a:srgbClr val="00CC99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grpSp>
        <p:nvGrpSpPr>
          <p:cNvPr id="2" name="Group 51"/>
          <p:cNvGrpSpPr>
            <a:grpSpLocks/>
          </p:cNvGrpSpPr>
          <p:nvPr/>
        </p:nvGrpSpPr>
        <p:grpSpPr bwMode="auto">
          <a:xfrm>
            <a:off x="661988" y="1387475"/>
            <a:ext cx="6197600" cy="1085850"/>
            <a:chOff x="417" y="874"/>
            <a:chExt cx="3904" cy="684"/>
          </a:xfrm>
        </p:grpSpPr>
        <p:grpSp>
          <p:nvGrpSpPr>
            <p:cNvPr id="3" name="Group 28"/>
            <p:cNvGrpSpPr>
              <a:grpSpLocks/>
            </p:cNvGrpSpPr>
            <p:nvPr/>
          </p:nvGrpSpPr>
          <p:grpSpPr bwMode="auto">
            <a:xfrm>
              <a:off x="417" y="874"/>
              <a:ext cx="1955" cy="672"/>
              <a:chOff x="417" y="874"/>
              <a:chExt cx="1968" cy="672"/>
            </a:xfrm>
          </p:grpSpPr>
          <p:sp>
            <p:nvSpPr>
              <p:cNvPr id="27691" name="Freeform 29"/>
              <p:cNvSpPr>
                <a:spLocks/>
              </p:cNvSpPr>
              <p:nvPr/>
            </p:nvSpPr>
            <p:spPr bwMode="auto">
              <a:xfrm>
                <a:off x="417" y="874"/>
                <a:ext cx="1968" cy="672"/>
              </a:xfrm>
              <a:custGeom>
                <a:avLst/>
                <a:gdLst>
                  <a:gd name="T0" fmla="*/ 0 w 1920"/>
                  <a:gd name="T1" fmla="*/ 0 h 1536"/>
                  <a:gd name="T2" fmla="*/ 696 w 1920"/>
                  <a:gd name="T3" fmla="*/ 0 h 1536"/>
                  <a:gd name="T4" fmla="*/ 1392 w 1920"/>
                  <a:gd name="T5" fmla="*/ 0 h 1536"/>
                  <a:gd name="T6" fmla="*/ 2087 w 1920"/>
                  <a:gd name="T7" fmla="*/ 0 h 1536"/>
                  <a:gd name="T8" fmla="*/ 2780 w 1920"/>
                  <a:gd name="T9" fmla="*/ 0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rgbClr val="00B05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7692" name="Rectangle 30"/>
              <p:cNvSpPr>
                <a:spLocks noChangeArrowheads="1"/>
              </p:cNvSpPr>
              <p:nvPr/>
            </p:nvSpPr>
            <p:spPr bwMode="auto">
              <a:xfrm>
                <a:off x="417" y="874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3" name="Rectangle 31"/>
              <p:cNvSpPr>
                <a:spLocks noChangeArrowheads="1"/>
              </p:cNvSpPr>
              <p:nvPr/>
            </p:nvSpPr>
            <p:spPr bwMode="auto">
              <a:xfrm>
                <a:off x="417" y="1210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4" name="Rectangle 32"/>
              <p:cNvSpPr>
                <a:spLocks noChangeArrowheads="1"/>
              </p:cNvSpPr>
              <p:nvPr/>
            </p:nvSpPr>
            <p:spPr bwMode="auto">
              <a:xfrm>
                <a:off x="909" y="874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5" name="Rectangle 33"/>
              <p:cNvSpPr>
                <a:spLocks noChangeArrowheads="1"/>
              </p:cNvSpPr>
              <p:nvPr/>
            </p:nvSpPr>
            <p:spPr bwMode="auto">
              <a:xfrm>
                <a:off x="909" y="1210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6" name="Rectangle 34"/>
              <p:cNvSpPr>
                <a:spLocks noChangeArrowheads="1"/>
              </p:cNvSpPr>
              <p:nvPr/>
            </p:nvSpPr>
            <p:spPr bwMode="auto">
              <a:xfrm>
                <a:off x="1401" y="874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7" name="Rectangle 35"/>
              <p:cNvSpPr>
                <a:spLocks noChangeArrowheads="1"/>
              </p:cNvSpPr>
              <p:nvPr/>
            </p:nvSpPr>
            <p:spPr bwMode="auto">
              <a:xfrm>
                <a:off x="1401" y="1210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8" name="Rectangle 36"/>
              <p:cNvSpPr>
                <a:spLocks noChangeArrowheads="1"/>
              </p:cNvSpPr>
              <p:nvPr/>
            </p:nvSpPr>
            <p:spPr bwMode="auto">
              <a:xfrm>
                <a:off x="1893" y="874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9" name="Rectangle 37"/>
              <p:cNvSpPr>
                <a:spLocks noChangeArrowheads="1"/>
              </p:cNvSpPr>
              <p:nvPr/>
            </p:nvSpPr>
            <p:spPr bwMode="auto">
              <a:xfrm>
                <a:off x="1893" y="1210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41"/>
            <p:cNvGrpSpPr>
              <a:grpSpLocks/>
            </p:cNvGrpSpPr>
            <p:nvPr/>
          </p:nvGrpSpPr>
          <p:grpSpPr bwMode="auto">
            <a:xfrm>
              <a:off x="2366" y="886"/>
              <a:ext cx="1955" cy="672"/>
              <a:chOff x="417" y="874"/>
              <a:chExt cx="1968" cy="672"/>
            </a:xfrm>
          </p:grpSpPr>
          <p:sp>
            <p:nvSpPr>
              <p:cNvPr id="27682" name="Freeform 42"/>
              <p:cNvSpPr>
                <a:spLocks/>
              </p:cNvSpPr>
              <p:nvPr/>
            </p:nvSpPr>
            <p:spPr bwMode="auto">
              <a:xfrm>
                <a:off x="417" y="874"/>
                <a:ext cx="1968" cy="672"/>
              </a:xfrm>
              <a:custGeom>
                <a:avLst/>
                <a:gdLst>
                  <a:gd name="T0" fmla="*/ 0 w 1920"/>
                  <a:gd name="T1" fmla="*/ 0 h 1536"/>
                  <a:gd name="T2" fmla="*/ 696 w 1920"/>
                  <a:gd name="T3" fmla="*/ 0 h 1536"/>
                  <a:gd name="T4" fmla="*/ 1392 w 1920"/>
                  <a:gd name="T5" fmla="*/ 0 h 1536"/>
                  <a:gd name="T6" fmla="*/ 2087 w 1920"/>
                  <a:gd name="T7" fmla="*/ 0 h 1536"/>
                  <a:gd name="T8" fmla="*/ 2780 w 1920"/>
                  <a:gd name="T9" fmla="*/ 0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rgbClr val="00B05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7683" name="Rectangle 43"/>
              <p:cNvSpPr>
                <a:spLocks noChangeArrowheads="1"/>
              </p:cNvSpPr>
              <p:nvPr/>
            </p:nvSpPr>
            <p:spPr bwMode="auto">
              <a:xfrm>
                <a:off x="417" y="874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4" name="Rectangle 44"/>
              <p:cNvSpPr>
                <a:spLocks noChangeArrowheads="1"/>
              </p:cNvSpPr>
              <p:nvPr/>
            </p:nvSpPr>
            <p:spPr bwMode="auto">
              <a:xfrm>
                <a:off x="417" y="1210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5" name="Rectangle 45"/>
              <p:cNvSpPr>
                <a:spLocks noChangeArrowheads="1"/>
              </p:cNvSpPr>
              <p:nvPr/>
            </p:nvSpPr>
            <p:spPr bwMode="auto">
              <a:xfrm>
                <a:off x="909" y="874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6" name="Rectangle 46"/>
              <p:cNvSpPr>
                <a:spLocks noChangeArrowheads="1"/>
              </p:cNvSpPr>
              <p:nvPr/>
            </p:nvSpPr>
            <p:spPr bwMode="auto">
              <a:xfrm>
                <a:off x="909" y="1210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7" name="Rectangle 47"/>
              <p:cNvSpPr>
                <a:spLocks noChangeArrowheads="1"/>
              </p:cNvSpPr>
              <p:nvPr/>
            </p:nvSpPr>
            <p:spPr bwMode="auto">
              <a:xfrm>
                <a:off x="1401" y="874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8" name="Rectangle 48"/>
              <p:cNvSpPr>
                <a:spLocks noChangeArrowheads="1"/>
              </p:cNvSpPr>
              <p:nvPr/>
            </p:nvSpPr>
            <p:spPr bwMode="auto">
              <a:xfrm>
                <a:off x="1401" y="1210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9" name="Rectangle 49"/>
              <p:cNvSpPr>
                <a:spLocks noChangeArrowheads="1"/>
              </p:cNvSpPr>
              <p:nvPr/>
            </p:nvSpPr>
            <p:spPr bwMode="auto">
              <a:xfrm>
                <a:off x="1893" y="874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0" name="Rectangle 50"/>
              <p:cNvSpPr>
                <a:spLocks noChangeArrowheads="1"/>
              </p:cNvSpPr>
              <p:nvPr/>
            </p:nvSpPr>
            <p:spPr bwMode="auto">
              <a:xfrm>
                <a:off x="1893" y="1210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27679" name="Text Box 53"/>
          <p:cNvSpPr txBox="1">
            <a:spLocks noChangeArrowheads="1"/>
          </p:cNvSpPr>
          <p:nvPr/>
        </p:nvSpPr>
        <p:spPr bwMode="auto">
          <a:xfrm>
            <a:off x="4548188" y="2601913"/>
            <a:ext cx="4138612" cy="126188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dirty="0"/>
              <a:t>Changes in phase (and amplitude) of a carrier can be used to denote digital code information</a:t>
            </a:r>
          </a:p>
          <a:p>
            <a:r>
              <a:rPr lang="en-GB" sz="1600" i="1" dirty="0"/>
              <a:t>e.g.</a:t>
            </a:r>
            <a:r>
              <a:rPr lang="en-GB" sz="1600" dirty="0"/>
              <a:t> +90</a:t>
            </a:r>
            <a:r>
              <a:rPr lang="en-GB" sz="1600" dirty="0">
                <a:ea typeface="Lucida Sans Unicode" pitchFamily="34" charset="0"/>
                <a:cs typeface="Lucida Sans Unicode" pitchFamily="34" charset="0"/>
              </a:rPr>
              <a:t>° = “1”; +270 </a:t>
            </a:r>
            <a:r>
              <a:rPr lang="en-GB" sz="1600" dirty="0"/>
              <a:t>° = “0”</a:t>
            </a:r>
          </a:p>
          <a:p>
            <a:r>
              <a:rPr lang="en-GB" sz="1200" i="1" dirty="0"/>
              <a:t>(but it gets more sophisticated than that!)</a:t>
            </a:r>
          </a:p>
        </p:txBody>
      </p:sp>
    </p:spTree>
    <p:extLst>
      <p:ext uri="{BB962C8B-B14F-4D97-AF65-F5344CB8AC3E}">
        <p14:creationId xmlns:p14="http://schemas.microsoft.com/office/powerpoint/2010/main" val="222330842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reeform 4"/>
          <p:cNvSpPr>
            <a:spLocks/>
          </p:cNvSpPr>
          <p:nvPr/>
        </p:nvSpPr>
        <p:spPr bwMode="auto">
          <a:xfrm>
            <a:off x="674688" y="3797300"/>
            <a:ext cx="3124200" cy="1066800"/>
          </a:xfrm>
          <a:custGeom>
            <a:avLst/>
            <a:gdLst>
              <a:gd name="T0" fmla="*/ 0 w 1920"/>
              <a:gd name="T1" fmla="*/ 2147483647 h 1536"/>
              <a:gd name="T2" fmla="*/ 2147483647 w 1920"/>
              <a:gd name="T3" fmla="*/ 0 h 1536"/>
              <a:gd name="T4" fmla="*/ 2147483647 w 1920"/>
              <a:gd name="T5" fmla="*/ 2147483647 h 1536"/>
              <a:gd name="T6" fmla="*/ 2147483647 w 1920"/>
              <a:gd name="T7" fmla="*/ 2147483647 h 1536"/>
              <a:gd name="T8" fmla="*/ 2147483647 w 1920"/>
              <a:gd name="T9" fmla="*/ 2147483647 h 1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0"/>
              <a:gd name="T16" fmla="*/ 0 h 1536"/>
              <a:gd name="T17" fmla="*/ 1920 w 1920"/>
              <a:gd name="T18" fmla="*/ 1536 h 1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0" h="1536">
                <a:moveTo>
                  <a:pt x="0" y="768"/>
                </a:moveTo>
                <a:cubicBezTo>
                  <a:pt x="160" y="384"/>
                  <a:pt x="320" y="0"/>
                  <a:pt x="480" y="0"/>
                </a:cubicBezTo>
                <a:cubicBezTo>
                  <a:pt x="640" y="0"/>
                  <a:pt x="800" y="512"/>
                  <a:pt x="960" y="768"/>
                </a:cubicBezTo>
                <a:cubicBezTo>
                  <a:pt x="1120" y="1024"/>
                  <a:pt x="1280" y="1536"/>
                  <a:pt x="1440" y="1536"/>
                </a:cubicBezTo>
                <a:cubicBezTo>
                  <a:pt x="1600" y="1536"/>
                  <a:pt x="1840" y="896"/>
                  <a:pt x="1920" y="768"/>
                </a:cubicBezTo>
              </a:path>
            </a:pathLst>
          </a:custGeom>
          <a:noFill/>
          <a:ln w="28575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8675" name="Rectangle 5"/>
          <p:cNvSpPr>
            <a:spLocks noChangeArrowheads="1"/>
          </p:cNvSpPr>
          <p:nvPr/>
        </p:nvSpPr>
        <p:spPr bwMode="auto">
          <a:xfrm>
            <a:off x="674688" y="3797300"/>
            <a:ext cx="781050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76" name="Rectangle 6"/>
          <p:cNvSpPr>
            <a:spLocks noChangeArrowheads="1"/>
          </p:cNvSpPr>
          <p:nvPr/>
        </p:nvSpPr>
        <p:spPr bwMode="auto">
          <a:xfrm>
            <a:off x="674688" y="4330700"/>
            <a:ext cx="781050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77" name="Rectangle 7"/>
          <p:cNvSpPr>
            <a:spLocks noChangeArrowheads="1"/>
          </p:cNvSpPr>
          <p:nvPr/>
        </p:nvSpPr>
        <p:spPr bwMode="auto">
          <a:xfrm>
            <a:off x="1455738" y="3797300"/>
            <a:ext cx="781050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78" name="Rectangle 8"/>
          <p:cNvSpPr>
            <a:spLocks noChangeArrowheads="1"/>
          </p:cNvSpPr>
          <p:nvPr/>
        </p:nvSpPr>
        <p:spPr bwMode="auto">
          <a:xfrm>
            <a:off x="1455738" y="4330700"/>
            <a:ext cx="781050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79" name="Rectangle 9"/>
          <p:cNvSpPr>
            <a:spLocks noChangeArrowheads="1"/>
          </p:cNvSpPr>
          <p:nvPr/>
        </p:nvSpPr>
        <p:spPr bwMode="auto">
          <a:xfrm>
            <a:off x="2236788" y="3797300"/>
            <a:ext cx="781050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0" name="Rectangle 10"/>
          <p:cNvSpPr>
            <a:spLocks noChangeArrowheads="1"/>
          </p:cNvSpPr>
          <p:nvPr/>
        </p:nvSpPr>
        <p:spPr bwMode="auto">
          <a:xfrm>
            <a:off x="2236788" y="4330700"/>
            <a:ext cx="781050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1" name="Rectangle 11"/>
          <p:cNvSpPr>
            <a:spLocks noChangeArrowheads="1"/>
          </p:cNvSpPr>
          <p:nvPr/>
        </p:nvSpPr>
        <p:spPr bwMode="auto">
          <a:xfrm>
            <a:off x="3017838" y="3797300"/>
            <a:ext cx="781050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2" name="Rectangle 12"/>
          <p:cNvSpPr>
            <a:spLocks noChangeArrowheads="1"/>
          </p:cNvSpPr>
          <p:nvPr/>
        </p:nvSpPr>
        <p:spPr bwMode="auto">
          <a:xfrm>
            <a:off x="3017838" y="4330700"/>
            <a:ext cx="781050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28683" name="Text Box 25"/>
          <p:cNvSpPr txBox="1">
            <a:spLocks noChangeArrowheads="1"/>
          </p:cNvSpPr>
          <p:nvPr/>
        </p:nvSpPr>
        <p:spPr bwMode="auto">
          <a:xfrm>
            <a:off x="3032125" y="5097175"/>
            <a:ext cx="17272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GB" sz="1600" dirty="0"/>
              <a:t>90° phase change</a:t>
            </a:r>
            <a:endParaRPr lang="en-GB" sz="2000" dirty="0"/>
          </a:p>
        </p:txBody>
      </p:sp>
      <p:sp>
        <p:nvSpPr>
          <p:cNvPr id="28684" name="Rectangle 13"/>
          <p:cNvSpPr>
            <a:spLocks noChangeArrowheads="1"/>
          </p:cNvSpPr>
          <p:nvPr/>
        </p:nvSpPr>
        <p:spPr bwMode="auto">
          <a:xfrm>
            <a:off x="3790950" y="3808413"/>
            <a:ext cx="781050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5" name="Rectangle 14"/>
          <p:cNvSpPr>
            <a:spLocks noChangeArrowheads="1"/>
          </p:cNvSpPr>
          <p:nvPr/>
        </p:nvSpPr>
        <p:spPr bwMode="auto">
          <a:xfrm>
            <a:off x="3790950" y="4341813"/>
            <a:ext cx="781050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28686" name="Rectangle 15"/>
          <p:cNvSpPr>
            <a:spLocks noChangeArrowheads="1"/>
          </p:cNvSpPr>
          <p:nvPr/>
        </p:nvSpPr>
        <p:spPr bwMode="auto">
          <a:xfrm>
            <a:off x="4572000" y="3808413"/>
            <a:ext cx="781050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7" name="Rectangle 16"/>
          <p:cNvSpPr>
            <a:spLocks noChangeArrowheads="1"/>
          </p:cNvSpPr>
          <p:nvPr/>
        </p:nvSpPr>
        <p:spPr bwMode="auto">
          <a:xfrm>
            <a:off x="4572000" y="4341813"/>
            <a:ext cx="781050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28688" name="Rectangle 17"/>
          <p:cNvSpPr>
            <a:spLocks noChangeArrowheads="1"/>
          </p:cNvSpPr>
          <p:nvPr/>
        </p:nvSpPr>
        <p:spPr bwMode="auto">
          <a:xfrm>
            <a:off x="5353050" y="3808413"/>
            <a:ext cx="781050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9" name="Rectangle 18"/>
          <p:cNvSpPr>
            <a:spLocks noChangeArrowheads="1"/>
          </p:cNvSpPr>
          <p:nvPr/>
        </p:nvSpPr>
        <p:spPr bwMode="auto">
          <a:xfrm>
            <a:off x="5353050" y="4341813"/>
            <a:ext cx="781050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28690" name="Rectangle 19"/>
          <p:cNvSpPr>
            <a:spLocks noChangeArrowheads="1"/>
          </p:cNvSpPr>
          <p:nvPr/>
        </p:nvSpPr>
        <p:spPr bwMode="auto">
          <a:xfrm>
            <a:off x="6134100" y="3808413"/>
            <a:ext cx="781050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91" name="Rectangle 20"/>
          <p:cNvSpPr>
            <a:spLocks noChangeArrowheads="1"/>
          </p:cNvSpPr>
          <p:nvPr/>
        </p:nvSpPr>
        <p:spPr bwMode="auto">
          <a:xfrm>
            <a:off x="6134100" y="4341813"/>
            <a:ext cx="781050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28692" name="Freeform 21"/>
          <p:cNvSpPr>
            <a:spLocks/>
          </p:cNvSpPr>
          <p:nvPr/>
        </p:nvSpPr>
        <p:spPr bwMode="auto">
          <a:xfrm>
            <a:off x="3778250" y="3821113"/>
            <a:ext cx="2362200" cy="1044575"/>
          </a:xfrm>
          <a:custGeom>
            <a:avLst/>
            <a:gdLst>
              <a:gd name="T0" fmla="*/ 0 w 1488"/>
              <a:gd name="T1" fmla="*/ 0 h 658"/>
              <a:gd name="T2" fmla="*/ 2147483647 w 1488"/>
              <a:gd name="T3" fmla="*/ 2147483647 h 658"/>
              <a:gd name="T4" fmla="*/ 2147483647 w 1488"/>
              <a:gd name="T5" fmla="*/ 2147483647 h 658"/>
              <a:gd name="T6" fmla="*/ 2147483647 w 1488"/>
              <a:gd name="T7" fmla="*/ 2147483647 h 658"/>
              <a:gd name="T8" fmla="*/ 0 60000 65536"/>
              <a:gd name="T9" fmla="*/ 0 60000 65536"/>
              <a:gd name="T10" fmla="*/ 0 60000 65536"/>
              <a:gd name="T11" fmla="*/ 0 60000 65536"/>
              <a:gd name="T12" fmla="*/ 0 w 1488"/>
              <a:gd name="T13" fmla="*/ 0 h 658"/>
              <a:gd name="T14" fmla="*/ 1488 w 1488"/>
              <a:gd name="T15" fmla="*/ 658 h 6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88" h="658">
                <a:moveTo>
                  <a:pt x="0" y="0"/>
                </a:moveTo>
                <a:cubicBezTo>
                  <a:pt x="174" y="117"/>
                  <a:pt x="348" y="234"/>
                  <a:pt x="514" y="343"/>
                </a:cubicBezTo>
                <a:cubicBezTo>
                  <a:pt x="680" y="452"/>
                  <a:pt x="835" y="658"/>
                  <a:pt x="997" y="655"/>
                </a:cubicBezTo>
                <a:cubicBezTo>
                  <a:pt x="1159" y="652"/>
                  <a:pt x="1408" y="382"/>
                  <a:pt x="1488" y="327"/>
                </a:cubicBezTo>
              </a:path>
            </a:pathLst>
          </a:custGeom>
          <a:noFill/>
          <a:ln w="19050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8693" name="Line 22"/>
          <p:cNvSpPr>
            <a:spLocks noChangeShapeType="1"/>
          </p:cNvSpPr>
          <p:nvPr/>
        </p:nvSpPr>
        <p:spPr bwMode="auto">
          <a:xfrm flipH="1" flipV="1">
            <a:off x="3789363" y="3808413"/>
            <a:ext cx="0" cy="560387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8694" name="Line 24"/>
          <p:cNvSpPr>
            <a:spLocks noChangeShapeType="1"/>
          </p:cNvSpPr>
          <p:nvPr/>
        </p:nvSpPr>
        <p:spPr bwMode="auto">
          <a:xfrm>
            <a:off x="6127750" y="4340225"/>
            <a:ext cx="0" cy="544513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28695" name="Line 29"/>
          <p:cNvSpPr>
            <a:spLocks noChangeShapeType="1"/>
          </p:cNvSpPr>
          <p:nvPr/>
        </p:nvSpPr>
        <p:spPr bwMode="auto">
          <a:xfrm flipV="1">
            <a:off x="3816350" y="4125913"/>
            <a:ext cx="176213" cy="185737"/>
          </a:xfrm>
          <a:prstGeom prst="line">
            <a:avLst/>
          </a:prstGeom>
          <a:noFill/>
          <a:ln w="28575">
            <a:solidFill>
              <a:srgbClr val="00CC99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8696" name="Text Box 30"/>
          <p:cNvSpPr txBox="1">
            <a:spLocks noChangeArrowheads="1"/>
          </p:cNvSpPr>
          <p:nvPr/>
        </p:nvSpPr>
        <p:spPr bwMode="auto">
          <a:xfrm>
            <a:off x="349250" y="381000"/>
            <a:ext cx="55483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400" b="1"/>
              <a:t>Phase Changes In A Sinusoidal Wave</a:t>
            </a:r>
          </a:p>
        </p:txBody>
      </p:sp>
      <p:grpSp>
        <p:nvGrpSpPr>
          <p:cNvPr id="2" name="Group 52"/>
          <p:cNvGrpSpPr>
            <a:grpSpLocks/>
          </p:cNvGrpSpPr>
          <p:nvPr/>
        </p:nvGrpSpPr>
        <p:grpSpPr bwMode="auto">
          <a:xfrm>
            <a:off x="3794125" y="3797300"/>
            <a:ext cx="3103563" cy="1066800"/>
            <a:chOff x="417" y="874"/>
            <a:chExt cx="1968" cy="672"/>
          </a:xfrm>
        </p:grpSpPr>
        <p:sp>
          <p:nvSpPr>
            <p:cNvPr id="28716" name="Freeform 53"/>
            <p:cNvSpPr>
              <a:spLocks/>
            </p:cNvSpPr>
            <p:nvPr/>
          </p:nvSpPr>
          <p:spPr bwMode="auto">
            <a:xfrm>
              <a:off x="417" y="874"/>
              <a:ext cx="1968" cy="672"/>
            </a:xfrm>
            <a:custGeom>
              <a:avLst/>
              <a:gdLst>
                <a:gd name="T0" fmla="*/ 0 w 1920"/>
                <a:gd name="T1" fmla="*/ 0 h 1536"/>
                <a:gd name="T2" fmla="*/ 696 w 1920"/>
                <a:gd name="T3" fmla="*/ 0 h 1536"/>
                <a:gd name="T4" fmla="*/ 1392 w 1920"/>
                <a:gd name="T5" fmla="*/ 0 h 1536"/>
                <a:gd name="T6" fmla="*/ 2087 w 1920"/>
                <a:gd name="T7" fmla="*/ 0 h 1536"/>
                <a:gd name="T8" fmla="*/ 2780 w 1920"/>
                <a:gd name="T9" fmla="*/ 0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0"/>
                <a:gd name="T16" fmla="*/ 0 h 1536"/>
                <a:gd name="T17" fmla="*/ 1920 w 1920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0" h="1536">
                  <a:moveTo>
                    <a:pt x="0" y="768"/>
                  </a:moveTo>
                  <a:cubicBezTo>
                    <a:pt x="160" y="384"/>
                    <a:pt x="320" y="0"/>
                    <a:pt x="480" y="0"/>
                  </a:cubicBezTo>
                  <a:cubicBezTo>
                    <a:pt x="640" y="0"/>
                    <a:pt x="800" y="512"/>
                    <a:pt x="960" y="768"/>
                  </a:cubicBezTo>
                  <a:cubicBezTo>
                    <a:pt x="1120" y="1024"/>
                    <a:pt x="1280" y="1536"/>
                    <a:pt x="1440" y="1536"/>
                  </a:cubicBezTo>
                  <a:cubicBezTo>
                    <a:pt x="1600" y="1536"/>
                    <a:pt x="1840" y="896"/>
                    <a:pt x="1920" y="768"/>
                  </a:cubicBezTo>
                </a:path>
              </a:pathLst>
            </a:custGeom>
            <a:noFill/>
            <a:ln w="28575">
              <a:solidFill>
                <a:srgbClr val="00B05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8717" name="Rectangle 54"/>
            <p:cNvSpPr>
              <a:spLocks noChangeArrowheads="1"/>
            </p:cNvSpPr>
            <p:nvPr/>
          </p:nvSpPr>
          <p:spPr bwMode="auto">
            <a:xfrm>
              <a:off x="417" y="874"/>
              <a:ext cx="492" cy="336"/>
            </a:xfrm>
            <a:prstGeom prst="rect">
              <a:avLst/>
            </a:prstGeom>
            <a:noFill/>
            <a:ln w="9525">
              <a:solidFill>
                <a:srgbClr val="00B050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8" name="Rectangle 55"/>
            <p:cNvSpPr>
              <a:spLocks noChangeArrowheads="1"/>
            </p:cNvSpPr>
            <p:nvPr/>
          </p:nvSpPr>
          <p:spPr bwMode="auto">
            <a:xfrm>
              <a:off x="417" y="1210"/>
              <a:ext cx="492" cy="336"/>
            </a:xfrm>
            <a:prstGeom prst="rect">
              <a:avLst/>
            </a:prstGeom>
            <a:noFill/>
            <a:ln w="9525">
              <a:solidFill>
                <a:srgbClr val="00B050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9" name="Rectangle 56"/>
            <p:cNvSpPr>
              <a:spLocks noChangeArrowheads="1"/>
            </p:cNvSpPr>
            <p:nvPr/>
          </p:nvSpPr>
          <p:spPr bwMode="auto">
            <a:xfrm>
              <a:off x="909" y="874"/>
              <a:ext cx="492" cy="336"/>
            </a:xfrm>
            <a:prstGeom prst="rect">
              <a:avLst/>
            </a:prstGeom>
            <a:noFill/>
            <a:ln w="9525">
              <a:solidFill>
                <a:srgbClr val="00B050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20" name="Rectangle 57"/>
            <p:cNvSpPr>
              <a:spLocks noChangeArrowheads="1"/>
            </p:cNvSpPr>
            <p:nvPr/>
          </p:nvSpPr>
          <p:spPr bwMode="auto">
            <a:xfrm>
              <a:off x="909" y="1210"/>
              <a:ext cx="492" cy="336"/>
            </a:xfrm>
            <a:prstGeom prst="rect">
              <a:avLst/>
            </a:prstGeom>
            <a:noFill/>
            <a:ln w="9525">
              <a:solidFill>
                <a:srgbClr val="00B050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21" name="Rectangle 58"/>
            <p:cNvSpPr>
              <a:spLocks noChangeArrowheads="1"/>
            </p:cNvSpPr>
            <p:nvPr/>
          </p:nvSpPr>
          <p:spPr bwMode="auto">
            <a:xfrm>
              <a:off x="1401" y="874"/>
              <a:ext cx="492" cy="336"/>
            </a:xfrm>
            <a:prstGeom prst="rect">
              <a:avLst/>
            </a:prstGeom>
            <a:noFill/>
            <a:ln w="9525">
              <a:solidFill>
                <a:srgbClr val="00B050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22" name="Rectangle 59"/>
            <p:cNvSpPr>
              <a:spLocks noChangeArrowheads="1"/>
            </p:cNvSpPr>
            <p:nvPr/>
          </p:nvSpPr>
          <p:spPr bwMode="auto">
            <a:xfrm>
              <a:off x="1401" y="1210"/>
              <a:ext cx="492" cy="336"/>
            </a:xfrm>
            <a:prstGeom prst="rect">
              <a:avLst/>
            </a:prstGeom>
            <a:noFill/>
            <a:ln w="9525">
              <a:solidFill>
                <a:srgbClr val="00B050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23" name="Rectangle 60"/>
            <p:cNvSpPr>
              <a:spLocks noChangeArrowheads="1"/>
            </p:cNvSpPr>
            <p:nvPr/>
          </p:nvSpPr>
          <p:spPr bwMode="auto">
            <a:xfrm>
              <a:off x="1893" y="874"/>
              <a:ext cx="492" cy="336"/>
            </a:xfrm>
            <a:prstGeom prst="rect">
              <a:avLst/>
            </a:prstGeom>
            <a:noFill/>
            <a:ln w="9525">
              <a:solidFill>
                <a:srgbClr val="00B050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24" name="Rectangle 61"/>
            <p:cNvSpPr>
              <a:spLocks noChangeArrowheads="1"/>
            </p:cNvSpPr>
            <p:nvPr/>
          </p:nvSpPr>
          <p:spPr bwMode="auto">
            <a:xfrm>
              <a:off x="1893" y="1210"/>
              <a:ext cx="492" cy="336"/>
            </a:xfrm>
            <a:prstGeom prst="rect">
              <a:avLst/>
            </a:prstGeom>
            <a:noFill/>
            <a:ln w="9525">
              <a:solidFill>
                <a:srgbClr val="00B050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699" name="Text Box 62"/>
          <p:cNvSpPr txBox="1">
            <a:spLocks noChangeArrowheads="1"/>
          </p:cNvSpPr>
          <p:nvPr/>
        </p:nvSpPr>
        <p:spPr bwMode="auto">
          <a:xfrm>
            <a:off x="542925" y="2638425"/>
            <a:ext cx="34194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1600" dirty="0"/>
              <a:t>0°…… 90°……180°..…270°…360°</a:t>
            </a:r>
          </a:p>
        </p:txBody>
      </p:sp>
      <p:sp>
        <p:nvSpPr>
          <p:cNvPr id="28701" name="Line 94"/>
          <p:cNvSpPr>
            <a:spLocks noChangeShapeType="1"/>
          </p:cNvSpPr>
          <p:nvPr/>
        </p:nvSpPr>
        <p:spPr bwMode="auto">
          <a:xfrm flipH="1">
            <a:off x="3805238" y="3795713"/>
            <a:ext cx="730250" cy="9525"/>
          </a:xfrm>
          <a:prstGeom prst="line">
            <a:avLst/>
          </a:prstGeom>
          <a:noFill/>
          <a:ln w="76200">
            <a:solidFill>
              <a:srgbClr val="00CC99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28702" name="Line 95"/>
          <p:cNvSpPr>
            <a:spLocks noChangeShapeType="1"/>
          </p:cNvSpPr>
          <p:nvPr/>
        </p:nvSpPr>
        <p:spPr bwMode="auto">
          <a:xfrm flipH="1">
            <a:off x="6096000" y="4341813"/>
            <a:ext cx="730250" cy="9525"/>
          </a:xfrm>
          <a:prstGeom prst="line">
            <a:avLst/>
          </a:prstGeom>
          <a:noFill/>
          <a:ln w="76200">
            <a:solidFill>
              <a:srgbClr val="00CC99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sz="1600"/>
          </a:p>
        </p:txBody>
      </p:sp>
      <p:sp>
        <p:nvSpPr>
          <p:cNvPr id="28703" name="Text Box 96"/>
          <p:cNvSpPr txBox="1">
            <a:spLocks noChangeArrowheads="1"/>
          </p:cNvSpPr>
          <p:nvPr/>
        </p:nvSpPr>
        <p:spPr bwMode="auto">
          <a:xfrm>
            <a:off x="5591175" y="5028754"/>
            <a:ext cx="3121025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176213" indent="-176213">
              <a:buFontTx/>
              <a:buChar char="•"/>
            </a:pPr>
            <a:r>
              <a:rPr lang="en-GB" sz="1600" dirty="0"/>
              <a:t>Signal was to be transmitted here … </a:t>
            </a:r>
          </a:p>
          <a:p>
            <a:pPr marL="176213" indent="-176213">
              <a:buFontTx/>
              <a:buChar char="•"/>
            </a:pPr>
            <a:r>
              <a:rPr lang="en-GB" sz="1600" dirty="0"/>
              <a:t>But it has been moved forward (advanced)  by 90</a:t>
            </a:r>
            <a:r>
              <a:rPr lang="en-US" sz="1600" dirty="0">
                <a:ea typeface="Lucida Sans Unicode" pitchFamily="34" charset="0"/>
                <a:cs typeface="Lucida Sans Unicode" pitchFamily="34" charset="0"/>
              </a:rPr>
              <a:t>°</a:t>
            </a:r>
          </a:p>
        </p:txBody>
      </p:sp>
      <p:sp>
        <p:nvSpPr>
          <p:cNvPr id="28704" name="Line 97"/>
          <p:cNvSpPr>
            <a:spLocks noChangeShapeType="1"/>
          </p:cNvSpPr>
          <p:nvPr/>
        </p:nvSpPr>
        <p:spPr bwMode="auto">
          <a:xfrm flipH="1" flipV="1">
            <a:off x="5467350" y="4451350"/>
            <a:ext cx="212725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sz="1600"/>
          </a:p>
        </p:txBody>
      </p:sp>
      <p:sp>
        <p:nvSpPr>
          <p:cNvPr id="28705" name="Line 98"/>
          <p:cNvSpPr>
            <a:spLocks noChangeShapeType="1"/>
          </p:cNvSpPr>
          <p:nvPr/>
        </p:nvSpPr>
        <p:spPr bwMode="auto">
          <a:xfrm flipH="1" flipV="1">
            <a:off x="5337175" y="4875213"/>
            <a:ext cx="342900" cy="758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 sz="1600"/>
          </a:p>
        </p:txBody>
      </p:sp>
      <p:sp>
        <p:nvSpPr>
          <p:cNvPr id="28706" name="Rectangle 99"/>
          <p:cNvSpPr>
            <a:spLocks noChangeArrowheads="1"/>
          </p:cNvSpPr>
          <p:nvPr/>
        </p:nvSpPr>
        <p:spPr bwMode="auto">
          <a:xfrm>
            <a:off x="4008438" y="3435350"/>
            <a:ext cx="500458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/>
              <a:t>90°</a:t>
            </a:r>
            <a:endParaRPr lang="en-US" sz="1600" dirty="0"/>
          </a:p>
        </p:txBody>
      </p:sp>
      <p:grpSp>
        <p:nvGrpSpPr>
          <p:cNvPr id="3" name="Group 51"/>
          <p:cNvGrpSpPr>
            <a:grpSpLocks/>
          </p:cNvGrpSpPr>
          <p:nvPr/>
        </p:nvGrpSpPr>
        <p:grpSpPr bwMode="auto">
          <a:xfrm>
            <a:off x="661988" y="1387475"/>
            <a:ext cx="6197600" cy="1085850"/>
            <a:chOff x="417" y="874"/>
            <a:chExt cx="3904" cy="684"/>
          </a:xfrm>
        </p:grpSpPr>
        <p:grpSp>
          <p:nvGrpSpPr>
            <p:cNvPr id="4" name="Group 28"/>
            <p:cNvGrpSpPr>
              <a:grpSpLocks/>
            </p:cNvGrpSpPr>
            <p:nvPr/>
          </p:nvGrpSpPr>
          <p:grpSpPr bwMode="auto">
            <a:xfrm>
              <a:off x="417" y="874"/>
              <a:ext cx="1955" cy="672"/>
              <a:chOff x="417" y="874"/>
              <a:chExt cx="1968" cy="672"/>
            </a:xfrm>
          </p:grpSpPr>
          <p:sp>
            <p:nvSpPr>
              <p:cNvPr id="74" name="Freeform 29"/>
              <p:cNvSpPr>
                <a:spLocks/>
              </p:cNvSpPr>
              <p:nvPr/>
            </p:nvSpPr>
            <p:spPr bwMode="auto">
              <a:xfrm>
                <a:off x="417" y="874"/>
                <a:ext cx="1968" cy="672"/>
              </a:xfrm>
              <a:custGeom>
                <a:avLst/>
                <a:gdLst>
                  <a:gd name="T0" fmla="*/ 0 w 1920"/>
                  <a:gd name="T1" fmla="*/ 0 h 1536"/>
                  <a:gd name="T2" fmla="*/ 696 w 1920"/>
                  <a:gd name="T3" fmla="*/ 0 h 1536"/>
                  <a:gd name="T4" fmla="*/ 1392 w 1920"/>
                  <a:gd name="T5" fmla="*/ 0 h 1536"/>
                  <a:gd name="T6" fmla="*/ 2087 w 1920"/>
                  <a:gd name="T7" fmla="*/ 0 h 1536"/>
                  <a:gd name="T8" fmla="*/ 2780 w 1920"/>
                  <a:gd name="T9" fmla="*/ 0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rgbClr val="00B05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75" name="Rectangle 30"/>
              <p:cNvSpPr>
                <a:spLocks noChangeArrowheads="1"/>
              </p:cNvSpPr>
              <p:nvPr/>
            </p:nvSpPr>
            <p:spPr bwMode="auto">
              <a:xfrm>
                <a:off x="417" y="874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" name="Rectangle 31"/>
              <p:cNvSpPr>
                <a:spLocks noChangeArrowheads="1"/>
              </p:cNvSpPr>
              <p:nvPr/>
            </p:nvSpPr>
            <p:spPr bwMode="auto">
              <a:xfrm>
                <a:off x="417" y="1210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" name="Rectangle 32"/>
              <p:cNvSpPr>
                <a:spLocks noChangeArrowheads="1"/>
              </p:cNvSpPr>
              <p:nvPr/>
            </p:nvSpPr>
            <p:spPr bwMode="auto">
              <a:xfrm>
                <a:off x="909" y="874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" name="Rectangle 33"/>
              <p:cNvSpPr>
                <a:spLocks noChangeArrowheads="1"/>
              </p:cNvSpPr>
              <p:nvPr/>
            </p:nvSpPr>
            <p:spPr bwMode="auto">
              <a:xfrm>
                <a:off x="909" y="1210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9" name="Rectangle 34"/>
              <p:cNvSpPr>
                <a:spLocks noChangeArrowheads="1"/>
              </p:cNvSpPr>
              <p:nvPr/>
            </p:nvSpPr>
            <p:spPr bwMode="auto">
              <a:xfrm>
                <a:off x="1401" y="874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" name="Rectangle 35"/>
              <p:cNvSpPr>
                <a:spLocks noChangeArrowheads="1"/>
              </p:cNvSpPr>
              <p:nvPr/>
            </p:nvSpPr>
            <p:spPr bwMode="auto">
              <a:xfrm>
                <a:off x="1401" y="1210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1" name="Rectangle 36"/>
              <p:cNvSpPr>
                <a:spLocks noChangeArrowheads="1"/>
              </p:cNvSpPr>
              <p:nvPr/>
            </p:nvSpPr>
            <p:spPr bwMode="auto">
              <a:xfrm>
                <a:off x="1893" y="874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" name="Rectangle 37"/>
              <p:cNvSpPr>
                <a:spLocks noChangeArrowheads="1"/>
              </p:cNvSpPr>
              <p:nvPr/>
            </p:nvSpPr>
            <p:spPr bwMode="auto">
              <a:xfrm>
                <a:off x="1893" y="1210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41"/>
            <p:cNvGrpSpPr>
              <a:grpSpLocks/>
            </p:cNvGrpSpPr>
            <p:nvPr/>
          </p:nvGrpSpPr>
          <p:grpSpPr bwMode="auto">
            <a:xfrm>
              <a:off x="2366" y="886"/>
              <a:ext cx="1955" cy="672"/>
              <a:chOff x="417" y="874"/>
              <a:chExt cx="1968" cy="672"/>
            </a:xfrm>
          </p:grpSpPr>
          <p:sp>
            <p:nvSpPr>
              <p:cNvPr id="65" name="Freeform 42"/>
              <p:cNvSpPr>
                <a:spLocks/>
              </p:cNvSpPr>
              <p:nvPr/>
            </p:nvSpPr>
            <p:spPr bwMode="auto">
              <a:xfrm>
                <a:off x="417" y="874"/>
                <a:ext cx="1968" cy="672"/>
              </a:xfrm>
              <a:custGeom>
                <a:avLst/>
                <a:gdLst>
                  <a:gd name="T0" fmla="*/ 0 w 1920"/>
                  <a:gd name="T1" fmla="*/ 0 h 1536"/>
                  <a:gd name="T2" fmla="*/ 696 w 1920"/>
                  <a:gd name="T3" fmla="*/ 0 h 1536"/>
                  <a:gd name="T4" fmla="*/ 1392 w 1920"/>
                  <a:gd name="T5" fmla="*/ 0 h 1536"/>
                  <a:gd name="T6" fmla="*/ 2087 w 1920"/>
                  <a:gd name="T7" fmla="*/ 0 h 1536"/>
                  <a:gd name="T8" fmla="*/ 2780 w 1920"/>
                  <a:gd name="T9" fmla="*/ 0 h 1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0"/>
                  <a:gd name="T16" fmla="*/ 0 h 1536"/>
                  <a:gd name="T17" fmla="*/ 1920 w 1920"/>
                  <a:gd name="T18" fmla="*/ 1536 h 1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0" h="1536">
                    <a:moveTo>
                      <a:pt x="0" y="768"/>
                    </a:moveTo>
                    <a:cubicBezTo>
                      <a:pt x="160" y="384"/>
                      <a:pt x="320" y="0"/>
                      <a:pt x="480" y="0"/>
                    </a:cubicBezTo>
                    <a:cubicBezTo>
                      <a:pt x="640" y="0"/>
                      <a:pt x="800" y="512"/>
                      <a:pt x="960" y="768"/>
                    </a:cubicBezTo>
                    <a:cubicBezTo>
                      <a:pt x="1120" y="1024"/>
                      <a:pt x="1280" y="1536"/>
                      <a:pt x="1440" y="1536"/>
                    </a:cubicBezTo>
                    <a:cubicBezTo>
                      <a:pt x="1600" y="1536"/>
                      <a:pt x="1840" y="896"/>
                      <a:pt x="1920" y="768"/>
                    </a:cubicBezTo>
                  </a:path>
                </a:pathLst>
              </a:custGeom>
              <a:noFill/>
              <a:ln w="28575">
                <a:solidFill>
                  <a:srgbClr val="00B05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6" name="Rectangle 43"/>
              <p:cNvSpPr>
                <a:spLocks noChangeArrowheads="1"/>
              </p:cNvSpPr>
              <p:nvPr/>
            </p:nvSpPr>
            <p:spPr bwMode="auto">
              <a:xfrm>
                <a:off x="417" y="874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" name="Rectangle 44"/>
              <p:cNvSpPr>
                <a:spLocks noChangeArrowheads="1"/>
              </p:cNvSpPr>
              <p:nvPr/>
            </p:nvSpPr>
            <p:spPr bwMode="auto">
              <a:xfrm>
                <a:off x="417" y="1210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8" name="Rectangle 45"/>
              <p:cNvSpPr>
                <a:spLocks noChangeArrowheads="1"/>
              </p:cNvSpPr>
              <p:nvPr/>
            </p:nvSpPr>
            <p:spPr bwMode="auto">
              <a:xfrm>
                <a:off x="909" y="874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" name="Rectangle 46"/>
              <p:cNvSpPr>
                <a:spLocks noChangeArrowheads="1"/>
              </p:cNvSpPr>
              <p:nvPr/>
            </p:nvSpPr>
            <p:spPr bwMode="auto">
              <a:xfrm>
                <a:off x="909" y="1210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" name="Rectangle 47"/>
              <p:cNvSpPr>
                <a:spLocks noChangeArrowheads="1"/>
              </p:cNvSpPr>
              <p:nvPr/>
            </p:nvSpPr>
            <p:spPr bwMode="auto">
              <a:xfrm>
                <a:off x="1401" y="874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" name="Rectangle 48"/>
              <p:cNvSpPr>
                <a:spLocks noChangeArrowheads="1"/>
              </p:cNvSpPr>
              <p:nvPr/>
            </p:nvSpPr>
            <p:spPr bwMode="auto">
              <a:xfrm>
                <a:off x="1401" y="1210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" name="Rectangle 49"/>
              <p:cNvSpPr>
                <a:spLocks noChangeArrowheads="1"/>
              </p:cNvSpPr>
              <p:nvPr/>
            </p:nvSpPr>
            <p:spPr bwMode="auto">
              <a:xfrm>
                <a:off x="1893" y="874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3" name="Rectangle 50"/>
              <p:cNvSpPr>
                <a:spLocks noChangeArrowheads="1"/>
              </p:cNvSpPr>
              <p:nvPr/>
            </p:nvSpPr>
            <p:spPr bwMode="auto">
              <a:xfrm>
                <a:off x="1893" y="1210"/>
                <a:ext cx="492" cy="336"/>
              </a:xfrm>
              <a:prstGeom prst="rect">
                <a:avLst/>
              </a:prstGeom>
              <a:noFill/>
              <a:ln w="9525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6974311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Oval 2"/>
          <p:cNvSpPr>
            <a:spLocks noChangeArrowheads="1"/>
          </p:cNvSpPr>
          <p:nvPr/>
        </p:nvSpPr>
        <p:spPr bwMode="auto">
          <a:xfrm>
            <a:off x="1225550" y="3192463"/>
            <a:ext cx="2435225" cy="2571750"/>
          </a:xfrm>
          <a:prstGeom prst="ellips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32771" name="Line 3"/>
          <p:cNvSpPr>
            <a:spLocks noChangeShapeType="1"/>
          </p:cNvSpPr>
          <p:nvPr/>
        </p:nvSpPr>
        <p:spPr bwMode="auto">
          <a:xfrm>
            <a:off x="804863" y="4503738"/>
            <a:ext cx="3105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2772" name="Line 4"/>
          <p:cNvSpPr>
            <a:spLocks noChangeShapeType="1"/>
          </p:cNvSpPr>
          <p:nvPr/>
        </p:nvSpPr>
        <p:spPr bwMode="auto">
          <a:xfrm rot="5400000" flipH="1">
            <a:off x="680244" y="4526757"/>
            <a:ext cx="3551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1981200" y="2871788"/>
            <a:ext cx="4968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1600"/>
              <a:t>90°</a:t>
            </a:r>
          </a:p>
        </p:txBody>
      </p:sp>
      <p:sp>
        <p:nvSpPr>
          <p:cNvPr id="32774" name="Text Box 6"/>
          <p:cNvSpPr txBox="1">
            <a:spLocks noChangeArrowheads="1"/>
          </p:cNvSpPr>
          <p:nvPr/>
        </p:nvSpPr>
        <p:spPr bwMode="auto">
          <a:xfrm>
            <a:off x="3706813" y="4197350"/>
            <a:ext cx="3683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1600" dirty="0"/>
              <a:t>0°</a:t>
            </a:r>
          </a:p>
        </p:txBody>
      </p:sp>
      <p:sp>
        <p:nvSpPr>
          <p:cNvPr id="32775" name="Text Box 7"/>
          <p:cNvSpPr txBox="1">
            <a:spLocks noChangeArrowheads="1"/>
          </p:cNvSpPr>
          <p:nvPr/>
        </p:nvSpPr>
        <p:spPr bwMode="auto">
          <a:xfrm>
            <a:off x="679450" y="4195763"/>
            <a:ext cx="6254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1600"/>
              <a:t>180°</a:t>
            </a:r>
          </a:p>
        </p:txBody>
      </p:sp>
      <p:sp>
        <p:nvSpPr>
          <p:cNvPr id="32776" name="Text Box 8"/>
          <p:cNvSpPr txBox="1">
            <a:spLocks noChangeArrowheads="1"/>
          </p:cNvSpPr>
          <p:nvPr/>
        </p:nvSpPr>
        <p:spPr bwMode="auto">
          <a:xfrm>
            <a:off x="2397125" y="5791200"/>
            <a:ext cx="6254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1600"/>
              <a:t>270°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3844925" y="950913"/>
            <a:ext cx="4968875" cy="2111376"/>
            <a:chOff x="240" y="599"/>
            <a:chExt cx="3130" cy="1330"/>
          </a:xfrm>
        </p:grpSpPr>
        <p:sp>
          <p:nvSpPr>
            <p:cNvPr id="32784" name="Freeform 10"/>
            <p:cNvSpPr>
              <a:spLocks/>
            </p:cNvSpPr>
            <p:nvPr/>
          </p:nvSpPr>
          <p:spPr bwMode="auto">
            <a:xfrm>
              <a:off x="240" y="878"/>
              <a:ext cx="1066" cy="393"/>
            </a:xfrm>
            <a:custGeom>
              <a:avLst/>
              <a:gdLst>
                <a:gd name="T0" fmla="*/ 81 w 1066"/>
                <a:gd name="T1" fmla="*/ 57 h 393"/>
                <a:gd name="T2" fmla="*/ 81 w 1066"/>
                <a:gd name="T3" fmla="*/ 49 h 393"/>
                <a:gd name="T4" fmla="*/ 82 w 1066"/>
                <a:gd name="T5" fmla="*/ 57 h 393"/>
                <a:gd name="T6" fmla="*/ 574 w 1066"/>
                <a:gd name="T7" fmla="*/ 393 h 393"/>
                <a:gd name="T8" fmla="*/ 1066 w 1066"/>
                <a:gd name="T9" fmla="*/ 57 h 3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66"/>
                <a:gd name="T16" fmla="*/ 0 h 393"/>
                <a:gd name="T17" fmla="*/ 1066 w 1066"/>
                <a:gd name="T18" fmla="*/ 393 h 3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66" h="393">
                  <a:moveTo>
                    <a:pt x="81" y="57"/>
                  </a:moveTo>
                  <a:cubicBezTo>
                    <a:pt x="81" y="56"/>
                    <a:pt x="81" y="49"/>
                    <a:pt x="81" y="49"/>
                  </a:cubicBezTo>
                  <a:cubicBezTo>
                    <a:pt x="81" y="49"/>
                    <a:pt x="0" y="0"/>
                    <a:pt x="82" y="57"/>
                  </a:cubicBezTo>
                  <a:cubicBezTo>
                    <a:pt x="164" y="114"/>
                    <a:pt x="410" y="393"/>
                    <a:pt x="574" y="393"/>
                  </a:cubicBezTo>
                  <a:cubicBezTo>
                    <a:pt x="738" y="393"/>
                    <a:pt x="984" y="113"/>
                    <a:pt x="1066" y="57"/>
                  </a:cubicBezTo>
                </a:path>
              </a:pathLst>
            </a:custGeom>
            <a:noFill/>
            <a:ln w="28575">
              <a:solidFill>
                <a:srgbClr val="00B05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2785" name="Rectangle 11"/>
            <p:cNvSpPr>
              <a:spLocks noChangeArrowheads="1"/>
            </p:cNvSpPr>
            <p:nvPr/>
          </p:nvSpPr>
          <p:spPr bwMode="auto">
            <a:xfrm>
              <a:off x="322" y="599"/>
              <a:ext cx="492" cy="336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6" name="Rectangle 12"/>
            <p:cNvSpPr>
              <a:spLocks noChangeArrowheads="1"/>
            </p:cNvSpPr>
            <p:nvPr/>
          </p:nvSpPr>
          <p:spPr bwMode="auto">
            <a:xfrm>
              <a:off x="322" y="935"/>
              <a:ext cx="492" cy="336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7" name="Rectangle 13"/>
            <p:cNvSpPr>
              <a:spLocks noChangeArrowheads="1"/>
            </p:cNvSpPr>
            <p:nvPr/>
          </p:nvSpPr>
          <p:spPr bwMode="auto">
            <a:xfrm>
              <a:off x="814" y="599"/>
              <a:ext cx="492" cy="336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8" name="Rectangle 14"/>
            <p:cNvSpPr>
              <a:spLocks noChangeArrowheads="1"/>
            </p:cNvSpPr>
            <p:nvPr/>
          </p:nvSpPr>
          <p:spPr bwMode="auto">
            <a:xfrm>
              <a:off x="814" y="935"/>
              <a:ext cx="492" cy="336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9" name="Rectangle 15"/>
            <p:cNvSpPr>
              <a:spLocks noChangeArrowheads="1"/>
            </p:cNvSpPr>
            <p:nvPr/>
          </p:nvSpPr>
          <p:spPr bwMode="auto">
            <a:xfrm>
              <a:off x="1306" y="599"/>
              <a:ext cx="492" cy="336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90" name="Rectangle 16"/>
            <p:cNvSpPr>
              <a:spLocks noChangeArrowheads="1"/>
            </p:cNvSpPr>
            <p:nvPr/>
          </p:nvSpPr>
          <p:spPr bwMode="auto">
            <a:xfrm>
              <a:off x="1306" y="935"/>
              <a:ext cx="492" cy="336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91" name="Rectangle 17"/>
            <p:cNvSpPr>
              <a:spLocks noChangeArrowheads="1"/>
            </p:cNvSpPr>
            <p:nvPr/>
          </p:nvSpPr>
          <p:spPr bwMode="auto">
            <a:xfrm>
              <a:off x="1798" y="599"/>
              <a:ext cx="492" cy="336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92" name="Rectangle 18"/>
            <p:cNvSpPr>
              <a:spLocks noChangeArrowheads="1"/>
            </p:cNvSpPr>
            <p:nvPr/>
          </p:nvSpPr>
          <p:spPr bwMode="auto">
            <a:xfrm>
              <a:off x="1798" y="935"/>
              <a:ext cx="492" cy="336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93" name="Rectangle 19"/>
            <p:cNvSpPr>
              <a:spLocks noChangeArrowheads="1"/>
            </p:cNvSpPr>
            <p:nvPr/>
          </p:nvSpPr>
          <p:spPr bwMode="auto">
            <a:xfrm>
              <a:off x="2290" y="599"/>
              <a:ext cx="492" cy="336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94" name="Rectangle 20"/>
            <p:cNvSpPr>
              <a:spLocks noChangeArrowheads="1"/>
            </p:cNvSpPr>
            <p:nvPr/>
          </p:nvSpPr>
          <p:spPr bwMode="auto">
            <a:xfrm>
              <a:off x="2290" y="935"/>
              <a:ext cx="492" cy="336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95" name="Rectangle 21"/>
            <p:cNvSpPr>
              <a:spLocks noChangeArrowheads="1"/>
            </p:cNvSpPr>
            <p:nvPr/>
          </p:nvSpPr>
          <p:spPr bwMode="auto">
            <a:xfrm>
              <a:off x="2782" y="599"/>
              <a:ext cx="492" cy="336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96" name="Rectangle 22"/>
            <p:cNvSpPr>
              <a:spLocks noChangeArrowheads="1"/>
            </p:cNvSpPr>
            <p:nvPr/>
          </p:nvSpPr>
          <p:spPr bwMode="auto">
            <a:xfrm>
              <a:off x="2782" y="935"/>
              <a:ext cx="492" cy="336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97" name="Freeform 23"/>
            <p:cNvSpPr>
              <a:spLocks/>
            </p:cNvSpPr>
            <p:nvPr/>
          </p:nvSpPr>
          <p:spPr bwMode="auto">
            <a:xfrm>
              <a:off x="1298" y="607"/>
              <a:ext cx="1488" cy="658"/>
            </a:xfrm>
            <a:custGeom>
              <a:avLst/>
              <a:gdLst>
                <a:gd name="T0" fmla="*/ 0 w 1488"/>
                <a:gd name="T1" fmla="*/ 0 h 658"/>
                <a:gd name="T2" fmla="*/ 514 w 1488"/>
                <a:gd name="T3" fmla="*/ 343 h 658"/>
                <a:gd name="T4" fmla="*/ 997 w 1488"/>
                <a:gd name="T5" fmla="*/ 655 h 658"/>
                <a:gd name="T6" fmla="*/ 1488 w 1488"/>
                <a:gd name="T7" fmla="*/ 327 h 65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88"/>
                <a:gd name="T13" fmla="*/ 0 h 658"/>
                <a:gd name="T14" fmla="*/ 1488 w 1488"/>
                <a:gd name="T15" fmla="*/ 658 h 65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88" h="658">
                  <a:moveTo>
                    <a:pt x="0" y="0"/>
                  </a:moveTo>
                  <a:cubicBezTo>
                    <a:pt x="174" y="117"/>
                    <a:pt x="348" y="234"/>
                    <a:pt x="514" y="343"/>
                  </a:cubicBezTo>
                  <a:cubicBezTo>
                    <a:pt x="680" y="452"/>
                    <a:pt x="835" y="658"/>
                    <a:pt x="997" y="655"/>
                  </a:cubicBezTo>
                  <a:cubicBezTo>
                    <a:pt x="1159" y="652"/>
                    <a:pt x="1408" y="382"/>
                    <a:pt x="1488" y="327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2798" name="Line 24"/>
            <p:cNvSpPr>
              <a:spLocks noChangeShapeType="1"/>
            </p:cNvSpPr>
            <p:nvPr/>
          </p:nvSpPr>
          <p:spPr bwMode="auto">
            <a:xfrm flipH="1" flipV="1">
              <a:off x="1305" y="599"/>
              <a:ext cx="0" cy="327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2799" name="Freeform 25"/>
            <p:cNvSpPr>
              <a:spLocks/>
            </p:cNvSpPr>
            <p:nvPr/>
          </p:nvSpPr>
          <p:spPr bwMode="auto">
            <a:xfrm>
              <a:off x="2778" y="859"/>
              <a:ext cx="590" cy="418"/>
            </a:xfrm>
            <a:custGeom>
              <a:avLst/>
              <a:gdLst>
                <a:gd name="T0" fmla="*/ 0 w 590"/>
                <a:gd name="T1" fmla="*/ 418 h 418"/>
                <a:gd name="T2" fmla="*/ 507 w 590"/>
                <a:gd name="T3" fmla="*/ 60 h 418"/>
                <a:gd name="T4" fmla="*/ 497 w 590"/>
                <a:gd name="T5" fmla="*/ 60 h 418"/>
                <a:gd name="T6" fmla="*/ 0 60000 65536"/>
                <a:gd name="T7" fmla="*/ 0 60000 65536"/>
                <a:gd name="T8" fmla="*/ 0 60000 65536"/>
                <a:gd name="T9" fmla="*/ 0 w 590"/>
                <a:gd name="T10" fmla="*/ 0 h 418"/>
                <a:gd name="T11" fmla="*/ 590 w 590"/>
                <a:gd name="T12" fmla="*/ 418 h 4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90" h="418">
                  <a:moveTo>
                    <a:pt x="0" y="418"/>
                  </a:moveTo>
                  <a:cubicBezTo>
                    <a:pt x="179" y="296"/>
                    <a:pt x="424" y="120"/>
                    <a:pt x="507" y="60"/>
                  </a:cubicBezTo>
                  <a:cubicBezTo>
                    <a:pt x="590" y="0"/>
                    <a:pt x="499" y="60"/>
                    <a:pt x="497" y="6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2800" name="Line 26"/>
            <p:cNvSpPr>
              <a:spLocks noChangeShapeType="1"/>
            </p:cNvSpPr>
            <p:nvPr/>
          </p:nvSpPr>
          <p:spPr bwMode="auto">
            <a:xfrm>
              <a:off x="2778" y="934"/>
              <a:ext cx="0" cy="343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2801" name="Text Box 27"/>
            <p:cNvSpPr txBox="1">
              <a:spLocks noChangeArrowheads="1"/>
            </p:cNvSpPr>
            <p:nvPr/>
          </p:nvSpPr>
          <p:spPr bwMode="auto">
            <a:xfrm>
              <a:off x="754" y="1546"/>
              <a:ext cx="1088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GB" sz="1600" dirty="0"/>
                <a:t>90° phase </a:t>
              </a:r>
              <a:r>
                <a:rPr lang="en-GB" sz="1600" i="1" u="sng" dirty="0"/>
                <a:t>advance</a:t>
              </a:r>
              <a:endParaRPr lang="en-GB" sz="2000" i="1" u="sng" dirty="0"/>
            </a:p>
          </p:txBody>
        </p:sp>
        <p:sp>
          <p:nvSpPr>
            <p:cNvPr id="32802" name="Text Box 28"/>
            <p:cNvSpPr txBox="1">
              <a:spLocks noChangeArrowheads="1"/>
            </p:cNvSpPr>
            <p:nvPr/>
          </p:nvSpPr>
          <p:spPr bwMode="auto">
            <a:xfrm>
              <a:off x="2282" y="1561"/>
              <a:ext cx="1088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GB" sz="1600" dirty="0"/>
                <a:t>270° phase advance</a:t>
              </a:r>
              <a:endParaRPr lang="en-GB" sz="2000" dirty="0"/>
            </a:p>
          </p:txBody>
        </p:sp>
        <p:sp>
          <p:nvSpPr>
            <p:cNvPr id="32803" name="Line 29"/>
            <p:cNvSpPr>
              <a:spLocks noChangeShapeType="1"/>
            </p:cNvSpPr>
            <p:nvPr/>
          </p:nvSpPr>
          <p:spPr bwMode="auto">
            <a:xfrm flipV="1">
              <a:off x="1313" y="1114"/>
              <a:ext cx="0" cy="3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2804" name="Line 30"/>
            <p:cNvSpPr>
              <a:spLocks noChangeShapeType="1"/>
            </p:cNvSpPr>
            <p:nvPr/>
          </p:nvSpPr>
          <p:spPr bwMode="auto">
            <a:xfrm flipH="1" flipV="1">
              <a:off x="2771" y="1355"/>
              <a:ext cx="8" cy="1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32778" name="Oval 31"/>
          <p:cNvSpPr>
            <a:spLocks noChangeArrowheads="1"/>
          </p:cNvSpPr>
          <p:nvPr/>
        </p:nvSpPr>
        <p:spPr bwMode="auto">
          <a:xfrm>
            <a:off x="2336800" y="5654675"/>
            <a:ext cx="211138" cy="223838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32779" name="Oval 32"/>
          <p:cNvSpPr>
            <a:spLocks noChangeArrowheads="1"/>
          </p:cNvSpPr>
          <p:nvPr/>
        </p:nvSpPr>
        <p:spPr bwMode="auto">
          <a:xfrm>
            <a:off x="2362200" y="3106738"/>
            <a:ext cx="211138" cy="223837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32780" name="Line 33"/>
          <p:cNvSpPr>
            <a:spLocks noChangeShapeType="1"/>
          </p:cNvSpPr>
          <p:nvPr/>
        </p:nvSpPr>
        <p:spPr bwMode="auto">
          <a:xfrm flipH="1">
            <a:off x="3055938" y="2733675"/>
            <a:ext cx="1804987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2781" name="Line 34"/>
          <p:cNvSpPr>
            <a:spLocks noChangeShapeType="1"/>
          </p:cNvSpPr>
          <p:nvPr/>
        </p:nvSpPr>
        <p:spPr bwMode="auto">
          <a:xfrm flipH="1">
            <a:off x="3290888" y="3105150"/>
            <a:ext cx="3981450" cy="2562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2782" name="Text Box 35"/>
          <p:cNvSpPr txBox="1">
            <a:spLocks noChangeArrowheads="1"/>
          </p:cNvSpPr>
          <p:nvPr/>
        </p:nvSpPr>
        <p:spPr bwMode="auto">
          <a:xfrm>
            <a:off x="381000" y="381000"/>
            <a:ext cx="36433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400" b="1"/>
              <a:t>Constellation Diagrams</a:t>
            </a:r>
          </a:p>
        </p:txBody>
      </p:sp>
      <p:sp>
        <p:nvSpPr>
          <p:cNvPr id="32783" name="TextBox 1"/>
          <p:cNvSpPr txBox="1">
            <a:spLocks noChangeArrowheads="1"/>
          </p:cNvSpPr>
          <p:nvPr/>
        </p:nvSpPr>
        <p:spPr bwMode="auto">
          <a:xfrm>
            <a:off x="446088" y="966788"/>
            <a:ext cx="2962275" cy="1322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dirty="0"/>
              <a:t>A graphical representation of digital codes corresponding to amplitude and phase-change in the carrier signal 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285" y="5694133"/>
            <a:ext cx="3478340" cy="5306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52205" y="5206425"/>
            <a:ext cx="30646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e.g. a signal with 90° and 270° phase changes:</a:t>
            </a:r>
          </a:p>
        </p:txBody>
      </p:sp>
    </p:spTree>
    <p:extLst>
      <p:ext uri="{BB962C8B-B14F-4D97-AF65-F5344CB8AC3E}">
        <p14:creationId xmlns:p14="http://schemas.microsoft.com/office/powerpoint/2010/main" val="216089934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292893" y="292227"/>
            <a:ext cx="6734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400" b="1" dirty="0"/>
              <a:t>Amplitude Changes – Constellation Diagram</a:t>
            </a:r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611188" y="1236663"/>
            <a:ext cx="1554162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611188" y="1770063"/>
            <a:ext cx="1554162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2165350" y="1236663"/>
            <a:ext cx="1554163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798" name="Rectangle 6"/>
          <p:cNvSpPr>
            <a:spLocks noChangeArrowheads="1"/>
          </p:cNvSpPr>
          <p:nvPr/>
        </p:nvSpPr>
        <p:spPr bwMode="auto">
          <a:xfrm>
            <a:off x="2165350" y="1770063"/>
            <a:ext cx="1554163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799" name="Rectangle 7"/>
          <p:cNvSpPr>
            <a:spLocks noChangeArrowheads="1"/>
          </p:cNvSpPr>
          <p:nvPr/>
        </p:nvSpPr>
        <p:spPr bwMode="auto">
          <a:xfrm>
            <a:off x="3719513" y="1236663"/>
            <a:ext cx="1554162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0" name="Rectangle 8"/>
          <p:cNvSpPr>
            <a:spLocks noChangeArrowheads="1"/>
          </p:cNvSpPr>
          <p:nvPr/>
        </p:nvSpPr>
        <p:spPr bwMode="auto">
          <a:xfrm>
            <a:off x="3719513" y="1770063"/>
            <a:ext cx="1554162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1" name="Rectangle 9"/>
          <p:cNvSpPr>
            <a:spLocks noChangeArrowheads="1"/>
          </p:cNvSpPr>
          <p:nvPr/>
        </p:nvSpPr>
        <p:spPr bwMode="auto">
          <a:xfrm>
            <a:off x="5273675" y="1236663"/>
            <a:ext cx="1554163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2" name="Rectangle 10"/>
          <p:cNvSpPr>
            <a:spLocks noChangeArrowheads="1"/>
          </p:cNvSpPr>
          <p:nvPr/>
        </p:nvSpPr>
        <p:spPr bwMode="auto">
          <a:xfrm>
            <a:off x="5273675" y="1770063"/>
            <a:ext cx="1554163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3" name="Text Box 11"/>
          <p:cNvSpPr txBox="1">
            <a:spLocks noChangeArrowheads="1"/>
          </p:cNvSpPr>
          <p:nvPr/>
        </p:nvSpPr>
        <p:spPr bwMode="auto">
          <a:xfrm>
            <a:off x="457200" y="2362200"/>
            <a:ext cx="65325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1600" dirty="0"/>
              <a:t>0°………………90°…………….180°……………..270°…………….360°</a:t>
            </a:r>
          </a:p>
        </p:txBody>
      </p:sp>
      <p:sp>
        <p:nvSpPr>
          <p:cNvPr id="33804" name="Oval 12"/>
          <p:cNvSpPr>
            <a:spLocks noChangeArrowheads="1"/>
          </p:cNvSpPr>
          <p:nvPr/>
        </p:nvSpPr>
        <p:spPr bwMode="auto">
          <a:xfrm>
            <a:off x="1225550" y="3192463"/>
            <a:ext cx="2435225" cy="2571750"/>
          </a:xfrm>
          <a:prstGeom prst="ellips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33805" name="Line 13"/>
          <p:cNvSpPr>
            <a:spLocks noChangeShapeType="1"/>
          </p:cNvSpPr>
          <p:nvPr/>
        </p:nvSpPr>
        <p:spPr bwMode="auto">
          <a:xfrm>
            <a:off x="804863" y="4503738"/>
            <a:ext cx="3105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3806" name="Line 14"/>
          <p:cNvSpPr>
            <a:spLocks noChangeShapeType="1"/>
          </p:cNvSpPr>
          <p:nvPr/>
        </p:nvSpPr>
        <p:spPr bwMode="auto">
          <a:xfrm rot="5400000" flipH="1">
            <a:off x="680244" y="4526757"/>
            <a:ext cx="3551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3807" name="Text Box 15"/>
          <p:cNvSpPr txBox="1">
            <a:spLocks noChangeArrowheads="1"/>
          </p:cNvSpPr>
          <p:nvPr/>
        </p:nvSpPr>
        <p:spPr bwMode="auto">
          <a:xfrm>
            <a:off x="1981200" y="2871788"/>
            <a:ext cx="4968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1600"/>
              <a:t>90°</a:t>
            </a:r>
          </a:p>
        </p:txBody>
      </p:sp>
      <p:sp>
        <p:nvSpPr>
          <p:cNvPr id="33808" name="Text Box 16"/>
          <p:cNvSpPr txBox="1">
            <a:spLocks noChangeArrowheads="1"/>
          </p:cNvSpPr>
          <p:nvPr/>
        </p:nvSpPr>
        <p:spPr bwMode="auto">
          <a:xfrm>
            <a:off x="3706813" y="4197350"/>
            <a:ext cx="3683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1600"/>
              <a:t>0°</a:t>
            </a:r>
          </a:p>
        </p:txBody>
      </p:sp>
      <p:sp>
        <p:nvSpPr>
          <p:cNvPr id="33809" name="Text Box 17"/>
          <p:cNvSpPr txBox="1">
            <a:spLocks noChangeArrowheads="1"/>
          </p:cNvSpPr>
          <p:nvPr/>
        </p:nvSpPr>
        <p:spPr bwMode="auto">
          <a:xfrm>
            <a:off x="679450" y="4195763"/>
            <a:ext cx="6254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1600"/>
              <a:t>180°</a:t>
            </a:r>
          </a:p>
        </p:txBody>
      </p:sp>
      <p:sp>
        <p:nvSpPr>
          <p:cNvPr id="33810" name="Text Box 18"/>
          <p:cNvSpPr txBox="1">
            <a:spLocks noChangeArrowheads="1"/>
          </p:cNvSpPr>
          <p:nvPr/>
        </p:nvSpPr>
        <p:spPr bwMode="auto">
          <a:xfrm>
            <a:off x="2397125" y="5791200"/>
            <a:ext cx="6254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1600"/>
              <a:t>270°</a:t>
            </a:r>
          </a:p>
        </p:txBody>
      </p:sp>
      <p:sp>
        <p:nvSpPr>
          <p:cNvPr id="33811" name="Oval 19"/>
          <p:cNvSpPr>
            <a:spLocks noChangeArrowheads="1"/>
          </p:cNvSpPr>
          <p:nvPr/>
        </p:nvSpPr>
        <p:spPr bwMode="auto">
          <a:xfrm>
            <a:off x="3554413" y="4394200"/>
            <a:ext cx="211137" cy="223838"/>
          </a:xfrm>
          <a:prstGeom prst="ellipse">
            <a:avLst/>
          </a:prstGeom>
          <a:solidFill>
            <a:srgbClr val="CC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33812" name="Oval 20"/>
          <p:cNvSpPr>
            <a:spLocks noChangeArrowheads="1"/>
          </p:cNvSpPr>
          <p:nvPr/>
        </p:nvSpPr>
        <p:spPr bwMode="auto">
          <a:xfrm>
            <a:off x="2927350" y="4394200"/>
            <a:ext cx="211138" cy="223838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33813" name="Line 21"/>
          <p:cNvSpPr>
            <a:spLocks noChangeShapeType="1"/>
          </p:cNvSpPr>
          <p:nvPr/>
        </p:nvSpPr>
        <p:spPr bwMode="auto">
          <a:xfrm>
            <a:off x="2730500" y="1598613"/>
            <a:ext cx="265113" cy="268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3814" name="Line 22"/>
          <p:cNvSpPr>
            <a:spLocks noChangeShapeType="1"/>
          </p:cNvSpPr>
          <p:nvPr/>
        </p:nvSpPr>
        <p:spPr bwMode="auto">
          <a:xfrm flipH="1">
            <a:off x="3714750" y="2322513"/>
            <a:ext cx="1014413" cy="1985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3815" name="Freeform 23"/>
          <p:cNvSpPr>
            <a:spLocks/>
          </p:cNvSpPr>
          <p:nvPr/>
        </p:nvSpPr>
        <p:spPr bwMode="auto">
          <a:xfrm>
            <a:off x="588963" y="1466850"/>
            <a:ext cx="3140075" cy="301625"/>
          </a:xfrm>
          <a:custGeom>
            <a:avLst/>
            <a:gdLst>
              <a:gd name="T0" fmla="*/ 0 w 1978"/>
              <a:gd name="T1" fmla="*/ 2147483647 h 334"/>
              <a:gd name="T2" fmla="*/ 2147483647 w 1978"/>
              <a:gd name="T3" fmla="*/ 2147483647 h 334"/>
              <a:gd name="T4" fmla="*/ 2147483647 w 1978"/>
              <a:gd name="T5" fmla="*/ 2147483647 h 334"/>
              <a:gd name="T6" fmla="*/ 0 60000 65536"/>
              <a:gd name="T7" fmla="*/ 0 60000 65536"/>
              <a:gd name="T8" fmla="*/ 0 60000 65536"/>
              <a:gd name="T9" fmla="*/ 0 w 1978"/>
              <a:gd name="T10" fmla="*/ 0 h 334"/>
              <a:gd name="T11" fmla="*/ 1978 w 1978"/>
              <a:gd name="T12" fmla="*/ 334 h 33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78" h="334">
                <a:moveTo>
                  <a:pt x="0" y="327"/>
                </a:moveTo>
                <a:cubicBezTo>
                  <a:pt x="328" y="163"/>
                  <a:pt x="656" y="0"/>
                  <a:pt x="986" y="1"/>
                </a:cubicBezTo>
                <a:cubicBezTo>
                  <a:pt x="1316" y="2"/>
                  <a:pt x="1814" y="279"/>
                  <a:pt x="1978" y="334"/>
                </a:cubicBezTo>
              </a:path>
            </a:pathLst>
          </a:custGeom>
          <a:noFill/>
          <a:ln w="28575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3816" name="Freeform 24"/>
          <p:cNvSpPr>
            <a:spLocks/>
          </p:cNvSpPr>
          <p:nvPr/>
        </p:nvSpPr>
        <p:spPr bwMode="auto">
          <a:xfrm>
            <a:off x="3717925" y="1768475"/>
            <a:ext cx="3103563" cy="541338"/>
          </a:xfrm>
          <a:custGeom>
            <a:avLst/>
            <a:gdLst>
              <a:gd name="T0" fmla="*/ 0 w 1955"/>
              <a:gd name="T1" fmla="*/ 0 h 341"/>
              <a:gd name="T2" fmla="*/ 2147483647 w 1955"/>
              <a:gd name="T3" fmla="*/ 2147483647 h 341"/>
              <a:gd name="T4" fmla="*/ 2147483647 w 1955"/>
              <a:gd name="T5" fmla="*/ 0 h 341"/>
              <a:gd name="T6" fmla="*/ 0 60000 65536"/>
              <a:gd name="T7" fmla="*/ 0 60000 65536"/>
              <a:gd name="T8" fmla="*/ 0 60000 65536"/>
              <a:gd name="T9" fmla="*/ 0 w 1955"/>
              <a:gd name="T10" fmla="*/ 0 h 341"/>
              <a:gd name="T11" fmla="*/ 1955 w 1955"/>
              <a:gd name="T12" fmla="*/ 341 h 34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55" h="341">
                <a:moveTo>
                  <a:pt x="0" y="0"/>
                </a:moveTo>
                <a:cubicBezTo>
                  <a:pt x="326" y="170"/>
                  <a:pt x="652" y="341"/>
                  <a:pt x="978" y="341"/>
                </a:cubicBezTo>
                <a:cubicBezTo>
                  <a:pt x="1304" y="341"/>
                  <a:pt x="1629" y="170"/>
                  <a:pt x="1955" y="0"/>
                </a:cubicBezTo>
              </a:path>
            </a:pathLst>
          </a:custGeom>
          <a:noFill/>
          <a:ln w="28575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3817" name="Text Box 25"/>
          <p:cNvSpPr txBox="1">
            <a:spLocks noChangeArrowheads="1"/>
          </p:cNvSpPr>
          <p:nvPr/>
        </p:nvSpPr>
        <p:spPr bwMode="auto">
          <a:xfrm>
            <a:off x="4459288" y="4060825"/>
            <a:ext cx="3411537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dirty="0"/>
              <a:t>i.e. red wave increases to twice the amplitude of green, but is </a:t>
            </a:r>
            <a:r>
              <a:rPr lang="en-GB" sz="1600" i="1" u="sng" dirty="0"/>
              <a:t>still in phase at change</a:t>
            </a:r>
          </a:p>
        </p:txBody>
      </p:sp>
      <p:sp>
        <p:nvSpPr>
          <p:cNvPr id="33818" name="Text Box 26"/>
          <p:cNvSpPr txBox="1">
            <a:spLocks noChangeArrowheads="1"/>
          </p:cNvSpPr>
          <p:nvPr/>
        </p:nvSpPr>
        <p:spPr bwMode="auto">
          <a:xfrm>
            <a:off x="430213" y="838200"/>
            <a:ext cx="576580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/>
              <a:t>… an additional way to convey digital coded information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4796649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393700" y="331788"/>
            <a:ext cx="46783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GB" sz="2400" b="1" dirty="0"/>
              <a:t>Phase and Amplitude Changes</a:t>
            </a:r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611188" y="1236663"/>
            <a:ext cx="1554162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611188" y="1770063"/>
            <a:ext cx="1554162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2165350" y="1236663"/>
            <a:ext cx="1554163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2" name="Rectangle 6"/>
          <p:cNvSpPr>
            <a:spLocks noChangeArrowheads="1"/>
          </p:cNvSpPr>
          <p:nvPr/>
        </p:nvSpPr>
        <p:spPr bwMode="auto">
          <a:xfrm>
            <a:off x="2165350" y="1770063"/>
            <a:ext cx="1554163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3" name="Rectangle 7"/>
          <p:cNvSpPr>
            <a:spLocks noChangeArrowheads="1"/>
          </p:cNvSpPr>
          <p:nvPr/>
        </p:nvSpPr>
        <p:spPr bwMode="auto">
          <a:xfrm>
            <a:off x="3719513" y="1236663"/>
            <a:ext cx="1554162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4" name="Rectangle 8"/>
          <p:cNvSpPr>
            <a:spLocks noChangeArrowheads="1"/>
          </p:cNvSpPr>
          <p:nvPr/>
        </p:nvSpPr>
        <p:spPr bwMode="auto">
          <a:xfrm>
            <a:off x="3719513" y="1770063"/>
            <a:ext cx="1554162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5" name="Rectangle 9"/>
          <p:cNvSpPr>
            <a:spLocks noChangeArrowheads="1"/>
          </p:cNvSpPr>
          <p:nvPr/>
        </p:nvSpPr>
        <p:spPr bwMode="auto">
          <a:xfrm>
            <a:off x="5273675" y="1236663"/>
            <a:ext cx="1554163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6" name="Rectangle 10"/>
          <p:cNvSpPr>
            <a:spLocks noChangeArrowheads="1"/>
          </p:cNvSpPr>
          <p:nvPr/>
        </p:nvSpPr>
        <p:spPr bwMode="auto">
          <a:xfrm>
            <a:off x="5273675" y="1770063"/>
            <a:ext cx="1554163" cy="533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7" name="Text Box 11"/>
          <p:cNvSpPr txBox="1">
            <a:spLocks noChangeArrowheads="1"/>
          </p:cNvSpPr>
          <p:nvPr/>
        </p:nvSpPr>
        <p:spPr bwMode="auto">
          <a:xfrm>
            <a:off x="457200" y="2361198"/>
            <a:ext cx="65950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1600" dirty="0"/>
              <a:t>0°………………90°…………….180°……………..270°…………….360°</a:t>
            </a:r>
          </a:p>
        </p:txBody>
      </p:sp>
      <p:sp>
        <p:nvSpPr>
          <p:cNvPr id="34828" name="Oval 12"/>
          <p:cNvSpPr>
            <a:spLocks noChangeArrowheads="1"/>
          </p:cNvSpPr>
          <p:nvPr/>
        </p:nvSpPr>
        <p:spPr bwMode="auto">
          <a:xfrm>
            <a:off x="1225550" y="3192463"/>
            <a:ext cx="2435225" cy="2571750"/>
          </a:xfrm>
          <a:prstGeom prst="ellips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34829" name="Line 13"/>
          <p:cNvSpPr>
            <a:spLocks noChangeShapeType="1"/>
          </p:cNvSpPr>
          <p:nvPr/>
        </p:nvSpPr>
        <p:spPr bwMode="auto">
          <a:xfrm>
            <a:off x="804863" y="4503738"/>
            <a:ext cx="3105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4830" name="Line 14"/>
          <p:cNvSpPr>
            <a:spLocks noChangeShapeType="1"/>
          </p:cNvSpPr>
          <p:nvPr/>
        </p:nvSpPr>
        <p:spPr bwMode="auto">
          <a:xfrm rot="5400000" flipH="1">
            <a:off x="680244" y="4526757"/>
            <a:ext cx="3551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4831" name="Text Box 15"/>
          <p:cNvSpPr txBox="1">
            <a:spLocks noChangeArrowheads="1"/>
          </p:cNvSpPr>
          <p:nvPr/>
        </p:nvSpPr>
        <p:spPr bwMode="auto">
          <a:xfrm>
            <a:off x="1981200" y="2871788"/>
            <a:ext cx="4968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1600"/>
              <a:t>90°</a:t>
            </a:r>
          </a:p>
        </p:txBody>
      </p:sp>
      <p:sp>
        <p:nvSpPr>
          <p:cNvPr id="34832" name="Text Box 16"/>
          <p:cNvSpPr txBox="1">
            <a:spLocks noChangeArrowheads="1"/>
          </p:cNvSpPr>
          <p:nvPr/>
        </p:nvSpPr>
        <p:spPr bwMode="auto">
          <a:xfrm>
            <a:off x="3706813" y="4197350"/>
            <a:ext cx="3683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1600"/>
              <a:t>0°</a:t>
            </a:r>
          </a:p>
        </p:txBody>
      </p:sp>
      <p:sp>
        <p:nvSpPr>
          <p:cNvPr id="34833" name="Text Box 17"/>
          <p:cNvSpPr txBox="1">
            <a:spLocks noChangeArrowheads="1"/>
          </p:cNvSpPr>
          <p:nvPr/>
        </p:nvSpPr>
        <p:spPr bwMode="auto">
          <a:xfrm>
            <a:off x="679450" y="4195763"/>
            <a:ext cx="6254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1600"/>
              <a:t>180°</a:t>
            </a:r>
          </a:p>
        </p:txBody>
      </p:sp>
      <p:sp>
        <p:nvSpPr>
          <p:cNvPr id="34834" name="Text Box 18"/>
          <p:cNvSpPr txBox="1">
            <a:spLocks noChangeArrowheads="1"/>
          </p:cNvSpPr>
          <p:nvPr/>
        </p:nvSpPr>
        <p:spPr bwMode="auto">
          <a:xfrm>
            <a:off x="2397125" y="5791200"/>
            <a:ext cx="6254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1600"/>
              <a:t>270°</a:t>
            </a:r>
          </a:p>
        </p:txBody>
      </p:sp>
      <p:sp>
        <p:nvSpPr>
          <p:cNvPr id="34835" name="Oval 19"/>
          <p:cNvSpPr>
            <a:spLocks noChangeArrowheads="1"/>
          </p:cNvSpPr>
          <p:nvPr/>
        </p:nvSpPr>
        <p:spPr bwMode="auto">
          <a:xfrm>
            <a:off x="2351088" y="3721100"/>
            <a:ext cx="211137" cy="223838"/>
          </a:xfrm>
          <a:prstGeom prst="ellipse">
            <a:avLst/>
          </a:prstGeom>
          <a:solidFill>
            <a:srgbClr val="CC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34836" name="Oval 20"/>
          <p:cNvSpPr>
            <a:spLocks noChangeArrowheads="1"/>
          </p:cNvSpPr>
          <p:nvPr/>
        </p:nvSpPr>
        <p:spPr bwMode="auto">
          <a:xfrm>
            <a:off x="3549650" y="4318000"/>
            <a:ext cx="211138" cy="223838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34837" name="Line 21"/>
          <p:cNvSpPr>
            <a:spLocks noChangeShapeType="1"/>
          </p:cNvSpPr>
          <p:nvPr/>
        </p:nvSpPr>
        <p:spPr bwMode="auto">
          <a:xfrm>
            <a:off x="2730500" y="1598613"/>
            <a:ext cx="265113" cy="268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4838" name="Line 22"/>
          <p:cNvSpPr>
            <a:spLocks noChangeShapeType="1"/>
          </p:cNvSpPr>
          <p:nvPr/>
        </p:nvSpPr>
        <p:spPr bwMode="auto">
          <a:xfrm flipH="1">
            <a:off x="2667000" y="2322513"/>
            <a:ext cx="2062163" cy="14557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4839" name="Text Box 23"/>
          <p:cNvSpPr txBox="1">
            <a:spLocks noChangeArrowheads="1"/>
          </p:cNvSpPr>
          <p:nvPr/>
        </p:nvSpPr>
        <p:spPr bwMode="auto">
          <a:xfrm>
            <a:off x="4495800" y="4468813"/>
            <a:ext cx="385603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/>
              <a:t>i.e. red wave is half the green amplitude, and </a:t>
            </a:r>
            <a:r>
              <a:rPr lang="en-GB" sz="1600" i="1" u="sng"/>
              <a:t>has advanced by 90</a:t>
            </a:r>
            <a:r>
              <a:rPr lang="en-GB" sz="2000" i="1" u="sng"/>
              <a:t>°</a:t>
            </a:r>
          </a:p>
          <a:p>
            <a:endParaRPr lang="en-GB" sz="1600" i="1" u="sng"/>
          </a:p>
        </p:txBody>
      </p:sp>
      <p:sp>
        <p:nvSpPr>
          <p:cNvPr id="34840" name="Freeform 24"/>
          <p:cNvSpPr>
            <a:spLocks/>
          </p:cNvSpPr>
          <p:nvPr/>
        </p:nvSpPr>
        <p:spPr bwMode="auto">
          <a:xfrm>
            <a:off x="601663" y="1249363"/>
            <a:ext cx="4656137" cy="1049337"/>
          </a:xfrm>
          <a:custGeom>
            <a:avLst/>
            <a:gdLst>
              <a:gd name="T0" fmla="*/ 0 w 2933"/>
              <a:gd name="T1" fmla="*/ 2147483647 h 661"/>
              <a:gd name="T2" fmla="*/ 2147483647 w 2933"/>
              <a:gd name="T3" fmla="*/ 2147483647 h 661"/>
              <a:gd name="T4" fmla="*/ 2147483647 w 2933"/>
              <a:gd name="T5" fmla="*/ 2147483647 h 661"/>
              <a:gd name="T6" fmla="*/ 2147483647 w 2933"/>
              <a:gd name="T7" fmla="*/ 2147483647 h 661"/>
              <a:gd name="T8" fmla="*/ 2147483647 w 2933"/>
              <a:gd name="T9" fmla="*/ 2147483647 h 661"/>
              <a:gd name="T10" fmla="*/ 2147483647 w 2933"/>
              <a:gd name="T11" fmla="*/ 2147483647 h 66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933"/>
              <a:gd name="T19" fmla="*/ 0 h 661"/>
              <a:gd name="T20" fmla="*/ 2933 w 2933"/>
              <a:gd name="T21" fmla="*/ 661 h 66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933" h="661">
                <a:moveTo>
                  <a:pt x="0" y="335"/>
                </a:moveTo>
                <a:cubicBezTo>
                  <a:pt x="321" y="168"/>
                  <a:pt x="643" y="2"/>
                  <a:pt x="970" y="1"/>
                </a:cubicBezTo>
                <a:cubicBezTo>
                  <a:pt x="1297" y="0"/>
                  <a:pt x="1679" y="226"/>
                  <a:pt x="1963" y="327"/>
                </a:cubicBezTo>
                <a:cubicBezTo>
                  <a:pt x="2247" y="428"/>
                  <a:pt x="2534" y="555"/>
                  <a:pt x="2675" y="608"/>
                </a:cubicBezTo>
                <a:cubicBezTo>
                  <a:pt x="2816" y="661"/>
                  <a:pt x="2769" y="636"/>
                  <a:pt x="2812" y="645"/>
                </a:cubicBezTo>
                <a:cubicBezTo>
                  <a:pt x="2855" y="654"/>
                  <a:pt x="2908" y="658"/>
                  <a:pt x="2933" y="661"/>
                </a:cubicBezTo>
              </a:path>
            </a:pathLst>
          </a:custGeom>
          <a:noFill/>
          <a:ln w="28575">
            <a:solidFill>
              <a:srgbClr val="00B05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4841" name="Freeform 25"/>
          <p:cNvSpPr>
            <a:spLocks/>
          </p:cNvSpPr>
          <p:nvPr/>
        </p:nvSpPr>
        <p:spPr bwMode="auto">
          <a:xfrm>
            <a:off x="5245100" y="1484313"/>
            <a:ext cx="1576388" cy="284162"/>
          </a:xfrm>
          <a:custGeom>
            <a:avLst/>
            <a:gdLst>
              <a:gd name="T0" fmla="*/ 0 w 993"/>
              <a:gd name="T1" fmla="*/ 2147483647 h 179"/>
              <a:gd name="T2" fmla="*/ 2147483647 w 993"/>
              <a:gd name="T3" fmla="*/ 2147483647 h 179"/>
              <a:gd name="T4" fmla="*/ 2147483647 w 993"/>
              <a:gd name="T5" fmla="*/ 2147483647 h 179"/>
              <a:gd name="T6" fmla="*/ 0 60000 65536"/>
              <a:gd name="T7" fmla="*/ 0 60000 65536"/>
              <a:gd name="T8" fmla="*/ 0 60000 65536"/>
              <a:gd name="T9" fmla="*/ 0 w 993"/>
              <a:gd name="T10" fmla="*/ 0 h 179"/>
              <a:gd name="T11" fmla="*/ 993 w 993"/>
              <a:gd name="T12" fmla="*/ 179 h 17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93" h="179">
                <a:moveTo>
                  <a:pt x="0" y="179"/>
                </a:moveTo>
                <a:cubicBezTo>
                  <a:pt x="128" y="155"/>
                  <a:pt x="601" y="56"/>
                  <a:pt x="766" y="28"/>
                </a:cubicBezTo>
                <a:cubicBezTo>
                  <a:pt x="931" y="0"/>
                  <a:pt x="946" y="15"/>
                  <a:pt x="993" y="12"/>
                </a:cubicBezTo>
              </a:path>
            </a:pathLst>
          </a:custGeom>
          <a:noFill/>
          <a:ln w="28575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4842" name="Line 26"/>
          <p:cNvSpPr>
            <a:spLocks noChangeShapeType="1"/>
          </p:cNvSpPr>
          <p:nvPr/>
        </p:nvSpPr>
        <p:spPr bwMode="auto">
          <a:xfrm flipH="1">
            <a:off x="5245100" y="1757363"/>
            <a:ext cx="12700" cy="300037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4843" name="Line 27"/>
          <p:cNvSpPr>
            <a:spLocks noChangeShapeType="1"/>
          </p:cNvSpPr>
          <p:nvPr/>
        </p:nvSpPr>
        <p:spPr bwMode="auto">
          <a:xfrm flipH="1">
            <a:off x="5245100" y="2022475"/>
            <a:ext cx="12700" cy="287338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4844" name="Freeform 28"/>
          <p:cNvSpPr>
            <a:spLocks/>
          </p:cNvSpPr>
          <p:nvPr/>
        </p:nvSpPr>
        <p:spPr bwMode="auto">
          <a:xfrm>
            <a:off x="2600325" y="4067175"/>
            <a:ext cx="304800" cy="288925"/>
          </a:xfrm>
          <a:custGeom>
            <a:avLst/>
            <a:gdLst>
              <a:gd name="T0" fmla="*/ 2147483647 w 192"/>
              <a:gd name="T1" fmla="*/ 2147483647 h 182"/>
              <a:gd name="T2" fmla="*/ 2147483647 w 192"/>
              <a:gd name="T3" fmla="*/ 2147483647 h 182"/>
              <a:gd name="T4" fmla="*/ 2147483647 w 192"/>
              <a:gd name="T5" fmla="*/ 2147483647 h 182"/>
              <a:gd name="T6" fmla="*/ 0 w 192"/>
              <a:gd name="T7" fmla="*/ 0 h 182"/>
              <a:gd name="T8" fmla="*/ 0 60000 65536"/>
              <a:gd name="T9" fmla="*/ 0 60000 65536"/>
              <a:gd name="T10" fmla="*/ 0 60000 65536"/>
              <a:gd name="T11" fmla="*/ 0 60000 65536"/>
              <a:gd name="T12" fmla="*/ 0 w 192"/>
              <a:gd name="T13" fmla="*/ 0 h 182"/>
              <a:gd name="T14" fmla="*/ 192 w 192"/>
              <a:gd name="T15" fmla="*/ 182 h 18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2" h="182">
                <a:moveTo>
                  <a:pt x="192" y="182"/>
                </a:moveTo>
                <a:cubicBezTo>
                  <a:pt x="188" y="167"/>
                  <a:pt x="187" y="118"/>
                  <a:pt x="171" y="90"/>
                </a:cubicBezTo>
                <a:cubicBezTo>
                  <a:pt x="155" y="62"/>
                  <a:pt x="122" y="30"/>
                  <a:pt x="93" y="15"/>
                </a:cubicBezTo>
                <a:cubicBezTo>
                  <a:pt x="64" y="0"/>
                  <a:pt x="19" y="3"/>
                  <a:pt x="0" y="0"/>
                </a:cubicBezTo>
              </a:path>
            </a:pathLst>
          </a:custGeom>
          <a:noFill/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 sz="1600"/>
          </a:p>
        </p:txBody>
      </p:sp>
      <p:sp>
        <p:nvSpPr>
          <p:cNvPr id="34845" name="Line 29"/>
          <p:cNvSpPr>
            <a:spLocks noChangeShapeType="1"/>
          </p:cNvSpPr>
          <p:nvPr/>
        </p:nvSpPr>
        <p:spPr bwMode="auto">
          <a:xfrm flipH="1" flipV="1">
            <a:off x="2508250" y="4068763"/>
            <a:ext cx="177800" cy="4762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189045950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969962" y="1573213"/>
            <a:ext cx="3584575" cy="1812926"/>
            <a:chOff x="604" y="969"/>
            <a:chExt cx="2258" cy="1142"/>
          </a:xfrm>
        </p:grpSpPr>
        <p:sp>
          <p:nvSpPr>
            <p:cNvPr id="35847" name="Oval 3"/>
            <p:cNvSpPr>
              <a:spLocks noChangeArrowheads="1"/>
            </p:cNvSpPr>
            <p:nvPr/>
          </p:nvSpPr>
          <p:spPr bwMode="auto">
            <a:xfrm>
              <a:off x="1064" y="1235"/>
              <a:ext cx="901" cy="853"/>
            </a:xfrm>
            <a:prstGeom prst="ellips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35848" name="Oval 4"/>
            <p:cNvSpPr>
              <a:spLocks noChangeArrowheads="1"/>
            </p:cNvSpPr>
            <p:nvPr/>
          </p:nvSpPr>
          <p:spPr bwMode="auto">
            <a:xfrm>
              <a:off x="1485" y="1206"/>
              <a:ext cx="53" cy="52"/>
            </a:xfrm>
            <a:prstGeom prst="ellipse">
              <a:avLst/>
            </a:prstGeom>
            <a:solidFill>
              <a:srgbClr val="FF9900"/>
            </a:solidFill>
            <a:ln w="12699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35849" name="Oval 5"/>
            <p:cNvSpPr>
              <a:spLocks noChangeArrowheads="1"/>
            </p:cNvSpPr>
            <p:nvPr/>
          </p:nvSpPr>
          <p:spPr bwMode="auto">
            <a:xfrm>
              <a:off x="1485" y="2060"/>
              <a:ext cx="53" cy="51"/>
            </a:xfrm>
            <a:prstGeom prst="ellipse">
              <a:avLst/>
            </a:prstGeom>
            <a:solidFill>
              <a:srgbClr val="FF9900"/>
            </a:solidFill>
            <a:ln w="12699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35850" name="Text Box 7"/>
            <p:cNvSpPr txBox="1">
              <a:spLocks noChangeArrowheads="1"/>
            </p:cNvSpPr>
            <p:nvPr/>
          </p:nvSpPr>
          <p:spPr bwMode="auto">
            <a:xfrm>
              <a:off x="1453" y="1739"/>
              <a:ext cx="117" cy="252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35851" name="Line 8"/>
            <p:cNvSpPr>
              <a:spLocks noChangeShapeType="1"/>
            </p:cNvSpPr>
            <p:nvPr/>
          </p:nvSpPr>
          <p:spPr bwMode="auto">
            <a:xfrm rot="-5400000" flipH="1" flipV="1">
              <a:off x="1951" y="1450"/>
              <a:ext cx="233" cy="159"/>
            </a:xfrm>
            <a:prstGeom prst="line">
              <a:avLst/>
            </a:prstGeom>
            <a:noFill/>
            <a:ln w="12699">
              <a:solidFill>
                <a:srgbClr val="CC0066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5852" name="Text Box 9"/>
            <p:cNvSpPr txBox="1">
              <a:spLocks noChangeArrowheads="1"/>
            </p:cNvSpPr>
            <p:nvPr/>
          </p:nvSpPr>
          <p:spPr bwMode="auto">
            <a:xfrm>
              <a:off x="1838" y="969"/>
              <a:ext cx="1024" cy="368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600" dirty="0">
                  <a:solidFill>
                    <a:srgbClr val="CC0066"/>
                  </a:solidFill>
                </a:rPr>
                <a:t>Decision Thresholds</a:t>
              </a:r>
            </a:p>
          </p:txBody>
        </p:sp>
        <p:sp>
          <p:nvSpPr>
            <p:cNvPr id="35853" name="Text Box 10"/>
            <p:cNvSpPr txBox="1">
              <a:spLocks noChangeArrowheads="1"/>
            </p:cNvSpPr>
            <p:nvPr/>
          </p:nvSpPr>
          <p:spPr bwMode="auto">
            <a:xfrm>
              <a:off x="2064" y="1565"/>
              <a:ext cx="233" cy="213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dirty="0">
                  <a:solidFill>
                    <a:srgbClr val="800000"/>
                  </a:solidFill>
                </a:rPr>
                <a:t>0</a:t>
              </a:r>
              <a:r>
                <a:rPr lang="en-US" sz="1600" dirty="0">
                  <a:solidFill>
                    <a:srgbClr val="800000"/>
                  </a:solidFill>
                  <a:ea typeface="Lucida Sans Unicode" pitchFamily="34" charset="0"/>
                  <a:cs typeface="Lucida Sans Unicode" pitchFamily="34" charset="0"/>
                </a:rPr>
                <a:t>°</a:t>
              </a:r>
              <a:endParaRPr lang="en-US" sz="1600" dirty="0">
                <a:ea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35854" name="Text Box 11"/>
            <p:cNvSpPr txBox="1">
              <a:spLocks noChangeArrowheads="1"/>
            </p:cNvSpPr>
            <p:nvPr/>
          </p:nvSpPr>
          <p:spPr bwMode="auto">
            <a:xfrm>
              <a:off x="604" y="1565"/>
              <a:ext cx="397" cy="213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dirty="0">
                  <a:solidFill>
                    <a:srgbClr val="800000"/>
                  </a:solidFill>
                </a:rPr>
                <a:t>180</a:t>
              </a:r>
              <a:r>
                <a:rPr lang="en-US" sz="1600" dirty="0">
                  <a:solidFill>
                    <a:srgbClr val="800000"/>
                  </a:solidFill>
                  <a:ea typeface="Lucida Sans Unicode" pitchFamily="34" charset="0"/>
                  <a:cs typeface="Lucida Sans Unicode" pitchFamily="34" charset="0"/>
                </a:rPr>
                <a:t>°</a:t>
              </a:r>
              <a:endParaRPr lang="en-US" sz="1600" dirty="0">
                <a:ea typeface="Lucida Sans Unicode" pitchFamily="34" charset="0"/>
                <a:cs typeface="Lucida Sans Unicode" pitchFamily="34" charset="0"/>
              </a:endParaRPr>
            </a:p>
          </p:txBody>
        </p:sp>
        <p:sp>
          <p:nvSpPr>
            <p:cNvPr id="35855" name="Line 12"/>
            <p:cNvSpPr>
              <a:spLocks noChangeShapeType="1"/>
            </p:cNvSpPr>
            <p:nvPr/>
          </p:nvSpPr>
          <p:spPr bwMode="auto">
            <a:xfrm>
              <a:off x="929" y="1672"/>
              <a:ext cx="1165" cy="0"/>
            </a:xfrm>
            <a:prstGeom prst="line">
              <a:avLst/>
            </a:prstGeom>
            <a:noFill/>
            <a:ln w="12699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GB" sz="1600"/>
            </a:p>
          </p:txBody>
        </p:sp>
        <p:sp>
          <p:nvSpPr>
            <p:cNvPr id="35856" name="Text Box 7"/>
            <p:cNvSpPr txBox="1">
              <a:spLocks noChangeArrowheads="1"/>
            </p:cNvSpPr>
            <p:nvPr/>
          </p:nvSpPr>
          <p:spPr bwMode="auto">
            <a:xfrm>
              <a:off x="1442" y="1361"/>
              <a:ext cx="117" cy="252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>
                  <a:solidFill>
                    <a:schemeClr val="tx2"/>
                  </a:solidFill>
                </a:rPr>
                <a:t>0</a:t>
              </a:r>
            </a:p>
          </p:txBody>
        </p:sp>
      </p:grpSp>
      <p:sp>
        <p:nvSpPr>
          <p:cNvPr id="35843" name="Rectangle 13"/>
          <p:cNvSpPr>
            <a:spLocks noChangeArrowheads="1"/>
          </p:cNvSpPr>
          <p:nvPr/>
        </p:nvSpPr>
        <p:spPr bwMode="auto">
          <a:xfrm>
            <a:off x="392113" y="331788"/>
            <a:ext cx="7439025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2400" b="1" dirty="0"/>
              <a:t>Constellation Diagrams</a:t>
            </a:r>
            <a:endParaRPr lang="en-US" sz="4400" dirty="0"/>
          </a:p>
        </p:txBody>
      </p:sp>
      <p:sp>
        <p:nvSpPr>
          <p:cNvPr id="35844" name="Text Box 33"/>
          <p:cNvSpPr txBox="1">
            <a:spLocks noChangeArrowheads="1"/>
          </p:cNvSpPr>
          <p:nvPr/>
        </p:nvSpPr>
        <p:spPr bwMode="auto">
          <a:xfrm>
            <a:off x="3919538" y="3587750"/>
            <a:ext cx="4757737" cy="187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9388" indent="-179388">
              <a:buFont typeface="Arial" charset="0"/>
              <a:buChar char="•"/>
            </a:pPr>
            <a:r>
              <a:rPr lang="en-GB" sz="1600"/>
              <a:t>Two phase changes - 90</a:t>
            </a:r>
            <a:r>
              <a:rPr lang="en-US" sz="1600">
                <a:ea typeface="Lucida Sans Unicode" pitchFamily="34" charset="0"/>
                <a:cs typeface="Lucida Sans Unicode" pitchFamily="34" charset="0"/>
              </a:rPr>
              <a:t>° &amp; 270</a:t>
            </a:r>
            <a:r>
              <a:rPr lang="en-US" sz="2000"/>
              <a:t>°</a:t>
            </a:r>
          </a:p>
          <a:p>
            <a:pPr marL="179388" indent="-179388">
              <a:buFont typeface="Arial" charset="0"/>
              <a:buChar char="•"/>
            </a:pPr>
            <a:endParaRPr lang="en-US" sz="1600"/>
          </a:p>
          <a:p>
            <a:pPr marL="179388" indent="-179388">
              <a:buFont typeface="Arial" charset="0"/>
              <a:buChar char="•"/>
            </a:pPr>
            <a:r>
              <a:rPr lang="en-US" sz="1600"/>
              <a:t>allows intelligence – i.e. binary information – to be defined in these carrier changes </a:t>
            </a:r>
          </a:p>
          <a:p>
            <a:pPr marL="179388" indent="-179388">
              <a:buFont typeface="Arial" charset="0"/>
              <a:buChar char="•"/>
            </a:pPr>
            <a:endParaRPr lang="en-US" sz="1600"/>
          </a:p>
          <a:p>
            <a:pPr marL="179388" indent="-179388">
              <a:buFont typeface="Arial" charset="0"/>
              <a:buChar char="•"/>
            </a:pPr>
            <a:r>
              <a:rPr lang="en-US" sz="1600"/>
              <a:t>two changes in state – allows two coded bits: 1 &amp; 0</a:t>
            </a:r>
          </a:p>
        </p:txBody>
      </p:sp>
      <p:sp>
        <p:nvSpPr>
          <p:cNvPr id="35845" name="Text Box 35"/>
          <p:cNvSpPr txBox="1">
            <a:spLocks noChangeArrowheads="1"/>
          </p:cNvSpPr>
          <p:nvPr/>
        </p:nvSpPr>
        <p:spPr bwMode="auto">
          <a:xfrm>
            <a:off x="2028825" y="3462338"/>
            <a:ext cx="57419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800000"/>
                </a:solidFill>
              </a:rPr>
              <a:t>270</a:t>
            </a:r>
          </a:p>
        </p:txBody>
      </p:sp>
      <p:sp>
        <p:nvSpPr>
          <p:cNvPr id="35846" name="Text Box 27"/>
          <p:cNvSpPr txBox="1">
            <a:spLocks noChangeArrowheads="1"/>
          </p:cNvSpPr>
          <p:nvPr/>
        </p:nvSpPr>
        <p:spPr bwMode="auto">
          <a:xfrm>
            <a:off x="2139752" y="1621423"/>
            <a:ext cx="500458" cy="338554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solidFill>
                  <a:srgbClr val="800000"/>
                </a:solidFill>
              </a:rPr>
              <a:t>90°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625" y="3005138"/>
            <a:ext cx="3478340" cy="53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84373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Oval 3"/>
          <p:cNvSpPr>
            <a:spLocks noChangeArrowheads="1"/>
          </p:cNvSpPr>
          <p:nvPr/>
        </p:nvSpPr>
        <p:spPr bwMode="auto">
          <a:xfrm>
            <a:off x="1704976" y="1645793"/>
            <a:ext cx="1430337" cy="1354138"/>
          </a:xfrm>
          <a:prstGeom prst="ellips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36867" name="Oval 4"/>
          <p:cNvSpPr>
            <a:spLocks noChangeArrowheads="1"/>
          </p:cNvSpPr>
          <p:nvPr/>
        </p:nvSpPr>
        <p:spPr bwMode="auto">
          <a:xfrm>
            <a:off x="2373313" y="1599756"/>
            <a:ext cx="84138" cy="82550"/>
          </a:xfrm>
          <a:prstGeom prst="ellipse">
            <a:avLst/>
          </a:prstGeom>
          <a:solidFill>
            <a:srgbClr val="FF9900"/>
          </a:solidFill>
          <a:ln w="12699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36868" name="Oval 5"/>
          <p:cNvSpPr>
            <a:spLocks noChangeArrowheads="1"/>
          </p:cNvSpPr>
          <p:nvPr/>
        </p:nvSpPr>
        <p:spPr bwMode="auto">
          <a:xfrm>
            <a:off x="2373313" y="2955481"/>
            <a:ext cx="84138" cy="80962"/>
          </a:xfrm>
          <a:prstGeom prst="ellipse">
            <a:avLst/>
          </a:prstGeom>
          <a:solidFill>
            <a:srgbClr val="FF9900"/>
          </a:solidFill>
          <a:ln w="12699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36869" name="Text Box 6"/>
          <p:cNvSpPr txBox="1">
            <a:spLocks noChangeArrowheads="1"/>
          </p:cNvSpPr>
          <p:nvPr/>
        </p:nvSpPr>
        <p:spPr bwMode="auto">
          <a:xfrm>
            <a:off x="2243762" y="1789740"/>
            <a:ext cx="330540" cy="369332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chemeClr val="tx2"/>
                </a:solidFill>
              </a:rPr>
              <a:t>0</a:t>
            </a:r>
          </a:p>
        </p:txBody>
      </p:sp>
      <p:sp>
        <p:nvSpPr>
          <p:cNvPr id="36870" name="Text Box 7"/>
          <p:cNvSpPr txBox="1">
            <a:spLocks noChangeArrowheads="1"/>
          </p:cNvSpPr>
          <p:nvPr/>
        </p:nvSpPr>
        <p:spPr bwMode="auto">
          <a:xfrm>
            <a:off x="2322513" y="2424740"/>
            <a:ext cx="185738" cy="369332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36871" name="Line 8"/>
          <p:cNvSpPr>
            <a:spLocks noChangeShapeType="1"/>
          </p:cNvSpPr>
          <p:nvPr/>
        </p:nvSpPr>
        <p:spPr bwMode="auto">
          <a:xfrm rot="-5400000" flipH="1" flipV="1">
            <a:off x="2700338" y="1380681"/>
            <a:ext cx="896937" cy="941388"/>
          </a:xfrm>
          <a:prstGeom prst="line">
            <a:avLst/>
          </a:prstGeom>
          <a:noFill/>
          <a:ln w="12699">
            <a:solidFill>
              <a:srgbClr val="CC0066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400"/>
          </a:p>
        </p:txBody>
      </p:sp>
      <p:sp>
        <p:nvSpPr>
          <p:cNvPr id="36872" name="Text Box 9"/>
          <p:cNvSpPr txBox="1">
            <a:spLocks noChangeArrowheads="1"/>
          </p:cNvSpPr>
          <p:nvPr/>
        </p:nvSpPr>
        <p:spPr bwMode="auto">
          <a:xfrm>
            <a:off x="3347530" y="928182"/>
            <a:ext cx="1890293" cy="523220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1400" dirty="0">
                <a:solidFill>
                  <a:srgbClr val="CC0066"/>
                </a:solidFill>
              </a:rPr>
              <a:t>Decision Thresholds</a:t>
            </a:r>
          </a:p>
        </p:txBody>
      </p:sp>
      <p:sp>
        <p:nvSpPr>
          <p:cNvPr id="36873" name="Text Box 10"/>
          <p:cNvSpPr txBox="1">
            <a:spLocks noChangeArrowheads="1"/>
          </p:cNvSpPr>
          <p:nvPr/>
        </p:nvSpPr>
        <p:spPr bwMode="auto">
          <a:xfrm>
            <a:off x="3280883" y="2154865"/>
            <a:ext cx="394660" cy="369332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>
                <a:solidFill>
                  <a:srgbClr val="800000"/>
                </a:solidFill>
              </a:rPr>
              <a:t>0</a:t>
            </a:r>
            <a:r>
              <a:rPr lang="en-US">
                <a:solidFill>
                  <a:srgbClr val="800000"/>
                </a:solidFill>
                <a:ea typeface="Lucida Sans Unicode" pitchFamily="34" charset="0"/>
                <a:cs typeface="Lucida Sans Unicode" pitchFamily="34" charset="0"/>
              </a:rPr>
              <a:t>°</a:t>
            </a:r>
            <a:endParaRPr lang="en-US">
              <a:ea typeface="Lucida Sans Unicode" pitchFamily="34" charset="0"/>
              <a:cs typeface="Lucida Sans Unicode" pitchFamily="34" charset="0"/>
            </a:endParaRPr>
          </a:p>
        </p:txBody>
      </p:sp>
      <p:sp>
        <p:nvSpPr>
          <p:cNvPr id="36874" name="Text Box 11"/>
          <p:cNvSpPr txBox="1">
            <a:spLocks noChangeArrowheads="1"/>
          </p:cNvSpPr>
          <p:nvPr/>
        </p:nvSpPr>
        <p:spPr bwMode="auto">
          <a:xfrm>
            <a:off x="947435" y="2154865"/>
            <a:ext cx="686405" cy="369332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>
                <a:solidFill>
                  <a:srgbClr val="800000"/>
                </a:solidFill>
              </a:rPr>
              <a:t>180</a:t>
            </a:r>
            <a:r>
              <a:rPr lang="en-US">
                <a:solidFill>
                  <a:srgbClr val="800000"/>
                </a:solidFill>
                <a:ea typeface="Lucida Sans Unicode" pitchFamily="34" charset="0"/>
                <a:cs typeface="Lucida Sans Unicode" pitchFamily="34" charset="0"/>
              </a:rPr>
              <a:t>°</a:t>
            </a:r>
            <a:endParaRPr lang="en-US">
              <a:ea typeface="Lucida Sans Unicode" pitchFamily="34" charset="0"/>
              <a:cs typeface="Lucida Sans Unicode" pitchFamily="34" charset="0"/>
            </a:endParaRPr>
          </a:p>
        </p:txBody>
      </p:sp>
      <p:sp>
        <p:nvSpPr>
          <p:cNvPr id="36875" name="Line 12"/>
          <p:cNvSpPr>
            <a:spLocks noChangeShapeType="1"/>
          </p:cNvSpPr>
          <p:nvPr/>
        </p:nvSpPr>
        <p:spPr bwMode="auto">
          <a:xfrm>
            <a:off x="1490663" y="2339531"/>
            <a:ext cx="1849438" cy="0"/>
          </a:xfrm>
          <a:prstGeom prst="line">
            <a:avLst/>
          </a:prstGeom>
          <a:noFill/>
          <a:ln w="12699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GB" sz="1400"/>
          </a:p>
        </p:txBody>
      </p:sp>
      <p:sp>
        <p:nvSpPr>
          <p:cNvPr id="36876" name="Rectangle 13"/>
          <p:cNvSpPr>
            <a:spLocks noChangeArrowheads="1"/>
          </p:cNvSpPr>
          <p:nvPr/>
        </p:nvSpPr>
        <p:spPr bwMode="auto">
          <a:xfrm>
            <a:off x="393700" y="331788"/>
            <a:ext cx="7439025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2400" b="1" dirty="0"/>
              <a:t>Constellation Diagrams</a:t>
            </a:r>
            <a:endParaRPr lang="en-US" sz="4400" dirty="0"/>
          </a:p>
        </p:txBody>
      </p:sp>
      <p:sp>
        <p:nvSpPr>
          <p:cNvPr id="36877" name="Line 15"/>
          <p:cNvSpPr>
            <a:spLocks noChangeShapeType="1"/>
          </p:cNvSpPr>
          <p:nvPr/>
        </p:nvSpPr>
        <p:spPr bwMode="auto">
          <a:xfrm flipH="1">
            <a:off x="6561138" y="1529906"/>
            <a:ext cx="0" cy="1566862"/>
          </a:xfrm>
          <a:prstGeom prst="line">
            <a:avLst/>
          </a:prstGeom>
          <a:noFill/>
          <a:ln w="12699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GB" sz="1400"/>
          </a:p>
        </p:txBody>
      </p:sp>
      <p:sp>
        <p:nvSpPr>
          <p:cNvPr id="36878" name="Oval 16"/>
          <p:cNvSpPr>
            <a:spLocks noChangeArrowheads="1"/>
          </p:cNvSpPr>
          <p:nvPr/>
        </p:nvSpPr>
        <p:spPr bwMode="auto">
          <a:xfrm>
            <a:off x="5842001" y="1687068"/>
            <a:ext cx="1460500" cy="1290638"/>
          </a:xfrm>
          <a:prstGeom prst="ellips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36879" name="Line 17"/>
          <p:cNvSpPr>
            <a:spLocks noChangeShapeType="1"/>
          </p:cNvSpPr>
          <p:nvPr/>
        </p:nvSpPr>
        <p:spPr bwMode="auto">
          <a:xfrm>
            <a:off x="5657851" y="2274443"/>
            <a:ext cx="1890712" cy="0"/>
          </a:xfrm>
          <a:prstGeom prst="line">
            <a:avLst/>
          </a:prstGeom>
          <a:noFill/>
          <a:ln w="12699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GB" sz="1400"/>
          </a:p>
        </p:txBody>
      </p:sp>
      <p:sp>
        <p:nvSpPr>
          <p:cNvPr id="36880" name="Oval 18"/>
          <p:cNvSpPr>
            <a:spLocks noChangeArrowheads="1"/>
          </p:cNvSpPr>
          <p:nvPr/>
        </p:nvSpPr>
        <p:spPr bwMode="auto">
          <a:xfrm>
            <a:off x="6013451" y="1844231"/>
            <a:ext cx="85725" cy="77787"/>
          </a:xfrm>
          <a:prstGeom prst="ellipse">
            <a:avLst/>
          </a:prstGeom>
          <a:solidFill>
            <a:srgbClr val="FF9900"/>
          </a:solidFill>
          <a:ln w="12699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36881" name="Oval 19"/>
          <p:cNvSpPr>
            <a:spLocks noChangeArrowheads="1"/>
          </p:cNvSpPr>
          <p:nvPr/>
        </p:nvSpPr>
        <p:spPr bwMode="auto">
          <a:xfrm>
            <a:off x="6013451" y="2737993"/>
            <a:ext cx="85725" cy="77788"/>
          </a:xfrm>
          <a:prstGeom prst="ellipse">
            <a:avLst/>
          </a:prstGeom>
          <a:solidFill>
            <a:srgbClr val="FF9900"/>
          </a:solidFill>
          <a:ln w="12699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36882" name="Oval 20"/>
          <p:cNvSpPr>
            <a:spLocks noChangeArrowheads="1"/>
          </p:cNvSpPr>
          <p:nvPr/>
        </p:nvSpPr>
        <p:spPr bwMode="auto">
          <a:xfrm>
            <a:off x="7045326" y="1844231"/>
            <a:ext cx="85725" cy="77787"/>
          </a:xfrm>
          <a:prstGeom prst="ellipse">
            <a:avLst/>
          </a:prstGeom>
          <a:solidFill>
            <a:srgbClr val="FF9900"/>
          </a:solidFill>
          <a:ln w="12699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36883" name="Text Box 22"/>
          <p:cNvSpPr txBox="1">
            <a:spLocks noChangeArrowheads="1"/>
          </p:cNvSpPr>
          <p:nvPr/>
        </p:nvSpPr>
        <p:spPr bwMode="auto">
          <a:xfrm>
            <a:off x="6040438" y="1920708"/>
            <a:ext cx="568325" cy="369332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chemeClr val="tx2"/>
                </a:solidFill>
              </a:rPr>
              <a:t>11</a:t>
            </a:r>
          </a:p>
        </p:txBody>
      </p:sp>
      <p:sp>
        <p:nvSpPr>
          <p:cNvPr id="36884" name="Text Box 23"/>
          <p:cNvSpPr txBox="1">
            <a:spLocks noChangeArrowheads="1"/>
          </p:cNvSpPr>
          <p:nvPr/>
        </p:nvSpPr>
        <p:spPr bwMode="auto">
          <a:xfrm>
            <a:off x="6084807" y="2343777"/>
            <a:ext cx="476412" cy="369332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36885" name="Text Box 24"/>
          <p:cNvSpPr txBox="1">
            <a:spLocks noChangeArrowheads="1"/>
          </p:cNvSpPr>
          <p:nvPr/>
        </p:nvSpPr>
        <p:spPr bwMode="auto">
          <a:xfrm>
            <a:off x="6573838" y="1915152"/>
            <a:ext cx="568325" cy="369332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6886" name="Text Box 25"/>
          <p:cNvSpPr txBox="1">
            <a:spLocks noChangeArrowheads="1"/>
          </p:cNvSpPr>
          <p:nvPr/>
        </p:nvSpPr>
        <p:spPr bwMode="auto">
          <a:xfrm>
            <a:off x="6584869" y="2340602"/>
            <a:ext cx="476412" cy="369332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chemeClr val="tx2"/>
                </a:solidFill>
              </a:rPr>
              <a:t>00</a:t>
            </a:r>
          </a:p>
        </p:txBody>
      </p:sp>
      <p:sp>
        <p:nvSpPr>
          <p:cNvPr id="36887" name="Text Box 27"/>
          <p:cNvSpPr txBox="1">
            <a:spLocks noChangeArrowheads="1"/>
          </p:cNvSpPr>
          <p:nvPr/>
        </p:nvSpPr>
        <p:spPr bwMode="auto">
          <a:xfrm>
            <a:off x="6286903" y="1234115"/>
            <a:ext cx="540533" cy="369332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>
                <a:solidFill>
                  <a:srgbClr val="800000"/>
                </a:solidFill>
              </a:rPr>
              <a:t>90°</a:t>
            </a:r>
          </a:p>
        </p:txBody>
      </p:sp>
      <p:sp>
        <p:nvSpPr>
          <p:cNvPr id="36888" name="Text Box 28"/>
          <p:cNvSpPr txBox="1">
            <a:spLocks noChangeArrowheads="1"/>
          </p:cNvSpPr>
          <p:nvPr/>
        </p:nvSpPr>
        <p:spPr bwMode="auto">
          <a:xfrm>
            <a:off x="7478233" y="2105652"/>
            <a:ext cx="394660" cy="369332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>
                <a:solidFill>
                  <a:srgbClr val="800000"/>
                </a:solidFill>
              </a:rPr>
              <a:t>0°</a:t>
            </a:r>
          </a:p>
        </p:txBody>
      </p:sp>
      <p:sp>
        <p:nvSpPr>
          <p:cNvPr id="36889" name="Text Box 29"/>
          <p:cNvSpPr txBox="1">
            <a:spLocks noChangeArrowheads="1"/>
          </p:cNvSpPr>
          <p:nvPr/>
        </p:nvSpPr>
        <p:spPr bwMode="auto">
          <a:xfrm>
            <a:off x="6209998" y="3102602"/>
            <a:ext cx="686405" cy="369332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>
                <a:solidFill>
                  <a:srgbClr val="800000"/>
                </a:solidFill>
              </a:rPr>
              <a:t>270</a:t>
            </a:r>
            <a:r>
              <a:rPr lang="en-US">
                <a:solidFill>
                  <a:srgbClr val="800000"/>
                </a:solidFill>
                <a:ea typeface="Lucida Sans Unicode" pitchFamily="34" charset="0"/>
                <a:cs typeface="Lucida Sans Unicode" pitchFamily="34" charset="0"/>
              </a:rPr>
              <a:t>°</a:t>
            </a:r>
            <a:endParaRPr lang="en-US">
              <a:ea typeface="Lucida Sans Unicode" pitchFamily="34" charset="0"/>
              <a:cs typeface="Lucida Sans Unicode" pitchFamily="34" charset="0"/>
            </a:endParaRPr>
          </a:p>
        </p:txBody>
      </p:sp>
      <p:sp>
        <p:nvSpPr>
          <p:cNvPr id="36890" name="Text Box 30"/>
          <p:cNvSpPr txBox="1">
            <a:spLocks noChangeArrowheads="1"/>
          </p:cNvSpPr>
          <p:nvPr/>
        </p:nvSpPr>
        <p:spPr bwMode="auto">
          <a:xfrm>
            <a:off x="5086048" y="2085015"/>
            <a:ext cx="686405" cy="369332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>
                <a:solidFill>
                  <a:srgbClr val="800000"/>
                </a:solidFill>
              </a:rPr>
              <a:t>180</a:t>
            </a:r>
            <a:r>
              <a:rPr lang="en-US">
                <a:solidFill>
                  <a:srgbClr val="800000"/>
                </a:solidFill>
                <a:ea typeface="Lucida Sans Unicode" pitchFamily="34" charset="0"/>
                <a:cs typeface="Lucida Sans Unicode" pitchFamily="34" charset="0"/>
              </a:rPr>
              <a:t>°</a:t>
            </a:r>
            <a:endParaRPr lang="en-US" sz="1400">
              <a:ea typeface="Lucida Sans Unicode" pitchFamily="34" charset="0"/>
              <a:cs typeface="Lucida Sans Unicode" pitchFamily="34" charset="0"/>
            </a:endParaRPr>
          </a:p>
        </p:txBody>
      </p:sp>
      <p:sp>
        <p:nvSpPr>
          <p:cNvPr id="36891" name="Text Box 33"/>
          <p:cNvSpPr txBox="1">
            <a:spLocks noChangeArrowheads="1"/>
          </p:cNvSpPr>
          <p:nvPr/>
        </p:nvSpPr>
        <p:spPr bwMode="auto">
          <a:xfrm>
            <a:off x="395289" y="3785055"/>
            <a:ext cx="3756088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1400" dirty="0"/>
              <a:t>Two phase changes - 90</a:t>
            </a:r>
            <a:r>
              <a:rPr lang="en-US" sz="1400" dirty="0">
                <a:ea typeface="Lucida Sans Unicode" pitchFamily="34" charset="0"/>
                <a:cs typeface="Lucida Sans Unicode" pitchFamily="34" charset="0"/>
              </a:rPr>
              <a:t>° &amp; 270</a:t>
            </a:r>
            <a:r>
              <a:rPr lang="en-US" dirty="0"/>
              <a:t>°</a:t>
            </a:r>
          </a:p>
          <a:p>
            <a:r>
              <a:rPr lang="en-US" sz="1400" dirty="0"/>
              <a:t>i.e. two changes in state, allows </a:t>
            </a:r>
          </a:p>
          <a:p>
            <a:r>
              <a:rPr lang="en-US" sz="1400" dirty="0"/>
              <a:t>two coded bits: 1 &amp; 0</a:t>
            </a:r>
          </a:p>
        </p:txBody>
      </p:sp>
      <p:sp>
        <p:nvSpPr>
          <p:cNvPr id="36892" name="Text Box 34"/>
          <p:cNvSpPr txBox="1">
            <a:spLocks noChangeArrowheads="1"/>
          </p:cNvSpPr>
          <p:nvPr/>
        </p:nvSpPr>
        <p:spPr bwMode="auto">
          <a:xfrm>
            <a:off x="4756654" y="3596830"/>
            <a:ext cx="3827013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1400" dirty="0"/>
              <a:t>Four phase changes - 45</a:t>
            </a:r>
            <a:r>
              <a:rPr lang="en-US" sz="1400" dirty="0"/>
              <a:t>°, 135 °, 225 °, 315 °</a:t>
            </a:r>
          </a:p>
          <a:p>
            <a:r>
              <a:rPr lang="en-US" sz="1400" dirty="0"/>
              <a:t>i.e. four changes in state, allows two coded bits </a:t>
            </a:r>
            <a:r>
              <a:rPr lang="en-US" sz="1400" i="1" dirty="0"/>
              <a:t>per symbol</a:t>
            </a:r>
            <a:r>
              <a:rPr lang="en-US" sz="1400" dirty="0"/>
              <a:t>: </a:t>
            </a:r>
          </a:p>
          <a:p>
            <a:r>
              <a:rPr lang="en-US" sz="1400" dirty="0"/>
              <a:t>00, 01, 10, 11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i="1" dirty="0"/>
              <a:t>Problem: The receiver has to detect smaller phase changes</a:t>
            </a:r>
          </a:p>
        </p:txBody>
      </p:sp>
      <p:sp>
        <p:nvSpPr>
          <p:cNvPr id="36893" name="Text Box 35"/>
          <p:cNvSpPr txBox="1">
            <a:spLocks noChangeArrowheads="1"/>
          </p:cNvSpPr>
          <p:nvPr/>
        </p:nvSpPr>
        <p:spPr bwMode="auto">
          <a:xfrm>
            <a:off x="2024063" y="3077718"/>
            <a:ext cx="6222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800000"/>
                </a:solidFill>
              </a:rPr>
              <a:t>270</a:t>
            </a:r>
          </a:p>
        </p:txBody>
      </p:sp>
      <p:sp>
        <p:nvSpPr>
          <p:cNvPr id="36894" name="Oval 36"/>
          <p:cNvSpPr>
            <a:spLocks noChangeArrowheads="1"/>
          </p:cNvSpPr>
          <p:nvPr/>
        </p:nvSpPr>
        <p:spPr bwMode="auto">
          <a:xfrm>
            <a:off x="7085013" y="2706243"/>
            <a:ext cx="85725" cy="77788"/>
          </a:xfrm>
          <a:prstGeom prst="ellipse">
            <a:avLst/>
          </a:prstGeom>
          <a:solidFill>
            <a:srgbClr val="FF9900"/>
          </a:solidFill>
          <a:ln w="12699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36895" name="Line 8"/>
          <p:cNvSpPr>
            <a:spLocks noChangeShapeType="1"/>
          </p:cNvSpPr>
          <p:nvPr/>
        </p:nvSpPr>
        <p:spPr bwMode="auto">
          <a:xfrm rot="16200000" flipH="1">
            <a:off x="5130007" y="1300512"/>
            <a:ext cx="727075" cy="1128713"/>
          </a:xfrm>
          <a:prstGeom prst="line">
            <a:avLst/>
          </a:prstGeom>
          <a:noFill/>
          <a:ln w="12699">
            <a:solidFill>
              <a:srgbClr val="CC0066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400"/>
          </a:p>
        </p:txBody>
      </p:sp>
      <p:sp>
        <p:nvSpPr>
          <p:cNvPr id="36896" name="Line 8"/>
          <p:cNvSpPr>
            <a:spLocks noChangeShapeType="1"/>
          </p:cNvSpPr>
          <p:nvPr/>
        </p:nvSpPr>
        <p:spPr bwMode="auto">
          <a:xfrm rot="16200000" flipH="1">
            <a:off x="5547519" y="767112"/>
            <a:ext cx="376238" cy="1612900"/>
          </a:xfrm>
          <a:prstGeom prst="line">
            <a:avLst/>
          </a:prstGeom>
          <a:noFill/>
          <a:ln w="12699">
            <a:solidFill>
              <a:srgbClr val="CC0066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400"/>
          </a:p>
        </p:txBody>
      </p:sp>
      <p:sp>
        <p:nvSpPr>
          <p:cNvPr id="36897" name="Text Box 27"/>
          <p:cNvSpPr txBox="1">
            <a:spLocks noChangeArrowheads="1"/>
          </p:cNvSpPr>
          <p:nvPr/>
        </p:nvSpPr>
        <p:spPr bwMode="auto">
          <a:xfrm>
            <a:off x="2135590" y="1207127"/>
            <a:ext cx="540533" cy="369332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solidFill>
                  <a:srgbClr val="800000"/>
                </a:solidFill>
              </a:rPr>
              <a:t>90°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592" y="5218639"/>
            <a:ext cx="4185842" cy="638625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412" y="5589510"/>
            <a:ext cx="1761647" cy="721343"/>
          </a:xfrm>
          <a:prstGeom prst="rect">
            <a:avLst/>
          </a:prstGeom>
        </p:spPr>
      </p:pic>
      <p:cxnSp>
        <p:nvCxnSpPr>
          <p:cNvPr id="3" name="Straight Connector 2"/>
          <p:cNvCxnSpPr/>
          <p:nvPr/>
        </p:nvCxnSpPr>
        <p:spPr bwMode="auto">
          <a:xfrm flipV="1">
            <a:off x="4544129" y="1529906"/>
            <a:ext cx="0" cy="497262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73508712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Line 2"/>
          <p:cNvSpPr>
            <a:spLocks noChangeShapeType="1"/>
          </p:cNvSpPr>
          <p:nvPr/>
        </p:nvSpPr>
        <p:spPr bwMode="auto">
          <a:xfrm flipH="1">
            <a:off x="2427288" y="2965450"/>
            <a:ext cx="1587" cy="1566863"/>
          </a:xfrm>
          <a:prstGeom prst="line">
            <a:avLst/>
          </a:prstGeom>
          <a:noFill/>
          <a:ln w="12699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GB" sz="1400"/>
          </a:p>
        </p:txBody>
      </p:sp>
      <p:sp>
        <p:nvSpPr>
          <p:cNvPr id="37891" name="Oval 3"/>
          <p:cNvSpPr>
            <a:spLocks noChangeArrowheads="1"/>
          </p:cNvSpPr>
          <p:nvPr/>
        </p:nvSpPr>
        <p:spPr bwMode="auto">
          <a:xfrm>
            <a:off x="1708150" y="3027363"/>
            <a:ext cx="1460500" cy="1385887"/>
          </a:xfrm>
          <a:prstGeom prst="ellips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7892" name="Line 4"/>
          <p:cNvSpPr>
            <a:spLocks noChangeShapeType="1"/>
          </p:cNvSpPr>
          <p:nvPr/>
        </p:nvSpPr>
        <p:spPr bwMode="auto">
          <a:xfrm>
            <a:off x="1536700" y="3703638"/>
            <a:ext cx="1890713" cy="1587"/>
          </a:xfrm>
          <a:prstGeom prst="line">
            <a:avLst/>
          </a:prstGeom>
          <a:noFill/>
          <a:ln w="12699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GB" sz="1400"/>
          </a:p>
        </p:txBody>
      </p:sp>
      <p:sp>
        <p:nvSpPr>
          <p:cNvPr id="37893" name="Oval 5"/>
          <p:cNvSpPr>
            <a:spLocks noChangeArrowheads="1"/>
          </p:cNvSpPr>
          <p:nvPr/>
        </p:nvSpPr>
        <p:spPr bwMode="auto">
          <a:xfrm>
            <a:off x="1879600" y="3279775"/>
            <a:ext cx="85725" cy="77788"/>
          </a:xfrm>
          <a:prstGeom prst="ellipse">
            <a:avLst/>
          </a:prstGeom>
          <a:solidFill>
            <a:srgbClr val="FF9900"/>
          </a:solidFill>
          <a:ln w="12699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37894" name="Oval 6"/>
          <p:cNvSpPr>
            <a:spLocks noChangeArrowheads="1"/>
          </p:cNvSpPr>
          <p:nvPr/>
        </p:nvSpPr>
        <p:spPr bwMode="auto">
          <a:xfrm>
            <a:off x="1879600" y="4173538"/>
            <a:ext cx="85725" cy="77787"/>
          </a:xfrm>
          <a:prstGeom prst="ellipse">
            <a:avLst/>
          </a:prstGeom>
          <a:solidFill>
            <a:srgbClr val="FF9900"/>
          </a:solidFill>
          <a:ln w="12699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37895" name="Oval 7"/>
          <p:cNvSpPr>
            <a:spLocks noChangeArrowheads="1"/>
          </p:cNvSpPr>
          <p:nvPr/>
        </p:nvSpPr>
        <p:spPr bwMode="auto">
          <a:xfrm>
            <a:off x="2911475" y="3279775"/>
            <a:ext cx="85725" cy="77788"/>
          </a:xfrm>
          <a:prstGeom prst="ellipse">
            <a:avLst/>
          </a:prstGeom>
          <a:solidFill>
            <a:srgbClr val="FF9900"/>
          </a:solidFill>
          <a:ln w="12699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37896" name="Text Box 8"/>
          <p:cNvSpPr txBox="1">
            <a:spLocks noChangeArrowheads="1"/>
          </p:cNvSpPr>
          <p:nvPr/>
        </p:nvSpPr>
        <p:spPr bwMode="auto">
          <a:xfrm>
            <a:off x="1522331" y="3030022"/>
            <a:ext cx="476412" cy="369332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chemeClr val="tx2"/>
                </a:solidFill>
              </a:rPr>
              <a:t>11</a:t>
            </a:r>
          </a:p>
        </p:txBody>
      </p:sp>
      <p:sp>
        <p:nvSpPr>
          <p:cNvPr id="37897" name="Text Box 9"/>
          <p:cNvSpPr txBox="1">
            <a:spLocks noChangeArrowheads="1"/>
          </p:cNvSpPr>
          <p:nvPr/>
        </p:nvSpPr>
        <p:spPr bwMode="auto">
          <a:xfrm>
            <a:off x="1487406" y="4217472"/>
            <a:ext cx="476412" cy="369332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37898" name="Text Box 10"/>
          <p:cNvSpPr txBox="1">
            <a:spLocks noChangeArrowheads="1"/>
          </p:cNvSpPr>
          <p:nvPr/>
        </p:nvSpPr>
        <p:spPr bwMode="auto">
          <a:xfrm>
            <a:off x="2897106" y="3006209"/>
            <a:ext cx="476412" cy="369332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7899" name="Text Box 11"/>
          <p:cNvSpPr txBox="1">
            <a:spLocks noChangeArrowheads="1"/>
          </p:cNvSpPr>
          <p:nvPr/>
        </p:nvSpPr>
        <p:spPr bwMode="auto">
          <a:xfrm>
            <a:off x="2946319" y="4214297"/>
            <a:ext cx="476412" cy="369332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chemeClr val="tx2"/>
                </a:solidFill>
              </a:rPr>
              <a:t>00</a:t>
            </a:r>
          </a:p>
        </p:txBody>
      </p:sp>
      <p:sp>
        <p:nvSpPr>
          <p:cNvPr id="37900" name="Text Box 12"/>
          <p:cNvSpPr txBox="1">
            <a:spLocks noChangeArrowheads="1"/>
          </p:cNvSpPr>
          <p:nvPr/>
        </p:nvSpPr>
        <p:spPr bwMode="auto">
          <a:xfrm>
            <a:off x="2185906" y="2669659"/>
            <a:ext cx="476412" cy="369332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>
                <a:solidFill>
                  <a:srgbClr val="800000"/>
                </a:solidFill>
              </a:rPr>
              <a:t>90</a:t>
            </a:r>
            <a:endParaRPr lang="en-US"/>
          </a:p>
        </p:txBody>
      </p:sp>
      <p:sp>
        <p:nvSpPr>
          <p:cNvPr id="37901" name="Text Box 13"/>
          <p:cNvSpPr txBox="1">
            <a:spLocks noChangeArrowheads="1"/>
          </p:cNvSpPr>
          <p:nvPr/>
        </p:nvSpPr>
        <p:spPr bwMode="auto">
          <a:xfrm>
            <a:off x="3375649" y="3541197"/>
            <a:ext cx="330540" cy="369332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>
                <a:solidFill>
                  <a:srgbClr val="800000"/>
                </a:solidFill>
              </a:rPr>
              <a:t>0</a:t>
            </a:r>
            <a:endParaRPr lang="en-US"/>
          </a:p>
        </p:txBody>
      </p:sp>
      <p:sp>
        <p:nvSpPr>
          <p:cNvPr id="37902" name="Text Box 14"/>
          <p:cNvSpPr txBox="1">
            <a:spLocks noChangeArrowheads="1"/>
          </p:cNvSpPr>
          <p:nvPr/>
        </p:nvSpPr>
        <p:spPr bwMode="auto">
          <a:xfrm>
            <a:off x="2107413" y="4538147"/>
            <a:ext cx="622285" cy="369332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>
                <a:solidFill>
                  <a:srgbClr val="800000"/>
                </a:solidFill>
              </a:rPr>
              <a:t>270</a:t>
            </a:r>
            <a:endParaRPr lang="en-US"/>
          </a:p>
        </p:txBody>
      </p:sp>
      <p:sp>
        <p:nvSpPr>
          <p:cNvPr id="37903" name="Text Box 15"/>
          <p:cNvSpPr txBox="1">
            <a:spLocks noChangeArrowheads="1"/>
          </p:cNvSpPr>
          <p:nvPr/>
        </p:nvSpPr>
        <p:spPr bwMode="auto">
          <a:xfrm>
            <a:off x="983463" y="3520559"/>
            <a:ext cx="622285" cy="369332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>
                <a:solidFill>
                  <a:srgbClr val="800000"/>
                </a:solidFill>
              </a:rPr>
              <a:t>180</a:t>
            </a:r>
            <a:endParaRPr lang="en-US">
              <a:solidFill>
                <a:srgbClr val="CC0066"/>
              </a:solidFill>
            </a:endParaRPr>
          </a:p>
        </p:txBody>
      </p:sp>
      <p:sp>
        <p:nvSpPr>
          <p:cNvPr id="37905" name="Oval 17"/>
          <p:cNvSpPr>
            <a:spLocks noChangeArrowheads="1"/>
          </p:cNvSpPr>
          <p:nvPr/>
        </p:nvSpPr>
        <p:spPr bwMode="auto">
          <a:xfrm>
            <a:off x="2924175" y="4156075"/>
            <a:ext cx="85725" cy="77788"/>
          </a:xfrm>
          <a:prstGeom prst="ellipse">
            <a:avLst/>
          </a:prstGeom>
          <a:solidFill>
            <a:srgbClr val="FF9900"/>
          </a:solidFill>
          <a:ln w="12699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37906" name="AutoShape 21"/>
          <p:cNvSpPr>
            <a:spLocks noChangeArrowheads="1"/>
          </p:cNvSpPr>
          <p:nvPr/>
        </p:nvSpPr>
        <p:spPr bwMode="auto">
          <a:xfrm rot="2438774">
            <a:off x="1736725" y="3032125"/>
            <a:ext cx="1416050" cy="14859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2047 w 21600"/>
              <a:gd name="T13" fmla="*/ 0 h 21600"/>
              <a:gd name="T14" fmla="*/ 19553 w 21600"/>
              <a:gd name="T15" fmla="*/ 650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5900" y="5352"/>
                </a:moveTo>
                <a:cubicBezTo>
                  <a:pt x="7245" y="4142"/>
                  <a:pt x="8990" y="3472"/>
                  <a:pt x="10800" y="3473"/>
                </a:cubicBezTo>
                <a:cubicBezTo>
                  <a:pt x="12609" y="3473"/>
                  <a:pt x="14354" y="4142"/>
                  <a:pt x="15699" y="5352"/>
                </a:cubicBezTo>
                <a:lnTo>
                  <a:pt x="18022" y="2770"/>
                </a:lnTo>
                <a:cubicBezTo>
                  <a:pt x="16039" y="986"/>
                  <a:pt x="13466" y="-1"/>
                  <a:pt x="10799" y="0"/>
                </a:cubicBezTo>
                <a:cubicBezTo>
                  <a:pt x="8133" y="0"/>
                  <a:pt x="5560" y="986"/>
                  <a:pt x="3577" y="2770"/>
                </a:cubicBezTo>
                <a:lnTo>
                  <a:pt x="5900" y="5352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 sz="1400"/>
          </a:p>
        </p:txBody>
      </p:sp>
      <p:sp>
        <p:nvSpPr>
          <p:cNvPr id="37907" name="Text Box 22"/>
          <p:cNvSpPr txBox="1">
            <a:spLocks noChangeArrowheads="1"/>
          </p:cNvSpPr>
          <p:nvPr/>
        </p:nvSpPr>
        <p:spPr bwMode="auto">
          <a:xfrm>
            <a:off x="3952875" y="2398713"/>
            <a:ext cx="4230688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dirty="0"/>
              <a:t>If the phase change falls within this range, it represents a signal “01”</a:t>
            </a:r>
          </a:p>
          <a:p>
            <a:r>
              <a:rPr lang="en-US" sz="1600" dirty="0"/>
              <a:t>i.e. a fairly wide decision threshold</a:t>
            </a:r>
          </a:p>
        </p:txBody>
      </p:sp>
      <p:sp>
        <p:nvSpPr>
          <p:cNvPr id="37908" name="Line 24"/>
          <p:cNvSpPr>
            <a:spLocks noChangeShapeType="1"/>
          </p:cNvSpPr>
          <p:nvPr/>
        </p:nvSpPr>
        <p:spPr bwMode="auto">
          <a:xfrm flipH="1">
            <a:off x="3003550" y="2989263"/>
            <a:ext cx="944563" cy="4365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 sz="1400"/>
          </a:p>
        </p:txBody>
      </p:sp>
      <p:sp>
        <p:nvSpPr>
          <p:cNvPr id="21" name="Rectangle 13"/>
          <p:cNvSpPr>
            <a:spLocks noChangeArrowheads="1"/>
          </p:cNvSpPr>
          <p:nvPr/>
        </p:nvSpPr>
        <p:spPr bwMode="auto">
          <a:xfrm>
            <a:off x="393700" y="331788"/>
            <a:ext cx="7439025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2400" b="1" dirty="0"/>
              <a:t>Constellation Diagrams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84560340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ChangeArrowheads="1"/>
          </p:cNvSpPr>
          <p:nvPr/>
        </p:nvSpPr>
        <p:spPr bwMode="auto">
          <a:xfrm>
            <a:off x="392113" y="331788"/>
            <a:ext cx="7912100" cy="534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bIns="0" anchor="ctr"/>
          <a:lstStyle/>
          <a:p>
            <a:r>
              <a:rPr lang="en-US" sz="2400" b="1" dirty="0"/>
              <a:t>QAM – </a:t>
            </a:r>
            <a:r>
              <a:rPr lang="en-US" sz="2400" b="1" dirty="0" err="1"/>
              <a:t>Quadrature</a:t>
            </a:r>
            <a:r>
              <a:rPr lang="en-US" sz="2400" b="1" dirty="0"/>
              <a:t> Amplitude Modulation </a:t>
            </a:r>
            <a:endParaRPr lang="en-US" sz="4400" dirty="0"/>
          </a:p>
        </p:txBody>
      </p:sp>
      <p:grpSp>
        <p:nvGrpSpPr>
          <p:cNvPr id="2" name="Group 151"/>
          <p:cNvGrpSpPr>
            <a:grpSpLocks/>
          </p:cNvGrpSpPr>
          <p:nvPr/>
        </p:nvGrpSpPr>
        <p:grpSpPr bwMode="auto">
          <a:xfrm>
            <a:off x="430213" y="1462088"/>
            <a:ext cx="7026275" cy="2647950"/>
            <a:chOff x="271" y="1172"/>
            <a:chExt cx="4426" cy="1668"/>
          </a:xfrm>
        </p:grpSpPr>
        <p:grpSp>
          <p:nvGrpSpPr>
            <p:cNvPr id="3" name="Group 150"/>
            <p:cNvGrpSpPr>
              <a:grpSpLocks/>
            </p:cNvGrpSpPr>
            <p:nvPr/>
          </p:nvGrpSpPr>
          <p:grpSpPr bwMode="auto">
            <a:xfrm>
              <a:off x="2642" y="1172"/>
              <a:ext cx="2055" cy="1633"/>
              <a:chOff x="2642" y="1172"/>
              <a:chExt cx="2055" cy="1633"/>
            </a:xfrm>
          </p:grpSpPr>
          <p:sp>
            <p:nvSpPr>
              <p:cNvPr id="38919" name="Oval 6"/>
              <p:cNvSpPr>
                <a:spLocks noChangeArrowheads="1"/>
              </p:cNvSpPr>
              <p:nvPr/>
            </p:nvSpPr>
            <p:spPr bwMode="auto">
              <a:xfrm>
                <a:off x="3832" y="1566"/>
                <a:ext cx="54" cy="50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20" name="Oval 7"/>
              <p:cNvSpPr>
                <a:spLocks noChangeArrowheads="1"/>
              </p:cNvSpPr>
              <p:nvPr/>
            </p:nvSpPr>
            <p:spPr bwMode="auto">
              <a:xfrm>
                <a:off x="3243" y="2227"/>
                <a:ext cx="54" cy="50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21" name="Oval 8"/>
              <p:cNvSpPr>
                <a:spLocks noChangeArrowheads="1"/>
              </p:cNvSpPr>
              <p:nvPr/>
            </p:nvSpPr>
            <p:spPr bwMode="auto">
              <a:xfrm>
                <a:off x="3249" y="1998"/>
                <a:ext cx="54" cy="50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22" name="Oval 9"/>
              <p:cNvSpPr>
                <a:spLocks noChangeArrowheads="1"/>
              </p:cNvSpPr>
              <p:nvPr/>
            </p:nvSpPr>
            <p:spPr bwMode="auto">
              <a:xfrm>
                <a:off x="3243" y="1566"/>
                <a:ext cx="54" cy="50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23" name="Oval 10"/>
              <p:cNvSpPr>
                <a:spLocks noChangeArrowheads="1"/>
              </p:cNvSpPr>
              <p:nvPr/>
            </p:nvSpPr>
            <p:spPr bwMode="auto">
              <a:xfrm>
                <a:off x="3249" y="1782"/>
                <a:ext cx="54" cy="50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24" name="Oval 11"/>
              <p:cNvSpPr>
                <a:spLocks noChangeArrowheads="1"/>
              </p:cNvSpPr>
              <p:nvPr/>
            </p:nvSpPr>
            <p:spPr bwMode="auto">
              <a:xfrm>
                <a:off x="3552" y="2003"/>
                <a:ext cx="54" cy="50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25" name="Oval 12"/>
              <p:cNvSpPr>
                <a:spLocks noChangeArrowheads="1"/>
              </p:cNvSpPr>
              <p:nvPr/>
            </p:nvSpPr>
            <p:spPr bwMode="auto">
              <a:xfrm>
                <a:off x="3536" y="2232"/>
                <a:ext cx="54" cy="50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26" name="Oval 13"/>
              <p:cNvSpPr>
                <a:spLocks noChangeArrowheads="1"/>
              </p:cNvSpPr>
              <p:nvPr/>
            </p:nvSpPr>
            <p:spPr bwMode="auto">
              <a:xfrm>
                <a:off x="3552" y="1782"/>
                <a:ext cx="54" cy="50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27" name="Oval 14"/>
              <p:cNvSpPr>
                <a:spLocks noChangeArrowheads="1"/>
              </p:cNvSpPr>
              <p:nvPr/>
            </p:nvSpPr>
            <p:spPr bwMode="auto">
              <a:xfrm>
                <a:off x="3821" y="1998"/>
                <a:ext cx="55" cy="50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28" name="Oval 15"/>
              <p:cNvSpPr>
                <a:spLocks noChangeArrowheads="1"/>
              </p:cNvSpPr>
              <p:nvPr/>
            </p:nvSpPr>
            <p:spPr bwMode="auto">
              <a:xfrm>
                <a:off x="3547" y="1571"/>
                <a:ext cx="54" cy="49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29" name="Oval 16"/>
              <p:cNvSpPr>
                <a:spLocks noChangeArrowheads="1"/>
              </p:cNvSpPr>
              <p:nvPr/>
            </p:nvSpPr>
            <p:spPr bwMode="auto">
              <a:xfrm>
                <a:off x="3832" y="2236"/>
                <a:ext cx="54" cy="50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30" name="Oval 17"/>
              <p:cNvSpPr>
                <a:spLocks noChangeArrowheads="1"/>
              </p:cNvSpPr>
              <p:nvPr/>
            </p:nvSpPr>
            <p:spPr bwMode="auto">
              <a:xfrm>
                <a:off x="3821" y="1782"/>
                <a:ext cx="55" cy="50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31" name="Oval 18"/>
              <p:cNvSpPr>
                <a:spLocks noChangeArrowheads="1"/>
              </p:cNvSpPr>
              <p:nvPr/>
            </p:nvSpPr>
            <p:spPr bwMode="auto">
              <a:xfrm>
                <a:off x="4113" y="1786"/>
                <a:ext cx="54" cy="50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32" name="Oval 19"/>
              <p:cNvSpPr>
                <a:spLocks noChangeArrowheads="1"/>
              </p:cNvSpPr>
              <p:nvPr/>
            </p:nvSpPr>
            <p:spPr bwMode="auto">
              <a:xfrm>
                <a:off x="4108" y="2003"/>
                <a:ext cx="54" cy="50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33" name="Oval 20"/>
              <p:cNvSpPr>
                <a:spLocks noChangeArrowheads="1"/>
              </p:cNvSpPr>
              <p:nvPr/>
            </p:nvSpPr>
            <p:spPr bwMode="auto">
              <a:xfrm>
                <a:off x="4103" y="1561"/>
                <a:ext cx="54" cy="50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34" name="Oval 21"/>
              <p:cNvSpPr>
                <a:spLocks noChangeArrowheads="1"/>
              </p:cNvSpPr>
              <p:nvPr/>
            </p:nvSpPr>
            <p:spPr bwMode="auto">
              <a:xfrm>
                <a:off x="4108" y="2241"/>
                <a:ext cx="54" cy="50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35" name="Line 22"/>
              <p:cNvSpPr>
                <a:spLocks noChangeShapeType="1"/>
              </p:cNvSpPr>
              <p:nvPr/>
            </p:nvSpPr>
            <p:spPr bwMode="auto">
              <a:xfrm flipH="1">
                <a:off x="3712" y="1376"/>
                <a:ext cx="2" cy="1211"/>
              </a:xfrm>
              <a:prstGeom prst="line">
                <a:avLst/>
              </a:prstGeom>
              <a:noFill/>
              <a:ln w="12699">
                <a:solidFill>
                  <a:srgbClr val="8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8936" name="Line 23"/>
              <p:cNvSpPr>
                <a:spLocks noChangeShapeType="1"/>
              </p:cNvSpPr>
              <p:nvPr/>
            </p:nvSpPr>
            <p:spPr bwMode="auto">
              <a:xfrm>
                <a:off x="2991" y="1921"/>
                <a:ext cx="1500" cy="0"/>
              </a:xfrm>
              <a:prstGeom prst="line">
                <a:avLst/>
              </a:prstGeom>
              <a:noFill/>
              <a:ln w="12699">
                <a:solidFill>
                  <a:srgbClr val="8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8937" name="Text Box 24"/>
              <p:cNvSpPr txBox="1">
                <a:spLocks noChangeArrowheads="1"/>
              </p:cNvSpPr>
              <p:nvPr/>
            </p:nvSpPr>
            <p:spPr bwMode="auto">
              <a:xfrm>
                <a:off x="3574" y="1172"/>
                <a:ext cx="278" cy="212"/>
              </a:xfrm>
              <a:prstGeom prst="rect">
                <a:avLst/>
              </a:prstGeom>
              <a:noFill/>
              <a:ln w="12699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>
                    <a:solidFill>
                      <a:srgbClr val="800000"/>
                    </a:solidFill>
                  </a:rPr>
                  <a:t>90</a:t>
                </a:r>
              </a:p>
            </p:txBody>
          </p:sp>
          <p:sp>
            <p:nvSpPr>
              <p:cNvPr id="38938" name="Text Box 25"/>
              <p:cNvSpPr txBox="1">
                <a:spLocks noChangeArrowheads="1"/>
              </p:cNvSpPr>
              <p:nvPr/>
            </p:nvSpPr>
            <p:spPr bwMode="auto">
              <a:xfrm>
                <a:off x="4500" y="1810"/>
                <a:ext cx="197" cy="212"/>
              </a:xfrm>
              <a:prstGeom prst="rect">
                <a:avLst/>
              </a:prstGeom>
              <a:noFill/>
              <a:ln w="12699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>
                    <a:solidFill>
                      <a:srgbClr val="8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38939" name="Text Box 26"/>
              <p:cNvSpPr txBox="1">
                <a:spLocks noChangeArrowheads="1"/>
              </p:cNvSpPr>
              <p:nvPr/>
            </p:nvSpPr>
            <p:spPr bwMode="auto">
              <a:xfrm>
                <a:off x="3534" y="2593"/>
                <a:ext cx="359" cy="212"/>
              </a:xfrm>
              <a:prstGeom prst="rect">
                <a:avLst/>
              </a:prstGeom>
              <a:noFill/>
              <a:ln w="12699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>
                    <a:solidFill>
                      <a:srgbClr val="800000"/>
                    </a:solidFill>
                  </a:rPr>
                  <a:t>270</a:t>
                </a:r>
                <a:endParaRPr lang="en-US"/>
              </a:p>
            </p:txBody>
          </p:sp>
          <p:sp>
            <p:nvSpPr>
              <p:cNvPr id="38940" name="Text Box 27"/>
              <p:cNvSpPr txBox="1">
                <a:spLocks noChangeArrowheads="1"/>
              </p:cNvSpPr>
              <p:nvPr/>
            </p:nvSpPr>
            <p:spPr bwMode="auto">
              <a:xfrm>
                <a:off x="2642" y="1811"/>
                <a:ext cx="359" cy="212"/>
              </a:xfrm>
              <a:prstGeom prst="rect">
                <a:avLst/>
              </a:prstGeom>
              <a:noFill/>
              <a:ln w="12699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>
                    <a:solidFill>
                      <a:srgbClr val="800000"/>
                    </a:solidFill>
                  </a:rPr>
                  <a:t>180</a:t>
                </a:r>
                <a:endParaRPr lang="en-US"/>
              </a:p>
            </p:txBody>
          </p:sp>
        </p:grpSp>
        <p:sp>
          <p:nvSpPr>
            <p:cNvPr id="38918" name="Rectangle 39"/>
            <p:cNvSpPr>
              <a:spLocks noChangeArrowheads="1"/>
            </p:cNvSpPr>
            <p:nvPr/>
          </p:nvSpPr>
          <p:spPr bwMode="auto">
            <a:xfrm>
              <a:off x="271" y="1361"/>
              <a:ext cx="2048" cy="14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2075" tIns="46038" rIns="92075" bIns="46038"/>
            <a:lstStyle/>
            <a:p>
              <a:pPr marL="342900" indent="-342900">
                <a:spcBef>
                  <a:spcPct val="20000"/>
                </a:spcBef>
              </a:pPr>
              <a:r>
                <a:rPr lang="en-US" sz="1600" b="1" dirty="0"/>
                <a:t>16-QAM</a:t>
              </a:r>
            </a:p>
            <a:p>
              <a:pPr marL="342900" indent="-342900">
                <a:spcBef>
                  <a:spcPct val="20000"/>
                </a:spcBef>
                <a:buFontTx/>
                <a:buChar char="•"/>
              </a:pPr>
              <a:r>
                <a:rPr lang="en-US" sz="1600" dirty="0"/>
                <a:t>16 decision points</a:t>
              </a:r>
            </a:p>
            <a:p>
              <a:pPr marL="342900" indent="-342900">
                <a:spcBef>
                  <a:spcPct val="20000"/>
                </a:spcBef>
                <a:buFontTx/>
                <a:buChar char="•"/>
              </a:pPr>
              <a:r>
                <a:rPr lang="en-US" sz="1600" dirty="0"/>
                <a:t>4 coded bits per </a:t>
              </a:r>
              <a:r>
                <a:rPr lang="en-US" sz="1600" b="1" u="sng" dirty="0"/>
                <a:t>symbol</a:t>
              </a:r>
              <a:endParaRPr lang="en-US" sz="1600" dirty="0"/>
            </a:p>
            <a:p>
              <a:pPr marL="342900" indent="-342900">
                <a:spcBef>
                  <a:spcPct val="20000"/>
                </a:spcBef>
                <a:buFontTx/>
                <a:buChar char="•"/>
              </a:pPr>
              <a:endParaRPr lang="en-US" sz="2000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38916" name="Text Box 138"/>
          <p:cNvSpPr txBox="1">
            <a:spLocks noChangeArrowheads="1"/>
          </p:cNvSpPr>
          <p:nvPr/>
        </p:nvSpPr>
        <p:spPr bwMode="auto">
          <a:xfrm>
            <a:off x="392113" y="4957763"/>
            <a:ext cx="4299575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 dirty="0"/>
              <a:t>Used in Cable TV, IPTV, Satellite TV, </a:t>
            </a:r>
            <a:r>
              <a:rPr lang="en-GB" sz="1600" dirty="0" err="1"/>
              <a:t>WiFi</a:t>
            </a:r>
            <a:r>
              <a:rPr lang="en-GB" sz="1600" dirty="0"/>
              <a:t> </a:t>
            </a:r>
          </a:p>
          <a:p>
            <a:r>
              <a:rPr lang="en-GB" sz="1600" dirty="0"/>
              <a:t>...  most digital </a:t>
            </a:r>
            <a:r>
              <a:rPr lang="en-GB" sz="1600" dirty="0" err="1"/>
              <a:t>transmisions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15048282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AutoShape 160"/>
          <p:cNvSpPr>
            <a:spLocks noChangeArrowheads="1"/>
          </p:cNvSpPr>
          <p:nvPr/>
        </p:nvSpPr>
        <p:spPr bwMode="auto">
          <a:xfrm>
            <a:off x="4200525" y="4660900"/>
            <a:ext cx="2870200" cy="1385888"/>
          </a:xfrm>
          <a:prstGeom prst="wedgeRoundRectCallout">
            <a:avLst>
              <a:gd name="adj1" fmla="val 24944"/>
              <a:gd name="adj2" fmla="val -145875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>
              <a:latin typeface="Times New Roman" pitchFamily="18" charset="0"/>
            </a:endParaRPr>
          </a:p>
        </p:txBody>
      </p:sp>
      <p:sp>
        <p:nvSpPr>
          <p:cNvPr id="39939" name="Rectangle 155"/>
          <p:cNvSpPr>
            <a:spLocks noChangeArrowheads="1"/>
          </p:cNvSpPr>
          <p:nvPr/>
        </p:nvSpPr>
        <p:spPr bwMode="auto">
          <a:xfrm>
            <a:off x="4375150" y="4859338"/>
            <a:ext cx="466725" cy="381000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40" name="Rectangle 2"/>
          <p:cNvSpPr>
            <a:spLocks noChangeArrowheads="1"/>
          </p:cNvSpPr>
          <p:nvPr/>
        </p:nvSpPr>
        <p:spPr bwMode="auto">
          <a:xfrm>
            <a:off x="393700" y="331788"/>
            <a:ext cx="2341563" cy="470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bIns="0" anchor="ctr"/>
          <a:lstStyle/>
          <a:p>
            <a:r>
              <a:rPr lang="en-US" sz="2400" b="1" dirty="0"/>
              <a:t>16-QAM</a:t>
            </a:r>
            <a:endParaRPr lang="en-US" sz="4400" dirty="0"/>
          </a:p>
        </p:txBody>
      </p:sp>
      <p:grpSp>
        <p:nvGrpSpPr>
          <p:cNvPr id="2" name="Group 154"/>
          <p:cNvGrpSpPr>
            <a:grpSpLocks/>
          </p:cNvGrpSpPr>
          <p:nvPr/>
        </p:nvGrpSpPr>
        <p:grpSpPr bwMode="auto">
          <a:xfrm>
            <a:off x="430213" y="1350963"/>
            <a:ext cx="8497887" cy="2759075"/>
            <a:chOff x="271" y="1102"/>
            <a:chExt cx="5353" cy="1738"/>
          </a:xfrm>
        </p:grpSpPr>
        <p:grpSp>
          <p:nvGrpSpPr>
            <p:cNvPr id="3" name="Group 151"/>
            <p:cNvGrpSpPr>
              <a:grpSpLocks/>
            </p:cNvGrpSpPr>
            <p:nvPr/>
          </p:nvGrpSpPr>
          <p:grpSpPr bwMode="auto">
            <a:xfrm>
              <a:off x="271" y="1102"/>
              <a:ext cx="5353" cy="1738"/>
              <a:chOff x="271" y="1102"/>
              <a:chExt cx="5353" cy="1738"/>
            </a:xfrm>
          </p:grpSpPr>
          <p:grpSp>
            <p:nvGrpSpPr>
              <p:cNvPr id="4" name="Group 150"/>
              <p:cNvGrpSpPr>
                <a:grpSpLocks/>
              </p:cNvGrpSpPr>
              <p:nvPr/>
            </p:nvGrpSpPr>
            <p:grpSpPr bwMode="auto">
              <a:xfrm>
                <a:off x="2642" y="1102"/>
                <a:ext cx="2982" cy="1703"/>
                <a:chOff x="2642" y="1102"/>
                <a:chExt cx="2982" cy="1703"/>
              </a:xfrm>
            </p:grpSpPr>
            <p:sp>
              <p:nvSpPr>
                <p:cNvPr id="39970" name="Oval 6"/>
                <p:cNvSpPr>
                  <a:spLocks noChangeArrowheads="1"/>
                </p:cNvSpPr>
                <p:nvPr/>
              </p:nvSpPr>
              <p:spPr bwMode="auto">
                <a:xfrm>
                  <a:off x="3832" y="1566"/>
                  <a:ext cx="54" cy="50"/>
                </a:xfrm>
                <a:prstGeom prst="ellipse">
                  <a:avLst/>
                </a:prstGeom>
                <a:solidFill>
                  <a:schemeClr val="accent1"/>
                </a:solidFill>
                <a:ln w="12699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971" name="Oval 7"/>
                <p:cNvSpPr>
                  <a:spLocks noChangeArrowheads="1"/>
                </p:cNvSpPr>
                <p:nvPr/>
              </p:nvSpPr>
              <p:spPr bwMode="auto">
                <a:xfrm>
                  <a:off x="3243" y="2227"/>
                  <a:ext cx="54" cy="50"/>
                </a:xfrm>
                <a:prstGeom prst="ellipse">
                  <a:avLst/>
                </a:prstGeom>
                <a:solidFill>
                  <a:schemeClr val="accent1"/>
                </a:solidFill>
                <a:ln w="12699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972" name="Oval 8"/>
                <p:cNvSpPr>
                  <a:spLocks noChangeArrowheads="1"/>
                </p:cNvSpPr>
                <p:nvPr/>
              </p:nvSpPr>
              <p:spPr bwMode="auto">
                <a:xfrm>
                  <a:off x="3249" y="1998"/>
                  <a:ext cx="54" cy="50"/>
                </a:xfrm>
                <a:prstGeom prst="ellipse">
                  <a:avLst/>
                </a:prstGeom>
                <a:solidFill>
                  <a:schemeClr val="accent1"/>
                </a:solidFill>
                <a:ln w="12699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973" name="Oval 9"/>
                <p:cNvSpPr>
                  <a:spLocks noChangeArrowheads="1"/>
                </p:cNvSpPr>
                <p:nvPr/>
              </p:nvSpPr>
              <p:spPr bwMode="auto">
                <a:xfrm>
                  <a:off x="3243" y="1566"/>
                  <a:ext cx="54" cy="50"/>
                </a:xfrm>
                <a:prstGeom prst="ellipse">
                  <a:avLst/>
                </a:prstGeom>
                <a:solidFill>
                  <a:schemeClr val="accent1"/>
                </a:solidFill>
                <a:ln w="12699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974" name="Oval 10"/>
                <p:cNvSpPr>
                  <a:spLocks noChangeArrowheads="1"/>
                </p:cNvSpPr>
                <p:nvPr/>
              </p:nvSpPr>
              <p:spPr bwMode="auto">
                <a:xfrm>
                  <a:off x="3249" y="1782"/>
                  <a:ext cx="54" cy="50"/>
                </a:xfrm>
                <a:prstGeom prst="ellipse">
                  <a:avLst/>
                </a:prstGeom>
                <a:solidFill>
                  <a:schemeClr val="accent1"/>
                </a:solidFill>
                <a:ln w="12699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975" name="Oval 11"/>
                <p:cNvSpPr>
                  <a:spLocks noChangeArrowheads="1"/>
                </p:cNvSpPr>
                <p:nvPr/>
              </p:nvSpPr>
              <p:spPr bwMode="auto">
                <a:xfrm>
                  <a:off x="3552" y="2003"/>
                  <a:ext cx="54" cy="50"/>
                </a:xfrm>
                <a:prstGeom prst="ellipse">
                  <a:avLst/>
                </a:prstGeom>
                <a:solidFill>
                  <a:schemeClr val="accent1"/>
                </a:solidFill>
                <a:ln w="12699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976" name="Oval 12"/>
                <p:cNvSpPr>
                  <a:spLocks noChangeArrowheads="1"/>
                </p:cNvSpPr>
                <p:nvPr/>
              </p:nvSpPr>
              <p:spPr bwMode="auto">
                <a:xfrm>
                  <a:off x="3536" y="2232"/>
                  <a:ext cx="54" cy="50"/>
                </a:xfrm>
                <a:prstGeom prst="ellipse">
                  <a:avLst/>
                </a:prstGeom>
                <a:solidFill>
                  <a:schemeClr val="accent1"/>
                </a:solidFill>
                <a:ln w="12699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977" name="Oval 13"/>
                <p:cNvSpPr>
                  <a:spLocks noChangeArrowheads="1"/>
                </p:cNvSpPr>
                <p:nvPr/>
              </p:nvSpPr>
              <p:spPr bwMode="auto">
                <a:xfrm>
                  <a:off x="3552" y="1782"/>
                  <a:ext cx="54" cy="50"/>
                </a:xfrm>
                <a:prstGeom prst="ellipse">
                  <a:avLst/>
                </a:prstGeom>
                <a:solidFill>
                  <a:schemeClr val="accent1"/>
                </a:solidFill>
                <a:ln w="12699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978" name="Oval 14"/>
                <p:cNvSpPr>
                  <a:spLocks noChangeArrowheads="1"/>
                </p:cNvSpPr>
                <p:nvPr/>
              </p:nvSpPr>
              <p:spPr bwMode="auto">
                <a:xfrm>
                  <a:off x="3821" y="1998"/>
                  <a:ext cx="55" cy="50"/>
                </a:xfrm>
                <a:prstGeom prst="ellipse">
                  <a:avLst/>
                </a:prstGeom>
                <a:solidFill>
                  <a:schemeClr val="accent1"/>
                </a:solidFill>
                <a:ln w="12699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979" name="Oval 15"/>
                <p:cNvSpPr>
                  <a:spLocks noChangeArrowheads="1"/>
                </p:cNvSpPr>
                <p:nvPr/>
              </p:nvSpPr>
              <p:spPr bwMode="auto">
                <a:xfrm>
                  <a:off x="3547" y="1571"/>
                  <a:ext cx="54" cy="49"/>
                </a:xfrm>
                <a:prstGeom prst="ellipse">
                  <a:avLst/>
                </a:prstGeom>
                <a:solidFill>
                  <a:schemeClr val="accent1"/>
                </a:solidFill>
                <a:ln w="12699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980" name="Oval 16"/>
                <p:cNvSpPr>
                  <a:spLocks noChangeArrowheads="1"/>
                </p:cNvSpPr>
                <p:nvPr/>
              </p:nvSpPr>
              <p:spPr bwMode="auto">
                <a:xfrm>
                  <a:off x="3832" y="2236"/>
                  <a:ext cx="54" cy="50"/>
                </a:xfrm>
                <a:prstGeom prst="ellipse">
                  <a:avLst/>
                </a:prstGeom>
                <a:solidFill>
                  <a:schemeClr val="accent1"/>
                </a:solidFill>
                <a:ln w="12699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981" name="Oval 17"/>
                <p:cNvSpPr>
                  <a:spLocks noChangeArrowheads="1"/>
                </p:cNvSpPr>
                <p:nvPr/>
              </p:nvSpPr>
              <p:spPr bwMode="auto">
                <a:xfrm>
                  <a:off x="3821" y="1782"/>
                  <a:ext cx="55" cy="50"/>
                </a:xfrm>
                <a:prstGeom prst="ellipse">
                  <a:avLst/>
                </a:prstGeom>
                <a:solidFill>
                  <a:schemeClr val="accent1"/>
                </a:solidFill>
                <a:ln w="12699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982" name="Oval 18"/>
                <p:cNvSpPr>
                  <a:spLocks noChangeArrowheads="1"/>
                </p:cNvSpPr>
                <p:nvPr/>
              </p:nvSpPr>
              <p:spPr bwMode="auto">
                <a:xfrm>
                  <a:off x="4113" y="1786"/>
                  <a:ext cx="54" cy="50"/>
                </a:xfrm>
                <a:prstGeom prst="ellipse">
                  <a:avLst/>
                </a:prstGeom>
                <a:solidFill>
                  <a:schemeClr val="accent1"/>
                </a:solidFill>
                <a:ln w="12699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983" name="Oval 19"/>
                <p:cNvSpPr>
                  <a:spLocks noChangeArrowheads="1"/>
                </p:cNvSpPr>
                <p:nvPr/>
              </p:nvSpPr>
              <p:spPr bwMode="auto">
                <a:xfrm>
                  <a:off x="4108" y="2003"/>
                  <a:ext cx="54" cy="50"/>
                </a:xfrm>
                <a:prstGeom prst="ellipse">
                  <a:avLst/>
                </a:prstGeom>
                <a:solidFill>
                  <a:schemeClr val="accent1"/>
                </a:solidFill>
                <a:ln w="12699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984" name="Oval 20"/>
                <p:cNvSpPr>
                  <a:spLocks noChangeArrowheads="1"/>
                </p:cNvSpPr>
                <p:nvPr/>
              </p:nvSpPr>
              <p:spPr bwMode="auto">
                <a:xfrm>
                  <a:off x="4103" y="1561"/>
                  <a:ext cx="54" cy="50"/>
                </a:xfrm>
                <a:prstGeom prst="ellipse">
                  <a:avLst/>
                </a:prstGeom>
                <a:solidFill>
                  <a:schemeClr val="accent1"/>
                </a:solidFill>
                <a:ln w="12699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985" name="Oval 21"/>
                <p:cNvSpPr>
                  <a:spLocks noChangeArrowheads="1"/>
                </p:cNvSpPr>
                <p:nvPr/>
              </p:nvSpPr>
              <p:spPr bwMode="auto">
                <a:xfrm>
                  <a:off x="4108" y="2241"/>
                  <a:ext cx="54" cy="50"/>
                </a:xfrm>
                <a:prstGeom prst="ellipse">
                  <a:avLst/>
                </a:prstGeom>
                <a:solidFill>
                  <a:schemeClr val="accent1"/>
                </a:solidFill>
                <a:ln w="12699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986" name="Line 22"/>
                <p:cNvSpPr>
                  <a:spLocks noChangeShapeType="1"/>
                </p:cNvSpPr>
                <p:nvPr/>
              </p:nvSpPr>
              <p:spPr bwMode="auto">
                <a:xfrm flipH="1">
                  <a:off x="3712" y="1376"/>
                  <a:ext cx="2" cy="1211"/>
                </a:xfrm>
                <a:prstGeom prst="line">
                  <a:avLst/>
                </a:prstGeom>
                <a:noFill/>
                <a:ln w="12699">
                  <a:solidFill>
                    <a:srgbClr val="8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9987" name="Line 23"/>
                <p:cNvSpPr>
                  <a:spLocks noChangeShapeType="1"/>
                </p:cNvSpPr>
                <p:nvPr/>
              </p:nvSpPr>
              <p:spPr bwMode="auto">
                <a:xfrm>
                  <a:off x="2991" y="1921"/>
                  <a:ext cx="1500" cy="0"/>
                </a:xfrm>
                <a:prstGeom prst="line">
                  <a:avLst/>
                </a:prstGeom>
                <a:noFill/>
                <a:ln w="12699">
                  <a:solidFill>
                    <a:srgbClr val="8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9988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3574" y="1172"/>
                  <a:ext cx="278" cy="212"/>
                </a:xfrm>
                <a:prstGeom prst="rect">
                  <a:avLst/>
                </a:prstGeom>
                <a:noFill/>
                <a:ln w="12699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>
                      <a:solidFill>
                        <a:srgbClr val="800000"/>
                      </a:solidFill>
                    </a:rPr>
                    <a:t>90</a:t>
                  </a:r>
                </a:p>
              </p:txBody>
            </p:sp>
            <p:sp>
              <p:nvSpPr>
                <p:cNvPr id="39989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4500" y="1810"/>
                  <a:ext cx="197" cy="212"/>
                </a:xfrm>
                <a:prstGeom prst="rect">
                  <a:avLst/>
                </a:prstGeom>
                <a:noFill/>
                <a:ln w="12699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>
                      <a:solidFill>
                        <a:srgbClr val="800000"/>
                      </a:solidFill>
                    </a:rPr>
                    <a:t>0</a:t>
                  </a:r>
                  <a:endParaRPr lang="en-US"/>
                </a:p>
              </p:txBody>
            </p:sp>
            <p:sp>
              <p:nvSpPr>
                <p:cNvPr id="39990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3534" y="2593"/>
                  <a:ext cx="359" cy="212"/>
                </a:xfrm>
                <a:prstGeom prst="rect">
                  <a:avLst/>
                </a:prstGeom>
                <a:noFill/>
                <a:ln w="12699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>
                      <a:solidFill>
                        <a:srgbClr val="800000"/>
                      </a:solidFill>
                    </a:rPr>
                    <a:t>270</a:t>
                  </a:r>
                  <a:endParaRPr lang="en-US"/>
                </a:p>
              </p:txBody>
            </p:sp>
            <p:sp>
              <p:nvSpPr>
                <p:cNvPr id="39991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2642" y="1811"/>
                  <a:ext cx="359" cy="212"/>
                </a:xfrm>
                <a:prstGeom prst="rect">
                  <a:avLst/>
                </a:prstGeom>
                <a:noFill/>
                <a:ln w="12699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>
                      <a:solidFill>
                        <a:srgbClr val="800000"/>
                      </a:solidFill>
                    </a:rPr>
                    <a:t>180</a:t>
                  </a:r>
                  <a:endParaRPr lang="en-US"/>
                </a:p>
              </p:txBody>
            </p:sp>
            <p:sp>
              <p:nvSpPr>
                <p:cNvPr id="39992" name="Line 28"/>
                <p:cNvSpPr>
                  <a:spLocks noChangeShapeType="1"/>
                </p:cNvSpPr>
                <p:nvPr/>
              </p:nvSpPr>
              <p:spPr bwMode="auto">
                <a:xfrm flipV="1">
                  <a:off x="3706" y="1820"/>
                  <a:ext cx="406" cy="102"/>
                </a:xfrm>
                <a:prstGeom prst="line">
                  <a:avLst/>
                </a:prstGeom>
                <a:noFill/>
                <a:ln w="28575">
                  <a:solidFill>
                    <a:srgbClr val="CC0066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9993" name="Line 29"/>
                <p:cNvSpPr>
                  <a:spLocks noChangeShapeType="1"/>
                </p:cNvSpPr>
                <p:nvPr/>
              </p:nvSpPr>
              <p:spPr bwMode="auto">
                <a:xfrm>
                  <a:off x="3989" y="1981"/>
                  <a:ext cx="0" cy="338"/>
                </a:xfrm>
                <a:prstGeom prst="line">
                  <a:avLst/>
                </a:prstGeom>
                <a:noFill/>
                <a:ln w="28575">
                  <a:solidFill>
                    <a:srgbClr val="CC0066"/>
                  </a:solidFill>
                  <a:prstDash val="sysDot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9994" name="Line 30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3989" y="1950"/>
                  <a:ext cx="0" cy="399"/>
                </a:xfrm>
                <a:prstGeom prst="line">
                  <a:avLst/>
                </a:prstGeom>
                <a:noFill/>
                <a:ln w="28575">
                  <a:solidFill>
                    <a:srgbClr val="CC0066"/>
                  </a:solidFill>
                  <a:prstDash val="sysDot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9995" name="Line 31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4266" y="2098"/>
                  <a:ext cx="144" cy="259"/>
                </a:xfrm>
                <a:prstGeom prst="line">
                  <a:avLst/>
                </a:prstGeom>
                <a:noFill/>
                <a:ln w="12699">
                  <a:solidFill>
                    <a:srgbClr val="CC0066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9996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4308" y="2275"/>
                  <a:ext cx="646" cy="212"/>
                </a:xfrm>
                <a:prstGeom prst="rect">
                  <a:avLst/>
                </a:prstGeom>
                <a:noFill/>
                <a:ln w="12699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600" dirty="0">
                      <a:solidFill>
                        <a:srgbClr val="CC0066"/>
                      </a:solidFill>
                    </a:rPr>
                    <a:t>Decision</a:t>
                  </a:r>
                  <a:endParaRPr lang="en-US" sz="1600" dirty="0"/>
                </a:p>
              </p:txBody>
            </p:sp>
            <p:sp>
              <p:nvSpPr>
                <p:cNvPr id="39997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4237" y="2414"/>
                  <a:ext cx="805" cy="212"/>
                </a:xfrm>
                <a:prstGeom prst="rect">
                  <a:avLst/>
                </a:prstGeom>
                <a:noFill/>
                <a:ln w="12699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sz="1600" dirty="0">
                      <a:solidFill>
                        <a:srgbClr val="CC0066"/>
                      </a:solidFill>
                    </a:rPr>
                    <a:t>Thresholds</a:t>
                  </a:r>
                  <a:endParaRPr lang="en-US" sz="1600" dirty="0"/>
                </a:p>
              </p:txBody>
            </p:sp>
            <p:sp>
              <p:nvSpPr>
                <p:cNvPr id="39998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4346" y="1102"/>
                  <a:ext cx="749" cy="212"/>
                </a:xfrm>
                <a:prstGeom prst="rect">
                  <a:avLst/>
                </a:prstGeom>
                <a:noFill/>
                <a:ln w="12699">
                  <a:noFill/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r>
                    <a:rPr lang="en-US" sz="1600" dirty="0">
                      <a:solidFill>
                        <a:srgbClr val="CC0066"/>
                      </a:solidFill>
                    </a:rPr>
                    <a:t>Vector: </a:t>
                  </a:r>
                </a:p>
              </p:txBody>
            </p:sp>
            <p:sp>
              <p:nvSpPr>
                <p:cNvPr id="39999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4257" y="1441"/>
                  <a:ext cx="1367" cy="212"/>
                </a:xfrm>
                <a:prstGeom prst="rect">
                  <a:avLst/>
                </a:prstGeom>
                <a:noFill/>
                <a:ln w="12699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sz="1600" dirty="0">
                      <a:solidFill>
                        <a:srgbClr val="CC0066"/>
                      </a:solidFill>
                    </a:rPr>
                    <a:t>Length = Amplitude</a:t>
                  </a:r>
                </a:p>
              </p:txBody>
            </p:sp>
            <p:sp>
              <p:nvSpPr>
                <p:cNvPr id="40000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4330" y="1264"/>
                  <a:ext cx="1012" cy="212"/>
                </a:xfrm>
                <a:prstGeom prst="rect">
                  <a:avLst/>
                </a:prstGeom>
                <a:noFill/>
                <a:ln w="12699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sz="1600" dirty="0">
                      <a:solidFill>
                        <a:srgbClr val="CC0066"/>
                      </a:solidFill>
                    </a:rPr>
                    <a:t>Angle = Phase</a:t>
                  </a:r>
                </a:p>
              </p:txBody>
            </p:sp>
            <p:sp>
              <p:nvSpPr>
                <p:cNvPr id="40001" name="Line 37"/>
                <p:cNvSpPr>
                  <a:spLocks noChangeShapeType="1"/>
                </p:cNvSpPr>
                <p:nvPr/>
              </p:nvSpPr>
              <p:spPr bwMode="auto">
                <a:xfrm flipH="1">
                  <a:off x="3964" y="1235"/>
                  <a:ext cx="392" cy="88"/>
                </a:xfrm>
                <a:prstGeom prst="line">
                  <a:avLst/>
                </a:prstGeom>
                <a:noFill/>
                <a:ln w="12699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40002" name="Line 38"/>
                <p:cNvSpPr>
                  <a:spLocks noChangeShapeType="1"/>
                </p:cNvSpPr>
                <p:nvPr/>
              </p:nvSpPr>
              <p:spPr bwMode="auto">
                <a:xfrm>
                  <a:off x="3963" y="1323"/>
                  <a:ext cx="8" cy="539"/>
                </a:xfrm>
                <a:prstGeom prst="line">
                  <a:avLst/>
                </a:prstGeom>
                <a:noFill/>
                <a:ln w="12699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39969" name="Rectangle 39"/>
              <p:cNvSpPr>
                <a:spLocks noChangeArrowheads="1"/>
              </p:cNvSpPr>
              <p:nvPr/>
            </p:nvSpPr>
            <p:spPr bwMode="auto">
              <a:xfrm>
                <a:off x="271" y="1361"/>
                <a:ext cx="2048" cy="14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92075" tIns="46038" rIns="92075" bIns="46038"/>
              <a:lstStyle/>
              <a:p>
                <a:pPr marL="342900" indent="-342900">
                  <a:spcBef>
                    <a:spcPct val="20000"/>
                  </a:spcBef>
                </a:pPr>
                <a:r>
                  <a:rPr lang="en-US" sz="1600" b="1" dirty="0"/>
                  <a:t>16-QAM</a:t>
                </a:r>
              </a:p>
              <a:p>
                <a:pPr marL="342900" indent="-342900">
                  <a:spcBef>
                    <a:spcPct val="20000"/>
                  </a:spcBef>
                  <a:buFontTx/>
                  <a:buChar char="•"/>
                </a:pPr>
                <a:r>
                  <a:rPr lang="en-US" sz="1600" dirty="0"/>
                  <a:t>16 decision points</a:t>
                </a:r>
              </a:p>
              <a:p>
                <a:pPr marL="342900" indent="-342900">
                  <a:spcBef>
                    <a:spcPct val="20000"/>
                  </a:spcBef>
                  <a:buFontTx/>
                  <a:buChar char="•"/>
                </a:pPr>
                <a:r>
                  <a:rPr lang="en-US" sz="1600" dirty="0"/>
                  <a:t>4 coded bits per </a:t>
                </a:r>
                <a:r>
                  <a:rPr lang="en-US" sz="1600" b="1" u="sng" dirty="0"/>
                  <a:t>symbol</a:t>
                </a:r>
                <a:endParaRPr lang="en-US" sz="1600" dirty="0"/>
              </a:p>
              <a:p>
                <a:pPr marL="342900" indent="-342900">
                  <a:spcBef>
                    <a:spcPct val="20000"/>
                  </a:spcBef>
                  <a:buFontTx/>
                  <a:buChar char="•"/>
                </a:pPr>
                <a:endParaRPr lang="en-US" sz="2000" dirty="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5" name="Group 153"/>
            <p:cNvGrpSpPr>
              <a:grpSpLocks/>
            </p:cNvGrpSpPr>
            <p:nvPr/>
          </p:nvGrpSpPr>
          <p:grpSpPr bwMode="auto">
            <a:xfrm>
              <a:off x="1434" y="1167"/>
              <a:ext cx="2091" cy="1603"/>
              <a:chOff x="1434" y="1167"/>
              <a:chExt cx="2091" cy="1603"/>
            </a:xfrm>
          </p:grpSpPr>
          <p:grpSp>
            <p:nvGrpSpPr>
              <p:cNvPr id="6" name="Group 152"/>
              <p:cNvGrpSpPr>
                <a:grpSpLocks/>
              </p:cNvGrpSpPr>
              <p:nvPr/>
            </p:nvGrpSpPr>
            <p:grpSpPr bwMode="auto">
              <a:xfrm>
                <a:off x="2570" y="1167"/>
                <a:ext cx="955" cy="1603"/>
                <a:chOff x="2570" y="1167"/>
                <a:chExt cx="955" cy="1603"/>
              </a:xfrm>
            </p:grpSpPr>
            <p:sp>
              <p:nvSpPr>
                <p:cNvPr id="39958" name="Text Box 124"/>
                <p:cNvSpPr txBox="1">
                  <a:spLocks noChangeArrowheads="1"/>
                </p:cNvSpPr>
                <p:nvPr/>
              </p:nvSpPr>
              <p:spPr bwMode="auto">
                <a:xfrm>
                  <a:off x="2577" y="1167"/>
                  <a:ext cx="400" cy="59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GB" sz="1400"/>
                    <a:t>0000</a:t>
                  </a:r>
                </a:p>
                <a:p>
                  <a:r>
                    <a:rPr lang="en-GB" sz="1400"/>
                    <a:t>0001</a:t>
                  </a:r>
                </a:p>
                <a:p>
                  <a:r>
                    <a:rPr lang="en-GB" sz="1400"/>
                    <a:t>0010</a:t>
                  </a:r>
                </a:p>
                <a:p>
                  <a:r>
                    <a:rPr lang="en-GB" sz="1400"/>
                    <a:t>0011</a:t>
                  </a:r>
                </a:p>
              </p:txBody>
            </p:sp>
            <p:sp>
              <p:nvSpPr>
                <p:cNvPr id="39959" name="Text Box 125"/>
                <p:cNvSpPr txBox="1">
                  <a:spLocks noChangeArrowheads="1"/>
                </p:cNvSpPr>
                <p:nvPr/>
              </p:nvSpPr>
              <p:spPr bwMode="auto">
                <a:xfrm>
                  <a:off x="2570" y="2176"/>
                  <a:ext cx="400" cy="59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GB" sz="1400"/>
                    <a:t>0100</a:t>
                  </a:r>
                </a:p>
                <a:p>
                  <a:r>
                    <a:rPr lang="en-GB" sz="1400"/>
                    <a:t>0101</a:t>
                  </a:r>
                </a:p>
                <a:p>
                  <a:r>
                    <a:rPr lang="en-GB" sz="1400"/>
                    <a:t>0110</a:t>
                  </a:r>
                </a:p>
                <a:p>
                  <a:r>
                    <a:rPr lang="en-GB" sz="1400"/>
                    <a:t>0111</a:t>
                  </a:r>
                </a:p>
              </p:txBody>
            </p:sp>
            <p:sp>
              <p:nvSpPr>
                <p:cNvPr id="39960" name="Line 126"/>
                <p:cNvSpPr>
                  <a:spLocks noChangeShapeType="1"/>
                </p:cNvSpPr>
                <p:nvPr/>
              </p:nvSpPr>
              <p:spPr bwMode="auto">
                <a:xfrm>
                  <a:off x="2972" y="1276"/>
                  <a:ext cx="553" cy="281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9961" name="Line 127"/>
                <p:cNvSpPr>
                  <a:spLocks noChangeShapeType="1"/>
                </p:cNvSpPr>
                <p:nvPr/>
              </p:nvSpPr>
              <p:spPr bwMode="auto">
                <a:xfrm>
                  <a:off x="2926" y="1367"/>
                  <a:ext cx="288" cy="19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9962" name="Line 128"/>
                <p:cNvSpPr>
                  <a:spLocks noChangeShapeType="1"/>
                </p:cNvSpPr>
                <p:nvPr/>
              </p:nvSpPr>
              <p:spPr bwMode="auto">
                <a:xfrm>
                  <a:off x="2971" y="1556"/>
                  <a:ext cx="546" cy="228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9963" name="Line 129"/>
                <p:cNvSpPr>
                  <a:spLocks noChangeShapeType="1"/>
                </p:cNvSpPr>
                <p:nvPr/>
              </p:nvSpPr>
              <p:spPr bwMode="auto">
                <a:xfrm>
                  <a:off x="2940" y="1662"/>
                  <a:ext cx="258" cy="122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9964" name="Line 130"/>
                <p:cNvSpPr>
                  <a:spLocks noChangeShapeType="1"/>
                </p:cNvSpPr>
                <p:nvPr/>
              </p:nvSpPr>
              <p:spPr bwMode="auto">
                <a:xfrm flipV="1">
                  <a:off x="2934" y="2072"/>
                  <a:ext cx="288" cy="182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9965" name="Line 131"/>
                <p:cNvSpPr>
                  <a:spLocks noChangeShapeType="1"/>
                </p:cNvSpPr>
                <p:nvPr/>
              </p:nvSpPr>
              <p:spPr bwMode="auto">
                <a:xfrm flipV="1">
                  <a:off x="2934" y="2056"/>
                  <a:ext cx="561" cy="311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9966" name="Line 132"/>
                <p:cNvSpPr>
                  <a:spLocks noChangeShapeType="1"/>
                </p:cNvSpPr>
                <p:nvPr/>
              </p:nvSpPr>
              <p:spPr bwMode="auto">
                <a:xfrm flipV="1">
                  <a:off x="2941" y="2307"/>
                  <a:ext cx="288" cy="182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9967" name="Line 133"/>
                <p:cNvSpPr>
                  <a:spLocks noChangeShapeType="1"/>
                </p:cNvSpPr>
                <p:nvPr/>
              </p:nvSpPr>
              <p:spPr bwMode="auto">
                <a:xfrm flipV="1">
                  <a:off x="2941" y="2291"/>
                  <a:ext cx="561" cy="311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39956" name="Text Box 134"/>
              <p:cNvSpPr txBox="1">
                <a:spLocks noChangeArrowheads="1"/>
              </p:cNvSpPr>
              <p:nvPr/>
            </p:nvSpPr>
            <p:spPr bwMode="auto">
              <a:xfrm>
                <a:off x="1434" y="2335"/>
                <a:ext cx="887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GB" sz="1600" i="1" dirty="0"/>
                  <a:t>For example</a:t>
                </a:r>
              </a:p>
            </p:txBody>
          </p:sp>
          <p:sp>
            <p:nvSpPr>
              <p:cNvPr id="39957" name="AutoShape 135"/>
              <p:cNvSpPr>
                <a:spLocks/>
              </p:cNvSpPr>
              <p:nvPr/>
            </p:nvSpPr>
            <p:spPr bwMode="auto">
              <a:xfrm>
                <a:off x="2418" y="1223"/>
                <a:ext cx="114" cy="1471"/>
              </a:xfrm>
              <a:prstGeom prst="leftBrace">
                <a:avLst>
                  <a:gd name="adj1" fmla="val 107529"/>
                  <a:gd name="adj2" fmla="val 82528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39942" name="Oval 141"/>
          <p:cNvSpPr>
            <a:spLocks noChangeArrowheads="1"/>
          </p:cNvSpPr>
          <p:nvPr/>
        </p:nvSpPr>
        <p:spPr bwMode="auto">
          <a:xfrm>
            <a:off x="4594225" y="4994275"/>
            <a:ext cx="87313" cy="79375"/>
          </a:xfrm>
          <a:prstGeom prst="ellipse">
            <a:avLst/>
          </a:prstGeom>
          <a:solidFill>
            <a:schemeClr val="accent1"/>
          </a:solidFill>
          <a:ln w="12699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43" name="Oval 142"/>
          <p:cNvSpPr>
            <a:spLocks noChangeArrowheads="1"/>
          </p:cNvSpPr>
          <p:nvPr/>
        </p:nvSpPr>
        <p:spPr bwMode="auto">
          <a:xfrm>
            <a:off x="4611688" y="5372100"/>
            <a:ext cx="85725" cy="79375"/>
          </a:xfrm>
          <a:prstGeom prst="ellipse">
            <a:avLst/>
          </a:prstGeom>
          <a:solidFill>
            <a:schemeClr val="accent1"/>
          </a:solidFill>
          <a:ln w="12699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44" name="Oval 143"/>
          <p:cNvSpPr>
            <a:spLocks noChangeArrowheads="1"/>
          </p:cNvSpPr>
          <p:nvPr/>
        </p:nvSpPr>
        <p:spPr bwMode="auto">
          <a:xfrm>
            <a:off x="5049838" y="5002213"/>
            <a:ext cx="85725" cy="79375"/>
          </a:xfrm>
          <a:prstGeom prst="ellipse">
            <a:avLst/>
          </a:prstGeom>
          <a:solidFill>
            <a:schemeClr val="accent1"/>
          </a:solidFill>
          <a:ln w="12699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45" name="Oval 144"/>
          <p:cNvSpPr>
            <a:spLocks noChangeArrowheads="1"/>
          </p:cNvSpPr>
          <p:nvPr/>
        </p:nvSpPr>
        <p:spPr bwMode="auto">
          <a:xfrm>
            <a:off x="5049838" y="5380038"/>
            <a:ext cx="85725" cy="79375"/>
          </a:xfrm>
          <a:prstGeom prst="ellipse">
            <a:avLst/>
          </a:prstGeom>
          <a:solidFill>
            <a:schemeClr val="accent1"/>
          </a:solidFill>
          <a:ln w="12699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46" name="Line 145"/>
          <p:cNvSpPr>
            <a:spLocks noChangeShapeType="1"/>
          </p:cNvSpPr>
          <p:nvPr/>
        </p:nvSpPr>
        <p:spPr bwMode="auto">
          <a:xfrm>
            <a:off x="4860925" y="4967288"/>
            <a:ext cx="0" cy="536575"/>
          </a:xfrm>
          <a:prstGeom prst="line">
            <a:avLst/>
          </a:prstGeom>
          <a:noFill/>
          <a:ln w="28575">
            <a:solidFill>
              <a:srgbClr val="CC0066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9947" name="Line 146"/>
          <p:cNvSpPr>
            <a:spLocks noChangeShapeType="1"/>
          </p:cNvSpPr>
          <p:nvPr/>
        </p:nvSpPr>
        <p:spPr bwMode="auto">
          <a:xfrm rot="5400000" flipH="1">
            <a:off x="4860132" y="4918868"/>
            <a:ext cx="0" cy="633413"/>
          </a:xfrm>
          <a:prstGeom prst="line">
            <a:avLst/>
          </a:prstGeom>
          <a:noFill/>
          <a:ln w="28575">
            <a:solidFill>
              <a:srgbClr val="CC0066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9948" name="Line 147"/>
          <p:cNvSpPr>
            <a:spLocks noChangeShapeType="1"/>
          </p:cNvSpPr>
          <p:nvPr/>
        </p:nvSpPr>
        <p:spPr bwMode="auto">
          <a:xfrm rot="5400000" flipH="1">
            <a:off x="5299869" y="5153819"/>
            <a:ext cx="228600" cy="411162"/>
          </a:xfrm>
          <a:prstGeom prst="line">
            <a:avLst/>
          </a:prstGeom>
          <a:noFill/>
          <a:ln w="12699">
            <a:solidFill>
              <a:srgbClr val="CC0066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9949" name="Text Box 148"/>
          <p:cNvSpPr txBox="1">
            <a:spLocks noChangeArrowheads="1"/>
          </p:cNvSpPr>
          <p:nvPr/>
        </p:nvSpPr>
        <p:spPr bwMode="auto">
          <a:xfrm>
            <a:off x="5367338" y="5434013"/>
            <a:ext cx="1025525" cy="336550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>
                <a:solidFill>
                  <a:srgbClr val="CC0066"/>
                </a:solidFill>
              </a:rPr>
              <a:t>Decision</a:t>
            </a:r>
            <a:endParaRPr lang="en-US"/>
          </a:p>
        </p:txBody>
      </p:sp>
      <p:sp>
        <p:nvSpPr>
          <p:cNvPr id="39950" name="Text Box 149"/>
          <p:cNvSpPr txBox="1">
            <a:spLocks noChangeArrowheads="1"/>
          </p:cNvSpPr>
          <p:nvPr/>
        </p:nvSpPr>
        <p:spPr bwMode="auto">
          <a:xfrm>
            <a:off x="5229225" y="5637213"/>
            <a:ext cx="1277938" cy="336550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dirty="0">
                <a:solidFill>
                  <a:srgbClr val="CC0066"/>
                </a:solidFill>
              </a:rPr>
              <a:t>Thresholds</a:t>
            </a:r>
            <a:endParaRPr lang="en-US" dirty="0"/>
          </a:p>
        </p:txBody>
      </p:sp>
      <p:sp>
        <p:nvSpPr>
          <p:cNvPr id="39951" name="Text Box 156"/>
          <p:cNvSpPr txBox="1">
            <a:spLocks noChangeArrowheads="1"/>
          </p:cNvSpPr>
          <p:nvPr/>
        </p:nvSpPr>
        <p:spPr bwMode="auto">
          <a:xfrm>
            <a:off x="1652588" y="4687888"/>
            <a:ext cx="2074862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dirty="0"/>
              <a:t>Phase change can fall within this (small) range </a:t>
            </a:r>
            <a:endParaRPr lang="en-US" sz="1600" dirty="0">
              <a:latin typeface="Times New Roman" pitchFamily="18" charset="0"/>
            </a:endParaRPr>
          </a:p>
        </p:txBody>
      </p:sp>
      <p:sp>
        <p:nvSpPr>
          <p:cNvPr id="39952" name="Line 157"/>
          <p:cNvSpPr>
            <a:spLocks noChangeShapeType="1"/>
          </p:cNvSpPr>
          <p:nvPr/>
        </p:nvSpPr>
        <p:spPr bwMode="auto">
          <a:xfrm flipV="1">
            <a:off x="3624263" y="5022850"/>
            <a:ext cx="720725" cy="42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008340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/>
          <p:cNvSpPr txBox="1">
            <a:spLocks noChangeArrowheads="1"/>
          </p:cNvSpPr>
          <p:nvPr/>
        </p:nvSpPr>
        <p:spPr bwMode="auto">
          <a:xfrm>
            <a:off x="5230813" y="3790950"/>
            <a:ext cx="569912" cy="336550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>
                <a:solidFill>
                  <a:srgbClr val="800000"/>
                </a:solidFill>
              </a:rPr>
              <a:t>270</a:t>
            </a:r>
            <a:endParaRPr lang="en-US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782638" y="1301750"/>
            <a:ext cx="7740649" cy="2349500"/>
            <a:chOff x="445" y="2332"/>
            <a:chExt cx="4876" cy="1480"/>
          </a:xfrm>
        </p:grpSpPr>
        <p:sp>
          <p:nvSpPr>
            <p:cNvPr id="40973" name="Line 4"/>
            <p:cNvSpPr>
              <a:spLocks noChangeShapeType="1"/>
            </p:cNvSpPr>
            <p:nvPr/>
          </p:nvSpPr>
          <p:spPr bwMode="auto">
            <a:xfrm>
              <a:off x="3664" y="2526"/>
              <a:ext cx="0" cy="1286"/>
            </a:xfrm>
            <a:prstGeom prst="line">
              <a:avLst/>
            </a:prstGeom>
            <a:noFill/>
            <a:ln w="12699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0974" name="Oval 5"/>
            <p:cNvSpPr>
              <a:spLocks noChangeArrowheads="1"/>
            </p:cNvSpPr>
            <p:nvPr/>
          </p:nvSpPr>
          <p:spPr bwMode="auto">
            <a:xfrm>
              <a:off x="3133" y="2672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75" name="Oval 6"/>
            <p:cNvSpPr>
              <a:spLocks noChangeArrowheads="1"/>
            </p:cNvSpPr>
            <p:nvPr/>
          </p:nvSpPr>
          <p:spPr bwMode="auto">
            <a:xfrm>
              <a:off x="3553" y="2672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76" name="Oval 7"/>
            <p:cNvSpPr>
              <a:spLocks noChangeArrowheads="1"/>
            </p:cNvSpPr>
            <p:nvPr/>
          </p:nvSpPr>
          <p:spPr bwMode="auto">
            <a:xfrm>
              <a:off x="3553" y="2802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77" name="Oval 8"/>
            <p:cNvSpPr>
              <a:spLocks noChangeArrowheads="1"/>
            </p:cNvSpPr>
            <p:nvPr/>
          </p:nvSpPr>
          <p:spPr bwMode="auto">
            <a:xfrm>
              <a:off x="3553" y="2932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78" name="Oval 9"/>
            <p:cNvSpPr>
              <a:spLocks noChangeArrowheads="1"/>
            </p:cNvSpPr>
            <p:nvPr/>
          </p:nvSpPr>
          <p:spPr bwMode="auto">
            <a:xfrm>
              <a:off x="3553" y="3062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79" name="Oval 10"/>
            <p:cNvSpPr>
              <a:spLocks noChangeArrowheads="1"/>
            </p:cNvSpPr>
            <p:nvPr/>
          </p:nvSpPr>
          <p:spPr bwMode="auto">
            <a:xfrm>
              <a:off x="3133" y="2802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80" name="Oval 11"/>
            <p:cNvSpPr>
              <a:spLocks noChangeArrowheads="1"/>
            </p:cNvSpPr>
            <p:nvPr/>
          </p:nvSpPr>
          <p:spPr bwMode="auto">
            <a:xfrm>
              <a:off x="3133" y="2932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81" name="Oval 12"/>
            <p:cNvSpPr>
              <a:spLocks noChangeArrowheads="1"/>
            </p:cNvSpPr>
            <p:nvPr/>
          </p:nvSpPr>
          <p:spPr bwMode="auto">
            <a:xfrm>
              <a:off x="3413" y="2672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82" name="Oval 13"/>
            <p:cNvSpPr>
              <a:spLocks noChangeArrowheads="1"/>
            </p:cNvSpPr>
            <p:nvPr/>
          </p:nvSpPr>
          <p:spPr bwMode="auto">
            <a:xfrm>
              <a:off x="3133" y="3062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83" name="Oval 14"/>
            <p:cNvSpPr>
              <a:spLocks noChangeArrowheads="1"/>
            </p:cNvSpPr>
            <p:nvPr/>
          </p:nvSpPr>
          <p:spPr bwMode="auto">
            <a:xfrm>
              <a:off x="3413" y="2802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84" name="Oval 15"/>
            <p:cNvSpPr>
              <a:spLocks noChangeArrowheads="1"/>
            </p:cNvSpPr>
            <p:nvPr/>
          </p:nvSpPr>
          <p:spPr bwMode="auto">
            <a:xfrm>
              <a:off x="3553" y="2802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85" name="Oval 16"/>
            <p:cNvSpPr>
              <a:spLocks noChangeArrowheads="1"/>
            </p:cNvSpPr>
            <p:nvPr/>
          </p:nvSpPr>
          <p:spPr bwMode="auto">
            <a:xfrm>
              <a:off x="3413" y="2932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86" name="Oval 17"/>
            <p:cNvSpPr>
              <a:spLocks noChangeArrowheads="1"/>
            </p:cNvSpPr>
            <p:nvPr/>
          </p:nvSpPr>
          <p:spPr bwMode="auto">
            <a:xfrm>
              <a:off x="3413" y="3062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87" name="Oval 18"/>
            <p:cNvSpPr>
              <a:spLocks noChangeArrowheads="1"/>
            </p:cNvSpPr>
            <p:nvPr/>
          </p:nvSpPr>
          <p:spPr bwMode="auto">
            <a:xfrm>
              <a:off x="3273" y="2672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88" name="Oval 19"/>
            <p:cNvSpPr>
              <a:spLocks noChangeArrowheads="1"/>
            </p:cNvSpPr>
            <p:nvPr/>
          </p:nvSpPr>
          <p:spPr bwMode="auto">
            <a:xfrm>
              <a:off x="3273" y="2802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89" name="Oval 20"/>
            <p:cNvSpPr>
              <a:spLocks noChangeArrowheads="1"/>
            </p:cNvSpPr>
            <p:nvPr/>
          </p:nvSpPr>
          <p:spPr bwMode="auto">
            <a:xfrm>
              <a:off x="3273" y="2932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90" name="Oval 21"/>
            <p:cNvSpPr>
              <a:spLocks noChangeArrowheads="1"/>
            </p:cNvSpPr>
            <p:nvPr/>
          </p:nvSpPr>
          <p:spPr bwMode="auto">
            <a:xfrm>
              <a:off x="3273" y="3062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91" name="Oval 22"/>
            <p:cNvSpPr>
              <a:spLocks noChangeArrowheads="1"/>
            </p:cNvSpPr>
            <p:nvPr/>
          </p:nvSpPr>
          <p:spPr bwMode="auto">
            <a:xfrm>
              <a:off x="3711" y="2667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92" name="Oval 23"/>
            <p:cNvSpPr>
              <a:spLocks noChangeArrowheads="1"/>
            </p:cNvSpPr>
            <p:nvPr/>
          </p:nvSpPr>
          <p:spPr bwMode="auto">
            <a:xfrm>
              <a:off x="4131" y="2667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93" name="Oval 24"/>
            <p:cNvSpPr>
              <a:spLocks noChangeArrowheads="1"/>
            </p:cNvSpPr>
            <p:nvPr/>
          </p:nvSpPr>
          <p:spPr bwMode="auto">
            <a:xfrm>
              <a:off x="4131" y="2797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94" name="Oval 25"/>
            <p:cNvSpPr>
              <a:spLocks noChangeArrowheads="1"/>
            </p:cNvSpPr>
            <p:nvPr/>
          </p:nvSpPr>
          <p:spPr bwMode="auto">
            <a:xfrm>
              <a:off x="4131" y="2926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95" name="Oval 26"/>
            <p:cNvSpPr>
              <a:spLocks noChangeArrowheads="1"/>
            </p:cNvSpPr>
            <p:nvPr/>
          </p:nvSpPr>
          <p:spPr bwMode="auto">
            <a:xfrm>
              <a:off x="4131" y="3056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96" name="Oval 27"/>
            <p:cNvSpPr>
              <a:spLocks noChangeArrowheads="1"/>
            </p:cNvSpPr>
            <p:nvPr/>
          </p:nvSpPr>
          <p:spPr bwMode="auto">
            <a:xfrm>
              <a:off x="3711" y="2797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97" name="Oval 28"/>
            <p:cNvSpPr>
              <a:spLocks noChangeArrowheads="1"/>
            </p:cNvSpPr>
            <p:nvPr/>
          </p:nvSpPr>
          <p:spPr bwMode="auto">
            <a:xfrm>
              <a:off x="3711" y="2926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98" name="Oval 29"/>
            <p:cNvSpPr>
              <a:spLocks noChangeArrowheads="1"/>
            </p:cNvSpPr>
            <p:nvPr/>
          </p:nvSpPr>
          <p:spPr bwMode="auto">
            <a:xfrm>
              <a:off x="3991" y="2667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99" name="Oval 30"/>
            <p:cNvSpPr>
              <a:spLocks noChangeArrowheads="1"/>
            </p:cNvSpPr>
            <p:nvPr/>
          </p:nvSpPr>
          <p:spPr bwMode="auto">
            <a:xfrm>
              <a:off x="3711" y="3056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00" name="Oval 31"/>
            <p:cNvSpPr>
              <a:spLocks noChangeArrowheads="1"/>
            </p:cNvSpPr>
            <p:nvPr/>
          </p:nvSpPr>
          <p:spPr bwMode="auto">
            <a:xfrm>
              <a:off x="3991" y="2797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01" name="Oval 32"/>
            <p:cNvSpPr>
              <a:spLocks noChangeArrowheads="1"/>
            </p:cNvSpPr>
            <p:nvPr/>
          </p:nvSpPr>
          <p:spPr bwMode="auto">
            <a:xfrm>
              <a:off x="4131" y="2797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02" name="Oval 33"/>
            <p:cNvSpPr>
              <a:spLocks noChangeArrowheads="1"/>
            </p:cNvSpPr>
            <p:nvPr/>
          </p:nvSpPr>
          <p:spPr bwMode="auto">
            <a:xfrm>
              <a:off x="3991" y="2926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03" name="Oval 34"/>
            <p:cNvSpPr>
              <a:spLocks noChangeArrowheads="1"/>
            </p:cNvSpPr>
            <p:nvPr/>
          </p:nvSpPr>
          <p:spPr bwMode="auto">
            <a:xfrm>
              <a:off x="3991" y="3056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04" name="Oval 35"/>
            <p:cNvSpPr>
              <a:spLocks noChangeArrowheads="1"/>
            </p:cNvSpPr>
            <p:nvPr/>
          </p:nvSpPr>
          <p:spPr bwMode="auto">
            <a:xfrm>
              <a:off x="3851" y="2667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05" name="Oval 36"/>
            <p:cNvSpPr>
              <a:spLocks noChangeArrowheads="1"/>
            </p:cNvSpPr>
            <p:nvPr/>
          </p:nvSpPr>
          <p:spPr bwMode="auto">
            <a:xfrm>
              <a:off x="3851" y="2797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06" name="Oval 37"/>
            <p:cNvSpPr>
              <a:spLocks noChangeArrowheads="1"/>
            </p:cNvSpPr>
            <p:nvPr/>
          </p:nvSpPr>
          <p:spPr bwMode="auto">
            <a:xfrm>
              <a:off x="3851" y="2926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07" name="Oval 38"/>
            <p:cNvSpPr>
              <a:spLocks noChangeArrowheads="1"/>
            </p:cNvSpPr>
            <p:nvPr/>
          </p:nvSpPr>
          <p:spPr bwMode="auto">
            <a:xfrm>
              <a:off x="3851" y="3056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08" name="Oval 39"/>
            <p:cNvSpPr>
              <a:spLocks noChangeArrowheads="1"/>
            </p:cNvSpPr>
            <p:nvPr/>
          </p:nvSpPr>
          <p:spPr bwMode="auto">
            <a:xfrm>
              <a:off x="3717" y="3197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09" name="Oval 40"/>
            <p:cNvSpPr>
              <a:spLocks noChangeArrowheads="1"/>
            </p:cNvSpPr>
            <p:nvPr/>
          </p:nvSpPr>
          <p:spPr bwMode="auto">
            <a:xfrm>
              <a:off x="4137" y="3197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10" name="Oval 41"/>
            <p:cNvSpPr>
              <a:spLocks noChangeArrowheads="1"/>
            </p:cNvSpPr>
            <p:nvPr/>
          </p:nvSpPr>
          <p:spPr bwMode="auto">
            <a:xfrm>
              <a:off x="4137" y="3327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11" name="Oval 42"/>
            <p:cNvSpPr>
              <a:spLocks noChangeArrowheads="1"/>
            </p:cNvSpPr>
            <p:nvPr/>
          </p:nvSpPr>
          <p:spPr bwMode="auto">
            <a:xfrm>
              <a:off x="4137" y="3457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12" name="Oval 43"/>
            <p:cNvSpPr>
              <a:spLocks noChangeArrowheads="1"/>
            </p:cNvSpPr>
            <p:nvPr/>
          </p:nvSpPr>
          <p:spPr bwMode="auto">
            <a:xfrm>
              <a:off x="4137" y="3587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13" name="Oval 44"/>
            <p:cNvSpPr>
              <a:spLocks noChangeArrowheads="1"/>
            </p:cNvSpPr>
            <p:nvPr/>
          </p:nvSpPr>
          <p:spPr bwMode="auto">
            <a:xfrm>
              <a:off x="3717" y="3327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14" name="Oval 45"/>
            <p:cNvSpPr>
              <a:spLocks noChangeArrowheads="1"/>
            </p:cNvSpPr>
            <p:nvPr/>
          </p:nvSpPr>
          <p:spPr bwMode="auto">
            <a:xfrm>
              <a:off x="3717" y="3457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15" name="Oval 46"/>
            <p:cNvSpPr>
              <a:spLocks noChangeArrowheads="1"/>
            </p:cNvSpPr>
            <p:nvPr/>
          </p:nvSpPr>
          <p:spPr bwMode="auto">
            <a:xfrm>
              <a:off x="3997" y="3197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16" name="Oval 47"/>
            <p:cNvSpPr>
              <a:spLocks noChangeArrowheads="1"/>
            </p:cNvSpPr>
            <p:nvPr/>
          </p:nvSpPr>
          <p:spPr bwMode="auto">
            <a:xfrm>
              <a:off x="3717" y="3587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17" name="Oval 48"/>
            <p:cNvSpPr>
              <a:spLocks noChangeArrowheads="1"/>
            </p:cNvSpPr>
            <p:nvPr/>
          </p:nvSpPr>
          <p:spPr bwMode="auto">
            <a:xfrm>
              <a:off x="3997" y="3327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18" name="Oval 49"/>
            <p:cNvSpPr>
              <a:spLocks noChangeArrowheads="1"/>
            </p:cNvSpPr>
            <p:nvPr/>
          </p:nvSpPr>
          <p:spPr bwMode="auto">
            <a:xfrm>
              <a:off x="4137" y="3327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19" name="Oval 50"/>
            <p:cNvSpPr>
              <a:spLocks noChangeArrowheads="1"/>
            </p:cNvSpPr>
            <p:nvPr/>
          </p:nvSpPr>
          <p:spPr bwMode="auto">
            <a:xfrm>
              <a:off x="3997" y="3457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20" name="Oval 51"/>
            <p:cNvSpPr>
              <a:spLocks noChangeArrowheads="1"/>
            </p:cNvSpPr>
            <p:nvPr/>
          </p:nvSpPr>
          <p:spPr bwMode="auto">
            <a:xfrm>
              <a:off x="3997" y="3587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21" name="Oval 52"/>
            <p:cNvSpPr>
              <a:spLocks noChangeArrowheads="1"/>
            </p:cNvSpPr>
            <p:nvPr/>
          </p:nvSpPr>
          <p:spPr bwMode="auto">
            <a:xfrm>
              <a:off x="3857" y="3197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22" name="Oval 53"/>
            <p:cNvSpPr>
              <a:spLocks noChangeArrowheads="1"/>
            </p:cNvSpPr>
            <p:nvPr/>
          </p:nvSpPr>
          <p:spPr bwMode="auto">
            <a:xfrm>
              <a:off x="3857" y="3327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23" name="Oval 54"/>
            <p:cNvSpPr>
              <a:spLocks noChangeArrowheads="1"/>
            </p:cNvSpPr>
            <p:nvPr/>
          </p:nvSpPr>
          <p:spPr bwMode="auto">
            <a:xfrm>
              <a:off x="3857" y="3457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24" name="Oval 55"/>
            <p:cNvSpPr>
              <a:spLocks noChangeArrowheads="1"/>
            </p:cNvSpPr>
            <p:nvPr/>
          </p:nvSpPr>
          <p:spPr bwMode="auto">
            <a:xfrm>
              <a:off x="3857" y="3587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25" name="Oval 56"/>
            <p:cNvSpPr>
              <a:spLocks noChangeArrowheads="1"/>
            </p:cNvSpPr>
            <p:nvPr/>
          </p:nvSpPr>
          <p:spPr bwMode="auto">
            <a:xfrm>
              <a:off x="3127" y="3203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26" name="Oval 57"/>
            <p:cNvSpPr>
              <a:spLocks noChangeArrowheads="1"/>
            </p:cNvSpPr>
            <p:nvPr/>
          </p:nvSpPr>
          <p:spPr bwMode="auto">
            <a:xfrm>
              <a:off x="3547" y="3203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27" name="Oval 58"/>
            <p:cNvSpPr>
              <a:spLocks noChangeArrowheads="1"/>
            </p:cNvSpPr>
            <p:nvPr/>
          </p:nvSpPr>
          <p:spPr bwMode="auto">
            <a:xfrm>
              <a:off x="3547" y="3333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28" name="Oval 59"/>
            <p:cNvSpPr>
              <a:spLocks noChangeArrowheads="1"/>
            </p:cNvSpPr>
            <p:nvPr/>
          </p:nvSpPr>
          <p:spPr bwMode="auto">
            <a:xfrm>
              <a:off x="3547" y="3462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29" name="Oval 60"/>
            <p:cNvSpPr>
              <a:spLocks noChangeArrowheads="1"/>
            </p:cNvSpPr>
            <p:nvPr/>
          </p:nvSpPr>
          <p:spPr bwMode="auto">
            <a:xfrm>
              <a:off x="3547" y="3592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30" name="Oval 61"/>
            <p:cNvSpPr>
              <a:spLocks noChangeArrowheads="1"/>
            </p:cNvSpPr>
            <p:nvPr/>
          </p:nvSpPr>
          <p:spPr bwMode="auto">
            <a:xfrm>
              <a:off x="3127" y="3333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31" name="Oval 62"/>
            <p:cNvSpPr>
              <a:spLocks noChangeArrowheads="1"/>
            </p:cNvSpPr>
            <p:nvPr/>
          </p:nvSpPr>
          <p:spPr bwMode="auto">
            <a:xfrm>
              <a:off x="3127" y="3462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32" name="Oval 63"/>
            <p:cNvSpPr>
              <a:spLocks noChangeArrowheads="1"/>
            </p:cNvSpPr>
            <p:nvPr/>
          </p:nvSpPr>
          <p:spPr bwMode="auto">
            <a:xfrm>
              <a:off x="3407" y="3203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33" name="Oval 64"/>
            <p:cNvSpPr>
              <a:spLocks noChangeArrowheads="1"/>
            </p:cNvSpPr>
            <p:nvPr/>
          </p:nvSpPr>
          <p:spPr bwMode="auto">
            <a:xfrm>
              <a:off x="3127" y="3592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34" name="Oval 65"/>
            <p:cNvSpPr>
              <a:spLocks noChangeArrowheads="1"/>
            </p:cNvSpPr>
            <p:nvPr/>
          </p:nvSpPr>
          <p:spPr bwMode="auto">
            <a:xfrm>
              <a:off x="3407" y="3333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35" name="Oval 66"/>
            <p:cNvSpPr>
              <a:spLocks noChangeArrowheads="1"/>
            </p:cNvSpPr>
            <p:nvPr/>
          </p:nvSpPr>
          <p:spPr bwMode="auto">
            <a:xfrm>
              <a:off x="3547" y="3333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36" name="Oval 67"/>
            <p:cNvSpPr>
              <a:spLocks noChangeArrowheads="1"/>
            </p:cNvSpPr>
            <p:nvPr/>
          </p:nvSpPr>
          <p:spPr bwMode="auto">
            <a:xfrm>
              <a:off x="3407" y="3462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37" name="Oval 68"/>
            <p:cNvSpPr>
              <a:spLocks noChangeArrowheads="1"/>
            </p:cNvSpPr>
            <p:nvPr/>
          </p:nvSpPr>
          <p:spPr bwMode="auto">
            <a:xfrm>
              <a:off x="3407" y="3592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38" name="Oval 69"/>
            <p:cNvSpPr>
              <a:spLocks noChangeArrowheads="1"/>
            </p:cNvSpPr>
            <p:nvPr/>
          </p:nvSpPr>
          <p:spPr bwMode="auto">
            <a:xfrm>
              <a:off x="3267" y="3203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39" name="Oval 70"/>
            <p:cNvSpPr>
              <a:spLocks noChangeArrowheads="1"/>
            </p:cNvSpPr>
            <p:nvPr/>
          </p:nvSpPr>
          <p:spPr bwMode="auto">
            <a:xfrm>
              <a:off x="3267" y="3333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40" name="Oval 71"/>
            <p:cNvSpPr>
              <a:spLocks noChangeArrowheads="1"/>
            </p:cNvSpPr>
            <p:nvPr/>
          </p:nvSpPr>
          <p:spPr bwMode="auto">
            <a:xfrm>
              <a:off x="3267" y="3462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41" name="Oval 72"/>
            <p:cNvSpPr>
              <a:spLocks noChangeArrowheads="1"/>
            </p:cNvSpPr>
            <p:nvPr/>
          </p:nvSpPr>
          <p:spPr bwMode="auto">
            <a:xfrm>
              <a:off x="3267" y="3592"/>
              <a:ext cx="70" cy="65"/>
            </a:xfrm>
            <a:prstGeom prst="ellipse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42" name="Line 73"/>
            <p:cNvSpPr>
              <a:spLocks noChangeShapeType="1"/>
            </p:cNvSpPr>
            <p:nvPr/>
          </p:nvSpPr>
          <p:spPr bwMode="auto">
            <a:xfrm>
              <a:off x="2938" y="3170"/>
              <a:ext cx="1486" cy="1"/>
            </a:xfrm>
            <a:prstGeom prst="line">
              <a:avLst/>
            </a:prstGeom>
            <a:noFill/>
            <a:ln w="12699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3" name="Group 74"/>
            <p:cNvGrpSpPr>
              <a:grpSpLocks/>
            </p:cNvGrpSpPr>
            <p:nvPr/>
          </p:nvGrpSpPr>
          <p:grpSpPr bwMode="auto">
            <a:xfrm>
              <a:off x="3952" y="2639"/>
              <a:ext cx="278" cy="259"/>
              <a:chOff x="3952" y="2639"/>
              <a:chExt cx="278" cy="259"/>
            </a:xfrm>
          </p:grpSpPr>
          <p:sp>
            <p:nvSpPr>
              <p:cNvPr id="41052" name="Line 75"/>
              <p:cNvSpPr>
                <a:spLocks noChangeShapeType="1"/>
              </p:cNvSpPr>
              <p:nvPr/>
            </p:nvSpPr>
            <p:spPr bwMode="auto">
              <a:xfrm>
                <a:off x="4097" y="2639"/>
                <a:ext cx="0" cy="259"/>
              </a:xfrm>
              <a:prstGeom prst="line">
                <a:avLst/>
              </a:prstGeom>
              <a:noFill/>
              <a:ln w="28575">
                <a:solidFill>
                  <a:srgbClr val="CC0066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1053" name="Line 76"/>
              <p:cNvSpPr>
                <a:spLocks noChangeShapeType="1"/>
              </p:cNvSpPr>
              <p:nvPr/>
            </p:nvSpPr>
            <p:spPr bwMode="auto">
              <a:xfrm rot="5400000">
                <a:off x="4091" y="2624"/>
                <a:ext cx="0" cy="278"/>
              </a:xfrm>
              <a:prstGeom prst="line">
                <a:avLst/>
              </a:prstGeom>
              <a:noFill/>
              <a:ln w="28575">
                <a:solidFill>
                  <a:srgbClr val="CC0066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4" name="Group 77"/>
            <p:cNvGrpSpPr>
              <a:grpSpLocks/>
            </p:cNvGrpSpPr>
            <p:nvPr/>
          </p:nvGrpSpPr>
          <p:grpSpPr bwMode="auto">
            <a:xfrm>
              <a:off x="4349" y="2775"/>
              <a:ext cx="972" cy="354"/>
              <a:chOff x="4349" y="2775"/>
              <a:chExt cx="972" cy="354"/>
            </a:xfrm>
          </p:grpSpPr>
          <p:sp>
            <p:nvSpPr>
              <p:cNvPr id="41050" name="Text Box 78"/>
              <p:cNvSpPr txBox="1">
                <a:spLocks noChangeArrowheads="1"/>
              </p:cNvSpPr>
              <p:nvPr/>
            </p:nvSpPr>
            <p:spPr bwMode="auto">
              <a:xfrm>
                <a:off x="4383" y="2775"/>
                <a:ext cx="926" cy="213"/>
              </a:xfrm>
              <a:prstGeom prst="rect">
                <a:avLst/>
              </a:prstGeom>
              <a:noFill/>
              <a:ln w="12699">
                <a:noFill/>
                <a:miter lim="800000"/>
                <a:headEnd/>
                <a:tailEnd/>
              </a:ln>
            </p:spPr>
            <p:txBody>
              <a:bodyPr wrap="squar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dirty="0">
                    <a:solidFill>
                      <a:srgbClr val="CC0066"/>
                    </a:solidFill>
                  </a:rPr>
                  <a:t>Decision</a:t>
                </a:r>
                <a:endParaRPr lang="en-US" sz="1600" dirty="0"/>
              </a:p>
            </p:txBody>
          </p:sp>
          <p:sp>
            <p:nvSpPr>
              <p:cNvPr id="41051" name="Text Box 79"/>
              <p:cNvSpPr txBox="1">
                <a:spLocks noChangeArrowheads="1"/>
              </p:cNvSpPr>
              <p:nvPr/>
            </p:nvSpPr>
            <p:spPr bwMode="auto">
              <a:xfrm>
                <a:off x="4349" y="2916"/>
                <a:ext cx="972" cy="213"/>
              </a:xfrm>
              <a:prstGeom prst="rect">
                <a:avLst/>
              </a:prstGeom>
              <a:noFill/>
              <a:ln w="12699">
                <a:noFill/>
                <a:miter lim="800000"/>
                <a:headEnd/>
                <a:tailEnd/>
              </a:ln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rgbClr val="CC0066"/>
                    </a:solidFill>
                  </a:rPr>
                  <a:t>Thresholds</a:t>
                </a:r>
                <a:endParaRPr lang="en-US" sz="1600" dirty="0"/>
              </a:p>
            </p:txBody>
          </p:sp>
        </p:grpSp>
        <p:sp>
          <p:nvSpPr>
            <p:cNvPr id="41045" name="Line 80"/>
            <p:cNvSpPr>
              <a:spLocks noChangeShapeType="1"/>
            </p:cNvSpPr>
            <p:nvPr/>
          </p:nvSpPr>
          <p:spPr bwMode="auto">
            <a:xfrm rot="5400000" flipH="1">
              <a:off x="4313" y="2711"/>
              <a:ext cx="121" cy="243"/>
            </a:xfrm>
            <a:prstGeom prst="line">
              <a:avLst/>
            </a:prstGeom>
            <a:noFill/>
            <a:ln w="12699">
              <a:solidFill>
                <a:srgbClr val="CC0066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1046" name="Text Box 81"/>
            <p:cNvSpPr txBox="1">
              <a:spLocks noChangeArrowheads="1"/>
            </p:cNvSpPr>
            <p:nvPr/>
          </p:nvSpPr>
          <p:spPr bwMode="auto">
            <a:xfrm>
              <a:off x="3524" y="2332"/>
              <a:ext cx="278" cy="212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>
                  <a:solidFill>
                    <a:srgbClr val="800000"/>
                  </a:solidFill>
                </a:rPr>
                <a:t>90</a:t>
              </a:r>
            </a:p>
          </p:txBody>
        </p:sp>
        <p:sp>
          <p:nvSpPr>
            <p:cNvPr id="41047" name="Text Box 82"/>
            <p:cNvSpPr txBox="1">
              <a:spLocks noChangeArrowheads="1"/>
            </p:cNvSpPr>
            <p:nvPr/>
          </p:nvSpPr>
          <p:spPr bwMode="auto">
            <a:xfrm>
              <a:off x="4436" y="3071"/>
              <a:ext cx="197" cy="212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>
                  <a:solidFill>
                    <a:srgbClr val="800000"/>
                  </a:solidFill>
                </a:rPr>
                <a:t>0</a:t>
              </a:r>
              <a:endParaRPr lang="en-US"/>
            </a:p>
          </p:txBody>
        </p:sp>
        <p:sp>
          <p:nvSpPr>
            <p:cNvPr id="41048" name="Text Box 83"/>
            <p:cNvSpPr txBox="1">
              <a:spLocks noChangeArrowheads="1"/>
            </p:cNvSpPr>
            <p:nvPr/>
          </p:nvSpPr>
          <p:spPr bwMode="auto">
            <a:xfrm>
              <a:off x="2590" y="3071"/>
              <a:ext cx="359" cy="212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>
                  <a:solidFill>
                    <a:srgbClr val="800000"/>
                  </a:solidFill>
                </a:rPr>
                <a:t>180</a:t>
              </a:r>
              <a:endParaRPr lang="en-US"/>
            </a:p>
          </p:txBody>
        </p:sp>
        <p:sp>
          <p:nvSpPr>
            <p:cNvPr id="41049" name="Rectangle 84"/>
            <p:cNvSpPr>
              <a:spLocks noChangeArrowheads="1"/>
            </p:cNvSpPr>
            <p:nvPr/>
          </p:nvSpPr>
          <p:spPr bwMode="auto">
            <a:xfrm>
              <a:off x="445" y="2794"/>
              <a:ext cx="2048" cy="9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2075" tIns="46038" rIns="92075" bIns="46038"/>
            <a:lstStyle/>
            <a:p>
              <a:pPr marL="342900" indent="-342900">
                <a:spcBef>
                  <a:spcPct val="20000"/>
                </a:spcBef>
              </a:pPr>
              <a:r>
                <a:rPr lang="en-GB" sz="1600" b="1" dirty="0"/>
                <a:t>64-QAM</a:t>
              </a:r>
            </a:p>
            <a:p>
              <a:pPr marL="342900" indent="-342900">
                <a:spcBef>
                  <a:spcPct val="20000"/>
                </a:spcBef>
                <a:buFontTx/>
                <a:buChar char="•"/>
              </a:pPr>
              <a:r>
                <a:rPr lang="en-GB" sz="1600" dirty="0"/>
                <a:t>64 decision points</a:t>
              </a:r>
            </a:p>
            <a:p>
              <a:pPr marL="342900" indent="-342900">
                <a:spcBef>
                  <a:spcPct val="20000"/>
                </a:spcBef>
                <a:buFontTx/>
                <a:buChar char="•"/>
              </a:pPr>
              <a:r>
                <a:rPr lang="en-GB" sz="1600" dirty="0"/>
                <a:t>6 coded bits per symbol</a:t>
              </a:r>
              <a:endParaRPr lang="en-US" sz="2000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40964" name="Line 86"/>
          <p:cNvSpPr>
            <a:spLocks noChangeShapeType="1"/>
          </p:cNvSpPr>
          <p:nvPr/>
        </p:nvSpPr>
        <p:spPr bwMode="auto">
          <a:xfrm>
            <a:off x="4092575" y="1730375"/>
            <a:ext cx="1289050" cy="573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40965" name="Rectangle 87"/>
          <p:cNvSpPr>
            <a:spLocks noChangeArrowheads="1"/>
          </p:cNvSpPr>
          <p:nvPr/>
        </p:nvSpPr>
        <p:spPr bwMode="auto">
          <a:xfrm>
            <a:off x="430213" y="366713"/>
            <a:ext cx="2341562" cy="426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bIns="0" anchor="ctr"/>
          <a:lstStyle/>
          <a:p>
            <a:r>
              <a:rPr lang="en-US" sz="2400" b="1" dirty="0"/>
              <a:t>64-QAM</a:t>
            </a:r>
            <a:endParaRPr lang="en-US" sz="4400" dirty="0"/>
          </a:p>
        </p:txBody>
      </p:sp>
      <p:sp>
        <p:nvSpPr>
          <p:cNvPr id="40966" name="Text Box 88"/>
          <p:cNvSpPr txBox="1">
            <a:spLocks noChangeArrowheads="1"/>
          </p:cNvSpPr>
          <p:nvPr/>
        </p:nvSpPr>
        <p:spPr bwMode="auto">
          <a:xfrm>
            <a:off x="842963" y="4368800"/>
            <a:ext cx="5325497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5425" indent="-225425">
              <a:buFontTx/>
              <a:buChar char="•"/>
            </a:pPr>
            <a:r>
              <a:rPr lang="en-US" sz="1600" dirty="0"/>
              <a:t>More digital bits - more information transmitted </a:t>
            </a:r>
          </a:p>
          <a:p>
            <a:pPr marL="225425" indent="-225425">
              <a:buFontTx/>
              <a:buChar char="•"/>
            </a:pPr>
            <a:r>
              <a:rPr lang="en-US" sz="1600" dirty="0"/>
              <a:t>More fragile signal (I.e. than 16QAM)- </a:t>
            </a:r>
          </a:p>
          <a:p>
            <a:pPr marL="225425" indent="-225425">
              <a:buFontTx/>
              <a:buChar char="•"/>
            </a:pPr>
            <a:r>
              <a:rPr lang="en-US" sz="1600" dirty="0"/>
              <a:t>will suffer in a poor transmission</a:t>
            </a:r>
          </a:p>
          <a:p>
            <a:pPr marL="225425" indent="-225425">
              <a:buFontTx/>
              <a:buChar char="•"/>
            </a:pPr>
            <a:r>
              <a:rPr lang="en-US" sz="1600" dirty="0"/>
              <a:t>results in more messages retransmitted</a:t>
            </a:r>
          </a:p>
          <a:p>
            <a:pPr marL="225425" indent="-225425">
              <a:buFontTx/>
              <a:buChar char="•"/>
            </a:pPr>
            <a:endParaRPr lang="en-US" sz="1600" dirty="0"/>
          </a:p>
        </p:txBody>
      </p:sp>
      <p:sp>
        <p:nvSpPr>
          <p:cNvPr id="40967" name="AutoShape 89"/>
          <p:cNvSpPr>
            <a:spLocks noChangeArrowheads="1"/>
          </p:cNvSpPr>
          <p:nvPr/>
        </p:nvSpPr>
        <p:spPr bwMode="auto">
          <a:xfrm>
            <a:off x="6202363" y="5056188"/>
            <a:ext cx="2266950" cy="962025"/>
          </a:xfrm>
          <a:prstGeom prst="wedgeRoundRectCallout">
            <a:avLst>
              <a:gd name="adj1" fmla="val 11764"/>
              <a:gd name="adj2" fmla="val -316005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>
              <a:solidFill>
                <a:srgbClr val="CC0066"/>
              </a:solidFill>
            </a:endParaRPr>
          </a:p>
        </p:txBody>
      </p:sp>
      <p:sp>
        <p:nvSpPr>
          <p:cNvPr id="40968" name="Line 97"/>
          <p:cNvSpPr>
            <a:spLocks noChangeShapeType="1"/>
          </p:cNvSpPr>
          <p:nvPr/>
        </p:nvSpPr>
        <p:spPr bwMode="auto">
          <a:xfrm rot="-5400000">
            <a:off x="7023100" y="5280025"/>
            <a:ext cx="328613" cy="303213"/>
          </a:xfrm>
          <a:prstGeom prst="line">
            <a:avLst/>
          </a:prstGeom>
          <a:noFill/>
          <a:ln w="12699">
            <a:solidFill>
              <a:srgbClr val="CC0066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0969" name="Text Box 98"/>
          <p:cNvSpPr txBox="1">
            <a:spLocks noChangeArrowheads="1"/>
          </p:cNvSpPr>
          <p:nvPr/>
        </p:nvSpPr>
        <p:spPr bwMode="auto">
          <a:xfrm>
            <a:off x="6272213" y="5567363"/>
            <a:ext cx="2197100" cy="336550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dirty="0">
                <a:solidFill>
                  <a:srgbClr val="CC0066"/>
                </a:solidFill>
              </a:rPr>
              <a:t>Decision thresholds </a:t>
            </a:r>
            <a:endParaRPr lang="en-US" sz="1600" dirty="0"/>
          </a:p>
        </p:txBody>
      </p:sp>
      <p:sp>
        <p:nvSpPr>
          <p:cNvPr id="40970" name="Text Box 99"/>
          <p:cNvSpPr txBox="1">
            <a:spLocks noChangeArrowheads="1"/>
          </p:cNvSpPr>
          <p:nvPr/>
        </p:nvSpPr>
        <p:spPr bwMode="auto">
          <a:xfrm>
            <a:off x="7681913" y="5994400"/>
            <a:ext cx="184150" cy="336550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endParaRPr lang="en-US"/>
          </a:p>
        </p:txBody>
      </p:sp>
      <p:pic>
        <p:nvPicPr>
          <p:cNvPr id="40971" name="Picture 10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6313" y="5154613"/>
            <a:ext cx="377825" cy="325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40972" name="TextBox 93"/>
          <p:cNvSpPr txBox="1">
            <a:spLocks noChangeArrowheads="1"/>
          </p:cNvSpPr>
          <p:nvPr/>
        </p:nvSpPr>
        <p:spPr bwMode="auto">
          <a:xfrm>
            <a:off x="2471738" y="1154113"/>
            <a:ext cx="2971800" cy="738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400" dirty="0"/>
              <a:t>e.g. a phase/ amplitude shift represented by this point = (say…) “100101”</a:t>
            </a:r>
          </a:p>
        </p:txBody>
      </p:sp>
    </p:spTree>
    <p:extLst>
      <p:ext uri="{BB962C8B-B14F-4D97-AF65-F5344CB8AC3E}">
        <p14:creationId xmlns:p14="http://schemas.microsoft.com/office/powerpoint/2010/main" val="275854962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87"/>
          <p:cNvSpPr>
            <a:spLocks noChangeArrowheads="1"/>
          </p:cNvSpPr>
          <p:nvPr/>
        </p:nvSpPr>
        <p:spPr bwMode="auto">
          <a:xfrm>
            <a:off x="393700" y="331789"/>
            <a:ext cx="2341562" cy="461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bIns="0" anchor="ctr"/>
          <a:lstStyle/>
          <a:p>
            <a:r>
              <a:rPr lang="en-US" sz="2400" b="1" dirty="0"/>
              <a:t>256-QAM</a:t>
            </a:r>
            <a:endParaRPr lang="en-US" sz="4400" dirty="0"/>
          </a:p>
        </p:txBody>
      </p:sp>
      <p:sp>
        <p:nvSpPr>
          <p:cNvPr id="41987" name="Rectangle 93"/>
          <p:cNvSpPr>
            <a:spLocks noChangeArrowheads="1"/>
          </p:cNvSpPr>
          <p:nvPr/>
        </p:nvSpPr>
        <p:spPr bwMode="auto">
          <a:xfrm>
            <a:off x="1100138" y="2354263"/>
            <a:ext cx="3036887" cy="929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GB" sz="1600" b="1" dirty="0"/>
              <a:t>256-QAM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GB" sz="1600" dirty="0"/>
              <a:t>256 decision points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GB" sz="1600" dirty="0"/>
              <a:t>8 coded bits per symbol</a:t>
            </a:r>
            <a:endParaRPr lang="en-US" dirty="0">
              <a:solidFill>
                <a:schemeClr val="accent2"/>
              </a:solidFill>
            </a:endParaRPr>
          </a:p>
        </p:txBody>
      </p:sp>
      <p:grpSp>
        <p:nvGrpSpPr>
          <p:cNvPr id="2" name="Group 152"/>
          <p:cNvGrpSpPr>
            <a:grpSpLocks/>
          </p:cNvGrpSpPr>
          <p:nvPr/>
        </p:nvGrpSpPr>
        <p:grpSpPr bwMode="auto">
          <a:xfrm>
            <a:off x="5924550" y="1851025"/>
            <a:ext cx="835025" cy="746125"/>
            <a:chOff x="4824413" y="2301648"/>
            <a:chExt cx="1637845" cy="1515383"/>
          </a:xfrm>
        </p:grpSpPr>
        <p:grpSp>
          <p:nvGrpSpPr>
            <p:cNvPr id="3" name="Group 95"/>
            <p:cNvGrpSpPr>
              <a:grpSpLocks/>
            </p:cNvGrpSpPr>
            <p:nvPr/>
          </p:nvGrpSpPr>
          <p:grpSpPr bwMode="auto">
            <a:xfrm>
              <a:off x="4824413" y="3096306"/>
              <a:ext cx="777875" cy="720725"/>
              <a:chOff x="4824413" y="3096306"/>
              <a:chExt cx="777875" cy="720725"/>
            </a:xfrm>
          </p:grpSpPr>
          <p:sp>
            <p:nvSpPr>
              <p:cNvPr id="42277" name="Oval 22"/>
              <p:cNvSpPr>
                <a:spLocks noChangeArrowheads="1"/>
              </p:cNvSpPr>
              <p:nvPr/>
            </p:nvSpPr>
            <p:spPr bwMode="auto">
              <a:xfrm>
                <a:off x="482441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78" name="Oval 23"/>
              <p:cNvSpPr>
                <a:spLocks noChangeArrowheads="1"/>
              </p:cNvSpPr>
              <p:nvPr/>
            </p:nvSpPr>
            <p:spPr bwMode="auto">
              <a:xfrm>
                <a:off x="549116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79" name="Oval 24"/>
              <p:cNvSpPr>
                <a:spLocks noChangeArrowheads="1"/>
              </p:cNvSpPr>
              <p:nvPr/>
            </p:nvSpPr>
            <p:spPr bwMode="auto">
              <a:xfrm>
                <a:off x="54911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80" name="Oval 25"/>
              <p:cNvSpPr>
                <a:spLocks noChangeArrowheads="1"/>
              </p:cNvSpPr>
              <p:nvPr/>
            </p:nvSpPr>
            <p:spPr bwMode="auto">
              <a:xfrm>
                <a:off x="549116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81" name="Oval 26"/>
              <p:cNvSpPr>
                <a:spLocks noChangeArrowheads="1"/>
              </p:cNvSpPr>
              <p:nvPr/>
            </p:nvSpPr>
            <p:spPr bwMode="auto">
              <a:xfrm>
                <a:off x="549116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82" name="Oval 27"/>
              <p:cNvSpPr>
                <a:spLocks noChangeArrowheads="1"/>
              </p:cNvSpPr>
              <p:nvPr/>
            </p:nvSpPr>
            <p:spPr bwMode="auto">
              <a:xfrm>
                <a:off x="482441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83" name="Oval 28"/>
              <p:cNvSpPr>
                <a:spLocks noChangeArrowheads="1"/>
              </p:cNvSpPr>
              <p:nvPr/>
            </p:nvSpPr>
            <p:spPr bwMode="auto">
              <a:xfrm>
                <a:off x="482441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84" name="Oval 29"/>
              <p:cNvSpPr>
                <a:spLocks noChangeArrowheads="1"/>
              </p:cNvSpPr>
              <p:nvPr/>
            </p:nvSpPr>
            <p:spPr bwMode="auto">
              <a:xfrm>
                <a:off x="526891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85" name="Oval 30"/>
              <p:cNvSpPr>
                <a:spLocks noChangeArrowheads="1"/>
              </p:cNvSpPr>
              <p:nvPr/>
            </p:nvSpPr>
            <p:spPr bwMode="auto">
              <a:xfrm>
                <a:off x="482441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86" name="Oval 31"/>
              <p:cNvSpPr>
                <a:spLocks noChangeArrowheads="1"/>
              </p:cNvSpPr>
              <p:nvPr/>
            </p:nvSpPr>
            <p:spPr bwMode="auto">
              <a:xfrm>
                <a:off x="526891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87" name="Oval 32"/>
              <p:cNvSpPr>
                <a:spLocks noChangeArrowheads="1"/>
              </p:cNvSpPr>
              <p:nvPr/>
            </p:nvSpPr>
            <p:spPr bwMode="auto">
              <a:xfrm>
                <a:off x="54911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88" name="Oval 33"/>
              <p:cNvSpPr>
                <a:spLocks noChangeArrowheads="1"/>
              </p:cNvSpPr>
              <p:nvPr/>
            </p:nvSpPr>
            <p:spPr bwMode="auto">
              <a:xfrm>
                <a:off x="526891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89" name="Oval 34"/>
              <p:cNvSpPr>
                <a:spLocks noChangeArrowheads="1"/>
              </p:cNvSpPr>
              <p:nvPr/>
            </p:nvSpPr>
            <p:spPr bwMode="auto">
              <a:xfrm>
                <a:off x="526891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90" name="Oval 35"/>
              <p:cNvSpPr>
                <a:spLocks noChangeArrowheads="1"/>
              </p:cNvSpPr>
              <p:nvPr/>
            </p:nvSpPr>
            <p:spPr bwMode="auto">
              <a:xfrm>
                <a:off x="504666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91" name="Oval 36"/>
              <p:cNvSpPr>
                <a:spLocks noChangeArrowheads="1"/>
              </p:cNvSpPr>
              <p:nvPr/>
            </p:nvSpPr>
            <p:spPr bwMode="auto">
              <a:xfrm>
                <a:off x="50466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92" name="Oval 37"/>
              <p:cNvSpPr>
                <a:spLocks noChangeArrowheads="1"/>
              </p:cNvSpPr>
              <p:nvPr/>
            </p:nvSpPr>
            <p:spPr bwMode="auto">
              <a:xfrm>
                <a:off x="504666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93" name="Oval 38"/>
              <p:cNvSpPr>
                <a:spLocks noChangeArrowheads="1"/>
              </p:cNvSpPr>
              <p:nvPr/>
            </p:nvSpPr>
            <p:spPr bwMode="auto">
              <a:xfrm>
                <a:off x="504666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98"/>
            <p:cNvGrpSpPr>
              <a:grpSpLocks/>
            </p:cNvGrpSpPr>
            <p:nvPr/>
          </p:nvGrpSpPr>
          <p:grpSpPr bwMode="auto">
            <a:xfrm>
              <a:off x="5684383" y="3096306"/>
              <a:ext cx="777875" cy="720725"/>
              <a:chOff x="4824413" y="3096306"/>
              <a:chExt cx="777875" cy="720725"/>
            </a:xfrm>
          </p:grpSpPr>
          <p:sp>
            <p:nvSpPr>
              <p:cNvPr id="42260" name="Oval 22"/>
              <p:cNvSpPr>
                <a:spLocks noChangeArrowheads="1"/>
              </p:cNvSpPr>
              <p:nvPr/>
            </p:nvSpPr>
            <p:spPr bwMode="auto">
              <a:xfrm>
                <a:off x="482441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61" name="Oval 23"/>
              <p:cNvSpPr>
                <a:spLocks noChangeArrowheads="1"/>
              </p:cNvSpPr>
              <p:nvPr/>
            </p:nvSpPr>
            <p:spPr bwMode="auto">
              <a:xfrm>
                <a:off x="549116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62" name="Oval 24"/>
              <p:cNvSpPr>
                <a:spLocks noChangeArrowheads="1"/>
              </p:cNvSpPr>
              <p:nvPr/>
            </p:nvSpPr>
            <p:spPr bwMode="auto">
              <a:xfrm>
                <a:off x="54911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63" name="Oval 25"/>
              <p:cNvSpPr>
                <a:spLocks noChangeArrowheads="1"/>
              </p:cNvSpPr>
              <p:nvPr/>
            </p:nvSpPr>
            <p:spPr bwMode="auto">
              <a:xfrm>
                <a:off x="549116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64" name="Oval 26"/>
              <p:cNvSpPr>
                <a:spLocks noChangeArrowheads="1"/>
              </p:cNvSpPr>
              <p:nvPr/>
            </p:nvSpPr>
            <p:spPr bwMode="auto">
              <a:xfrm>
                <a:off x="549116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65" name="Oval 27"/>
              <p:cNvSpPr>
                <a:spLocks noChangeArrowheads="1"/>
              </p:cNvSpPr>
              <p:nvPr/>
            </p:nvSpPr>
            <p:spPr bwMode="auto">
              <a:xfrm>
                <a:off x="482441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66" name="Oval 28"/>
              <p:cNvSpPr>
                <a:spLocks noChangeArrowheads="1"/>
              </p:cNvSpPr>
              <p:nvPr/>
            </p:nvSpPr>
            <p:spPr bwMode="auto">
              <a:xfrm>
                <a:off x="482441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67" name="Oval 29"/>
              <p:cNvSpPr>
                <a:spLocks noChangeArrowheads="1"/>
              </p:cNvSpPr>
              <p:nvPr/>
            </p:nvSpPr>
            <p:spPr bwMode="auto">
              <a:xfrm>
                <a:off x="526891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68" name="Oval 30"/>
              <p:cNvSpPr>
                <a:spLocks noChangeArrowheads="1"/>
              </p:cNvSpPr>
              <p:nvPr/>
            </p:nvSpPr>
            <p:spPr bwMode="auto">
              <a:xfrm>
                <a:off x="482441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69" name="Oval 31"/>
              <p:cNvSpPr>
                <a:spLocks noChangeArrowheads="1"/>
              </p:cNvSpPr>
              <p:nvPr/>
            </p:nvSpPr>
            <p:spPr bwMode="auto">
              <a:xfrm>
                <a:off x="526891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70" name="Oval 32"/>
              <p:cNvSpPr>
                <a:spLocks noChangeArrowheads="1"/>
              </p:cNvSpPr>
              <p:nvPr/>
            </p:nvSpPr>
            <p:spPr bwMode="auto">
              <a:xfrm>
                <a:off x="54911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71" name="Oval 33"/>
              <p:cNvSpPr>
                <a:spLocks noChangeArrowheads="1"/>
              </p:cNvSpPr>
              <p:nvPr/>
            </p:nvSpPr>
            <p:spPr bwMode="auto">
              <a:xfrm>
                <a:off x="526891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72" name="Oval 34"/>
              <p:cNvSpPr>
                <a:spLocks noChangeArrowheads="1"/>
              </p:cNvSpPr>
              <p:nvPr/>
            </p:nvSpPr>
            <p:spPr bwMode="auto">
              <a:xfrm>
                <a:off x="526891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73" name="Oval 35"/>
              <p:cNvSpPr>
                <a:spLocks noChangeArrowheads="1"/>
              </p:cNvSpPr>
              <p:nvPr/>
            </p:nvSpPr>
            <p:spPr bwMode="auto">
              <a:xfrm>
                <a:off x="504666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74" name="Oval 36"/>
              <p:cNvSpPr>
                <a:spLocks noChangeArrowheads="1"/>
              </p:cNvSpPr>
              <p:nvPr/>
            </p:nvSpPr>
            <p:spPr bwMode="auto">
              <a:xfrm>
                <a:off x="50466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75" name="Oval 37"/>
              <p:cNvSpPr>
                <a:spLocks noChangeArrowheads="1"/>
              </p:cNvSpPr>
              <p:nvPr/>
            </p:nvSpPr>
            <p:spPr bwMode="auto">
              <a:xfrm>
                <a:off x="504666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76" name="Oval 38"/>
              <p:cNvSpPr>
                <a:spLocks noChangeArrowheads="1"/>
              </p:cNvSpPr>
              <p:nvPr/>
            </p:nvSpPr>
            <p:spPr bwMode="auto">
              <a:xfrm>
                <a:off x="504666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116"/>
            <p:cNvGrpSpPr>
              <a:grpSpLocks/>
            </p:cNvGrpSpPr>
            <p:nvPr/>
          </p:nvGrpSpPr>
          <p:grpSpPr bwMode="auto">
            <a:xfrm>
              <a:off x="4824413" y="2301648"/>
              <a:ext cx="777875" cy="720725"/>
              <a:chOff x="4824413" y="3096306"/>
              <a:chExt cx="777875" cy="720725"/>
            </a:xfrm>
          </p:grpSpPr>
          <p:sp>
            <p:nvSpPr>
              <p:cNvPr id="42243" name="Oval 22"/>
              <p:cNvSpPr>
                <a:spLocks noChangeArrowheads="1"/>
              </p:cNvSpPr>
              <p:nvPr/>
            </p:nvSpPr>
            <p:spPr bwMode="auto">
              <a:xfrm>
                <a:off x="482441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44" name="Oval 23"/>
              <p:cNvSpPr>
                <a:spLocks noChangeArrowheads="1"/>
              </p:cNvSpPr>
              <p:nvPr/>
            </p:nvSpPr>
            <p:spPr bwMode="auto">
              <a:xfrm>
                <a:off x="549116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45" name="Oval 24"/>
              <p:cNvSpPr>
                <a:spLocks noChangeArrowheads="1"/>
              </p:cNvSpPr>
              <p:nvPr/>
            </p:nvSpPr>
            <p:spPr bwMode="auto">
              <a:xfrm>
                <a:off x="54911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46" name="Oval 25"/>
              <p:cNvSpPr>
                <a:spLocks noChangeArrowheads="1"/>
              </p:cNvSpPr>
              <p:nvPr/>
            </p:nvSpPr>
            <p:spPr bwMode="auto">
              <a:xfrm>
                <a:off x="549116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47" name="Oval 26"/>
              <p:cNvSpPr>
                <a:spLocks noChangeArrowheads="1"/>
              </p:cNvSpPr>
              <p:nvPr/>
            </p:nvSpPr>
            <p:spPr bwMode="auto">
              <a:xfrm>
                <a:off x="549116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48" name="Oval 27"/>
              <p:cNvSpPr>
                <a:spLocks noChangeArrowheads="1"/>
              </p:cNvSpPr>
              <p:nvPr/>
            </p:nvSpPr>
            <p:spPr bwMode="auto">
              <a:xfrm>
                <a:off x="482441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49" name="Oval 28"/>
              <p:cNvSpPr>
                <a:spLocks noChangeArrowheads="1"/>
              </p:cNvSpPr>
              <p:nvPr/>
            </p:nvSpPr>
            <p:spPr bwMode="auto">
              <a:xfrm>
                <a:off x="482441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50" name="Oval 29"/>
              <p:cNvSpPr>
                <a:spLocks noChangeArrowheads="1"/>
              </p:cNvSpPr>
              <p:nvPr/>
            </p:nvSpPr>
            <p:spPr bwMode="auto">
              <a:xfrm>
                <a:off x="526891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51" name="Oval 30"/>
              <p:cNvSpPr>
                <a:spLocks noChangeArrowheads="1"/>
              </p:cNvSpPr>
              <p:nvPr/>
            </p:nvSpPr>
            <p:spPr bwMode="auto">
              <a:xfrm>
                <a:off x="482441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52" name="Oval 31"/>
              <p:cNvSpPr>
                <a:spLocks noChangeArrowheads="1"/>
              </p:cNvSpPr>
              <p:nvPr/>
            </p:nvSpPr>
            <p:spPr bwMode="auto">
              <a:xfrm>
                <a:off x="526891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53" name="Oval 32"/>
              <p:cNvSpPr>
                <a:spLocks noChangeArrowheads="1"/>
              </p:cNvSpPr>
              <p:nvPr/>
            </p:nvSpPr>
            <p:spPr bwMode="auto">
              <a:xfrm>
                <a:off x="54911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54" name="Oval 33"/>
              <p:cNvSpPr>
                <a:spLocks noChangeArrowheads="1"/>
              </p:cNvSpPr>
              <p:nvPr/>
            </p:nvSpPr>
            <p:spPr bwMode="auto">
              <a:xfrm>
                <a:off x="526891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55" name="Oval 34"/>
              <p:cNvSpPr>
                <a:spLocks noChangeArrowheads="1"/>
              </p:cNvSpPr>
              <p:nvPr/>
            </p:nvSpPr>
            <p:spPr bwMode="auto">
              <a:xfrm>
                <a:off x="526891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56" name="Oval 35"/>
              <p:cNvSpPr>
                <a:spLocks noChangeArrowheads="1"/>
              </p:cNvSpPr>
              <p:nvPr/>
            </p:nvSpPr>
            <p:spPr bwMode="auto">
              <a:xfrm>
                <a:off x="504666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57" name="Oval 36"/>
              <p:cNvSpPr>
                <a:spLocks noChangeArrowheads="1"/>
              </p:cNvSpPr>
              <p:nvPr/>
            </p:nvSpPr>
            <p:spPr bwMode="auto">
              <a:xfrm>
                <a:off x="50466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58" name="Oval 37"/>
              <p:cNvSpPr>
                <a:spLocks noChangeArrowheads="1"/>
              </p:cNvSpPr>
              <p:nvPr/>
            </p:nvSpPr>
            <p:spPr bwMode="auto">
              <a:xfrm>
                <a:off x="504666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59" name="Oval 38"/>
              <p:cNvSpPr>
                <a:spLocks noChangeArrowheads="1"/>
              </p:cNvSpPr>
              <p:nvPr/>
            </p:nvSpPr>
            <p:spPr bwMode="auto">
              <a:xfrm>
                <a:off x="504666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" name="Group 134"/>
            <p:cNvGrpSpPr>
              <a:grpSpLocks/>
            </p:cNvGrpSpPr>
            <p:nvPr/>
          </p:nvGrpSpPr>
          <p:grpSpPr bwMode="auto">
            <a:xfrm>
              <a:off x="5684383" y="2301648"/>
              <a:ext cx="777875" cy="720725"/>
              <a:chOff x="4824413" y="3096306"/>
              <a:chExt cx="777875" cy="720725"/>
            </a:xfrm>
          </p:grpSpPr>
          <p:sp>
            <p:nvSpPr>
              <p:cNvPr id="42226" name="Oval 22"/>
              <p:cNvSpPr>
                <a:spLocks noChangeArrowheads="1"/>
              </p:cNvSpPr>
              <p:nvPr/>
            </p:nvSpPr>
            <p:spPr bwMode="auto">
              <a:xfrm>
                <a:off x="482441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27" name="Oval 23"/>
              <p:cNvSpPr>
                <a:spLocks noChangeArrowheads="1"/>
              </p:cNvSpPr>
              <p:nvPr/>
            </p:nvSpPr>
            <p:spPr bwMode="auto">
              <a:xfrm>
                <a:off x="549116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28" name="Oval 24"/>
              <p:cNvSpPr>
                <a:spLocks noChangeArrowheads="1"/>
              </p:cNvSpPr>
              <p:nvPr/>
            </p:nvSpPr>
            <p:spPr bwMode="auto">
              <a:xfrm>
                <a:off x="54911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29" name="Oval 25"/>
              <p:cNvSpPr>
                <a:spLocks noChangeArrowheads="1"/>
              </p:cNvSpPr>
              <p:nvPr/>
            </p:nvSpPr>
            <p:spPr bwMode="auto">
              <a:xfrm>
                <a:off x="549116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30" name="Oval 26"/>
              <p:cNvSpPr>
                <a:spLocks noChangeArrowheads="1"/>
              </p:cNvSpPr>
              <p:nvPr/>
            </p:nvSpPr>
            <p:spPr bwMode="auto">
              <a:xfrm>
                <a:off x="549116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31" name="Oval 27"/>
              <p:cNvSpPr>
                <a:spLocks noChangeArrowheads="1"/>
              </p:cNvSpPr>
              <p:nvPr/>
            </p:nvSpPr>
            <p:spPr bwMode="auto">
              <a:xfrm>
                <a:off x="482441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32" name="Oval 28"/>
              <p:cNvSpPr>
                <a:spLocks noChangeArrowheads="1"/>
              </p:cNvSpPr>
              <p:nvPr/>
            </p:nvSpPr>
            <p:spPr bwMode="auto">
              <a:xfrm>
                <a:off x="482441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33" name="Oval 29"/>
              <p:cNvSpPr>
                <a:spLocks noChangeArrowheads="1"/>
              </p:cNvSpPr>
              <p:nvPr/>
            </p:nvSpPr>
            <p:spPr bwMode="auto">
              <a:xfrm>
                <a:off x="526891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34" name="Oval 30"/>
              <p:cNvSpPr>
                <a:spLocks noChangeArrowheads="1"/>
              </p:cNvSpPr>
              <p:nvPr/>
            </p:nvSpPr>
            <p:spPr bwMode="auto">
              <a:xfrm>
                <a:off x="482441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35" name="Oval 31"/>
              <p:cNvSpPr>
                <a:spLocks noChangeArrowheads="1"/>
              </p:cNvSpPr>
              <p:nvPr/>
            </p:nvSpPr>
            <p:spPr bwMode="auto">
              <a:xfrm>
                <a:off x="526891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36" name="Oval 32"/>
              <p:cNvSpPr>
                <a:spLocks noChangeArrowheads="1"/>
              </p:cNvSpPr>
              <p:nvPr/>
            </p:nvSpPr>
            <p:spPr bwMode="auto">
              <a:xfrm>
                <a:off x="54911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37" name="Oval 33"/>
              <p:cNvSpPr>
                <a:spLocks noChangeArrowheads="1"/>
              </p:cNvSpPr>
              <p:nvPr/>
            </p:nvSpPr>
            <p:spPr bwMode="auto">
              <a:xfrm>
                <a:off x="526891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38" name="Oval 34"/>
              <p:cNvSpPr>
                <a:spLocks noChangeArrowheads="1"/>
              </p:cNvSpPr>
              <p:nvPr/>
            </p:nvSpPr>
            <p:spPr bwMode="auto">
              <a:xfrm>
                <a:off x="526891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39" name="Oval 35"/>
              <p:cNvSpPr>
                <a:spLocks noChangeArrowheads="1"/>
              </p:cNvSpPr>
              <p:nvPr/>
            </p:nvSpPr>
            <p:spPr bwMode="auto">
              <a:xfrm>
                <a:off x="504666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40" name="Oval 36"/>
              <p:cNvSpPr>
                <a:spLocks noChangeArrowheads="1"/>
              </p:cNvSpPr>
              <p:nvPr/>
            </p:nvSpPr>
            <p:spPr bwMode="auto">
              <a:xfrm>
                <a:off x="50466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41" name="Oval 37"/>
              <p:cNvSpPr>
                <a:spLocks noChangeArrowheads="1"/>
              </p:cNvSpPr>
              <p:nvPr/>
            </p:nvSpPr>
            <p:spPr bwMode="auto">
              <a:xfrm>
                <a:off x="504666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42" name="Oval 38"/>
              <p:cNvSpPr>
                <a:spLocks noChangeArrowheads="1"/>
              </p:cNvSpPr>
              <p:nvPr/>
            </p:nvSpPr>
            <p:spPr bwMode="auto">
              <a:xfrm>
                <a:off x="504666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41989" name="TextBox 372"/>
          <p:cNvSpPr txBox="1">
            <a:spLocks noChangeArrowheads="1"/>
          </p:cNvSpPr>
          <p:nvPr/>
        </p:nvSpPr>
        <p:spPr bwMode="auto">
          <a:xfrm>
            <a:off x="2579688" y="4452938"/>
            <a:ext cx="2971800" cy="738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400"/>
              <a:t>e.g. a phase/ amplitude shift represented by this point = (say…) “10010111”</a:t>
            </a:r>
          </a:p>
        </p:txBody>
      </p:sp>
      <p:cxnSp>
        <p:nvCxnSpPr>
          <p:cNvPr id="41990" name="Straight Arrow Connector 374"/>
          <p:cNvCxnSpPr>
            <a:cxnSpLocks noChangeShapeType="1"/>
          </p:cNvCxnSpPr>
          <p:nvPr/>
        </p:nvCxnSpPr>
        <p:spPr bwMode="auto">
          <a:xfrm flipV="1">
            <a:off x="3821113" y="3201988"/>
            <a:ext cx="1470025" cy="12604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41991" name="Line 4"/>
          <p:cNvSpPr>
            <a:spLocks noChangeShapeType="1"/>
          </p:cNvSpPr>
          <p:nvPr/>
        </p:nvSpPr>
        <p:spPr bwMode="auto">
          <a:xfrm>
            <a:off x="5892800" y="1609725"/>
            <a:ext cx="0" cy="2041525"/>
          </a:xfrm>
          <a:prstGeom prst="line">
            <a:avLst/>
          </a:prstGeom>
          <a:noFill/>
          <a:ln w="12699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992" name="Line 73"/>
          <p:cNvSpPr>
            <a:spLocks noChangeShapeType="1"/>
          </p:cNvSpPr>
          <p:nvPr/>
        </p:nvSpPr>
        <p:spPr bwMode="auto">
          <a:xfrm>
            <a:off x="4740275" y="2632075"/>
            <a:ext cx="2359025" cy="1588"/>
          </a:xfrm>
          <a:prstGeom prst="line">
            <a:avLst/>
          </a:prstGeom>
          <a:noFill/>
          <a:ln w="12699">
            <a:solidFill>
              <a:srgbClr val="8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grpSp>
        <p:nvGrpSpPr>
          <p:cNvPr id="7" name="Group 77"/>
          <p:cNvGrpSpPr>
            <a:grpSpLocks/>
          </p:cNvGrpSpPr>
          <p:nvPr/>
        </p:nvGrpSpPr>
        <p:grpSpPr bwMode="auto">
          <a:xfrm>
            <a:off x="6622122" y="3736979"/>
            <a:ext cx="1710486" cy="585788"/>
            <a:chOff x="4365" y="2803"/>
            <a:chExt cx="805" cy="369"/>
          </a:xfrm>
        </p:grpSpPr>
        <p:sp>
          <p:nvSpPr>
            <p:cNvPr id="42220" name="Text Box 78"/>
            <p:cNvSpPr txBox="1">
              <a:spLocks noChangeArrowheads="1"/>
            </p:cNvSpPr>
            <p:nvPr/>
          </p:nvSpPr>
          <p:spPr bwMode="auto">
            <a:xfrm>
              <a:off x="4416" y="2803"/>
              <a:ext cx="692" cy="212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>
                  <a:solidFill>
                    <a:srgbClr val="CC0066"/>
                  </a:solidFill>
                </a:rPr>
                <a:t>Decision</a:t>
              </a:r>
              <a:endParaRPr lang="en-US" dirty="0"/>
            </a:p>
          </p:txBody>
        </p:sp>
        <p:sp>
          <p:nvSpPr>
            <p:cNvPr id="42221" name="Text Box 79"/>
            <p:cNvSpPr txBox="1">
              <a:spLocks noChangeArrowheads="1"/>
            </p:cNvSpPr>
            <p:nvPr/>
          </p:nvSpPr>
          <p:spPr bwMode="auto">
            <a:xfrm>
              <a:off x="4365" y="2960"/>
              <a:ext cx="805" cy="212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dirty="0">
                  <a:solidFill>
                    <a:srgbClr val="CC0066"/>
                  </a:solidFill>
                </a:rPr>
                <a:t>Thresholds</a:t>
              </a:r>
              <a:endParaRPr lang="en-US" dirty="0"/>
            </a:p>
          </p:txBody>
        </p:sp>
      </p:grpSp>
      <p:sp>
        <p:nvSpPr>
          <p:cNvPr id="41994" name="Line 80"/>
          <p:cNvSpPr>
            <a:spLocks noChangeShapeType="1"/>
          </p:cNvSpPr>
          <p:nvPr/>
        </p:nvSpPr>
        <p:spPr bwMode="auto">
          <a:xfrm rot="5400000" flipH="1">
            <a:off x="6552407" y="3494881"/>
            <a:ext cx="338138" cy="206375"/>
          </a:xfrm>
          <a:prstGeom prst="line">
            <a:avLst/>
          </a:prstGeom>
          <a:noFill/>
          <a:ln w="12699">
            <a:solidFill>
              <a:srgbClr val="CC0066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1995" name="Text Box 81"/>
          <p:cNvSpPr txBox="1">
            <a:spLocks noChangeArrowheads="1"/>
          </p:cNvSpPr>
          <p:nvPr/>
        </p:nvSpPr>
        <p:spPr bwMode="auto">
          <a:xfrm>
            <a:off x="5670550" y="1301750"/>
            <a:ext cx="441325" cy="336550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solidFill>
                  <a:srgbClr val="800000"/>
                </a:solidFill>
              </a:rPr>
              <a:t>90</a:t>
            </a:r>
          </a:p>
        </p:txBody>
      </p:sp>
      <p:sp>
        <p:nvSpPr>
          <p:cNvPr id="41996" name="Text Box 82"/>
          <p:cNvSpPr txBox="1">
            <a:spLocks noChangeArrowheads="1"/>
          </p:cNvSpPr>
          <p:nvPr/>
        </p:nvSpPr>
        <p:spPr bwMode="auto">
          <a:xfrm>
            <a:off x="7118350" y="2474913"/>
            <a:ext cx="312738" cy="336550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solidFill>
                  <a:srgbClr val="800000"/>
                </a:solidFill>
              </a:rPr>
              <a:t>0</a:t>
            </a:r>
            <a:endParaRPr lang="en-US" sz="1600" dirty="0"/>
          </a:p>
        </p:txBody>
      </p:sp>
      <p:sp>
        <p:nvSpPr>
          <p:cNvPr id="41997" name="Text Box 83"/>
          <p:cNvSpPr txBox="1">
            <a:spLocks noChangeArrowheads="1"/>
          </p:cNvSpPr>
          <p:nvPr/>
        </p:nvSpPr>
        <p:spPr bwMode="auto">
          <a:xfrm>
            <a:off x="4187825" y="2474913"/>
            <a:ext cx="569913" cy="336550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solidFill>
                  <a:srgbClr val="800000"/>
                </a:solidFill>
              </a:rPr>
              <a:t>180</a:t>
            </a:r>
            <a:endParaRPr lang="en-US" sz="1600" dirty="0"/>
          </a:p>
        </p:txBody>
      </p:sp>
      <p:sp>
        <p:nvSpPr>
          <p:cNvPr id="41998" name="Rectangle 84"/>
          <p:cNvSpPr>
            <a:spLocks noChangeArrowheads="1"/>
          </p:cNvSpPr>
          <p:nvPr/>
        </p:nvSpPr>
        <p:spPr bwMode="auto">
          <a:xfrm>
            <a:off x="782638" y="2035175"/>
            <a:ext cx="32512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</a:pPr>
            <a:endParaRPr lang="en-US" sz="2800">
              <a:solidFill>
                <a:schemeClr val="accent2"/>
              </a:solidFill>
            </a:endParaRPr>
          </a:p>
        </p:txBody>
      </p:sp>
      <p:grpSp>
        <p:nvGrpSpPr>
          <p:cNvPr id="8" name="Group 457"/>
          <p:cNvGrpSpPr>
            <a:grpSpLocks/>
          </p:cNvGrpSpPr>
          <p:nvPr/>
        </p:nvGrpSpPr>
        <p:grpSpPr bwMode="auto">
          <a:xfrm>
            <a:off x="5010150" y="1851025"/>
            <a:ext cx="835025" cy="746125"/>
            <a:chOff x="4824413" y="2301648"/>
            <a:chExt cx="1637845" cy="1515383"/>
          </a:xfrm>
        </p:grpSpPr>
        <p:grpSp>
          <p:nvGrpSpPr>
            <p:cNvPr id="9" name="Group 458"/>
            <p:cNvGrpSpPr>
              <a:grpSpLocks/>
            </p:cNvGrpSpPr>
            <p:nvPr/>
          </p:nvGrpSpPr>
          <p:grpSpPr bwMode="auto">
            <a:xfrm>
              <a:off x="4824413" y="3096306"/>
              <a:ext cx="777875" cy="720725"/>
              <a:chOff x="4824413" y="3096306"/>
              <a:chExt cx="777875" cy="720725"/>
            </a:xfrm>
          </p:grpSpPr>
          <p:sp>
            <p:nvSpPr>
              <p:cNvPr id="42203" name="Oval 22"/>
              <p:cNvSpPr>
                <a:spLocks noChangeArrowheads="1"/>
              </p:cNvSpPr>
              <p:nvPr/>
            </p:nvSpPr>
            <p:spPr bwMode="auto">
              <a:xfrm>
                <a:off x="482441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04" name="Oval 23"/>
              <p:cNvSpPr>
                <a:spLocks noChangeArrowheads="1"/>
              </p:cNvSpPr>
              <p:nvPr/>
            </p:nvSpPr>
            <p:spPr bwMode="auto">
              <a:xfrm>
                <a:off x="549116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05" name="Oval 24"/>
              <p:cNvSpPr>
                <a:spLocks noChangeArrowheads="1"/>
              </p:cNvSpPr>
              <p:nvPr/>
            </p:nvSpPr>
            <p:spPr bwMode="auto">
              <a:xfrm>
                <a:off x="54911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06" name="Oval 25"/>
              <p:cNvSpPr>
                <a:spLocks noChangeArrowheads="1"/>
              </p:cNvSpPr>
              <p:nvPr/>
            </p:nvSpPr>
            <p:spPr bwMode="auto">
              <a:xfrm>
                <a:off x="549116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07" name="Oval 26"/>
              <p:cNvSpPr>
                <a:spLocks noChangeArrowheads="1"/>
              </p:cNvSpPr>
              <p:nvPr/>
            </p:nvSpPr>
            <p:spPr bwMode="auto">
              <a:xfrm>
                <a:off x="549116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08" name="Oval 27"/>
              <p:cNvSpPr>
                <a:spLocks noChangeArrowheads="1"/>
              </p:cNvSpPr>
              <p:nvPr/>
            </p:nvSpPr>
            <p:spPr bwMode="auto">
              <a:xfrm>
                <a:off x="482441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09" name="Oval 28"/>
              <p:cNvSpPr>
                <a:spLocks noChangeArrowheads="1"/>
              </p:cNvSpPr>
              <p:nvPr/>
            </p:nvSpPr>
            <p:spPr bwMode="auto">
              <a:xfrm>
                <a:off x="482441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10" name="Oval 29"/>
              <p:cNvSpPr>
                <a:spLocks noChangeArrowheads="1"/>
              </p:cNvSpPr>
              <p:nvPr/>
            </p:nvSpPr>
            <p:spPr bwMode="auto">
              <a:xfrm>
                <a:off x="526891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11" name="Oval 30"/>
              <p:cNvSpPr>
                <a:spLocks noChangeArrowheads="1"/>
              </p:cNvSpPr>
              <p:nvPr/>
            </p:nvSpPr>
            <p:spPr bwMode="auto">
              <a:xfrm>
                <a:off x="482441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12" name="Oval 31"/>
              <p:cNvSpPr>
                <a:spLocks noChangeArrowheads="1"/>
              </p:cNvSpPr>
              <p:nvPr/>
            </p:nvSpPr>
            <p:spPr bwMode="auto">
              <a:xfrm>
                <a:off x="526891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13" name="Oval 32"/>
              <p:cNvSpPr>
                <a:spLocks noChangeArrowheads="1"/>
              </p:cNvSpPr>
              <p:nvPr/>
            </p:nvSpPr>
            <p:spPr bwMode="auto">
              <a:xfrm>
                <a:off x="54911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14" name="Oval 33"/>
              <p:cNvSpPr>
                <a:spLocks noChangeArrowheads="1"/>
              </p:cNvSpPr>
              <p:nvPr/>
            </p:nvSpPr>
            <p:spPr bwMode="auto">
              <a:xfrm>
                <a:off x="526891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15" name="Oval 34"/>
              <p:cNvSpPr>
                <a:spLocks noChangeArrowheads="1"/>
              </p:cNvSpPr>
              <p:nvPr/>
            </p:nvSpPr>
            <p:spPr bwMode="auto">
              <a:xfrm>
                <a:off x="526891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16" name="Oval 35"/>
              <p:cNvSpPr>
                <a:spLocks noChangeArrowheads="1"/>
              </p:cNvSpPr>
              <p:nvPr/>
            </p:nvSpPr>
            <p:spPr bwMode="auto">
              <a:xfrm>
                <a:off x="504666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17" name="Oval 36"/>
              <p:cNvSpPr>
                <a:spLocks noChangeArrowheads="1"/>
              </p:cNvSpPr>
              <p:nvPr/>
            </p:nvSpPr>
            <p:spPr bwMode="auto">
              <a:xfrm>
                <a:off x="50466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18" name="Oval 37"/>
              <p:cNvSpPr>
                <a:spLocks noChangeArrowheads="1"/>
              </p:cNvSpPr>
              <p:nvPr/>
            </p:nvSpPr>
            <p:spPr bwMode="auto">
              <a:xfrm>
                <a:off x="504666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19" name="Oval 38"/>
              <p:cNvSpPr>
                <a:spLocks noChangeArrowheads="1"/>
              </p:cNvSpPr>
              <p:nvPr/>
            </p:nvSpPr>
            <p:spPr bwMode="auto">
              <a:xfrm>
                <a:off x="504666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" name="Group 459"/>
            <p:cNvGrpSpPr>
              <a:grpSpLocks/>
            </p:cNvGrpSpPr>
            <p:nvPr/>
          </p:nvGrpSpPr>
          <p:grpSpPr bwMode="auto">
            <a:xfrm>
              <a:off x="5684383" y="3096306"/>
              <a:ext cx="777875" cy="720725"/>
              <a:chOff x="4824413" y="3096306"/>
              <a:chExt cx="777875" cy="720725"/>
            </a:xfrm>
          </p:grpSpPr>
          <p:sp>
            <p:nvSpPr>
              <p:cNvPr id="42186" name="Oval 22"/>
              <p:cNvSpPr>
                <a:spLocks noChangeArrowheads="1"/>
              </p:cNvSpPr>
              <p:nvPr/>
            </p:nvSpPr>
            <p:spPr bwMode="auto">
              <a:xfrm>
                <a:off x="482441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87" name="Oval 23"/>
              <p:cNvSpPr>
                <a:spLocks noChangeArrowheads="1"/>
              </p:cNvSpPr>
              <p:nvPr/>
            </p:nvSpPr>
            <p:spPr bwMode="auto">
              <a:xfrm>
                <a:off x="549116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88" name="Oval 24"/>
              <p:cNvSpPr>
                <a:spLocks noChangeArrowheads="1"/>
              </p:cNvSpPr>
              <p:nvPr/>
            </p:nvSpPr>
            <p:spPr bwMode="auto">
              <a:xfrm>
                <a:off x="54911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89" name="Oval 25"/>
              <p:cNvSpPr>
                <a:spLocks noChangeArrowheads="1"/>
              </p:cNvSpPr>
              <p:nvPr/>
            </p:nvSpPr>
            <p:spPr bwMode="auto">
              <a:xfrm>
                <a:off x="549116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90" name="Oval 26"/>
              <p:cNvSpPr>
                <a:spLocks noChangeArrowheads="1"/>
              </p:cNvSpPr>
              <p:nvPr/>
            </p:nvSpPr>
            <p:spPr bwMode="auto">
              <a:xfrm>
                <a:off x="549116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91" name="Oval 27"/>
              <p:cNvSpPr>
                <a:spLocks noChangeArrowheads="1"/>
              </p:cNvSpPr>
              <p:nvPr/>
            </p:nvSpPr>
            <p:spPr bwMode="auto">
              <a:xfrm>
                <a:off x="482441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92" name="Oval 28"/>
              <p:cNvSpPr>
                <a:spLocks noChangeArrowheads="1"/>
              </p:cNvSpPr>
              <p:nvPr/>
            </p:nvSpPr>
            <p:spPr bwMode="auto">
              <a:xfrm>
                <a:off x="482441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93" name="Oval 29"/>
              <p:cNvSpPr>
                <a:spLocks noChangeArrowheads="1"/>
              </p:cNvSpPr>
              <p:nvPr/>
            </p:nvSpPr>
            <p:spPr bwMode="auto">
              <a:xfrm>
                <a:off x="526891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94" name="Oval 30"/>
              <p:cNvSpPr>
                <a:spLocks noChangeArrowheads="1"/>
              </p:cNvSpPr>
              <p:nvPr/>
            </p:nvSpPr>
            <p:spPr bwMode="auto">
              <a:xfrm>
                <a:off x="482441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95" name="Oval 31"/>
              <p:cNvSpPr>
                <a:spLocks noChangeArrowheads="1"/>
              </p:cNvSpPr>
              <p:nvPr/>
            </p:nvSpPr>
            <p:spPr bwMode="auto">
              <a:xfrm>
                <a:off x="526891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96" name="Oval 32"/>
              <p:cNvSpPr>
                <a:spLocks noChangeArrowheads="1"/>
              </p:cNvSpPr>
              <p:nvPr/>
            </p:nvSpPr>
            <p:spPr bwMode="auto">
              <a:xfrm>
                <a:off x="54911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97" name="Oval 33"/>
              <p:cNvSpPr>
                <a:spLocks noChangeArrowheads="1"/>
              </p:cNvSpPr>
              <p:nvPr/>
            </p:nvSpPr>
            <p:spPr bwMode="auto">
              <a:xfrm>
                <a:off x="526891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98" name="Oval 34"/>
              <p:cNvSpPr>
                <a:spLocks noChangeArrowheads="1"/>
              </p:cNvSpPr>
              <p:nvPr/>
            </p:nvSpPr>
            <p:spPr bwMode="auto">
              <a:xfrm>
                <a:off x="526891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99" name="Oval 35"/>
              <p:cNvSpPr>
                <a:spLocks noChangeArrowheads="1"/>
              </p:cNvSpPr>
              <p:nvPr/>
            </p:nvSpPr>
            <p:spPr bwMode="auto">
              <a:xfrm>
                <a:off x="504666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00" name="Oval 36"/>
              <p:cNvSpPr>
                <a:spLocks noChangeArrowheads="1"/>
              </p:cNvSpPr>
              <p:nvPr/>
            </p:nvSpPr>
            <p:spPr bwMode="auto">
              <a:xfrm>
                <a:off x="50466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01" name="Oval 37"/>
              <p:cNvSpPr>
                <a:spLocks noChangeArrowheads="1"/>
              </p:cNvSpPr>
              <p:nvPr/>
            </p:nvSpPr>
            <p:spPr bwMode="auto">
              <a:xfrm>
                <a:off x="504666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02" name="Oval 38"/>
              <p:cNvSpPr>
                <a:spLocks noChangeArrowheads="1"/>
              </p:cNvSpPr>
              <p:nvPr/>
            </p:nvSpPr>
            <p:spPr bwMode="auto">
              <a:xfrm>
                <a:off x="504666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" name="Group 460"/>
            <p:cNvGrpSpPr>
              <a:grpSpLocks/>
            </p:cNvGrpSpPr>
            <p:nvPr/>
          </p:nvGrpSpPr>
          <p:grpSpPr bwMode="auto">
            <a:xfrm>
              <a:off x="4824413" y="2301648"/>
              <a:ext cx="777875" cy="720725"/>
              <a:chOff x="4824413" y="3096306"/>
              <a:chExt cx="777875" cy="720725"/>
            </a:xfrm>
          </p:grpSpPr>
          <p:sp>
            <p:nvSpPr>
              <p:cNvPr id="42169" name="Oval 22"/>
              <p:cNvSpPr>
                <a:spLocks noChangeArrowheads="1"/>
              </p:cNvSpPr>
              <p:nvPr/>
            </p:nvSpPr>
            <p:spPr bwMode="auto">
              <a:xfrm>
                <a:off x="482441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70" name="Oval 23"/>
              <p:cNvSpPr>
                <a:spLocks noChangeArrowheads="1"/>
              </p:cNvSpPr>
              <p:nvPr/>
            </p:nvSpPr>
            <p:spPr bwMode="auto">
              <a:xfrm>
                <a:off x="549116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71" name="Oval 24"/>
              <p:cNvSpPr>
                <a:spLocks noChangeArrowheads="1"/>
              </p:cNvSpPr>
              <p:nvPr/>
            </p:nvSpPr>
            <p:spPr bwMode="auto">
              <a:xfrm>
                <a:off x="54911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72" name="Oval 25"/>
              <p:cNvSpPr>
                <a:spLocks noChangeArrowheads="1"/>
              </p:cNvSpPr>
              <p:nvPr/>
            </p:nvSpPr>
            <p:spPr bwMode="auto">
              <a:xfrm>
                <a:off x="549116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73" name="Oval 26"/>
              <p:cNvSpPr>
                <a:spLocks noChangeArrowheads="1"/>
              </p:cNvSpPr>
              <p:nvPr/>
            </p:nvSpPr>
            <p:spPr bwMode="auto">
              <a:xfrm>
                <a:off x="549116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74" name="Oval 27"/>
              <p:cNvSpPr>
                <a:spLocks noChangeArrowheads="1"/>
              </p:cNvSpPr>
              <p:nvPr/>
            </p:nvSpPr>
            <p:spPr bwMode="auto">
              <a:xfrm>
                <a:off x="482441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75" name="Oval 28"/>
              <p:cNvSpPr>
                <a:spLocks noChangeArrowheads="1"/>
              </p:cNvSpPr>
              <p:nvPr/>
            </p:nvSpPr>
            <p:spPr bwMode="auto">
              <a:xfrm>
                <a:off x="482441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76" name="Oval 29"/>
              <p:cNvSpPr>
                <a:spLocks noChangeArrowheads="1"/>
              </p:cNvSpPr>
              <p:nvPr/>
            </p:nvSpPr>
            <p:spPr bwMode="auto">
              <a:xfrm>
                <a:off x="526891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77" name="Oval 30"/>
              <p:cNvSpPr>
                <a:spLocks noChangeArrowheads="1"/>
              </p:cNvSpPr>
              <p:nvPr/>
            </p:nvSpPr>
            <p:spPr bwMode="auto">
              <a:xfrm>
                <a:off x="482441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78" name="Oval 31"/>
              <p:cNvSpPr>
                <a:spLocks noChangeArrowheads="1"/>
              </p:cNvSpPr>
              <p:nvPr/>
            </p:nvSpPr>
            <p:spPr bwMode="auto">
              <a:xfrm>
                <a:off x="526891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79" name="Oval 32"/>
              <p:cNvSpPr>
                <a:spLocks noChangeArrowheads="1"/>
              </p:cNvSpPr>
              <p:nvPr/>
            </p:nvSpPr>
            <p:spPr bwMode="auto">
              <a:xfrm>
                <a:off x="54911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80" name="Oval 33"/>
              <p:cNvSpPr>
                <a:spLocks noChangeArrowheads="1"/>
              </p:cNvSpPr>
              <p:nvPr/>
            </p:nvSpPr>
            <p:spPr bwMode="auto">
              <a:xfrm>
                <a:off x="526891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81" name="Oval 34"/>
              <p:cNvSpPr>
                <a:spLocks noChangeArrowheads="1"/>
              </p:cNvSpPr>
              <p:nvPr/>
            </p:nvSpPr>
            <p:spPr bwMode="auto">
              <a:xfrm>
                <a:off x="526891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82" name="Oval 35"/>
              <p:cNvSpPr>
                <a:spLocks noChangeArrowheads="1"/>
              </p:cNvSpPr>
              <p:nvPr/>
            </p:nvSpPr>
            <p:spPr bwMode="auto">
              <a:xfrm>
                <a:off x="504666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83" name="Oval 36"/>
              <p:cNvSpPr>
                <a:spLocks noChangeArrowheads="1"/>
              </p:cNvSpPr>
              <p:nvPr/>
            </p:nvSpPr>
            <p:spPr bwMode="auto">
              <a:xfrm>
                <a:off x="50466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84" name="Oval 37"/>
              <p:cNvSpPr>
                <a:spLocks noChangeArrowheads="1"/>
              </p:cNvSpPr>
              <p:nvPr/>
            </p:nvSpPr>
            <p:spPr bwMode="auto">
              <a:xfrm>
                <a:off x="504666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85" name="Oval 38"/>
              <p:cNvSpPr>
                <a:spLocks noChangeArrowheads="1"/>
              </p:cNvSpPr>
              <p:nvPr/>
            </p:nvSpPr>
            <p:spPr bwMode="auto">
              <a:xfrm>
                <a:off x="504666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" name="Group 461"/>
            <p:cNvGrpSpPr>
              <a:grpSpLocks/>
            </p:cNvGrpSpPr>
            <p:nvPr/>
          </p:nvGrpSpPr>
          <p:grpSpPr bwMode="auto">
            <a:xfrm>
              <a:off x="5684383" y="2301648"/>
              <a:ext cx="777875" cy="720725"/>
              <a:chOff x="4824413" y="3096306"/>
              <a:chExt cx="777875" cy="720725"/>
            </a:xfrm>
          </p:grpSpPr>
          <p:sp>
            <p:nvSpPr>
              <p:cNvPr id="42152" name="Oval 22"/>
              <p:cNvSpPr>
                <a:spLocks noChangeArrowheads="1"/>
              </p:cNvSpPr>
              <p:nvPr/>
            </p:nvSpPr>
            <p:spPr bwMode="auto">
              <a:xfrm>
                <a:off x="482441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53" name="Oval 23"/>
              <p:cNvSpPr>
                <a:spLocks noChangeArrowheads="1"/>
              </p:cNvSpPr>
              <p:nvPr/>
            </p:nvSpPr>
            <p:spPr bwMode="auto">
              <a:xfrm>
                <a:off x="549116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54" name="Oval 24"/>
              <p:cNvSpPr>
                <a:spLocks noChangeArrowheads="1"/>
              </p:cNvSpPr>
              <p:nvPr/>
            </p:nvSpPr>
            <p:spPr bwMode="auto">
              <a:xfrm>
                <a:off x="54911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55" name="Oval 25"/>
              <p:cNvSpPr>
                <a:spLocks noChangeArrowheads="1"/>
              </p:cNvSpPr>
              <p:nvPr/>
            </p:nvSpPr>
            <p:spPr bwMode="auto">
              <a:xfrm>
                <a:off x="549116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56" name="Oval 26"/>
              <p:cNvSpPr>
                <a:spLocks noChangeArrowheads="1"/>
              </p:cNvSpPr>
              <p:nvPr/>
            </p:nvSpPr>
            <p:spPr bwMode="auto">
              <a:xfrm>
                <a:off x="549116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57" name="Oval 27"/>
              <p:cNvSpPr>
                <a:spLocks noChangeArrowheads="1"/>
              </p:cNvSpPr>
              <p:nvPr/>
            </p:nvSpPr>
            <p:spPr bwMode="auto">
              <a:xfrm>
                <a:off x="482441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58" name="Oval 28"/>
              <p:cNvSpPr>
                <a:spLocks noChangeArrowheads="1"/>
              </p:cNvSpPr>
              <p:nvPr/>
            </p:nvSpPr>
            <p:spPr bwMode="auto">
              <a:xfrm>
                <a:off x="482441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59" name="Oval 29"/>
              <p:cNvSpPr>
                <a:spLocks noChangeArrowheads="1"/>
              </p:cNvSpPr>
              <p:nvPr/>
            </p:nvSpPr>
            <p:spPr bwMode="auto">
              <a:xfrm>
                <a:off x="526891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60" name="Oval 30"/>
              <p:cNvSpPr>
                <a:spLocks noChangeArrowheads="1"/>
              </p:cNvSpPr>
              <p:nvPr/>
            </p:nvSpPr>
            <p:spPr bwMode="auto">
              <a:xfrm>
                <a:off x="482441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61" name="Oval 31"/>
              <p:cNvSpPr>
                <a:spLocks noChangeArrowheads="1"/>
              </p:cNvSpPr>
              <p:nvPr/>
            </p:nvSpPr>
            <p:spPr bwMode="auto">
              <a:xfrm>
                <a:off x="526891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62" name="Oval 32"/>
              <p:cNvSpPr>
                <a:spLocks noChangeArrowheads="1"/>
              </p:cNvSpPr>
              <p:nvPr/>
            </p:nvSpPr>
            <p:spPr bwMode="auto">
              <a:xfrm>
                <a:off x="54911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63" name="Oval 33"/>
              <p:cNvSpPr>
                <a:spLocks noChangeArrowheads="1"/>
              </p:cNvSpPr>
              <p:nvPr/>
            </p:nvSpPr>
            <p:spPr bwMode="auto">
              <a:xfrm>
                <a:off x="526891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64" name="Oval 34"/>
              <p:cNvSpPr>
                <a:spLocks noChangeArrowheads="1"/>
              </p:cNvSpPr>
              <p:nvPr/>
            </p:nvSpPr>
            <p:spPr bwMode="auto">
              <a:xfrm>
                <a:off x="526891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65" name="Oval 35"/>
              <p:cNvSpPr>
                <a:spLocks noChangeArrowheads="1"/>
              </p:cNvSpPr>
              <p:nvPr/>
            </p:nvSpPr>
            <p:spPr bwMode="auto">
              <a:xfrm>
                <a:off x="504666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66" name="Oval 36"/>
              <p:cNvSpPr>
                <a:spLocks noChangeArrowheads="1"/>
              </p:cNvSpPr>
              <p:nvPr/>
            </p:nvSpPr>
            <p:spPr bwMode="auto">
              <a:xfrm>
                <a:off x="50466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67" name="Oval 37"/>
              <p:cNvSpPr>
                <a:spLocks noChangeArrowheads="1"/>
              </p:cNvSpPr>
              <p:nvPr/>
            </p:nvSpPr>
            <p:spPr bwMode="auto">
              <a:xfrm>
                <a:off x="504666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68" name="Oval 38"/>
              <p:cNvSpPr>
                <a:spLocks noChangeArrowheads="1"/>
              </p:cNvSpPr>
              <p:nvPr/>
            </p:nvSpPr>
            <p:spPr bwMode="auto">
              <a:xfrm>
                <a:off x="504666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3" name="Group 530"/>
          <p:cNvGrpSpPr>
            <a:grpSpLocks/>
          </p:cNvGrpSpPr>
          <p:nvPr/>
        </p:nvGrpSpPr>
        <p:grpSpPr bwMode="auto">
          <a:xfrm>
            <a:off x="5924550" y="2678113"/>
            <a:ext cx="835025" cy="747712"/>
            <a:chOff x="4824413" y="2301648"/>
            <a:chExt cx="1637845" cy="1515383"/>
          </a:xfrm>
        </p:grpSpPr>
        <p:grpSp>
          <p:nvGrpSpPr>
            <p:cNvPr id="14" name="Group 531"/>
            <p:cNvGrpSpPr>
              <a:grpSpLocks/>
            </p:cNvGrpSpPr>
            <p:nvPr/>
          </p:nvGrpSpPr>
          <p:grpSpPr bwMode="auto">
            <a:xfrm>
              <a:off x="4824413" y="3096306"/>
              <a:ext cx="777875" cy="720725"/>
              <a:chOff x="4824413" y="3096306"/>
              <a:chExt cx="777875" cy="720725"/>
            </a:xfrm>
          </p:grpSpPr>
          <p:sp>
            <p:nvSpPr>
              <p:cNvPr id="42131" name="Oval 22"/>
              <p:cNvSpPr>
                <a:spLocks noChangeArrowheads="1"/>
              </p:cNvSpPr>
              <p:nvPr/>
            </p:nvSpPr>
            <p:spPr bwMode="auto">
              <a:xfrm>
                <a:off x="482441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32" name="Oval 23"/>
              <p:cNvSpPr>
                <a:spLocks noChangeArrowheads="1"/>
              </p:cNvSpPr>
              <p:nvPr/>
            </p:nvSpPr>
            <p:spPr bwMode="auto">
              <a:xfrm>
                <a:off x="549116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33" name="Oval 24"/>
              <p:cNvSpPr>
                <a:spLocks noChangeArrowheads="1"/>
              </p:cNvSpPr>
              <p:nvPr/>
            </p:nvSpPr>
            <p:spPr bwMode="auto">
              <a:xfrm>
                <a:off x="54911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34" name="Oval 25"/>
              <p:cNvSpPr>
                <a:spLocks noChangeArrowheads="1"/>
              </p:cNvSpPr>
              <p:nvPr/>
            </p:nvSpPr>
            <p:spPr bwMode="auto">
              <a:xfrm>
                <a:off x="549116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35" name="Oval 26"/>
              <p:cNvSpPr>
                <a:spLocks noChangeArrowheads="1"/>
              </p:cNvSpPr>
              <p:nvPr/>
            </p:nvSpPr>
            <p:spPr bwMode="auto">
              <a:xfrm>
                <a:off x="549116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36" name="Oval 27"/>
              <p:cNvSpPr>
                <a:spLocks noChangeArrowheads="1"/>
              </p:cNvSpPr>
              <p:nvPr/>
            </p:nvSpPr>
            <p:spPr bwMode="auto">
              <a:xfrm>
                <a:off x="482441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37" name="Oval 28"/>
              <p:cNvSpPr>
                <a:spLocks noChangeArrowheads="1"/>
              </p:cNvSpPr>
              <p:nvPr/>
            </p:nvSpPr>
            <p:spPr bwMode="auto">
              <a:xfrm>
                <a:off x="482441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38" name="Oval 29"/>
              <p:cNvSpPr>
                <a:spLocks noChangeArrowheads="1"/>
              </p:cNvSpPr>
              <p:nvPr/>
            </p:nvSpPr>
            <p:spPr bwMode="auto">
              <a:xfrm>
                <a:off x="526891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39" name="Oval 30"/>
              <p:cNvSpPr>
                <a:spLocks noChangeArrowheads="1"/>
              </p:cNvSpPr>
              <p:nvPr/>
            </p:nvSpPr>
            <p:spPr bwMode="auto">
              <a:xfrm>
                <a:off x="482441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40" name="Oval 31"/>
              <p:cNvSpPr>
                <a:spLocks noChangeArrowheads="1"/>
              </p:cNvSpPr>
              <p:nvPr/>
            </p:nvSpPr>
            <p:spPr bwMode="auto">
              <a:xfrm>
                <a:off x="526891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41" name="Oval 32"/>
              <p:cNvSpPr>
                <a:spLocks noChangeArrowheads="1"/>
              </p:cNvSpPr>
              <p:nvPr/>
            </p:nvSpPr>
            <p:spPr bwMode="auto">
              <a:xfrm>
                <a:off x="54911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42" name="Oval 33"/>
              <p:cNvSpPr>
                <a:spLocks noChangeArrowheads="1"/>
              </p:cNvSpPr>
              <p:nvPr/>
            </p:nvSpPr>
            <p:spPr bwMode="auto">
              <a:xfrm>
                <a:off x="526891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43" name="Oval 34"/>
              <p:cNvSpPr>
                <a:spLocks noChangeArrowheads="1"/>
              </p:cNvSpPr>
              <p:nvPr/>
            </p:nvSpPr>
            <p:spPr bwMode="auto">
              <a:xfrm>
                <a:off x="526891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44" name="Oval 35"/>
              <p:cNvSpPr>
                <a:spLocks noChangeArrowheads="1"/>
              </p:cNvSpPr>
              <p:nvPr/>
            </p:nvSpPr>
            <p:spPr bwMode="auto">
              <a:xfrm>
                <a:off x="504666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45" name="Oval 36"/>
              <p:cNvSpPr>
                <a:spLocks noChangeArrowheads="1"/>
              </p:cNvSpPr>
              <p:nvPr/>
            </p:nvSpPr>
            <p:spPr bwMode="auto">
              <a:xfrm>
                <a:off x="50466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46" name="Oval 37"/>
              <p:cNvSpPr>
                <a:spLocks noChangeArrowheads="1"/>
              </p:cNvSpPr>
              <p:nvPr/>
            </p:nvSpPr>
            <p:spPr bwMode="auto">
              <a:xfrm>
                <a:off x="504666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47" name="Oval 38"/>
              <p:cNvSpPr>
                <a:spLocks noChangeArrowheads="1"/>
              </p:cNvSpPr>
              <p:nvPr/>
            </p:nvSpPr>
            <p:spPr bwMode="auto">
              <a:xfrm>
                <a:off x="504666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5" name="Group 532"/>
            <p:cNvGrpSpPr>
              <a:grpSpLocks/>
            </p:cNvGrpSpPr>
            <p:nvPr/>
          </p:nvGrpSpPr>
          <p:grpSpPr bwMode="auto">
            <a:xfrm>
              <a:off x="5684383" y="3096306"/>
              <a:ext cx="777875" cy="720725"/>
              <a:chOff x="4824413" y="3096306"/>
              <a:chExt cx="777875" cy="720725"/>
            </a:xfrm>
          </p:grpSpPr>
          <p:sp>
            <p:nvSpPr>
              <p:cNvPr id="42114" name="Oval 22"/>
              <p:cNvSpPr>
                <a:spLocks noChangeArrowheads="1"/>
              </p:cNvSpPr>
              <p:nvPr/>
            </p:nvSpPr>
            <p:spPr bwMode="auto">
              <a:xfrm>
                <a:off x="482441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15" name="Oval 23"/>
              <p:cNvSpPr>
                <a:spLocks noChangeArrowheads="1"/>
              </p:cNvSpPr>
              <p:nvPr/>
            </p:nvSpPr>
            <p:spPr bwMode="auto">
              <a:xfrm>
                <a:off x="549116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16" name="Oval 24"/>
              <p:cNvSpPr>
                <a:spLocks noChangeArrowheads="1"/>
              </p:cNvSpPr>
              <p:nvPr/>
            </p:nvSpPr>
            <p:spPr bwMode="auto">
              <a:xfrm>
                <a:off x="54911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17" name="Oval 25"/>
              <p:cNvSpPr>
                <a:spLocks noChangeArrowheads="1"/>
              </p:cNvSpPr>
              <p:nvPr/>
            </p:nvSpPr>
            <p:spPr bwMode="auto">
              <a:xfrm>
                <a:off x="549116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18" name="Oval 26"/>
              <p:cNvSpPr>
                <a:spLocks noChangeArrowheads="1"/>
              </p:cNvSpPr>
              <p:nvPr/>
            </p:nvSpPr>
            <p:spPr bwMode="auto">
              <a:xfrm>
                <a:off x="549116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19" name="Oval 27"/>
              <p:cNvSpPr>
                <a:spLocks noChangeArrowheads="1"/>
              </p:cNvSpPr>
              <p:nvPr/>
            </p:nvSpPr>
            <p:spPr bwMode="auto">
              <a:xfrm>
                <a:off x="482441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20" name="Oval 28"/>
              <p:cNvSpPr>
                <a:spLocks noChangeArrowheads="1"/>
              </p:cNvSpPr>
              <p:nvPr/>
            </p:nvSpPr>
            <p:spPr bwMode="auto">
              <a:xfrm>
                <a:off x="482441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21" name="Oval 29"/>
              <p:cNvSpPr>
                <a:spLocks noChangeArrowheads="1"/>
              </p:cNvSpPr>
              <p:nvPr/>
            </p:nvSpPr>
            <p:spPr bwMode="auto">
              <a:xfrm>
                <a:off x="526891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22" name="Oval 30"/>
              <p:cNvSpPr>
                <a:spLocks noChangeArrowheads="1"/>
              </p:cNvSpPr>
              <p:nvPr/>
            </p:nvSpPr>
            <p:spPr bwMode="auto">
              <a:xfrm>
                <a:off x="482441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23" name="Oval 31"/>
              <p:cNvSpPr>
                <a:spLocks noChangeArrowheads="1"/>
              </p:cNvSpPr>
              <p:nvPr/>
            </p:nvSpPr>
            <p:spPr bwMode="auto">
              <a:xfrm>
                <a:off x="526891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24" name="Oval 32"/>
              <p:cNvSpPr>
                <a:spLocks noChangeArrowheads="1"/>
              </p:cNvSpPr>
              <p:nvPr/>
            </p:nvSpPr>
            <p:spPr bwMode="auto">
              <a:xfrm>
                <a:off x="54911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25" name="Oval 33"/>
              <p:cNvSpPr>
                <a:spLocks noChangeArrowheads="1"/>
              </p:cNvSpPr>
              <p:nvPr/>
            </p:nvSpPr>
            <p:spPr bwMode="auto">
              <a:xfrm>
                <a:off x="526891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26" name="Oval 34"/>
              <p:cNvSpPr>
                <a:spLocks noChangeArrowheads="1"/>
              </p:cNvSpPr>
              <p:nvPr/>
            </p:nvSpPr>
            <p:spPr bwMode="auto">
              <a:xfrm>
                <a:off x="526891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27" name="Oval 35"/>
              <p:cNvSpPr>
                <a:spLocks noChangeArrowheads="1"/>
              </p:cNvSpPr>
              <p:nvPr/>
            </p:nvSpPr>
            <p:spPr bwMode="auto">
              <a:xfrm>
                <a:off x="504666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28" name="Oval 36"/>
              <p:cNvSpPr>
                <a:spLocks noChangeArrowheads="1"/>
              </p:cNvSpPr>
              <p:nvPr/>
            </p:nvSpPr>
            <p:spPr bwMode="auto">
              <a:xfrm>
                <a:off x="50466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29" name="Oval 37"/>
              <p:cNvSpPr>
                <a:spLocks noChangeArrowheads="1"/>
              </p:cNvSpPr>
              <p:nvPr/>
            </p:nvSpPr>
            <p:spPr bwMode="auto">
              <a:xfrm>
                <a:off x="504666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30" name="Oval 38"/>
              <p:cNvSpPr>
                <a:spLocks noChangeArrowheads="1"/>
              </p:cNvSpPr>
              <p:nvPr/>
            </p:nvSpPr>
            <p:spPr bwMode="auto">
              <a:xfrm>
                <a:off x="504666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6" name="Group 533"/>
            <p:cNvGrpSpPr>
              <a:grpSpLocks/>
            </p:cNvGrpSpPr>
            <p:nvPr/>
          </p:nvGrpSpPr>
          <p:grpSpPr bwMode="auto">
            <a:xfrm>
              <a:off x="4824413" y="2301648"/>
              <a:ext cx="777875" cy="720725"/>
              <a:chOff x="4824413" y="3096306"/>
              <a:chExt cx="777875" cy="720725"/>
            </a:xfrm>
          </p:grpSpPr>
          <p:sp>
            <p:nvSpPr>
              <p:cNvPr id="42097" name="Oval 22"/>
              <p:cNvSpPr>
                <a:spLocks noChangeArrowheads="1"/>
              </p:cNvSpPr>
              <p:nvPr/>
            </p:nvSpPr>
            <p:spPr bwMode="auto">
              <a:xfrm>
                <a:off x="482441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98" name="Oval 23"/>
              <p:cNvSpPr>
                <a:spLocks noChangeArrowheads="1"/>
              </p:cNvSpPr>
              <p:nvPr/>
            </p:nvSpPr>
            <p:spPr bwMode="auto">
              <a:xfrm>
                <a:off x="549116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99" name="Oval 24"/>
              <p:cNvSpPr>
                <a:spLocks noChangeArrowheads="1"/>
              </p:cNvSpPr>
              <p:nvPr/>
            </p:nvSpPr>
            <p:spPr bwMode="auto">
              <a:xfrm>
                <a:off x="54911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00" name="Oval 25"/>
              <p:cNvSpPr>
                <a:spLocks noChangeArrowheads="1"/>
              </p:cNvSpPr>
              <p:nvPr/>
            </p:nvSpPr>
            <p:spPr bwMode="auto">
              <a:xfrm>
                <a:off x="549116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01" name="Oval 26"/>
              <p:cNvSpPr>
                <a:spLocks noChangeArrowheads="1"/>
              </p:cNvSpPr>
              <p:nvPr/>
            </p:nvSpPr>
            <p:spPr bwMode="auto">
              <a:xfrm>
                <a:off x="549116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02" name="Oval 27"/>
              <p:cNvSpPr>
                <a:spLocks noChangeArrowheads="1"/>
              </p:cNvSpPr>
              <p:nvPr/>
            </p:nvSpPr>
            <p:spPr bwMode="auto">
              <a:xfrm>
                <a:off x="482441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03" name="Oval 28"/>
              <p:cNvSpPr>
                <a:spLocks noChangeArrowheads="1"/>
              </p:cNvSpPr>
              <p:nvPr/>
            </p:nvSpPr>
            <p:spPr bwMode="auto">
              <a:xfrm>
                <a:off x="482441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04" name="Oval 29"/>
              <p:cNvSpPr>
                <a:spLocks noChangeArrowheads="1"/>
              </p:cNvSpPr>
              <p:nvPr/>
            </p:nvSpPr>
            <p:spPr bwMode="auto">
              <a:xfrm>
                <a:off x="526891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05" name="Oval 30"/>
              <p:cNvSpPr>
                <a:spLocks noChangeArrowheads="1"/>
              </p:cNvSpPr>
              <p:nvPr/>
            </p:nvSpPr>
            <p:spPr bwMode="auto">
              <a:xfrm>
                <a:off x="482441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06" name="Oval 31"/>
              <p:cNvSpPr>
                <a:spLocks noChangeArrowheads="1"/>
              </p:cNvSpPr>
              <p:nvPr/>
            </p:nvSpPr>
            <p:spPr bwMode="auto">
              <a:xfrm>
                <a:off x="526891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07" name="Oval 32"/>
              <p:cNvSpPr>
                <a:spLocks noChangeArrowheads="1"/>
              </p:cNvSpPr>
              <p:nvPr/>
            </p:nvSpPr>
            <p:spPr bwMode="auto">
              <a:xfrm>
                <a:off x="54911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08" name="Oval 33"/>
              <p:cNvSpPr>
                <a:spLocks noChangeArrowheads="1"/>
              </p:cNvSpPr>
              <p:nvPr/>
            </p:nvSpPr>
            <p:spPr bwMode="auto">
              <a:xfrm>
                <a:off x="526891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09" name="Oval 34"/>
              <p:cNvSpPr>
                <a:spLocks noChangeArrowheads="1"/>
              </p:cNvSpPr>
              <p:nvPr/>
            </p:nvSpPr>
            <p:spPr bwMode="auto">
              <a:xfrm>
                <a:off x="526891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10" name="Oval 35"/>
              <p:cNvSpPr>
                <a:spLocks noChangeArrowheads="1"/>
              </p:cNvSpPr>
              <p:nvPr/>
            </p:nvSpPr>
            <p:spPr bwMode="auto">
              <a:xfrm>
                <a:off x="504666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11" name="Oval 36"/>
              <p:cNvSpPr>
                <a:spLocks noChangeArrowheads="1"/>
              </p:cNvSpPr>
              <p:nvPr/>
            </p:nvSpPr>
            <p:spPr bwMode="auto">
              <a:xfrm>
                <a:off x="50466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12" name="Oval 37"/>
              <p:cNvSpPr>
                <a:spLocks noChangeArrowheads="1"/>
              </p:cNvSpPr>
              <p:nvPr/>
            </p:nvSpPr>
            <p:spPr bwMode="auto">
              <a:xfrm>
                <a:off x="504666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113" name="Oval 38"/>
              <p:cNvSpPr>
                <a:spLocks noChangeArrowheads="1"/>
              </p:cNvSpPr>
              <p:nvPr/>
            </p:nvSpPr>
            <p:spPr bwMode="auto">
              <a:xfrm>
                <a:off x="504666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7" name="Group 534"/>
            <p:cNvGrpSpPr>
              <a:grpSpLocks/>
            </p:cNvGrpSpPr>
            <p:nvPr/>
          </p:nvGrpSpPr>
          <p:grpSpPr bwMode="auto">
            <a:xfrm>
              <a:off x="5684383" y="2301648"/>
              <a:ext cx="777875" cy="720725"/>
              <a:chOff x="4824413" y="3096306"/>
              <a:chExt cx="777875" cy="720725"/>
            </a:xfrm>
          </p:grpSpPr>
          <p:sp>
            <p:nvSpPr>
              <p:cNvPr id="42080" name="Oval 22"/>
              <p:cNvSpPr>
                <a:spLocks noChangeArrowheads="1"/>
              </p:cNvSpPr>
              <p:nvPr/>
            </p:nvSpPr>
            <p:spPr bwMode="auto">
              <a:xfrm>
                <a:off x="482441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81" name="Oval 23"/>
              <p:cNvSpPr>
                <a:spLocks noChangeArrowheads="1"/>
              </p:cNvSpPr>
              <p:nvPr/>
            </p:nvSpPr>
            <p:spPr bwMode="auto">
              <a:xfrm>
                <a:off x="549116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82" name="Oval 24"/>
              <p:cNvSpPr>
                <a:spLocks noChangeArrowheads="1"/>
              </p:cNvSpPr>
              <p:nvPr/>
            </p:nvSpPr>
            <p:spPr bwMode="auto">
              <a:xfrm>
                <a:off x="54911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83" name="Oval 25"/>
              <p:cNvSpPr>
                <a:spLocks noChangeArrowheads="1"/>
              </p:cNvSpPr>
              <p:nvPr/>
            </p:nvSpPr>
            <p:spPr bwMode="auto">
              <a:xfrm>
                <a:off x="549116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84" name="Oval 26"/>
              <p:cNvSpPr>
                <a:spLocks noChangeArrowheads="1"/>
              </p:cNvSpPr>
              <p:nvPr/>
            </p:nvSpPr>
            <p:spPr bwMode="auto">
              <a:xfrm>
                <a:off x="549116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85" name="Oval 27"/>
              <p:cNvSpPr>
                <a:spLocks noChangeArrowheads="1"/>
              </p:cNvSpPr>
              <p:nvPr/>
            </p:nvSpPr>
            <p:spPr bwMode="auto">
              <a:xfrm>
                <a:off x="482441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86" name="Oval 28"/>
              <p:cNvSpPr>
                <a:spLocks noChangeArrowheads="1"/>
              </p:cNvSpPr>
              <p:nvPr/>
            </p:nvSpPr>
            <p:spPr bwMode="auto">
              <a:xfrm>
                <a:off x="482441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87" name="Oval 29"/>
              <p:cNvSpPr>
                <a:spLocks noChangeArrowheads="1"/>
              </p:cNvSpPr>
              <p:nvPr/>
            </p:nvSpPr>
            <p:spPr bwMode="auto">
              <a:xfrm>
                <a:off x="526891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88" name="Oval 30"/>
              <p:cNvSpPr>
                <a:spLocks noChangeArrowheads="1"/>
              </p:cNvSpPr>
              <p:nvPr/>
            </p:nvSpPr>
            <p:spPr bwMode="auto">
              <a:xfrm>
                <a:off x="482441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89" name="Oval 31"/>
              <p:cNvSpPr>
                <a:spLocks noChangeArrowheads="1"/>
              </p:cNvSpPr>
              <p:nvPr/>
            </p:nvSpPr>
            <p:spPr bwMode="auto">
              <a:xfrm>
                <a:off x="526891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90" name="Oval 32"/>
              <p:cNvSpPr>
                <a:spLocks noChangeArrowheads="1"/>
              </p:cNvSpPr>
              <p:nvPr/>
            </p:nvSpPr>
            <p:spPr bwMode="auto">
              <a:xfrm>
                <a:off x="54911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91" name="Oval 33"/>
              <p:cNvSpPr>
                <a:spLocks noChangeArrowheads="1"/>
              </p:cNvSpPr>
              <p:nvPr/>
            </p:nvSpPr>
            <p:spPr bwMode="auto">
              <a:xfrm>
                <a:off x="526891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92" name="Oval 34"/>
              <p:cNvSpPr>
                <a:spLocks noChangeArrowheads="1"/>
              </p:cNvSpPr>
              <p:nvPr/>
            </p:nvSpPr>
            <p:spPr bwMode="auto">
              <a:xfrm>
                <a:off x="526891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93" name="Oval 35"/>
              <p:cNvSpPr>
                <a:spLocks noChangeArrowheads="1"/>
              </p:cNvSpPr>
              <p:nvPr/>
            </p:nvSpPr>
            <p:spPr bwMode="auto">
              <a:xfrm>
                <a:off x="504666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94" name="Oval 36"/>
              <p:cNvSpPr>
                <a:spLocks noChangeArrowheads="1"/>
              </p:cNvSpPr>
              <p:nvPr/>
            </p:nvSpPr>
            <p:spPr bwMode="auto">
              <a:xfrm>
                <a:off x="50466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95" name="Oval 37"/>
              <p:cNvSpPr>
                <a:spLocks noChangeArrowheads="1"/>
              </p:cNvSpPr>
              <p:nvPr/>
            </p:nvSpPr>
            <p:spPr bwMode="auto">
              <a:xfrm>
                <a:off x="504666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96" name="Oval 38"/>
              <p:cNvSpPr>
                <a:spLocks noChangeArrowheads="1"/>
              </p:cNvSpPr>
              <p:nvPr/>
            </p:nvSpPr>
            <p:spPr bwMode="auto">
              <a:xfrm>
                <a:off x="504666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8" name="Group 603"/>
          <p:cNvGrpSpPr>
            <a:grpSpLocks/>
          </p:cNvGrpSpPr>
          <p:nvPr/>
        </p:nvGrpSpPr>
        <p:grpSpPr bwMode="auto">
          <a:xfrm>
            <a:off x="5010150" y="2678113"/>
            <a:ext cx="835025" cy="747712"/>
            <a:chOff x="4824413" y="2301648"/>
            <a:chExt cx="1637845" cy="1515383"/>
          </a:xfrm>
        </p:grpSpPr>
        <p:grpSp>
          <p:nvGrpSpPr>
            <p:cNvPr id="19" name="Group 604"/>
            <p:cNvGrpSpPr>
              <a:grpSpLocks/>
            </p:cNvGrpSpPr>
            <p:nvPr/>
          </p:nvGrpSpPr>
          <p:grpSpPr bwMode="auto">
            <a:xfrm>
              <a:off x="4824413" y="3096306"/>
              <a:ext cx="777875" cy="720725"/>
              <a:chOff x="4824413" y="3096306"/>
              <a:chExt cx="777875" cy="720725"/>
            </a:xfrm>
          </p:grpSpPr>
          <p:sp>
            <p:nvSpPr>
              <p:cNvPr id="42059" name="Oval 22"/>
              <p:cNvSpPr>
                <a:spLocks noChangeArrowheads="1"/>
              </p:cNvSpPr>
              <p:nvPr/>
            </p:nvSpPr>
            <p:spPr bwMode="auto">
              <a:xfrm>
                <a:off x="482441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60" name="Oval 23"/>
              <p:cNvSpPr>
                <a:spLocks noChangeArrowheads="1"/>
              </p:cNvSpPr>
              <p:nvPr/>
            </p:nvSpPr>
            <p:spPr bwMode="auto">
              <a:xfrm>
                <a:off x="549116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61" name="Oval 24"/>
              <p:cNvSpPr>
                <a:spLocks noChangeArrowheads="1"/>
              </p:cNvSpPr>
              <p:nvPr/>
            </p:nvSpPr>
            <p:spPr bwMode="auto">
              <a:xfrm>
                <a:off x="54911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62" name="Oval 25"/>
              <p:cNvSpPr>
                <a:spLocks noChangeArrowheads="1"/>
              </p:cNvSpPr>
              <p:nvPr/>
            </p:nvSpPr>
            <p:spPr bwMode="auto">
              <a:xfrm>
                <a:off x="549116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63" name="Oval 26"/>
              <p:cNvSpPr>
                <a:spLocks noChangeArrowheads="1"/>
              </p:cNvSpPr>
              <p:nvPr/>
            </p:nvSpPr>
            <p:spPr bwMode="auto">
              <a:xfrm>
                <a:off x="549116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64" name="Oval 27"/>
              <p:cNvSpPr>
                <a:spLocks noChangeArrowheads="1"/>
              </p:cNvSpPr>
              <p:nvPr/>
            </p:nvSpPr>
            <p:spPr bwMode="auto">
              <a:xfrm>
                <a:off x="482441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65" name="Oval 28"/>
              <p:cNvSpPr>
                <a:spLocks noChangeArrowheads="1"/>
              </p:cNvSpPr>
              <p:nvPr/>
            </p:nvSpPr>
            <p:spPr bwMode="auto">
              <a:xfrm>
                <a:off x="482441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66" name="Oval 29"/>
              <p:cNvSpPr>
                <a:spLocks noChangeArrowheads="1"/>
              </p:cNvSpPr>
              <p:nvPr/>
            </p:nvSpPr>
            <p:spPr bwMode="auto">
              <a:xfrm>
                <a:off x="526891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67" name="Oval 30"/>
              <p:cNvSpPr>
                <a:spLocks noChangeArrowheads="1"/>
              </p:cNvSpPr>
              <p:nvPr/>
            </p:nvSpPr>
            <p:spPr bwMode="auto">
              <a:xfrm>
                <a:off x="482441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68" name="Oval 31"/>
              <p:cNvSpPr>
                <a:spLocks noChangeArrowheads="1"/>
              </p:cNvSpPr>
              <p:nvPr/>
            </p:nvSpPr>
            <p:spPr bwMode="auto">
              <a:xfrm>
                <a:off x="526891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69" name="Oval 32"/>
              <p:cNvSpPr>
                <a:spLocks noChangeArrowheads="1"/>
              </p:cNvSpPr>
              <p:nvPr/>
            </p:nvSpPr>
            <p:spPr bwMode="auto">
              <a:xfrm>
                <a:off x="54911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70" name="Oval 33"/>
              <p:cNvSpPr>
                <a:spLocks noChangeArrowheads="1"/>
              </p:cNvSpPr>
              <p:nvPr/>
            </p:nvSpPr>
            <p:spPr bwMode="auto">
              <a:xfrm>
                <a:off x="526891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71" name="Oval 34"/>
              <p:cNvSpPr>
                <a:spLocks noChangeArrowheads="1"/>
              </p:cNvSpPr>
              <p:nvPr/>
            </p:nvSpPr>
            <p:spPr bwMode="auto">
              <a:xfrm>
                <a:off x="526891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72" name="Oval 35"/>
              <p:cNvSpPr>
                <a:spLocks noChangeArrowheads="1"/>
              </p:cNvSpPr>
              <p:nvPr/>
            </p:nvSpPr>
            <p:spPr bwMode="auto">
              <a:xfrm>
                <a:off x="504666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73" name="Oval 36"/>
              <p:cNvSpPr>
                <a:spLocks noChangeArrowheads="1"/>
              </p:cNvSpPr>
              <p:nvPr/>
            </p:nvSpPr>
            <p:spPr bwMode="auto">
              <a:xfrm>
                <a:off x="50466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74" name="Oval 37"/>
              <p:cNvSpPr>
                <a:spLocks noChangeArrowheads="1"/>
              </p:cNvSpPr>
              <p:nvPr/>
            </p:nvSpPr>
            <p:spPr bwMode="auto">
              <a:xfrm>
                <a:off x="504666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75" name="Oval 38"/>
              <p:cNvSpPr>
                <a:spLocks noChangeArrowheads="1"/>
              </p:cNvSpPr>
              <p:nvPr/>
            </p:nvSpPr>
            <p:spPr bwMode="auto">
              <a:xfrm>
                <a:off x="504666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0" name="Group 605"/>
            <p:cNvGrpSpPr>
              <a:grpSpLocks/>
            </p:cNvGrpSpPr>
            <p:nvPr/>
          </p:nvGrpSpPr>
          <p:grpSpPr bwMode="auto">
            <a:xfrm>
              <a:off x="5684383" y="3096306"/>
              <a:ext cx="777875" cy="720725"/>
              <a:chOff x="4824413" y="3096306"/>
              <a:chExt cx="777875" cy="720725"/>
            </a:xfrm>
          </p:grpSpPr>
          <p:sp>
            <p:nvSpPr>
              <p:cNvPr id="42042" name="Oval 22"/>
              <p:cNvSpPr>
                <a:spLocks noChangeArrowheads="1"/>
              </p:cNvSpPr>
              <p:nvPr/>
            </p:nvSpPr>
            <p:spPr bwMode="auto">
              <a:xfrm>
                <a:off x="482441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43" name="Oval 23"/>
              <p:cNvSpPr>
                <a:spLocks noChangeArrowheads="1"/>
              </p:cNvSpPr>
              <p:nvPr/>
            </p:nvSpPr>
            <p:spPr bwMode="auto">
              <a:xfrm>
                <a:off x="549116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44" name="Oval 24"/>
              <p:cNvSpPr>
                <a:spLocks noChangeArrowheads="1"/>
              </p:cNvSpPr>
              <p:nvPr/>
            </p:nvSpPr>
            <p:spPr bwMode="auto">
              <a:xfrm>
                <a:off x="54911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45" name="Oval 25"/>
              <p:cNvSpPr>
                <a:spLocks noChangeArrowheads="1"/>
              </p:cNvSpPr>
              <p:nvPr/>
            </p:nvSpPr>
            <p:spPr bwMode="auto">
              <a:xfrm>
                <a:off x="549116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46" name="Oval 26"/>
              <p:cNvSpPr>
                <a:spLocks noChangeArrowheads="1"/>
              </p:cNvSpPr>
              <p:nvPr/>
            </p:nvSpPr>
            <p:spPr bwMode="auto">
              <a:xfrm>
                <a:off x="549116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47" name="Oval 27"/>
              <p:cNvSpPr>
                <a:spLocks noChangeArrowheads="1"/>
              </p:cNvSpPr>
              <p:nvPr/>
            </p:nvSpPr>
            <p:spPr bwMode="auto">
              <a:xfrm>
                <a:off x="482441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48" name="Oval 28"/>
              <p:cNvSpPr>
                <a:spLocks noChangeArrowheads="1"/>
              </p:cNvSpPr>
              <p:nvPr/>
            </p:nvSpPr>
            <p:spPr bwMode="auto">
              <a:xfrm>
                <a:off x="482441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49" name="Oval 29"/>
              <p:cNvSpPr>
                <a:spLocks noChangeArrowheads="1"/>
              </p:cNvSpPr>
              <p:nvPr/>
            </p:nvSpPr>
            <p:spPr bwMode="auto">
              <a:xfrm>
                <a:off x="526891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50" name="Oval 30"/>
              <p:cNvSpPr>
                <a:spLocks noChangeArrowheads="1"/>
              </p:cNvSpPr>
              <p:nvPr/>
            </p:nvSpPr>
            <p:spPr bwMode="auto">
              <a:xfrm>
                <a:off x="482441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51" name="Oval 31"/>
              <p:cNvSpPr>
                <a:spLocks noChangeArrowheads="1"/>
              </p:cNvSpPr>
              <p:nvPr/>
            </p:nvSpPr>
            <p:spPr bwMode="auto">
              <a:xfrm>
                <a:off x="526891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52" name="Oval 32"/>
              <p:cNvSpPr>
                <a:spLocks noChangeArrowheads="1"/>
              </p:cNvSpPr>
              <p:nvPr/>
            </p:nvSpPr>
            <p:spPr bwMode="auto">
              <a:xfrm>
                <a:off x="54911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53" name="Oval 33"/>
              <p:cNvSpPr>
                <a:spLocks noChangeArrowheads="1"/>
              </p:cNvSpPr>
              <p:nvPr/>
            </p:nvSpPr>
            <p:spPr bwMode="auto">
              <a:xfrm>
                <a:off x="526891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54" name="Oval 34"/>
              <p:cNvSpPr>
                <a:spLocks noChangeArrowheads="1"/>
              </p:cNvSpPr>
              <p:nvPr/>
            </p:nvSpPr>
            <p:spPr bwMode="auto">
              <a:xfrm>
                <a:off x="526891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55" name="Oval 35"/>
              <p:cNvSpPr>
                <a:spLocks noChangeArrowheads="1"/>
              </p:cNvSpPr>
              <p:nvPr/>
            </p:nvSpPr>
            <p:spPr bwMode="auto">
              <a:xfrm>
                <a:off x="504666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56" name="Oval 36"/>
              <p:cNvSpPr>
                <a:spLocks noChangeArrowheads="1"/>
              </p:cNvSpPr>
              <p:nvPr/>
            </p:nvSpPr>
            <p:spPr bwMode="auto">
              <a:xfrm>
                <a:off x="50466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57" name="Oval 37"/>
              <p:cNvSpPr>
                <a:spLocks noChangeArrowheads="1"/>
              </p:cNvSpPr>
              <p:nvPr/>
            </p:nvSpPr>
            <p:spPr bwMode="auto">
              <a:xfrm>
                <a:off x="504666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58" name="Oval 38"/>
              <p:cNvSpPr>
                <a:spLocks noChangeArrowheads="1"/>
              </p:cNvSpPr>
              <p:nvPr/>
            </p:nvSpPr>
            <p:spPr bwMode="auto">
              <a:xfrm>
                <a:off x="504666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1" name="Group 606"/>
            <p:cNvGrpSpPr>
              <a:grpSpLocks/>
            </p:cNvGrpSpPr>
            <p:nvPr/>
          </p:nvGrpSpPr>
          <p:grpSpPr bwMode="auto">
            <a:xfrm>
              <a:off x="4824413" y="2301648"/>
              <a:ext cx="777875" cy="720725"/>
              <a:chOff x="4824413" y="3096306"/>
              <a:chExt cx="777875" cy="720725"/>
            </a:xfrm>
          </p:grpSpPr>
          <p:sp>
            <p:nvSpPr>
              <p:cNvPr id="42025" name="Oval 22"/>
              <p:cNvSpPr>
                <a:spLocks noChangeArrowheads="1"/>
              </p:cNvSpPr>
              <p:nvPr/>
            </p:nvSpPr>
            <p:spPr bwMode="auto">
              <a:xfrm>
                <a:off x="482441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26" name="Oval 23"/>
              <p:cNvSpPr>
                <a:spLocks noChangeArrowheads="1"/>
              </p:cNvSpPr>
              <p:nvPr/>
            </p:nvSpPr>
            <p:spPr bwMode="auto">
              <a:xfrm>
                <a:off x="549116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27" name="Oval 24"/>
              <p:cNvSpPr>
                <a:spLocks noChangeArrowheads="1"/>
              </p:cNvSpPr>
              <p:nvPr/>
            </p:nvSpPr>
            <p:spPr bwMode="auto">
              <a:xfrm>
                <a:off x="54911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28" name="Oval 25"/>
              <p:cNvSpPr>
                <a:spLocks noChangeArrowheads="1"/>
              </p:cNvSpPr>
              <p:nvPr/>
            </p:nvSpPr>
            <p:spPr bwMode="auto">
              <a:xfrm>
                <a:off x="549116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29" name="Oval 26"/>
              <p:cNvSpPr>
                <a:spLocks noChangeArrowheads="1"/>
              </p:cNvSpPr>
              <p:nvPr/>
            </p:nvSpPr>
            <p:spPr bwMode="auto">
              <a:xfrm>
                <a:off x="549116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30" name="Oval 27"/>
              <p:cNvSpPr>
                <a:spLocks noChangeArrowheads="1"/>
              </p:cNvSpPr>
              <p:nvPr/>
            </p:nvSpPr>
            <p:spPr bwMode="auto">
              <a:xfrm>
                <a:off x="482441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31" name="Oval 28"/>
              <p:cNvSpPr>
                <a:spLocks noChangeArrowheads="1"/>
              </p:cNvSpPr>
              <p:nvPr/>
            </p:nvSpPr>
            <p:spPr bwMode="auto">
              <a:xfrm>
                <a:off x="482441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32" name="Oval 29"/>
              <p:cNvSpPr>
                <a:spLocks noChangeArrowheads="1"/>
              </p:cNvSpPr>
              <p:nvPr/>
            </p:nvSpPr>
            <p:spPr bwMode="auto">
              <a:xfrm>
                <a:off x="526891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33" name="Oval 30"/>
              <p:cNvSpPr>
                <a:spLocks noChangeArrowheads="1"/>
              </p:cNvSpPr>
              <p:nvPr/>
            </p:nvSpPr>
            <p:spPr bwMode="auto">
              <a:xfrm>
                <a:off x="482441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34" name="Oval 31"/>
              <p:cNvSpPr>
                <a:spLocks noChangeArrowheads="1"/>
              </p:cNvSpPr>
              <p:nvPr/>
            </p:nvSpPr>
            <p:spPr bwMode="auto">
              <a:xfrm>
                <a:off x="526891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35" name="Oval 32"/>
              <p:cNvSpPr>
                <a:spLocks noChangeArrowheads="1"/>
              </p:cNvSpPr>
              <p:nvPr/>
            </p:nvSpPr>
            <p:spPr bwMode="auto">
              <a:xfrm>
                <a:off x="54911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36" name="Oval 33"/>
              <p:cNvSpPr>
                <a:spLocks noChangeArrowheads="1"/>
              </p:cNvSpPr>
              <p:nvPr/>
            </p:nvSpPr>
            <p:spPr bwMode="auto">
              <a:xfrm>
                <a:off x="526891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37" name="Oval 34"/>
              <p:cNvSpPr>
                <a:spLocks noChangeArrowheads="1"/>
              </p:cNvSpPr>
              <p:nvPr/>
            </p:nvSpPr>
            <p:spPr bwMode="auto">
              <a:xfrm>
                <a:off x="526891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38" name="Oval 35"/>
              <p:cNvSpPr>
                <a:spLocks noChangeArrowheads="1"/>
              </p:cNvSpPr>
              <p:nvPr/>
            </p:nvSpPr>
            <p:spPr bwMode="auto">
              <a:xfrm>
                <a:off x="504666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39" name="Oval 36"/>
              <p:cNvSpPr>
                <a:spLocks noChangeArrowheads="1"/>
              </p:cNvSpPr>
              <p:nvPr/>
            </p:nvSpPr>
            <p:spPr bwMode="auto">
              <a:xfrm>
                <a:off x="50466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40" name="Oval 37"/>
              <p:cNvSpPr>
                <a:spLocks noChangeArrowheads="1"/>
              </p:cNvSpPr>
              <p:nvPr/>
            </p:nvSpPr>
            <p:spPr bwMode="auto">
              <a:xfrm>
                <a:off x="504666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41" name="Oval 38"/>
              <p:cNvSpPr>
                <a:spLocks noChangeArrowheads="1"/>
              </p:cNvSpPr>
              <p:nvPr/>
            </p:nvSpPr>
            <p:spPr bwMode="auto">
              <a:xfrm>
                <a:off x="504666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2" name="Group 607"/>
            <p:cNvGrpSpPr>
              <a:grpSpLocks/>
            </p:cNvGrpSpPr>
            <p:nvPr/>
          </p:nvGrpSpPr>
          <p:grpSpPr bwMode="auto">
            <a:xfrm>
              <a:off x="5684383" y="2301648"/>
              <a:ext cx="777875" cy="720725"/>
              <a:chOff x="4824413" y="3096306"/>
              <a:chExt cx="777875" cy="720725"/>
            </a:xfrm>
          </p:grpSpPr>
          <p:sp>
            <p:nvSpPr>
              <p:cNvPr id="42008" name="Oval 22"/>
              <p:cNvSpPr>
                <a:spLocks noChangeArrowheads="1"/>
              </p:cNvSpPr>
              <p:nvPr/>
            </p:nvSpPr>
            <p:spPr bwMode="auto">
              <a:xfrm>
                <a:off x="482441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09" name="Oval 23"/>
              <p:cNvSpPr>
                <a:spLocks noChangeArrowheads="1"/>
              </p:cNvSpPr>
              <p:nvPr/>
            </p:nvSpPr>
            <p:spPr bwMode="auto">
              <a:xfrm>
                <a:off x="549116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10" name="Oval 24"/>
              <p:cNvSpPr>
                <a:spLocks noChangeArrowheads="1"/>
              </p:cNvSpPr>
              <p:nvPr/>
            </p:nvSpPr>
            <p:spPr bwMode="auto">
              <a:xfrm>
                <a:off x="54911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11" name="Oval 25"/>
              <p:cNvSpPr>
                <a:spLocks noChangeArrowheads="1"/>
              </p:cNvSpPr>
              <p:nvPr/>
            </p:nvSpPr>
            <p:spPr bwMode="auto">
              <a:xfrm>
                <a:off x="549116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12" name="Oval 26"/>
              <p:cNvSpPr>
                <a:spLocks noChangeArrowheads="1"/>
              </p:cNvSpPr>
              <p:nvPr/>
            </p:nvSpPr>
            <p:spPr bwMode="auto">
              <a:xfrm>
                <a:off x="549116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13" name="Oval 27"/>
              <p:cNvSpPr>
                <a:spLocks noChangeArrowheads="1"/>
              </p:cNvSpPr>
              <p:nvPr/>
            </p:nvSpPr>
            <p:spPr bwMode="auto">
              <a:xfrm>
                <a:off x="482441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14" name="Oval 28"/>
              <p:cNvSpPr>
                <a:spLocks noChangeArrowheads="1"/>
              </p:cNvSpPr>
              <p:nvPr/>
            </p:nvSpPr>
            <p:spPr bwMode="auto">
              <a:xfrm>
                <a:off x="482441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15" name="Oval 29"/>
              <p:cNvSpPr>
                <a:spLocks noChangeArrowheads="1"/>
              </p:cNvSpPr>
              <p:nvPr/>
            </p:nvSpPr>
            <p:spPr bwMode="auto">
              <a:xfrm>
                <a:off x="526891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16" name="Oval 30"/>
              <p:cNvSpPr>
                <a:spLocks noChangeArrowheads="1"/>
              </p:cNvSpPr>
              <p:nvPr/>
            </p:nvSpPr>
            <p:spPr bwMode="auto">
              <a:xfrm>
                <a:off x="482441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17" name="Oval 31"/>
              <p:cNvSpPr>
                <a:spLocks noChangeArrowheads="1"/>
              </p:cNvSpPr>
              <p:nvPr/>
            </p:nvSpPr>
            <p:spPr bwMode="auto">
              <a:xfrm>
                <a:off x="526891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18" name="Oval 32"/>
              <p:cNvSpPr>
                <a:spLocks noChangeArrowheads="1"/>
              </p:cNvSpPr>
              <p:nvPr/>
            </p:nvSpPr>
            <p:spPr bwMode="auto">
              <a:xfrm>
                <a:off x="54911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19" name="Oval 33"/>
              <p:cNvSpPr>
                <a:spLocks noChangeArrowheads="1"/>
              </p:cNvSpPr>
              <p:nvPr/>
            </p:nvSpPr>
            <p:spPr bwMode="auto">
              <a:xfrm>
                <a:off x="526891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20" name="Oval 34"/>
              <p:cNvSpPr>
                <a:spLocks noChangeArrowheads="1"/>
              </p:cNvSpPr>
              <p:nvPr/>
            </p:nvSpPr>
            <p:spPr bwMode="auto">
              <a:xfrm>
                <a:off x="526891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21" name="Oval 35"/>
              <p:cNvSpPr>
                <a:spLocks noChangeArrowheads="1"/>
              </p:cNvSpPr>
              <p:nvPr/>
            </p:nvSpPr>
            <p:spPr bwMode="auto">
              <a:xfrm>
                <a:off x="5046663" y="3096306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22" name="Oval 36"/>
              <p:cNvSpPr>
                <a:spLocks noChangeArrowheads="1"/>
              </p:cNvSpPr>
              <p:nvPr/>
            </p:nvSpPr>
            <p:spPr bwMode="auto">
              <a:xfrm>
                <a:off x="5046663" y="3302681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23" name="Oval 37"/>
              <p:cNvSpPr>
                <a:spLocks noChangeArrowheads="1"/>
              </p:cNvSpPr>
              <p:nvPr/>
            </p:nvSpPr>
            <p:spPr bwMode="auto">
              <a:xfrm>
                <a:off x="5046663" y="3507468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24" name="Oval 38"/>
              <p:cNvSpPr>
                <a:spLocks noChangeArrowheads="1"/>
              </p:cNvSpPr>
              <p:nvPr/>
            </p:nvSpPr>
            <p:spPr bwMode="auto">
              <a:xfrm>
                <a:off x="5046663" y="3713843"/>
                <a:ext cx="111125" cy="103188"/>
              </a:xfrm>
              <a:prstGeom prst="ellipse">
                <a:avLst/>
              </a:prstGeom>
              <a:solidFill>
                <a:schemeClr val="accent1"/>
              </a:solidFill>
              <a:ln w="12699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42002" name="Line 75"/>
          <p:cNvSpPr>
            <a:spLocks noChangeShapeType="1"/>
          </p:cNvSpPr>
          <p:nvPr/>
        </p:nvSpPr>
        <p:spPr bwMode="auto">
          <a:xfrm>
            <a:off x="6678613" y="3160713"/>
            <a:ext cx="0" cy="411162"/>
          </a:xfrm>
          <a:prstGeom prst="line">
            <a:avLst/>
          </a:prstGeom>
          <a:noFill/>
          <a:ln w="28575">
            <a:solidFill>
              <a:srgbClr val="CC0066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2003" name="Line 76"/>
          <p:cNvSpPr>
            <a:spLocks noChangeShapeType="1"/>
          </p:cNvSpPr>
          <p:nvPr/>
        </p:nvSpPr>
        <p:spPr bwMode="auto">
          <a:xfrm rot="5400000">
            <a:off x="6669088" y="3136900"/>
            <a:ext cx="0" cy="441325"/>
          </a:xfrm>
          <a:prstGeom prst="line">
            <a:avLst/>
          </a:prstGeom>
          <a:noFill/>
          <a:ln w="28575">
            <a:solidFill>
              <a:srgbClr val="CC0066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117585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8350" y="1282700"/>
            <a:ext cx="7504113" cy="4805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43011" name="Rectangle 87"/>
          <p:cNvSpPr>
            <a:spLocks noChangeArrowheads="1"/>
          </p:cNvSpPr>
          <p:nvPr/>
        </p:nvSpPr>
        <p:spPr bwMode="auto">
          <a:xfrm>
            <a:off x="393700" y="331789"/>
            <a:ext cx="4816475" cy="504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bIns="0" anchor="ctr"/>
          <a:lstStyle/>
          <a:p>
            <a:r>
              <a:rPr lang="en-US" sz="2400" b="1" dirty="0"/>
              <a:t>16-QAM Potential Errors</a:t>
            </a:r>
            <a:endParaRPr lang="en-US" sz="4400" dirty="0"/>
          </a:p>
        </p:txBody>
      </p:sp>
      <p:sp>
        <p:nvSpPr>
          <p:cNvPr id="43012" name="TextBox 3"/>
          <p:cNvSpPr txBox="1">
            <a:spLocks noChangeArrowheads="1"/>
          </p:cNvSpPr>
          <p:nvPr/>
        </p:nvSpPr>
        <p:spPr bwMode="auto">
          <a:xfrm>
            <a:off x="393700" y="886395"/>
            <a:ext cx="39370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dirty="0"/>
              <a:t>... due to phase and amplitude variations caused by transmission </a:t>
            </a:r>
            <a:r>
              <a:rPr lang="en-GB" sz="1600" dirty="0" err="1"/>
              <a:t>vaguaries</a:t>
            </a:r>
            <a:endParaRPr lang="en-GB" sz="1600" dirty="0"/>
          </a:p>
        </p:txBody>
      </p:sp>
      <p:sp>
        <p:nvSpPr>
          <p:cNvPr id="43013" name="TextBox 4"/>
          <p:cNvSpPr txBox="1">
            <a:spLocks noChangeArrowheads="1"/>
          </p:cNvSpPr>
          <p:nvPr/>
        </p:nvSpPr>
        <p:spPr bwMode="auto">
          <a:xfrm>
            <a:off x="4897438" y="4754563"/>
            <a:ext cx="3937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600" dirty="0"/>
              <a:t>Left – ideal reception of signal</a:t>
            </a:r>
          </a:p>
          <a:p>
            <a:r>
              <a:rPr lang="en-GB" sz="1600" dirty="0"/>
              <a:t>Above – more practical reception</a:t>
            </a:r>
          </a:p>
        </p:txBody>
      </p:sp>
    </p:spTree>
    <p:extLst>
      <p:ext uri="{BB962C8B-B14F-4D97-AF65-F5344CB8AC3E}">
        <p14:creationId xmlns:p14="http://schemas.microsoft.com/office/powerpoint/2010/main" val="99772267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5"/>
          <p:cNvPicPr>
            <a:picLocks noChangeAspect="1" noChangeArrowheads="1"/>
          </p:cNvPicPr>
          <p:nvPr/>
        </p:nvPicPr>
        <p:blipFill>
          <a:blip r:embed="rId2" cstate="print"/>
          <a:srcRect t="7057"/>
          <a:stretch>
            <a:fillRect/>
          </a:stretch>
        </p:blipFill>
        <p:spPr bwMode="auto">
          <a:xfrm>
            <a:off x="4059238" y="930275"/>
            <a:ext cx="4056062" cy="53308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45059" name="Text Box 6"/>
          <p:cNvSpPr txBox="1">
            <a:spLocks noChangeArrowheads="1"/>
          </p:cNvSpPr>
          <p:nvPr/>
        </p:nvSpPr>
        <p:spPr bwMode="auto">
          <a:xfrm>
            <a:off x="395288" y="331788"/>
            <a:ext cx="3650358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The Transmitted Signal</a:t>
            </a:r>
            <a:endParaRPr lang="en-US" sz="2400" b="1" dirty="0"/>
          </a:p>
        </p:txBody>
      </p:sp>
      <p:sp>
        <p:nvSpPr>
          <p:cNvPr id="45060" name="Text Box 7"/>
          <p:cNvSpPr txBox="1">
            <a:spLocks noChangeArrowheads="1"/>
          </p:cNvSpPr>
          <p:nvPr/>
        </p:nvSpPr>
        <p:spPr bwMode="auto">
          <a:xfrm>
            <a:off x="430213" y="1433513"/>
            <a:ext cx="2843212" cy="424731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3038" indent="-173038">
              <a:lnSpc>
                <a:spcPct val="120000"/>
              </a:lnSpc>
              <a:buFontTx/>
              <a:buChar char="•"/>
            </a:pPr>
            <a:r>
              <a:rPr lang="en-GB" sz="1600" dirty="0"/>
              <a:t>Shown here – 8 QAM</a:t>
            </a:r>
          </a:p>
          <a:p>
            <a:pPr marL="173038" indent="-173038">
              <a:lnSpc>
                <a:spcPct val="120000"/>
              </a:lnSpc>
              <a:buFontTx/>
              <a:buChar char="•"/>
            </a:pPr>
            <a:r>
              <a:rPr lang="en-GB" sz="1600" dirty="0"/>
              <a:t>i.e. eight digital codes can be transmitted:</a:t>
            </a:r>
          </a:p>
          <a:p>
            <a:pPr marL="625475" lvl="1" indent="-168275">
              <a:lnSpc>
                <a:spcPct val="120000"/>
              </a:lnSpc>
              <a:buFontTx/>
              <a:buChar char="•"/>
            </a:pPr>
            <a:r>
              <a:rPr lang="en-GB" sz="1600" dirty="0"/>
              <a:t>000, 001, 010, 011, 100, 101, 110, 111</a:t>
            </a:r>
          </a:p>
          <a:p>
            <a:pPr marL="625475" lvl="1" indent="-168275">
              <a:lnSpc>
                <a:spcPct val="120000"/>
              </a:lnSpc>
              <a:buFontTx/>
              <a:buChar char="•"/>
            </a:pPr>
            <a:endParaRPr lang="en-GB" sz="1600" dirty="0"/>
          </a:p>
          <a:p>
            <a:pPr marL="625475" lvl="1" indent="-168275">
              <a:lnSpc>
                <a:spcPct val="120000"/>
              </a:lnSpc>
              <a:buFontTx/>
              <a:buChar char="•"/>
            </a:pPr>
            <a:endParaRPr lang="en-GB" sz="1600" dirty="0"/>
          </a:p>
          <a:p>
            <a:pPr marL="173038" indent="-173038">
              <a:lnSpc>
                <a:spcPct val="120000"/>
              </a:lnSpc>
              <a:buFontTx/>
              <a:buChar char="•"/>
            </a:pPr>
            <a:r>
              <a:rPr lang="en-GB" sz="1600" dirty="0"/>
              <a:t>So transmit the signal </a:t>
            </a:r>
            <a:r>
              <a:rPr lang="en-GB" sz="1600" b="1" dirty="0">
                <a:solidFill>
                  <a:srgbClr val="FF0000"/>
                </a:solidFill>
              </a:rPr>
              <a:t>000110001111</a:t>
            </a:r>
            <a:r>
              <a:rPr lang="en-GB" sz="1600" dirty="0"/>
              <a:t>:</a:t>
            </a:r>
          </a:p>
          <a:p>
            <a:pPr marL="173038" indent="-173038">
              <a:lnSpc>
                <a:spcPct val="120000"/>
              </a:lnSpc>
            </a:pPr>
            <a:r>
              <a:rPr lang="en-GB" sz="1600" dirty="0"/>
              <a:t>	…break it into the groups of codes available </a:t>
            </a:r>
          </a:p>
          <a:p>
            <a:pPr marL="173038" indent="-173038">
              <a:lnSpc>
                <a:spcPct val="120000"/>
              </a:lnSpc>
            </a:pPr>
            <a:r>
              <a:rPr lang="en-GB" sz="1600" dirty="0"/>
              <a:t>	</a:t>
            </a:r>
            <a:r>
              <a:rPr lang="en-GB" sz="1600" b="1" dirty="0">
                <a:solidFill>
                  <a:srgbClr val="FF0000"/>
                </a:solidFill>
              </a:rPr>
              <a:t>000</a:t>
            </a:r>
            <a:r>
              <a:rPr lang="en-GB" sz="1600" dirty="0"/>
              <a:t> </a:t>
            </a:r>
            <a:r>
              <a:rPr lang="en-GB" sz="1600" b="1" dirty="0">
                <a:solidFill>
                  <a:srgbClr val="0070C0"/>
                </a:solidFill>
              </a:rPr>
              <a:t>110</a:t>
            </a:r>
            <a:r>
              <a:rPr lang="en-GB" sz="1600" dirty="0"/>
              <a:t> </a:t>
            </a:r>
            <a:r>
              <a:rPr lang="en-GB" sz="1600" b="1" dirty="0">
                <a:solidFill>
                  <a:srgbClr val="FF0000"/>
                </a:solidFill>
              </a:rPr>
              <a:t>001</a:t>
            </a:r>
            <a:r>
              <a:rPr lang="en-GB" sz="1600" dirty="0"/>
              <a:t> </a:t>
            </a:r>
            <a:r>
              <a:rPr lang="en-GB" sz="1600" b="1" dirty="0">
                <a:solidFill>
                  <a:srgbClr val="0070C0"/>
                </a:solidFill>
              </a:rPr>
              <a:t>111</a:t>
            </a:r>
          </a:p>
          <a:p>
            <a:pPr marL="173038" indent="-173038"/>
            <a:r>
              <a:rPr lang="en-GB" sz="1600" dirty="0"/>
              <a:t>	</a:t>
            </a:r>
            <a:endParaRPr lang="en-US" sz="1600" dirty="0"/>
          </a:p>
        </p:txBody>
      </p:sp>
      <p:sp>
        <p:nvSpPr>
          <p:cNvPr id="214025" name="Line 9"/>
          <p:cNvSpPr>
            <a:spLocks noChangeShapeType="1"/>
          </p:cNvSpPr>
          <p:nvPr/>
        </p:nvSpPr>
        <p:spPr bwMode="auto">
          <a:xfrm flipV="1">
            <a:off x="1014413" y="3579813"/>
            <a:ext cx="3322637" cy="1404937"/>
          </a:xfrm>
          <a:prstGeom prst="line">
            <a:avLst/>
          </a:prstGeom>
          <a:noFill/>
          <a:ln w="57150">
            <a:solidFill>
              <a:srgbClr val="FF0000">
                <a:alpha val="50195"/>
              </a:srgbClr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214027" name="Line 11"/>
          <p:cNvSpPr>
            <a:spLocks noChangeShapeType="1"/>
          </p:cNvSpPr>
          <p:nvPr/>
        </p:nvSpPr>
        <p:spPr bwMode="auto">
          <a:xfrm flipV="1">
            <a:off x="1884363" y="3624263"/>
            <a:ext cx="4494212" cy="1382712"/>
          </a:xfrm>
          <a:prstGeom prst="line">
            <a:avLst/>
          </a:prstGeom>
          <a:noFill/>
          <a:ln w="57150">
            <a:solidFill>
              <a:srgbClr val="FF0000">
                <a:alpha val="50195"/>
              </a:srgbClr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214028" name="Line 12"/>
          <p:cNvSpPr>
            <a:spLocks noChangeShapeType="1"/>
          </p:cNvSpPr>
          <p:nvPr/>
        </p:nvSpPr>
        <p:spPr bwMode="auto">
          <a:xfrm flipV="1">
            <a:off x="1460500" y="3624263"/>
            <a:ext cx="4003675" cy="1393825"/>
          </a:xfrm>
          <a:prstGeom prst="line">
            <a:avLst/>
          </a:prstGeom>
          <a:noFill/>
          <a:ln w="57150">
            <a:solidFill>
              <a:srgbClr val="3333CC">
                <a:alpha val="59999"/>
              </a:srgbClr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214029" name="Line 13"/>
          <p:cNvSpPr>
            <a:spLocks noChangeShapeType="1"/>
          </p:cNvSpPr>
          <p:nvPr/>
        </p:nvSpPr>
        <p:spPr bwMode="auto">
          <a:xfrm flipV="1">
            <a:off x="2419350" y="3635375"/>
            <a:ext cx="4929188" cy="1382713"/>
          </a:xfrm>
          <a:prstGeom prst="line">
            <a:avLst/>
          </a:prstGeom>
          <a:noFill/>
          <a:ln w="57150">
            <a:solidFill>
              <a:srgbClr val="3333CC">
                <a:alpha val="59999"/>
              </a:srgbClr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8852165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14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214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214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214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5" grpId="0" animBg="1"/>
      <p:bldP spid="214027" grpId="0" animBg="1"/>
      <p:bldP spid="214028" grpId="0" animBg="1"/>
      <p:bldP spid="214029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 bwMode="auto">
          <a:xfrm>
            <a:off x="0" y="0"/>
            <a:ext cx="9144000" cy="6858001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4" name="Picture 2" descr="maxresdefault.jpg (1280×720)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3" r="3572" b="2062"/>
          <a:stretch/>
        </p:blipFill>
        <p:spPr bwMode="auto">
          <a:xfrm>
            <a:off x="0" y="933061"/>
            <a:ext cx="9150162" cy="5131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285113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1026" name="Picture 2" descr="https://i.ytimg.com/vi/tuhA8fc7m1Y/maxresdefaul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23730"/>
            <a:ext cx="9139853" cy="5141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1702260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plate">
      <a:majorFont>
        <a:latin typeface="Lucida Sans Unicode"/>
        <a:ea typeface=""/>
        <a:cs typeface=""/>
      </a:majorFont>
      <a:minorFont>
        <a:latin typeface="Lucida Sans Unicod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lnDef>
  </a:objectDefaults>
  <a:extraClrSchemeLst>
    <a:extraClrScheme>
      <a:clrScheme name="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964</TotalTime>
  <Words>3218</Words>
  <Application>Microsoft Office PowerPoint</Application>
  <PresentationFormat>On-screen Show (4:3)</PresentationFormat>
  <Paragraphs>808</Paragraphs>
  <Slides>76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4" baseType="lpstr">
      <vt:lpstr>Arial</vt:lpstr>
      <vt:lpstr>Arial Black</vt:lpstr>
      <vt:lpstr>Courier New</vt:lpstr>
      <vt:lpstr>Lucida Sans Unicode</vt:lpstr>
      <vt:lpstr>Times New Roman</vt:lpstr>
      <vt:lpstr>Template</vt:lpstr>
      <vt:lpstr>Custom Design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n/a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JFoss</dc:creator>
  <cp:lastModifiedBy>Jeremy Foss</cp:lastModifiedBy>
  <cp:revision>111</cp:revision>
  <cp:lastPrinted>2017-05-04T08:15:43Z</cp:lastPrinted>
  <dcterms:created xsi:type="dcterms:W3CDTF">2006-09-10T21:25:56Z</dcterms:created>
  <dcterms:modified xsi:type="dcterms:W3CDTF">2021-04-01T12:13:54Z</dcterms:modified>
</cp:coreProperties>
</file>